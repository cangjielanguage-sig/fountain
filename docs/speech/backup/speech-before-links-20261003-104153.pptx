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00.xml" ContentType="application/vnd.openxmlformats-officedocument.presentationml.notesSlide+xml"/>
  <Override PartName="/ppt/notesSlides/notesSlide101.xml" ContentType="application/vnd.openxmlformats-officedocument.presentationml.notesSlide+xml"/>
  <Override PartName="/ppt/notesSlides/notesSlide102.xml" ContentType="application/vnd.openxmlformats-officedocument.presentationml.notesSlide+xml"/>
  <Override PartName="/ppt/notesSlides/notesSlide103.xml" ContentType="application/vnd.openxmlformats-officedocument.presentationml.notesSlide+xml"/>
  <Override PartName="/ppt/notesSlides/notesSlide104.xml" ContentType="application/vnd.openxmlformats-officedocument.presentationml.notesSlide+xml"/>
  <Override PartName="/ppt/notesSlides/notesSlide105.xml" ContentType="application/vnd.openxmlformats-officedocument.presentationml.notesSlide+xml"/>
  <Override PartName="/ppt/notesSlides/notesSlide106.xml" ContentType="application/vnd.openxmlformats-officedocument.presentationml.notesSlide+xml"/>
  <Override PartName="/ppt/notesSlides/notesSlide107.xml" ContentType="application/vnd.openxmlformats-officedocument.presentationml.notesSlide+xml"/>
  <Override PartName="/ppt/notesSlides/notesSlide108.xml" ContentType="application/vnd.openxmlformats-officedocument.presentationml.notesSlide+xml"/>
  <Override PartName="/ppt/notesSlides/notesSlide109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10.xml" ContentType="application/vnd.openxmlformats-officedocument.presentationml.notesSlide+xml"/>
  <Override PartName="/ppt/notesSlides/notesSlide111.xml" ContentType="application/vnd.openxmlformats-officedocument.presentationml.notesSlide+xml"/>
  <Override PartName="/ppt/notesSlides/notesSlide112.xml" ContentType="application/vnd.openxmlformats-officedocument.presentationml.notesSlide+xml"/>
  <Override PartName="/ppt/notesSlides/notesSlide113.xml" ContentType="application/vnd.openxmlformats-officedocument.presentationml.notesSlide+xml"/>
  <Override PartName="/ppt/notesSlides/notesSlide114.xml" ContentType="application/vnd.openxmlformats-officedocument.presentationml.notesSlide+xml"/>
  <Override PartName="/ppt/notesSlides/notesSlide115.xml" ContentType="application/vnd.openxmlformats-officedocument.presentationml.notesSlide+xml"/>
  <Override PartName="/ppt/notesSlides/notesSlide116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ppt/notesSlides/notesSlide85.xml" ContentType="application/vnd.openxmlformats-officedocument.presentationml.notesSlide+xml"/>
  <Override PartName="/ppt/notesSlides/notesSlide86.xml" ContentType="application/vnd.openxmlformats-officedocument.presentationml.notesSlide+xml"/>
  <Override PartName="/ppt/notesSlides/notesSlide87.xml" ContentType="application/vnd.openxmlformats-officedocument.presentationml.notesSlide+xml"/>
  <Override PartName="/ppt/notesSlides/notesSlide88.xml" ContentType="application/vnd.openxmlformats-officedocument.presentationml.notesSlide+xml"/>
  <Override PartName="/ppt/notesSlides/notesSlide89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90.xml" ContentType="application/vnd.openxmlformats-officedocument.presentationml.notesSlide+xml"/>
  <Override PartName="/ppt/notesSlides/notesSlide91.xml" ContentType="application/vnd.openxmlformats-officedocument.presentationml.notesSlide+xml"/>
  <Override PartName="/ppt/notesSlides/notesSlide92.xml" ContentType="application/vnd.openxmlformats-officedocument.presentationml.notesSlide+xml"/>
  <Override PartName="/ppt/notesSlides/notesSlide93.xml" ContentType="application/vnd.openxmlformats-officedocument.presentationml.notesSlide+xml"/>
  <Override PartName="/ppt/notesSlides/notesSlide94.xml" ContentType="application/vnd.openxmlformats-officedocument.presentationml.notesSlide+xml"/>
  <Override PartName="/ppt/notesSlides/notesSlide95.xml" ContentType="application/vnd.openxmlformats-officedocument.presentationml.notesSlide+xml"/>
  <Override PartName="/ppt/notesSlides/notesSlide96.xml" ContentType="application/vnd.openxmlformats-officedocument.presentationml.notesSlide+xml"/>
  <Override PartName="/ppt/notesSlides/notesSlide97.xml" ContentType="application/vnd.openxmlformats-officedocument.presentationml.notesSlide+xml"/>
  <Override PartName="/ppt/notesSlides/notesSlide98.xml" ContentType="application/vnd.openxmlformats-officedocument.presentationml.notesSlide+xml"/>
  <Override PartName="/ppt/notesSlides/notesSlide9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  <p:sldId id="277" r:id="rId25"/>
    <p:sldId id="278" r:id="rId26"/>
    <p:sldId id="279" r:id="rId27"/>
    <p:sldId id="280" r:id="rId28"/>
    <p:sldId id="281" r:id="rId29"/>
    <p:sldId id="282" r:id="rId30"/>
    <p:sldId id="283" r:id="rId31"/>
    <p:sldId id="284" r:id="rId32"/>
    <p:sldId id="285" r:id="rId33"/>
    <p:sldId id="286" r:id="rId34"/>
    <p:sldId id="287" r:id="rId35"/>
    <p:sldId id="288" r:id="rId36"/>
    <p:sldId id="289" r:id="rId37"/>
    <p:sldId id="290" r:id="rId38"/>
    <p:sldId id="291" r:id="rId39"/>
    <p:sldId id="292" r:id="rId40"/>
    <p:sldId id="293" r:id="rId41"/>
    <p:sldId id="294" r:id="rId42"/>
    <p:sldId id="295" r:id="rId43"/>
    <p:sldId id="296" r:id="rId44"/>
    <p:sldId id="297" r:id="rId45"/>
    <p:sldId id="298" r:id="rId46"/>
    <p:sldId id="299" r:id="rId47"/>
    <p:sldId id="300" r:id="rId48"/>
    <p:sldId id="301" r:id="rId49"/>
    <p:sldId id="302" r:id="rId50"/>
    <p:sldId id="303" r:id="rId51"/>
    <p:sldId id="304" r:id="rId52"/>
    <p:sldId id="305" r:id="rId53"/>
    <p:sldId id="306" r:id="rId54"/>
    <p:sldId id="307" r:id="rId55"/>
    <p:sldId id="308" r:id="rId56"/>
    <p:sldId id="309" r:id="rId57"/>
    <p:sldId id="310" r:id="rId58"/>
    <p:sldId id="311" r:id="rId59"/>
    <p:sldId id="312" r:id="rId60"/>
    <p:sldId id="313" r:id="rId61"/>
    <p:sldId id="314" r:id="rId62"/>
    <p:sldId id="315" r:id="rId63"/>
    <p:sldId id="316" r:id="rId64"/>
    <p:sldId id="317" r:id="rId65"/>
    <p:sldId id="318" r:id="rId66"/>
    <p:sldId id="319" r:id="rId67"/>
    <p:sldId id="320" r:id="rId68"/>
    <p:sldId id="321" r:id="rId69"/>
    <p:sldId id="322" r:id="rId70"/>
    <p:sldId id="323" r:id="rId71"/>
    <p:sldId id="324" r:id="rId72"/>
    <p:sldId id="325" r:id="rId73"/>
    <p:sldId id="326" r:id="rId74"/>
    <p:sldId id="327" r:id="rId75"/>
    <p:sldId id="328" r:id="rId76"/>
    <p:sldId id="329" r:id="rId77"/>
    <p:sldId id="330" r:id="rId78"/>
    <p:sldId id="331" r:id="rId79"/>
    <p:sldId id="332" r:id="rId80"/>
    <p:sldId id="333" r:id="rId81"/>
    <p:sldId id="334" r:id="rId82"/>
    <p:sldId id="335" r:id="rId83"/>
    <p:sldId id="336" r:id="rId84"/>
    <p:sldId id="337" r:id="rId85"/>
    <p:sldId id="338" r:id="rId86"/>
    <p:sldId id="339" r:id="rId87"/>
    <p:sldId id="340" r:id="rId88"/>
    <p:sldId id="341" r:id="rId89"/>
    <p:sldId id="342" r:id="rId90"/>
    <p:sldId id="343" r:id="rId91"/>
    <p:sldId id="344" r:id="rId92"/>
    <p:sldId id="345" r:id="rId93"/>
    <p:sldId id="346" r:id="rId94"/>
    <p:sldId id="347" r:id="rId95"/>
    <p:sldId id="348" r:id="rId96"/>
    <p:sldId id="349" r:id="rId97"/>
    <p:sldId id="350" r:id="rId98"/>
    <p:sldId id="351" r:id="rId99"/>
    <p:sldId id="352" r:id="rId100"/>
    <p:sldId id="353" r:id="rId101"/>
    <p:sldId id="354" r:id="rId102"/>
    <p:sldId id="355" r:id="rId103"/>
    <p:sldId id="356" r:id="rId104"/>
    <p:sldId id="357" r:id="rId105"/>
    <p:sldId id="358" r:id="rId106"/>
    <p:sldId id="359" r:id="rId107"/>
    <p:sldId id="360" r:id="rId108"/>
    <p:sldId id="361" r:id="rId109"/>
    <p:sldId id="362" r:id="rId110"/>
    <p:sldId id="363" r:id="rId111"/>
    <p:sldId id="364" r:id="rId112"/>
    <p:sldId id="365" r:id="rId113"/>
    <p:sldId id="366" r:id="rId114"/>
    <p:sldId id="367" r:id="rId115"/>
    <p:sldId id="368" r:id="rId116"/>
    <p:sldId id="369" r:id="rId117"/>
    <p:sldId id="370" r:id="rId118"/>
    <p:sldId id="371" r:id="rId11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27" d="100"/>
          <a:sy n="127" d="100"/>
        </p:scale>
        <p:origin x="536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9" Type="http://schemas.openxmlformats.org/officeDocument/2006/relationships/slide" Target="slides/slide96.xml"/><Relationship Id="rId98" Type="http://schemas.openxmlformats.org/officeDocument/2006/relationships/slide" Target="slides/slide95.xml"/><Relationship Id="rId97" Type="http://schemas.openxmlformats.org/officeDocument/2006/relationships/slide" Target="slides/slide94.xml"/><Relationship Id="rId96" Type="http://schemas.openxmlformats.org/officeDocument/2006/relationships/slide" Target="slides/slide93.xml"/><Relationship Id="rId95" Type="http://schemas.openxmlformats.org/officeDocument/2006/relationships/slide" Target="slides/slide92.xml"/><Relationship Id="rId94" Type="http://schemas.openxmlformats.org/officeDocument/2006/relationships/slide" Target="slides/slide91.xml"/><Relationship Id="rId93" Type="http://schemas.openxmlformats.org/officeDocument/2006/relationships/slide" Target="slides/slide90.xml"/><Relationship Id="rId92" Type="http://schemas.openxmlformats.org/officeDocument/2006/relationships/slide" Target="slides/slide89.xml"/><Relationship Id="rId91" Type="http://schemas.openxmlformats.org/officeDocument/2006/relationships/slide" Target="slides/slide88.xml"/><Relationship Id="rId90" Type="http://schemas.openxmlformats.org/officeDocument/2006/relationships/slide" Target="slides/slide87.xml"/><Relationship Id="rId9" Type="http://schemas.openxmlformats.org/officeDocument/2006/relationships/slide" Target="slides/slide6.xml"/><Relationship Id="rId89" Type="http://schemas.openxmlformats.org/officeDocument/2006/relationships/slide" Target="slides/slide86.xml"/><Relationship Id="rId88" Type="http://schemas.openxmlformats.org/officeDocument/2006/relationships/slide" Target="slides/slide85.xml"/><Relationship Id="rId87" Type="http://schemas.openxmlformats.org/officeDocument/2006/relationships/slide" Target="slides/slide84.xml"/><Relationship Id="rId86" Type="http://schemas.openxmlformats.org/officeDocument/2006/relationships/slide" Target="slides/slide83.xml"/><Relationship Id="rId85" Type="http://schemas.openxmlformats.org/officeDocument/2006/relationships/slide" Target="slides/slide82.xml"/><Relationship Id="rId84" Type="http://schemas.openxmlformats.org/officeDocument/2006/relationships/slide" Target="slides/slide81.xml"/><Relationship Id="rId83" Type="http://schemas.openxmlformats.org/officeDocument/2006/relationships/slide" Target="slides/slide80.xml"/><Relationship Id="rId82" Type="http://schemas.openxmlformats.org/officeDocument/2006/relationships/slide" Target="slides/slide79.xml"/><Relationship Id="rId81" Type="http://schemas.openxmlformats.org/officeDocument/2006/relationships/slide" Target="slides/slide78.xml"/><Relationship Id="rId80" Type="http://schemas.openxmlformats.org/officeDocument/2006/relationships/slide" Target="slides/slide77.xml"/><Relationship Id="rId8" Type="http://schemas.openxmlformats.org/officeDocument/2006/relationships/slide" Target="slides/slide5.xml"/><Relationship Id="rId79" Type="http://schemas.openxmlformats.org/officeDocument/2006/relationships/slide" Target="slides/slide76.xml"/><Relationship Id="rId78" Type="http://schemas.openxmlformats.org/officeDocument/2006/relationships/slide" Target="slides/slide75.xml"/><Relationship Id="rId77" Type="http://schemas.openxmlformats.org/officeDocument/2006/relationships/slide" Target="slides/slide74.xml"/><Relationship Id="rId76" Type="http://schemas.openxmlformats.org/officeDocument/2006/relationships/slide" Target="slides/slide73.xml"/><Relationship Id="rId75" Type="http://schemas.openxmlformats.org/officeDocument/2006/relationships/slide" Target="slides/slide72.xml"/><Relationship Id="rId74" Type="http://schemas.openxmlformats.org/officeDocument/2006/relationships/slide" Target="slides/slide71.xml"/><Relationship Id="rId73" Type="http://schemas.openxmlformats.org/officeDocument/2006/relationships/slide" Target="slides/slide70.xml"/><Relationship Id="rId72" Type="http://schemas.openxmlformats.org/officeDocument/2006/relationships/slide" Target="slides/slide69.xml"/><Relationship Id="rId71" Type="http://schemas.openxmlformats.org/officeDocument/2006/relationships/slide" Target="slides/slide68.xml"/><Relationship Id="rId70" Type="http://schemas.openxmlformats.org/officeDocument/2006/relationships/slide" Target="slides/slide67.xml"/><Relationship Id="rId7" Type="http://schemas.openxmlformats.org/officeDocument/2006/relationships/slide" Target="slides/slide4.xml"/><Relationship Id="rId69" Type="http://schemas.openxmlformats.org/officeDocument/2006/relationships/slide" Target="slides/slide66.xml"/><Relationship Id="rId68" Type="http://schemas.openxmlformats.org/officeDocument/2006/relationships/slide" Target="slides/slide65.xml"/><Relationship Id="rId67" Type="http://schemas.openxmlformats.org/officeDocument/2006/relationships/slide" Target="slides/slide64.xml"/><Relationship Id="rId66" Type="http://schemas.openxmlformats.org/officeDocument/2006/relationships/slide" Target="slides/slide63.xml"/><Relationship Id="rId65" Type="http://schemas.openxmlformats.org/officeDocument/2006/relationships/slide" Target="slides/slide62.xml"/><Relationship Id="rId64" Type="http://schemas.openxmlformats.org/officeDocument/2006/relationships/slide" Target="slides/slide61.xml"/><Relationship Id="rId63" Type="http://schemas.openxmlformats.org/officeDocument/2006/relationships/slide" Target="slides/slide60.xml"/><Relationship Id="rId62" Type="http://schemas.openxmlformats.org/officeDocument/2006/relationships/slide" Target="slides/slide59.xml"/><Relationship Id="rId61" Type="http://schemas.openxmlformats.org/officeDocument/2006/relationships/slide" Target="slides/slide58.xml"/><Relationship Id="rId60" Type="http://schemas.openxmlformats.org/officeDocument/2006/relationships/slide" Target="slides/slide57.xml"/><Relationship Id="rId6" Type="http://schemas.openxmlformats.org/officeDocument/2006/relationships/slide" Target="slides/slide3.xml"/><Relationship Id="rId59" Type="http://schemas.openxmlformats.org/officeDocument/2006/relationships/slide" Target="slides/slide56.xml"/><Relationship Id="rId58" Type="http://schemas.openxmlformats.org/officeDocument/2006/relationships/slide" Target="slides/slide55.xml"/><Relationship Id="rId57" Type="http://schemas.openxmlformats.org/officeDocument/2006/relationships/slide" Target="slides/slide54.xml"/><Relationship Id="rId56" Type="http://schemas.openxmlformats.org/officeDocument/2006/relationships/slide" Target="slides/slide53.xml"/><Relationship Id="rId55" Type="http://schemas.openxmlformats.org/officeDocument/2006/relationships/slide" Target="slides/slide52.xml"/><Relationship Id="rId54" Type="http://schemas.openxmlformats.org/officeDocument/2006/relationships/slide" Target="slides/slide51.xml"/><Relationship Id="rId53" Type="http://schemas.openxmlformats.org/officeDocument/2006/relationships/slide" Target="slides/slide50.xml"/><Relationship Id="rId52" Type="http://schemas.openxmlformats.org/officeDocument/2006/relationships/slide" Target="slides/slide49.xml"/><Relationship Id="rId51" Type="http://schemas.openxmlformats.org/officeDocument/2006/relationships/slide" Target="slides/slide48.xml"/><Relationship Id="rId50" Type="http://schemas.openxmlformats.org/officeDocument/2006/relationships/slide" Target="slides/slide47.xml"/><Relationship Id="rId5" Type="http://schemas.openxmlformats.org/officeDocument/2006/relationships/slide" Target="slides/slide2.xml"/><Relationship Id="rId49" Type="http://schemas.openxmlformats.org/officeDocument/2006/relationships/slide" Target="slides/slide46.xml"/><Relationship Id="rId48" Type="http://schemas.openxmlformats.org/officeDocument/2006/relationships/slide" Target="slides/slide45.xml"/><Relationship Id="rId47" Type="http://schemas.openxmlformats.org/officeDocument/2006/relationships/slide" Target="slides/slide44.xml"/><Relationship Id="rId46" Type="http://schemas.openxmlformats.org/officeDocument/2006/relationships/slide" Target="slides/slide43.xml"/><Relationship Id="rId45" Type="http://schemas.openxmlformats.org/officeDocument/2006/relationships/slide" Target="slides/slide42.xml"/><Relationship Id="rId44" Type="http://schemas.openxmlformats.org/officeDocument/2006/relationships/slide" Target="slides/slide41.xml"/><Relationship Id="rId43" Type="http://schemas.openxmlformats.org/officeDocument/2006/relationships/slide" Target="slides/slide40.xml"/><Relationship Id="rId42" Type="http://schemas.openxmlformats.org/officeDocument/2006/relationships/slide" Target="slides/slide39.xml"/><Relationship Id="rId41" Type="http://schemas.openxmlformats.org/officeDocument/2006/relationships/slide" Target="slides/slide38.xml"/><Relationship Id="rId40" Type="http://schemas.openxmlformats.org/officeDocument/2006/relationships/slide" Target="slides/slide37.xml"/><Relationship Id="rId4" Type="http://schemas.openxmlformats.org/officeDocument/2006/relationships/notesMaster" Target="notesMasters/notesMaster1.xml"/><Relationship Id="rId39" Type="http://schemas.openxmlformats.org/officeDocument/2006/relationships/slide" Target="slides/slide36.xml"/><Relationship Id="rId38" Type="http://schemas.openxmlformats.org/officeDocument/2006/relationships/slide" Target="slides/slide35.xml"/><Relationship Id="rId37" Type="http://schemas.openxmlformats.org/officeDocument/2006/relationships/slide" Target="slides/slide34.xml"/><Relationship Id="rId36" Type="http://schemas.openxmlformats.org/officeDocument/2006/relationships/slide" Target="slides/slide33.xml"/><Relationship Id="rId35" Type="http://schemas.openxmlformats.org/officeDocument/2006/relationships/slide" Target="slides/slide32.xml"/><Relationship Id="rId34" Type="http://schemas.openxmlformats.org/officeDocument/2006/relationships/slide" Target="slides/slide31.xml"/><Relationship Id="rId33" Type="http://schemas.openxmlformats.org/officeDocument/2006/relationships/slide" Target="slides/slide30.xml"/><Relationship Id="rId32" Type="http://schemas.openxmlformats.org/officeDocument/2006/relationships/slide" Target="slides/slide29.xml"/><Relationship Id="rId31" Type="http://schemas.openxmlformats.org/officeDocument/2006/relationships/slide" Target="slides/slide28.xml"/><Relationship Id="rId30" Type="http://schemas.openxmlformats.org/officeDocument/2006/relationships/slide" Target="slides/slide27.xml"/><Relationship Id="rId3" Type="http://schemas.openxmlformats.org/officeDocument/2006/relationships/slide" Target="slides/slide1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2" Type="http://schemas.openxmlformats.org/officeDocument/2006/relationships/tableStyles" Target="tableStyles.xml"/><Relationship Id="rId121" Type="http://schemas.openxmlformats.org/officeDocument/2006/relationships/viewProps" Target="viewProps.xml"/><Relationship Id="rId120" Type="http://schemas.openxmlformats.org/officeDocument/2006/relationships/presProps" Target="presProps.xml"/><Relationship Id="rId12" Type="http://schemas.openxmlformats.org/officeDocument/2006/relationships/slide" Target="slides/slide9.xml"/><Relationship Id="rId119" Type="http://schemas.openxmlformats.org/officeDocument/2006/relationships/slide" Target="slides/slide116.xml"/><Relationship Id="rId118" Type="http://schemas.openxmlformats.org/officeDocument/2006/relationships/slide" Target="slides/slide115.xml"/><Relationship Id="rId117" Type="http://schemas.openxmlformats.org/officeDocument/2006/relationships/slide" Target="slides/slide114.xml"/><Relationship Id="rId116" Type="http://schemas.openxmlformats.org/officeDocument/2006/relationships/slide" Target="slides/slide113.xml"/><Relationship Id="rId115" Type="http://schemas.openxmlformats.org/officeDocument/2006/relationships/slide" Target="slides/slide112.xml"/><Relationship Id="rId114" Type="http://schemas.openxmlformats.org/officeDocument/2006/relationships/slide" Target="slides/slide111.xml"/><Relationship Id="rId113" Type="http://schemas.openxmlformats.org/officeDocument/2006/relationships/slide" Target="slides/slide110.xml"/><Relationship Id="rId112" Type="http://schemas.openxmlformats.org/officeDocument/2006/relationships/slide" Target="slides/slide109.xml"/><Relationship Id="rId111" Type="http://schemas.openxmlformats.org/officeDocument/2006/relationships/slide" Target="slides/slide108.xml"/><Relationship Id="rId110" Type="http://schemas.openxmlformats.org/officeDocument/2006/relationships/slide" Target="slides/slide107.xml"/><Relationship Id="rId11" Type="http://schemas.openxmlformats.org/officeDocument/2006/relationships/slide" Target="slides/slide8.xml"/><Relationship Id="rId109" Type="http://schemas.openxmlformats.org/officeDocument/2006/relationships/slide" Target="slides/slide106.xml"/><Relationship Id="rId108" Type="http://schemas.openxmlformats.org/officeDocument/2006/relationships/slide" Target="slides/slide105.xml"/><Relationship Id="rId107" Type="http://schemas.openxmlformats.org/officeDocument/2006/relationships/slide" Target="slides/slide104.xml"/><Relationship Id="rId106" Type="http://schemas.openxmlformats.org/officeDocument/2006/relationships/slide" Target="slides/slide103.xml"/><Relationship Id="rId105" Type="http://schemas.openxmlformats.org/officeDocument/2006/relationships/slide" Target="slides/slide102.xml"/><Relationship Id="rId104" Type="http://schemas.openxmlformats.org/officeDocument/2006/relationships/slide" Target="slides/slide101.xml"/><Relationship Id="rId103" Type="http://schemas.openxmlformats.org/officeDocument/2006/relationships/slide" Target="slides/slide100.xml"/><Relationship Id="rId102" Type="http://schemas.openxmlformats.org/officeDocument/2006/relationships/slide" Target="slides/slide99.xml"/><Relationship Id="rId101" Type="http://schemas.openxmlformats.org/officeDocument/2006/relationships/slide" Target="slides/slide98.xml"/><Relationship Id="rId100" Type="http://schemas.openxmlformats.org/officeDocument/2006/relationships/slide" Target="slides/slide97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3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4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5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6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7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8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9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0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2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3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4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5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6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7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8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9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0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2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3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4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5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6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7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8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9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0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2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3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4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5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6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7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8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9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0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1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2.xml"/></Relationships>
</file>

<file path=ppt/notesSlides/_rels/notesSlide6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3.xml"/></Relationships>
</file>

<file path=ppt/notesSlides/_rels/notesSlide6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4.xml"/></Relationships>
</file>

<file path=ppt/notesSlides/_rels/notesSlide6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5.xml"/></Relationships>
</file>

<file path=ppt/notesSlides/_rels/notesSlide6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6.xml"/></Relationships>
</file>

<file path=ppt/notesSlides/_rels/notesSlide6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7.xml"/></Relationships>
</file>

<file path=ppt/notesSlides/_rels/notesSlide6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8.xml"/></Relationships>
</file>

<file path=ppt/notesSlides/_rels/notesSlide6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9.xml"/></Relationships>
</file>

<file path=ppt/notesSlides/_rels/notesSlide7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0.xml"/></Relationships>
</file>

<file path=ppt/notesSlides/_rels/notesSlide7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1.xml"/></Relationships>
</file>

<file path=ppt/notesSlides/_rels/notesSlide7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2.xml"/></Relationships>
</file>

<file path=ppt/notesSlides/_rels/notesSlide7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3.xml"/></Relationships>
</file>

<file path=ppt/notesSlides/_rels/notesSlide7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4.xml"/></Relationships>
</file>

<file path=ppt/notesSlides/_rels/notesSlide7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5.xml"/></Relationships>
</file>

<file path=ppt/notesSlides/_rels/notesSlide7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6.xml"/></Relationships>
</file>

<file path=ppt/notesSlides/_rels/notesSlide7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7.xml"/></Relationships>
</file>

<file path=ppt/notesSlides/_rels/notesSlide7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8.xml"/></Relationships>
</file>

<file path=ppt/notesSlides/_rels/notesSlide7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9.xml"/></Relationships>
</file>

<file path=ppt/notesSlides/_rels/notesSlide8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0.xml"/></Relationships>
</file>

<file path=ppt/notesSlides/_rels/notesSlide8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1.xml"/></Relationships>
</file>

<file path=ppt/notesSlides/_rels/notesSlide8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2.xml"/></Relationships>
</file>

<file path=ppt/notesSlides/_rels/notesSlide8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3.xml"/></Relationships>
</file>

<file path=ppt/notesSlides/_rels/notesSlide8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4.xml"/></Relationships>
</file>

<file path=ppt/notesSlides/_rels/notesSlide8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5.xml"/></Relationships>
</file>

<file path=ppt/notesSlides/_rels/notesSlide8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6.xml"/></Relationships>
</file>

<file path=ppt/notesSlides/_rels/notesSlide8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7.xml"/></Relationships>
</file>

<file path=ppt/notesSlides/_rels/notesSlide8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8.xml"/></Relationships>
</file>

<file path=ppt/notesSlides/_rels/notesSlide8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9.xml"/></Relationships>
</file>

<file path=ppt/notesSlides/_rels/notesSlide9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0.xml"/></Relationships>
</file>

<file path=ppt/notesSlides/_rels/notesSlide9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1.xml"/></Relationships>
</file>

<file path=ppt/notesSlides/_rels/notesSlide9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2.xml"/></Relationships>
</file>

<file path=ppt/notesSlides/_rels/notesSlide9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3.xml"/></Relationships>
</file>

<file path=ppt/notesSlides/_rels/notesSlide9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4.xml"/></Relationships>
</file>

<file path=ppt/notesSlides/_rels/notesSlide9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5.xml"/></Relationships>
</file>

<file path=ppt/notesSlides/_rels/notesSlide9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6.xml"/></Relationships>
</file>

<file path=ppt/notesSlides/_rels/notesSlide9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7.xml"/></Relationships>
</file>

<file path=ppt/notesSlides/_rels/notesSlide9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8.xml"/></Relationships>
</file>

<file path=ppt/notesSlides/_rels/notesSlide9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9.xml"/></Relationships>
</file>

<file path=ppt/notesSlides/_rels/notesSlide10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0.xml"/></Relationships>
</file>

<file path=ppt/notesSlides/_rels/notesSlide10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1.xml"/></Relationships>
</file>

<file path=ppt/notesSlides/_rels/notesSlide10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2.xml"/></Relationships>
</file>

<file path=ppt/notesSlides/_rels/notesSlide10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3.xml"/></Relationships>
</file>

<file path=ppt/notesSlides/_rels/notesSlide10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4.xml"/></Relationships>
</file>

<file path=ppt/notesSlides/_rels/notesSlide10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5.xml"/></Relationships>
</file>

<file path=ppt/notesSlides/_rels/notesSlide10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6.xml"/></Relationships>
</file>

<file path=ppt/notesSlides/_rels/notesSlide10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7.xml"/></Relationships>
</file>

<file path=ppt/notesSlides/_rels/notesSlide10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8.xml"/></Relationships>
</file>

<file path=ppt/notesSlides/_rels/notesSlide10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9.xml"/></Relationships>
</file>

<file path=ppt/notesSlides/_rels/notesSlide1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0.xml"/></Relationships>
</file>

<file path=ppt/notesSlides/_rels/notesSlide1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1.xml"/></Relationships>
</file>

<file path=ppt/notesSlides/_rels/notesSlide1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2.xml"/></Relationships>
</file>

<file path=ppt/notesSlides/_rels/notesSlide1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3.xml"/></Relationships>
</file>

<file path=ppt/notesSlides/_rels/notesSlide1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4.xml"/></Relationships>
</file>

<file path=ppt/notesSlides/_rels/notesSlide1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5.xml"/></Relationships>
</file>

<file path=ppt/notesSlides/_rels/notesSlide1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3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大家好，这一讲我们完整过一遍 fountain —— 仓颉生态里的一站式服务器应用开发工具库。它由四十多个模块组成，覆盖从配置、IOC、AOP、数据、MVC、ORM，一直到日志和运行时底座的全部环节。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我先把结论放到前面：用 fountain 写服务端，你的业务代码里只需要写 controller、service、dao、po 四样东西，加起来不到两百行；没有配置文件，也没有 main 函数。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整个讲稿都配套仓库里的示例工程 fdemo，我讲到的每一条命令都可以直接复制执行。</a:t>
            </a:r>
            <a:endParaRPr lang="zh-CN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5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Notes Placeholder 3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这份讲稿分成四个板块，从「为什么用」一直到「怎么用」，最后收在常见坑和速查表上。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第一个板块是总览与启动，先讲清楚我们到底在重复什么、fountain 是什么、它三个反直觉的设计决策，然后过一遍环境准备，再把 fboot 的整套命令行讲透，最后用 f_config 把「没有配置文件」这件事说清楚，并跑通 fdemo。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第二个板块是框架核心，六个模块：IOC、AOP、数据、工具箱、MVC 和 HTTP 数据格式。这六个是日常写代码时碰得最多的。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第三个板块是数据与安全，讲 ORM 的 PO / DAO / Service 三个角色、事务控制、安全与 JWT、还有 CRON 定时任务。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第四个板块是日志、串讲与底座：先把 f_log 讲透，再用一次请求把整个框架串起来，然后翻一遍运行时基础设施那一层，最后是二十个常见坑和预设问答。附录里是三张速查表，可以单独拿出来用。</a:t>
            </a:r>
            <a:endParaRPr lang="zh-CN"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7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Notes Placeholder 3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零到五章是开场部分：为什么用 fountain、环境、fboot 命令行、f_config、跑通 fdemo。</a:t>
            </a:r>
            <a:endParaRPr lang="zh-CN" dirty="0"/>
          </a:p>
          <a:p>
            <a:r>
              <a:rPr lang="zh-CN" dirty="0"/>
              <a:t>六到十一章是框架核心：IOC、AOP、数据、工具箱、MVC、HTTP 格式。数据那一章同时是 MVC 参数绑定、ORM 结果映射和 JWT 负载填充的共同底座</a:t>
            </a:r>
            <a:endParaRPr lang="zh-CN" dirty="0"/>
          </a:p>
          <a:p>
            <a:endParaRPr lang="zh-CN" dirty="0"/>
          </a:p>
          <a:p>
            <a:r>
              <a:rPr lang="zh-CN" dirty="0"/>
              <a:t>十二到十四章是数据与安全：</a:t>
            </a:r>
            <a:endParaRPr lang="zh-CN" dirty="0"/>
          </a:p>
          <a:p>
            <a:r>
              <a:rPr lang="zh-CN" dirty="0"/>
              <a:t>十五到十八章加附录，日志，串讲，运行时基础设施，最后是常见坑与问答。</a:t>
            </a:r>
            <a:endParaRPr lang="zh-CN" dirty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0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Notes Placeholder 3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首先确认基本信息</a:t>
            </a:r>
            <a:endParaRPr lang="zh-CN" dirty="0"/>
          </a:p>
          <a:p>
            <a:r>
              <a:rPr lang="zh-CN" dirty="0"/>
              <a:t>第一，仓颉 SDK 和 stdx 就位，cjc 能打印版本，CANGJIE_STDX_DYNAMIC_PATH 这个环境变量有值。</a:t>
            </a:r>
            <a:endParaRPr lang="zh-CN" dirty="0"/>
          </a:p>
          <a:p>
            <a:r>
              <a:rPr lang="zh-CN" dirty="0"/>
              <a:t>第二，装好 fboot，并且把 bin 目录加到 PATH、把 fboot 的动态链接库目录加到 LD_LIBRARY_PATH。</a:t>
            </a:r>
            <a:endParaRPr lang="zh-CN" dirty="0"/>
          </a:p>
          <a:p>
            <a:r>
              <a:rPr lang="zh-CN" dirty="0"/>
              <a:t>第三，fboot version 能跑起来。如果它报找不到动态链接库，百分之九十九是 LD_LIBRARY_PATH 没带上 fboot 的 libs 目录。</a:t>
            </a:r>
            <a:endParaRPr lang="zh-CN" dirty="0"/>
          </a:p>
          <a:p>
            <a:endParaRPr lang="zh-CN" dirty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2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Notes Placeholder 3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进入第一个板块。这个板块解决的是「为什么用、怎么启动」这两件事。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我会先用五个例子把非业务复杂度摆出来，然后给出 fountain 的模块全景，接着讲它三个反直觉的设计决策，也就是：应用项目没有 main 函数、宏为主注解为辅、一切配置都是环境变量或命令行参数。再坦白讲清楚什么场景不适合用它。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然后是环境准备和 fboot 的整套命令行。这一章要特别强调一句话，它是整个 fountain 世界的第一公理：应用项目只需要编译成动态链接库。后面所有命令都围绕这一条展开。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最后用 f_config 把「没有配置文件」这件事说透，并现场跑通示例工程 fdemo。</a:t>
            </a:r>
            <a:endParaRPr lang="zh-CN" dirty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4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Notes Placeholder 3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先说痛点。我们写一个普通的后端服务，真正属于「业务」的代码其实很少，大量时间在重复这几件事。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第一，谁来创建对象、谁来装配依赖。于是我们手搓工厂、手搓单例、手搓 getInstance。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第二，每个接口都要做登录校验、权限校验、参数校验、异常处理、耗时统计。于是每个函数开头都是同样的十几行。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第三，每张表都要写一遍 insert、update、select、page。SQL 拼接、参数绑定、结果集到对象的映射，全是体力活。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第四，事务边界靠人肉保证。try 提交、catch 回滚，复制粘贴，事务传播行为全靠约定。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第五，定时任务、JWT、连接池、日志、配置，每个项目都重新选型、重新封装一遍。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这五类东西有个共同的名字，叫「非业务复杂度」。fountain 的目标很直接：把它们全部收进工具库，让业务代码只剩下业务。</a:t>
            </a:r>
            <a:endParaRPr lang="zh-CN" dirty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6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Notes Placeholder 3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fountain 是仓颉生态里的一站式服务器应用开发工具库，由四十多个模块组成。核心的那一层我列在这张表里。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配置是 f_config，特色是「没有配置文件」：环境变量、命令行参数、Config.set、编译期 SM4 内嵌，四级优先级。IOC 容器是 f_bean，写法和 Spring 很像，@Bean 加 lookup。AOP 是 f_aspect，一个 Aspect 接口加织入规则。数据层是 f_data，一个 @DataAssist 宏搞定对象复制、JSON 互转、校验和 JSONPath。MVC 是 f_mvc，@Controller 加 @GetMapping 就能起 HTTP 服务。HTTP 数据格式单独拆成了 f_http。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ORM 是 f_orm，它最反直觉的一点是 DAO 就是接口，加了 @DAO 以后 SqlExecutor 本身就是实现。安全是 f_security，JWT 是 f_jwt，定时任务是 f_ticktock，随机数是 f_random，工具箱是 f_util，日志是 f_log。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最下面两行：f_cache、f_pool、f_collection、f_time、f_regex、f_rx 构成基础设施；启动器是 fboot 和 f_app——注意，没有 main 也能启动应用。</a:t>
            </a:r>
            <a:endParaRPr lang="zh-CN" dirty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8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Notes Placeholder 3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核心层之外还有一圈外围模块。它们有个共同点：既能被框架使用，也能单独当作工具库引入。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按用途大致分三拨。工具类是 f_base、f_util、f_collection、f_concurrent、f_io、f_crypto、f_random，还有 f_time、f_regex、f_rx。</a:t>
            </a:r>
            <a:endParaRPr lang="zh-CN" dirty="0"/>
          </a:p>
          <a:p>
            <a:endParaRPr lang="zh-CN" altLang="zh-CN" dirty="0"/>
          </a:p>
          <a:p>
            <a:r>
              <a:rPr lang="en-US" altLang="zh-CN" dirty="0"/>
              <a:t>http</a:t>
            </a:r>
            <a:r>
              <a:rPr lang="zh-CN" altLang="en-US" dirty="0"/>
              <a:t>客户端是</a:t>
            </a:r>
            <a:r>
              <a:rPr lang="en-US" altLang="zh-CN" dirty="0"/>
              <a:t>f_httpclient</a:t>
            </a:r>
            <a:r>
              <a:rPr lang="zh-CN" altLang="en-US" dirty="0"/>
              <a:t>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引用方式有两种写法，完全等价。一种是在 cjpm.toml 里写 fountain::f_orm 等于版本号，另一种是用聚合包 fountain::fountain.orm。对应的包名分别是 fountain::f_orm 点什么、和 fountain::fountain.orm 点什么。两种都可以，团队里统一一种即可。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版本号方面：fountain 各模块版本一致，可以在仓库 README 或者 f_version 模块里查。安装 fboot 也是同样一条 cjpm install 命令。</a:t>
            </a:r>
            <a:endParaRPr lang="zh-CN" dirty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1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Notes Placeholder 3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第一个反直觉的设计决策：用 fountain 开发，你的代码里不需要写 main 函数。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项目初始化成 workspace，每个模块编译成动态链接库，然后由 fboot 加载这些动态链接库完成启动。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我把它拆开看。fboot run 会递归扫描目录，加载文件名匹配 --dylibPattern 正则的那些库。动态链接库一加载，fountain 宏在展开时生成的顶级匿名闭包就会执行，把 @Bean 注册进 IOC、把各个 Initializer 实现注册进集合、把 controller 函数注册到 MVC。然后按 dependencies 做拓扑排序，依次调 initialize，再收集所有 start。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带来的好处是三个。第一，装配发生在运行期——加一个功能就是把一个动态链接库放进目录，不要它就从加载名单里去掉，这是真正的插件化。第二，启动由框架统一负责，初始化顺序、依赖拓扑、退出回调都由 f_app 的 Initializer 机制处理。第三，业务代码只剩业务，没有启动样板。</a:t>
            </a:r>
            <a:endParaRPr lang="zh-CN" dirty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Notes Placeholder 3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第二个决策：项目初始化，宏为主，注解为辅，装配代码由宏在编译期生成；反射只在两处各点一下。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先把话说准：fountain 也用了很多注解。IOC 的 bean 元数据、AOP 的织入规则、controller 的 HTTP 映射和参数绑定，这些都是注解，写起来和 Spring 很像。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区别在于注解由谁处理、什么时候处理。@Bean、@Controller、@DAO、@QueryMappersGenerator、@ORMField、@DataAssist 这些在 fountain 里是仓颉宏：编译期就把注册代码、getter setter、列映射、DAO 实现扩展全部生成好了。所以你不会看到 XML，也不会有「启动扫包扫半天」。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反射用得极少，只有两个时机。一个是启动初始化时，读一遍注解、类型和函数签名，把 bean 表、路由表建起来。另一个是切点函数第一次被调用时，算出这条链上要织入哪些切面，之后缓存住。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而且这两处反射都只用来取信息，不会用反射去调你的方法、读写你的字段。能编译期解决的，绝不留到运行期。代价是宏的用法必须遵守它的约定，不遵守这些约定编译期就会报错，不会拖到线上。</a:t>
            </a:r>
            <a:endParaRPr lang="zh-CN" dirty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Notes Placeholder 3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第三个决策：一切配置都是环境变量或 --key=value 形式的命令行参数，运行期优先级高于编译期。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fountain 没有自己的配置文件格式。端口、连接池、事务规则、日志格式、数据库连接串，全部来自环境变量或命令行参数，两者完全平级，同名时命令行参数生效。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好处是容器化、Docker、K8s 天然适配。更妙的是 fboot build 支持把 SM4 的密钥和 IV、数据库连接 URL、数据库用户名密码，以命令行参数或环境变量的形式在编译期注入到产物里，而运行期的同名配置会覆盖它。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于是你可以做两件事：第一，运行环境里不出现敏感信息；第二，运行期用环境变量或者命令行参数覆盖，做到「一份产物、多环境部署」。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这套机制由 f_config 提供，第四章会完整展开：命令行参数的四种写法、四级读取优先级、SM4 加密内嵌敏感配置，以及 @EmbedSensitive 宏。</a:t>
            </a:r>
            <a:endParaRPr lang="zh-CN" dirty="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4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Notes Placeholder 3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什么情况不该用</a:t>
            </a:r>
            <a:r>
              <a:rPr lang="en-US" altLang="zh-CN" dirty="0"/>
              <a:t>fountain</a:t>
            </a:r>
            <a:r>
              <a:rPr lang="zh-CN" dirty="0"/>
              <a:t>，我讲得直白一点：fountain 不是万能的。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第一，它只支持仓颉语言，而且当前主要面向 Linux的服务端场景。你要是写别的语言，或者主要跑在别的形态上，它帮不上忙。很多高级</a:t>
            </a:r>
            <a:r>
              <a:rPr lang="en-US" altLang="zh-CN" dirty="0"/>
              <a:t>API</a:t>
            </a:r>
            <a:r>
              <a:rPr lang="zh-CN" altLang="en-US" dirty="0"/>
              <a:t>也只提供了</a:t>
            </a:r>
            <a:r>
              <a:rPr lang="en-US" altLang="zh-CN" dirty="0"/>
              <a:t>Linux</a:t>
            </a:r>
            <a:r>
              <a:rPr lang="zh-CN" altLang="en-US" dirty="0"/>
              <a:t>版本，其他操作系统只提供了依赖标准库的降级支持。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第二，IOC 只管理 class，不管理 struct。因为 struct 是值类型，取出来就会复制，作者认为得不偿失。这是明确的取舍，不是遗漏。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第三，它依赖 stdx动态链接库，需要配置 CANGJIE_STDX_DYNAMIC_PATH 这个环境变量。这里必须要注意，绝对不要依赖静态链接库。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第四，宏的约定比较硬，第一次上手会有一个「为什么这么写才编译得过」的阶段，这个阶段躲不掉。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所以结论是：如果你的项目只有几百行、只有一个接口，直接写一个 HTTP 服务可能更省事。fountain 的价值在中大型、需要长期演进的服务端应用上。</a:t>
            </a:r>
            <a:endParaRPr lang="zh-CN" dirty="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4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Notes Placeholder 3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上台之前先把环境说清楚，后面所有演示都建立在这上面。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第一步是环境变量，建议直接写进 ~/.bashrc。需要设的有五个：CANGJIE_STDX_DYNAMIC_PATH 指向 stdx 的动态链接库目录；CANGJIE_STDX_PATH 等于它；FOUNTAIN_HOME 指向 fboot 的 libs 目录；LD_LIBRARY_PATH 把 FOUNTAIN_HOME 加进去；PATH 加上 安装</a:t>
            </a:r>
            <a:r>
              <a:rPr lang="en-US" altLang="zh-CN" dirty="0"/>
              <a:t>fboot</a:t>
            </a:r>
            <a:r>
              <a:rPr lang="zh-CN" dirty="0"/>
              <a:t>的 bin 目录。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第二步安装 fboot，一条 cjpm install，把版本号换成实际版本，root 指向 安装目录。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第三步验证，fboot version。屏幕上应该打印出当前的 fountain 版本号，比如 1.3.x。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提醒一句：这里所有出现「版本号」占位的地方，都要替换成实际版本。fountain 各模块版本一致，可以在仓库 README 或者 f_version 模块里查。</a:t>
            </a:r>
            <a:endParaRPr lang="zh-CN" dirty="0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4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Notes Placeholder 3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先看一下 fboot 自己有多简单——整个 fboot 可执行程序的源码只有这么几行：包名 fountain::fboot，导入 fountain::f_app，然后 main 函数里一行 App(args, dynamic: true).boot()。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也就是说，fboot 只是 f_app 的一个壳。所有子命令的实现都在 f_app 的 App 类里。理解这一点很重要：你自己的应用也可以用同样的方式启动，而且可以用 SubCommandMediator 注册自己的子命令。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右边是 fboot help 的输出，一共十五条。请注意第一行，它是整个 fountain 世界的第一公理：应用项目只需要编译成动态链接库。后面所有命令都围绕这一条展开。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第十三条到第十五条是用来管理 fountain 本身的，比如替换版本号、打 tag，这些你日常用不到，但要记得 version 命令会动 git。</a:t>
            </a:r>
            <a:endParaRPr lang="zh-CN" dirty="0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4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Notes Placeholder 3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fboot workspace 是把目录变成仓颉 workspace 的命令，有三种用法。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第一种，直接在目标目录执行 fboot workspace，把当前目录初始化成 workspace。第二种，fboot workspace 加一个名字，比如 fdemo，它会在当前目录下新建这个子目录并初始化。第三种，直接给一个绝对或相对路径，把那个路径初始化成 workspace。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它底层其实做了两件事。第一，在目标目录执行 cjpm init --workspace。第二，重写 cjpm.toml：把 workspace 的 version 定成 1.0.0，写入 f_base 和 f_version 依赖，把空的 compile-option 换成 --dy-std 和 -Woff all，再补齐 Linux、macOS、Windows、OHOS 各平台的 target 段和 path-option。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换句话说，它替你写好了那六十行跨平台配置，你不用再手抄。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一句话总结：workspace 是「装模块的盒子」，每个模块都必须编译为动态链接库。</a:t>
            </a:r>
            <a:endParaRPr lang="zh-CN" dirty="0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4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Notes Placeholder 3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fboot module 是在 workspace 里加一个动态链接库模块。在 workspace 根目录执行 fboot module hello。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它做三件事。第一，在 hello 目录执行 cjpm init --type=dynamic。第二，把 hello 加进上一层目录 cjpm.toml 的 members，所以必须在 workspace 根目录执行。第三，生成 hello/src/hello.cj，内容就是一行 package hello。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注意：模块一定是 dynamic。这是 fountain「加载即生效」机制的前提。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右边就是从零到第一个接口的完整过程。你不用敲很多代码——不到二十行，一个 HTTP 服务就写完了。一个 @Controller 类，一个 @GetMapping，配 text/plain，加 @IgnoreSecurity 跳过安全检查，返回一句 hello Fountain。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这样就完成了一个简单的</a:t>
            </a:r>
            <a:r>
              <a:rPr lang="en-US" altLang="zh-CN" dirty="0"/>
              <a:t>http</a:t>
            </a:r>
            <a:r>
              <a:rPr lang="zh-CN" altLang="en-US" dirty="0"/>
              <a:t>服务。</a:t>
            </a:r>
            <a:endParaRPr lang="zh-CN" altLang="en-US" dirty="0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5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Notes Placeholder 3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fboot build 不是简单地执行 cjpm build，它额外做了两件很有意思的事。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先说语法：fboot build 后面跟一个 PATH 和若干参数。PATH 必须是第一个参数，而且只能是路径，缺省是当前目录。其余参数分两类：--key=value 形式的作为配置项，这就是「编译期注入配置」的实现方式；其它参数原样作为 cjpm build 的命令行参数。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两个隐藏动作。第一，它会生成一个版本模块，模块名的点号和横线换成下划线，写入 src 下的 AppVersion.cj，内容是 AppVersion.set，把横幅、应用名、版本号传进去，然后临时加入 workspace 的 members；进程退出时恢复原来的 cjpm.toml 并删除这个临时模块。这就是为什么启动时能打印出你自己的 BANNER 和版本号。如果当前目录有非空的 banner.txt，它就会成为 AppVersion 的横幅。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还有个细节值得解释：--target-dir。当 PATH 等于当前工作目录时，fboot 会把产物目录设成「路径斜杠目录名」；否则产物目录就是 PATH 本身。这就解释了仓库里 fdemo 的产物为什么在 fdemo/fdemo/release 下面。</a:t>
            </a:r>
            <a:endParaRPr lang="zh-CN" dirty="0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5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Notes Placeholder 3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这一段是编译期注入配置，就是 fdemo/boot.sh 里 build 函数在干的事。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右边这几行就是真实写法。orm_drivers 指定驱动，postgres_orm_connectionUrl 给连接串，username 和 password 给账号口令，最后两行给 SM4 的密钥和 IV，值由 fboot randhex 32 现场生成。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这些 --开头等号分隔的键值对会变成 fboot build 执行时的配置项，也可以把前面的横线去掉改成环境变量，效果一样。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于是有三件事成立。第一，数据库连接串、用户名密码在编译期就被嵌入编译产物。第二，因为同时给了 sm4Key 和 sm4Iv，这些敏感信息是以 SM4 加密后的字节数组嵌入的，不是明文。第三，运行期同名配置优先级更高，一份产物跑多套环境。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顺带提醒：真实项目不要把密码写进构建脚本，这里只是演示。这套「编译期内嵌加运行期覆盖」的完整机制，第四章会展开。</a:t>
            </a:r>
            <a:endParaRPr lang="zh-CN" dirty="0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5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Notes Placeholder 3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fboot randhex 生成随机十六进制串，参数是位数。它的实现就是 f_random 里的 RandomString().randomLowerHex(n)，由 f_app 的 RandHexCommand 注册到 SubCommandMediator。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在 fountain 里它最常见的用途就是刚才那一节：给 SM4 生成密钥和 IV。SM4 的密钥是十六字节，也就是三十二个十六进制字符，所以写 fboot randhex 32。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fboot cleanUpdate 是依赖变了之后的必修课。它等价于三步：cjpm clean、删除 cjpm.lock、cjpm update。也可以指定路径。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什么时候必须用它？当你改了 cjpm.toml 的依赖，或者切换了 SDK、stdx 版本，旧产物可能和新依赖的二进制不兼容。这时候不要浪费时间 debug，直接 fboot cleanUpdate。fdemo 的 boot.sh 里也封装了它，一条 ./boot.sh cleanUpdate。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这个命令值得在视频里讲一次，因为它能省掉观众大量的排查时间。</a:t>
            </a:r>
            <a:endParaRPr lang="zh-CN" dirty="0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5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Notes Placeholder 3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fboot run 是整个框架最有意思的一条命令。它的执行流程是八步。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第一步，确定目标路径：第一个不以横线开头的参数，缺省是当前目录，不存在就创建。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第二步，按平台选择动态链接库的扩展名和搜索路径变量：Windows 用 dll 和 Path，macOS 用 dylib 和 DYLD_FALLBACK_LIBRARY_PATH，其它用 so 和 LD_LIBRARY_PATH。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第三步，递归扫描目录，加载文件名匹配这个正则的库——文件名要以 lib 开头，并且匹配你给的正则，或者是 fboot build 自动创建的那个 static 版本模块。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第四步，加载即执行。宏展开时生成的顶级匿名闭包会执行，把 @Bean 注册进 IOC、把各个 Initializer 注册进集合、把 controller 函数注册到 MVC。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第五步，按 dependencies 做拓扑排序后依次 initialize，收集所有 start。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第六步，每个 start 在新线程执行，其中 MVC 的 start 会启动 HTTP 服务并阻塞。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第七步，主线程永久阻塞。第八步，也是要记住的：fboot run 不会返回，否则进程就退出了。这是预期行为，不是卡住，另开一个终端发请求就行。</a:t>
            </a:r>
            <a:endParaRPr lang="zh-CN" dirty="0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6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Notes Placeholder 3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--dylibPattern 这个正则看起来很绕，其实逻辑很清楚——它枚举了「必须在运行期主动加载的动态链接库」。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boot 这一段，加载的是初始化包，里面有切面 ControllerAspect、事务钩子 TransactionHookImpl、自定义 MediaType、500 处理器，它们都是 @Bean，不加载就静默失效。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controller 这一段，加载所有 controller 包，负责 MVC 路由注册。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service 点 impl 这一段，加载所有 service 实现包，@TransactionalService 的织入和业务实现都在这里。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user 点 util 点 auth，加载鉴权器 AuthCheckerImpl，它是 @Bean，不加载的话所有接口都不做鉴权，这很危险。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user 点 util 点 cron，加载定时任务 TickTockTaskImpl，它是 @Bean，不加载定时任务就不执行。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这里得多提一句，上面这个正则表达式是匹配</a:t>
            </a:r>
            <a:r>
              <a:rPr lang="en-US" altLang="zh-CN" dirty="0"/>
              <a:t>fountain</a:t>
            </a:r>
            <a:r>
              <a:rPr lang="zh-CN" altLang="en-US" dirty="0"/>
              <a:t>的</a:t>
            </a:r>
            <a:r>
              <a:rPr lang="en-US" altLang="zh-CN" dirty="0"/>
              <a:t>fdemo</a:t>
            </a:r>
            <a:r>
              <a:rPr lang="zh-CN" altLang="en-US" dirty="0"/>
              <a:t>模块的，你的</a:t>
            </a:r>
            <a:r>
              <a:rPr lang="en-US" altLang="zh-CN" dirty="0"/>
              <a:t>dylibPattern</a:t>
            </a:r>
            <a:r>
              <a:rPr lang="zh-CN" altLang="en-US" dirty="0"/>
              <a:t>应当匹配自己的业务划分。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一句话总结：凡是靠 @Bean 生效的东西，所在的动态链接库都必须被 --dylibPattern 匹配到。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右边是现场跑 hello_app 的命令和预期输出，curl 一下应该返回 hello Fountain。到此，从空目录到可服务的 HTTP 应用，一共只敲了四条命令、写了一个类。</a:t>
            </a:r>
            <a:endParaRPr lang="zh-CN" dirty="0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6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Notes Placeholder 3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剩下的命令快速过一遍。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fboot count 统计项目的模块数、包数、文件数和行数，还能按扩展名过滤、忽略括号和注释。fboot test 用 test 目录下的 cjpm.toml 覆盖根目录那份，先 build 再 run，缺 --dylibPattern 会抛 BootException。fboot pub 批量发布模块，自动按依赖排序、改版本号、探测制品仓库，范围由 .modules 文件的 include、exclude、detention 控制。fboot version 不带参数是打印版本号，带版本号是用来管理 fountain 自身的，会做 git 提交、推送、打 tag。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最后一行是自定义子命令。pub 和 randhex 本身就是最好的例子。你只要写一个实现 SubCommand 的类，在 static init 里调 SubCommandMediator.register，把它编译成动态链接库，就可以用 fboot 加子命令名的方式来执行。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未命中时框架会扫描并加载动态链接库、让 static init 完成注册，然后重试一次；仍然没有才抛异常并列出可用命令。</a:t>
            </a:r>
            <a:endParaRPr lang="zh-CN" dirty="0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6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Notes Placeholder 3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第四章讲配置，先给结论：fountain 没有配置文件。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上一章你已经看到，fboot build 和 fboot run 后面总要挂一长串参数——mvc_port、orm_drivers、logger 开头的、controllerPointcut，那些全都是配置，它们全都由 f_config 统一读取。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而 f_config 最重要的一句话是：不依赖任何配置文件。配置项只有四个来源：环境变量、</a:t>
            </a:r>
            <a:r>
              <a:rPr lang="en-US" altLang="zh-CN" dirty="0"/>
              <a:t>--</a:t>
            </a:r>
            <a:r>
              <a:rPr lang="zh-CN" altLang="en-US" dirty="0"/>
              <a:t>开头等号分隔的键值对</a:t>
            </a:r>
            <a:r>
              <a:rPr lang="zh-CN" dirty="0"/>
              <a:t>形式的命令行参数、进程内的 Config.set、以及编译期内嵌的敏感配置。没有 application.yml，没有 properties，没有</a:t>
            </a:r>
            <a:r>
              <a:rPr lang="en-US" altLang="zh-CN" dirty="0"/>
              <a:t>xml</a:t>
            </a:r>
            <a:r>
              <a:rPr lang="zh-CN" altLang="en-US" dirty="0"/>
              <a:t>，</a:t>
            </a:r>
            <a:r>
              <a:rPr lang="zh-CN" dirty="0"/>
              <a:t>没有 JSON。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前两个是完全平级的：环境变量能做的事，命令行参数都能做，而且命令行参数会覆盖同名环境变量。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这里先埋一个后面会反复用到的规则：只要一个仓颉进程链接了 f_config，它的命令行参数就会被自动解析成配置项——不限于 fboot 的任何子命令，也包括你自己写的、依赖了 f_config 的程序。</a:t>
            </a:r>
            <a:endParaRPr lang="zh-CN" dirty="0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6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Notes Placeholder 3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命令行参数有四种合法写法。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第一种，双横线加 key=value。key 是等号左侧，value 是等号右侧，两侧都会 trim。为了跟 cjpm 自己的参数区分开，fboot build 只支持这一种写法。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第二种，只有双横线的 argName，等价于 argName=true。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第三种，单横线加空格加值。如果下一个参数以横线开头，就不把它当作值，这个配置项的值就是 true。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第四种，只有单横线加 argName，等价于单横线 argName 空格 true。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三条规则要记住。第一，单横线形式不支持等号赋值，写成 -argName=argValue 会被整体当成一个配置项名。第二，不以横线开头的参数会被忽略，程序自身路径也不参与解析。第三，命名风格不会被改写——仓颉运行时自身的环境变量是驼峰命名，所以业务配置也建议用驼峰。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右边是 fdemo/boot.sh 里现成的例子：一个 args 变量，一行一行往上拼，最后统一交给 fboot build。就在它上面，作者留了一段被注释掉的等价写法，用的全是 export。</a:t>
            </a:r>
            <a:endParaRPr lang="zh-CN" dirty="0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6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Notes Placeholder 3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这里先把边界划清：不是「fboot 支持命令行参数」，而是「任何用了 f_config 的仓颉进程都支持」。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只要一个仓颉进程链接了 f_config 模块，它的 static init 就会去读自己的命令行参数，把 --key=value 装载成配置项。这跟 fboot 没什么特殊关系，fboot 只是恰好也用了 f_config 的一个仓颉进程而已。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同样适用的还有：fboot run 启动的应用进程（应用就是被加载进这个进程的）；你自己写的任何带 main 的可执行程序，只要 import 了 f_config；任何用 cjpm run 跑起来、依赖了 f_config 的二进制；以及任何间接依赖了 f_config 的程序，比如你引了 f_orm，它依赖 f_config。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所以 --key=value 是 f_config 这个模块的能力，不是某个命令的开关。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同一个写法在两个舞台上走的路径不一样。编译期，命令行参数在 fboot build 进程的 argv 里，被 fboot 进程里的 f_config 读到，转成 cjpm build 子进程的环境变量，宏在编译期读到它们并把连接串、口令加密嵌入产物。运行期，参数在 fboot run 进程的 argv 里，同一个 f_config、同一套 static init，装载进 ARGS 并覆盖同名环境变量。</a:t>
            </a:r>
            <a:endParaRPr lang="zh-CN" dirty="0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7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Notes Placeholder 3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读取优先级是本章重点。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一次 Config.getString 的查找顺序是四级，先命中者生效。第一级，环境变量或命令行参数。第二级，带全局前缀的同名项。第三级，编译期内嵌的敏感值。第四级，带全局前缀的敏感值。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结论就是一句话：运行期配置，也就是环境变量和命令行参数，优先级高于编译期内嵌值。这就是为什么你可以编译期把数据库密码嵌入编译产物，生产环境再用环境变量覆盖掉。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还有一个细节是全局前缀 fountain。Config 内置了前缀 fountain：原名没命中时，它会再试一次带 fountain 下划线前缀的名字；而 getAll 的结果里则会把前缀去掉。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这两种写法是等价的：export myAppSecret 和 export fountain_myAppSecret，Config.getString('myAppSecret') 都能命中。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getAll 传前缀时，会返回所有以这个前缀开头的配置项；prefix 为空就返回全部。</a:t>
            </a:r>
            <a:endParaRPr lang="zh-CN" dirty="0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7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Notes Placeholder 3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Config 的 API 挑几个最有辨识度的讲。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第一，getValue 和 getData 是单例读取，解析失败返回 None，不抛异常。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第二，getValues 和 getDatas 是数组读取，解析失败会抛异常，配置项不存在则返回空数组。这个「单数不抛、复数抛」的不对称一定要记住，写容错代码时别搞混。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第三，bufferSize 更贴心：配置项不存在、解析失败或者小于等于零，就用默认值；调试模式下原样返回；非调试模式下会向上取整到 2 的幂，而且恒不小于默认值。环形缓冲区直接拿它就行。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另外几个常用的：getStringArray 按分隔符切字符串数组；getDateTime 带自己的时间格式；getDuration 解析 Duration 字符串；getAll 按前缀取一批；set 是运行期写入；refresher 是注册刷新回调。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最后两个是敏感配置用的：getSM4 拿到 SM4 实例，registerSensitive 在进程内注册一项敏感值——@EmbedSensitive 展开后调的就是它。</a:t>
            </a:r>
            <a:endParaRPr lang="zh-CN" dirty="0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7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Notes Placeholder 3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这是本章的高潮，也是 fboot randhex 的用武之地。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数据库密码、第三方密钥这类东西，不适合出现在运行环境的环境变量里。f_config 的做法是：编译期在编译机上读取环境变量，用 SM4 加密后作为字节数组嵌入编译产物；进程启动时注册到独立的 sensitiveMap，再用常规的 getString 读取。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三种情况：没配 SM4，嵌入的是 UTF8 明文字节数组；配了 SM4，嵌入的是密文，同时把 SM4 的参数一并嵌入，供运行期解密；运行期同名配置优先级更高，可以被覆盖。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SM4 有六个配置项。工作模式默认 CBC，支持 CBC、CFB、CTR、GCM、OFB——ECB 不安全，明确不支持。填充模式默认 PKCS7Padding。密钥必须配置，是十六字节，也就是长度三十二的十六进制串，用 fboot randhex 32 生成。初始向量配了 key 就必须配：CBC、OFB、CFB 要十六字节，GCM 要十二字节，所以 GCM 用 fboot randhex 24。还有附加认证数据和 GCM 的 tag 长度。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最后两点讲出来比藏着好。第一，SM4 的参数本身，包括密钥，也会以字节数组形式出现在编译产物里。这个机制抬高的是「直接从二进制里 grep 出配置」的门槛，不能替代密钥管理服务。第二，每次解密都会重新构造一次 SM4 实例，敏感配置多或者读取频繁时建议自己缓存结果。</a:t>
            </a:r>
            <a:endParaRPr lang="zh-CN" dirty="0"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7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Notes Placeholder 3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@EmbedSensitive 宏的用法很直接：在源文件顶层调用，把它要嵌入的配置项名写进去就行，逗号分隔也可以。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它展开后是一个立即执行的匿名闭包，里面一串 Config.registerSensitive 调用，把你的敏感项和 SM4 的六个参数逐个注册进去。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嵌入规则有五条。第一，编译期取不到值的名字会被忽略——编译机上没有对应环境变量，就不注册。第二，编译期配了 sm4Key 就写密文，否则写 UTF8 明文。第三，只有「至少注册了一项敏感值」并且「sm4Key 非空」的时候，才把 SM4 的六个参数一并写入，而且这六个参数本身是按明文字节写入的。第四，同名重复注册以最后一次为准。第五，运行期读取仍然遵循 4.3 的优先级。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最后说一下 f_orm 和它的关系：f_orm 就是基于这个宏的封装。它在 ProtectedMacros 目录下生成 ORM 的连接串、用户名、口令这几个键，再转调 @EmbedSensitive，最终在 f_orm 里以 @ORMEmbedSensitive 触发。所以在 boot.sh 里写的 postgres_orm_connectionUrl 才能被嵌进产物。</a:t>
            </a:r>
            <a:endParaRPr lang="zh-CN" dirty="0"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8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Notes Placeholder 3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这一节两个收尾内容。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先说可配置的时间格式。DateTimeConfConverter 这个注解修饰成员变量、属性或者参数，注解里的参数 conf 是「保存时间格式的配置项名」，注意不是格式本身。它按第 4.3 节的优先级读取这个配置项，没配就用 default。所以做多租户、多地区系统时，各家的日期格式不一样，一个注解就解决了——时间格式本身也变成可配置的。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再说一个已知问题。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第一个，getValues 和 getDateTimes 解析失败会抛异常；而单数版本 getValue 和 getDateTime 在配置不存在时返回 None 或者空数组。这是故意的，因为复数项配置在解析过程中，只要有某一个转换失败，整个配置就失效。</a:t>
            </a:r>
            <a:endParaRPr lang="zh-CN" dirty="0"/>
          </a:p>
          <a:p>
            <a:endParaRPr lang="zh-CN" dirty="0"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8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Notes Placeholder 3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这一组三步演示就是 f_config 的全部价值：编译期可内嵌、运行期可覆盖、全程无配置文件。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第一步，看一眼 fdemo 到底有多少配置：grep 一下 boot.sh 里 export 的行数，你会看到几十行。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第二步，用 fboot build 把敏感配置在编译期注入。这些 --k=v 会变成 cjpm build 子进程的环境变量，也就是编译期宏能读到的环境变量。内部会带上 sm4Key 和 sm4Iv，所以连接串和口令是加密嵌入的。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第三步演示运行期覆盖，两种写法。写法一是环境变量，export mvc_port=8080 然后 ./boot.sh run。写法二是命令行参数，直接把 --mvc_port=9090 拼在 fboot run 后面。两种写法完全等价。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请注意第三步的两种写法——同一个配置项 mvc_port，既可以 export，也可以写成 --mvc_port=9090。这就是「f_config 支持命令行参数」最直观的证明。</a:t>
            </a:r>
            <a:endParaRPr lang="zh-CN" dirty="0"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8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Notes Placeholder 3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第五章现场跑通 fdemo。先看目录结构。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fdemo 根目录下有一个 cjpm.toml，是 workspace，members 里是 boot 和 user 两个模块。banner.txt 会被 fboot build 打包进版本模块。三个启动脚本分别对应 Linux、macOS 和 Windows 的 git-bash。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boot 是初始化模块，放切面、事务钩子、MediaType 和 500 处理器；user 是业务模块，下面按 controller、service、service 点 impl、dao、model 点 po、model 点 mvc、model 点 entity、util 分包。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注意这个分包不是随意的：分包决定了动态链接库的粒度，而动态链接库粒度决定了 --dylibPattern。所以「切面放哪个包」「鉴权器放哪个包」，是需要在设计阶段就想的。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右边是验证用的接口：注册、登录、查用户、列表、上传、错误、重定向、会话日志、定时任务，全部在 user 模块里。</a:t>
            </a:r>
            <a:endParaRPr lang="zh-CN" dirty="0"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8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Notes Placeholder 3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建表很简单，一张 user_info，主键 id 自增，username 唯一，password 和 save_time 都有默认值。用 PostgreSQL 演示。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然后是编译加启动。先把 POSTGRES 这个连接串环境变量设好，再把 CANGJIE_STDX_PATH 指到 stdx 的动态链接库目录，然后 ./boot.sh build 和 ./boot.sh run。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build 内部就是 fboot build ./fdemo 带上一串 orm 参数和 SM4 密钥；run 内部就是 fboot run ./fdemo 带上 --dylibPattern 那串正则。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预期屏幕上先出 fountain 的启动日志，然后是 fdemo 自己的 ASCII BANNER，最后一行是「fdemo(1.1.0) started by 1.3.x in 若干毫秒」。这一行里，应用名和版本号来自 fboot build 生成的版本模块，fountain 的版本来自框架，启动耗时是框架算的。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看到这一行就说明启动成功了。</a:t>
            </a:r>
            <a:endParaRPr lang="zh-CN" dirty="0"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8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Notes Placeholder 3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第一条，忽略安全的接口，请求 helloworld，返回 helloworld 这个字符串。这个接口上了 @IgnoreSecurity，所以不做登录和权限检查。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第二条，注册。注意这个接口声明的是表单，不是 JSON，所以 Content-Type 是 x-www-form-urlencoded。请求体里带 username 和 password，返回的是含 id、username、password 的 JSON 文本。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第三条，登录拿 JWT。这个接口用的是 JSON 请求体，返回结构里有 status、fields，fields 里面有 userId、jwt 和 logged 三个字段。记住这条返回的 jwt，第 4 步和第 6 步都要用。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第四条，带上 JWT 访问受保护的接口 /api/user/1，返回用户 JSON。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第五条，不带 JWT 访问同一个接口。（请一定要留二十秒给观众看清这个 401）——它返回 401 状态码，响应体是一个 status 等于负一的 JSON。这是全场最直观的「登录状态检查」演示。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第六条，分页列表，返回的是 Pagination 对象的序列化结果。</a:t>
            </a:r>
            <a:endParaRPr lang="zh-CN" dirty="0"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9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Notes Placeholder 3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第七条，参数校验。请求体里用户名只有两位、密码为空，会校验失败。校验规则在 UserRequest 上，用户名至少六位、密码必填。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第八条，500 处理器。请求 /api/error，这个接口里直接抛了一个异常，看响应是不是走统一的错误体。fdemo 里注册了一个叫 NameOf500Handler 的 bean，把异常统一转成响应体。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第九条，文件上传。用 curl 的 -F 传一个表单字段和一个文件，响应 ok，控制台会打印出文件大小和 name。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第十条，重定向。/redirect/helloworld 会返回 302，Location 指向 /helloworld。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第十一条，自定义 MediaType。请求头里 Content-Type 和 Accept 都写 application/json+log，日志里会出现 fromData 和 toData 两条，证明请求体和响应体都走了自定义格式。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第十二条，定时任务，观察控制台，每隔若干秒打印一次 TickTockTaskImpl is executing。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最后还有两个压测命令：boot.sh loop 一百，循环一百次请求 helloworld 并打印总耗时；boot.sh ab 16 10000，用 ab 压测。不要凭感觉谈性能，先跑一次基线。</a:t>
            </a:r>
            <a:endParaRPr lang="zh-CN" dirty="0"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9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Notes Placeholder 3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进入第二个板块，框架核心。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这六章是日常写代码时碰得最多的：f_bean 负责对象怎么来，f_aspect 负责横切逻辑放哪，f_data 负责数据怎么流动，f_util 是随手可用的工具箱，f_mvc 负责 HTTP 协议这一层，f_http 负责数据格式。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顺序上我按依赖关系排：先讲 IOC 和 AOP，因为后面所有模块都建立在它们之上；然后讲 f_data，它是 MVC 参数绑定、ORM 结果映射、JWT 负载填充的共同底座；接着是工具箱 f_util；最后是 MVC 和 HTTP 数据格式。</a:t>
            </a:r>
            <a:endParaRPr lang="zh-CN" dirty="0"/>
          </a:p>
          <a:p>
            <a:endParaRPr lang="zh-CN" dirty="0"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9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Notes Placeholder 3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第六章讲 IOC，f_bean。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最小可用是这样的：一个 @Bean 加一个可选的 @BeanMeta。BeanMeta 里有六个属性：name 是 bean 名，默认是类型全限定名加序号；scope 是单例还是原型，默认 singleton；lazy 是单例懒加载；primary 是同类型排最前；order 是同类型排序；condition 是条件装配。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全是默认值的时候，BeanMeta 可以省略，只写 @Bean 就够了。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泛型类要多一步：@Bean 后面跟上泛型实参，用竖线分隔多组，比如 String、Duration 或 Int64、String 这样两组。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@Bean 展开后做的是三件事：把「构造函数闭包、TypeInfo、BeanMeta」注册到 BeanFactory，并用三张 HashMap 建索引——按 bean 名、按类或父类或接口的 TypeInfo、按类上的注解。所以你可以用名字、用类型、用注解三种方式取 bean。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还有一个重要取舍：IOC 只管理 class，不管理 struct。因为 struct 是值类型，取出来就会复制。</a:t>
            </a:r>
            <a:endParaRPr lang="zh-CN" dirty="0"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9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Notes Placeholder 3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取 bean 的函数族叫 lookup，一共有十个左右。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最常用的是 lookup 泛型无参，取第一个，找不到抛异常。带名字的版本按 bean 名取。带 StringCond 的版本按名字条件取。Option 版本找不到返回 None。lookupList 取全部，这是重点。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lookupList 泛型是「策略模式」的免费实现：同一个接口 N 个实现，一行代码全拿到。配合 BeanLabel 和 BeanWeight 还能直接做成路由表或者加权负载均衡。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另外还有 lookupHashSet、lookupTreeSet、lookupHashMap，返回值分别是集合、有序集合和以 bean 名为 KEY 的 Map。lookupLables 用 label 做 KEY，lookupWeights 用 weight 排序返回 TreeMap。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StringCond 是一个</a:t>
            </a:r>
            <a:r>
              <a:rPr lang="en-US" altLang="zh-CN" dirty="0"/>
              <a:t>bean</a:t>
            </a:r>
            <a:r>
              <a:rPr lang="zh-CN" altLang="en-US" dirty="0"/>
              <a:t>的名称</a:t>
            </a:r>
            <a:r>
              <a:rPr lang="zh-CN" dirty="0"/>
              <a:t>匹配规则的枚举：IgnoreCond</a:t>
            </a:r>
            <a:r>
              <a:rPr lang="en-US" altLang="zh-CN" dirty="0"/>
              <a:t>——</a:t>
            </a:r>
            <a:r>
              <a:rPr lang="zh-CN" altLang="en-US" dirty="0"/>
              <a:t>唯一的无参构造器忽略</a:t>
            </a:r>
            <a:r>
              <a:rPr lang="en-US" altLang="zh-CN" dirty="0"/>
              <a:t>bean</a:t>
            </a:r>
            <a:r>
              <a:rPr lang="zh-CN" altLang="en-US" dirty="0"/>
              <a:t>名称</a:t>
            </a:r>
            <a:r>
              <a:rPr lang="zh-CN" dirty="0"/>
              <a:t>、Exactly</a:t>
            </a:r>
            <a:r>
              <a:rPr lang="en-US" altLang="zh-CN" dirty="0"/>
              <a:t>——</a:t>
            </a:r>
            <a:r>
              <a:rPr lang="zh-CN" altLang="en-US" dirty="0"/>
              <a:t>严格匹配</a:t>
            </a:r>
            <a:r>
              <a:rPr lang="en-US" altLang="zh-CN" dirty="0"/>
              <a:t>bean</a:t>
            </a:r>
            <a:r>
              <a:rPr lang="zh-CN" altLang="en-US" dirty="0"/>
              <a:t>名称</a:t>
            </a:r>
            <a:r>
              <a:rPr lang="zh-CN" dirty="0"/>
              <a:t>、Prefix</a:t>
            </a:r>
            <a:r>
              <a:rPr lang="en-US" altLang="zh-CN" dirty="0"/>
              <a:t>——</a:t>
            </a:r>
            <a:r>
              <a:rPr lang="zh-CN" altLang="en-US" dirty="0"/>
              <a:t>匹配</a:t>
            </a:r>
            <a:r>
              <a:rPr lang="en-US" altLang="zh-CN" dirty="0"/>
              <a:t>bean</a:t>
            </a:r>
            <a:r>
              <a:rPr lang="zh-CN" altLang="en-US" dirty="0"/>
              <a:t>名称开头</a:t>
            </a:r>
            <a:r>
              <a:rPr lang="zh-CN" dirty="0"/>
              <a:t>、Suffix</a:t>
            </a:r>
            <a:r>
              <a:rPr lang="en-US" altLang="zh-CN" dirty="0"/>
              <a:t>——</a:t>
            </a:r>
            <a:r>
              <a:rPr lang="zh-CN" altLang="en-US" dirty="0"/>
              <a:t>匹配</a:t>
            </a:r>
            <a:r>
              <a:rPr lang="en-US" altLang="zh-CN" dirty="0"/>
              <a:t>bean</a:t>
            </a:r>
            <a:r>
              <a:rPr lang="zh-CN" altLang="en-US" dirty="0"/>
              <a:t>名称结尾</a:t>
            </a:r>
            <a:r>
              <a:rPr lang="zh-CN" dirty="0"/>
              <a:t>、Wildcard</a:t>
            </a:r>
            <a:r>
              <a:rPr lang="en-US" altLang="zh-CN" dirty="0"/>
              <a:t>——</a:t>
            </a:r>
            <a:r>
              <a:rPr lang="zh-CN" altLang="en-US" dirty="0"/>
              <a:t>通配符匹配</a:t>
            </a:r>
            <a:r>
              <a:rPr lang="zh-CN" dirty="0"/>
              <a:t>、Regexp</a:t>
            </a:r>
            <a:r>
              <a:rPr lang="en-US" altLang="zh-CN" dirty="0"/>
              <a:t>——</a:t>
            </a:r>
            <a:r>
              <a:rPr lang="zh-CN" altLang="en-US" dirty="0"/>
              <a:t>正则匹配</a:t>
            </a:r>
            <a:r>
              <a:rPr lang="zh-CN" dirty="0"/>
              <a:t>、Contains</a:t>
            </a:r>
            <a:r>
              <a:rPr lang="en-US" altLang="zh-CN" dirty="0"/>
              <a:t>——bean</a:t>
            </a:r>
            <a:r>
              <a:rPr lang="zh-CN" altLang="en-US" dirty="0"/>
              <a:t>名称包含指定字符串</a:t>
            </a:r>
            <a:r>
              <a:rPr lang="zh-CN" dirty="0"/>
              <a:t>、In</a:t>
            </a:r>
            <a:r>
              <a:rPr lang="en-US" altLang="zh-CN" dirty="0"/>
              <a:t>——</a:t>
            </a:r>
            <a:r>
              <a:rPr lang="zh-CN" altLang="en-US" dirty="0"/>
              <a:t>指定字符串包含</a:t>
            </a:r>
            <a:r>
              <a:rPr lang="en-US" altLang="zh-CN" dirty="0"/>
              <a:t>bean</a:t>
            </a:r>
            <a:r>
              <a:rPr lang="zh-CN" altLang="en-US" dirty="0"/>
              <a:t>名称</a:t>
            </a:r>
            <a:r>
              <a:rPr lang="zh-CN" dirty="0"/>
              <a:t>，八个值。</a:t>
            </a:r>
            <a:endParaRPr lang="zh-CN" dirty="0"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9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Notes Placeholder 3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生命周期和构造注入这一节，四个东西。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第一，@Constructor。它修饰构造函数或者静态函数，让 IOC 用你自己写的构造逻辑来创建 bean。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第二，@Value。它把配置项直接注入构造参数，支持 name、default、dateFormat、delim 四个属性。dateFormat 是为了把配置里的时间字符串直接转成 DateTime，delim 是数组配置项的分隔符。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第三，@BeanParam。它按 StringCond 匹配 bean 名，把另一个 bean 注入进来。看右边这个例子，Prefix('user') 就是取 bean 名以 user 点开头的那个 UserService。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注意这两者只能修饰被 @Constructor 修饰的函数形参，修饰在别的地方编译期就报错。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第四，工厂 bean。实现 FactoryBean 接口以后，get() 的返回值才是真正的 bean，接口本身返回的是 typeInfo。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最后两个回调接口：PostConstruct 是初始化后回调，Destroy 是销毁回调。差别在于 prototype 需要你自己调 destroy，singleton 由 IOC 调。</a:t>
            </a:r>
            <a:endParaRPr lang="zh-CN" dirty="0"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0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Notes Placeholder 3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条件装配解决的是「按环境装配」：这个 bean 在什么条件下才存在。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BeanCondition 是一个接口，只有一个 on 方法，参数是 BeanFactory，返回 Bool。它最重要的设计是：&amp; 、| 、! 三个操作符都重载了，所以条件可以直接用操作符组合，比字符串拼表达式舒服得多。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内置实现有四组。NoneBeanCondition 永远返回 true，是默认值。AndCond、OrCond、NotCond 是组合器，</a:t>
            </a:r>
            <a:r>
              <a:rPr lang="en-US" altLang="zh-CN" dirty="0"/>
              <a:t>&amp; | ! </a:t>
            </a:r>
            <a:r>
              <a:rPr lang="zh-CN" altLang="en-US" dirty="0"/>
              <a:t>操作符函数返回的就是它们的实例</a:t>
            </a:r>
            <a:r>
              <a:rPr lang="zh-CN" dirty="0"/>
              <a:t>。ConfCond 看配置，有 IgnoreConf、Exists、NotExists、Value 四种，用来判断配置项是否符合条件。Value 还能带一个 StringCond 来匹配配置值。BeanDef 看 bean 定义，可以用 beanType、beanName、scope、count 组合。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看右边的示例：条件是「配置项 orm_drivers 包含 postgres」并且「存在一个 Dialect 的子类实现」。两个都满足，这个 PostgresOnlyBean 才存在；否则会在 afterRegistered 阶段从 BeanFactory 里删掉。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比 Spring 的 @Conditional 更灵活的地方就是 &amp;、|、! 可以直接用操作符组合。</a:t>
            </a:r>
            <a:endParaRPr lang="zh-CN" dirty="0"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0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Notes Placeholder 3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在 fdemo 里看 IOC，两处。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第一处是 UserController。它里面一行 lookup 泛型 UserService。注意拿到的是接口类型的 bean，而实现类是 UserServiceImpl。IOC 用「实现的接口」做了索引，所以按接口取是天然支持的。这也解释了右边三张索引表的第二张为什么重要。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第二处是 CurrentUserController。它上面有 @WeavedController，然后 @BeanMeta 指定 scope 是 prototype，注意这个 BeanMeta 必须写在 @WeavedController 下面。prototype 意味着每次访问都 new 一个——它的 init 里有一行 println，每访问一次就会打印一次。这是视频里证明 prototype 生效的最简单方式。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最后是 @Configuration 加 @BeanInit。@Configuration 修饰的类自己不会进容器，但它里面被 @BeanInit 修饰的公共成员函数都是 bean 初始化函数，静态和实例的都可以。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一句话总结：@Configuration 是「配置容器」，不是 bean。</a:t>
            </a:r>
            <a:endParaRPr lang="zh-CN" dirty="0"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0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Notes Placeholder 3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第七章 AOP。先说切面是什么：实现了 Aspect 接口的 @Bean。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Aspect 接口有六个方法。before 最先执行；around 包住原函数体，由你决定什么时候调 point；after 在 around 之后执行；throwing 处理异常；final 最后一定执行；proceed 是把这几个方法串起来的默认实现，你也可以覆盖它自己编排。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默认 proceed 的顺序是：try 里面先 before，再 around，around 里调原函数体，然后 after；任何一步抛异常都进 catch 里的 throwing；finally 里的 final 一定会执行。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要点是：before、around、原函数体、after 这四步里任意一步抛异常都会进 throwing，而 final 无论成功失败都会跑。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如果你有更特别的编排需求，直接覆盖 proceed 自己排就行——这也是为什么 proceed 会在接口里。</a:t>
            </a:r>
            <a:endParaRPr lang="zh-CN" dirty="0"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0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Notes Placeholder 3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织入规则决定了「哪些函数会被切面织进去」。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先说通配符：所有规则都支持星号和问号，包名支持两个点表示任意层级，还支持点星、星点、点星点这三种任意包名写法，组织名用双冒号分隔。规则之间可以用 &amp; | ! 组合。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规则一共十四种。按匹配依据分四类。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按「类加函数签名」匹配的是 ExecutionRouteRule，四个参数是类全限定名、函数名、参数类型、返回类型。按「类型」匹配的是 WithinRouteRule，匹配到的类型下所有公共实例函数都会被织入；TargetRouteRule 匹配该类及其子类。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按「函数」匹配的有 FuncNameRouteRule、FuncTypeRouteRule、ArgsRouteRule、ReturnTypeRouteRule。ArgsRouteRule 里两个星号表示任意数量参数，星号逗号和逗号星号表示忽略首尾。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按「注解」匹配的有三个：TargetAnnotationRouteRule 看目标类型上的注解，FuncAnnotationRouteRule 看目标函数上的注解，还有参数注解那一族四个。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最后两个特别的：BeanNameRouteRule 按目标对象的 bean 名匹配；ConfigExecutionRouteRule 是从环境变量里读规则，这个下一节会重点讲。</a:t>
            </a:r>
            <a:endParaRPr lang="zh-CN" dirty="0"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1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Notes Placeholder 3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（三个织入宏，加上现场看 ControllerAspect。）</a:t>
            </a:r>
            <a:endParaRPr lang="zh-CN" dirty="0"/>
          </a:p>
          <a:p>
            <a:endParaRPr lang="zh-CN" dirty="0"/>
          </a:p>
          <a:p>
            <a:r>
              <a:rPr lang="zh-CN" dirty="0"/>
              <a:t>第一个 @Pointcut。修饰函数的时候只有这个函数织入；修饰类的时候，这个类全部公共函数都织入。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第二个 @WeavedBean。它等于「注册进 IOC」加上「全部公共成员函数织入」。注意它已经包含 @Bean 的功能，所以不需要再加 @Bean。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第三个 @WeavedController，这是 MVC 模块声明的专用宏。它包含 @Controller 的全部功能，再加上织入。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第四个 @TransactionalService，这是 ORM 模块声明的专用宏，本质上是 WeavedBean 的别名。这一条在第十二章讲事务时会再回来。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一个关键点：织入逻辑是在这些函数首次调用时执行的，不是启动期。所以启动很快——这也是为什么上一章说反射只在两处出现，其中一处就是这里。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右边是 fdemo 的 ControllerAspect。它的织入规则写的是 ConfigExecutionRouteRule，配置项名是 controllerPointcut。配合 boot.sh 里的一行环境变量，切点表达式变成了部署期可配的。</a:t>
            </a:r>
            <a:endParaRPr lang="zh-CN" dirty="0"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1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Notes Placeholder 3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AOP 在 fountain 里有两个杀手级用法。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第一个是事务。f_orm 的 TransactionAspect 就是一个切面，它的织入规则是两个条件取或：一是函数上有 Transactional 注解，二是函数的执行签名命中了 orm_transactionalFuncExecution 这个配置项。这就是为什么你可以「只加注解」或者「只配一行环境变量」两种方式开事务。这个第十二章会完整展开。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第二个是统一日志、耗时和审计。就像 ControllerAspect 那样，一处改动覆盖全部 controller。你不再需要在每个接口开头写耗时统计，切面里加一次就行了。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除了这两个，还有一个设计值得单独强调：切点表达式是从配置项读的。所以「开发环境织入、生产环境改窄甚至关掉」这种需求，不用改一行代码，改环境变量就够了。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这就是 ConfigExecutionRouteRule 的价值——把「哪些函数被切」这件事从代码里挪到了部署配置里。</a:t>
            </a:r>
            <a:endParaRPr lang="zh-CN" dirty="0"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1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Notes Placeholder 3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第八章讲数据，f_data。为什么先讲它？</a:t>
            </a:r>
            <a:endParaRPr lang="zh-CN" dirty="0"/>
          </a:p>
          <a:p>
            <a:endParaRPr lang="zh-CN" dirty="0"/>
          </a:p>
          <a:p>
            <a:r>
              <a:rPr lang="zh-CN" dirty="0"/>
              <a:t>前面讲的 IOC 和 AOP 解决的是「对象怎么来、横切逻辑放哪」。这一章解决的是「数据怎么流动」。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一个服务端应用的绝大部分代码，本质上都在做三件事：把 HTTP 请求、数据库行、配置变成对象；在对象与对象之间搬运数据，比如 PO 变成 DTO、DTO 变成 Entity；把对象变成响应，JSON 或者其他格式。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这三件事，f_data 用一个宏加一个统一数据模型全部解决掉了。它是 MVC 的参数绑定、ORM 的结果映射、以及 JWT 负载填充的共同底座——所以 f_mvc、f_orm、f_jwt 都依赖它。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f_data 有五个基本特性：公共成员变量和公共成员属性的复制；随时获取指定名称的公共成员的值；随时为指定名称的公共成员赋值；在不同的类实例之间互相复制；任意类实例与 JSON 之间互相复制。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一把钥匙是 @DataAssist 宏，它有五个属性：equal、hash、tostring、props、fields。</a:t>
            </a:r>
            <a:endParaRPr lang="zh-CN" dirty="0"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1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Notes Placeholder 3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这是 props 的展开结果。左边是声明，右面是展开。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你写的是：@DataAssist[props]，一个类，里面两个私有成员变量，一个是 private var a 字符串类型，一个是 private let b 整数类型。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宏展开后，字段名后面加了下划线，同时多出两个属性：a 是 public mut prop，有 get 和 </a:t>
            </a:r>
            <a:r>
              <a:rPr lang="en-US" altLang="zh-CN" dirty="0"/>
              <a:t>set</a:t>
            </a:r>
            <a:r>
              <a:rPr lang="zh-CN" dirty="0"/>
              <a:t>两个访问器；b 是 public prop，只有 get，因为它是 let。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注意这两点：第一，字段还是私有的，封装没有被破坏；第二，框架能通过生成的属性访问器读写它们。所以这不是「破坏封装的反射」，而是一种「不破坏封装的访问通道」，而且它靠的是宏生成的代码，不是反射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还有一个顺序约束要记住：在 </a:t>
            </a:r>
            <a:r>
              <a:rPr lang="en-US" altLang="zh-CN" dirty="0"/>
              <a:t>ORM</a:t>
            </a:r>
            <a:r>
              <a:rPr lang="zh-CN" altLang="en-US" dirty="0"/>
              <a:t>映射类</a:t>
            </a:r>
            <a:r>
              <a:rPr lang="zh-CN" dirty="0"/>
              <a:t>上，@DataAssist 必须写在 @QueryMappersGenerator 之前。这个坑在第十二章还会再提一次。</a:t>
            </a:r>
            <a:endParaRPr lang="zh-CN" dirty="0"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1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Notes Placeholder 3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统一数据模型这一节，是理解 f_data 的关键。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f_data 定义了一棵统一的「数据树」，一切转换都先落到这棵树上，再从树上长出来。这就是为什么任意两个类之间都能互相复制——它们都先变成 Data，再从 Data 变回去。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树上的节点有十种：Data 是所有数据值的根接口；DataReal 是数值，底层是 Decimal；DataString 是字符串；DataBool 是布尔，有 TRUE 和 FALSE 两个常量；DataNone 是空值，单例是 INSTANCE；DataList 是有序列表；DataDict 是键值映射；DataDateTime 和 DataDuration 管时间和时间间隔；DataAny 是任意值的包装。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转换接口有三个：ToData 只有一个 toData 方法，负责对象变成 Data；FromData 有 fromData 和 tryFromData 两个静态方法，负责 Data 变成对象；FromToData 是前两者的交集。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操作入口是 DataObject，它把任意对象包成「可读写字段的容器」。你可以按名字读、按名字写、按名字读并转成指定类型、遍历字段、取字段上的全部注解、取指定注解——校验就是靠注解实现的。</a:t>
            </a:r>
            <a:endParaRPr lang="zh-CN" dirty="0"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2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Notes Placeholder 3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实例复制是 f_data 最高频的用法，仓库里 boot.cj 就有现成可运行的演示。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第一种，不同类之间复制。调用DataObject 的 populate函数，把 data2 复制成 TestData3。注意它只复制同名字段，TestData3 和 TestData2 只有部分字段同名，其余不动。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第二种，忽略校验或者忽略校验失败。populate 的 flag 参数可以加上 IGNORE_VALIDATION 跳过校验，或者加 IGNORE_NOT_MATCHED_VALIDATION，校验不通过也继续。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第三种，对象和 JSON 互转。JsonValue 点 from 把对象转成 JSON，json 点 toData 转回 Data；toJson 和 fromJson 是对象和 JSON 串之间的快捷方法。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第四种，Map 也能当数据源。先调用</a:t>
            </a:r>
            <a:r>
              <a:rPr lang="en-US" altLang="zh-CN" dirty="0"/>
              <a:t>Map</a:t>
            </a:r>
            <a:r>
              <a:rPr lang="zh-CN" altLang="en-US" dirty="0"/>
              <a:t>的扩展函数</a:t>
            </a:r>
            <a:r>
              <a:rPr lang="zh-CN" dirty="0"/>
              <a:t> toData 转成 Data对象，再 populate 到目标对象。所以「Map 到对象」「对象到 Map」都不用写胶水代码。</a:t>
            </a:r>
            <a:endParaRPr lang="zh-CN" dirty="0"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2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Notes Placeholder 3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这一组 flag 是 f_data 的「容错旋钮」。DataConversionFlag 本质上是 UInt64，用竖线组合。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DEFAULT_DATA_FLAG 等于 WRAPPING_ON_INT_OVERFLOW 位或 SILENCE。SILENCE 又是四个忽略项的组合：字段不存在、字段类型不匹配、字段无法转换、以及 None 值，全都忽略。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单看这四个：IGNORE_FIELD_NOT_FOUND 是目标没有这个字段时忽略；IGNORE_FIELD_TYPE_NOT_MATCH 是类型不匹配时忽略；IGNORE_FIELD_NOT_CONVERTABLE 是无法转换时忽略。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DEEP 是深拷贝。IGNORE_VALIDATION 是跳过校验。IGNORE_NOT_MATCHED_VALIDATION 是校验不通过也继续。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最后三个是整数溢出的三种策略：WRAPPING 回绕、THROWING 抛异常、SATURATING 饱和。优先级是回绕大于抛异常大于饱和——三个里同时给多个，按这个顺序生效。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默认 SILENCE 意味着：同名字段就复制，尽量完成数据类型转换，包括字符串跟其他类型之间的转换，对不上的静默跳过。需要严格模式时，不要传 DEFAULT_DATA_FLAG，自己组合即可。</a:t>
            </a:r>
            <a:endParaRPr lang="zh-CN" dirty="0"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2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Notes Placeholder 3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数据校验这一节，fdemo 的 UserRequest 是最好的例子。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看左边的代码：username 字段上是 @CombinedValidator，里面是「IsNotBlank 或 StringSize」——注意这是用与运算组合的两个校验器，IsNotBlank 带了自己的提示语「请输入用户名」，StringSize 限定长度六到五十。password 字段上是 @IsNotBlank，提示语是「请输入密码」。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所有校验器都是 f_data.validation.Validator 的子类，而且可以用与、或、非三个操作符组合——注意是操作符，不是字符串表达式。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内置校验器有十三个：非空、非空白、字符串长度、整数、实数、邮箱、中国手机号、整数区间（可以配开闭）、布尔、时间格式、Duration、整数列表、正则，还有 f_util 里定义的 IsUUID。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校验注解可以修饰成员变量、成员属性、函数参数三处。f_mvc 在绑定 controller 实参时会触发参数上的校验，DataObject.set 在复制时会触发成员上的校验。校验失败抛 ValidationException，fdemo 里由 Http500Handler 统一转成响应体。</a:t>
            </a:r>
            <a:endParaRPr lang="zh-CN" dirty="0"/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2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Notes Placeholder 3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这一节两个延伸能力：数据转换扩展和 JSON Schema。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先说转换扩展。默认转换搞不定的时候——最典型的就是字符串转 DateTime——你就实现 DataConverter。抽象基类是 DataConverter 泛型，有一个 convert 方法；针对时间又细分了两层：AbstractDateTimeConverter 提供 doConvert，DateTimeConverter 是最常用的实现，构造时传一个格式串，比如 yyyy-MM-dd HH:mm:ss。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这也就是 f_mvc 的 @RequestParam 能把 ?createTime=2026-10-01 12:00:00 这样的字符串直接转成 DateTime 的原因——转换器在链路里被自动调用，你不用手动 parse。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再说 JSON Schema。f_data 提供了 ToJsonSchema 接口，给 JsonObject 做了扩展。你只要给字段打上 @JsonStringSchema、@JsonIntSchema、@JsonFloatSchema、@JsonBoolSchema、@JsonArraySchema、@JsonObjectSchema 这些注解，就能直接产出 JSON Schema。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做前后端契约、做低代码表单，这个能力很好用——接口文档不用手写，Schema 直接从数据类生成。</a:t>
            </a:r>
            <a:endParaRPr lang="zh-CN" dirty="0"/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3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Notes Placeholder 3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这一段是 f_data 的彩蛋，讲一分钟就够，但很能体现库的深度。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f_data 实现了 RFC 9535，也就是 JSONPath 查询。任何 Data 树都能用路径表达式选取节点——日志过滤、配置抽取、响应裁剪、规则引擎的取数，一行解决。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看右边这个例子：缓存一个路径，表达式是「根节点下 store 下 books 里，price 大于 9 的那些元素的 title」，然后遍历结果打印。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三个 API：DataPath 点 cache 编译路径，缓存在 HeapCache 里，最多一万条、寿命一天，适合用户输入的动态路径；DataPath 点 solid 是永久缓存，进程内固定的路径用它；DataPath 点 get 求值是真正的执行，返回匹配节点的迭代器。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边界要注意：负一作为索引已经被禁用，要用切片；裸的美元双点后面必须跟选择器；异常统一是 DataException。</a:t>
            </a:r>
            <a:endParaRPr lang="zh-CN" dirty="0"/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3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Notes Placeholder 3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最后是快速失败和现场演示。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先说 BreakingCommand。当你在很深的调用栈里需要「立刻返回，别再往下走」的时候，用它比一层层 return 干净得多。写法是在业务执行过程中 perform 一个 BreakingCommand，参数是返回给客户端的数据；MVC 会把它携带的 Data 直接作为响应体。还有一个便捷入口，参数只要是实现了 ToData 的类型就行。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这一章的现场演示，直接跑 fdemo 就行——启动日志里会打出这一屏：八行字母标号，从 A 到 H，走完了「对象到对象」「对象到 JSON」「JSON 到对象」「Map 到对象」四条路。最后两行是表名演示，一个是 user_info，一个是带前缀的 t_user_info。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这一屏就是 f_data 的全部能力。而且这些代码不需要你写，全部是宏生成的。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下一章我们接着讲 f_util 工具箱——UUID、IdMaker、TextTemplate、PathPattern、TreeTransformer 以及几个设计模式的现成骨架，它们大多也是站在 f_data 肩膀上的。</a:t>
            </a:r>
            <a:endParaRPr lang="zh-CN" dirty="0"/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3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Notes Placeholder 3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第九章讲工具箱 f_util。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前面几章讲的是框架能力——IOC、AOP、数据、MVC、ORM。这一章换个节奏，讲 f_util：一个不依赖框架、可以单独引入的工具箱。它的定位是：把中大型服务端项目里那些「每次都要重写一遍」的小东西，一次性做掉。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看左边的分类表：ID 这一类有 UUID、IsUUID 注解、IdMaker；文本有 TextTemplate 和 CaseFormat；结构有 PathPattern 和 TreeTransformer；设计模式骨架有工厂、策略、责任链、中介者、状态；哈希家族有 crc16/32/64、CityHash、MurmurHash3X128、wyhash、UInt128；其它还有 geohash、密钥交换、素数。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这一章挑其中九个最常用的讲，剩下的哈希家族、geohash、密钥交换在文档里都有独立文档，需要时查即可。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先说 UUID。它参照 RFC 4122bis 草案实现，v1 到 v8 全支持，这是很多语言标准库都做不到的。它最妙的一点是不只实现了 Hashable、Comparable、ToString、Parsable，还实现了 DataFields 和 DataParsable——所以它天然能进 f_data 的体系：可以直接作为 PO 字段、可以直接被 populate 复制、可以直接和 JSON 互转，不需要任何胶水代码。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生成函数按版本分：random 是 v4，unixTimeBased 是 v7，时间有序，适合做数据库主键；timeBased 返回构造器，可以配 v1 或 v6；md5 是 v3，sha1 是 v5，都是命名空间 UUID；custom 是 v8。还有 Nil 和 Max 两个极值。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常用成员：toString 带连字符，toHexString 是 32 位无连字符，toString 还能指定进制，版本号和变体可以读，v1 和 v6 还能取时间戳。解析有 parse 和 tryParse 两版。</a:t>
            </a:r>
            <a:endParaRPr lang="zh-CN" dirty="0"/>
          </a:p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3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Notes Placeholder 3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接着讲两个：IsUUID 注解和 IdMaker。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IsUUID 只有三十五行的源码，注意它的父类——f_data.validation.Validator。也就是说，f_util 的校验注解和 f_data 那十几个内置校验器是同一套体系，可以一起用与、或、非组合。看右边的例子：orderId 上打 @IsUUID，username 上用 CombinedValidator 组合两个规则。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而且因为它的 target 里包含 Parameter，函数参数上也能用——f_mvc 绑定 controller 实参时会自动触发。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再说 IdMaker。它是雪花算法风格的实现，ID 是一个 Int64，位布局是：十位主机序列号、四十一位毫秒时间戳、十二位毫秒内自增序号。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主机序列号取零到一千零二十三，来自配置项 idMakerHostSerial，走的是第四章那套优先级。时间戳取构造时的毫秒数作为起点。nextInt64 就是一个原子自增，无锁、线程安全。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三个必须讲的注意点：第一，主机序列号必须全局唯一，重复会产生重复 ID。第二，十二位序号意味着每毫秒四千零九十六个，超出自增位宽会向时间戳位进位——ID 仍然唯一且递增，但时间戳含义会漂移。第三，起点是构造时刻，进程重启后时间戳基准改变，但因为有主机号兜底，跨进程仍然不冲突。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和 UUID 怎么选？要时间有序、索引局部性好，用 IdMaker 或者 UUID 的 v7；要无中心、随便哪台机器都能生成，用 UUID.random。</a:t>
            </a:r>
            <a:endParaRPr lang="zh-CN" dirty="0"/>
          </a:p>
        </p:txBody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3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Notes Placeholder 3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CaseFormat 是命名风格互转，六种风格两两互转：Pascal、Camel、小写下划线、大写下划线、小写连字符、大写连字符。看左边的例子，同一个 CaseFormat 这个 Pascal 串，转成驼峰是小写开头的 caseFormat，转成小写下划线是 case_format，转成大写下划线是 CASE_FORMAT，连字符同理。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这里有一个「原来如此」的时刻：还记得后面 ORM 里的 @ORMField 和 @QueryMappersGenerator 吗？它们底层用的就是这个 CaseFormat，完成默认的类成员名与表列名转换。所以当你自己写命名策略、写代码生成器、写导入导出工具时，直接用同一个枚举，命名风格就和框架生成的一致了。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TextTemplate 是文本模板，短信、邮件、推送文案、固定格式报文，别再拼字符串了。它有两种编译方式：一种是用一对井号包含变量，另一种是用前缀后缀包含变量，默认是美元加大括号。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format 方法接受多种数据源：数组、ArrayList、HashMap、TreeMap、LinkedHashMap、并发 Map，以及实现了 ObjectData 的对象。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占位符有三种高级形态。时间用冒号加格式，把日期按指定格式格式化。数字用格式串加舍入模式，井号的数量表示位数，点表示小数点，还支持八进制、十六进制、科学计数、正数前置加号、负数用括号。正则用冒号加正则，用来匹配 Map 的 key，注意只接受 Map 作为数据源。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还有两个细节：点分隔的路径占位符，比如 a 点 0 点 b 点 c，表示取参数 a 属性（数组或 List）索引 0 的 b 属性的 c 属性；以及 noneConverter，占位符在数据源里找不到时用它兜底。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最后提醒一个坑：它实现上依赖线程本地 StringBuilder。如果你的方法本身也在用那个拼字符串，不要在那个方法内嵌套调用 TextTemplate。</a:t>
            </a:r>
            <a:endParaRPr lang="zh-CN" dirty="0"/>
          </a:p>
        </p:txBody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4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Notes Placeholder 3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PathPattern 是 MVC 路由的引擎。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你在 MVC 里写的 /api/user/{id}，能匹配到 /api/user/1 并抽出 id 等于 1——干这件事的就是 PathPattern。不只 MVC 能用，任何「按路径找数据」的场景都能用：静态资源路由、网关转发规则、日志文件路径归集。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核心 API 看一眼：compile 注册路径并可以挂任意数据，handler、配置、元数据都行；compileIfAbsent 是不存在才注册；data 和 dataByPrefix 按路径取出挂的数据；matches 和 matchesPrefix 判断是否匹配；extractVariableInPath 取单个路径变量；extractVariablesInPath 取全部；extractTimeVariableInPath 直接把路径变量解析成 DateTime；还有两个按 Parsable 和 DataParsable 解析的版本。各函数都有 withExtName 重载，决定是否把扩展名当作路径的一部分。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匹配优先级从高到低：字符串相等最高；然后是单级多字符的星号、单级单字符的问号、单级正则，这三个同级；再是独占一整级的单星；然后是占位符和带星占位符，这两个同级；最低是跨多级的双星。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规则补充：只能匹配绝对路径，不以斜杠开头也按斜杠开头处理；连续多个斜杠会合并成一个；带正则的占位符自带约束；正则那一节不会作为路径变量。</a:t>
            </a:r>
            <a:endParaRPr lang="zh-CN" dirty="0"/>
          </a:p>
        </p:txBody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4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Notes Placeholder 3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TreeTransformer 解决的是平铺列表变树。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菜单树、组织树、分类树、评论楼层——数据库查出来永远是平铺的 List，前端要的是树。这段代码你大概写过无数遍，TreeTransformer 把它变成一个静态函数调用。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用法两步。第一步，让你的树节点类实现 TreeNode，泛型是 ID 和自身类型，需要提供 children、id、parentId 三个成员，addChild 有默认实现。第二步，一行把 DAO 查出来的平铺列表变成森林：调用静态 transform，传平铺列表、传 emptyId，再传一个转换函数把 PO 转成树节点。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参数含义：emptyId 是「根节点的 parentId 值」，通常是零或者负一；ignoreDuplicate 为 true 时，遇到重复 id 会跳过而不是抛异常；transferFn 负责把源元素转成树节点，返回 None 会抛 IllegalArgumentException。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不带 transferFn 的重载等价于直接把源元素当作树节点转换。</a:t>
            </a:r>
            <a:endParaRPr lang="zh-CN" dirty="0"/>
          </a:p>
        </p:txBody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4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Notes Placeholder 3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设计模式这种东西，道理大家都懂，但每次都要写一遍接口加注册表。f_util 直接给了骨架，讲三个。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第一个是工厂模式。Producer 接口有两个 produce 方法，一个无参一个带参，默认都抛异常。Factory 提供 assemble 和 produce：assemble 用 TypeInfo.of 当 KEY 注册生产者，produce 按目标类型取——所以它是「按类型分派的工厂」。取不到会抛 TypeNotMatchException。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第二个是策略模式。Strategy 接口有 name 和 execute 两个成员，name 是策略标识。Strategies 提供 register 和 execute，execute 按名字找策略，找不到抛 IllegalAccessException。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它和 IOC 的 lookupLables 是互补的两种做法：要 bean 的完整生命周期管理，用 IOC；只是想按 key 分派一段逻辑，用 Strategies 更轻。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第三个是责任链模式。Responsibility 有 check 和 execute，check 决定是否由本策略处理。ResponsibilityChain 提供 register 和两个执行方法：execute 是「找到第一个能处理的就执行」，executeAll 是「所有符合条件的都执行一遍」。后者特别适合多级校验、多环节加工。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还有两个顺带的：中介者模式，Colleague 有 name，Mediator 用参数里的 name 找策略并执行；状态模式，State 有 continues、data、exec、startup。</a:t>
            </a:r>
            <a:endParaRPr lang="zh-CN" dirty="0"/>
          </a:p>
          <a:p>
            <a:endParaRPr lang="zh-CN" dirty="0"/>
          </a:p>
          <a:p>
            <a:endParaRPr lang="zh-CN" dirty="0"/>
          </a:p>
        </p:txBody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4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Notes Placeholder 3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f_util 里还有一批工具，快速过一遍。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crc16、crc32、crc64 是循环冗余校验，做数据完整性校验和短摘要。CityHash、MurmurHash3X128、wyhash 是高性能非加密哈希，做分库分表路由、布隆过滤器。UInt128 是 128 位无符号整数，也是 MurmurHash3X128 的返回值类型。geohash 做经纬度编码，用来实现「附近的人」和网格聚合。DiffieHellmanKeyExchanger 是密钥交换协议，细节在工具模块的文档里有。prime 是素数判定与生成。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这四个东西看起来零碎，但每一个都对应一类你迟早会用到的需求。它们的共同点是：零依赖、零配置、拿来即用——这也是 f_util 的设计原则：不绑架你的架构，只消灭重复劳动。</a:t>
            </a:r>
            <a:endParaRPr lang="zh-CN" dirty="0"/>
          </a:p>
        </p:txBody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5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Notes Placeholder 3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第十章 MVC。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先看声明 controller 的最小写法：@Controller 加一个 @GetMapping。看这行 GetMapping 的三个属性：path 是 /helloworld，produces 是 text/plain，consumes 是表单。函数上还有一个 @IgnoreSecurity。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三条规则要记住。第一，只有被星号 Mapping 注解修饰的公共实例函数才会注册到 MVC。第二，@Controller 同时展开 @Bean，所以 controller 天然是 IOC bean，可以直接 lookup。第三，需要织入切面时改用 @WeavedController，CurrentUserController 就是例子。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Mapping 家族有五个：GetMapping、PostMapping、PutMapping、DeleteMapping、PatchMapping。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公共参数有七个：path、produces、consumes、params、headers，另外还有 ignoreAuth 和 ignorePrivilege。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path 支持大括号路径参数，produces 和 consumes 可以用竖线分隔多种格式，默认是 application/json。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注意 @IgnoreSecurity 的语义：它等于 @IgnoreAuth 加 @IgnorePrivilege，两个都忽略。</a:t>
            </a:r>
            <a:endParaRPr lang="zh-CN" dirty="0"/>
          </a:p>
        </p:txBody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5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Notes Placeholder 3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params 和 headers 有一个规则 DSL，这个很酷，值得单独讲三十秒。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规则有六种写法：rule1 与 rule2 表示两边都满足；rule1 或 rule2 表示满足一边；叹号 rule 取反；圆括号改变优先级；contains 表示参数名或请求头名需要包含这些；subset 表示参数名或请求头名是这些的子集。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看右边的示例：a 点 contains 括号一到二，并且，括号 b 点 subset 括号 s、d，或者 orderTime，或者 goodsId。读起来就是：a 组里必须包含 1 和 2 这两个参数，同时 b 组要么是 s 和 d 的子集，要么直接写了 orderTime 或者 goodsId。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这个 DSL 的实际用途：同一个路径，根据请求里带没带某些参数，路由到不同的处理函数。这比在函数体里写一堆 if 要干净得多——而且它参与路由匹配，匹配不上的请求根本不会进你的函数。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它是纯字符串解析，初始化时解析一次，不涉及运行时开销。</a:t>
            </a:r>
            <a:endParaRPr lang="zh-CN" dirty="0"/>
          </a:p>
        </p:txBody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5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Notes Placeholder 3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参数绑定有五个注解，我们逐个说。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RequestParam：从表单或者 query string 取值，可以带 name 和 default 两个属性。注意 default 很有用，参数缺省时给个兜底值。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RequestParamObject：同样是表单或者 query，但会按字段名逐个取值填到一个对象里——也就是说传一个 PO 进来，不用你手动 set。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PathVariable：取路径参数，也就是 path 里大括号里定义的那些，同样可以带 name 和 default。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RequestHeader：取请求头，可以带 name 和 default。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RequestBody：取请求体，按 Content-Type 解析——JSON 请求体就解析成对象，表单就按表单处理，multipart 就解析成文件对象。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看右边这四条声明，一次看全四种写法。第一条是注册接口，两个 RequestParam 分别取 username 和 password，consumes 是表单，produces 是纯文本，同时忽略鉴权和权限。第二条是登录，用 RequestBody 把 JSON 请求体变成 UserRequest 对象。第三条是 echo，用 RequestParamObject 直接把表单字段填进 UserRequest。第四条用 RequestHeader 取 userId 和 token 两个请求头。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最下面两条是路径参数和默认值的写法：PathVariable 取 id；RequestParam 带 default 给空字符串兜底。</a:t>
            </a:r>
            <a:endParaRPr lang="zh-CN" dirty="0"/>
          </a:p>
        </p:txBody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5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Notes Placeholder 3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参数校验和安全注解这一节，两块内容。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先说参数校验。校验注解在第八章已经讲过了，这里只说 MVC 这一侧：它既可以修饰类的成员——MVC 传参对象时生效；也可以修饰函数参数——直接对形参生效。不满足会抛 ValidationException，由我们注册的 500 处理器统一转成响应体。看右边的例子，username 上是组合校验器，password 上是 IsNotBlank。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再说安全注解，一共三个：IgnoreAuth 忽略登录状态检查；IgnorePrivilege 忽略权限检查；IgnoreSecurity 两者都忽略。它们只能修饰 controller 的公共实例函数。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也可以在 Mapping 注解里直接写 ignoreAuth 等于 true——这两种写法效果一样，看个人习惯。fdemo 里两种都用到了：helloWorld 用的是注解，register 用的是 Mapping 属性。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顺带说一下放行的边界：忽略鉴权只影响这一个函数，不会影响同一 controller 里的其他函数，也不会影响其他 controller。</a:t>
            </a:r>
            <a:endParaRPr lang="zh-CN" dirty="0"/>
          </a:p>
        </p:txBody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5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Notes Placeholder 3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MVC 的配置项全部走环境变量或者等价的命令行参数，逐条说几个关键的。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mvc_port 是端口，最常用。mvc_maxRequestBodySize 是请求体大小上限，注意它的默认值是 stdx 的两兆——你要做文件上传就必须调大，否则大文件直接被拒。fdemo 里调到了六十四兆。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mvc_overallElapsedSwitch 是总耗时统计开关，生产环境建议关闭。mvc_internalServerErrorMessageKind 是 500 错误的三种处理方式：BEAN、TEXT、BASE64BINARY。mvc_internalServerErrorMessage 配合它使用，下一节详细讲。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接下来四个是超时：readTimeout 读超时、readHeaderTimeout 读请求头超时、writeTimeout 写超时、keepAliveTimeout 长连接超时。mvc_maxRequestHeaderSize 是请求头大小上限。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mvc_downloadBufferSize 是下载缓冲区大小。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最后三个是跨域：accessControlAllowOrigin、accessControlAllowHeaders、accessControlMaxAge。演示环境一般写星号，生产环境要收紧。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这些配置项名字里都是 mvc 下划线开头，走的还是第四章那套四级优先级——环境变量和命令行参数完全平级。</a:t>
            </a:r>
            <a:endParaRPr lang="zh-CN" dirty="0"/>
          </a:p>
        </p:txBody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6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Notes Placeholder 3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统一异常响应是 MVC 里很实用的一块。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mvc_internalServerErrorMessageKind 等于 BEAN 的时候，mvc_internalServerErrorMessage 填的是「bean 的名字」，也就是右边这个 NameOf500Handler。这个 bean 必须实现 ErrorHttpRequestHandler。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看右边这段代码：类上加 @Bean 和 @BeanMeta 指定名字叫 NameOf500Handler，然后实现 handle 方法，参数是 HttpContext 和可选的异常，返回值是一个二元组——HTTP 状态码和任意类型的响应体。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注意返回值里那个 Any 可以是五种：String、ToString、InputStream、字节数组，或者实现了 ToData 的对象，框架会按 Accept 协商格式。所以你可以直接返回一个 PO，框架自动把它序列化成 JSON。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另两种取值：TEXT 是直接把配置值当响应体，适合返回一段固定的错误文案；BASE64BINARY 是把配置值当 BASE64 解码后作为响应体，适合返回一段二进制内容。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看右边的 handle：如果异常是 ValidationException，就用 500 状态码加统一的错误响应体；否则用 200 加一个通用的 error。演示方式是访问 /api/error，ErrorController 里直接抛异常，看响应是不是统一格式。</a:t>
            </a:r>
            <a:endParaRPr lang="zh-CN" dirty="0"/>
          </a:p>
        </p:txBody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6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Notes Placeholder 3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这一节两个小能力：重定向和请求上下文。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重定向有三个函数。Redirect.found 是 302，最常用。Redirect.permanently 是永久重定向：retain 为 false 是 301，为 true 是 308。Redirect.temporarily 是临时重定向：retain 为 false 是 302，为 true 是 307。retain 的意思是「是否保留方法和请求体」——301 和 302 在历史上有些客户端会把 POST 改成 GET，307 和 308 明确保留。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拿到当前请求上下文，一行就够：从 CurrentHttpContext 取 instance，它返回当前线程正在处理的 HttpContext。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这里要强调一句：是「当前线程」，不是全局变量。因为每个请求由一个线程处理，所以这个 instance 是线程级的。正因为有它，f_security 才能在 Service 层和 Util 层做鉴权——鉴权逻辑不必写在 controller 里。第十三章的 UserSessionCache 点 verify 就是靠它拿到 Authorization 头的。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这是个很实用的小接口：你在任何深度的调用栈里都能拿到当前请求，不用一层层往下传。</a:t>
            </a:r>
            <a:endParaRPr lang="zh-CN" dirty="0"/>
          </a:p>
        </p:txBody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6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Notes Placeholder 3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自定义数据格式，fdemo 里有个现成的例子：LogMediaType。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看右边这段代码：类上加 @Bean，继承 MediaType，构造器里 super 指定格式名 application/json+log。然后实现五个东西：make 用来基于当前实例创建同格式的新实例；toString 输出格式名；两个 fromData 重载，data 版本和 JsonValue 版本，做响应方向的对象到字节；两个 toData 重载，做请求方向的字节或字符串到 Data。另外 == 和 hashCode 也必须实现。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它的效果是：所有走这个 Content-Type 的请求都会先落一条日志。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这里有一个非常值得强调的设计：只要把 MediaType 的实现注册成 @Bean，consumes 和 produces 就可以直接写你的自定义类型。这就是「协议扩展点」——不用改框架，加个 bean 就多一种数据格式。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下一章会把 MediaType 这套机制完整展开，因为它是 f_http 提供的，只是被 f_mvc 直接 public import 了出来。</a:t>
            </a:r>
            <a:endParaRPr lang="zh-CN" dirty="0"/>
          </a:p>
        </p:txBody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6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Notes Placeholder 3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第十一章讲 HTTP 数据格式，f_http。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f_mvc 能同时处理 text/plain、application/json、multipart/form-data，靠的不是 MVC 自己，而是 f_http。f_http 目前实现了两件事：一是 HTTP 数据格式 MediaType 的定义，二是 multipart/form-data 的编解码，也就是文件上传。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有个细节要特别注意：f_mvc 源码里的 MediaType 文件只有一行，就是一个 public import。所以你在 MVC 里 import f_mvc 的 MediaType，拿到的其实就是 f_http 的类型——它们是一个东西。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然后是数据流向，这一屏是理解 MVC 参数绑定的关键。请求方向：字节、输入流或者字符串，先 toData 变成 Data，再 toDataFields 变成对象，也就是 controller 的实参。响应方向反过来：controller 的返回值，先 fromDataFields 变成字节数组，然后写回客户端。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中间那一层就是 MediaType。而 Data 是 f_data 的类型，所以 f_http 和 f_data 是咬合在一起的：MediaType 负责「字节和 Data 之间的转换」，f_data 负责「Data 和对象之间的转换」。这两层拼起来，就是完整的参数绑定链路。</a:t>
            </a:r>
            <a:endParaRPr lang="zh-CN" dirty="0"/>
          </a:p>
        </p:txBody>
      </p:sp>
    </p:spTree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7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Notes Placeholder 3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内置的三种实现和注册表。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三个实现：PlainTextMediaType 对应 text/plain；JsonMediaType 对应 application/json；MultipartMediaType 对应 multipart/form-data 和 multipart/mixed。前两个的父类是 TextMediaType，也就是带字符集的文本格式父类——它处理分号 charset 后缀，toString 会输出「媒体类型名后跟分号然后是 charset，后面是等号和字符集名称」。JsonMediaType 的 toData 就是把字符串先解析成 JsonValue 再转 Data；fromData 反过来，先 tryFromData 再按 charset 编码。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MultipartMediaType 不一样：它带 boundary，toString 形如 multipart/form-data 分号 boundary 等号最后是</a:t>
            </a:r>
            <a:r>
              <a:rPr lang="en-US" altLang="zh-CN" dirty="0"/>
              <a:t>boundary</a:t>
            </a:r>
            <a:r>
              <a:rPr lang="zh-CN" altLang="en-US" dirty="0"/>
              <a:t>串</a:t>
            </a:r>
            <a:r>
              <a:rPr lang="zh-CN" dirty="0"/>
              <a:t>；它的 fromData 和 toData 字节版直接抛异常，只支持 toData 输入流这一种形式，因为它是用来解析上传流的。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然后是 MediaTypes 注册表，这一段是重点，解释「为什么加个 @Bean 就多了一种数据格式」。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MediaTypes 内部是一张并发 HashMap，它有两个注册来源。第一，static init 里内置注册那四个：JsonMediaType 的单例、MultipartMediaType 的 formData 和 mixed、PlainTextMediaType 的单例。第二，首次 tryParse 时从 IOC 拉取：它会调 BeanFactory 的 getList 把所有 @Bean 修饰的 MediaType 一并注册，而且用一个原子计数加条件变量保证只做一次、且并发安全。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所以 fdemo 的 LogTextMediaType 只要加个 @Bean，application/json+log 就自动可用了——不需要任何注册代码。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解析时还有一个宽容处理：tryParse 先按完整的媒体类型字符串查找，找不到就截掉分号之后的参数再找一次，比如 application/json 分号 charset 等于 utf-8 会退化成 application/json；找到之后再调用它的 make 函数把字符集参数带回去。</a:t>
            </a:r>
            <a:endParaRPr lang="zh-CN" dirty="0"/>
          </a:p>
        </p:txBody>
      </p:sp>
    </p:spTree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7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Notes Placeholder 3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自定义</a:t>
            </a:r>
            <a:r>
              <a:rPr lang="en-US" altLang="zh-CN" dirty="0"/>
              <a:t>MediaType</a:t>
            </a:r>
            <a:r>
              <a:rPr lang="zh-CN" dirty="0"/>
              <a:t>数据格式的完整清单，六步，漏一件就会编译不过或者匹配不上。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第一步，构造器里 super 参数是你的格式名。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第二步，实现 make 函数。为什么需要它？因为同一种格式可能带不同的参数——文本格式可能带不同 charset，multipart 可能带不同 boundary。所以要用它基于当前实例创建一个新的 MediaType。不需要参数的可以直接返回 this。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第三步，实现 toString。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第四步，实现等号和 hashCode。因为它是 Hashable 和 Equatable，而且 MediaTypes 会拿它做比较——漏了这一步，格式注册进去也匹配不上。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第五步，实现 fromData 和 toData。fromData 是响应方向：对象到字节；toData 是请求方向：字节到 Data。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第六步，加 @Bean。这是它被 MediaTypes 发现的唯一途径——前面讲过，MediaTypes 首次 tryParse 时会从 BeanFactory 拉取所有 MediaType。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用起来就是 consumes 和 produces 里写你自己的格式名。右边是完整的演示：一个 PostMapping 声明 application/json+log，然后用 curl 发一个同样 Content-Type 的请求；预期控制台出现 fromData 和 toData 两条日志，证明请求体和响应体都走了自定义格式。这一点在</a:t>
            </a:r>
            <a:r>
              <a:rPr lang="en-US" altLang="zh-CN" dirty="0"/>
              <a:t>fdemo</a:t>
            </a:r>
            <a:r>
              <a:rPr lang="zh-CN" altLang="en-US" dirty="0"/>
              <a:t>里已有例子。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这就是协议扩展点的用法：私有协议、加密报文、带签名的请求体，都可以用这种方式接入，业务代码完全不用关心编解码。</a:t>
            </a:r>
            <a:endParaRPr lang="zh-CN" dirty="0"/>
          </a:p>
        </p:txBody>
      </p:sp>
    </p:spTree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7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Notes Placeholder 3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文件上传这一节，收和发两侧。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先说接收。看右边，UploadRequest 里两个字段，name 是字符串，file 是「可空的 MultipartFile」。Controller 上声明 consumes 是 multipart/form-data，函数参数用 RequestBody 接收整个 multipart 对象，然后打印文件大小和 name，返回 ok。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这里关键是 file 的类型。MultipartFile 是 f_http 的类型，它同时实现了 Multipart、InputStream、Resource、DataFields 和 Data——也就是说它既是数据，能进 f_data 体系；又是一个输入流，能直接读。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它的常用成员：filename、size、empty；isAttachment、isInline、isFormData 这三个来自 ContentDisposition；read、bytes、copyTo、reader 四个读取方式。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一个必须强调的点：它是 Resource，用完要 close。close 会连临时文件一起删掉，不会在磁盘上留垃圾。这也是第十八章的一个高频坑。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再说发送。构造一个 MultipartFormData，然后 newPart 链式构造：name 加 value 是普通字段，name 加 file 是文件字段，传入文件名、内容流和大小。最后 encode 写到输出流，或者拿 input 拿到一个 MultipartFileInputStream 自己读。boundary 是自动生成的。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配置两项：http_halfBufferSize 是 multipart 缓冲区的一半大小，默认两千零四十八字节；http_uploadDir 是上传文件的临时保存路径。</a:t>
            </a:r>
            <a:endParaRPr lang="zh-CN" dirty="0"/>
          </a:p>
        </p:txBody>
      </p:sp>
    </p:spTree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7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Notes Placeholder 3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f_http 的异常只有三个，但每一个都很有用。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MediaTypeException，提示「x 不是一个合法的 MediaType 字符串」——这是 MediaTypes 解析时遇到没注册的格式报的。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MediaTypeException，「x 里的 charset 不被支持」——这是文本格式的字符集不支持时报的。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MediaTypeException，「x 不支持当前访问方式」——这是对 multipart 调用了 fromData(Data) 或者 toData(Array&lt;Byte&gt;) 时报的。前面讲过 multipart 只支持从输入流解析。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排错这一条最重要：遇到「is an illegal MediaType string」，百分之九十九是自定义 MediaType 的 @Bean 没生效。回到第三章那条规则——它所在的动态链接库必须被 --dylibPattern 匹配到。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fdemo 的 LogTextMediaType 在 boot 包里，而 boot.sh 的正则里有 boot 这一段，所以它能在启动时被加载、被 MediaTypes 发现、被注册进那张并发表。如果你的自定义格式放在一个没被正则覆盖的包里，它就会静默失效——症状就是这条异常。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所以自定义格式不生效时，先查 @Bean 有没有加，再查它所在的包有没有被 --dylibPattern 覆盖，最后才怀疑框架。</a:t>
            </a:r>
            <a:endParaRPr lang="zh-CN" dirty="0"/>
          </a:p>
        </p:txBody>
      </p:sp>
    </p:spTree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7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Notes Placeholder 3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进入第三个板块，数据与安全。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三章内容：第十二章 ORM，这是全场最长的一章，重点是 PO、DAO、Service 三个角色，三种构造 SQL 的方式，以及事务控制。第十三章安全和 JWT，讲登录状态怎么检查、怎么用 JWT 维持会话。第十四章 CRON 定时任务，很短，六分钟带过。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这个板块的核心是第十二章。ORM 里最反直觉的一点是 DAO 就是接口——加了 @DAO 以后 SqlExecutor 本身就是实现。这一点第一次看会觉得不可思议，但它解决的是「DAO 实现类全是模板代码」这个真问题。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事务部分要展开讲：三种开启方式、七种传播行为、七种事务钩子的调用顺序，还有「为什么同一线程共用连接」这个底层原理。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安全部分不讲密码学，只讲 fountain 的抽象：AuthHandler 怎么被挑选、AuthStatus 有哪几种、JWT 怎么从 Authorization 头里取出来校验。</a:t>
            </a:r>
            <a:endParaRPr lang="zh-CN" dirty="0"/>
          </a:p>
        </p:txBody>
      </p:sp>
    </p:spTree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8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Notes Placeholder 3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第十二章 ORM，先从第一个角色 PO 说起。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看右边这段代码。类上是两个宏：@DataAssist 带 fields 和 tostring；@QueryMappersGenerator 带 table 参数 user_info，还有一个 dirty 标记。字段上是 @ORMField：id 上是 true 加列名，true 表示主键；username、password、save_time 各自声明列名。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@QueryMappersGenerator 会生成六样东西：queryMappers 静态函数，做结果集到对象的映射；tableName 静态函数，返回表名；tableColumns，返回列对象集合——注意它的属性名是列名，不是成员名；isSimpleData，PO 返回 false；一个列集合类，每个列一个 Column 属性；还有 TableMetas.register，供 migro 做表结构比对时发现。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属性写法有好几种：直接写表名，或者 table 冒号表名；用 table 加命名策略让类名按策略转表名；配表名前缀后缀；配类名前缀后缀，转表名前先剥离类名的前后缀；dirty 是给 setter 注入脏字段标记。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@ORMField 的语法各部分是可选、顺序任意的：true 或 id 是主键，false 是非主键，字符串是列名，命名策略有四种，还有 converter 指定转换器 bean。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还有两个编译期约束有必要说：第一，@ORMField 只能修饰 public var 成员变量或者 public mut prop，而且必须是非静态实例成员。第二，@DataAssist 要写在 @QueryMappersGenerator 之前，因为</a:t>
            </a:r>
            <a:r>
              <a:rPr lang="en-US" altLang="zh-CN" dirty="0"/>
              <a:t>QueryMappersGenerator</a:t>
            </a:r>
            <a:r>
              <a:rPr lang="zh-CN" altLang="en-US" dirty="0"/>
              <a:t>展开要生成实例属性，并为属性添加脏字段标记，如果顺序反了会出异常</a:t>
            </a:r>
            <a:r>
              <a:rPr lang="zh-CN" dirty="0"/>
              <a:t>。</a:t>
            </a:r>
            <a:endParaRPr lang="zh-CN" dirty="0"/>
          </a:p>
        </p:txBody>
      </p:sp>
    </p:spTree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8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Notes Placeholder 3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第二个角色是 DAO，这是 ORM 最反直觉也最爽的一点。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看右边这段代码：@DAO 修饰一个接口，接口继承 RootDAO，里面三个函数都有函数体——findUser 用 DSL 查询，register 用插入并返回自增主键，deleteUser 用模板 SQL 删除。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@DAO 宏展开的结果是「原接口后面跟着一个 extend SqlExecutor 实现了这个接口」。也就是说：没有 DAO 实现类，SqlExecutor 本身就是实现，接口里写的函数体就是方法实现。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为什么能做到？因为 SqlExecutor 是所有 DAO 的公共载体，宏把接口的方法挂到它身上。所以约束是这么来的：</a:t>
            </a:r>
            <a:endParaRPr lang="zh-CN" dirty="0"/>
          </a:p>
          <a:p>
            <a:endParaRPr lang="zh-CN" dirty="0"/>
          </a:p>
          <a:p>
            <a:r>
              <a:rPr lang="zh-CN" dirty="0"/>
              <a:t>第一，DAO 必须声明为接口，而且所有函数都要有默认实现——没有实现类，没有函数体无法编译。</a:t>
            </a:r>
            <a:endParaRPr lang="zh-CN" dirty="0"/>
          </a:p>
          <a:p>
            <a:r>
              <a:rPr lang="zh-CN" dirty="0"/>
              <a:t>第二，建议 public 修饰、不要泛型形参、继承 RootDAO。</a:t>
            </a:r>
            <a:endParaRPr lang="zh-CN" dirty="0"/>
          </a:p>
          <a:p>
            <a:r>
              <a:rPr lang="zh-CN" dirty="0"/>
              <a:t>第三，一个持久化对象对应一个 DAO 接口。</a:t>
            </a:r>
            <a:endParaRPr lang="zh-CN" dirty="0"/>
          </a:p>
          <a:p>
            <a:r>
              <a:rPr lang="zh-CN" dirty="0"/>
              <a:t>第四，同一模块内所有 DAO 的函数名最好不要重名——因为它们都挂在同一个 SqlExecutor 上。这一条很容易踩，两个 DAO 都写 findById 就冲突了。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理解了这四条，DAO 就没有坑了。</a:t>
            </a:r>
            <a:endParaRPr lang="zh-CN" dirty="0"/>
          </a:p>
        </p:txBody>
      </p:sp>
    </p:spTree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8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Notes Placeholder 3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第三个角色是 Service。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右边是 fdemo 的写法。接口 UserService 继承 RootService，里面声明业务方法。实现类 UserServiceImpl 上是 @TransactionalService，而不是 @Bean。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RootService 提供四个东西：executor()、executor 带驱动名做形参的重载、dao 泛型、dao 泛型带驱动名。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@TransactionalService 其实是 f_aspect 的 WeavedBean 的重导出——它把 Service 织进切面链，事务切面才能生效。所以如果你用了 @Bean，事务不会生效。这是第十八章的一个高频坑：事务没生效，第一个要查的就是这里。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下面是两条铁律，这是最常见的线上事故来源。</a:t>
            </a:r>
            <a:endParaRPr lang="zh-CN" dirty="0"/>
          </a:p>
          <a:p>
            <a:r>
              <a:rPr lang="zh-CN" dirty="0"/>
              <a:t>第一条：每次调用 DAO 函数都必须从 executor() 开始，不要试图声明 SqlExecutor 或者 DAO 接口类型的变量。原因是 SqlExecutor 缓存在 ThreadLocal 里按驱动名区分，你把它存成字段，线程切换后就拿到别的连接了。</a:t>
            </a:r>
            <a:endParaRPr lang="zh-CN" dirty="0"/>
          </a:p>
          <a:p>
            <a:r>
              <a:rPr lang="zh-CN" dirty="0"/>
              <a:t>第二条：一个 DAO 函数只执行一个 SQL，或者一次分页查询——一次 count 加一次列表。因为同一个 SqlExecutor 上不允许并发，一次</a:t>
            </a:r>
            <a:r>
              <a:rPr lang="en-US" altLang="zh-CN" dirty="0"/>
              <a:t>sql</a:t>
            </a:r>
            <a:r>
              <a:rPr lang="zh-CN" altLang="en-US" dirty="0"/>
              <a:t>或分页查询执行完成就把连接归还了连接池，</a:t>
            </a:r>
            <a:r>
              <a:rPr lang="en-US" altLang="zh-CN" dirty="0"/>
              <a:t>SqlExecutor</a:t>
            </a:r>
            <a:r>
              <a:rPr lang="zh-CN" altLang="en-US" dirty="0"/>
              <a:t>也不再持有连接，如果多次使用同一个</a:t>
            </a:r>
            <a:r>
              <a:rPr lang="en-US" altLang="zh-CN" dirty="0"/>
              <a:t>SqlExecutor</a:t>
            </a:r>
            <a:r>
              <a:rPr lang="zh-CN" altLang="en-US" dirty="0"/>
              <a:t>变量调用</a:t>
            </a:r>
            <a:r>
              <a:rPr lang="en-US" altLang="zh-CN" dirty="0"/>
              <a:t>DAO</a:t>
            </a:r>
            <a:r>
              <a:rPr lang="zh-CN" altLang="en-US" dirty="0"/>
              <a:t>函数，会发生异常</a:t>
            </a:r>
            <a:r>
              <a:rPr lang="zh-CN" dirty="0"/>
              <a:t>。所以在</a:t>
            </a:r>
            <a:r>
              <a:rPr lang="en-US" altLang="zh-CN" dirty="0"/>
              <a:t>Service</a:t>
            </a:r>
            <a:r>
              <a:rPr lang="zh-CN" altLang="en-US" dirty="0"/>
              <a:t>函数内每次调用</a:t>
            </a:r>
            <a:r>
              <a:rPr lang="en-US" altLang="zh-CN" dirty="0"/>
              <a:t>DAO</a:t>
            </a:r>
            <a:r>
              <a:rPr lang="zh-CN" altLang="en-US" dirty="0"/>
              <a:t>函数前都使用</a:t>
            </a:r>
            <a:r>
              <a:rPr lang="en-US" altLang="zh-CN" dirty="0"/>
              <a:t>RootService</a:t>
            </a:r>
            <a:r>
              <a:rPr lang="zh-CN" altLang="en-US" dirty="0"/>
              <a:t>的</a:t>
            </a:r>
            <a:r>
              <a:rPr lang="en-US" altLang="zh-CN" dirty="0"/>
              <a:t>executor</a:t>
            </a:r>
            <a:r>
              <a:rPr lang="zh-CN" altLang="en-US" dirty="0"/>
              <a:t>函数获取</a:t>
            </a:r>
            <a:r>
              <a:rPr lang="en-US" altLang="zh-CN" dirty="0"/>
              <a:t>SqlExecutor</a:t>
            </a:r>
            <a:r>
              <a:rPr lang="zh-CN" altLang="en-US" dirty="0"/>
              <a:t>实例。</a:t>
            </a:r>
            <a:r>
              <a:rPr lang="en-US" altLang="zh-CN" dirty="0"/>
              <a:t>SqlExecutor</a:t>
            </a:r>
            <a:r>
              <a:rPr lang="zh-CN" altLang="en-US" dirty="0"/>
              <a:t>内部使用</a:t>
            </a:r>
            <a:r>
              <a:rPr lang="en-US" altLang="zh-CN" dirty="0"/>
              <a:t>ThreadLocal</a:t>
            </a:r>
            <a:r>
              <a:rPr lang="zh-CN" altLang="en-US" dirty="0"/>
              <a:t>维持</a:t>
            </a:r>
            <a:r>
              <a:rPr lang="en-US" altLang="zh-CN" dirty="0"/>
              <a:t>SqlExecutor</a:t>
            </a:r>
            <a:r>
              <a:rPr lang="zh-CN" altLang="en-US" dirty="0"/>
              <a:t>实例，一个线程内每次调用</a:t>
            </a:r>
            <a:r>
              <a:rPr lang="en-US" altLang="zh-CN" dirty="0"/>
              <a:t>executor</a:t>
            </a:r>
            <a:r>
              <a:rPr lang="zh-CN" altLang="en-US" dirty="0"/>
              <a:t>函数获取同一个</a:t>
            </a:r>
            <a:r>
              <a:rPr lang="en-US" altLang="zh-CN" dirty="0"/>
              <a:t>SqlExecutor</a:t>
            </a:r>
            <a:r>
              <a:rPr lang="zh-CN" altLang="en-US" dirty="0"/>
              <a:t>实例，并往</a:t>
            </a:r>
            <a:r>
              <a:rPr lang="en-US" altLang="zh-CN" dirty="0"/>
              <a:t>SqlExecutor</a:t>
            </a:r>
            <a:r>
              <a:rPr lang="zh-CN" altLang="en-US" dirty="0"/>
              <a:t>填充数据库连接。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这两条记住，ORM 基本不会出事故。</a:t>
            </a:r>
            <a:endParaRPr lang="zh-CN" dirty="0"/>
          </a:p>
        </p:txBody>
      </p:sp>
    </p:spTree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8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Notes Placeholder 3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ORM 的配置项比较多，按用途分组说。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驱动相关三个：orm_drivers 是驱动名列表，逗号分隔，可以同时注册多个数据源；orm_defaultDriver 是缺省驱动，不配就取 drivers 的第一个；连接串和账号密码按驱动覆盖，格式是「驱动名下划线 orm 下划线 键名」，比如 postgres_orm_connectionUrl、postgres_orm_option_username。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这里有一个约定要记住：全局是 orm 下划线 key，按驱动覆盖是驱动名下划线 orm 下划线 key，后者的优先级更高。所以你可以给所有驱动配一套默认值，再给某个驱动单独覆盖。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是否缓存查询结果的配置项是orm_useCache，结果缓存，默认开启；写操作之后会清空缓存。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连接池这一组八个参数，要注意它们和第十七章 f_pool 的对应关系——ORM 的 DatabasePool 就是 f_pool 的一个应用，所以你调 ORM 连接池和直接调 f_pool，手感完全一样。三个是池开关：orm_noPool、orm_useStdPool、orm_useThirdPartyPool，默认用的是 fountain 自己的池。五个是池容量与超时：maxSize、minSize、initSize、connectTimeout、checkSql。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最后两个是 SM4 的密钥和初始向量，配合第四章的编译期内嵌机制——所以你在 boot.sh 里写的连接串和口令才能被加密嵌产入编译物。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所有配置项走的都是第四章那套四级优先级。</a:t>
            </a:r>
            <a:endParaRPr lang="zh-CN" dirty="0"/>
          </a:p>
        </p:txBody>
      </p:sp>
    </p:spTree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9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Notes Placeholder 3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构造 SQL 有三种方式，这是本章重点。这一页讲前两种。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方式一是模板 SQL，用 setSql 加 arg。看右边的 deleteUser：setSql 里写完整的 SQL，参数位置用美元加大括号包住 arg 调用。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arg 做两件事：把你的值绑定到 PreparedStatement，并返回占位符问号。所以必须写成字符串插值的形式。它的价值是：所有参数都走绑定，不存在字符串拼接注入。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支持的类型很全：布尔、各种整数、各种无符号整数、各种浮点、大整数、Decimal、Rune、字符串、Duration、DateTime、InputStream、字节数组、Data，以及 Any；还有这些类型的</a:t>
            </a:r>
            <a:r>
              <a:rPr lang="en-US" altLang="zh-CN" dirty="0"/>
              <a:t>Option</a:t>
            </a:r>
            <a:r>
              <a:rPr lang="zh-CN" altLang="en-US" dirty="0"/>
              <a:t>参数重载</a:t>
            </a:r>
            <a:r>
              <a:rPr lang="zh-CN" dirty="0"/>
              <a:t>，None 等价于 argNull。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还有一个很好用的能力是集合展开，用于 IN。传一维数组会展开成括号里若干个问号；传二维数组会展开成二维元组。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方式二是面向对象的 DSL。查询用 FROM 加 WHERE 加 first；插入用 INSERT_INTO，它直接返回自增主键，这个很方便；也支持 INTO 加 ignoreColumns 忽略某些列。更新有两种：一种传 Map，key 可以是列名、成员名或者 Column 对象；另一种直接传对象，主键作 WHERE 条件，加 dirty 为 true 就只更新脏字段。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dirty 要配合 @QueryMappersGenerator 的 dirty 标记用：setter 会自动调用 DirtyTag 记录脏字段，UPDATE 时只更新被改过的列。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注意 UPDATE 对象的三个命名实参——dirty、ignoredColumns、includingColumns——每次调用只能指定其中一个，同时指定任意两个会抛异常。</a:t>
            </a:r>
            <a:endParaRPr lang="zh-CN" dirty="0"/>
          </a:p>
        </p:txBody>
      </p:sp>
    </p:spTree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9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Notes Placeholder 3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方式三是条件构造器，这一页讲三个入口。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第一个是 meet：条件成立才拼。看右边的例子，userLike 长度大于零时才拼上 LIKE 条件；不成立就什么都不拼，不会拼出非法的 where。它配套的是 choose 和 loop，choose 是分情况二选一，loop 是按集合循环拼接。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第二个是逻辑组合：AND、OR、NOT 三个函数，参数是 LogicalExpr。看例子里 username 等于且 password 等于，然后取单列返回。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第三个是字符串版本的子句拼接：SET 和 WHERE 两个大括号块。它们的共同好处是——内容为空时自动省略关键字，不会拼出「where 后面什么都没有」的非法 SQL。这一点在动态查询里非常实用。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关系运算片段一览，注意它们只返回运算符部分，左值要自己拼：IN、NOT_IN、LIKE、NOT_LIKE、BETWEEN、EXISTS、NOT_EXISTS，以及 AND、OR、NOT、paren 这几个。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所以实际写业务时的选择是：简单查询用 DSL 方法链；条件复杂的用 meet 加 WHERE 块；极复杂的用模板 SQL——三条路都通，选最顺手的。</a:t>
            </a:r>
            <a:endParaRPr lang="zh-CN" dirty="0"/>
          </a:p>
        </p:txBody>
      </p:sp>
    </p:spTree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9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Notes Placeholder 3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查询结果和分页。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结果的读取函数分四类。单列：singleFirst 取第一个单值，可以带列下标或者 Column 对象；singleList 和 singleIterator 是列表和迭代器版本。对象：first、list、iterator、one，这四个都依赖 QueryMappers 生成的映射。无类型：firstToMap 和 mapList，返回 Map 而不是对象。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分页是本节重点。看右边：FROM 加 page 泛型，传每页大小和页码。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分页对象的五个成员：page 是当前页，从 1 开始；size 是每页大小；rows 是总记录数；pages 是总页数；list 是当前页数据。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分页的实现原理很重要：它先执行 select count 星号 from 括号里包住原始 SQL 作为一个临时表，算出总数；然后再执行 select 星号 from 同一个子查询，加上 limit 和 offset。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而 limit 和 offset 是由</a:t>
            </a:r>
            <a:r>
              <a:rPr lang="en-US" altLang="zh-CN" dirty="0"/>
              <a:t>SQL</a:t>
            </a:r>
            <a:r>
              <a:rPr lang="zh-CN" dirty="0"/>
              <a:t>方言生成的——所以换数据库不用改代码，这一点很实用。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最后一个细节：Pagination 本身实现了 ObjectData，所以它可以直接作为 PO 的字段被序列化。fdemo 的 UserList 里 fields 就是 Pagination 泛型 UserPO。也就是说分页结果可以像普通对象一样被 MVC 序列化成 JSON 返回给前端。</a:t>
            </a:r>
            <a:endParaRPr lang="zh-CN" dirty="0"/>
          </a:p>
        </p:txBody>
      </p:sp>
    </p:spTree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9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Notes Placeholder 3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事务控制是本章重点。这一页讲三种开启方式。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方式一是注解，@Transactional。看右边：注解里可以指定 propagation 和 rollbackFor。注解参数一共七个：driverName、propagation、isoLevel、accessMode、deferrableMode、rollbackFor、noRollbackFor。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这里要精确说清楚 rollbackFor 和 noRollbackFor 的语义：rollbackFor 是「发生了它指定的异常才会回滚」；noRollbackFor 是「只有发生了这个参数指定的异常才不回滚」——也就是其他异常照常回滚。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方式二是配置驱动，适合批量织入，不需要逐个加注解。看右边那五行，把 orm_transactionalFuncExecution 一段段拼起来，每段是一个 ExecutionRouteRule。fdemo 里把删除、插入、保存、注册开头的函数，以及名为 userSession 的函数全织入了事务切面。这是很实用的团队规范落地方式——按方法名前缀约定统一开事务。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这两条是或的关系：注解命中和配置命中，只要有一个成立，事务切面就会织入。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方式三是编程式，用 </a:t>
            </a:r>
            <a:r>
              <a:rPr lang="en-US" altLang="zh-CN" dirty="0"/>
              <a:t>SqlExecutor</a:t>
            </a:r>
            <a:r>
              <a:rPr lang="zh-CN" dirty="0"/>
              <a:t>的 execute 模板。它接收传播行为和回滚规则，然后一个闭包，闭包返回一个二元组：结果和布尔值。true 提交，false 抛异常并回滚。</a:t>
            </a:r>
            <a:endParaRPr lang="zh-CN" dirty="0"/>
          </a:p>
          <a:p>
            <a:endParaRPr lang="zh-CN" dirty="0"/>
          </a:p>
        </p:txBody>
      </p:sp>
    </p:spTree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9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Notes Placeholder 3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事务传播行为一共七种，逐个说。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Required，有事务就沿用，没有就新建——这是默认值，也是最常用的。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Supports，有就沿用，没有就不用事务。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Mandatory，有就沿用，没有就抛 MandatoryTransactionException——它表示「这个方法必须在一个已有事务里被调用」。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RequiresNew，外层有事务则新取一个连接开新事务。注意是「新取连接」，不是嵌套，所以它能独立提交或回滚。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Never，不用事务，如果外层有事务就抛 NeverTransactionException。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NotSupported，不用事务，外层有事务的话新取连接执行——也就是把当前操作从事务里摘出去。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Nested，外层有事务则开内嵌事务。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这七种和 Spring 的语义基本一致，学过 Spring 的话可以直接迁移。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除了传播行为，默认的传播行为、隔离级别、读写模式都可以用环境变量全局配置：orm_transactionPropagation、orm_transactionLevel、orm_transactionAccessMode，还有全局的 rollbackFor 和 noRollbackFor。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所以团队规范可以这样落地：全局配好默认值，个别方法用注解覆盖。</a:t>
            </a:r>
            <a:endParaRPr lang="zh-CN" dirty="0"/>
          </a:p>
        </p:txBody>
      </p:sp>
    </p:spTree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0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Notes Placeholder 3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可以实现</a:t>
            </a:r>
            <a:r>
              <a:rPr lang="en-US" altLang="zh-CN" dirty="0"/>
              <a:t>TransactionHook</a:t>
            </a:r>
            <a:r>
              <a:rPr lang="zh-CN" dirty="0"/>
              <a:t>定义事务钩子，在事务的各个阶段执行相应的函数。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TransactionHook 接口有八个方法：beforeTx 在事务开始前；</a:t>
            </a:r>
            <a:r>
              <a:rPr lang="en-US" altLang="zh-CN" dirty="0"/>
              <a:t>inTx</a:t>
            </a:r>
            <a:r>
              <a:rPr lang="zh-CN" altLang="en-US" dirty="0"/>
              <a:t>在事务开始时</a:t>
            </a:r>
            <a:r>
              <a:rPr lang="zh-CN" dirty="0"/>
              <a:t>；beforeCommit 在提交前，参数是「是否只读」；afterCommit 在提交后；afterThrowing 在抛异常时；beforeRollback 在回滚前，参数是异常；afterRollback 在回滚后；afterComplete 在事务完成时，参数是事务状态。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注册方式是 ORM 的 registerTransactionHook，或者 registerTransactionHooks 从 lookupList 批量取。多个钩子的执行顺序由 order 属性决定，升序。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然后是五种场景的顺序，这张表建议做成动画或者表格。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正常提交：beforeTx、beforeCommit、提交、afterCommit、afterComplete。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一般异常：afterThrowing、beforeRollback、回滚、afterRollback、afterComplete。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命中 noRollbackFor：afterThrowing、beforeCommit、然后提交、afterCommit、afterComplete，最后重抛异常。注意它是「提交之后重抛」。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命中 rollbackFor：afterThrowing、beforeRollback、回滚、afterRollback、afterComplete，然后重抛。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第五种情况最容易忽略：配了 rollbackFor 但异常类型不匹配，行为和 noRollbackFor 一样——提交后重抛。</a:t>
            </a:r>
            <a:endParaRPr lang="zh-CN" dirty="0"/>
          </a:p>
          <a:p>
            <a:endParaRPr lang="zh-CN" dirty="0"/>
          </a:p>
        </p:txBody>
      </p:sp>
    </p:spTree>
  </p:cSld>
  <p:clrMapOvr>
    <a:masterClrMapping/>
  </p:clrMapOvr>
</p:notes>
</file>

<file path=ppt/notesSlides/notesSlide8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0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Notes Placeholder 3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为什么同一线程共用连接，以及 ORM 的八个常见坑。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先说原理。SqlExecutor 缓存在 ThreadLocal 里，是一个「驱动名到 SqlExecutor」的 Map。所以同一线程内一次事务的多次数据库访问，用的是同一个连接——这是事务能成立的根本。事务未开启时，执行完就 close 释放连接；事务中则由 commit 或 rollback 收尾时统一处理。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理解这一点，很多行为就说得通了：为什么不能把 SqlExecutor 存成字段，为什么同一个 executor 上不允许并发。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然后是八个坑。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第一，一个 DAO 函数只执行一个 SQL，或者一次分页查询。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第二，每次调用 DAO 都必须从 executor() 开始。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第三，同一模块内 DAO 函数名不能重名。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第四，同一个 SqlExecutor 上不允许并发：上一次查询结果未关闭时再执行会抛异常，错误信息是 cannot execute SQL while a previous query result is still active。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第五，结果缓存默认开启，写操作后会清空缓存。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第六，@DataAssist 必须在 @QueryMappersGenerator 之前。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第七，tableColumns 的属性名是数据库表的列名，不是映射类的成员名——是 save_time 不是 saveTime。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第八，page 系列函数要求 SQL 以 select 开头，否则抛异常。</a:t>
            </a:r>
            <a:endParaRPr lang="zh-CN" dirty="0"/>
          </a:p>
        </p:txBody>
      </p:sp>
    </p:spTree>
  </p:cSld>
  <p:clrMapOvr>
    <a:masterClrMapping/>
  </p:clrMapOvr>
</p:notes>
</file>

<file path=ppt/notesSlides/notesSlide8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0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Notes Placeholder 3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第十三章安全和 JWT。登录状态检查怎么做，三步。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第一步，实现 AuthHandler 并注册为 bean。看右边这段代码：类上加 @Bean，实现 check 方法，参数是 AuthParam，返回 AuthStatus。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逻辑是：如果这个接口标了忽略鉴权，就直接 OK；否则调 UserSessionCache 点 verify，通过了也是 OK；不通过就返回 InvalidSession，带 401 状态码和一段 JSON 响应体。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AuthParam 提供了五样东西：ctx 是当前 HttpContext；path 是「controller 定义的映射路径」，注意不是请求路径，所以路径参数是不展开的；args 是参数；还有 ignoreAuth 和 ignorePrivilege 两个标志。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AuthStatus 是一个枚举，六个值决定 MVC 怎么响应：OK 是通过；SessionNotFound 是没找到登录状态，也就是未登录或者已过期；InvalidSession 是找到了但本次传入的登录信息无效；SessionError 是检查登录状态时出错；PrivilegeError 是检查权限时出错；NoPrivilege 是没有权限。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注意后五个都带状态码和响应体两个参数。不带 HttpStatus 的构造器表示状态码 200；带的话就用你指定的状态码。响应体那个 Any 实际支持五种类型。</a:t>
            </a:r>
            <a:endParaRPr lang="zh-CN" dirty="0"/>
          </a:p>
        </p:txBody>
      </p:sp>
    </p:spTree>
  </p:cSld>
  <p:clrMapOvr>
    <a:masterClrMapping/>
  </p:clrMapOvr>
</p:notes>
</file>

<file path=ppt/notesSlides/notesSlide8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0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Notes Placeholder 3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第二步是 MVC 怎么挑 handler，这个判断顺序决定了你的类该怎么设计。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五步。第一步，如果 ignoreAuth 和 ignorePrivilege 都为 true，直接 OK，什么都不查。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第二步，如果存在「通用」的 AuthHandler，就用它一次检查完。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第三步，否则，如果没忽略鉴权而且 UserSessionHandler 存在，就用它检查登录状态；通过就执行第四步，不通过就失败。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第四步，如果没忽略权限且 PrivilegeHandler 存在，用它检查权限。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第五步，都没有的话就是 OK。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这里有一个非常重要的结论：第三步一旦通过就直接返回，第四步的权限检查不会执行。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所以源码注释里明确写着：如果登录状态和权限都要检查，最好在同一个类里实现、一次调用检查完——fdemo 的 AuthCheckerImpl 就是这个做法，它实现了 AuthHandler，一次把两件事都做完。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如果你的系统权限模型很复杂，确实需要拆成两个 bean，那就分别实现 UserSessionHandler 和 PrivilegeHandler，但要清楚这个优先级语义——否则你会发现权限检查莫名其妙地没生效。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这个结论是这一章最容易被忽略的一条。</a:t>
            </a:r>
            <a:endParaRPr lang="zh-CN" dirty="0"/>
          </a:p>
        </p:txBody>
      </p:sp>
    </p:spTree>
  </p:cSld>
  <p:clrMapOvr>
    <a:masterClrMapping/>
  </p:clrMapOvr>
</p:notes>
</file>

<file path=ppt/notesSlides/notesSlide8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0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Notes Placeholder 3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第三步，用 JWT 维持登录状态。fdemo 的 UserSessionCache 整屏展示。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它有三块。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第一块，安全上下文。这里构造了一个 JWTSecurityContext 泛型 String，第一个参数是 JWTHeapCacheStore，寿命一小时，也就是身份存在堆缓存里；第二个参数是生成 principal 的函数，用 UUID 随机十六进制串当密钥；第三个参数是校验函数，用 HMAC MD5。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第二块，登录。generate 方法接收 userId，先调 context 的 login 把身份存进缓存，然后用 JWT 编码器的链式 API：设置密钥、keyId 为 userId、过期时间一小时、最后 sign 出 token。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第三块，校验。verify 方法只有一行，调 context 的 check。它会从当前请求的 Authorization 头里取 JWT，验签加验证过期时间，再用 principal 里的密钥校验。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这里最值得讲的设计是：每次登录用 UUID 随机生成一把独立的 HMAC 密钥，存进 principal —— 也就是每个会话一把钥匙。这样即使某一把密钥泄露，也只影响那一个会话。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而且因为 check 是从 CurrentHttpContext 取当前请求，所以校验逻辑不用写在 controller 里——这就是上一章说的那个线程级上下文的实际用途。</a:t>
            </a:r>
            <a:endParaRPr lang="zh-CN" dirty="0"/>
          </a:p>
        </p:txBody>
      </p:sp>
    </p:spTree>
  </p:cSld>
  <p:clrMapOvr>
    <a:masterClrMapping/>
  </p:clrMapOvr>
</p:notes>
</file>

<file path=ppt/notesSlides/notesSlide9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1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Notes Placeholder 3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f_jwt 的 API，编码和解码两边各看一遍。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编码是一个链式调用：encoder 拿到编码器，然后可以加自定义 header、设置签名密钥、设置 keyId 也就是 kid、issuer、subject、audience、expire、notBeforeAt、issuedAt，还能 addPayload 加自定义负载，最后 sign 出 token。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注意 expire 支持四种形式：Duration、Int64 秒、DateTime、还有 expireAt。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签名算法全家桶分两类。HMAC 有六个：MD5、SHA1、SHA224、SHA256、SHA384、SHA512；每种都有三个重载——直接传字节数组、传 Base64 字符串、传十六进制字符串。非对称有 ECDSA 的 224/256/384/512、RSA 的 256/384/512（可以指定填充类型），还有国密的 SM2。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负载还可以一次性塞进去：addPayload 传一个对象，前提是它实现了 ObjectData，公共成员就变成负载；或者传一个 Map。另外 jwtId 可以配合 JwtIdCache 做防重放。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解码这边，verifier 拿到验证器，然后一系列 get：getKeyId、getPayload、getPayloadValue、getHeader、getExpireAt 有 DateTime 和 Duration、秒三种版本，还有 getNotBefore。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校验方法分层次：verifySign 只验签名；verify 是 exp、nbf、签名一起验；还可以单独验 issuer、subject、audience、payload、id。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一句话记住：verify 已经把 exp、nbf 和签名都检查了，没有指定 exp 或 nbf 的字段就认为该维度当前有效。</a:t>
            </a:r>
            <a:endParaRPr lang="zh-CN" dirty="0"/>
          </a:p>
        </p:txBody>
      </p:sp>
    </p:spTree>
  </p:cSld>
  <p:clrMapOvr>
    <a:masterClrMapping/>
  </p:clrMapOvr>
</p:notes>
</file>

<file path=ppt/notesSlides/notesSlide9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1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Notes Placeholder 3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端到端演示，四步，然后把调用链串一遍。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第一步，注册。这个接口声明的是表单，所以用表单的 Content-Type。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第二步，登录拿 JWT。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第三步，不带 JWT 访问 /api/user/1，得到 401 和一段 JSON。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第四步，带上 JWT 访问同一个接口，得到 200 和用户 JSON。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预期就是：第三步 401 Unauthorized 加响应体；第四步 200 加用户 JSON。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最后把调用链串一遍。HTTP 请求进来，MVC 路由到 UserController 的 queryUser；然后 AuthHandlerProxy 带着 AuthParam 去 check，注意 ignoreAuth 是 false；接着调 AuthCheckerImpl 的 check；再调 UserSessionCache 的 verify；再进 JWTSecurityContext 的 check——它会从 CurrentHttpContext 拿 Authorization 头，用 JWT 验证器做 verify 也就是验签加 exp 加 nbf，再用 principal 里的密钥做 HMAC。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全部通过返回 OK，才真正进入 queryUser，然后 Service、DAO、数据库。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这一条链就是安全的全部流程。</a:t>
            </a:r>
            <a:endParaRPr lang="zh-CN" dirty="0"/>
          </a:p>
        </p:txBody>
      </p:sp>
    </p:spTree>
  </p:cSld>
  <p:clrMapOvr>
    <a:masterClrMapping/>
  </p:clrMapOvr>
</p:notes>
</file>

<file path=ppt/notesSlides/notesSlide9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1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Notes Placeholder 3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第十四章 CRON 定时任务，很短，但要讲一个坑。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最小可用只有两件事必须做：实现 CronTicktockTask 接口，加 @Bean。看左边，接口里主要要实现一个 cron 属性，返回 cron 表达式；还有一个 execute 方法，就是任务体。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右边是 cron 表达式的语法。时间单位从左到右是：秒、分、时、日、月、周、年，七个位。星号表示任意值；start 横杠 end 是闭区间范围；start 斜杠 step 是从 start 开始、间隔 step；start 斜杠 step 横杠 end 是从 start 开始、间隔 step、到 end 为止；逗号是取值列表，多种写法可以组合；L 表示当前时间单位的最后一个值，对「日」来说就是当月最后一天；表达式尾部的星号可以省略。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看左边那个例子，cron 是 1/3-45。读作：从第一秒开始、每三秒一次、直到第四十五秒。完整写法是七个位都写全。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这里有个「静默失效」的坑，定时器实现它所在的包必须被 --dylibPattern 匹配到。fdemo 里它放在 user/src/util/cron 下，所以 boot.sh 的正则里专门有 user 点 util 点 auth 或 cron 这一段。忘了这一段，定时任务不会报错，只是永远不执行。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还有可选属性：once 表示只执行一次；concurrentable 表示上次没跑完也允许下次触发；executing 和 reset 可以自定义「是否正在执行」的判断；name 默认取类型全限定名。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延迟任务用 DelayedTicktockTask 抽象类，delayedPeriodic 可选固定频率或固定延迟，immediate 决定注册后是否立即执行。</a:t>
            </a:r>
            <a:endParaRPr lang="zh-CN" dirty="0"/>
          </a:p>
        </p:txBody>
      </p:sp>
    </p:spTree>
  </p:cSld>
  <p:clrMapOvr>
    <a:masterClrMapping/>
  </p:clrMapOvr>
</p:notes>
</file>

<file path=ppt/notesSlides/notesSlide9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1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Notes Placeholder 3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进入第四个板块，日志、串讲与底座。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第十五章讲日志 f_log，一个服务上线前，第一件要配好的事就是日志。这一章会讲三条纪律、配置全表、一条日志的完整旅程、文件切割与压缩、运行期刷新，还有八个坑。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第十六章是串讲：用一次 POST 请求，从配置装载开始，穿过 MVC、bean、aspect、ORM，最后落进日志文件，把整个框架串成一条线。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第十七章是运行时基础设施：f_base、f_io、f_cache、f_pool、f_collection、f_time、f_regex、f_rx、f_random 九个模块。它们零配置、可以单独引入、不绑架你的架构——就算不用 fountain 的框架部分，把它们当工具库用也完全没问题。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第十八章收尾：二十二个高频坑和预设问答。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最后附录是三张速查表：命令、配置、关键 API。</a:t>
            </a:r>
            <a:endParaRPr lang="zh-CN" dirty="0"/>
          </a:p>
        </p:txBody>
      </p:sp>
    </p:spTree>
  </p:cSld>
  <p:clrMapOvr>
    <a:masterClrMapping/>
  </p:clrMapOvr>
</p:notes>
</file>

<file path=ppt/notesSlides/notesSlide9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2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Notes Placeholder 3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第十五章日志。先回答一个问题：为什么还要自己写一个日志模块？仓颉生态里已经有 stdx.log 了，抽象一整套。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三个理由。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第一，它是 stdx.log 的实现，不是替代品。f_log 的 AbstractLogger 直接继承 stdx.log 的 Logger，stdx.log 的写法照用；更重要的是，它在模块加载时把 stdx.log 的全局 logger 接管了。也就是说，任何第三方库只要用全局 logger 打日志，输出也会进你的 appender。两个真实例子：stdx.net.http 的日志被接进了 MVC；openGauss 驱动的日志用 LoggerFactory.getLogger('opengauss')。它们和你的业务日志在同一个文件里、同一套格式、同一个进程号。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第二，零配置、零注入，而且默认静默。不需要启动器、不需要 logback 那种配置文件，一行 getLogger 就能用。而且不配 appender 它什么都不输出，不会像很多框架那样先给你刷一屏。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第三，异步加模板化。业务线程只负责记下当下时间与线程 ID、把消息闭包排进队列，渲染、落盘、刷屏全在专属线程上做；消息支持大括号占位符，还能直接拿 @DataAssist 对象做具名取值——这是 stdx.log 没有的。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右边的结构图可以看一眼：LoggerFactory 拿到的名字是 T 的完整限定名；LoggerWrapper 持有 facade 的引用，可以热替换；LoggerAppenderFacade 本身也是异步的，一个名字对应一条队列加一个消费线程；下面挂 console、file、tcp、udp、unix 各种 appender。</a:t>
            </a:r>
            <a:endParaRPr lang="zh-CN" dirty="0"/>
          </a:p>
        </p:txBody>
      </p:sp>
    </p:spTree>
  </p:cSld>
  <p:clrMapOvr>
    <a:masterClrMapping/>
  </p:clrMapOvr>
</p:notes>
</file>

<file path=ppt/notesSlides/notesSlide9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2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Notes Placeholder 3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三条纪律是本章最容易踩的坑，先记住它们，后面都是细节。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纪律一：默认什么都不输出。内置六种 appender——console、file、tcp、udp、unix、unixDatagram，但一个都不会自动启用。logger_appender_开头的这类配置项没配，这类 appender 就不存在。所以你至少得写一行 export logger_appender_console 等于你起的名字，才会有第一条日志。这也是为什么 fdemo 的 boot.sh 里必须有那几行 logger 配置。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纪律二：级别和格式挂在 appender 上，不挂在 logger 名字上。命名规则是两段式的：先用 logger_appender_kind 给这类 appender 挂上若干个具名实例；再用 logger_appender_实例名_level 和 _pattern 逐个配级别和格式。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所以 fountain 没有 log4j 那种「logger 名字树」的概念——你没法说「只给 fountain.orm 开 DEBUG」。级别是这个 appender 全局的，要区分来源就靠格式里的百分号 name。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纪律三：业务线程只入队，渲染在后台；但默认「队列满就等」。调 log.info 的时候，业务线程做的事只有两件：采集时间戳和线程 ID，然后把闭包投进队列。级别判断、字符串渲染、落盘都在后台线程。而 loggerAsyncTimeout 的默认值是 Duration.Max，意味着队列满时入队方会一直等，而不是丢日志。想丢就显式配 timeout 加 policy。</a:t>
            </a:r>
            <a:endParaRPr lang="zh-CN" dirty="0"/>
          </a:p>
        </p:txBody>
      </p:sp>
    </p:spTree>
  </p:cSld>
  <p:clrMapOvr>
    <a:masterClrMapping/>
  </p:clrMapOvr>
</p:notes>
</file>

<file path=ppt/notesSlides/notesSlide9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2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Notes Placeholder 3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这张表就是本节的全部，左边一列可以直接抄。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先看 appender 的挂载项：logger_appender_console、_file、_tcp、_udp、_unix、_unixDatagram，值都是你给这个 appender 起的名字，逗号分隔可以挂多个。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然后是每个实例自己的配置：_level 默认 INFO，取值有 OFF、</a:t>
            </a:r>
            <a:r>
              <a:rPr lang="en-US" altLang="zh-CN" dirty="0"/>
              <a:t>FATAL</a:t>
            </a:r>
            <a:r>
              <a:rPr lang="zh-CN" dirty="0"/>
              <a:t>、ERROR、WARN、INFO、DEBUG、TRACE、ALL；_pattern 是格式串，默认是「日志级别、减号、</a:t>
            </a:r>
            <a:r>
              <a:rPr lang="zh-CN" dirty="0">
                <a:sym typeface="+mn-ea"/>
              </a:rPr>
              <a:t>日志对象</a:t>
            </a:r>
            <a:r>
              <a:rPr lang="zh-CN" dirty="0"/>
              <a:t>名字」加大括号时间再竖线加消息。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file 专用的一批：_path 默认是工作目录下的 logs 目录加命令名点 log，目录会自动创建；_rotateDuration 默认 DAY，从纳秒到年，大小写不敏感，但别用亚秒级；_rotateSize 默认最大值，支持一百 k、一百 M、一 G 这种写法；_compressFormat 默认空，支持 Deflate 和 GZip，还可以带压缩级别；还有一个 _url，一个字符串替代上面这几个独立配置项，而且 url 里的参数优先。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tcp、udp 专用的有 _host、_port，tcp 和 unix 还有 _bufSize 发送缓冲，udp 和 unix 有 _sendTimeout 和 _writeTimeout。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最后五个是异步相关的：loggerAsyncBufsize 默认一千零二十四，它既是异步队列容量，也是缓冲区池的大小；loggerAsyncTimeout 默认 Duration.Max；loggerAsyncTimeoutPolicy 默认 discard，可选 discard、abort、alwaysWaiting；logger_asyncWaitTimeout 默认五毫秒，借不到缓冲区时等这么久，超时就丢弃本条并打印 EmptyPool。</a:t>
            </a:r>
            <a:endParaRPr lang="zh-CN" dirty="0"/>
          </a:p>
        </p:txBody>
      </p:sp>
    </p:spTree>
  </p:cSld>
  <p:clrMapOvr>
    <a:masterClrMapping/>
  </p:clrMapOvr>
</p:notes>
</file>

<file path=ppt/notesSlides/notesSlide9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2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Notes Placeholder 3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写日志有三种写法，覆盖百分之九十九的场景。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拿 logger 就一行：LoggerFactory.getLogger 泛型传类名，名字就是完整限定名；也可以传一个字面量起任意名字。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写法一是惰性 lambda，最常用，推荐。关键在「惰性」：级别不够时这个 lambda 根本不会执行，所以里面的字符串拼接、toString、JSON 序列化全都省掉了。对比下面这个反例——字符串在调用点就拼好了，日志级别不符也白拼。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但要补一个准确的说明：级别判断发生在后台消费线程上，所以 log.debug 在 DEBUG 关掉时仍然会有一次入队，队列满时这一入队同样会等。也就是说「零成本」省的是渲染，不是排队本身。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写法二是模板占位。位置占位用两个大括号，按数组顺序填；具名占位用大括号加字段名，数据源可以是 @DataAssist 对象，也可以是 Map、ArrayList、TreeMap。底层就是第九章那个 TextTemplate，所以它能用 TextTemplate 的全部能力，比如时间格式化、路径取值。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具名形态还有个额外好处：字段会过一次 LoggerConfig 的 filter，天生就能做脱敏。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写法三是异常，把异常对象传进去，栈会一起写出去。有两种参数顺序：异常在前消息在后，或者消息在前异常在后。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右边是级别选择的建议和占位符全表。注意两个实用规则：结尾会自动加换行，pattern 里别自己写换行符；时间格式串用的是仓颉 DateTime 的格式，该大小写敏感就大小写敏感。</a:t>
            </a:r>
            <a:endParaRPr lang="zh-CN" dirty="0"/>
          </a:p>
        </p:txBody>
      </p:sp>
    </p:spTree>
  </p:cSld>
  <p:clrMapOvr>
    <a:masterClrMapping/>
  </p:clrMapOvr>
</p:notes>
</file>

<file path=ppt/notesSlides/notesSlide9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2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Notes Placeholder 3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一条日志的旅程，这是全章最硬核的一节，但结论很简单：业务线程只入队，渲染与落盘都在专属线程。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第一级，业务线程。AbstractLogger 的 append 先采集时间戳和当前的线程 ID——注意这两个信息是「调用点」的，不是写出时的。然后把「广播给所有 appender」这个闭包投进队列。队列的 tag 是 LoggerAppenderFacade 加 logger 名字，容量就是 loggerAsyncBufsize。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第二级，facade 的消费线程。它取出闭包，遍历所有 appender，对每个 appender 再调一次 append。这里才做级别判断、才求值 lambda——所以消息字符串是在消费线程上拼出来的。然后 AsyncLogger 把 pattern 和消息渲染成字节，写进 SyncQueueOutputStream；遇到空字符结束符，这一条日志就是一个批次，提交到批次队列，再往 appender 自己的队列投一个闭包。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第三级，appender 的消费线程。把批次按顺序写进真正的输出流，终端或者文件，并 flush。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四个设计点值得单独讲。第一，两级异步、两级队列：facade 每个 logger 名字一条队列，appender 里 console 全局共享一条、file 按路径共享。所以线程数大约等于不同 logger 名字的个数加 appender 个数。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第二，空字符是批次边界。写日志就是往缓冲区塞字节，塞完写一个空字符，SyncQueueOutputStream 看到它就提交换缓冲区。这样一条日志在文件里不会被别的线程插进来切成两半。顺带一个小特性：这个空字符本身不会被写进文件。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第三，缓冲区是池化的，池空会丢日志。缓冲区池大小就是 loggerAsyncBufsize，默认一千零二十四。消费线程在渲染之前先从池里借一块缓冲，最多等 logger_asyncWaitTimeout，默认五毫秒，借不到就打印一行 EmptyPool 并丢掉本次写入。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第四，队列满了怎么办，由 timeout 加 policy 决定。而因为默认 timeout 是 Duration.Max，默认配置下「队列满」等于入队方一直等，policy 根本轮不到生效。所以想「宁可丢日志也别拖慢业务」就配十毫秒加 discard；想「日志一条不能少」就保持默认。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最后别忘了退出：facade 在 atExit 里注册了关闭动作，close 会先把队列排空再关流。这就是为什么 Ctrl-C 之后日志文件里不会缺最后几条。</a:t>
            </a:r>
            <a:endParaRPr lang="zh-CN" dirty="0"/>
          </a:p>
        </p:txBody>
      </p:sp>
    </p:spTree>
  </p:cSld>
  <p:clrMapOvr>
    <a:masterClrMapping/>
  </p:clrMapOvr>
</p:notes>
</file>

<file path=ppt/notesSlides/notesSlide9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3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Notes Placeholder 3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文件切割与压缩，一句话概括：「默认按天切，切完的文件加时间后缀，配了压缩就压」。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切割时机有两个条件，满足任一即切。第一，跨周期：文件创建时间早于当前时间单位的起点——按天切就是今天凌晨之前创建的。第二，超大小：当前大小加上本批字节数大于等于 rotateSize，这是写在文件里的预判，不是事后检查。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切割动作是四步：关掉当前文件；rename 成「原路径加一个点和上一个周期的时间戳」；如果配了 compressFormat，在独立线程里压缩，Deflate 出来是 lz，GZip 出来是 gz，然后原文件被删掉；最后重新以 Append 模式打开原路径。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所以按天切、不压缩时，你会看到 fdemo.log 是当前正在写的，fdemo.log 点 20261001 是昨天那份。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url 写法是一个字符串替代四个配置项，而且 url 里的参数优先于独立配置项。rotateSize 支持人类可读写法，一百 k、十 M、一 G。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最后两个要注意的地方。第一，rotateDuration 不要配亚秒级——毫秒、微秒、纳秒都不行。因为切割后文件名的后缀粒度只到秒，而「跨周期」判断几乎每一次写入都会成立，结果是每次写日志都 rename 一次加重开文件。按分钟起步，常用小时和天。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第二，压缩失败也会删掉原文件：压缩那段的 finally 里直接删原路径，压缩过程中出的错只打印栈。所以日志是重要证据的场景，比如审计、计费，建议先不压缩，或者自测一遍压缩路径。</a:t>
            </a:r>
            <a:endParaRPr lang="zh-CN" dirty="0"/>
          </a:p>
        </p:txBody>
      </p:sp>
    </p:spTree>
  </p:cSld>
  <p:clrMapOvr>
    <a:masterClrMapping/>
  </p:clrMapOvr>
</p:notes>
</file>

<file path=ppt/notesSlides/notesSlide10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Notes Placeholder 3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现场演示：把框架自己的日志调出来。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第一步，启动。boot.sh 的 exports 已经带了 console 是 DEBUG、file 是 INFO。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第二步，另开终端发一个注册请求。注意这个接口声明的是表单，不是 JSON，所以命令里直接带 username 和 password 两个字段就行。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第三步，tail 一下文件那份。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预期结果：控制台里会出现两类「框架自己打的」日志。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第一类是 ORM 的，名字是 std.reflect.TypeInfo.get("fountain::f_orm.base.SqlExecutor")。它告诉你这是 ORM 在执行 SQL；后面是完整的 insert 语句、绑定的参数列表，最后是 consumed，也就是这条 SQL 的耗时——三毫秒两百微秒一百零一纳秒。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第二类是 MVC 的 access log，名字是处理这个请求的 controller 类。MVC.accessLog 后面依次是方法、URL、Content-Type、入参、返回值、状态码和耗时。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而文件那一份只有第二行——因为第一条是 DEBUG，被文件 appender 的 INFO 级别过滤掉了。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这一屏要讲三件事。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第一，%name 是定位问题的第一把钥匙。std.reflect.TypeInfo.get 这一行告诉你这是 ORM 在执行 SQL；consumed 后面是耗时。排查线上问题时，你需要的动作是「把级别调成 DEBUG，然后按 %name 去 grep」。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第二，fboot 生成的应用信息自动进了日志。%app 和 %appver 的值不来自任何配置文件——fboot build 读你的 cjpm.toml，生成一段代码调 AppVersion.set，日志里的应用名和版本就是从这里来的。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第三，想只看文件不看控制台？把 logger_appender_console 那两行删掉重启就行——没有配置就没有这个 appender，这正是纪律一。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把 rotateDuration 改成 HOUR、rotateSize 改成 10M、compressFormat 改成 GZip，重启后 log 目录下会积累形如 fdemo.log 加时间加 gz 的文件。演示完记得把这三行撤掉，否则一小时一个文件。</a:t>
            </a:r>
            <a:endParaRPr lang="zh-CN" dirty="0"/>
          </a:p>
        </p:txBody>
      </p:sp>
    </p:spTree>
  </p:cSld>
  <p:clrMapOvr>
    <a:masterClrMapping/>
  </p:clrMapOvr>
</p:notes>
</file>

<file path=ppt/notesSlides/notesSlide10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Notes Placeholder 3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运行期刷新和八个坑。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先说刷新。配置读一次就固定了吗？不是。LoggerWrapper 的 refresh 会按当前配置新建一个 LoggerAppenderFacade，然后用 CAS 把引用换过去；换的时候老的 facade 会被关闭——排空队列、关流。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所以「运行期换级别、换格式、加一个 appender」理论上是支持的，入口就是一行 LoggerFactory.refresh()。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但这里有个必须知道的现实：LoggerConfig 的 static init 里确实注册了回调，可是按第四章那条已知问题，f_config 的 refresher 前缀匹配恒不成立，Config.set 不会触发任何刷新回调。所以现阶段的实际做法是：改完配置自己调一次 refresh。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哪些配置 refresh 能改、哪些必须重启：appender 的名字、级别、pattern、路径、切割、压缩都能刷新生效；loggerAsyncTimeout、policy、异步队列容量在构造时读取，刷新也生效；但 loggerAsyncBufsize 的「池大小」那一半不行——缓冲区池是进程级静态单例，只在首次用到时按当时的配置建一次，只能重启。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所以「改配置加刷新」最适合做的是调级别，这也是线上最常用的动作；其余配置建议当成「重启才生效」来对待。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然后是八个坑，我把现象和原因列在右边，可以逐条念。</a:t>
            </a:r>
            <a:endParaRPr lang="zh-CN" dirty="0"/>
          </a:p>
        </p:txBody>
      </p:sp>
    </p:spTree>
  </p:cSld>
  <p:clrMapOvr>
    <a:masterClrMapping/>
  </p:clrMapOvr>
</p:notes>
</file>

<file path=ppt/notesSlides/notesSlide10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Notes Placeholder 3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第十五章的速查卡，左边是代码，右边是配置，可以抄。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拿 logger 两种方式：泛型传类名，名字就是完整限定名，推荐；或者传一个字符串字面量，起任意名字。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写日志三种：惰性 lambda，级别不够零成本；模板占位，位置和具名都支持；异常，栈一起写出。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脱敏和附带属性：LoggerConfig.filter 设一个 LogFilter，可以做脱敏或改键；log.withAttrs 可以附加属性，输出成 k 和 v 的形式。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运行期刷新：LoggerFactory.refresh()，记得 f_config 的 refresher 目前不会自动触发，要手动调。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右边是配置，一类 appender 挂若干具名实例，实例各自配级别和格式。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最后收个尾，这一章的核心其实就两句话。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第一，f_log 是 stdx.log 的实现，而且默认静默——它不是「又一个日志框架」，而是「把你的日志统一收进同一条异步管道」的那一层。业务日志、MVC access log、ORM 的 SQL、第三方库日志、数据库驱动日志，全在一个文件里、同一套格式、同一个进程号。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第二，调试靠 %name 加级别，落盘靠 appender。级别挂在 appender 上，所以没有「只给某个包开 DEBUG」；来源靠 %name 认，所以排查时 grep fountain 双冒号 f_orm 加上你的日志文件路径就可以查到</a:t>
            </a:r>
            <a:r>
              <a:rPr lang="en-US" altLang="zh-CN" dirty="0"/>
              <a:t>f_orm</a:t>
            </a:r>
            <a:r>
              <a:rPr lang="zh-CN" altLang="en-US" dirty="0"/>
              <a:t>模块的日志</a:t>
            </a:r>
            <a:r>
              <a:rPr lang="zh-CN" dirty="0"/>
              <a:t>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下一章我们把这些东西串起来：一次 POST 请求，从 f_config 装载配置开始，穿过 MVC、bean、aspect、ORM，最后落进日志文件。</a:t>
            </a:r>
            <a:endParaRPr lang="zh-CN" dirty="0"/>
          </a:p>
        </p:txBody>
      </p:sp>
    </p:spTree>
  </p:cSld>
  <p:clrMapOvr>
    <a:masterClrMapping/>
  </p:clrMapOvr>
</p:notes>
</file>

<file path=ppt/notesSlides/notesSlide10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Notes Placeholder 3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第十六章串讲：一次请求穿过整个框架。用一个 POST 注册请求走完全流程。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第零步，进程启动。f_config 的 static init 装载环境变量和命令行参数——命令行覆盖环境变量，并准备 sensitiveMap，配了 SM4 的话运行期解密。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第一步，fboot run 加载动态链接库。加载时 static init 把 @Bean 注册进 BeanFactory、把 Initializer 注册进集合；然后拓扑排序依次 initialize，顺序是 BeanInitializer、ORMInitializer、MVCInitializer、TickTockInitializer 等等；最后各 start 被 spawn 到新线程，MVC 启动 HTTP 服务并阻塞，TickTock 启动定时器。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第二步，curl 发出注册请求。MVC 先做路由匹配，看 PostMapping 加 consumes、produces、params、headers；然后参数绑定，f_http 的 MediaType 把请求体字节转成 Data，f_data 把 Data 转成对象并触发校验；接着 AuthHandlerProxy 检查，因为 ignoreAuth 是 true 所以直接 OK；然后 AOP 的 ControllerAspect 的 around 执行，因为 controllerPointcut 命中了；再进原函数体 register。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在 register 里，lookup 拿到 UserService 的实现；TransactionAspect 因为 orm_transactionalFuncExecution 命中了 register 前缀而织入；然后 orm 的 execute 开始新事务：先 beforeTx、</a:t>
            </a:r>
            <a:r>
              <a:rPr lang="en-US" altLang="zh-CN" dirty="0"/>
              <a:t>inTx</a:t>
            </a:r>
            <a:r>
              <a:rPr lang="zh-CN" dirty="0"/>
              <a:t>；再调 executor().register，注意 SqlExecutor 本身就是 UserDAO，里面 INSERT_INTO 绑定参数执行；然后 beforeCommit、commit、afterCommit、afterComplete。最后返回值按 produces 序列化。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第三步，定时线程按 cron 触发，独立线程，与请求互不干扰。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第四步，旁路：f_util 的 UUID 和 f_random 给会话发密钥；f_http 的 MediaType 配合 f_data 做序列化；f_util 的 PathPattern 是路由匹配和提取路径变量的引擎。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第五步，底座：f_cache 存登录状态，f_pool 撑起数据库连接池，f_regex 缓存路径正则，f_time 解析所有 Duration 型配置，f_log 在每一步上落日志——SQL 的 DEBUG、accessLog 的 INFO；f_io 的 ByteBuffer 是报文与下载管道的字节缓冲；而 f_base 在进程退出时按权重把这些依次收掉：先停服务、最后关数据库。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这一屏就是 fountain 的全部。而且从头到尾你没写过一个配置文件、没写过一行 main。业务代码里你只写了 UserController、UserService、UserDAO、UserPO 四个东西，加起来不到两百行。</a:t>
            </a:r>
            <a:endParaRPr lang="zh-CN" dirty="0"/>
          </a:p>
        </p:txBody>
      </p:sp>
    </p:spTree>
  </p:cSld>
  <p:clrMapOvr>
    <a:masterClrMapping/>
  </p:clrMapOvr>
</p:notes>
</file>

<file path=ppt/notesSlides/notesSlide10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Notes Placeholder 3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第十七章运行时基础设施。前面讲的 IOC、AOP、MVC、ORM、安全、定时任务、日志，这些是你能直接感知到的框架能力；但它们是站在另一层之上的。这一章讲的就是那一层。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看这张表，九个模块，每个都有一句话和「在 fountain 里被谁用了」。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f_base 是所有模块的公共底座：进程优雅退出、Result 和 Option 与集合迭代器扩展、Comparator、StringGenerator、FutureTask。全部模块都用它；f_app 启动时会调 toExitGracefully，f_mvc、f_pool、f_cache、f_orm、f_bean、f_rpc 都用 atExit 登记清理。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f_io 是 IO 工具库，这一节讲它的 ByteBuffer 和 SyncByteBuffer——读写双偏移的字节缓冲，以及加锁版。f_rpc 用它把异常堆栈打成字符串，f_mvc 的 FileDownload 用 SyncByteBuffer 当下载管道。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f_cache 是堆缓存，强引用和弱引用两版，可以设寿命和容量。f_security 的 JWTHeapCacheStore、f_data 的 DataPath.cache、f_orm 的结果缓存都用它。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f_pool 是通用对象池、键池、数组池。f_orm 的 DatabasePool 就是它。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f_collection 是标准库没有的集合加集合扩展。f_store 的 LSM-Tree、f_concurrent、ORM 分页都用它。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f_time 是 std.time 的扩展，TimeUnit 加 Int64 的时间 DSL。所有用 Duration 作配置项的地方都用它。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f_regex 是正则扩展加正则缓存。f_util 的 PathPattern、f_data 的校验器都用它。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f_rx 是反应式编程，Observable、Observer、背压，主要用于流式数据处理场景。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f_random 是随机数扩展。f_app 的 fboot randhex、fdemo 的 UserSessionCache 会话密钥都用它。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这九个模块的共同特点：零配置、可以单独引入、不绑架你的架构。就算你不用 fountain 的框架部分，把它们当工具库用也完全没问题。</a:t>
            </a:r>
            <a:endParaRPr lang="zh-CN" dirty="0"/>
          </a:p>
        </p:txBody>
      </p:sp>
    </p:spTree>
  </p:cSld>
  <p:clrMapOvr>
    <a:masterClrMapping/>
  </p:clrMapOvr>
</p:notes>
</file>

<file path=ppt/notesSlides/notesSlide10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Notes Placeholder 3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先说 f_base，它是所有模块脚下的那一层。README 的第一句话就是「建议开发时无脑导入本包」。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一个 import 打底：f_base 在包里做了 public import，把 std.collection、std.reflect、std.regex、std.time 以及 std.math 的 MathExtension 都带进来了。所以这一个 import 之后，ArrayList、HashMap、Regex、Duration、DateTime 都不必再单独引入。这也是 fboot workspace 生成的 cjpm.toml 里默认就带 f_base 依赖的原因。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进程退出是它最容易被低估的一段。ExitCallbacks 有两个静态函数：toExitGracefully 重置并注册 SIGTERM 和 SIGINT，回调跑完 exit(0)；atExit 按权重升序登记清理函数，权重相同的按注册顺序。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只要进程收到 kill 十五或者 Ctrl-C，所有 atExit 登记的清理函数就会依次执行，全部跑完再 exit。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注册时机是所有动态链接库加载完成之后，而且会先重置之前注册的同名处理函数，避免和第三方库或你自己注册的信号处理函数打架。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用了 f_app 就不需要自己调 toExitGracefully，启动器在初始化 starter 之后会自动调用。只有「只引 f_base、不引 f_app」的独立工具才会漏掉这一步。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各模块登记的清理和权重：f_mvc 关闭 HTTP 服务器权重零；f_rpc 服务端权重是零和客户端是</a:t>
            </a:r>
            <a:r>
              <a:rPr lang="en-US" altLang="zh-CN" dirty="0"/>
              <a:t>252</a:t>
            </a:r>
            <a:r>
              <a:rPr lang="zh-CN" dirty="0"/>
              <a:t>；f_bean 的 BeanFactory.shutdown 是</a:t>
            </a:r>
            <a:r>
              <a:rPr lang="en-US" altLang="zh-CN" dirty="0"/>
              <a:t>253</a:t>
            </a:r>
            <a:r>
              <a:rPr lang="zh-CN" dirty="0"/>
              <a:t>；f_pool 的 KeyPool.close 是</a:t>
            </a:r>
            <a:r>
              <a:rPr lang="en-US" altLang="zh-CN" dirty="0"/>
              <a:t>254</a:t>
            </a:r>
            <a:r>
              <a:rPr lang="zh-CN" dirty="0"/>
              <a:t>；f_cache 的 HeapCache.destroy 是</a:t>
            </a:r>
            <a:r>
              <a:rPr lang="en-US" altLang="zh-CN" dirty="0"/>
              <a:t>254</a:t>
            </a:r>
            <a:r>
              <a:rPr lang="zh-CN" dirty="0"/>
              <a:t>；f_orm 的 ORM.close 是</a:t>
            </a:r>
            <a:r>
              <a:rPr lang="en-US" altLang="zh-CN" dirty="0"/>
              <a:t>255</a:t>
            </a:r>
            <a:r>
              <a:rPr lang="zh-CN" dirty="0"/>
              <a:t>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权重小的先跑，所以 Ctrl-C 的顺序是先停服务、再关中间件、最后关数据库——一个进程最体面的下线姿势。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一个前提：仓颉</a:t>
            </a:r>
            <a:r>
              <a:rPr lang="en-US" altLang="zh-CN" dirty="0"/>
              <a:t>SDK</a:t>
            </a:r>
            <a:r>
              <a:rPr lang="zh-CN" altLang="en-US" dirty="0"/>
              <a:t>不支持信号</a:t>
            </a:r>
            <a:r>
              <a:rPr lang="en-US" altLang="zh-CN" dirty="0"/>
              <a:t>API</a:t>
            </a:r>
            <a:r>
              <a:rPr lang="zh-CN" altLang="en-US" dirty="0"/>
              <a:t>，所以</a:t>
            </a:r>
            <a:r>
              <a:rPr lang="zh-CN" dirty="0"/>
              <a:t>Windows 上这整段是空实现，所以这套优雅退出只在非 Windows 平台生效。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f_io 这一节只挑上层最常碰的一对类：ByteBuffer 和 SyncByteBuffer。ByteBuffer 实现 IOStream，也就是可读可写，所以最常用的姿势不是自己写循环，而是把它当内存里的输出目标——printStackTrace 写进去、codec.encode 的 copy 写进去，写完一个 bytes() 把结果一次性取走。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两个细节：reserve 的「扩容」其实分两步，如果剩余空间够，只把未读数据搬到头部、两个偏移重排，不新建数组；真的不够才开新数组。toOverwriteOnClearing 默认关着，clear 只把偏移归零、数据留在数组里；打开它，清空时会把已写区域填零抹掉——装密钥、令牌这类敏感内容的缓冲记得打开。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SyncByteBuffer 就是给 ByteBuffer 套上 Mutex 和 Condition：写方写完 notify，读方没数据就 wait 带超时；end 表示「不会再有数据」，读完就拿到 EOF 语义。它是一个无界、自动扩容的字节队列，f_mvc 的 FileDownload 内部就有一个当下载管道。唯一的 unsafe 方法 bytes 是留给「此刻确定没有并发写」的场景的。</a:t>
            </a:r>
            <a:endParaRPr lang="zh-CN" dirty="0"/>
          </a:p>
        </p:txBody>
      </p:sp>
    </p:spTree>
  </p:cSld>
  <p:clrMapOvr>
    <a:masterClrMapping/>
  </p:clrMapOvr>
</p:notes>
</file>

<file path=ppt/notesSlides/notesSlide10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Notes Placeholder 3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f_cache 和 f_pool。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先说堆缓存。强引用版是 HeapCache，五个构造参数：并发度默认一百二十八、最大寿命、最大对象数、检查周期、失效回调。它在 fountain 里被四处用到：f_security 的 JWTHeapCacheStore、f_data 的 DataPath.cache、f_orm 的结果缓存、</a:t>
            </a:r>
            <a:r>
              <a:rPr lang="en-US" altLang="zh-CN" dirty="0"/>
              <a:t>f_regex</a:t>
            </a:r>
            <a:r>
              <a:rPr lang="zh-CN" altLang="en-US" dirty="0"/>
              <a:t>的正则缓存</a:t>
            </a:r>
            <a:r>
              <a:rPr lang="zh-CN" dirty="0"/>
              <a:t>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这里有个概念要讲清楚，它和常见的 TTL 缓存不一样：默认是「非一次性」的，每次 get 都会把过期时间重新计时，也就是滑动窗口。而 once 为 true 的对象相反——取用不续期，到点就走，适合做「绝对过期」的会话、验证码。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prolong 可以在运行中改寿命和一次性标志；evictionCallback 让你在对象失效时做收尾，比如关掉文件句柄。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弱引用版是 WeakHeapCache。内部键和值都被弱引用包装，定时遍历清除已经被 GC 掉的弱引用——适合缓存「可被重建的大对象」，不会因为缓存导致内存泄漏。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再说对象池。Pool 的构造参数有八个：存储模式、初始大小、最小大小、最大大小、空闲时间、创建时检查、借出时检查、归还时检查，还有检查周期和三个回调。看到这八个参数是不是很眼熟？对，它们就是第十二章 ORM 那批 orm_databasePool 开头的配置项。ORM 的 DatabasePool 就是 f_pool 的一个应用——所以你调 ORM 连接池和直接调 f_pool，手感完全一样。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存储模式有四种：Fifo 先进先出、Lifo 后进先出、WeakFifo 弱引用先进先出、WeakLifo 弱引用后进先出。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Pool 实现了 Resource，用完 close。get 的 timeout 小于等于零时不等待、立即返回。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KeyPool 是每个键一个池：只有池对象需要销毁，键不需要销毁。典型场景是多数据源、多租户，每个库一个连接池。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还有数组池和 ArrayList 池：高频临时缓冲区的老问题——每次 new 一个一百二十八长度的数组，GC 压力全在这儿。数组池直接复用。</a:t>
            </a:r>
            <a:endParaRPr lang="zh-CN" dirty="0"/>
          </a:p>
        </p:txBody>
      </p:sp>
    </p:spTree>
  </p:cSld>
  <p:clrMapOvr>
    <a:masterClrMapping/>
  </p:clrMapOvr>
</p:notes>
</file>

<file path=ppt/notesSlides/notesSlide10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Notes Placeholder 3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f_collection 补的是标准库的位，挑四个最能解决痛点的讲。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第一个是 BitSet。它可以用默认的六十四位，也可以指定容量——容量乘六十四就是位数。它最有意思的地方是有泛型的 contains、set、remove 三个方法，用哈希判断存在，所以你可以把它当去重集合用，而它底层就是一个 Int64 数组存六十四 N 个开关。布隆过滤器就依赖它，权限位、标记位也用它。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第二个是 Dict 家族，这是它最独特的地方。标准库的 HashMap 要求 key 实现 Hashable 和 Equatable，TreeMap 要求 key 实现 Comparable，但现实中大量 key 类型两个都不实现——比如第三方库的类型、接口类型。Dict 的解法是把 hasher 和 equals 作为构造函数参数传进去。HashDict 传一个哈希函数和一个相等函数；LinkedHashDict 按最近访问顺序遍历；TreeDict 传一个比较函数。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第三个是保持插入和访问顺序的集合：LinkedHashMap 和 LinkedHashSet，都按最近访问顺序遍历。LRU 缓存只差一层封装——LinkedHashMap 已经按访问顺序排好了。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第四个是 PriorityQueue 和集合运算视图。PriorityQueue 容量满时自动扩容，也可以给 OverSizePolicy 做拒绝策略。所有 Set 实现都扩展了 SetOp，有交集、并集、差集三个方法，返回的是只读视图，不复制数据——所以做集合运算不产生拷贝。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然后是 f_time，它把时间操作变成 DSL。TimeUnit 有十个粒度，从纳秒到年。它有 trim 截断到当前单位的整点、next 和 prev 取未来过去的整点、since 算距离未来整点还有多久、ago 和 later 以当前时间为基准、before 和 after 以指定时间为基准、duration 把 n 个单位转成 Duration。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注意 duration 有个细节：周、月、年是不定长的，所以返回 None。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Int64 的时间 DSL 很直观：5.seconds.later 是五秒后的 DateTime，2.minutes.ago 是两分钟前，1.day.duration 是 Some，而 1.month.duration 是 None。单复数同义，读起来就是自然语言。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DateTime 也扩展了一批：today、yesterday、tomorrow、isLeapYear、isLastMonthDay，四个 toUnixEpoch 系列，还有 setYear、setMonth、addMilliseconds 这些。Duration 也有 ago、later、before、after。DayOfWeek 和 Month 支持相减。还有一个 UTC 时区常量。</a:t>
            </a:r>
            <a:endParaRPr lang="zh-CN" dirty="0"/>
          </a:p>
        </p:txBody>
      </p:sp>
    </p:spTree>
  </p:cSld>
  <p:clrMapOvr>
    <a:masterClrMapping/>
  </p:clrMapOvr>
</p:notes>
</file>

<file path=ppt/notesSlides/notesSlide10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Notes Placeholder 3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最后三个运行时模块：f_regex、f_rx、f_random。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f_regex 有两块。第一块是常用正则常量：INTEGER、DECIMAL、REAL_NUMBER、EMAIL、DURATION、IDENTIFIER、BASE64，还有一个 wildcard 把通配符串转成正则。它的 doReplace 和 doReplaceAll 相比标准库多了两个能力：起始下标，以及「按匹配内容动态决定替换值」——回调返回 None 就不替换，做模板渲染和脱敏很顺手。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第二块是字符串直接变正则，带缓存。solid 命令参数为 true 时正则在进程生命周期内一直存在；为 false 时用 f_cache 的堆缓存，最多一万个、寿命一天。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这里有一条很关键：编译正则是有成本的。热路径上反复调 str.regex() 而不用缓存，是很多服务的隐形 CPU 杀手。顺带闭环一下——f_util 的 PathPattern 在编译路径时会先做几步正则预处理，那些正则就是用 solid 为 true 建的，进程内编译一次、复用一生。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f_rx 是一套 Observable 和 Observer 实现。它的价值不在「又一套 Rx」，而在于把「数据怎么产出」和「数据怎么处理」的线程模型、背压策略、错误恢复都显式化了。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创建方式六种：iterable 从可迭代对象、emitter 用发射器、single 单值、maybe 可空值、empty 空、concat 拼接。每条数据的处理策略四种：withAlwaysNew 每条数据开新线程、withCurrent 始终用当前线程、withSingle 固定一个线程、withFixed 固定若干线程。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背压只有 withSingle 和 withFixed 支持——因为只有固定线程池才有「队列满了」这件事。策略有八个：丢弃新数据、丢弃队头、一直阻塞、立即抛异常、立即用当前线程处理、立即开新线程处理、用你给的函数处理、以及「阻塞指定时长后仍满就执行指定策略」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还有错误恢复器 setErrorResumer 有五个重载，以及 replaySize 做重放。每个创建函数都接受一个 asyncCombined 命名参数，决定多个观察者各自开线程还是共用一个线程。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f_random 补的是标准库缺的三样：区间随机数、随机数流、随机字符串。它不自己实现随机算法，而是用 extend 把能力扩展到标准库的 Random 和 SecureRandom 上——所以 API 是「加在原类上」的，不用换类型。注意扩展方法只有导入本模块后才可见。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RandomString 的字符集方法很全：小写十六进制、大小写字母加数字、可打印 ASCII、全部 Unicode，还有一个 random 接收调用方给定的字符集。每个方法都有两个重载：指定长度，或者先随机出长度再生成。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ThreadLocalRandom 是每个线程首次访问 current 时创建一个 SecureRandom，之后一直复用。而 RandomString 的无参构造器默认就把它作为随机源，所以默认的 RandomString 实例天然线程安全。高并发下生成 token、验证码、盐值，用默认构造就对了。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蓄水池抽样 randomReservoir 只需遍历一次数据源就能随机取 n 个元素，不需要事先知道总数——适合流式数据或超大集合抽样。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最后一页要讲的是 f_random 的已知行为，这几条和直觉不一致，讲出来比让观众自己撞墙好。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第一，整数版先转浮点再取整：Int64 走 Float64，Int32 走 Float32，最后 floor。区间接近上界时会有精度损失甚至溢出。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第二，区间参数不校验：不检查下界小于等于上界，传反了不报错，只会得到反转区间的结果。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第三，randomReservoir 的边界：count 小于等于零且数据源非空时会抛参数非法异常；返回值大小是 count 和元素个数取小，不总是等于 count；替换下标取自零到 i 开区间而非经典算法的零到 i 闭区间，抽样结果并非严格均匀。</a:t>
            </a:r>
            <a:endParaRPr lang="zh-CN" dirty="0"/>
          </a:p>
        </p:txBody>
      </p:sp>
    </p:spTree>
  </p:cSld>
  <p:clrMapOvr>
    <a:masterClrMapping/>
  </p:clrMapOvr>
</p:notes>
</file>

<file path=ppt/notesSlides/notesSlide10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Notes Placeholder 3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第十八章收尾。二十个高频坑，这是前十一条。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第一条，fboot 起不来，报找不到动态链接库——LD_LIBRARY_PATH 没带 fboot 的 libs 目录和 stdx 的动态链接库路径。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第二条，bean 明明写了却不生效——它所在的动态链接库没被 --dylibPattern 匹配到。鉴权器、切面、定时任务尤其致命。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第三条，改了依赖后各种诡异错误——fboot cleanUpdate 一把梭。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第四条，定时任务不执行——同上第二条。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第五条，事务没生效——Service 用了 @Bean 而不是 @TransactionalService；或者方法名没被 orm_transactionalFuncExecution 命中；也没加 @Transactional。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第六条，报 cannot execute SQL while a previous query result is still active——同一个 SqlExecutor 上一次结果没关闭就又执行了。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第七条，DAO 报「不是 select」——page 系列要求 SQL 以 select 开头。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第八条，tableColumns 点某个属性找不到——属性名是列名（save_time），不是成员名（saveTime）。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第九条，宏报 must be modified by public var or public mut prop——@ORMField 的约束。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第十条，fboot run 卡住不动——对于</a:t>
            </a:r>
            <a:r>
              <a:rPr lang="en-US" altLang="zh-CN" dirty="0"/>
              <a:t>f_mvc</a:t>
            </a:r>
            <a:r>
              <a:rPr lang="zh-CN" dirty="0"/>
              <a:t>这是预期行为，它永久阻塞，另开终端发请求。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第十一条，populate 之后目标对象字段是空的——目标类没加 @DataAssist 的 fields 属性；或者默认的 SILENCE 把「字段不存在 / 类型不匹配 / 无法转换」静默跳过了。</a:t>
            </a:r>
            <a:endParaRPr lang="zh-CN" dirty="0"/>
          </a:p>
        </p:txBody>
      </p:sp>
    </p:spTree>
  </p:cSld>
  <p:clrMapOvr>
    <a:masterClrMapping/>
  </p:clrMapOvr>
</p:notes>
</file>

<file path=ppt/notesSlides/notesSlide1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Notes Placeholder 3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后九条。这个表里有一些行是空的，是因为那些问题已经当作</a:t>
            </a:r>
            <a:r>
              <a:rPr lang="en-US" altLang="zh-CN" dirty="0"/>
              <a:t>BUG</a:t>
            </a:r>
            <a:r>
              <a:rPr lang="zh-CN" dirty="0"/>
              <a:t>改过了，</a:t>
            </a:r>
            <a:r>
              <a:rPr lang="en-US" altLang="zh-CN" dirty="0"/>
              <a:t>1.3.8</a:t>
            </a:r>
            <a:r>
              <a:rPr lang="zh-CN" dirty="0"/>
              <a:t>版已经改过了。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第十三条，自定义格式报 is an illegal MediaType string——自定义 MediaType 漏了 @Bean，或者它所在的动态链接库没被 --dylibPattern 匹配到。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第十四条，上传的文件在磁盘上堆积——MultipartFile 是 Resource，用完必须 close；close 才会删掉临时文件。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第十五条，改了配置却不生效——有编译期内嵌值被运行期覆盖了，或者反过来；也可能用了 fountain 前缀却写成了原名。按第四章的四级优先级逐层排查。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第十六条，Config.set 之后相关模块没刷新——已知问题：refresher 的前缀匹配恒不成立，set 不会触发任何刷新回调。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第十七条，TreeTransformer.transform 抛 IllegalArgumentException——源数据里有重复 id（ignoreDuplicate 默认 false），或者 transferFn 返回了 None。</a:t>
            </a:r>
            <a:endParaRPr lang="zh-CN" dirty="0"/>
          </a:p>
          <a:p>
            <a:endParaRPr lang="zh-CN" dirty="0"/>
          </a:p>
          <a:p>
            <a:endParaRPr lang="zh-CN" dirty="0"/>
          </a:p>
          <a:p>
            <a:r>
              <a:rPr lang="zh-CN" dirty="0"/>
              <a:t>第十九条，缓存对象「取了就续期」，永远不过期——HeapCache 默认是非一次性对象（滑动窗口）。要绝对过期就 once 设为 true，或者用 prolong 指定过期时间。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第二十条，热路径上反复 str.regex() 导致 CPU 高——正则编译没走缓存。用 solid 为 true 或 false。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第二十一条，日志一条都不输出——f_log 默认静默：不配 appender 就没有输出通道。至少要配置一个。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第二十二条，想只给某个包开 DEBUG 配不出来——级别挂在 appender 上，不是挂在 logger 名字上，没有名字树；来源用 pattern 里的 %name 区分。</a:t>
            </a:r>
            <a:endParaRPr lang="zh-CN" dirty="0"/>
          </a:p>
        </p:txBody>
      </p:sp>
    </p:spTree>
  </p:cSld>
  <p:clrMapOvr>
    <a:masterClrMapping/>
  </p:clrMapOvr>
</p:notes>
</file>

<file path=ppt/notesSlides/notesSlide1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Notes Placeholder 3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预设问答，先答三个最常被问到的。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第一个：能不用动态链接库吗？答案是：IOC、AOP、ORM 这些能力本身不依赖动态链接库，但 fboot run 的「扫描加载」机制依赖它。用 App 构造时把 dynamic 传 false 就可以不扫描，此时只有内置命令和静态链接进来的子命令可用，业务 bean 需要你自己保证已经被加载。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第二个：性能如何？fboot build 默认带 O2 和 full LTO；ORM 有结果缓存，可以按驱动关掉；连接池有三种可选——fountain 池、标准库池、第三方池；boot.sh 里还有 perfRecord 和 perfReport，用的是 cjprof，以及 loop 和 ab 可以直接做基线测量。这里有一句话要强调：不要凭感觉谈性能，先跑 ./boot.sh ab 16 10000。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第三个：能只用一个模块吗？可以。f_base、f_io、f_util、f_collection、f_crypto、f_random 这些都是独立可用的工具库，在 cjpm.toml 里只加你需要的那一个即可。比如你只想要随机字符串和区间随机数，就只引 f_random——它只依赖 f_base。</a:t>
            </a:r>
            <a:endParaRPr lang="zh-CN" dirty="0"/>
          </a:p>
          <a:p>
            <a:endParaRPr lang="zh-CN" dirty="0"/>
          </a:p>
        </p:txBody>
      </p:sp>
    </p:spTree>
  </p:cSld>
  <p:clrMapOvr>
    <a:masterClrMapping/>
  </p:clrMapOvr>
</p:notes>
</file>

<file path=ppt/notesSlides/notesSlide1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Notes Placeholder 3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再看三个问答。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第一，没有配置文件，本地开发怎么管理几十个配置项？答案是写进启动脚本。fdemo/boot.sh 的 exports 函数就是标准答案——所有 export 集中在一个地方，fboot run 之前 source 一下。容器化时这些 export 换成 ConfigMap 或 Secret，f_config 的读取逻辑一行不用改。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第二，--key=value 是 fboot 的功能吗？我自己写的程序能用吗？能用，而且不需要做任何事。这不是 fboot 的开关，而是 f_config 模块的能力：任何链接了 f_config 的仓颉进程，在 static init 时都会读 env.getCommandLine 并装载 --key=value。fboot 只是恰好也用了 f_config 而已——fboot build、fboot run、你自己 import f_config 的 main、甚至只是间接依赖，比如引了 f_orm，都一视同仁。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第三，fboot build 带 --k=v 和 fboot run 带 --k=v 有什么区别？在配置的解析方式上没有任何区别——都是 f_config 读当前进程的命令行参数。区别在这个进程要拿配置干什么：fboot build 是把它转成 cjpm build 子进程的环境变量，供编译期宏读取并嵌入产物；fboot run 是让应用运行期直接读到。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后面还有几个常问的：f_data 的复制能替代手写 DTO 转换吗？绝大多数场景可以，只有字段名不一致或需要计算逻辑时才需要手写几行。f_rx 和直接用 spawn 加 Channel 怎么选？要背压、错误恢复、重放、多观察者这些语义时用 f_rx，只是「扔个任务到后台」用 spawn 就够了。Strategies 和 IOC 的 lookupList 怎么选？要 bean 的完整生命周期用 IOC，只是把「一段按 key 分派的逻辑」集中管理用 Strategies 更轻。</a:t>
            </a:r>
            <a:endParaRPr lang="zh-CN" dirty="0"/>
          </a:p>
        </p:txBody>
      </p:sp>
    </p:spTree>
  </p:cSld>
  <p:clrMapOvr>
    <a:masterClrMapping/>
  </p:clrMapOvr>
</p:notes>
</file>

<file path=ppt/notesSlides/notesSlide1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Notes Placeholder 3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附录是三张速查表。第一张是命令。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fboot workspace 加可选目录和版本号，初始化 workspace 并重写 cjpm.toml。fboot module 加可选名字，初始化或新增 dynamic 模块并挂进 members。fboot build 加路径和若干 --k=v，编译并把配置在编译期注入产物。fboot cleanUpdate 加路径，等价于 </a:t>
            </a:r>
            <a:r>
              <a:rPr lang="en-US" altLang="zh-CN" dirty="0"/>
              <a:t>cjpm </a:t>
            </a:r>
            <a:r>
              <a:rPr lang="zh-CN" dirty="0"/>
              <a:t>clean 删除 </a:t>
            </a:r>
            <a:r>
              <a:rPr lang="en-US" altLang="zh-CN" dirty="0"/>
              <a:t>cjpm.</a:t>
            </a:r>
            <a:r>
              <a:rPr lang="zh-CN" dirty="0"/>
              <a:t>lock  和</a:t>
            </a:r>
            <a:r>
              <a:rPr lang="en-US" altLang="zh-CN" dirty="0"/>
              <a:t>cjpm </a:t>
            </a:r>
            <a:r>
              <a:rPr lang="zh-CN" dirty="0"/>
              <a:t>update。fboot run 加路径和 --dylibPattern，启动并永久阻塞。fboot randhex 加位数，生成随机小写十六进制——SM4 的 key 用三十二。fboot count 统计代码。fboot test 用 test 目录的 cjpm.toml 覆盖后 build 加 run。fboot pub 加版本号发布模块。fboot version 可以只用来看版本，也可以加版本号、消息、tag 来管理 fountain 自身。fboot help 看命令列表。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这张表建议打印出来贴在显示器边上——日常开发真正会反复敲的就是这几条。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一个提醒：这些命令里所有方括号包起来的部分都是占位符，需要替换成实际值。特别是 --dylibPattern 后面的正则，它决定了哪些动态链接库会被加载，是 fountain 里最容易出错的一个参数。</a:t>
            </a:r>
            <a:endParaRPr lang="zh-CN" dirty="0"/>
          </a:p>
        </p:txBody>
      </p:sp>
    </p:spTree>
  </p:cSld>
  <p:clrMapOvr>
    <a:masterClrMapping/>
  </p:clrMapOvr>
</p:notes>
</file>

<file path=ppt/notesSlides/notesSlide1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Notes Placeholder 3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第二张速查表是配置。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最上面是优先级规则：命令行参数大于环境变量，大于编译期内嵌值；fountain 前缀是等价的回退写法。还有一个关键提示：命令行参数对「任何链接了 f_config 的仓颉进程」都生效，不限于 fboot。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然后是命令行参数的四种写法：双横线等号赋值、双横线单独出现、单横线加空格加值、单横线单独出现。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SM4 那一组：sm4Key 必须是十六字节，也就是 randhex 32；GCM 的 IV 用 randhex 24；工作模式支持 CBC、CFB、CTR、GCM、OFB，注意 ECB 明确不支持；填充支持 NoPadding 和 PKCS7Padding。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然后是 Config 的 API，单数读取失败返回 None，复数读取失败抛异常，bufferSize 向上取到二的幂。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日志那段是重头，注意三件事：默认静默，不配 appender 就没有任何输出；级别挂在「你起的名字」上，不是挂在 console 或 file 这种类型名上；rotateDuration 别用亚秒级。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loggerAsyncBufsize 既是队列容量也是缓冲区池大小；loggerAsyncTimeout 默认是死等；policy 默认 discard；logger_asyncWaitTimeout 默认五毫秒，借不到缓冲区就丢弃本条并打印 EmptyPool。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这张表的左半边可以直接抄进你自己的启动脚本。</a:t>
            </a:r>
            <a:endParaRPr lang="zh-CN" dirty="0"/>
          </a:p>
        </p:txBody>
      </p:sp>
    </p:spTree>
  </p:cSld>
  <p:clrMapOvr>
    <a:masterClrMapping/>
  </p:clrMapOvr>
</p:notes>
</file>

<file path=ppt/notesSlides/notesSlide1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Notes Placeholder 3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第三张速查表是关键 API，按模块分组。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f_bean：lookup 系列，无参、带名字、带条件；lookupOption、lookupList、lookupHashMap。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f_orm：ORM.initialize、ORM.register、ORM.executor、ORM.executor 带驱动名；executor.setSql 后面跟 update / insert / delete；executor.FROM 泛型接 WHERE、ORDER_BY、page；INSERT_INTO 和 UPDATE；execute 模板传传播行为和回滚规则。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f_mvc：CurrentHttpContext.instance，一行拿到当前请求上下文。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f_jwt：encoder 链式签名，verifier 拿 token 然后 verify。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f_log：getLogger 泛型或字面量；三种写日志方式；六个 enabled 属性；withAttrs 附加属性；LoggerConfig.filter 脱敏；LoggerFactory.refresh 刷新。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f_data：DataObject 泛型 populate 做类实例到类实例；DataObject 按名读写；toJson 和 fromJson 做对象与 JSON 串互转；JsonValue 的两个入口；DataPath.cache 做 JSONPath 查询。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f_random：区间随机数、随机流、RandomString 的两种生成、ThreadLocalRandom.current、randomReservoir 抽样。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f_util：UUID 的六种生成；parse 和 tryParse；IsUUID 注解；IdMaker；CaseFormat；TextTemplate；PathPattern；TreeTransformer 的 transform；Factory、Strategies、ResponsibilityChain。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f_base：ExitCallbacks 的 atExit；四类空容器；迭代器扩展的 toArrayList、groupBy、peekable；数组的 grow 和重复；Option 的 toResult、iterator、caller；StringGenerator；Comparator 和 Equaler；resource 和 ResourceManager；FutureTask；InheritedTaskLocal；还有两个宏 nameof 和 nameValueOf。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这三张速查表就是整个讲稿的索引。需要时回到对应的章节看细节，平时开发直接翻附录就够了。</a:t>
            </a:r>
            <a:endParaRPr lang="zh-CN" dirty="0"/>
          </a:p>
        </p:txBody>
      </p:sp>
    </p:spTree>
  </p:cSld>
  <p:clrMapOvr>
    <a:masterClrMapping/>
  </p:clrMapOvr>
</p:notes>
</file>

<file path=ppt/notesSlides/notesSlide1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Notes Placeholder 3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最后收个尾。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把这一讲的核心再说一遍：f_config 负责配置、f_bean 负责装配、f_aspect 负责横切、f_data 负责流动、f_util 提供工具箱、f_http 负责格式、f_mvc 负责协议、f_orm 负责数据库、f_security 加 f_jwt 负责身份、f_ticktock 负责定时器、f_random 负责随机性、f_log 负责日志，f_cache、f_pool、f_collection、f_time、f_regex、f_rx 加 f_base 和 f_io 构成运行时底座。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而从头到尾，你没写过一个配置文件、没写过一行 main。业务代码里你只写了 UserController、UserService、UserDAO、UserPO 四个东西，加起来不到两百行。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如果你只记住一句话，我希望是这句：fountain 的目标不是给你一个框架，而是把服务端的「非业务复杂度」整体收进工具库，让你的代码里只剩业务。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完整的代码、示例工程和每一条命令都在文档里。感谢观看。</a:t>
            </a:r>
            <a:endParaRPr lang="zh-CN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1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1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1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1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1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1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1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1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1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1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1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1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1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1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1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1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1.xml"/><Relationship Id="rId1" Type="http://schemas.openxmlformats.org/officeDocument/2006/relationships/slideLayout" Target="../slideLayouts/slideLayout1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2.xml"/><Relationship Id="rId1" Type="http://schemas.openxmlformats.org/officeDocument/2006/relationships/slideLayout" Target="../slideLayouts/slideLayout1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3.xml"/><Relationship Id="rId1" Type="http://schemas.openxmlformats.org/officeDocument/2006/relationships/slideLayout" Target="../slideLayouts/slideLayout1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4.xml"/><Relationship Id="rId1" Type="http://schemas.openxmlformats.org/officeDocument/2006/relationships/slideLayout" Target="../slideLayouts/slideLayout1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5.xml"/><Relationship Id="rId1" Type="http://schemas.openxmlformats.org/officeDocument/2006/relationships/slideLayout" Target="../slideLayouts/slideLayout1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6.xml"/><Relationship Id="rId1" Type="http://schemas.openxmlformats.org/officeDocument/2006/relationships/slideLayout" Target="../slideLayouts/slideLayout1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7.xml"/><Relationship Id="rId1" Type="http://schemas.openxmlformats.org/officeDocument/2006/relationships/slideLayout" Target="../slideLayouts/slideLayout1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8.xml"/><Relationship Id="rId1" Type="http://schemas.openxmlformats.org/officeDocument/2006/relationships/slideLayout" Target="../slideLayouts/slideLayout1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9.xml"/><Relationship Id="rId1" Type="http://schemas.openxmlformats.org/officeDocument/2006/relationships/slideLayout" Target="../slideLayouts/slideLayout1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0.xml"/><Relationship Id="rId1" Type="http://schemas.openxmlformats.org/officeDocument/2006/relationships/slideLayout" Target="../slideLayouts/slideLayout1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1.xml"/><Relationship Id="rId1" Type="http://schemas.openxmlformats.org/officeDocument/2006/relationships/slideLayout" Target="../slideLayouts/slideLayout1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2.xml"/><Relationship Id="rId1" Type="http://schemas.openxmlformats.org/officeDocument/2006/relationships/slideLayout" Target="../slideLayouts/slideLayout1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3.xml"/><Relationship Id="rId1" Type="http://schemas.openxmlformats.org/officeDocument/2006/relationships/slideLayout" Target="../slideLayouts/slideLayout1.xml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4.xml"/><Relationship Id="rId1" Type="http://schemas.openxmlformats.org/officeDocument/2006/relationships/slideLayout" Target="../slideLayouts/slideLayout1.xml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5.xml"/><Relationship Id="rId1" Type="http://schemas.openxmlformats.org/officeDocument/2006/relationships/slideLayout" Target="../slideLayouts/slideLayout1.xml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6.xml"/><Relationship Id="rId1" Type="http://schemas.openxmlformats.org/officeDocument/2006/relationships/slideLayout" Target="../slideLayouts/slideLayout1.xml"/></Relationships>
</file>

<file path=ppt/slides/_rels/slide7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7.xml"/><Relationship Id="rId1" Type="http://schemas.openxmlformats.org/officeDocument/2006/relationships/slideLayout" Target="../slideLayouts/slideLayout1.xml"/></Relationships>
</file>

<file path=ppt/slides/_rels/slide7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8.xml"/><Relationship Id="rId1" Type="http://schemas.openxmlformats.org/officeDocument/2006/relationships/slideLayout" Target="../slideLayouts/slideLayout1.xml"/></Relationships>
</file>

<file path=ppt/slides/_rels/slide7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9.xml"/><Relationship Id="rId1" Type="http://schemas.openxmlformats.org/officeDocument/2006/relationships/slideLayout" Target="../slideLayouts/slideLayout1.xml"/></Relationships>
</file>

<file path=ppt/slides/_rels/slide8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0.xml"/><Relationship Id="rId1" Type="http://schemas.openxmlformats.org/officeDocument/2006/relationships/slideLayout" Target="../slideLayouts/slideLayout1.xml"/></Relationships>
</file>

<file path=ppt/slides/_rels/slide8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1.xml"/><Relationship Id="rId1" Type="http://schemas.openxmlformats.org/officeDocument/2006/relationships/slideLayout" Target="../slideLayouts/slideLayout1.xml"/></Relationships>
</file>

<file path=ppt/slides/_rels/slide8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2.xml"/><Relationship Id="rId1" Type="http://schemas.openxmlformats.org/officeDocument/2006/relationships/slideLayout" Target="../slideLayouts/slideLayout1.xml"/></Relationships>
</file>

<file path=ppt/slides/_rels/slide8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3.xml"/><Relationship Id="rId1" Type="http://schemas.openxmlformats.org/officeDocument/2006/relationships/slideLayout" Target="../slideLayouts/slideLayout1.xml"/></Relationships>
</file>

<file path=ppt/slides/_rels/slide8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4.xml"/><Relationship Id="rId1" Type="http://schemas.openxmlformats.org/officeDocument/2006/relationships/slideLayout" Target="../slideLayouts/slideLayout1.xml"/></Relationships>
</file>

<file path=ppt/slides/_rels/slide8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5.xml"/><Relationship Id="rId1" Type="http://schemas.openxmlformats.org/officeDocument/2006/relationships/slideLayout" Target="../slideLayouts/slideLayout1.xml"/></Relationships>
</file>

<file path=ppt/slides/_rels/slide8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6.xml"/><Relationship Id="rId1" Type="http://schemas.openxmlformats.org/officeDocument/2006/relationships/slideLayout" Target="../slideLayouts/slideLayout1.xml"/></Relationships>
</file>

<file path=ppt/slides/_rels/slide8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7.xml"/><Relationship Id="rId1" Type="http://schemas.openxmlformats.org/officeDocument/2006/relationships/slideLayout" Target="../slideLayouts/slideLayout1.xml"/></Relationships>
</file>

<file path=ppt/slides/_rels/slide8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8.xml"/><Relationship Id="rId1" Type="http://schemas.openxmlformats.org/officeDocument/2006/relationships/slideLayout" Target="../slideLayouts/slideLayout1.xml"/></Relationships>
</file>

<file path=ppt/slides/_rels/slide8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9.xml"/><Relationship Id="rId1" Type="http://schemas.openxmlformats.org/officeDocument/2006/relationships/slideLayout" Target="../slideLayouts/slideLayout1.xml"/></Relationships>
</file>

<file path=ppt/slides/_rels/slide9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0.xml"/><Relationship Id="rId1" Type="http://schemas.openxmlformats.org/officeDocument/2006/relationships/slideLayout" Target="../slideLayouts/slideLayout1.xml"/></Relationships>
</file>

<file path=ppt/slides/_rels/slide9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1.xml"/><Relationship Id="rId1" Type="http://schemas.openxmlformats.org/officeDocument/2006/relationships/slideLayout" Target="../slideLayouts/slideLayout1.xml"/></Relationships>
</file>

<file path=ppt/slides/_rels/slide9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2.xml"/><Relationship Id="rId1" Type="http://schemas.openxmlformats.org/officeDocument/2006/relationships/slideLayout" Target="../slideLayouts/slideLayout1.xml"/></Relationships>
</file>

<file path=ppt/slides/_rels/slide9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3.xml"/><Relationship Id="rId1" Type="http://schemas.openxmlformats.org/officeDocument/2006/relationships/slideLayout" Target="../slideLayouts/slideLayout1.xml"/></Relationships>
</file>

<file path=ppt/slides/_rels/slide9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4.xml"/><Relationship Id="rId1" Type="http://schemas.openxmlformats.org/officeDocument/2006/relationships/slideLayout" Target="../slideLayouts/slideLayout1.xml"/></Relationships>
</file>

<file path=ppt/slides/_rels/slide9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5.xml"/><Relationship Id="rId1" Type="http://schemas.openxmlformats.org/officeDocument/2006/relationships/slideLayout" Target="../slideLayouts/slideLayout1.xml"/></Relationships>
</file>

<file path=ppt/slides/_rels/slide9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6.xml"/><Relationship Id="rId1" Type="http://schemas.openxmlformats.org/officeDocument/2006/relationships/slideLayout" Target="../slideLayouts/slideLayout1.xml"/></Relationships>
</file>

<file path=ppt/slides/_rels/slide9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7.xml"/><Relationship Id="rId1" Type="http://schemas.openxmlformats.org/officeDocument/2006/relationships/slideLayout" Target="../slideLayouts/slideLayout1.xml"/></Relationships>
</file>

<file path=ppt/slides/_rels/slide9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8.xml"/><Relationship Id="rId1" Type="http://schemas.openxmlformats.org/officeDocument/2006/relationships/slideLayout" Target="../slideLayouts/slideLayout1.xml"/></Relationships>
</file>

<file path=ppt/slides/_rels/slide9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9.xml"/><Relationship Id="rId1" Type="http://schemas.openxmlformats.org/officeDocument/2006/relationships/slideLayout" Target="../slideLayouts/slideLayout1.xml"/></Relationships>
</file>

<file path=ppt/slides/_rels/slide10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0.xml"/><Relationship Id="rId1" Type="http://schemas.openxmlformats.org/officeDocument/2006/relationships/slideLayout" Target="../slideLayouts/slideLayout1.xml"/></Relationships>
</file>

<file path=ppt/slides/_rels/slide10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1.xml"/><Relationship Id="rId1" Type="http://schemas.openxmlformats.org/officeDocument/2006/relationships/slideLayout" Target="../slideLayouts/slideLayout1.xml"/></Relationships>
</file>

<file path=ppt/slides/_rels/slide10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2.xml"/><Relationship Id="rId1" Type="http://schemas.openxmlformats.org/officeDocument/2006/relationships/slideLayout" Target="../slideLayouts/slideLayout1.xml"/></Relationships>
</file>

<file path=ppt/slides/_rels/slide10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3.xml"/><Relationship Id="rId1" Type="http://schemas.openxmlformats.org/officeDocument/2006/relationships/slideLayout" Target="../slideLayouts/slideLayout1.xml"/></Relationships>
</file>

<file path=ppt/slides/_rels/slide10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4.xml"/><Relationship Id="rId1" Type="http://schemas.openxmlformats.org/officeDocument/2006/relationships/slideLayout" Target="../slideLayouts/slideLayout1.xml"/></Relationships>
</file>

<file path=ppt/slides/_rels/slide10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5.xml"/><Relationship Id="rId1" Type="http://schemas.openxmlformats.org/officeDocument/2006/relationships/slideLayout" Target="../slideLayouts/slideLayout1.xml"/></Relationships>
</file>

<file path=ppt/slides/_rels/slide10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6.xml"/><Relationship Id="rId1" Type="http://schemas.openxmlformats.org/officeDocument/2006/relationships/slideLayout" Target="../slideLayouts/slideLayout1.xml"/></Relationships>
</file>

<file path=ppt/slides/_rels/slide10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7.xml"/><Relationship Id="rId1" Type="http://schemas.openxmlformats.org/officeDocument/2006/relationships/slideLayout" Target="../slideLayouts/slideLayout1.xml"/></Relationships>
</file>

<file path=ppt/slides/_rels/slide10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8.xml"/><Relationship Id="rId1" Type="http://schemas.openxmlformats.org/officeDocument/2006/relationships/slideLayout" Target="../slideLayouts/slideLayout1.xml"/></Relationships>
</file>

<file path=ppt/slides/_rels/slide10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9.xml"/><Relationship Id="rId1" Type="http://schemas.openxmlformats.org/officeDocument/2006/relationships/slideLayout" Target="../slideLayouts/slideLayout1.xml"/></Relationships>
</file>

<file path=ppt/slides/_rels/slide1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0.xml"/><Relationship Id="rId1" Type="http://schemas.openxmlformats.org/officeDocument/2006/relationships/slideLayout" Target="../slideLayouts/slideLayout1.xml"/></Relationships>
</file>

<file path=ppt/slides/_rels/slide1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1.xml"/><Relationship Id="rId1" Type="http://schemas.openxmlformats.org/officeDocument/2006/relationships/slideLayout" Target="../slideLayouts/slideLayout1.xml"/></Relationships>
</file>

<file path=ppt/slides/_rels/slide1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2.xml"/><Relationship Id="rId1" Type="http://schemas.openxmlformats.org/officeDocument/2006/relationships/slideLayout" Target="../slideLayouts/slideLayout1.xml"/></Relationships>
</file>

<file path=ppt/slides/_rels/slide1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3.xml"/><Relationship Id="rId1" Type="http://schemas.openxmlformats.org/officeDocument/2006/relationships/slideLayout" Target="../slideLayouts/slideLayout1.xml"/></Relationships>
</file>

<file path=ppt/slides/_rels/slide1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4.xml"/><Relationship Id="rId1" Type="http://schemas.openxmlformats.org/officeDocument/2006/relationships/slideLayout" Target="../slideLayouts/slideLayout1.xml"/></Relationships>
</file>

<file path=ppt/slides/_rels/slide1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5.xml"/><Relationship Id="rId1" Type="http://schemas.openxmlformats.org/officeDocument/2006/relationships/slideLayout" Target="../slideLayouts/slideLayout1.xml"/></Relationships>
</file>

<file path=ppt/slides/_rels/slide1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220"/>
          </a:solidFill>
        </p:spPr>
        <p:txBody>
          <a:bodyPr/>
          <a:p/>
        </p:txBody>
      </p:sp>
      <p:sp>
        <p:nvSpPr>
          <p:cNvPr id="3" name="矩形 2"/>
          <p:cNvSpPr/>
          <p:nvPr/>
        </p:nvSpPr>
        <p:spPr>
          <a:xfrm>
            <a:off x="8763000" y="0"/>
            <a:ext cx="3429000" cy="6858000"/>
          </a:xfrm>
          <a:prstGeom prst="rect">
            <a:avLst/>
          </a:prstGeom>
          <a:gradFill>
            <a:gsLst>
              <a:gs pos="0">
                <a:srgbClr val="38BDF8">
                  <a:alpha val="9000"/>
                </a:srgbClr>
              </a:gs>
              <a:gs pos="100000">
                <a:srgbClr val="22D3EE">
                  <a:alpha val="9000"/>
                </a:srgbClr>
              </a:gs>
            </a:gsLst>
            <a:lin ang="2700000" scaled="1"/>
          </a:gradFill>
        </p:spPr>
        <p:txBody>
          <a:bodyPr/>
          <a:p/>
        </p:txBody>
      </p:sp>
      <p:sp>
        <p:nvSpPr>
          <p:cNvPr id="4" name="矩形 3"/>
          <p:cNvSpPr/>
          <p:nvPr/>
        </p:nvSpPr>
        <p:spPr>
          <a:xfrm>
            <a:off x="12134850" y="0"/>
            <a:ext cx="57150" cy="6858000"/>
          </a:xfrm>
          <a:prstGeom prst="rect">
            <a:avLst/>
          </a:prstGeom>
          <a:gradFill>
            <a:gsLst>
              <a:gs pos="0">
                <a:srgbClr val="38BDF8"/>
              </a:gs>
              <a:gs pos="100000">
                <a:srgbClr val="22D3EE"/>
              </a:gs>
            </a:gsLst>
            <a:lin ang="2700000" scaled="1"/>
          </a:gradFill>
        </p:spPr>
        <p:txBody>
          <a:bodyPr/>
          <a:p/>
        </p:txBody>
      </p:sp>
      <p:sp>
        <p:nvSpPr>
          <p:cNvPr id="5" name="矩形 4"/>
          <p:cNvSpPr/>
          <p:nvPr/>
        </p:nvSpPr>
        <p:spPr>
          <a:xfrm>
            <a:off x="0" y="0"/>
            <a:ext cx="57150" cy="6858000"/>
          </a:xfrm>
          <a:prstGeom prst="rect">
            <a:avLst/>
          </a:prstGeom>
          <a:solidFill>
            <a:srgbClr val="1E293B"/>
          </a:solidFill>
        </p:spPr>
        <p:txBody>
          <a:bodyPr/>
          <a:p/>
        </p:txBody>
      </p:sp>
      <p:sp>
        <p:nvSpPr>
          <p:cNvPr id="6" name="矩形 5"/>
          <p:cNvSpPr/>
          <p:nvPr/>
        </p:nvSpPr>
        <p:spPr>
          <a:xfrm>
            <a:off x="952500" y="1066800"/>
            <a:ext cx="38100" cy="400050"/>
          </a:xfrm>
          <a:prstGeom prst="rect">
            <a:avLst/>
          </a:prstGeom>
          <a:solidFill>
            <a:srgbClr val="38BDF8"/>
          </a:solidFill>
        </p:spPr>
        <p:txBody>
          <a:bodyPr/>
          <a:p/>
        </p:txBody>
      </p:sp>
      <p:sp>
        <p:nvSpPr>
          <p:cNvPr id="7" name="文本框 6" descr="{&quot;isTemplate&quot;:true,&quot;type&quot;:&quot;text&quot;}"/>
          <p:cNvSpPr txBox="1"/>
          <p:nvPr/>
        </p:nvSpPr>
        <p:spPr>
          <a:xfrm>
            <a:off x="1143000" y="1162050"/>
            <a:ext cx="4762500" cy="2000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 spc="37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CANGJIE ECOSYSTEM · SERVER TOOLKIT</a:t>
            </a:r>
            <a:endParaRPr lang="en-US" sz="1275" spc="375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" name="文本框 7" descr="{&quot;isTemplate&quot;:true,&quot;type&quot;:&quot;text&quot;}"/>
          <p:cNvSpPr txBox="1"/>
          <p:nvPr/>
        </p:nvSpPr>
        <p:spPr>
          <a:xfrm>
            <a:off x="952500" y="1733550"/>
            <a:ext cx="2781300" cy="8572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10000"/>
              </a:lnSpc>
            </a:pPr>
            <a:r>
              <a:rPr lang="en-US" sz="51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fountain</a:t>
            </a:r>
            <a:endParaRPr lang="en-US" sz="51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" name="文本框 8" descr="{&quot;isTemplate&quot;:true,&quot;type&quot;:&quot;text&quot;}"/>
          <p:cNvSpPr txBox="1"/>
          <p:nvPr/>
        </p:nvSpPr>
        <p:spPr>
          <a:xfrm>
            <a:off x="952500" y="2590800"/>
            <a:ext cx="3962400" cy="4762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2400" b="1">
                <a:solidFill>
                  <a:srgbClr val="38BDF8"/>
                </a:solidFill>
                <a:latin typeface="微软雅黑" panose="020B0503020204020204" charset="-122"/>
                <a:ea typeface="微软雅黑" panose="020B0503020204020204" charset="-122"/>
              </a:rPr>
              <a:t>一站式服务器应用开发工具库</a:t>
            </a:r>
            <a:endParaRPr lang="zh-CN" sz="2400" b="1">
              <a:solidFill>
                <a:srgbClr val="38BDF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952500" y="3238500"/>
            <a:ext cx="4953000" cy="9525"/>
          </a:xfrm>
          <a:prstGeom prst="rect">
            <a:avLst/>
          </a:prstGeom>
          <a:solidFill>
            <a:srgbClr val="1E293B"/>
          </a:solidFill>
        </p:spPr>
        <p:txBody>
          <a:bodyPr/>
          <a:p/>
        </p:txBody>
      </p:sp>
      <p:sp>
        <p:nvSpPr>
          <p:cNvPr id="11" name="文本框 10" descr="{&quot;isTemplate&quot;:true,&quot;type&quot;:&quot;text&quot;}"/>
          <p:cNvSpPr txBox="1"/>
          <p:nvPr/>
        </p:nvSpPr>
        <p:spPr>
          <a:xfrm>
            <a:off x="952500" y="3543300"/>
            <a:ext cx="3886200" cy="4000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90000"/>
              </a:lnSpc>
            </a:pPr>
            <a:r>
              <a:rPr lang="zh-CN" sz="135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没有配置文件</a:t>
            </a:r>
            <a:r>
              <a:rPr lang="en-US" sz="135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 · </a:t>
            </a:r>
            <a:r>
              <a:rPr lang="zh-CN" sz="135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没有</a:t>
            </a:r>
            <a:r>
              <a:rPr lang="en-US" sz="135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 main </a:t>
            </a:r>
            <a:r>
              <a:rPr lang="zh-CN" sz="135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函数</a:t>
            </a:r>
            <a:r>
              <a:rPr lang="en-US" sz="135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 · </a:t>
            </a:r>
            <a:r>
              <a:rPr lang="zh-CN" sz="135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业务代码只有业务</a:t>
            </a:r>
            <a:endParaRPr lang="zh-CN" sz="1350">
              <a:solidFill>
                <a:srgbClr val="E2E8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" name="文本框 11" descr="{&quot;isTemplate&quot;:true,&quot;type&quot;:&quot;text&quot;}"/>
          <p:cNvSpPr txBox="1"/>
          <p:nvPr/>
        </p:nvSpPr>
        <p:spPr>
          <a:xfrm>
            <a:off x="952500" y="3905250"/>
            <a:ext cx="4486275" cy="3333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90000"/>
              </a:lnSpc>
            </a:pPr>
            <a:r>
              <a:rPr lang="zh-CN" sz="112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配套示例工程</a:t>
            </a:r>
            <a:r>
              <a:rPr lang="en-US" sz="112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 fdemo</a:t>
            </a:r>
            <a:r>
              <a:rPr lang="zh-CN" sz="112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　</a:t>
            </a:r>
            <a:r>
              <a:rPr lang="en-US" sz="112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|</a:t>
            </a:r>
            <a:r>
              <a:rPr lang="zh-CN" sz="112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　核心链路</a:t>
            </a:r>
            <a:r>
              <a:rPr lang="en-US" sz="112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 10 </a:t>
            </a:r>
            <a:r>
              <a:rPr lang="zh-CN" sz="112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章　</a:t>
            </a:r>
            <a:r>
              <a:rPr lang="en-US" sz="112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|</a:t>
            </a:r>
            <a:r>
              <a:rPr lang="zh-CN" sz="112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　建议时长</a:t>
            </a:r>
            <a:r>
              <a:rPr lang="en-US" sz="112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 155–185 </a:t>
            </a:r>
            <a:r>
              <a:rPr lang="zh-CN" sz="112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分钟</a:t>
            </a:r>
            <a:endParaRPr lang="zh-CN" sz="112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" name="文本框 12" descr="{&quot;isTemplate&quot;:true,&quot;type&quot;:&quot;text&quot;}"/>
          <p:cNvSpPr txBox="1"/>
          <p:nvPr/>
        </p:nvSpPr>
        <p:spPr>
          <a:xfrm>
            <a:off x="952500" y="4762500"/>
            <a:ext cx="942975" cy="6477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4200" b="1">
                <a:solidFill>
                  <a:srgbClr val="F59E0B"/>
                </a:solidFill>
                <a:latin typeface="JetBrains Mono"/>
                <a:ea typeface="JetBrains Mono"/>
              </a:rPr>
              <a:t>40+</a:t>
            </a:r>
            <a:endParaRPr lang="en-US" sz="4200" b="1">
              <a:solidFill>
                <a:srgbClr val="F59E0B"/>
              </a:solidFill>
              <a:latin typeface="JetBrains Mono"/>
              <a:ea typeface="JetBrains Mono"/>
            </a:endParaRPr>
          </a:p>
        </p:txBody>
      </p:sp>
      <p:sp>
        <p:nvSpPr>
          <p:cNvPr id="14" name="文本框 13" descr="{&quot;isTemplate&quot;:true,&quot;type&quot;:&quot;text&quot;}"/>
          <p:cNvSpPr txBox="1"/>
          <p:nvPr/>
        </p:nvSpPr>
        <p:spPr>
          <a:xfrm>
            <a:off x="952500" y="5486400"/>
            <a:ext cx="942975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功能模块</a:t>
            </a:r>
            <a:endParaRPr lang="zh-CN" sz="1050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" name="文本框 14" descr="{&quot;isTemplate&quot;:true,&quot;type&quot;:&quot;text&quot;}"/>
          <p:cNvSpPr txBox="1"/>
          <p:nvPr/>
        </p:nvSpPr>
        <p:spPr>
          <a:xfrm>
            <a:off x="2428875" y="4762500"/>
            <a:ext cx="800100" cy="6477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4200" b="1">
                <a:solidFill>
                  <a:srgbClr val="38BDF8"/>
                </a:solidFill>
                <a:latin typeface="JetBrains Mono"/>
                <a:ea typeface="JetBrains Mono"/>
              </a:rPr>
              <a:t>0</a:t>
            </a:r>
            <a:endParaRPr lang="en-US" sz="4200" b="1">
              <a:solidFill>
                <a:srgbClr val="38BDF8"/>
              </a:solidFill>
              <a:latin typeface="JetBrains Mono"/>
              <a:ea typeface="JetBrains Mono"/>
            </a:endParaRPr>
          </a:p>
        </p:txBody>
      </p:sp>
      <p:sp>
        <p:nvSpPr>
          <p:cNvPr id="16" name="文本框 15" descr="{&quot;isTemplate&quot;:true,&quot;type&quot;:&quot;text&quot;}"/>
          <p:cNvSpPr txBox="1"/>
          <p:nvPr/>
        </p:nvSpPr>
        <p:spPr>
          <a:xfrm>
            <a:off x="2428875" y="5486400"/>
            <a:ext cx="800100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配置文件数量</a:t>
            </a:r>
            <a:endParaRPr lang="zh-CN" sz="1050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7" name="文本框 16" descr="{&quot;isTemplate&quot;:true,&quot;type&quot;:&quot;text&quot;}"/>
          <p:cNvSpPr txBox="1"/>
          <p:nvPr/>
        </p:nvSpPr>
        <p:spPr>
          <a:xfrm>
            <a:off x="3762375" y="4762500"/>
            <a:ext cx="800100" cy="6477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4200" b="1">
                <a:solidFill>
                  <a:srgbClr val="22D3EE"/>
                </a:solidFill>
                <a:latin typeface="JetBrains Mono"/>
                <a:ea typeface="JetBrains Mono"/>
              </a:rPr>
              <a:t>4</a:t>
            </a:r>
            <a:endParaRPr lang="en-US" sz="4200" b="1">
              <a:solidFill>
                <a:srgbClr val="22D3EE"/>
              </a:solidFill>
              <a:latin typeface="JetBrains Mono"/>
              <a:ea typeface="JetBrains Mono"/>
            </a:endParaRPr>
          </a:p>
        </p:txBody>
      </p:sp>
      <p:sp>
        <p:nvSpPr>
          <p:cNvPr id="18" name="文本框 17" descr="{&quot;isTemplate&quot;:true,&quot;type&quot;:&quot;text&quot;}"/>
          <p:cNvSpPr txBox="1"/>
          <p:nvPr/>
        </p:nvSpPr>
        <p:spPr>
          <a:xfrm>
            <a:off x="3762375" y="5486400"/>
            <a:ext cx="800100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配置来源层级</a:t>
            </a:r>
            <a:endParaRPr lang="zh-CN" sz="1050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78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1" name="矩形 78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220"/>
          </a:solidFill>
        </p:spPr>
        <p:txBody>
          <a:bodyPr/>
          <a:p/>
        </p:txBody>
      </p:sp>
      <p:sp>
        <p:nvSpPr>
          <p:cNvPr id="782" name="矩形 781"/>
          <p:cNvSpPr/>
          <p:nvPr/>
        </p:nvSpPr>
        <p:spPr>
          <a:xfrm>
            <a:off x="609600" y="476250"/>
            <a:ext cx="38100" cy="381000"/>
          </a:xfrm>
          <a:prstGeom prst="rect">
            <a:avLst/>
          </a:prstGeom>
          <a:solidFill>
            <a:srgbClr val="38BDF8"/>
          </a:solidFill>
        </p:spPr>
        <p:txBody>
          <a:bodyPr/>
          <a:p/>
        </p:txBody>
      </p:sp>
      <p:sp>
        <p:nvSpPr>
          <p:cNvPr id="783" name="文本框 782" descr="{&quot;isTemplate&quot;:true,&quot;type&quot;:&quot;text&quot;}"/>
          <p:cNvSpPr txBox="1"/>
          <p:nvPr/>
        </p:nvSpPr>
        <p:spPr>
          <a:xfrm>
            <a:off x="819150" y="304800"/>
            <a:ext cx="9477375" cy="2095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课程结构</a:t>
            </a: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 · 18 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章</a:t>
            </a: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 / 4 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大板块</a:t>
            </a: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 / 116 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页</a:t>
            </a:r>
            <a:endParaRPr lang="zh-CN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84" name="文本框 783" descr="{&quot;isTemplate&quot;:true,&quot;type&quot;:&quot;text&quot;}"/>
          <p:cNvSpPr txBox="1"/>
          <p:nvPr/>
        </p:nvSpPr>
        <p:spPr>
          <a:xfrm>
            <a:off x="819150" y="514350"/>
            <a:ext cx="9477375" cy="5143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2550" b="1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目录</a:t>
            </a:r>
            <a:endParaRPr lang="zh-CN" sz="2550" b="1">
              <a:solidFill>
                <a:srgbClr val="E2E8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85" name="文本框 784" descr="{&quot;isTemplate&quot;:true,&quot;type&quot;:&quot;text&quot;}"/>
          <p:cNvSpPr txBox="1"/>
          <p:nvPr/>
        </p:nvSpPr>
        <p:spPr>
          <a:xfrm>
            <a:off x="10467975" y="590550"/>
            <a:ext cx="1114425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建议按板块裁剪录制</a:t>
            </a:r>
            <a:endParaRPr lang="zh-CN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86" name="圆角矩形 785"/>
          <p:cNvSpPr/>
          <p:nvPr/>
        </p:nvSpPr>
        <p:spPr>
          <a:xfrm>
            <a:off x="609600" y="1143000"/>
            <a:ext cx="5410200" cy="2495550"/>
          </a:xfrm>
          <a:prstGeom prst="roundRect">
            <a:avLst>
              <a:gd name="adj" fmla="val 4580"/>
            </a:avLst>
          </a:prstGeom>
          <a:solidFill>
            <a:srgbClr val="111C2E"/>
          </a:solidFill>
          <a:ln w="12700">
            <a:solidFill>
              <a:srgbClr val="1E293B"/>
            </a:solidFill>
            <a:prstDash val="solid"/>
          </a:ln>
        </p:spPr>
        <p:txBody>
          <a:bodyPr/>
          <a:p/>
        </p:txBody>
      </p:sp>
      <p:sp>
        <p:nvSpPr>
          <p:cNvPr id="787" name="文本框 786" descr="{&quot;isTemplate&quot;:true,&quot;type&quot;:&quot;text&quot;}"/>
          <p:cNvSpPr txBox="1"/>
          <p:nvPr/>
        </p:nvSpPr>
        <p:spPr>
          <a:xfrm>
            <a:off x="838200" y="1371600"/>
            <a:ext cx="495300" cy="5048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3300" b="1">
                <a:solidFill>
                  <a:srgbClr val="38BDF8"/>
                </a:solidFill>
                <a:latin typeface="JetBrains Mono"/>
                <a:ea typeface="JetBrains Mono"/>
              </a:rPr>
              <a:t>01</a:t>
            </a:r>
            <a:endParaRPr lang="en-US" sz="3300" b="1">
              <a:solidFill>
                <a:srgbClr val="38BDF8"/>
              </a:solidFill>
              <a:latin typeface="JetBrains Mono"/>
              <a:ea typeface="JetBrains Mono"/>
            </a:endParaRPr>
          </a:p>
        </p:txBody>
      </p:sp>
      <p:sp>
        <p:nvSpPr>
          <p:cNvPr id="788" name="文本框 787" descr="{&quot;isTemplate&quot;:true,&quot;type&quot;:&quot;text&quot;}"/>
          <p:cNvSpPr txBox="1"/>
          <p:nvPr/>
        </p:nvSpPr>
        <p:spPr>
          <a:xfrm>
            <a:off x="1466850" y="1371600"/>
            <a:ext cx="1047750" cy="5048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总览与启动</a:t>
            </a:r>
            <a:endParaRPr lang="zh-CN" sz="1650" b="1">
              <a:solidFill>
                <a:srgbClr val="E2E8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89" name="文本框 788" descr="{&quot;isTemplate&quot;:true,&quot;type&quot;:&quot;text&quot;}"/>
          <p:cNvSpPr txBox="1"/>
          <p:nvPr/>
        </p:nvSpPr>
        <p:spPr>
          <a:xfrm>
            <a:off x="838200" y="2009775"/>
            <a:ext cx="4953000" cy="590550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zh-CN" sz="112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为什么用</a:t>
            </a:r>
            <a:r>
              <a:rPr lang="en-US" sz="112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fountain · </a:t>
            </a:r>
            <a:r>
              <a:rPr lang="zh-CN" sz="112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三个反直觉的设计决策</a:t>
            </a:r>
            <a:r>
              <a:rPr lang="en-US" sz="112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· </a:t>
            </a:r>
            <a:r>
              <a:rPr lang="zh-CN" sz="112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环境准备</a:t>
            </a:r>
            <a:r>
              <a:rPr lang="en-US" sz="112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· fboot </a:t>
            </a:r>
            <a:r>
              <a:rPr lang="zh-CN" sz="112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整套命令行</a:t>
            </a:r>
            <a:r>
              <a:rPr lang="en-US" sz="112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· f_config </a:t>
            </a:r>
            <a:r>
              <a:rPr lang="zh-CN" sz="112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四级配置</a:t>
            </a:r>
            <a:r>
              <a:rPr lang="en-US" sz="112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· </a:t>
            </a:r>
            <a:r>
              <a:rPr lang="zh-CN" sz="112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跑通</a:t>
            </a:r>
            <a:r>
              <a:rPr lang="en-US" sz="112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fdemo</a:t>
            </a:r>
            <a:endParaRPr lang="en-US" sz="1125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90" name="文本框 789" descr="{&quot;isTemplate&quot;:true,&quot;type&quot;:&quot;text&quot;}"/>
          <p:cNvSpPr txBox="1"/>
          <p:nvPr/>
        </p:nvSpPr>
        <p:spPr>
          <a:xfrm>
            <a:off x="838200" y="3248025"/>
            <a:ext cx="4953000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第</a:t>
            </a:r>
            <a:r>
              <a:rPr lang="en-US" sz="105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 1–5 </a:t>
            </a:r>
            <a:r>
              <a:rPr lang="zh-CN" sz="105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章　·　对应第</a:t>
            </a:r>
            <a:r>
              <a:rPr lang="en-US" sz="105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 06–35 </a:t>
            </a:r>
            <a:r>
              <a:rPr lang="zh-CN" sz="105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页</a:t>
            </a:r>
            <a:endParaRPr lang="zh-CN" sz="105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91" name="圆角矩形 790"/>
          <p:cNvSpPr/>
          <p:nvPr/>
        </p:nvSpPr>
        <p:spPr>
          <a:xfrm>
            <a:off x="609600" y="3790950"/>
            <a:ext cx="5410200" cy="2495550"/>
          </a:xfrm>
          <a:prstGeom prst="roundRect">
            <a:avLst>
              <a:gd name="adj" fmla="val 4580"/>
            </a:avLst>
          </a:prstGeom>
          <a:solidFill>
            <a:srgbClr val="111C2E"/>
          </a:solidFill>
          <a:ln w="12700">
            <a:solidFill>
              <a:srgbClr val="1E293B"/>
            </a:solidFill>
            <a:prstDash val="solid"/>
          </a:ln>
        </p:spPr>
        <p:txBody>
          <a:bodyPr/>
          <a:p/>
        </p:txBody>
      </p:sp>
      <p:sp>
        <p:nvSpPr>
          <p:cNvPr id="792" name="文本框 791" descr="{&quot;isTemplate&quot;:true,&quot;type&quot;:&quot;text&quot;}"/>
          <p:cNvSpPr txBox="1"/>
          <p:nvPr/>
        </p:nvSpPr>
        <p:spPr>
          <a:xfrm>
            <a:off x="838200" y="4019550"/>
            <a:ext cx="495300" cy="5048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3300" b="1">
                <a:solidFill>
                  <a:srgbClr val="22D3EE"/>
                </a:solidFill>
                <a:latin typeface="JetBrains Mono"/>
                <a:ea typeface="JetBrains Mono"/>
              </a:rPr>
              <a:t>02</a:t>
            </a:r>
            <a:endParaRPr lang="en-US" sz="3300" b="1">
              <a:solidFill>
                <a:srgbClr val="22D3EE"/>
              </a:solidFill>
              <a:latin typeface="JetBrains Mono"/>
              <a:ea typeface="JetBrains Mono"/>
            </a:endParaRPr>
          </a:p>
        </p:txBody>
      </p:sp>
      <p:sp>
        <p:nvSpPr>
          <p:cNvPr id="793" name="文本框 792" descr="{&quot;isTemplate&quot;:true,&quot;type&quot;:&quot;text&quot;}"/>
          <p:cNvSpPr txBox="1"/>
          <p:nvPr/>
        </p:nvSpPr>
        <p:spPr>
          <a:xfrm>
            <a:off x="1466850" y="4019550"/>
            <a:ext cx="838200" cy="5048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框架核心</a:t>
            </a:r>
            <a:endParaRPr lang="zh-CN" sz="1650" b="1">
              <a:solidFill>
                <a:srgbClr val="E2E8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94" name="文本框 793" descr="{&quot;isTemplate&quot;:true,&quot;type&quot;:&quot;text&quot;}"/>
          <p:cNvSpPr txBox="1"/>
          <p:nvPr/>
        </p:nvSpPr>
        <p:spPr>
          <a:xfrm>
            <a:off x="838200" y="4657725"/>
            <a:ext cx="4953000" cy="590550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en-US" sz="112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f_bean </a:t>
            </a:r>
            <a:r>
              <a:rPr lang="zh-CN" sz="112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的</a:t>
            </a:r>
            <a:r>
              <a:rPr lang="en-US" sz="112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lookup </a:t>
            </a:r>
            <a:r>
              <a:rPr lang="zh-CN" sz="112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家族与条件装配</a:t>
            </a:r>
            <a:r>
              <a:rPr lang="en-US" sz="112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· f_aspect </a:t>
            </a:r>
            <a:r>
              <a:rPr lang="zh-CN" sz="112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的织入规则</a:t>
            </a:r>
            <a:r>
              <a:rPr lang="en-US" sz="112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· f_data </a:t>
            </a:r>
            <a:r>
              <a:rPr lang="zh-CN" sz="112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的统一数据模型</a:t>
            </a:r>
            <a:r>
              <a:rPr lang="en-US" sz="112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· f_util </a:t>
            </a:r>
            <a:r>
              <a:rPr lang="zh-CN" sz="112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工具箱</a:t>
            </a:r>
            <a:r>
              <a:rPr lang="en-US" sz="112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· f_mvc </a:t>
            </a:r>
            <a:r>
              <a:rPr lang="zh-CN" sz="112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路由与参数绑定</a:t>
            </a:r>
            <a:r>
              <a:rPr lang="en-US" sz="112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· f_http </a:t>
            </a:r>
            <a:r>
              <a:rPr lang="zh-CN" sz="112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的</a:t>
            </a:r>
            <a:r>
              <a:rPr lang="en-US" sz="112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MediaType</a:t>
            </a:r>
            <a:endParaRPr lang="en-US" sz="1125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95" name="文本框 794" descr="{&quot;isTemplate&quot;:true,&quot;type&quot;:&quot;text&quot;}"/>
          <p:cNvSpPr txBox="1"/>
          <p:nvPr/>
        </p:nvSpPr>
        <p:spPr>
          <a:xfrm>
            <a:off x="838200" y="5895975"/>
            <a:ext cx="4953000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第</a:t>
            </a:r>
            <a:r>
              <a:rPr lang="en-US" sz="105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 6–11 </a:t>
            </a:r>
            <a:r>
              <a:rPr lang="zh-CN" sz="105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章　·　对应第</a:t>
            </a:r>
            <a:r>
              <a:rPr lang="en-US" sz="105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 37–74 </a:t>
            </a:r>
            <a:r>
              <a:rPr lang="zh-CN" sz="105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页</a:t>
            </a:r>
            <a:endParaRPr lang="zh-CN" sz="105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96" name="圆角矩形 795"/>
          <p:cNvSpPr/>
          <p:nvPr/>
        </p:nvSpPr>
        <p:spPr>
          <a:xfrm>
            <a:off x="6172200" y="1143000"/>
            <a:ext cx="5410200" cy="2495550"/>
          </a:xfrm>
          <a:prstGeom prst="roundRect">
            <a:avLst>
              <a:gd name="adj" fmla="val 4580"/>
            </a:avLst>
          </a:prstGeom>
          <a:solidFill>
            <a:srgbClr val="111C2E"/>
          </a:solidFill>
          <a:ln w="12700">
            <a:solidFill>
              <a:srgbClr val="1E293B"/>
            </a:solidFill>
            <a:prstDash val="solid"/>
          </a:ln>
        </p:spPr>
        <p:txBody>
          <a:bodyPr/>
          <a:p/>
        </p:txBody>
      </p:sp>
      <p:sp>
        <p:nvSpPr>
          <p:cNvPr id="797" name="文本框 796" descr="{&quot;isTemplate&quot;:true,&quot;type&quot;:&quot;text&quot;}"/>
          <p:cNvSpPr txBox="1"/>
          <p:nvPr/>
        </p:nvSpPr>
        <p:spPr>
          <a:xfrm>
            <a:off x="6400800" y="1371600"/>
            <a:ext cx="495300" cy="5048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3300" b="1">
                <a:solidFill>
                  <a:srgbClr val="38BDF8"/>
                </a:solidFill>
                <a:latin typeface="JetBrains Mono"/>
                <a:ea typeface="JetBrains Mono"/>
              </a:rPr>
              <a:t>03</a:t>
            </a:r>
            <a:endParaRPr lang="en-US" sz="3300" b="1">
              <a:solidFill>
                <a:srgbClr val="38BDF8"/>
              </a:solidFill>
              <a:latin typeface="JetBrains Mono"/>
              <a:ea typeface="JetBrains Mono"/>
            </a:endParaRPr>
          </a:p>
        </p:txBody>
      </p:sp>
      <p:sp>
        <p:nvSpPr>
          <p:cNvPr id="798" name="文本框 797" descr="{&quot;isTemplate&quot;:true,&quot;type&quot;:&quot;text&quot;}"/>
          <p:cNvSpPr txBox="1"/>
          <p:nvPr/>
        </p:nvSpPr>
        <p:spPr>
          <a:xfrm>
            <a:off x="7029450" y="1371600"/>
            <a:ext cx="1047750" cy="5048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数据与安全</a:t>
            </a:r>
            <a:endParaRPr lang="zh-CN" sz="1650" b="1">
              <a:solidFill>
                <a:srgbClr val="E2E8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99" name="文本框 798" descr="{&quot;isTemplate&quot;:true,&quot;type&quot;:&quot;text&quot;}"/>
          <p:cNvSpPr txBox="1"/>
          <p:nvPr/>
        </p:nvSpPr>
        <p:spPr>
          <a:xfrm>
            <a:off x="6400800" y="2009775"/>
            <a:ext cx="4953000" cy="590550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en-US" sz="112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f_orm </a:t>
            </a:r>
            <a:r>
              <a:rPr lang="zh-CN" sz="112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的</a:t>
            </a:r>
            <a:r>
              <a:rPr lang="en-US" sz="112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PO / DAO / Service </a:t>
            </a:r>
            <a:r>
              <a:rPr lang="zh-CN" sz="112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三角色</a:t>
            </a:r>
            <a:r>
              <a:rPr lang="en-US" sz="112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· </a:t>
            </a:r>
            <a:r>
              <a:rPr lang="zh-CN" sz="112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三种构造</a:t>
            </a:r>
            <a:r>
              <a:rPr lang="en-US" sz="112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SQL </a:t>
            </a:r>
            <a:r>
              <a:rPr lang="zh-CN" sz="112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的方式</a:t>
            </a:r>
            <a:r>
              <a:rPr lang="en-US" sz="112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· </a:t>
            </a:r>
            <a:r>
              <a:rPr lang="zh-CN" sz="112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分页与方言</a:t>
            </a:r>
            <a:r>
              <a:rPr lang="en-US" sz="112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· </a:t>
            </a:r>
            <a:r>
              <a:rPr lang="zh-CN" sz="112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事务三种开启方式与事务钩子</a:t>
            </a:r>
            <a:r>
              <a:rPr lang="en-US" sz="112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· f_security + f_jwt · f_ticktock</a:t>
            </a:r>
            <a:endParaRPr lang="en-US" sz="1125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00" name="文本框 799" descr="{&quot;isTemplate&quot;:true,&quot;type&quot;:&quot;text&quot;}"/>
          <p:cNvSpPr txBox="1"/>
          <p:nvPr/>
        </p:nvSpPr>
        <p:spPr>
          <a:xfrm>
            <a:off x="6400800" y="3248025"/>
            <a:ext cx="4953000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第</a:t>
            </a:r>
            <a:r>
              <a:rPr lang="en-US" sz="105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 12–14 </a:t>
            </a:r>
            <a:r>
              <a:rPr lang="zh-CN" sz="105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章　·　对应第</a:t>
            </a:r>
            <a:r>
              <a:rPr lang="en-US" sz="105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 76–92 </a:t>
            </a:r>
            <a:r>
              <a:rPr lang="zh-CN" sz="105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页</a:t>
            </a:r>
            <a:endParaRPr lang="zh-CN" sz="105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01" name="圆角矩形 800"/>
          <p:cNvSpPr/>
          <p:nvPr/>
        </p:nvSpPr>
        <p:spPr>
          <a:xfrm>
            <a:off x="6172200" y="3790950"/>
            <a:ext cx="5410200" cy="2495550"/>
          </a:xfrm>
          <a:prstGeom prst="roundRect">
            <a:avLst>
              <a:gd name="adj" fmla="val 4580"/>
            </a:avLst>
          </a:prstGeom>
          <a:solidFill>
            <a:srgbClr val="111C2E"/>
          </a:solidFill>
          <a:ln w="12700">
            <a:solidFill>
              <a:srgbClr val="1E293B"/>
            </a:solidFill>
            <a:prstDash val="solid"/>
          </a:ln>
        </p:spPr>
        <p:txBody>
          <a:bodyPr/>
          <a:p/>
        </p:txBody>
      </p:sp>
      <p:sp>
        <p:nvSpPr>
          <p:cNvPr id="802" name="文本框 801" descr="{&quot;isTemplate&quot;:true,&quot;type&quot;:&quot;text&quot;}"/>
          <p:cNvSpPr txBox="1"/>
          <p:nvPr/>
        </p:nvSpPr>
        <p:spPr>
          <a:xfrm>
            <a:off x="6400800" y="4019550"/>
            <a:ext cx="495300" cy="5048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3300" b="1">
                <a:solidFill>
                  <a:srgbClr val="F59E0B"/>
                </a:solidFill>
                <a:latin typeface="JetBrains Mono"/>
                <a:ea typeface="JetBrains Mono"/>
              </a:rPr>
              <a:t>04</a:t>
            </a:r>
            <a:endParaRPr lang="en-US" sz="3300" b="1">
              <a:solidFill>
                <a:srgbClr val="F59E0B"/>
              </a:solidFill>
              <a:latin typeface="JetBrains Mono"/>
              <a:ea typeface="JetBrains Mono"/>
            </a:endParaRPr>
          </a:p>
        </p:txBody>
      </p:sp>
      <p:sp>
        <p:nvSpPr>
          <p:cNvPr id="803" name="文本框 802" descr="{&quot;isTemplate&quot;:true,&quot;type&quot;:&quot;text&quot;}"/>
          <p:cNvSpPr txBox="1"/>
          <p:nvPr/>
        </p:nvSpPr>
        <p:spPr>
          <a:xfrm>
            <a:off x="7029450" y="4019550"/>
            <a:ext cx="1676400" cy="5048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日志、串讲与底座</a:t>
            </a:r>
            <a:endParaRPr lang="zh-CN" sz="1650" b="1">
              <a:solidFill>
                <a:srgbClr val="E2E8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04" name="文本框 803" descr="{&quot;isTemplate&quot;:true,&quot;type&quot;:&quot;text&quot;}"/>
          <p:cNvSpPr txBox="1"/>
          <p:nvPr/>
        </p:nvSpPr>
        <p:spPr>
          <a:xfrm>
            <a:off x="6400800" y="4657725"/>
            <a:ext cx="4953000" cy="590550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en-US" sz="112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f_log </a:t>
            </a:r>
            <a:r>
              <a:rPr lang="zh-CN" sz="112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三条纪律与一条日志的旅程</a:t>
            </a:r>
            <a:r>
              <a:rPr lang="en-US" sz="112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· </a:t>
            </a:r>
            <a:r>
              <a:rPr lang="zh-CN" sz="112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一次请求穿过整个框架</a:t>
            </a:r>
            <a:r>
              <a:rPr lang="en-US" sz="112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· </a:t>
            </a:r>
            <a:r>
              <a:rPr lang="zh-CN" sz="112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运行时基础设施九个模块</a:t>
            </a:r>
            <a:r>
              <a:rPr lang="en-US" sz="112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· </a:t>
            </a:r>
            <a:r>
              <a:rPr lang="zh-CN" sz="112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二十二个高频坑与预设</a:t>
            </a:r>
            <a:r>
              <a:rPr lang="en-US" sz="112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Q&amp;A · </a:t>
            </a:r>
            <a:r>
              <a:rPr lang="zh-CN" sz="112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三张速查表</a:t>
            </a:r>
            <a:endParaRPr lang="zh-CN" sz="1125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05" name="文本框 804" descr="{&quot;isTemplate&quot;:true,&quot;type&quot;:&quot;text&quot;}"/>
          <p:cNvSpPr txBox="1"/>
          <p:nvPr/>
        </p:nvSpPr>
        <p:spPr>
          <a:xfrm>
            <a:off x="6400800" y="5895975"/>
            <a:ext cx="4953000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第</a:t>
            </a:r>
            <a:r>
              <a:rPr lang="en-US" sz="105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 15–18 </a:t>
            </a:r>
            <a:r>
              <a:rPr lang="zh-CN" sz="105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章</a:t>
            </a:r>
            <a:r>
              <a:rPr lang="en-US" sz="105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 + </a:t>
            </a:r>
            <a:r>
              <a:rPr lang="zh-CN" sz="105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附录　·　对应第</a:t>
            </a:r>
            <a:r>
              <a:rPr lang="en-US" sz="105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 94–115 </a:t>
            </a:r>
            <a:r>
              <a:rPr lang="zh-CN" sz="105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页</a:t>
            </a:r>
            <a:endParaRPr lang="zh-CN" sz="105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06" name="任意多边形 805"/>
          <p:cNvSpPr/>
          <p:nvPr/>
        </p:nvSpPr>
        <p:spPr>
          <a:xfrm>
            <a:off x="609600" y="6286500"/>
            <a:ext cx="10972800" cy="381000"/>
          </a:xfrm>
          <a:custGeom>
            <a:avLst/>
            <a:gdLst/>
            <a:ahLst/>
            <a:cxnLst/>
            <a:pathLst>
              <a:path w="1152" h="40">
                <a:moveTo>
                  <a:pt x="0" y="0"/>
                </a:moveTo>
                <a:lnTo>
                  <a:pt x="1152" y="0"/>
                </a:lnTo>
                <a:lnTo>
                  <a:pt x="1152" y="1"/>
                </a:lnTo>
                <a:lnTo>
                  <a:pt x="0" y="1"/>
                </a:lnTo>
                <a:close/>
              </a:path>
            </a:pathLst>
          </a:custGeom>
          <a:solidFill>
            <a:srgbClr val="1E293B"/>
          </a:solidFill>
        </p:spPr>
        <p:txBody>
          <a:bodyPr/>
          <a:p/>
        </p:txBody>
      </p:sp>
      <p:sp>
        <p:nvSpPr>
          <p:cNvPr id="807" name="文本框 806" descr="{&quot;isTemplate&quot;:true,&quot;type&quot;:&quot;text&quot;}"/>
          <p:cNvSpPr txBox="1"/>
          <p:nvPr/>
        </p:nvSpPr>
        <p:spPr>
          <a:xfrm>
            <a:off x="609600" y="6410325"/>
            <a:ext cx="2219325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fountain · 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一站式服务器应用开发工具库</a:t>
            </a:r>
            <a:endParaRPr lang="zh-CN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08" name="文本框 807" descr="{&quot;isTemplate&quot;:true,&quot;type&quot;:&quot;text&quot;}"/>
          <p:cNvSpPr txBox="1"/>
          <p:nvPr/>
        </p:nvSpPr>
        <p:spPr>
          <a:xfrm>
            <a:off x="11087100" y="6410325"/>
            <a:ext cx="495300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02 / 116</a:t>
            </a:r>
            <a:endParaRPr lang="en-US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08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9" name="矩形 1088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220"/>
          </a:solidFill>
        </p:spPr>
        <p:txBody>
          <a:bodyPr/>
          <a:p/>
        </p:txBody>
      </p:sp>
      <p:sp>
        <p:nvSpPr>
          <p:cNvPr id="1090" name="矩形 1089"/>
          <p:cNvSpPr/>
          <p:nvPr/>
        </p:nvSpPr>
        <p:spPr>
          <a:xfrm>
            <a:off x="609600" y="476250"/>
            <a:ext cx="38100" cy="381000"/>
          </a:xfrm>
          <a:prstGeom prst="rect">
            <a:avLst/>
          </a:prstGeom>
          <a:solidFill>
            <a:srgbClr val="38BDF8"/>
          </a:solidFill>
        </p:spPr>
        <p:txBody>
          <a:bodyPr/>
          <a:p/>
        </p:txBody>
      </p:sp>
      <p:sp>
        <p:nvSpPr>
          <p:cNvPr id="1091" name="文本框 1090" descr="{&quot;isTemplate&quot;:true,&quot;type&quot;:&quot;text&quot;}"/>
          <p:cNvSpPr txBox="1"/>
          <p:nvPr/>
        </p:nvSpPr>
        <p:spPr>
          <a:xfrm>
            <a:off x="819150" y="304800"/>
            <a:ext cx="9848850" cy="2095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录制规划</a:t>
            </a: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 · 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建议总时长</a:t>
            </a: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 155–185 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分钟</a:t>
            </a:r>
            <a:endParaRPr lang="zh-CN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92" name="文本框 1091" descr="{&quot;isTemplate&quot;:true,&quot;type&quot;:&quot;text&quot;}"/>
          <p:cNvSpPr txBox="1"/>
          <p:nvPr/>
        </p:nvSpPr>
        <p:spPr>
          <a:xfrm>
            <a:off x="819150" y="514350"/>
            <a:ext cx="9848850" cy="5143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2550" b="1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课程地图</a:t>
            </a:r>
            <a:endParaRPr lang="zh-CN" sz="2550" b="1">
              <a:solidFill>
                <a:srgbClr val="E2E8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93" name="文本框 1092" descr="{&quot;isTemplate&quot;:true,&quot;type&quot;:&quot;text&quot;}"/>
          <p:cNvSpPr txBox="1"/>
          <p:nvPr/>
        </p:nvSpPr>
        <p:spPr>
          <a:xfrm>
            <a:off x="10839450" y="590550"/>
            <a:ext cx="742950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可按章节裁剪</a:t>
            </a:r>
            <a:endParaRPr lang="zh-CN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94" name="文本框 1093" descr="{&quot;isTemplate&quot;:true,&quot;type&quot;:&quot;text&quot;}"/>
          <p:cNvSpPr txBox="1"/>
          <p:nvPr/>
        </p:nvSpPr>
        <p:spPr>
          <a:xfrm>
            <a:off x="609600" y="1143000"/>
            <a:ext cx="10972800" cy="2762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12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核心链路是第</a:t>
            </a:r>
            <a:r>
              <a:rPr lang="en-US" sz="112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1</a:t>
            </a:r>
            <a:r>
              <a:rPr lang="zh-CN" sz="112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、</a:t>
            </a:r>
            <a:r>
              <a:rPr lang="en-US" sz="112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3</a:t>
            </a:r>
            <a:r>
              <a:rPr lang="zh-CN" sz="112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、</a:t>
            </a:r>
            <a:r>
              <a:rPr lang="en-US" sz="112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4</a:t>
            </a:r>
            <a:r>
              <a:rPr lang="zh-CN" sz="112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、</a:t>
            </a:r>
            <a:r>
              <a:rPr lang="en-US" sz="112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6</a:t>
            </a:r>
            <a:r>
              <a:rPr lang="zh-CN" sz="112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、</a:t>
            </a:r>
            <a:r>
              <a:rPr lang="en-US" sz="112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8</a:t>
            </a:r>
            <a:r>
              <a:rPr lang="zh-CN" sz="112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、</a:t>
            </a:r>
            <a:r>
              <a:rPr lang="en-US" sz="112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9</a:t>
            </a:r>
            <a:r>
              <a:rPr lang="zh-CN" sz="112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、</a:t>
            </a:r>
            <a:r>
              <a:rPr lang="en-US" sz="112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10</a:t>
            </a:r>
            <a:r>
              <a:rPr lang="zh-CN" sz="112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、</a:t>
            </a:r>
            <a:r>
              <a:rPr lang="en-US" sz="112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11</a:t>
            </a:r>
            <a:r>
              <a:rPr lang="zh-CN" sz="112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、</a:t>
            </a:r>
            <a:r>
              <a:rPr lang="en-US" sz="112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15</a:t>
            </a:r>
            <a:r>
              <a:rPr lang="zh-CN" sz="112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、</a:t>
            </a:r>
            <a:r>
              <a:rPr lang="en-US" sz="112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16 </a:t>
            </a:r>
            <a:r>
              <a:rPr lang="zh-CN" sz="112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章；第</a:t>
            </a:r>
            <a:r>
              <a:rPr lang="en-US" sz="112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17 </a:t>
            </a:r>
            <a:r>
              <a:rPr lang="zh-CN" sz="112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章可按受众深浅整章跳过，日志一章不要跳。</a:t>
            </a:r>
            <a:endParaRPr lang="zh-CN" sz="1125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graphicFrame>
        <p:nvGraphicFramePr>
          <p:cNvPr id="1095" name="表格 1094"/>
          <p:cNvGraphicFramePr/>
          <p:nvPr/>
        </p:nvGraphicFramePr>
        <p:xfrm>
          <a:off x="609600" y="1571625"/>
          <a:ext cx="5410200" cy="4714875"/>
        </p:xfrm>
        <a:graphic>
          <a:graphicData uri="http://schemas.openxmlformats.org/drawingml/2006/table">
            <a:tbl>
              <a:tblPr/>
              <a:tblGrid>
                <a:gridCol w="1231847"/>
                <a:gridCol w="3172119"/>
                <a:gridCol w="1006234"/>
              </a:tblGrid>
              <a:tr h="443570"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 b="1">
                          <a:solidFill>
                            <a:srgbClr val="22D3EE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章</a:t>
                      </a:r>
                      <a:endParaRPr sz="975" b="1">
                        <a:solidFill>
                          <a:srgbClr val="22D3EE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6233A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 b="1">
                          <a:solidFill>
                            <a:srgbClr val="22D3EE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主题</a:t>
                      </a:r>
                      <a:endParaRPr sz="975" b="1">
                        <a:solidFill>
                          <a:srgbClr val="22D3EE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6233A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 b="1">
                          <a:solidFill>
                            <a:srgbClr val="22D3EE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时长</a:t>
                      </a:r>
                      <a:endParaRPr sz="975" b="1">
                        <a:solidFill>
                          <a:srgbClr val="22D3EE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6233A"/>
                    </a:solidFill>
                  </a:tcPr>
                </a:tc>
              </a:tr>
              <a:tr h="474589"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50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第 0 章</a:t>
                      </a:r>
                      <a:endParaRPr sz="1050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lang="zh-CN" sz="1050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使用</a:t>
                      </a:r>
                      <a:r>
                        <a:rPr lang="en-US" altLang="zh-CN" sz="1050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fountain</a:t>
                      </a:r>
                      <a:r>
                        <a:rPr lang="zh-CN" altLang="en-US" sz="1050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前的准备工作</a:t>
                      </a:r>
                      <a:endParaRPr lang="zh-CN" altLang="en-US" sz="1050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50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5 分</a:t>
                      </a:r>
                      <a:endParaRPr sz="1050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474589"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50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第 1 章</a:t>
                      </a:r>
                      <a:endParaRPr sz="1050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50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为什么使用 fountain</a:t>
                      </a:r>
                      <a:endParaRPr sz="1050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50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20 分</a:t>
                      </a:r>
                      <a:endParaRPr sz="1050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474589"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50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第 2 章</a:t>
                      </a:r>
                      <a:endParaRPr sz="1050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50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上台准备：环境</a:t>
                      </a:r>
                      <a:endParaRPr sz="1050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50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5 分</a:t>
                      </a:r>
                      <a:endParaRPr sz="1050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474589"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50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第 3 章</a:t>
                      </a:r>
                      <a:endParaRPr sz="1050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50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fboot 命令行</a:t>
                      </a:r>
                      <a:endParaRPr sz="1050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50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25 分</a:t>
                      </a:r>
                      <a:endParaRPr sz="1050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474589"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50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第 4 章</a:t>
                      </a:r>
                      <a:endParaRPr sz="1050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50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配置 f_config</a:t>
                      </a:r>
                      <a:endParaRPr sz="1050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50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25 分</a:t>
                      </a:r>
                      <a:endParaRPr sz="1050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474589"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50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第 5 章</a:t>
                      </a:r>
                      <a:endParaRPr sz="1050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50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现场跑通 fdemo</a:t>
                      </a:r>
                      <a:endParaRPr sz="1050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50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15 分</a:t>
                      </a:r>
                      <a:endParaRPr sz="1050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474589"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50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第 6 章</a:t>
                      </a:r>
                      <a:endParaRPr sz="1050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50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IOC f_bean</a:t>
                      </a:r>
                      <a:endParaRPr sz="1050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50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15 分</a:t>
                      </a:r>
                      <a:endParaRPr sz="1050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474589"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50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第 7 章</a:t>
                      </a:r>
                      <a:endParaRPr sz="1050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50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AOP f_aspect</a:t>
                      </a:r>
                      <a:endParaRPr sz="1050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50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12 分</a:t>
                      </a:r>
                      <a:endParaRPr sz="1050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474589"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50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第 8 章</a:t>
                      </a:r>
                      <a:endParaRPr sz="1050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50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数据 f_data</a:t>
                      </a:r>
                      <a:endParaRPr sz="1050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50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20 分</a:t>
                      </a:r>
                      <a:endParaRPr sz="1050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</a:tbl>
          </a:graphicData>
        </a:graphic>
      </p:graphicFrame>
      <p:graphicFrame>
        <p:nvGraphicFramePr>
          <p:cNvPr id="1096" name="表格 1095"/>
          <p:cNvGraphicFramePr/>
          <p:nvPr/>
        </p:nvGraphicFramePr>
        <p:xfrm>
          <a:off x="6172200" y="1571625"/>
          <a:ext cx="5410200" cy="4714875"/>
        </p:xfrm>
        <a:graphic>
          <a:graphicData uri="http://schemas.openxmlformats.org/drawingml/2006/table">
            <a:tbl>
              <a:tblPr/>
              <a:tblGrid>
                <a:gridCol w="1072446"/>
                <a:gridCol w="2648565"/>
                <a:gridCol w="1689188"/>
              </a:tblGrid>
              <a:tr h="403005"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 b="1">
                          <a:solidFill>
                            <a:srgbClr val="22D3EE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章</a:t>
                      </a:r>
                      <a:endParaRPr sz="975" b="1">
                        <a:solidFill>
                          <a:srgbClr val="22D3EE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6233A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 b="1">
                          <a:solidFill>
                            <a:srgbClr val="22D3EE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主题</a:t>
                      </a:r>
                      <a:endParaRPr sz="975" b="1">
                        <a:solidFill>
                          <a:srgbClr val="22D3EE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6233A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 b="1">
                          <a:solidFill>
                            <a:srgbClr val="22D3EE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时长</a:t>
                      </a:r>
                      <a:endParaRPr sz="975" b="1">
                        <a:solidFill>
                          <a:srgbClr val="22D3EE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6233A"/>
                    </a:solidFill>
                  </a:tcPr>
                </a:tc>
              </a:tr>
              <a:tr h="431187"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50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第 9 章</a:t>
                      </a:r>
                      <a:endParaRPr sz="1050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50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工具箱 f_util</a:t>
                      </a:r>
                      <a:endParaRPr sz="1050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50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18 分</a:t>
                      </a:r>
                      <a:endParaRPr sz="1050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431187"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50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第 10 章</a:t>
                      </a:r>
                      <a:endParaRPr sz="1050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50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MVC f_mvc</a:t>
                      </a:r>
                      <a:endParaRPr sz="1050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50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20 分</a:t>
                      </a:r>
                      <a:endParaRPr sz="1050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431187"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50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第 11 章</a:t>
                      </a:r>
                      <a:endParaRPr sz="1050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50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HTTP 数据格式 f_http</a:t>
                      </a:r>
                      <a:endParaRPr sz="1050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50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10 分</a:t>
                      </a:r>
                      <a:endParaRPr sz="1050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431187"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50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第 12 章</a:t>
                      </a:r>
                      <a:endParaRPr sz="1050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50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ORM f_orm</a:t>
                      </a:r>
                      <a:endParaRPr sz="1050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50" b="1">
                          <a:solidFill>
                            <a:srgbClr val="F59E0B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30 分</a:t>
                      </a:r>
                      <a:endParaRPr sz="1050" b="1">
                        <a:solidFill>
                          <a:srgbClr val="F59E0B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431187"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50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第 13 章</a:t>
                      </a:r>
                      <a:endParaRPr sz="1050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50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安全 f_security + f_jwt</a:t>
                      </a:r>
                      <a:endParaRPr sz="1050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50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15 分</a:t>
                      </a:r>
                      <a:endParaRPr sz="1050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431187"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50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第 14 章</a:t>
                      </a:r>
                      <a:endParaRPr sz="1050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50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CRON f_ticktock</a:t>
                      </a:r>
                      <a:endParaRPr sz="1050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50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6 分</a:t>
                      </a:r>
                      <a:endParaRPr sz="1050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431187"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50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第 15 章</a:t>
                      </a:r>
                      <a:endParaRPr sz="1050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50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日志 f_log</a:t>
                      </a:r>
                      <a:endParaRPr sz="1050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50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20 分</a:t>
                      </a:r>
                      <a:endParaRPr sz="1050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431187"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50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第 16 章</a:t>
                      </a:r>
                      <a:endParaRPr sz="1050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50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串讲：一次请求全链路</a:t>
                      </a:r>
                      <a:endParaRPr sz="1050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50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10 分</a:t>
                      </a:r>
                      <a:endParaRPr sz="1050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431187"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50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第 17 章</a:t>
                      </a:r>
                      <a:endParaRPr sz="1050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50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运行时基础设施</a:t>
                      </a:r>
                      <a:endParaRPr sz="1050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50">
                          <a:solidFill>
                            <a:srgbClr val="64748B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20 分 · 可跳过</a:t>
                      </a:r>
                      <a:endParaRPr sz="1050">
                        <a:solidFill>
                          <a:srgbClr val="64748B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431187"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50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第 18 章</a:t>
                      </a:r>
                      <a:endParaRPr sz="1050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50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常见坑与 Q&amp;A</a:t>
                      </a:r>
                      <a:endParaRPr sz="1050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50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10 分</a:t>
                      </a:r>
                      <a:endParaRPr sz="1050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</a:tbl>
          </a:graphicData>
        </a:graphic>
      </p:graphicFrame>
      <p:sp>
        <p:nvSpPr>
          <p:cNvPr id="1097" name="任意多边形 1096"/>
          <p:cNvSpPr/>
          <p:nvPr/>
        </p:nvSpPr>
        <p:spPr>
          <a:xfrm>
            <a:off x="609600" y="6286500"/>
            <a:ext cx="10972800" cy="381000"/>
          </a:xfrm>
          <a:custGeom>
            <a:avLst/>
            <a:gdLst/>
            <a:ahLst/>
            <a:cxnLst/>
            <a:pathLst>
              <a:path w="1152" h="40">
                <a:moveTo>
                  <a:pt x="0" y="0"/>
                </a:moveTo>
                <a:lnTo>
                  <a:pt x="1152" y="0"/>
                </a:lnTo>
                <a:lnTo>
                  <a:pt x="1152" y="1"/>
                </a:lnTo>
                <a:lnTo>
                  <a:pt x="0" y="1"/>
                </a:lnTo>
                <a:close/>
              </a:path>
            </a:pathLst>
          </a:custGeom>
          <a:solidFill>
            <a:srgbClr val="1E293B"/>
          </a:solidFill>
        </p:spPr>
        <p:txBody>
          <a:bodyPr/>
          <a:p/>
        </p:txBody>
      </p:sp>
      <p:sp>
        <p:nvSpPr>
          <p:cNvPr id="1098" name="文本框 1097" descr="{&quot;isTemplate&quot;:true,&quot;type&quot;:&quot;text&quot;}"/>
          <p:cNvSpPr txBox="1"/>
          <p:nvPr/>
        </p:nvSpPr>
        <p:spPr>
          <a:xfrm>
            <a:off x="609600" y="6410325"/>
            <a:ext cx="2219325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fountain · 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一站式服务器应用开发工具库</a:t>
            </a:r>
            <a:endParaRPr lang="zh-CN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99" name="文本框 1098" descr="{&quot;isTemplate&quot;:true,&quot;type&quot;:&quot;text&quot;}"/>
          <p:cNvSpPr txBox="1"/>
          <p:nvPr/>
        </p:nvSpPr>
        <p:spPr>
          <a:xfrm>
            <a:off x="11087100" y="6410325"/>
            <a:ext cx="495300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03 / 116</a:t>
            </a:r>
            <a:endParaRPr lang="en-US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33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5" name="矩形 1334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220"/>
          </a:solidFill>
        </p:spPr>
        <p:txBody>
          <a:bodyPr/>
          <a:p/>
        </p:txBody>
      </p:sp>
      <p:sp>
        <p:nvSpPr>
          <p:cNvPr id="1336" name="矩形 1335"/>
          <p:cNvSpPr/>
          <p:nvPr/>
        </p:nvSpPr>
        <p:spPr>
          <a:xfrm>
            <a:off x="609600" y="476250"/>
            <a:ext cx="38100" cy="381000"/>
          </a:xfrm>
          <a:prstGeom prst="rect">
            <a:avLst/>
          </a:prstGeom>
          <a:solidFill>
            <a:srgbClr val="38BDF8"/>
          </a:solidFill>
        </p:spPr>
        <p:txBody>
          <a:bodyPr/>
          <a:p/>
        </p:txBody>
      </p:sp>
      <p:sp>
        <p:nvSpPr>
          <p:cNvPr id="1337" name="文本框 1336" descr="{&quot;isTemplate&quot;:true,&quot;type&quot;:&quot;text&quot;}"/>
          <p:cNvSpPr txBox="1"/>
          <p:nvPr/>
        </p:nvSpPr>
        <p:spPr>
          <a:xfrm>
            <a:off x="819150" y="304800"/>
            <a:ext cx="9725025" cy="2095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第</a:t>
            </a: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 0 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章</a:t>
            </a: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 · 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使用说明</a:t>
            </a:r>
            <a:endParaRPr lang="zh-CN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38" name="文本框 1337" descr="{&quot;isTemplate&quot;:true,&quot;type&quot;:&quot;text&quot;}"/>
          <p:cNvSpPr txBox="1"/>
          <p:nvPr/>
        </p:nvSpPr>
        <p:spPr>
          <a:xfrm>
            <a:off x="819150" y="514350"/>
            <a:ext cx="9725025" cy="5143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2550" b="1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准备工作</a:t>
            </a:r>
            <a:endParaRPr lang="zh-CN" sz="2550" b="1">
              <a:solidFill>
                <a:srgbClr val="E2E8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39" name="文本框 1338" descr="{&quot;isTemplate&quot;:true,&quot;type&quot;:&quot;text&quot;}"/>
          <p:cNvSpPr txBox="1"/>
          <p:nvPr/>
        </p:nvSpPr>
        <p:spPr>
          <a:xfrm>
            <a:off x="10715625" y="590550"/>
            <a:ext cx="866775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每一节格式统一</a:t>
            </a:r>
            <a:endParaRPr lang="zh-CN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41" name="圆角矩形 1340"/>
          <p:cNvSpPr/>
          <p:nvPr/>
        </p:nvSpPr>
        <p:spPr>
          <a:xfrm>
            <a:off x="609600" y="1955800"/>
            <a:ext cx="10972800" cy="2247900"/>
          </a:xfrm>
          <a:prstGeom prst="roundRect">
            <a:avLst>
              <a:gd name="adj" fmla="val 5085"/>
            </a:avLst>
          </a:prstGeom>
          <a:solidFill>
            <a:srgbClr val="111C2E"/>
          </a:solidFill>
          <a:ln w="12700">
            <a:solidFill>
              <a:srgbClr val="1E293B"/>
            </a:solidFill>
            <a:prstDash val="solid"/>
          </a:ln>
        </p:spPr>
        <p:txBody>
          <a:bodyPr/>
          <a:p/>
        </p:txBody>
      </p:sp>
      <p:sp>
        <p:nvSpPr>
          <p:cNvPr id="1342" name="文本框 1341" descr="{&quot;isTemplate&quot;:true,&quot;type&quot;:&quot;text&quot;}"/>
          <p:cNvSpPr txBox="1"/>
          <p:nvPr/>
        </p:nvSpPr>
        <p:spPr>
          <a:xfrm>
            <a:off x="838200" y="2184400"/>
            <a:ext cx="10515600" cy="2095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录制前检查清单</a:t>
            </a:r>
            <a:endParaRPr lang="zh-CN" sz="1350" b="1">
              <a:solidFill>
                <a:srgbClr val="E2E8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43" name="文本框 1342" descr="{&quot;isTemplate&quot;:true,&quot;type&quot;:&quot;text&quot;}"/>
          <p:cNvSpPr txBox="1"/>
          <p:nvPr/>
        </p:nvSpPr>
        <p:spPr>
          <a:xfrm>
            <a:off x="838200" y="2546350"/>
            <a:ext cx="10515600" cy="2952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en-US" sz="1125">
                <a:solidFill>
                  <a:srgbClr val="94A3B8"/>
                </a:solidFill>
                <a:latin typeface="JetBrains Mono"/>
                <a:ea typeface="JetBrains Mono"/>
              </a:rPr>
              <a:t>cjc -v</a:t>
            </a:r>
            <a:r>
              <a:rPr lang="zh-CN" sz="1125">
                <a:solidFill>
                  <a:srgbClr val="94A3B8"/>
                </a:solidFill>
                <a:latin typeface="JetBrains Mono"/>
                <a:ea typeface="JetBrains Mono"/>
              </a:rPr>
              <a:t>　·　</a:t>
            </a:r>
            <a:r>
              <a:rPr lang="en-US" sz="1125">
                <a:solidFill>
                  <a:srgbClr val="94A3B8"/>
                </a:solidFill>
                <a:latin typeface="JetBrains Mono"/>
                <a:ea typeface="JetBrains Mono"/>
              </a:rPr>
              <a:t>echo $CANGJIE_STDX_DYNAMIC_PATH</a:t>
            </a:r>
            <a:endParaRPr lang="en-US" sz="1125">
              <a:solidFill>
                <a:srgbClr val="94A3B8"/>
              </a:solidFill>
              <a:latin typeface="JetBrains Mono"/>
              <a:ea typeface="JetBrains Mono"/>
            </a:endParaRPr>
          </a:p>
        </p:txBody>
      </p:sp>
      <p:sp>
        <p:nvSpPr>
          <p:cNvPr id="1344" name="文本框 1343" descr="{&quot;isTemplate&quot;:true,&quot;type&quot;:&quot;text&quot;}"/>
          <p:cNvSpPr txBox="1"/>
          <p:nvPr/>
        </p:nvSpPr>
        <p:spPr>
          <a:xfrm>
            <a:off x="838200" y="2917825"/>
            <a:ext cx="10515600" cy="2952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en-US" sz="1125">
                <a:solidFill>
                  <a:srgbClr val="94A3B8"/>
                </a:solidFill>
                <a:latin typeface="JetBrains Mono"/>
                <a:ea typeface="JetBrains Mono"/>
              </a:rPr>
              <a:t>cjpm install "fountain::fboot"="</a:t>
            </a:r>
            <a:r>
              <a:rPr lang="zh-CN" sz="1125">
                <a:solidFill>
                  <a:srgbClr val="94A3B8"/>
                </a:solidFill>
                <a:latin typeface="JetBrains Mono"/>
                <a:ea typeface="JetBrains Mono"/>
              </a:rPr>
              <a:t>【版本号】</a:t>
            </a:r>
            <a:r>
              <a:rPr lang="en-US" sz="1125">
                <a:solidFill>
                  <a:srgbClr val="94A3B8"/>
                </a:solidFill>
                <a:latin typeface="JetBrains Mono"/>
                <a:ea typeface="JetBrains Mono"/>
              </a:rPr>
              <a:t>" --root ~/.cjpm</a:t>
            </a:r>
            <a:endParaRPr lang="en-US" sz="1125">
              <a:solidFill>
                <a:srgbClr val="94A3B8"/>
              </a:solidFill>
              <a:latin typeface="JetBrains Mono"/>
              <a:ea typeface="JetBrains Mono"/>
            </a:endParaRPr>
          </a:p>
        </p:txBody>
      </p:sp>
      <p:sp>
        <p:nvSpPr>
          <p:cNvPr id="1345" name="文本框 1344" descr="{&quot;isTemplate&quot;:true,&quot;type&quot;:&quot;text&quot;}"/>
          <p:cNvSpPr txBox="1"/>
          <p:nvPr/>
        </p:nvSpPr>
        <p:spPr>
          <a:xfrm>
            <a:off x="838200" y="3289300"/>
            <a:ext cx="10515600" cy="2952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en-US" sz="1125">
                <a:solidFill>
                  <a:srgbClr val="94A3B8"/>
                </a:solidFill>
                <a:latin typeface="JetBrains Mono"/>
                <a:ea typeface="JetBrains Mono"/>
              </a:rPr>
              <a:t>export PATH=$PATH:~/.cjpm/bin</a:t>
            </a:r>
            <a:r>
              <a:rPr lang="zh-CN" sz="1125">
                <a:solidFill>
                  <a:srgbClr val="94A3B8"/>
                </a:solidFill>
                <a:latin typeface="JetBrains Mono"/>
                <a:ea typeface="JetBrains Mono"/>
              </a:rPr>
              <a:t>　·　</a:t>
            </a:r>
            <a:r>
              <a:rPr lang="en-US" sz="1125">
                <a:solidFill>
                  <a:srgbClr val="94A3B8"/>
                </a:solidFill>
                <a:latin typeface="JetBrains Mono"/>
                <a:ea typeface="JetBrains Mono"/>
              </a:rPr>
              <a:t>export LD_LIBRARY_PATH=...:~/.cjpm/libs/fboot</a:t>
            </a:r>
            <a:endParaRPr lang="en-US" sz="1125">
              <a:solidFill>
                <a:srgbClr val="94A3B8"/>
              </a:solidFill>
              <a:latin typeface="JetBrains Mono"/>
              <a:ea typeface="JetBrains Mono"/>
            </a:endParaRPr>
          </a:p>
        </p:txBody>
      </p:sp>
      <p:sp>
        <p:nvSpPr>
          <p:cNvPr id="1346" name="矩形 1345"/>
          <p:cNvSpPr/>
          <p:nvPr/>
        </p:nvSpPr>
        <p:spPr>
          <a:xfrm>
            <a:off x="838200" y="5895975"/>
            <a:ext cx="76200" cy="76200"/>
          </a:xfrm>
          <a:prstGeom prst="rect">
            <a:avLst/>
          </a:prstGeom>
          <a:solidFill>
            <a:srgbClr val="F59E0B"/>
          </a:solidFill>
        </p:spPr>
        <p:txBody>
          <a:bodyPr/>
          <a:p/>
        </p:txBody>
      </p:sp>
      <p:sp>
        <p:nvSpPr>
          <p:cNvPr id="1347" name="文本框 1346" descr="{&quot;isTemplate&quot;:true,&quot;type&quot;:&quot;text&quot;}"/>
          <p:cNvSpPr txBox="1"/>
          <p:nvPr/>
        </p:nvSpPr>
        <p:spPr>
          <a:xfrm>
            <a:off x="831850" y="3717925"/>
            <a:ext cx="6381750" cy="2571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报找不到动态链接库，</a:t>
            </a:r>
            <a:r>
              <a:rPr lang="en-US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99% </a:t>
            </a:r>
            <a:r>
              <a:rPr lang="zh-CN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是</a:t>
            </a:r>
            <a:r>
              <a:rPr lang="en-US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LD_LIBRARY_PATH </a:t>
            </a:r>
            <a:r>
              <a:rPr lang="zh-CN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没带上</a:t>
            </a:r>
            <a:r>
              <a:rPr lang="en-US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~/.cjpm/libs/fboot</a:t>
            </a:r>
            <a:r>
              <a:rPr lang="zh-CN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（适合现场故意演一次再修）</a:t>
            </a:r>
            <a:endParaRPr lang="zh-CN" sz="1050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48" name="任意多边形 1347"/>
          <p:cNvSpPr/>
          <p:nvPr/>
        </p:nvSpPr>
        <p:spPr>
          <a:xfrm>
            <a:off x="609600" y="6286500"/>
            <a:ext cx="10972800" cy="381000"/>
          </a:xfrm>
          <a:custGeom>
            <a:avLst/>
            <a:gdLst/>
            <a:ahLst/>
            <a:cxnLst/>
            <a:pathLst>
              <a:path w="1152" h="40">
                <a:moveTo>
                  <a:pt x="0" y="0"/>
                </a:moveTo>
                <a:lnTo>
                  <a:pt x="1152" y="0"/>
                </a:lnTo>
                <a:lnTo>
                  <a:pt x="1152" y="1"/>
                </a:lnTo>
                <a:lnTo>
                  <a:pt x="0" y="1"/>
                </a:lnTo>
                <a:close/>
              </a:path>
            </a:pathLst>
          </a:custGeom>
          <a:solidFill>
            <a:srgbClr val="1E293B"/>
          </a:solidFill>
        </p:spPr>
        <p:txBody>
          <a:bodyPr/>
          <a:p/>
        </p:txBody>
      </p:sp>
      <p:sp>
        <p:nvSpPr>
          <p:cNvPr id="1349" name="文本框 1348" descr="{&quot;isTemplate&quot;:true,&quot;type&quot;:&quot;text&quot;}"/>
          <p:cNvSpPr txBox="1"/>
          <p:nvPr/>
        </p:nvSpPr>
        <p:spPr>
          <a:xfrm>
            <a:off x="609600" y="6410325"/>
            <a:ext cx="2219325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fountain · 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一站式服务器应用开发工具库</a:t>
            </a:r>
            <a:endParaRPr lang="zh-CN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50" name="文本框 1349" descr="{&quot;isTemplate&quot;:true,&quot;type&quot;:&quot;text&quot;}"/>
          <p:cNvSpPr txBox="1"/>
          <p:nvPr/>
        </p:nvSpPr>
        <p:spPr>
          <a:xfrm>
            <a:off x="11087100" y="6410325"/>
            <a:ext cx="495300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04 / 116</a:t>
            </a:r>
            <a:endParaRPr lang="en-US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66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1" name="矩形 166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220"/>
          </a:solidFill>
        </p:spPr>
        <p:txBody>
          <a:bodyPr/>
          <a:p/>
        </p:txBody>
      </p:sp>
      <p:sp>
        <p:nvSpPr>
          <p:cNvPr id="1662" name="文本框 1661" descr="{&quot;isTemplate&quot;:true,&quot;type&quot;:&quot;text&quot;}"/>
          <p:cNvSpPr txBox="1"/>
          <p:nvPr/>
        </p:nvSpPr>
        <p:spPr>
          <a:xfrm>
            <a:off x="8239125" y="1143000"/>
            <a:ext cx="3571875" cy="36576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4000" b="1">
                <a:solidFill>
                  <a:srgbClr val="16233A"/>
                </a:solidFill>
                <a:latin typeface="JetBrains Mono"/>
                <a:ea typeface="JetBrains Mono"/>
              </a:rPr>
              <a:t>01</a:t>
            </a:r>
            <a:endParaRPr lang="en-US" sz="24000" b="1">
              <a:solidFill>
                <a:srgbClr val="16233A"/>
              </a:solidFill>
              <a:latin typeface="JetBrains Mono"/>
              <a:ea typeface="JetBrains Mono"/>
            </a:endParaRPr>
          </a:p>
        </p:txBody>
      </p:sp>
      <p:sp>
        <p:nvSpPr>
          <p:cNvPr id="1663" name="矩形 1662"/>
          <p:cNvSpPr/>
          <p:nvPr/>
        </p:nvSpPr>
        <p:spPr>
          <a:xfrm>
            <a:off x="0" y="0"/>
            <a:ext cx="76200" cy="6858000"/>
          </a:xfrm>
          <a:prstGeom prst="rect">
            <a:avLst/>
          </a:prstGeom>
          <a:gradFill>
            <a:gsLst>
              <a:gs pos="0">
                <a:srgbClr val="38BDF8"/>
              </a:gs>
              <a:gs pos="100000">
                <a:srgbClr val="22D3EE"/>
              </a:gs>
            </a:gsLst>
            <a:lin ang="2700000" scaled="1"/>
          </a:gradFill>
        </p:spPr>
        <p:txBody>
          <a:bodyPr/>
          <a:p/>
        </p:txBody>
      </p:sp>
      <p:sp>
        <p:nvSpPr>
          <p:cNvPr id="1664" name="文本框 1663" descr="{&quot;isTemplate&quot;:true,&quot;type&quot;:&quot;text&quot;}"/>
          <p:cNvSpPr txBox="1"/>
          <p:nvPr/>
        </p:nvSpPr>
        <p:spPr>
          <a:xfrm>
            <a:off x="1143000" y="2076450"/>
            <a:ext cx="1019175" cy="1905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spc="450">
                <a:solidFill>
                  <a:srgbClr val="38BDF8"/>
                </a:solidFill>
                <a:latin typeface="微软雅黑" panose="020B0503020204020204" charset="-122"/>
                <a:ea typeface="微软雅黑" panose="020B0503020204020204" charset="-122"/>
              </a:rPr>
              <a:t>PART 01</a:t>
            </a:r>
            <a:endParaRPr lang="en-US" sz="1200" spc="450">
              <a:solidFill>
                <a:srgbClr val="38BDF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65" name="文本框 1664" descr="{&quot;isTemplate&quot;:true,&quot;type&quot;:&quot;text&quot;}"/>
          <p:cNvSpPr txBox="1"/>
          <p:nvPr/>
        </p:nvSpPr>
        <p:spPr>
          <a:xfrm>
            <a:off x="1143000" y="2419350"/>
            <a:ext cx="2667000" cy="7429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15000"/>
              </a:lnSpc>
            </a:pPr>
            <a:r>
              <a:rPr lang="zh-CN" sz="42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总览与启动</a:t>
            </a:r>
            <a:endParaRPr lang="zh-CN" sz="42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66" name="矩形 1665"/>
          <p:cNvSpPr/>
          <p:nvPr/>
        </p:nvSpPr>
        <p:spPr>
          <a:xfrm>
            <a:off x="1143000" y="3276600"/>
            <a:ext cx="1524000" cy="57150"/>
          </a:xfrm>
          <a:prstGeom prst="rect">
            <a:avLst/>
          </a:prstGeom>
          <a:gradFill>
            <a:gsLst>
              <a:gs pos="0">
                <a:srgbClr val="38BDF8"/>
              </a:gs>
              <a:gs pos="100000">
                <a:srgbClr val="22D3EE"/>
              </a:gs>
            </a:gsLst>
            <a:lin ang="2700000" scaled="1"/>
          </a:gradFill>
        </p:spPr>
        <p:txBody>
          <a:bodyPr/>
          <a:p/>
        </p:txBody>
      </p:sp>
      <p:sp>
        <p:nvSpPr>
          <p:cNvPr id="1667" name="文本框 1666" descr="{&quot;isTemplate&quot;:true,&quot;type&quot;:&quot;text&quot;}"/>
          <p:cNvSpPr txBox="1"/>
          <p:nvPr/>
        </p:nvSpPr>
        <p:spPr>
          <a:xfrm>
            <a:off x="1143000" y="3733800"/>
            <a:ext cx="4600575" cy="4000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90000"/>
              </a:lnSpc>
            </a:pPr>
            <a:r>
              <a:rPr lang="zh-CN" sz="13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为什么用</a:t>
            </a:r>
            <a:r>
              <a:rPr lang="en-US" sz="13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fountain</a:t>
            </a:r>
            <a:r>
              <a:rPr lang="zh-CN" sz="13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　·　三个反直觉的设计决策　·　环境准备</a:t>
            </a:r>
            <a:endParaRPr lang="zh-CN" sz="1350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68" name="文本框 1667" descr="{&quot;isTemplate&quot;:true,&quot;type&quot;:&quot;text&quot;}"/>
          <p:cNvSpPr txBox="1"/>
          <p:nvPr/>
        </p:nvSpPr>
        <p:spPr>
          <a:xfrm>
            <a:off x="1143000" y="4076700"/>
            <a:ext cx="4448175" cy="4000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90000"/>
              </a:lnSpc>
            </a:pPr>
            <a:r>
              <a:rPr lang="en-US" sz="13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fboot </a:t>
            </a:r>
            <a:r>
              <a:rPr lang="zh-CN" sz="13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整套命令行　·　</a:t>
            </a:r>
            <a:r>
              <a:rPr lang="en-US" sz="13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f_config </a:t>
            </a:r>
            <a:r>
              <a:rPr lang="zh-CN" sz="13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四级配置　·　跑通</a:t>
            </a:r>
            <a:r>
              <a:rPr lang="en-US" sz="13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fdemo</a:t>
            </a:r>
            <a:endParaRPr lang="en-US" sz="1350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69" name="文本框 1668" descr="{&quot;isTemplate&quot;:true,&quot;type&quot;:&quot;text&quot;}"/>
          <p:cNvSpPr txBox="1"/>
          <p:nvPr/>
        </p:nvSpPr>
        <p:spPr>
          <a:xfrm>
            <a:off x="1143000" y="4876800"/>
            <a:ext cx="581025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第</a:t>
            </a:r>
            <a:r>
              <a:rPr lang="en-US" sz="105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 1–5 </a:t>
            </a:r>
            <a:r>
              <a:rPr lang="zh-CN" sz="105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章</a:t>
            </a:r>
            <a:endParaRPr lang="zh-CN" sz="105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70" name="矩形 1669"/>
          <p:cNvSpPr/>
          <p:nvPr/>
        </p:nvSpPr>
        <p:spPr>
          <a:xfrm>
            <a:off x="1952625" y="4886325"/>
            <a:ext cx="9525" cy="152400"/>
          </a:xfrm>
          <a:prstGeom prst="rect">
            <a:avLst/>
          </a:prstGeom>
          <a:solidFill>
            <a:srgbClr val="1E293B"/>
          </a:solidFill>
        </p:spPr>
        <p:txBody>
          <a:bodyPr/>
          <a:p/>
        </p:txBody>
      </p:sp>
      <p:sp>
        <p:nvSpPr>
          <p:cNvPr id="1671" name="文本框 1670" descr="{&quot;isTemplate&quot;:true,&quot;type&quot;:&quot;text&quot;}"/>
          <p:cNvSpPr txBox="1"/>
          <p:nvPr/>
        </p:nvSpPr>
        <p:spPr>
          <a:xfrm>
            <a:off x="2190750" y="4876800"/>
            <a:ext cx="1000125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对应第</a:t>
            </a:r>
            <a:r>
              <a:rPr lang="en-US" sz="105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 06–35 </a:t>
            </a:r>
            <a:r>
              <a:rPr lang="zh-CN" sz="105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页</a:t>
            </a:r>
            <a:endParaRPr lang="zh-CN" sz="105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72" name="矩形 1671"/>
          <p:cNvSpPr/>
          <p:nvPr/>
        </p:nvSpPr>
        <p:spPr>
          <a:xfrm>
            <a:off x="3419475" y="4886325"/>
            <a:ext cx="9525" cy="152400"/>
          </a:xfrm>
          <a:prstGeom prst="rect">
            <a:avLst/>
          </a:prstGeom>
          <a:solidFill>
            <a:srgbClr val="1E293B"/>
          </a:solidFill>
        </p:spPr>
        <p:txBody>
          <a:bodyPr/>
          <a:p/>
        </p:txBody>
      </p:sp>
      <p:sp>
        <p:nvSpPr>
          <p:cNvPr id="1673" name="文本框 1672" descr="{&quot;isTemplate&quot;:true,&quot;type&quot;:&quot;text&quot;}"/>
          <p:cNvSpPr txBox="1"/>
          <p:nvPr/>
        </p:nvSpPr>
        <p:spPr>
          <a:xfrm>
            <a:off x="3657600" y="4876800"/>
            <a:ext cx="771525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建议</a:t>
            </a:r>
            <a:r>
              <a:rPr lang="en-US" sz="105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 90 </a:t>
            </a:r>
            <a:r>
              <a:rPr lang="zh-CN" sz="105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分钟</a:t>
            </a:r>
            <a:endParaRPr lang="zh-CN" sz="105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93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6" name="矩形 1935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220"/>
          </a:solidFill>
        </p:spPr>
        <p:txBody>
          <a:bodyPr/>
          <a:p/>
        </p:txBody>
      </p:sp>
      <p:sp>
        <p:nvSpPr>
          <p:cNvPr id="1937" name="矩形 1936"/>
          <p:cNvSpPr/>
          <p:nvPr/>
        </p:nvSpPr>
        <p:spPr>
          <a:xfrm>
            <a:off x="609600" y="476250"/>
            <a:ext cx="38100" cy="381000"/>
          </a:xfrm>
          <a:prstGeom prst="rect">
            <a:avLst/>
          </a:prstGeom>
          <a:solidFill>
            <a:srgbClr val="38BDF8"/>
          </a:solidFill>
        </p:spPr>
        <p:txBody>
          <a:bodyPr/>
          <a:p/>
        </p:txBody>
      </p:sp>
      <p:sp>
        <p:nvSpPr>
          <p:cNvPr id="1938" name="文本框 1937" descr="{&quot;isTemplate&quot;:true,&quot;type&quot;:&quot;text&quot;}"/>
          <p:cNvSpPr txBox="1"/>
          <p:nvPr/>
        </p:nvSpPr>
        <p:spPr>
          <a:xfrm>
            <a:off x="819150" y="304800"/>
            <a:ext cx="10763250" cy="2095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第</a:t>
            </a: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 1 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章</a:t>
            </a: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 · 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为什么使用</a:t>
            </a: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 fountain · 1.1</a:t>
            </a:r>
            <a:endParaRPr lang="en-US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939" name="文本框 1938" descr="{&quot;isTemplate&quot;:true,&quot;type&quot;:&quot;text&quot;}"/>
          <p:cNvSpPr txBox="1"/>
          <p:nvPr/>
        </p:nvSpPr>
        <p:spPr>
          <a:xfrm>
            <a:off x="819150" y="514350"/>
            <a:ext cx="10763250" cy="5143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2550" b="1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写一个服务端应用，我们到底在重复什么</a:t>
            </a:r>
            <a:endParaRPr lang="zh-CN" sz="2550" b="1">
              <a:solidFill>
                <a:srgbClr val="E2E8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940" name="圆角矩形 1939"/>
          <p:cNvSpPr/>
          <p:nvPr/>
        </p:nvSpPr>
        <p:spPr>
          <a:xfrm>
            <a:off x="609600" y="1143000"/>
            <a:ext cx="2857500" cy="5143500"/>
          </a:xfrm>
          <a:prstGeom prst="roundRect">
            <a:avLst>
              <a:gd name="adj" fmla="val 4000"/>
            </a:avLst>
          </a:prstGeom>
          <a:solidFill>
            <a:srgbClr val="111C2E"/>
          </a:solidFill>
          <a:ln w="12700">
            <a:solidFill>
              <a:srgbClr val="1E293B"/>
            </a:solidFill>
            <a:prstDash val="solid"/>
          </a:ln>
        </p:spPr>
        <p:txBody>
          <a:bodyPr/>
          <a:p/>
        </p:txBody>
      </p:sp>
      <p:sp>
        <p:nvSpPr>
          <p:cNvPr id="1941" name="文本框 1940" descr="{&quot;isTemplate&quot;:true,&quot;type&quot;:&quot;text&quot;}"/>
          <p:cNvSpPr txBox="1"/>
          <p:nvPr/>
        </p:nvSpPr>
        <p:spPr>
          <a:xfrm>
            <a:off x="876300" y="1409700"/>
            <a:ext cx="2324100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非业务复杂度</a:t>
            </a:r>
            <a:endParaRPr lang="zh-CN" sz="105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942" name="文本框 1941" descr="{&quot;isTemplate&quot;:true,&quot;type&quot;:&quot;text&quot;}"/>
          <p:cNvSpPr txBox="1"/>
          <p:nvPr/>
        </p:nvSpPr>
        <p:spPr>
          <a:xfrm>
            <a:off x="876300" y="1647825"/>
            <a:ext cx="2324100" cy="11049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7200" b="1">
                <a:solidFill>
                  <a:srgbClr val="F59E0B"/>
                </a:solidFill>
                <a:latin typeface="JetBrains Mono"/>
                <a:ea typeface="JetBrains Mono"/>
              </a:rPr>
              <a:t>5</a:t>
            </a:r>
            <a:endParaRPr lang="en-US" sz="7200" b="1">
              <a:solidFill>
                <a:srgbClr val="F59E0B"/>
              </a:solidFill>
              <a:latin typeface="JetBrains Mono"/>
              <a:ea typeface="JetBrains Mono"/>
            </a:endParaRPr>
          </a:p>
        </p:txBody>
      </p:sp>
      <p:sp>
        <p:nvSpPr>
          <p:cNvPr id="1943" name="文本框 1942" descr="{&quot;isTemplate&quot;:true,&quot;type&quot;:&quot;text&quot;}"/>
          <p:cNvSpPr txBox="1"/>
          <p:nvPr/>
        </p:nvSpPr>
        <p:spPr>
          <a:xfrm>
            <a:off x="876300" y="2867025"/>
            <a:ext cx="2324100" cy="2095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类重复劳动</a:t>
            </a:r>
            <a:endParaRPr lang="zh-CN" sz="1350" b="1">
              <a:solidFill>
                <a:srgbClr val="E2E8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944" name="矩形 1943"/>
          <p:cNvSpPr/>
          <p:nvPr/>
        </p:nvSpPr>
        <p:spPr>
          <a:xfrm>
            <a:off x="876300" y="3248025"/>
            <a:ext cx="381000" cy="28575"/>
          </a:xfrm>
          <a:prstGeom prst="rect">
            <a:avLst/>
          </a:prstGeom>
          <a:solidFill>
            <a:srgbClr val="38BDF8"/>
          </a:solidFill>
        </p:spPr>
        <p:txBody>
          <a:bodyPr/>
          <a:p/>
        </p:txBody>
      </p:sp>
      <p:sp>
        <p:nvSpPr>
          <p:cNvPr id="1945" name="文本框 1944" descr="{&quot;isTemplate&quot;:true,&quot;type&quot;:&quot;text&quot;}"/>
          <p:cNvSpPr txBox="1"/>
          <p:nvPr/>
        </p:nvSpPr>
        <p:spPr>
          <a:xfrm>
            <a:off x="876300" y="3448050"/>
            <a:ext cx="2324100" cy="619125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80000"/>
              </a:lnSpc>
            </a:pPr>
            <a:r>
              <a:rPr lang="zh-CN" sz="112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它们与业务无关，却在每个项目里被重写一遍。</a:t>
            </a:r>
            <a:endParaRPr lang="zh-CN" sz="1125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946" name="文本框 1945" descr="{&quot;isTemplate&quot;:true,&quot;type&quot;:&quot;text&quot;}"/>
          <p:cNvSpPr txBox="1"/>
          <p:nvPr/>
        </p:nvSpPr>
        <p:spPr>
          <a:xfrm>
            <a:off x="876300" y="5400675"/>
            <a:ext cx="2324100" cy="619125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80000"/>
              </a:lnSpc>
            </a:pPr>
            <a:r>
              <a:rPr lang="en-US" sz="112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fountain </a:t>
            </a:r>
            <a:r>
              <a:rPr lang="zh-CN" sz="112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的目标：把这些全部收进工具库。</a:t>
            </a:r>
            <a:endParaRPr lang="zh-CN" sz="1125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947" name="圆角矩形 1946"/>
          <p:cNvSpPr/>
          <p:nvPr/>
        </p:nvSpPr>
        <p:spPr>
          <a:xfrm>
            <a:off x="3695700" y="1143000"/>
            <a:ext cx="7886700" cy="952500"/>
          </a:xfrm>
          <a:prstGeom prst="roundRect">
            <a:avLst>
              <a:gd name="adj" fmla="val 10000"/>
            </a:avLst>
          </a:prstGeom>
          <a:solidFill>
            <a:srgbClr val="111C2E"/>
          </a:solidFill>
        </p:spPr>
        <p:txBody>
          <a:bodyPr/>
          <a:p/>
        </p:txBody>
      </p:sp>
      <p:sp>
        <p:nvSpPr>
          <p:cNvPr id="1948" name="文本框 1947" descr="{&quot;isTemplate&quot;:true,&quot;type&quot;:&quot;text&quot;}"/>
          <p:cNvSpPr txBox="1"/>
          <p:nvPr/>
        </p:nvSpPr>
        <p:spPr>
          <a:xfrm>
            <a:off x="3848100" y="1295400"/>
            <a:ext cx="304800" cy="2571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650" b="1">
                <a:solidFill>
                  <a:srgbClr val="38BDF8"/>
                </a:solidFill>
                <a:latin typeface="JetBrains Mono"/>
                <a:ea typeface="JetBrains Mono"/>
              </a:rPr>
              <a:t>1</a:t>
            </a:r>
            <a:endParaRPr lang="en-US" sz="1650" b="1">
              <a:solidFill>
                <a:srgbClr val="38BDF8"/>
              </a:solidFill>
              <a:latin typeface="JetBrains Mono"/>
              <a:ea typeface="JetBrains Mono"/>
            </a:endParaRPr>
          </a:p>
        </p:txBody>
      </p:sp>
      <p:sp>
        <p:nvSpPr>
          <p:cNvPr id="1949" name="文本框 1948" descr="{&quot;isTemplate&quot;:true,&quot;type&quot;:&quot;text&quot;}"/>
          <p:cNvSpPr txBox="1"/>
          <p:nvPr/>
        </p:nvSpPr>
        <p:spPr>
          <a:xfrm>
            <a:off x="4305300" y="1295400"/>
            <a:ext cx="7124700" cy="2000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对象创建与依赖装配</a:t>
            </a:r>
            <a:endParaRPr lang="zh-CN" sz="1275" b="1">
              <a:solidFill>
                <a:srgbClr val="E2E8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950" name="文本框 1949" descr="{&quot;isTemplate&quot;:true,&quot;type&quot;:&quot;text&quot;}"/>
          <p:cNvSpPr txBox="1"/>
          <p:nvPr/>
        </p:nvSpPr>
        <p:spPr>
          <a:xfrm>
            <a:off x="4305300" y="1533525"/>
            <a:ext cx="7124700" cy="2762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12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手搓工厂、手搓单例、手搓</a:t>
            </a:r>
            <a:r>
              <a:rPr lang="en-US" sz="112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getInstance()</a:t>
            </a:r>
            <a:endParaRPr lang="en-US" sz="1125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951" name="圆角矩形 1950"/>
          <p:cNvSpPr/>
          <p:nvPr/>
        </p:nvSpPr>
        <p:spPr>
          <a:xfrm>
            <a:off x="3695700" y="2190750"/>
            <a:ext cx="7886700" cy="952500"/>
          </a:xfrm>
          <a:prstGeom prst="roundRect">
            <a:avLst>
              <a:gd name="adj" fmla="val 10000"/>
            </a:avLst>
          </a:prstGeom>
          <a:solidFill>
            <a:srgbClr val="111C2E"/>
          </a:solidFill>
        </p:spPr>
        <p:txBody>
          <a:bodyPr/>
          <a:p/>
        </p:txBody>
      </p:sp>
      <p:sp>
        <p:nvSpPr>
          <p:cNvPr id="1952" name="文本框 1951" descr="{&quot;isTemplate&quot;:true,&quot;type&quot;:&quot;text&quot;}"/>
          <p:cNvSpPr txBox="1"/>
          <p:nvPr/>
        </p:nvSpPr>
        <p:spPr>
          <a:xfrm>
            <a:off x="3848100" y="2343150"/>
            <a:ext cx="304800" cy="2571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650" b="1">
                <a:solidFill>
                  <a:srgbClr val="38BDF8"/>
                </a:solidFill>
                <a:latin typeface="JetBrains Mono"/>
                <a:ea typeface="JetBrains Mono"/>
              </a:rPr>
              <a:t>2</a:t>
            </a:r>
            <a:endParaRPr lang="en-US" sz="1650" b="1">
              <a:solidFill>
                <a:srgbClr val="38BDF8"/>
              </a:solidFill>
              <a:latin typeface="JetBrains Mono"/>
              <a:ea typeface="JetBrains Mono"/>
            </a:endParaRPr>
          </a:p>
        </p:txBody>
      </p:sp>
      <p:sp>
        <p:nvSpPr>
          <p:cNvPr id="1953" name="文本框 1952" descr="{&quot;isTemplate&quot;:true,&quot;type&quot;:&quot;text&quot;}"/>
          <p:cNvSpPr txBox="1"/>
          <p:nvPr/>
        </p:nvSpPr>
        <p:spPr>
          <a:xfrm>
            <a:off x="4305300" y="2343150"/>
            <a:ext cx="7124700" cy="2000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每个接口开头同样的十几行</a:t>
            </a:r>
            <a:endParaRPr lang="zh-CN" sz="1275" b="1">
              <a:solidFill>
                <a:srgbClr val="E2E8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954" name="文本框 1953" descr="{&quot;isTemplate&quot;:true,&quot;type&quot;:&quot;text&quot;}"/>
          <p:cNvSpPr txBox="1"/>
          <p:nvPr/>
        </p:nvSpPr>
        <p:spPr>
          <a:xfrm>
            <a:off x="4305300" y="2581275"/>
            <a:ext cx="7124700" cy="2762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12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登录校验、权限校验、参数校验、异常处理、耗时统计</a:t>
            </a:r>
            <a:endParaRPr lang="zh-CN" sz="1125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955" name="圆角矩形 1954"/>
          <p:cNvSpPr/>
          <p:nvPr/>
        </p:nvSpPr>
        <p:spPr>
          <a:xfrm>
            <a:off x="3695700" y="3238500"/>
            <a:ext cx="7886700" cy="952500"/>
          </a:xfrm>
          <a:prstGeom prst="roundRect">
            <a:avLst>
              <a:gd name="adj" fmla="val 10000"/>
            </a:avLst>
          </a:prstGeom>
          <a:solidFill>
            <a:srgbClr val="111C2E"/>
          </a:solidFill>
        </p:spPr>
        <p:txBody>
          <a:bodyPr/>
          <a:p/>
        </p:txBody>
      </p:sp>
      <p:sp>
        <p:nvSpPr>
          <p:cNvPr id="1956" name="文本框 1955" descr="{&quot;isTemplate&quot;:true,&quot;type&quot;:&quot;text&quot;}"/>
          <p:cNvSpPr txBox="1"/>
          <p:nvPr/>
        </p:nvSpPr>
        <p:spPr>
          <a:xfrm>
            <a:off x="3848100" y="3390900"/>
            <a:ext cx="304800" cy="2571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650" b="1">
                <a:solidFill>
                  <a:srgbClr val="38BDF8"/>
                </a:solidFill>
                <a:latin typeface="JetBrains Mono"/>
                <a:ea typeface="JetBrains Mono"/>
              </a:rPr>
              <a:t>3</a:t>
            </a:r>
            <a:endParaRPr lang="en-US" sz="1650" b="1">
              <a:solidFill>
                <a:srgbClr val="38BDF8"/>
              </a:solidFill>
              <a:latin typeface="JetBrains Mono"/>
              <a:ea typeface="JetBrains Mono"/>
            </a:endParaRPr>
          </a:p>
        </p:txBody>
      </p:sp>
      <p:sp>
        <p:nvSpPr>
          <p:cNvPr id="1957" name="文本框 1956" descr="{&quot;isTemplate&quot;:true,&quot;type&quot;:&quot;text&quot;}"/>
          <p:cNvSpPr txBox="1"/>
          <p:nvPr/>
        </p:nvSpPr>
        <p:spPr>
          <a:xfrm>
            <a:off x="4305300" y="3390900"/>
            <a:ext cx="7124700" cy="2000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每张表重写一遍</a:t>
            </a:r>
            <a:r>
              <a:rPr lang="en-US" sz="1275" b="1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 CRUD</a:t>
            </a:r>
            <a:endParaRPr lang="en-US" sz="1275" b="1">
              <a:solidFill>
                <a:srgbClr val="E2E8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958" name="文本框 1957" descr="{&quot;isTemplate&quot;:true,&quot;type&quot;:&quot;text&quot;}"/>
          <p:cNvSpPr txBox="1"/>
          <p:nvPr/>
        </p:nvSpPr>
        <p:spPr>
          <a:xfrm>
            <a:off x="4305300" y="3629025"/>
            <a:ext cx="7124700" cy="2762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en-US" sz="112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insert / update / select / page</a:t>
            </a:r>
            <a:r>
              <a:rPr lang="zh-CN" sz="112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，</a:t>
            </a:r>
            <a:r>
              <a:rPr lang="en-US" sz="112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SQL </a:t>
            </a:r>
            <a:r>
              <a:rPr lang="zh-CN" sz="112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拼接、参数绑定、结果集映射</a:t>
            </a:r>
            <a:endParaRPr lang="zh-CN" sz="1125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959" name="圆角矩形 1958"/>
          <p:cNvSpPr/>
          <p:nvPr/>
        </p:nvSpPr>
        <p:spPr>
          <a:xfrm>
            <a:off x="3695700" y="4286250"/>
            <a:ext cx="7886700" cy="952500"/>
          </a:xfrm>
          <a:prstGeom prst="roundRect">
            <a:avLst>
              <a:gd name="adj" fmla="val 10000"/>
            </a:avLst>
          </a:prstGeom>
          <a:solidFill>
            <a:srgbClr val="111C2E"/>
          </a:solidFill>
        </p:spPr>
        <p:txBody>
          <a:bodyPr/>
          <a:p/>
        </p:txBody>
      </p:sp>
      <p:sp>
        <p:nvSpPr>
          <p:cNvPr id="1960" name="文本框 1959" descr="{&quot;isTemplate&quot;:true,&quot;type&quot;:&quot;text&quot;}"/>
          <p:cNvSpPr txBox="1"/>
          <p:nvPr/>
        </p:nvSpPr>
        <p:spPr>
          <a:xfrm>
            <a:off x="3848100" y="4438650"/>
            <a:ext cx="304800" cy="2571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650" b="1">
                <a:solidFill>
                  <a:srgbClr val="38BDF8"/>
                </a:solidFill>
                <a:latin typeface="JetBrains Mono"/>
                <a:ea typeface="JetBrains Mono"/>
              </a:rPr>
              <a:t>4</a:t>
            </a:r>
            <a:endParaRPr lang="en-US" sz="1650" b="1">
              <a:solidFill>
                <a:srgbClr val="38BDF8"/>
              </a:solidFill>
              <a:latin typeface="JetBrains Mono"/>
              <a:ea typeface="JetBrains Mono"/>
            </a:endParaRPr>
          </a:p>
        </p:txBody>
      </p:sp>
      <p:sp>
        <p:nvSpPr>
          <p:cNvPr id="1961" name="文本框 1960" descr="{&quot;isTemplate&quot;:true,&quot;type&quot;:&quot;text&quot;}"/>
          <p:cNvSpPr txBox="1"/>
          <p:nvPr/>
        </p:nvSpPr>
        <p:spPr>
          <a:xfrm>
            <a:off x="4305300" y="4438650"/>
            <a:ext cx="7124700" cy="2000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事务边界靠人肉保证</a:t>
            </a:r>
            <a:endParaRPr lang="zh-CN" sz="1275" b="1">
              <a:solidFill>
                <a:srgbClr val="E2E8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962" name="文本框 1961" descr="{&quot;isTemplate&quot;:true,&quot;type&quot;:&quot;text&quot;}"/>
          <p:cNvSpPr txBox="1"/>
          <p:nvPr/>
        </p:nvSpPr>
        <p:spPr>
          <a:xfrm>
            <a:off x="4305300" y="4676775"/>
            <a:ext cx="7124700" cy="2762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en-US" sz="112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try / commit / catch / rollback </a:t>
            </a:r>
            <a:r>
              <a:rPr lang="zh-CN" sz="112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复制粘贴，传播行为全靠约定</a:t>
            </a:r>
            <a:endParaRPr lang="zh-CN" sz="1125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963" name="圆角矩形 1962"/>
          <p:cNvSpPr/>
          <p:nvPr/>
        </p:nvSpPr>
        <p:spPr>
          <a:xfrm>
            <a:off x="3695700" y="5334000"/>
            <a:ext cx="7886700" cy="952500"/>
          </a:xfrm>
          <a:prstGeom prst="roundRect">
            <a:avLst>
              <a:gd name="adj" fmla="val 10000"/>
            </a:avLst>
          </a:prstGeom>
          <a:solidFill>
            <a:srgbClr val="111C2E"/>
          </a:solidFill>
        </p:spPr>
        <p:txBody>
          <a:bodyPr/>
          <a:p/>
        </p:txBody>
      </p:sp>
      <p:sp>
        <p:nvSpPr>
          <p:cNvPr id="1964" name="文本框 1963" descr="{&quot;isTemplate&quot;:true,&quot;type&quot;:&quot;text&quot;}"/>
          <p:cNvSpPr txBox="1"/>
          <p:nvPr/>
        </p:nvSpPr>
        <p:spPr>
          <a:xfrm>
            <a:off x="3848100" y="5486400"/>
            <a:ext cx="304800" cy="2571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650" b="1">
                <a:solidFill>
                  <a:srgbClr val="38BDF8"/>
                </a:solidFill>
                <a:latin typeface="JetBrains Mono"/>
                <a:ea typeface="JetBrains Mono"/>
              </a:rPr>
              <a:t>5</a:t>
            </a:r>
            <a:endParaRPr lang="en-US" sz="1650" b="1">
              <a:solidFill>
                <a:srgbClr val="38BDF8"/>
              </a:solidFill>
              <a:latin typeface="JetBrains Mono"/>
              <a:ea typeface="JetBrains Mono"/>
            </a:endParaRPr>
          </a:p>
        </p:txBody>
      </p:sp>
      <p:sp>
        <p:nvSpPr>
          <p:cNvPr id="1965" name="文本框 1964" descr="{&quot;isTemplate&quot;:true,&quot;type&quot;:&quot;text&quot;}"/>
          <p:cNvSpPr txBox="1"/>
          <p:nvPr/>
        </p:nvSpPr>
        <p:spPr>
          <a:xfrm>
            <a:off x="4305300" y="5486400"/>
            <a:ext cx="7124700" cy="2000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每个项目重新选型、重新封装</a:t>
            </a:r>
            <a:endParaRPr lang="zh-CN" sz="1275" b="1">
              <a:solidFill>
                <a:srgbClr val="E2E8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966" name="文本框 1965" descr="{&quot;isTemplate&quot;:true,&quot;type&quot;:&quot;text&quot;}"/>
          <p:cNvSpPr txBox="1"/>
          <p:nvPr/>
        </p:nvSpPr>
        <p:spPr>
          <a:xfrm>
            <a:off x="4305300" y="5724525"/>
            <a:ext cx="7124700" cy="2762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12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定时任务、</a:t>
            </a:r>
            <a:r>
              <a:rPr lang="en-US" sz="112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JWT</a:t>
            </a:r>
            <a:r>
              <a:rPr lang="zh-CN" sz="112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、连接池、日志、配置</a:t>
            </a:r>
            <a:endParaRPr lang="zh-CN" sz="1125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967" name="任意多边形 1966"/>
          <p:cNvSpPr/>
          <p:nvPr/>
        </p:nvSpPr>
        <p:spPr>
          <a:xfrm>
            <a:off x="609600" y="6286500"/>
            <a:ext cx="10972800" cy="381000"/>
          </a:xfrm>
          <a:custGeom>
            <a:avLst/>
            <a:gdLst/>
            <a:ahLst/>
            <a:cxnLst/>
            <a:pathLst>
              <a:path w="1152" h="40">
                <a:moveTo>
                  <a:pt x="0" y="0"/>
                </a:moveTo>
                <a:lnTo>
                  <a:pt x="1152" y="0"/>
                </a:lnTo>
                <a:lnTo>
                  <a:pt x="1152" y="1"/>
                </a:lnTo>
                <a:lnTo>
                  <a:pt x="0" y="1"/>
                </a:lnTo>
                <a:close/>
              </a:path>
            </a:pathLst>
          </a:custGeom>
          <a:solidFill>
            <a:srgbClr val="1E293B"/>
          </a:solidFill>
        </p:spPr>
        <p:txBody>
          <a:bodyPr/>
          <a:p/>
        </p:txBody>
      </p:sp>
      <p:sp>
        <p:nvSpPr>
          <p:cNvPr id="1968" name="文本框 1967" descr="{&quot;isTemplate&quot;:true,&quot;type&quot;:&quot;text&quot;}"/>
          <p:cNvSpPr txBox="1"/>
          <p:nvPr/>
        </p:nvSpPr>
        <p:spPr>
          <a:xfrm>
            <a:off x="609600" y="6410325"/>
            <a:ext cx="2219325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fountain · 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一站式服务器应用开发工具库</a:t>
            </a:r>
            <a:endParaRPr lang="zh-CN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969" name="文本框 1968" descr="{&quot;isTemplate&quot;:true,&quot;type&quot;:&quot;text&quot;}"/>
          <p:cNvSpPr txBox="1"/>
          <p:nvPr/>
        </p:nvSpPr>
        <p:spPr>
          <a:xfrm>
            <a:off x="11087100" y="6410325"/>
            <a:ext cx="495300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06 / 116</a:t>
            </a:r>
            <a:endParaRPr lang="en-US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28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1" name="矩形 228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220"/>
          </a:solidFill>
        </p:spPr>
        <p:txBody>
          <a:bodyPr/>
          <a:p/>
        </p:txBody>
      </p:sp>
      <p:sp>
        <p:nvSpPr>
          <p:cNvPr id="2282" name="矩形 2281"/>
          <p:cNvSpPr/>
          <p:nvPr/>
        </p:nvSpPr>
        <p:spPr>
          <a:xfrm>
            <a:off x="609600" y="476250"/>
            <a:ext cx="38100" cy="381000"/>
          </a:xfrm>
          <a:prstGeom prst="rect">
            <a:avLst/>
          </a:prstGeom>
          <a:solidFill>
            <a:srgbClr val="38BDF8"/>
          </a:solidFill>
        </p:spPr>
        <p:txBody>
          <a:bodyPr/>
          <a:p/>
        </p:txBody>
      </p:sp>
      <p:sp>
        <p:nvSpPr>
          <p:cNvPr id="2283" name="文本框 2282" descr="{&quot;isTemplate&quot;:true,&quot;type&quot;:&quot;text&quot;}"/>
          <p:cNvSpPr txBox="1"/>
          <p:nvPr/>
        </p:nvSpPr>
        <p:spPr>
          <a:xfrm>
            <a:off x="819150" y="304800"/>
            <a:ext cx="9629775" cy="2095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第</a:t>
            </a: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 1 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章</a:t>
            </a: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 · 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为什么使用</a:t>
            </a: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 fountain · 1.2</a:t>
            </a:r>
            <a:endParaRPr lang="en-US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284" name="文本框 2283" descr="{&quot;isTemplate&quot;:true,&quot;type&quot;:&quot;text&quot;}"/>
          <p:cNvSpPr txBox="1"/>
          <p:nvPr/>
        </p:nvSpPr>
        <p:spPr>
          <a:xfrm>
            <a:off x="819150" y="514350"/>
            <a:ext cx="9629775" cy="5143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en-US" sz="2550" b="1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fountain </a:t>
            </a:r>
            <a:r>
              <a:rPr lang="zh-CN" sz="2550" b="1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是什么</a:t>
            </a:r>
            <a:endParaRPr lang="zh-CN" sz="2550" b="1">
              <a:solidFill>
                <a:srgbClr val="E2E8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285" name="文本框 2284" descr="{&quot;isTemplate&quot;:true,&quot;type&quot;:&quot;text&quot;}"/>
          <p:cNvSpPr txBox="1"/>
          <p:nvPr/>
        </p:nvSpPr>
        <p:spPr>
          <a:xfrm>
            <a:off x="10620375" y="590550"/>
            <a:ext cx="962025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核心层</a:t>
            </a: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 15 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项能力</a:t>
            </a:r>
            <a:endParaRPr lang="zh-CN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286" name="文本框 2285" descr="{&quot;isTemplate&quot;:true,&quot;type&quot;:&quot;text&quot;}"/>
          <p:cNvSpPr txBox="1"/>
          <p:nvPr/>
        </p:nvSpPr>
        <p:spPr>
          <a:xfrm>
            <a:off x="609600" y="1143000"/>
            <a:ext cx="10972800" cy="2762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en-US" sz="112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40+ </a:t>
            </a:r>
            <a:r>
              <a:rPr lang="zh-CN" sz="112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模块，核心的那一层如下；外围模块既能被框架使用，也能单独当工具库引入。</a:t>
            </a:r>
            <a:endParaRPr lang="zh-CN" sz="1125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graphicFrame>
        <p:nvGraphicFramePr>
          <p:cNvPr id="2287" name="表格 2286"/>
          <p:cNvGraphicFramePr/>
          <p:nvPr/>
        </p:nvGraphicFramePr>
        <p:xfrm>
          <a:off x="609600" y="1533525"/>
          <a:ext cx="10972800" cy="4705356"/>
        </p:xfrm>
        <a:graphic>
          <a:graphicData uri="http://schemas.openxmlformats.org/drawingml/2006/table">
            <a:tbl>
              <a:tblPr/>
              <a:tblGrid>
                <a:gridCol w="1009521"/>
                <a:gridCol w="3523762"/>
                <a:gridCol w="6439517"/>
              </a:tblGrid>
              <a:tr h="275991"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 b="1">
                          <a:solidFill>
                            <a:srgbClr val="22D3EE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能力</a:t>
                      </a:r>
                      <a:endParaRPr sz="975" b="1">
                        <a:solidFill>
                          <a:srgbClr val="22D3EE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6233A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 b="1">
                          <a:solidFill>
                            <a:srgbClr val="22D3EE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模块</a:t>
                      </a:r>
                      <a:endParaRPr sz="975" b="1">
                        <a:solidFill>
                          <a:srgbClr val="22D3EE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6233A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 b="1">
                          <a:solidFill>
                            <a:srgbClr val="22D3EE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一句话</a:t>
                      </a:r>
                      <a:endParaRPr sz="975" b="1">
                        <a:solidFill>
                          <a:srgbClr val="22D3EE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6233A"/>
                    </a:solidFill>
                  </a:tcPr>
                </a:tc>
              </a:tr>
              <a:tr h="295291"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50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配置</a:t>
                      </a:r>
                      <a:endParaRPr sz="1050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50">
                          <a:solidFill>
                            <a:srgbClr val="38BDF8"/>
                          </a:solidFill>
                          <a:latin typeface="JetBrains Mono"/>
                          <a:ea typeface="JetBrains Mono"/>
                        </a:rPr>
                        <a:t>f_config</a:t>
                      </a:r>
                      <a:endParaRPr sz="1050">
                        <a:solidFill>
                          <a:srgbClr val="38BDF8"/>
                        </a:solidFill>
                        <a:latin typeface="JetBrains Mono"/>
                        <a:ea typeface="JetBrains Mono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50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没有配置文件：环境变量 / 命令行 / Config.set / 编译期 SM4 内嵌，四级优先级</a:t>
                      </a:r>
                      <a:endParaRPr sz="1050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95291"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50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IOC 容器</a:t>
                      </a:r>
                      <a:endParaRPr sz="1050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50">
                          <a:solidFill>
                            <a:srgbClr val="38BDF8"/>
                          </a:solidFill>
                          <a:latin typeface="JetBrains Mono"/>
                          <a:ea typeface="JetBrains Mono"/>
                        </a:rPr>
                        <a:t>f_bean</a:t>
                      </a:r>
                      <a:endParaRPr sz="1050">
                        <a:solidFill>
                          <a:srgbClr val="38BDF8"/>
                        </a:solidFill>
                        <a:latin typeface="JetBrains Mono"/>
                        <a:ea typeface="JetBrains Mono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50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@Bean + lookup&lt;T&gt;()，宏在编译期完成注册</a:t>
                      </a:r>
                      <a:endParaRPr sz="1050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95291"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50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AOP</a:t>
                      </a:r>
                      <a:endParaRPr sz="1050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50">
                          <a:solidFill>
                            <a:srgbClr val="38BDF8"/>
                          </a:solidFill>
                          <a:latin typeface="JetBrains Mono"/>
                          <a:ea typeface="JetBrains Mono"/>
                        </a:rPr>
                        <a:t>f_aspect</a:t>
                      </a:r>
                      <a:endParaRPr sz="1050">
                        <a:solidFill>
                          <a:srgbClr val="38BDF8"/>
                        </a:solidFill>
                        <a:latin typeface="JetBrains Mono"/>
                        <a:ea typeface="JetBrains Mono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50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Aspect 接口 + 织入规则，横切逻辑集中一处</a:t>
                      </a:r>
                      <a:endParaRPr sz="1050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95291"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50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数据</a:t>
                      </a:r>
                      <a:endParaRPr sz="1050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50">
                          <a:solidFill>
                            <a:srgbClr val="38BDF8"/>
                          </a:solidFill>
                          <a:latin typeface="JetBrains Mono"/>
                          <a:ea typeface="JetBrains Mono"/>
                        </a:rPr>
                        <a:t>f_data</a:t>
                      </a:r>
                      <a:endParaRPr sz="1050">
                        <a:solidFill>
                          <a:srgbClr val="38BDF8"/>
                        </a:solidFill>
                        <a:latin typeface="JetBrains Mono"/>
                        <a:ea typeface="JetBrains Mono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50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@DataAssist 一把宏搞定对象复制、JSON 互转、校验、JSONPath</a:t>
                      </a:r>
                      <a:endParaRPr sz="1050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95291"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50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MVC</a:t>
                      </a:r>
                      <a:endParaRPr sz="1050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50">
                          <a:solidFill>
                            <a:srgbClr val="38BDF8"/>
                          </a:solidFill>
                          <a:latin typeface="JetBrains Mono"/>
                          <a:ea typeface="JetBrains Mono"/>
                        </a:rPr>
                        <a:t>f_mvc</a:t>
                      </a:r>
                      <a:endParaRPr sz="1050">
                        <a:solidFill>
                          <a:srgbClr val="38BDF8"/>
                        </a:solidFill>
                        <a:latin typeface="JetBrains Mono"/>
                        <a:ea typeface="JetBrains Mono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50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@Controller + @GetMapping，HTTP 服务开箱即用</a:t>
                      </a:r>
                      <a:endParaRPr sz="1050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95291"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50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HTTP 数据格式</a:t>
                      </a:r>
                      <a:endParaRPr sz="1050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50">
                          <a:solidFill>
                            <a:srgbClr val="38BDF8"/>
                          </a:solidFill>
                          <a:latin typeface="JetBrains Mono"/>
                          <a:ea typeface="JetBrains Mono"/>
                        </a:rPr>
                        <a:t>f_http</a:t>
                      </a:r>
                      <a:endParaRPr sz="1050">
                        <a:solidFill>
                          <a:srgbClr val="38BDF8"/>
                        </a:solidFill>
                        <a:latin typeface="JetBrains Mono"/>
                        <a:ea typeface="JetBrains Mono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50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MediaType 抽象（json / text / multipart）+ 文件上传，可扩展私有协议</a:t>
                      </a:r>
                      <a:endParaRPr sz="1050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95291"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50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ORM</a:t>
                      </a:r>
                      <a:endParaRPr sz="1050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50">
                          <a:solidFill>
                            <a:srgbClr val="38BDF8"/>
                          </a:solidFill>
                          <a:latin typeface="JetBrains Mono"/>
                          <a:ea typeface="JetBrains Mono"/>
                        </a:rPr>
                        <a:t>f_orm</a:t>
                      </a:r>
                      <a:endParaRPr sz="1050">
                        <a:solidFill>
                          <a:srgbClr val="38BDF8"/>
                        </a:solidFill>
                        <a:latin typeface="JetBrains Mono"/>
                        <a:ea typeface="JetBrains Mono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50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DAO 就是接口，@DAO 以后 SqlExecutor 就是实现</a:t>
                      </a:r>
                      <a:endParaRPr sz="1050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95291"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50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安全</a:t>
                      </a:r>
                      <a:endParaRPr sz="1050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50">
                          <a:solidFill>
                            <a:srgbClr val="38BDF8"/>
                          </a:solidFill>
                          <a:latin typeface="JetBrains Mono"/>
                          <a:ea typeface="JetBrains Mono"/>
                        </a:rPr>
                        <a:t>f_security</a:t>
                      </a:r>
                      <a:endParaRPr sz="1050">
                        <a:solidFill>
                          <a:srgbClr val="38BDF8"/>
                        </a:solidFill>
                        <a:latin typeface="JetBrains Mono"/>
                        <a:ea typeface="JetBrains Mono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50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登录状态、鉴权、权限检查的统一抽象</a:t>
                      </a:r>
                      <a:endParaRPr sz="1050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95291"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50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JWT</a:t>
                      </a:r>
                      <a:endParaRPr sz="1050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50">
                          <a:solidFill>
                            <a:srgbClr val="38BDF8"/>
                          </a:solidFill>
                          <a:latin typeface="JetBrains Mono"/>
                          <a:ea typeface="JetBrains Mono"/>
                        </a:rPr>
                        <a:t>f_jwt</a:t>
                      </a:r>
                      <a:endParaRPr sz="1050">
                        <a:solidFill>
                          <a:srgbClr val="38BDF8"/>
                        </a:solidFill>
                        <a:latin typeface="JetBrains Mono"/>
                        <a:ea typeface="JetBrains Mono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50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完整的 JWT 编码 / 验签 API</a:t>
                      </a:r>
                      <a:endParaRPr sz="1050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95291"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50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CRON</a:t>
                      </a:r>
                      <a:endParaRPr sz="1050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50">
                          <a:solidFill>
                            <a:srgbClr val="38BDF8"/>
                          </a:solidFill>
                          <a:latin typeface="JetBrains Mono"/>
                          <a:ea typeface="JetBrains Mono"/>
                        </a:rPr>
                        <a:t>f_ticktock</a:t>
                      </a:r>
                      <a:endParaRPr sz="1050">
                        <a:solidFill>
                          <a:srgbClr val="38BDF8"/>
                        </a:solidFill>
                        <a:latin typeface="JetBrains Mono"/>
                        <a:ea typeface="JetBrains Mono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50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@Bean + cron 表达式即可定时执行</a:t>
                      </a:r>
                      <a:endParaRPr sz="1050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95291"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50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随机</a:t>
                      </a:r>
                      <a:endParaRPr sz="1050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50">
                          <a:solidFill>
                            <a:srgbClr val="38BDF8"/>
                          </a:solidFill>
                          <a:latin typeface="JetBrains Mono"/>
                          <a:ea typeface="JetBrains Mono"/>
                        </a:rPr>
                        <a:t>f_random</a:t>
                      </a:r>
                      <a:endParaRPr sz="1050">
                        <a:solidFill>
                          <a:srgbClr val="38BDF8"/>
                        </a:solidFill>
                        <a:latin typeface="JetBrains Mono"/>
                        <a:ea typeface="JetBrains Mono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50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区间随机数、随机数流、随机字符串、蓄水池抽样</a:t>
                      </a:r>
                      <a:endParaRPr sz="1050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95291"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50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工具箱</a:t>
                      </a:r>
                      <a:endParaRPr sz="1050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50">
                          <a:solidFill>
                            <a:srgbClr val="38BDF8"/>
                          </a:solidFill>
                          <a:latin typeface="JetBrains Mono"/>
                          <a:ea typeface="JetBrains Mono"/>
                        </a:rPr>
                        <a:t>f_util</a:t>
                      </a:r>
                      <a:endParaRPr sz="1050">
                        <a:solidFill>
                          <a:srgbClr val="38BDF8"/>
                        </a:solidFill>
                        <a:latin typeface="JetBrains Mono"/>
                        <a:ea typeface="JetBrains Mono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50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UUID(v1~v8) / IdMaker / TextTemplate / PathPattern / TreeTransformer / CaseFormat / 设计模式骨架</a:t>
                      </a:r>
                      <a:endParaRPr sz="1050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95291"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50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日志</a:t>
                      </a:r>
                      <a:endParaRPr sz="1050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50">
                          <a:solidFill>
                            <a:srgbClr val="38BDF8"/>
                          </a:solidFill>
                          <a:latin typeface="JetBrains Mono"/>
                          <a:ea typeface="JetBrains Mono"/>
                        </a:rPr>
                        <a:t>f_log</a:t>
                      </a:r>
                      <a:endParaRPr sz="1050">
                        <a:solidFill>
                          <a:srgbClr val="38BDF8"/>
                        </a:solidFill>
                        <a:latin typeface="JetBrains Mono"/>
                        <a:ea typeface="JetBrains Mono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50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stdx.log 的实现：默认静默、appender 即输出通道、全程异步、模板化消息</a:t>
                      </a:r>
                      <a:endParaRPr sz="1050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95291"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50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基础设施</a:t>
                      </a:r>
                      <a:endParaRPr sz="1050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94A3B8"/>
                          </a:solidFill>
                          <a:latin typeface="JetBrains Mono"/>
                          <a:ea typeface="JetBrains Mono"/>
                        </a:rPr>
                        <a:t>f_cache f_pool f_collection f_time f_regex f_rx</a:t>
                      </a:r>
                      <a:endParaRPr sz="975">
                        <a:solidFill>
                          <a:srgbClr val="94A3B8"/>
                        </a:solidFill>
                        <a:latin typeface="JetBrains Mono"/>
                        <a:ea typeface="JetBrains Mono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50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堆缓存 / 对象池 / 集合补位 / 时间 DSL / 正则缓存 / 反应式编程</a:t>
                      </a:r>
                      <a:endParaRPr sz="1050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95291"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50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启动器</a:t>
                      </a:r>
                      <a:endParaRPr sz="1050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50">
                          <a:solidFill>
                            <a:srgbClr val="F59E0B"/>
                          </a:solidFill>
                          <a:latin typeface="JetBrains Mono"/>
                          <a:ea typeface="JetBrains Mono"/>
                        </a:rPr>
                        <a:t>fboot / f_app</a:t>
                      </a:r>
                      <a:endParaRPr sz="1050">
                        <a:solidFill>
                          <a:srgbClr val="F59E0B"/>
                        </a:solidFill>
                        <a:latin typeface="JetBrains Mono"/>
                        <a:ea typeface="JetBrains Mono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50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没有 main 也能启动应用</a:t>
                      </a:r>
                      <a:endParaRPr sz="1050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</a:tbl>
          </a:graphicData>
        </a:graphic>
      </p:graphicFrame>
      <p:sp>
        <p:nvSpPr>
          <p:cNvPr id="2288" name="任意多边形 2287"/>
          <p:cNvSpPr/>
          <p:nvPr/>
        </p:nvSpPr>
        <p:spPr>
          <a:xfrm>
            <a:off x="609600" y="6286500"/>
            <a:ext cx="10972800" cy="381000"/>
          </a:xfrm>
          <a:custGeom>
            <a:avLst/>
            <a:gdLst/>
            <a:ahLst/>
            <a:cxnLst/>
            <a:pathLst>
              <a:path w="1152" h="40">
                <a:moveTo>
                  <a:pt x="0" y="0"/>
                </a:moveTo>
                <a:lnTo>
                  <a:pt x="1152" y="0"/>
                </a:lnTo>
                <a:lnTo>
                  <a:pt x="1152" y="1"/>
                </a:lnTo>
                <a:lnTo>
                  <a:pt x="0" y="1"/>
                </a:lnTo>
                <a:close/>
              </a:path>
            </a:pathLst>
          </a:custGeom>
          <a:solidFill>
            <a:srgbClr val="1E293B"/>
          </a:solidFill>
        </p:spPr>
        <p:txBody>
          <a:bodyPr/>
          <a:p/>
        </p:txBody>
      </p:sp>
      <p:sp>
        <p:nvSpPr>
          <p:cNvPr id="2289" name="文本框 2288" descr="{&quot;isTemplate&quot;:true,&quot;type&quot;:&quot;text&quot;}"/>
          <p:cNvSpPr txBox="1"/>
          <p:nvPr/>
        </p:nvSpPr>
        <p:spPr>
          <a:xfrm>
            <a:off x="609600" y="6410325"/>
            <a:ext cx="2219325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fountain · 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一站式服务器应用开发工具库</a:t>
            </a:r>
            <a:endParaRPr lang="zh-CN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290" name="文本框 2289" descr="{&quot;isTemplate&quot;:true,&quot;type&quot;:&quot;text&quot;}"/>
          <p:cNvSpPr txBox="1"/>
          <p:nvPr/>
        </p:nvSpPr>
        <p:spPr>
          <a:xfrm>
            <a:off x="11087100" y="6410325"/>
            <a:ext cx="495300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07 / 116</a:t>
            </a:r>
            <a:endParaRPr lang="en-US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60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3" name="矩形 260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220"/>
          </a:solidFill>
        </p:spPr>
        <p:txBody>
          <a:bodyPr/>
          <a:p/>
        </p:txBody>
      </p:sp>
      <p:sp>
        <p:nvSpPr>
          <p:cNvPr id="2604" name="矩形 2603"/>
          <p:cNvSpPr/>
          <p:nvPr/>
        </p:nvSpPr>
        <p:spPr>
          <a:xfrm>
            <a:off x="609600" y="476250"/>
            <a:ext cx="38100" cy="381000"/>
          </a:xfrm>
          <a:prstGeom prst="rect">
            <a:avLst/>
          </a:prstGeom>
          <a:solidFill>
            <a:srgbClr val="38BDF8"/>
          </a:solidFill>
        </p:spPr>
        <p:txBody>
          <a:bodyPr/>
          <a:p/>
        </p:txBody>
      </p:sp>
      <p:sp>
        <p:nvSpPr>
          <p:cNvPr id="2605" name="文本框 2604" descr="{&quot;isTemplate&quot;:true,&quot;type&quot;:&quot;text&quot;}"/>
          <p:cNvSpPr txBox="1"/>
          <p:nvPr/>
        </p:nvSpPr>
        <p:spPr>
          <a:xfrm>
            <a:off x="819150" y="304800"/>
            <a:ext cx="9601200" cy="2095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第</a:t>
            </a: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 1 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章</a:t>
            </a: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 · 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为什么使用</a:t>
            </a: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 fountain · 1.2 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续</a:t>
            </a:r>
            <a:endParaRPr lang="zh-CN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606" name="文本框 2605" descr="{&quot;isTemplate&quot;:true,&quot;type&quot;:&quot;text&quot;}"/>
          <p:cNvSpPr txBox="1"/>
          <p:nvPr/>
        </p:nvSpPr>
        <p:spPr>
          <a:xfrm>
            <a:off x="819150" y="514350"/>
            <a:ext cx="9601200" cy="5143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2550" b="1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外围模块与引用方式</a:t>
            </a:r>
            <a:endParaRPr lang="zh-CN" sz="2550" b="1">
              <a:solidFill>
                <a:srgbClr val="E2E8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607" name="文本框 2606" descr="{&quot;isTemplate&quot;:true,&quot;type&quot;:&quot;text&quot;}"/>
          <p:cNvSpPr txBox="1"/>
          <p:nvPr/>
        </p:nvSpPr>
        <p:spPr>
          <a:xfrm>
            <a:off x="10591800" y="590550"/>
            <a:ext cx="990600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核心层之外的一圈</a:t>
            </a:r>
            <a:endParaRPr lang="zh-CN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608" name="圆角矩形 2607"/>
          <p:cNvSpPr/>
          <p:nvPr/>
        </p:nvSpPr>
        <p:spPr>
          <a:xfrm>
            <a:off x="609600" y="1143000"/>
            <a:ext cx="3552825" cy="3143250"/>
          </a:xfrm>
          <a:prstGeom prst="roundRect">
            <a:avLst>
              <a:gd name="adj" fmla="val 3636"/>
            </a:avLst>
          </a:prstGeom>
          <a:solidFill>
            <a:srgbClr val="111C2E"/>
          </a:solidFill>
          <a:ln w="12700">
            <a:solidFill>
              <a:srgbClr val="1E293B"/>
            </a:solidFill>
            <a:prstDash val="solid"/>
          </a:ln>
        </p:spPr>
        <p:txBody>
          <a:bodyPr/>
          <a:p/>
        </p:txBody>
      </p:sp>
      <p:sp>
        <p:nvSpPr>
          <p:cNvPr id="2609" name="文本框 2608" descr="{&quot;isTemplate&quot;:true,&quot;type&quot;:&quot;text&quot;}"/>
          <p:cNvSpPr txBox="1"/>
          <p:nvPr/>
        </p:nvSpPr>
        <p:spPr>
          <a:xfrm>
            <a:off x="819150" y="1352550"/>
            <a:ext cx="3133725" cy="2286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外围模块</a:t>
            </a:r>
            <a:endParaRPr lang="zh-CN" sz="1500" b="1">
              <a:solidFill>
                <a:srgbClr val="E2E8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610" name="文本框 2609" descr="{&quot;isTemplate&quot;:true,&quot;type&quot;:&quot;text&quot;}"/>
          <p:cNvSpPr txBox="1"/>
          <p:nvPr/>
        </p:nvSpPr>
        <p:spPr>
          <a:xfrm>
            <a:off x="819150" y="1695450"/>
            <a:ext cx="3133725" cy="514350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工具类：</a:t>
            </a:r>
            <a:r>
              <a:rPr lang="en-US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f_base f_util f_collection f_concurrent f_io f_crypto f_random f_time f_regex f_rx</a:t>
            </a:r>
            <a:endParaRPr lang="en-US" sz="1050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611" name="文本框 2610" descr="{&quot;isTemplate&quot;:true,&quot;type&quot;:&quot;text&quot;}"/>
          <p:cNvSpPr txBox="1"/>
          <p:nvPr/>
        </p:nvSpPr>
        <p:spPr>
          <a:xfrm>
            <a:off x="819150" y="2286000"/>
            <a:ext cx="3133725" cy="514350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协议与存储：</a:t>
            </a:r>
            <a:r>
              <a:rPr lang="en-US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f_http f_net f_protocol f_store fleet f_rpc</a:t>
            </a:r>
            <a:endParaRPr lang="en-US" sz="1050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612" name="文本框 2611" descr="{&quot;isTemplate&quot;:true,&quot;type&quot;:&quot;text&quot;}"/>
          <p:cNvSpPr txBox="1"/>
          <p:nvPr/>
        </p:nvSpPr>
        <p:spPr>
          <a:xfrm>
            <a:off x="819150" y="2876550"/>
            <a:ext cx="3133725" cy="2571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en-US" altLang="zh-CN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http </a:t>
            </a:r>
            <a:r>
              <a:rPr lang="zh-CN" altLang="en-US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客户端</a:t>
            </a:r>
            <a:r>
              <a:rPr lang="zh-CN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：</a:t>
            </a:r>
            <a:r>
              <a:rPr lang="en-US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f_httpclient</a:t>
            </a:r>
            <a:endParaRPr lang="en-US" sz="1050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613" name="文本框 2612" descr="{&quot;isTemplate&quot;:true,&quot;type&quot;:&quot;text&quot;}"/>
          <p:cNvSpPr txBox="1"/>
          <p:nvPr/>
        </p:nvSpPr>
        <p:spPr>
          <a:xfrm>
            <a:off x="819150" y="3819525"/>
            <a:ext cx="3133725" cy="2571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05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既能被框架使用，也能单独当工具库引入</a:t>
            </a:r>
            <a:endParaRPr lang="zh-CN" sz="105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614" name="圆角矩形 2613"/>
          <p:cNvSpPr/>
          <p:nvPr/>
        </p:nvSpPr>
        <p:spPr>
          <a:xfrm>
            <a:off x="4314825" y="1143000"/>
            <a:ext cx="3562350" cy="3143250"/>
          </a:xfrm>
          <a:prstGeom prst="roundRect">
            <a:avLst>
              <a:gd name="adj" fmla="val 3636"/>
            </a:avLst>
          </a:prstGeom>
          <a:solidFill>
            <a:srgbClr val="111C2E"/>
          </a:solidFill>
          <a:ln w="12700">
            <a:solidFill>
              <a:srgbClr val="1E293B"/>
            </a:solidFill>
            <a:prstDash val="solid"/>
          </a:ln>
        </p:spPr>
        <p:txBody>
          <a:bodyPr/>
          <a:p/>
        </p:txBody>
      </p:sp>
      <p:sp>
        <p:nvSpPr>
          <p:cNvPr id="2615" name="文本框 2614" descr="{&quot;isTemplate&quot;:true,&quot;type&quot;:&quot;text&quot;}"/>
          <p:cNvSpPr txBox="1"/>
          <p:nvPr/>
        </p:nvSpPr>
        <p:spPr>
          <a:xfrm>
            <a:off x="4524375" y="1352550"/>
            <a:ext cx="3143250" cy="2286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引用方式</a:t>
            </a:r>
            <a:endParaRPr lang="zh-CN" sz="1500" b="1">
              <a:solidFill>
                <a:srgbClr val="E2E8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616" name="文本框 2615" descr="{&quot;isTemplate&quot;:true,&quot;type&quot;:&quot;text&quot;}"/>
          <p:cNvSpPr txBox="1"/>
          <p:nvPr/>
        </p:nvSpPr>
        <p:spPr>
          <a:xfrm>
            <a:off x="4524375" y="1676400"/>
            <a:ext cx="3143250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在项目根</a:t>
            </a:r>
            <a:r>
              <a:rPr lang="en-US" sz="105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 cjpm.toml </a:t>
            </a:r>
            <a:r>
              <a:rPr lang="zh-CN" sz="105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里加依赖</a:t>
            </a:r>
            <a:endParaRPr lang="zh-CN" sz="105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617" name="圆角矩形 2616"/>
          <p:cNvSpPr/>
          <p:nvPr/>
        </p:nvSpPr>
        <p:spPr>
          <a:xfrm>
            <a:off x="4524375" y="1952625"/>
            <a:ext cx="3143250" cy="962025"/>
          </a:xfrm>
          <a:prstGeom prst="roundRect">
            <a:avLst>
              <a:gd name="adj" fmla="val 7921"/>
            </a:avLst>
          </a:prstGeom>
          <a:solidFill>
            <a:srgbClr val="0B1220"/>
          </a:solidFill>
          <a:ln w="12700">
            <a:solidFill>
              <a:srgbClr val="1E293B"/>
            </a:solidFill>
            <a:prstDash val="solid"/>
          </a:ln>
        </p:spPr>
        <p:txBody>
          <a:bodyPr/>
          <a:p/>
        </p:txBody>
      </p:sp>
      <p:sp>
        <p:nvSpPr>
          <p:cNvPr id="2618" name="文本框 2617" descr="{&quot;isTemplate&quot;:true,&quot;type&quot;:&quot;text&quot;}"/>
          <p:cNvSpPr txBox="1"/>
          <p:nvPr/>
        </p:nvSpPr>
        <p:spPr>
          <a:xfrm>
            <a:off x="4676775" y="2105025"/>
            <a:ext cx="2838450" cy="6572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90000"/>
              </a:lnSpc>
            </a:pPr>
            <a:r>
              <a:rPr lang="en-US" sz="1125">
                <a:solidFill>
                  <a:srgbClr val="22D3EE"/>
                </a:solidFill>
                <a:latin typeface="JetBrains Mono"/>
                <a:ea typeface="JetBrains Mono"/>
              </a:rPr>
              <a:t>[dependencies]</a:t>
            </a:r>
            <a:endParaRPr lang="en-US" sz="1125">
              <a:solidFill>
                <a:srgbClr val="22D3EE"/>
              </a:solidFill>
              <a:latin typeface="JetBrains Mono"/>
              <a:ea typeface="JetBrains Mono"/>
            </a:endParaRPr>
          </a:p>
          <a:p>
            <a:pPr>
              <a:lnSpc>
                <a:spcPct val="190000"/>
              </a:lnSpc>
            </a:pPr>
            <a:r>
              <a:rPr lang="en-US" sz="1125">
                <a:solidFill>
                  <a:srgbClr val="22D3EE"/>
                </a:solidFill>
                <a:latin typeface="JetBrains Mono"/>
                <a:ea typeface="JetBrains Mono"/>
              </a:rPr>
              <a:t>"fountain::f_orm" = "a.b.c"</a:t>
            </a:r>
            <a:endParaRPr lang="en-US" sz="1125">
              <a:solidFill>
                <a:srgbClr val="22D3EE"/>
              </a:solidFill>
              <a:latin typeface="JetBrains Mono"/>
              <a:ea typeface="JetBrains Mono"/>
            </a:endParaRPr>
          </a:p>
        </p:txBody>
      </p:sp>
      <p:sp>
        <p:nvSpPr>
          <p:cNvPr id="2619" name="文本框 2618" descr="{&quot;isTemplate&quot;:true,&quot;type&quot;:&quot;text&quot;}"/>
          <p:cNvSpPr txBox="1"/>
          <p:nvPr/>
        </p:nvSpPr>
        <p:spPr>
          <a:xfrm>
            <a:off x="4524375" y="3048000"/>
            <a:ext cx="3143250" cy="2762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zh-CN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把</a:t>
            </a:r>
            <a:r>
              <a:rPr lang="en-US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a.b.c </a:t>
            </a:r>
            <a:r>
              <a:rPr lang="zh-CN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换成实际版本号，各模块版本一致。</a:t>
            </a:r>
            <a:endParaRPr lang="zh-CN" sz="1050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620" name="文本框 2619" descr="{&quot;isTemplate&quot;:true,&quot;type&quot;:&quot;text&quot;}"/>
          <p:cNvSpPr txBox="1"/>
          <p:nvPr/>
        </p:nvSpPr>
        <p:spPr>
          <a:xfrm>
            <a:off x="4524375" y="3800475"/>
            <a:ext cx="3143250" cy="2762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zh-CN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两种引用方式完全等价，团队内统一一种。</a:t>
            </a:r>
            <a:endParaRPr lang="zh-CN" sz="1050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621" name="圆角矩形 2620"/>
          <p:cNvSpPr/>
          <p:nvPr/>
        </p:nvSpPr>
        <p:spPr>
          <a:xfrm>
            <a:off x="8029575" y="1143000"/>
            <a:ext cx="3552825" cy="3143250"/>
          </a:xfrm>
          <a:prstGeom prst="roundRect">
            <a:avLst>
              <a:gd name="adj" fmla="val 3636"/>
            </a:avLst>
          </a:prstGeom>
          <a:solidFill>
            <a:srgbClr val="111C2E"/>
          </a:solidFill>
          <a:ln w="12700">
            <a:solidFill>
              <a:srgbClr val="1E293B"/>
            </a:solidFill>
            <a:prstDash val="solid"/>
          </a:ln>
        </p:spPr>
        <p:txBody>
          <a:bodyPr/>
          <a:p/>
        </p:txBody>
      </p:sp>
      <p:sp>
        <p:nvSpPr>
          <p:cNvPr id="2622" name="文本框 2621" descr="{&quot;isTemplate&quot;:true,&quot;type&quot;:&quot;text&quot;}"/>
          <p:cNvSpPr txBox="1"/>
          <p:nvPr/>
        </p:nvSpPr>
        <p:spPr>
          <a:xfrm>
            <a:off x="8239125" y="1352550"/>
            <a:ext cx="3133725" cy="2286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包名规则</a:t>
            </a:r>
            <a:endParaRPr lang="zh-CN" sz="1500" b="1">
              <a:solidFill>
                <a:srgbClr val="E2E8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623" name="文本框 2622" descr="{&quot;isTemplate&quot;:true,&quot;type&quot;:&quot;text&quot;}"/>
          <p:cNvSpPr txBox="1"/>
          <p:nvPr/>
        </p:nvSpPr>
        <p:spPr>
          <a:xfrm>
            <a:off x="8239125" y="1733550"/>
            <a:ext cx="3133725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直接包名</a:t>
            </a:r>
            <a:endParaRPr lang="zh-CN" sz="105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624" name="文本框 2623" descr="{&quot;isTemplate&quot;:true,&quot;type&quot;:&quot;text&quot;}"/>
          <p:cNvSpPr txBox="1"/>
          <p:nvPr/>
        </p:nvSpPr>
        <p:spPr>
          <a:xfrm>
            <a:off x="8239125" y="1895475"/>
            <a:ext cx="3133725" cy="1714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38BDF8"/>
                </a:solidFill>
                <a:latin typeface="JetBrains Mono"/>
                <a:ea typeface="JetBrains Mono"/>
              </a:rPr>
              <a:t>fountain::f_orm.*</a:t>
            </a:r>
            <a:endParaRPr lang="en-US" sz="1125">
              <a:solidFill>
                <a:srgbClr val="38BDF8"/>
              </a:solidFill>
              <a:latin typeface="JetBrains Mono"/>
              <a:ea typeface="JetBrains Mono"/>
            </a:endParaRPr>
          </a:p>
        </p:txBody>
      </p:sp>
      <p:sp>
        <p:nvSpPr>
          <p:cNvPr id="2625" name="文本框 2624" descr="{&quot;isTemplate&quot;:true,&quot;type&quot;:&quot;text&quot;}"/>
          <p:cNvSpPr txBox="1"/>
          <p:nvPr/>
        </p:nvSpPr>
        <p:spPr>
          <a:xfrm>
            <a:off x="8239125" y="2219325"/>
            <a:ext cx="3133725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聚合包</a:t>
            </a:r>
            <a:endParaRPr lang="zh-CN" sz="105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626" name="文本框 2625" descr="{&quot;isTemplate&quot;:true,&quot;type&quot;:&quot;text&quot;}"/>
          <p:cNvSpPr txBox="1"/>
          <p:nvPr/>
        </p:nvSpPr>
        <p:spPr>
          <a:xfrm>
            <a:off x="8239125" y="2381250"/>
            <a:ext cx="3133725" cy="1714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38BDF8"/>
                </a:solidFill>
                <a:latin typeface="JetBrains Mono"/>
                <a:ea typeface="JetBrains Mono"/>
              </a:rPr>
              <a:t>fountain::fountain.orm.*</a:t>
            </a:r>
            <a:endParaRPr lang="en-US" sz="1125">
              <a:solidFill>
                <a:srgbClr val="38BDF8"/>
              </a:solidFill>
              <a:latin typeface="JetBrains Mono"/>
              <a:ea typeface="JetBrains Mono"/>
            </a:endParaRPr>
          </a:p>
        </p:txBody>
      </p:sp>
      <p:sp>
        <p:nvSpPr>
          <p:cNvPr id="2627" name="文本框 2626" descr="{&quot;isTemplate&quot;:true,&quot;type&quot;:&quot;text&quot;}"/>
          <p:cNvSpPr txBox="1"/>
          <p:nvPr/>
        </p:nvSpPr>
        <p:spPr>
          <a:xfrm>
            <a:off x="8239125" y="3524250"/>
            <a:ext cx="3133725" cy="552450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zh-CN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聚合包把同一模块挂在统一命名空间下，迁移时少改</a:t>
            </a:r>
            <a:r>
              <a:rPr lang="en-US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import</a:t>
            </a:r>
            <a:r>
              <a:rPr lang="zh-CN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。</a:t>
            </a:r>
            <a:endParaRPr lang="zh-CN" sz="1050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628" name="圆角矩形 2627"/>
          <p:cNvSpPr/>
          <p:nvPr/>
        </p:nvSpPr>
        <p:spPr>
          <a:xfrm>
            <a:off x="609600" y="4438650"/>
            <a:ext cx="10972800" cy="1847850"/>
          </a:xfrm>
          <a:prstGeom prst="roundRect">
            <a:avLst>
              <a:gd name="adj" fmla="val 6186"/>
            </a:avLst>
          </a:prstGeom>
          <a:solidFill>
            <a:srgbClr val="38BDF8">
              <a:alpha val="6000"/>
            </a:srgbClr>
          </a:solidFill>
          <a:ln w="12700">
            <a:solidFill>
              <a:srgbClr val="1E293B"/>
            </a:solidFill>
            <a:prstDash val="solid"/>
          </a:ln>
        </p:spPr>
        <p:txBody>
          <a:bodyPr/>
          <a:p/>
        </p:txBody>
      </p:sp>
      <p:sp>
        <p:nvSpPr>
          <p:cNvPr id="2629" name="矩形 2628"/>
          <p:cNvSpPr/>
          <p:nvPr/>
        </p:nvSpPr>
        <p:spPr>
          <a:xfrm>
            <a:off x="819150" y="5095875"/>
            <a:ext cx="38100" cy="533400"/>
          </a:xfrm>
          <a:prstGeom prst="rect">
            <a:avLst/>
          </a:prstGeom>
          <a:solidFill>
            <a:srgbClr val="38BDF8"/>
          </a:solidFill>
        </p:spPr>
        <p:txBody>
          <a:bodyPr/>
          <a:p/>
        </p:txBody>
      </p:sp>
      <p:sp>
        <p:nvSpPr>
          <p:cNvPr id="2630" name="文本框 2629" descr="{&quot;isTemplate&quot;:true,&quot;type&quot;:&quot;text&quot;}"/>
          <p:cNvSpPr txBox="1"/>
          <p:nvPr/>
        </p:nvSpPr>
        <p:spPr>
          <a:xfrm>
            <a:off x="1085850" y="5086350"/>
            <a:ext cx="10287000" cy="2000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安装启动器：</a:t>
            </a:r>
            <a:r>
              <a:rPr lang="en-US" sz="1275" b="1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cjpm install "fountain::fboot"="</a:t>
            </a:r>
            <a:r>
              <a:rPr lang="zh-CN" sz="1275" b="1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【版本号】</a:t>
            </a:r>
            <a:r>
              <a:rPr lang="en-US" sz="1275" b="1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" --root ~/.cjpm</a:t>
            </a:r>
            <a:endParaRPr lang="en-US" sz="1275" b="1">
              <a:solidFill>
                <a:srgbClr val="E2E8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631" name="文本框 2630" descr="{&quot;isTemplate&quot;:true,&quot;type&quot;:&quot;text&quot;}"/>
          <p:cNvSpPr txBox="1"/>
          <p:nvPr/>
        </p:nvSpPr>
        <p:spPr>
          <a:xfrm>
            <a:off x="1085850" y="5343525"/>
            <a:ext cx="10287000" cy="2952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zh-CN" sz="112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版本号可在仓库</a:t>
            </a:r>
            <a:r>
              <a:rPr lang="en-US" sz="112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README </a:t>
            </a:r>
            <a:r>
              <a:rPr lang="zh-CN" sz="112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或</a:t>
            </a:r>
            <a:r>
              <a:rPr lang="en-US" sz="112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f_version </a:t>
            </a:r>
            <a:r>
              <a:rPr lang="zh-CN" sz="112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模块查看。</a:t>
            </a:r>
            <a:endParaRPr lang="zh-CN" sz="1125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632" name="任意多边形 2631"/>
          <p:cNvSpPr/>
          <p:nvPr/>
        </p:nvSpPr>
        <p:spPr>
          <a:xfrm>
            <a:off x="609600" y="6286500"/>
            <a:ext cx="10972800" cy="381000"/>
          </a:xfrm>
          <a:custGeom>
            <a:avLst/>
            <a:gdLst/>
            <a:ahLst/>
            <a:cxnLst/>
            <a:pathLst>
              <a:path w="1152" h="40">
                <a:moveTo>
                  <a:pt x="0" y="0"/>
                </a:moveTo>
                <a:lnTo>
                  <a:pt x="1152" y="0"/>
                </a:lnTo>
                <a:lnTo>
                  <a:pt x="1152" y="1"/>
                </a:lnTo>
                <a:lnTo>
                  <a:pt x="0" y="1"/>
                </a:lnTo>
                <a:close/>
              </a:path>
            </a:pathLst>
          </a:custGeom>
          <a:solidFill>
            <a:srgbClr val="1E293B"/>
          </a:solidFill>
        </p:spPr>
        <p:txBody>
          <a:bodyPr/>
          <a:p/>
        </p:txBody>
      </p:sp>
      <p:sp>
        <p:nvSpPr>
          <p:cNvPr id="2633" name="文本框 2632" descr="{&quot;isTemplate&quot;:true,&quot;type&quot;:&quot;text&quot;}"/>
          <p:cNvSpPr txBox="1"/>
          <p:nvPr/>
        </p:nvSpPr>
        <p:spPr>
          <a:xfrm>
            <a:off x="609600" y="6410325"/>
            <a:ext cx="2219325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fountain · 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一站式服务器应用开发工具库</a:t>
            </a:r>
            <a:endParaRPr lang="zh-CN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634" name="文本框 2633" descr="{&quot;isTemplate&quot;:true,&quot;type&quot;:&quot;text&quot;}"/>
          <p:cNvSpPr txBox="1"/>
          <p:nvPr/>
        </p:nvSpPr>
        <p:spPr>
          <a:xfrm>
            <a:off x="11087100" y="6410325"/>
            <a:ext cx="495300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08 / 116</a:t>
            </a:r>
            <a:endParaRPr lang="en-US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91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3" name="矩形 291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220"/>
          </a:solidFill>
        </p:spPr>
        <p:txBody>
          <a:bodyPr/>
          <a:p/>
        </p:txBody>
      </p:sp>
      <p:sp>
        <p:nvSpPr>
          <p:cNvPr id="2914" name="矩形 2913"/>
          <p:cNvSpPr/>
          <p:nvPr/>
        </p:nvSpPr>
        <p:spPr>
          <a:xfrm>
            <a:off x="609600" y="476250"/>
            <a:ext cx="38100" cy="381000"/>
          </a:xfrm>
          <a:prstGeom prst="rect">
            <a:avLst/>
          </a:prstGeom>
          <a:solidFill>
            <a:srgbClr val="38BDF8"/>
          </a:solidFill>
        </p:spPr>
        <p:txBody>
          <a:bodyPr/>
          <a:p/>
        </p:txBody>
      </p:sp>
      <p:sp>
        <p:nvSpPr>
          <p:cNvPr id="2915" name="文本框 2914" descr="{&quot;isTemplate&quot;:true,&quot;type&quot;:&quot;text&quot;}"/>
          <p:cNvSpPr txBox="1"/>
          <p:nvPr/>
        </p:nvSpPr>
        <p:spPr>
          <a:xfrm>
            <a:off x="819150" y="304800"/>
            <a:ext cx="9658350" cy="2095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第</a:t>
            </a: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 1 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章</a:t>
            </a: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 · 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为什么使用</a:t>
            </a: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 fountain · 1.3 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决策一</a:t>
            </a:r>
            <a:endParaRPr lang="zh-CN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916" name="文本框 2915" descr="{&quot;isTemplate&quot;:true,&quot;type&quot;:&quot;text&quot;}"/>
          <p:cNvSpPr txBox="1"/>
          <p:nvPr/>
        </p:nvSpPr>
        <p:spPr>
          <a:xfrm>
            <a:off x="819150" y="514350"/>
            <a:ext cx="9658350" cy="5143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2550" b="1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应用项目没有</a:t>
            </a:r>
            <a:r>
              <a:rPr lang="en-US" sz="2550" b="1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 main </a:t>
            </a:r>
            <a:r>
              <a:rPr lang="zh-CN" sz="2550" b="1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函数</a:t>
            </a:r>
            <a:endParaRPr lang="zh-CN" sz="2550" b="1">
              <a:solidFill>
                <a:srgbClr val="E2E8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917" name="文本框 2916" descr="{&quot;isTemplate&quot;:true,&quot;type&quot;:&quot;text&quot;}"/>
          <p:cNvSpPr txBox="1"/>
          <p:nvPr/>
        </p:nvSpPr>
        <p:spPr>
          <a:xfrm>
            <a:off x="10648950" y="590550"/>
            <a:ext cx="933450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反直觉决策</a:t>
            </a: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 1 / 3</a:t>
            </a:r>
            <a:endParaRPr lang="en-US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918" name="圆角矩形 2917"/>
          <p:cNvSpPr/>
          <p:nvPr/>
        </p:nvSpPr>
        <p:spPr>
          <a:xfrm>
            <a:off x="609600" y="1143000"/>
            <a:ext cx="4000500" cy="4429125"/>
          </a:xfrm>
          <a:prstGeom prst="roundRect">
            <a:avLst>
              <a:gd name="adj" fmla="val 2857"/>
            </a:avLst>
          </a:prstGeom>
          <a:solidFill>
            <a:srgbClr val="111C2E"/>
          </a:solidFill>
          <a:ln w="12700">
            <a:solidFill>
              <a:srgbClr val="1E293B"/>
            </a:solidFill>
            <a:prstDash val="solid"/>
          </a:ln>
        </p:spPr>
        <p:txBody>
          <a:bodyPr/>
          <a:p/>
        </p:txBody>
      </p:sp>
      <p:sp>
        <p:nvSpPr>
          <p:cNvPr id="2919" name="文本框 2918" descr="{&quot;isTemplate&quot;:true,&quot;type&quot;:&quot;text&quot;}"/>
          <p:cNvSpPr txBox="1"/>
          <p:nvPr/>
        </p:nvSpPr>
        <p:spPr>
          <a:xfrm>
            <a:off x="819150" y="1352550"/>
            <a:ext cx="3581400" cy="2286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装配发生在运行期</a:t>
            </a:r>
            <a:endParaRPr lang="zh-CN" sz="1500" b="1">
              <a:solidFill>
                <a:srgbClr val="E2E8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920" name="文本框 2919" descr="{&quot;isTemplate&quot;:true,&quot;type&quot;:&quot;text&quot;}"/>
          <p:cNvSpPr txBox="1"/>
          <p:nvPr/>
        </p:nvSpPr>
        <p:spPr>
          <a:xfrm>
            <a:off x="819150" y="1733550"/>
            <a:ext cx="171450" cy="5524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38BDF8"/>
                </a:solidFill>
                <a:latin typeface="JetBrains Mono"/>
                <a:ea typeface="JetBrains Mono"/>
              </a:rPr>
              <a:t>01</a:t>
            </a:r>
            <a:endParaRPr lang="en-US" sz="1125">
              <a:solidFill>
                <a:srgbClr val="38BDF8"/>
              </a:solidFill>
              <a:latin typeface="JetBrains Mono"/>
              <a:ea typeface="JetBrains Mono"/>
            </a:endParaRPr>
          </a:p>
        </p:txBody>
      </p:sp>
      <p:sp>
        <p:nvSpPr>
          <p:cNvPr id="2921" name="文本框 2920" descr="{&quot;isTemplate&quot;:true,&quot;type&quot;:&quot;text&quot;}"/>
          <p:cNvSpPr txBox="1"/>
          <p:nvPr/>
        </p:nvSpPr>
        <p:spPr>
          <a:xfrm>
            <a:off x="1104900" y="1733550"/>
            <a:ext cx="3295650" cy="552450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12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项目初始化成</a:t>
            </a:r>
            <a:r>
              <a:rPr lang="en-US" sz="112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workspace</a:t>
            </a:r>
            <a:r>
              <a:rPr lang="zh-CN" sz="112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，每个模块编译成动态链接库</a:t>
            </a:r>
            <a:endParaRPr lang="zh-CN" sz="1125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922" name="文本框 2921" descr="{&quot;isTemplate&quot;:true,&quot;type&quot;:&quot;text&quot;}"/>
          <p:cNvSpPr txBox="1"/>
          <p:nvPr/>
        </p:nvSpPr>
        <p:spPr>
          <a:xfrm>
            <a:off x="819150" y="2400300"/>
            <a:ext cx="171450" cy="5524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38BDF8"/>
                </a:solidFill>
                <a:latin typeface="JetBrains Mono"/>
                <a:ea typeface="JetBrains Mono"/>
              </a:rPr>
              <a:t>02</a:t>
            </a:r>
            <a:endParaRPr lang="en-US" sz="1125">
              <a:solidFill>
                <a:srgbClr val="38BDF8"/>
              </a:solidFill>
              <a:latin typeface="JetBrains Mono"/>
              <a:ea typeface="JetBrains Mono"/>
            </a:endParaRPr>
          </a:p>
        </p:txBody>
      </p:sp>
      <p:sp>
        <p:nvSpPr>
          <p:cNvPr id="2923" name="文本框 2922" descr="{&quot;isTemplate&quot;:true,&quot;type&quot;:&quot;text&quot;}"/>
          <p:cNvSpPr txBox="1"/>
          <p:nvPr/>
        </p:nvSpPr>
        <p:spPr>
          <a:xfrm>
            <a:off x="1104900" y="2400300"/>
            <a:ext cx="3295650" cy="552450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12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加一个功能＝放一个动态链接库进目录；不要它就从加载名单里去掉</a:t>
            </a:r>
            <a:endParaRPr lang="zh-CN" sz="1125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924" name="文本框 2923" descr="{&quot;isTemplate&quot;:true,&quot;type&quot;:&quot;text&quot;}"/>
          <p:cNvSpPr txBox="1"/>
          <p:nvPr/>
        </p:nvSpPr>
        <p:spPr>
          <a:xfrm>
            <a:off x="819150" y="3067050"/>
            <a:ext cx="171450" cy="5524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38BDF8"/>
                </a:solidFill>
                <a:latin typeface="JetBrains Mono"/>
                <a:ea typeface="JetBrains Mono"/>
              </a:rPr>
              <a:t>03</a:t>
            </a:r>
            <a:endParaRPr lang="en-US" sz="1125">
              <a:solidFill>
                <a:srgbClr val="38BDF8"/>
              </a:solidFill>
              <a:latin typeface="JetBrains Mono"/>
              <a:ea typeface="JetBrains Mono"/>
            </a:endParaRPr>
          </a:p>
        </p:txBody>
      </p:sp>
      <p:sp>
        <p:nvSpPr>
          <p:cNvPr id="2925" name="文本框 2924" descr="{&quot;isTemplate&quot;:true,&quot;type&quot;:&quot;text&quot;}"/>
          <p:cNvSpPr txBox="1"/>
          <p:nvPr/>
        </p:nvSpPr>
        <p:spPr>
          <a:xfrm>
            <a:off x="1104900" y="3067050"/>
            <a:ext cx="3295650" cy="552450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12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启动顺序、依赖拓扑、退出回调统一交给</a:t>
            </a:r>
            <a:r>
              <a:rPr lang="en-US" sz="112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f_app </a:t>
            </a:r>
            <a:r>
              <a:rPr lang="zh-CN" sz="112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的</a:t>
            </a:r>
            <a:r>
              <a:rPr lang="en-US" sz="112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Initializer </a:t>
            </a:r>
            <a:r>
              <a:rPr lang="zh-CN" sz="112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机制</a:t>
            </a:r>
            <a:endParaRPr lang="zh-CN" sz="1125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926" name="文本框 2925" descr="{&quot;isTemplate&quot;:true,&quot;type&quot;:&quot;text&quot;}"/>
          <p:cNvSpPr txBox="1"/>
          <p:nvPr/>
        </p:nvSpPr>
        <p:spPr>
          <a:xfrm>
            <a:off x="819150" y="4772025"/>
            <a:ext cx="3581400" cy="590550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zh-CN" sz="112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没有启动样板，没有手写容器初始化——业务代码只剩业务。</a:t>
            </a:r>
            <a:endParaRPr lang="zh-CN" sz="1125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927" name="圆角矩形 2926"/>
          <p:cNvSpPr/>
          <p:nvPr/>
        </p:nvSpPr>
        <p:spPr>
          <a:xfrm>
            <a:off x="609600" y="5705475"/>
            <a:ext cx="4000500" cy="581025"/>
          </a:xfrm>
          <a:prstGeom prst="roundRect">
            <a:avLst>
              <a:gd name="adj" fmla="val 19672"/>
            </a:avLst>
          </a:prstGeom>
          <a:solidFill>
            <a:srgbClr val="38BDF8">
              <a:alpha val="6000"/>
            </a:srgbClr>
          </a:solidFill>
          <a:ln w="12700">
            <a:solidFill>
              <a:srgbClr val="1E293B"/>
            </a:solidFill>
            <a:prstDash val="solid"/>
          </a:ln>
        </p:spPr>
        <p:txBody>
          <a:bodyPr/>
          <a:p/>
        </p:txBody>
      </p:sp>
      <p:sp>
        <p:nvSpPr>
          <p:cNvPr id="2928" name="文本框 2927" descr="{&quot;isTemplate&quot;:true,&quot;type&quot;:&quot;text&quot;}"/>
          <p:cNvSpPr txBox="1"/>
          <p:nvPr/>
        </p:nvSpPr>
        <p:spPr>
          <a:xfrm>
            <a:off x="800100" y="5915025"/>
            <a:ext cx="400050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一句话</a:t>
            </a:r>
            <a:endParaRPr lang="zh-CN" sz="105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929" name="文本框 2928" descr="{&quot;isTemplate&quot;:true,&quot;type&quot;:&quot;text&quot;}"/>
          <p:cNvSpPr txBox="1"/>
          <p:nvPr/>
        </p:nvSpPr>
        <p:spPr>
          <a:xfrm>
            <a:off x="1333500" y="5895975"/>
            <a:ext cx="3086100" cy="2000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这是真正的插件化</a:t>
            </a:r>
            <a:endParaRPr lang="zh-CN" sz="1275" b="1">
              <a:solidFill>
                <a:srgbClr val="E2E8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930" name="圆角矩形 2929"/>
          <p:cNvSpPr/>
          <p:nvPr/>
        </p:nvSpPr>
        <p:spPr>
          <a:xfrm>
            <a:off x="4838700" y="1143000"/>
            <a:ext cx="6743700" cy="5143500"/>
          </a:xfrm>
          <a:prstGeom prst="roundRect">
            <a:avLst>
              <a:gd name="adj" fmla="val 2222"/>
            </a:avLst>
          </a:prstGeom>
          <a:solidFill>
            <a:srgbClr val="111C2E"/>
          </a:solidFill>
          <a:ln w="12700">
            <a:solidFill>
              <a:srgbClr val="1E293B"/>
            </a:solidFill>
            <a:prstDash val="solid"/>
          </a:ln>
        </p:spPr>
        <p:txBody>
          <a:bodyPr/>
          <a:p/>
        </p:txBody>
      </p:sp>
      <p:sp>
        <p:nvSpPr>
          <p:cNvPr id="2931" name="文本框 2930" descr="{&quot;isTemplate&quot;:true,&quot;type&quot;:&quot;text&quot;}"/>
          <p:cNvSpPr txBox="1"/>
          <p:nvPr/>
        </p:nvSpPr>
        <p:spPr>
          <a:xfrm>
            <a:off x="5067300" y="1371600"/>
            <a:ext cx="6286500" cy="2095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 b="1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fboot </a:t>
            </a:r>
            <a:r>
              <a:rPr lang="zh-CN" sz="1350" b="1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的加载链</a:t>
            </a:r>
            <a:endParaRPr lang="zh-CN" sz="1350" b="1">
              <a:solidFill>
                <a:srgbClr val="E2E8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932" name="圆角矩形 2931"/>
          <p:cNvSpPr/>
          <p:nvPr/>
        </p:nvSpPr>
        <p:spPr>
          <a:xfrm>
            <a:off x="5067300" y="1714500"/>
            <a:ext cx="6286500" cy="400050"/>
          </a:xfrm>
          <a:prstGeom prst="roundRect">
            <a:avLst>
              <a:gd name="adj" fmla="val 19048"/>
            </a:avLst>
          </a:prstGeom>
          <a:solidFill>
            <a:srgbClr val="0B1220"/>
          </a:solidFill>
          <a:ln w="12700">
            <a:solidFill>
              <a:srgbClr val="1E293B"/>
            </a:solidFill>
            <a:prstDash val="solid"/>
          </a:ln>
        </p:spPr>
        <p:txBody>
          <a:bodyPr/>
          <a:p/>
        </p:txBody>
      </p:sp>
      <p:sp>
        <p:nvSpPr>
          <p:cNvPr id="2933" name="文本框 2932" descr="{&quot;isTemplate&quot;:true,&quot;type&quot;:&quot;text&quot;}"/>
          <p:cNvSpPr txBox="1"/>
          <p:nvPr/>
        </p:nvSpPr>
        <p:spPr>
          <a:xfrm>
            <a:off x="5181600" y="1828800"/>
            <a:ext cx="6057900" cy="1714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工作目录里的各模块产物（</a:t>
            </a:r>
            <a:r>
              <a:rPr lang="en-US" sz="1125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lib*.so / .dll / .dylib</a:t>
            </a:r>
            <a:r>
              <a:rPr lang="zh-CN" sz="1125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）</a:t>
            </a:r>
            <a:endParaRPr lang="zh-CN" sz="1125">
              <a:solidFill>
                <a:srgbClr val="E2E8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934" name="文本框 2933" descr="{&quot;isTemplate&quot;:true,&quot;type&quot;:&quot;text&quot;}"/>
          <p:cNvSpPr txBox="1"/>
          <p:nvPr/>
        </p:nvSpPr>
        <p:spPr>
          <a:xfrm>
            <a:off x="5067300" y="2171700"/>
            <a:ext cx="6286500" cy="247650"/>
          </a:xfrm>
          <a:prstGeom prst="rect">
            <a:avLst/>
          </a:prstGeom>
        </p:spPr>
        <p:txBody>
          <a:bodyPr wrap="none" lIns="0" tIns="0" rIns="0" bIns="0"/>
          <a:p>
            <a:pPr algn="ctr">
              <a:lnSpc>
                <a:spcPct val="120000"/>
              </a:lnSpc>
            </a:pPr>
            <a:r>
              <a:rPr sz="1350">
                <a:solidFill>
                  <a:srgbClr val="38BDF8"/>
                </a:solidFill>
                <a:latin typeface="微软雅黑" panose="020B0503020204020204" charset="-122"/>
                <a:ea typeface="微软雅黑" panose="020B0503020204020204" charset="-122"/>
              </a:rPr>
              <a:t>↓</a:t>
            </a:r>
            <a:endParaRPr sz="1350">
              <a:solidFill>
                <a:srgbClr val="38BDF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935" name="圆角矩形 2934"/>
          <p:cNvSpPr/>
          <p:nvPr/>
        </p:nvSpPr>
        <p:spPr>
          <a:xfrm>
            <a:off x="5067300" y="2476500"/>
            <a:ext cx="6286500" cy="400050"/>
          </a:xfrm>
          <a:prstGeom prst="roundRect">
            <a:avLst>
              <a:gd name="adj" fmla="val 19048"/>
            </a:avLst>
          </a:prstGeom>
          <a:solidFill>
            <a:srgbClr val="0B1220"/>
          </a:solidFill>
          <a:ln w="12700">
            <a:solidFill>
              <a:srgbClr val="1E293B"/>
            </a:solidFill>
            <a:prstDash val="solid"/>
          </a:ln>
        </p:spPr>
        <p:txBody>
          <a:bodyPr/>
          <a:p/>
        </p:txBody>
      </p:sp>
      <p:sp>
        <p:nvSpPr>
          <p:cNvPr id="2936" name="文本框 2935" descr="{&quot;isTemplate&quot;:true,&quot;type&quot;:&quot;text&quot;}"/>
          <p:cNvSpPr txBox="1"/>
          <p:nvPr/>
        </p:nvSpPr>
        <p:spPr>
          <a:xfrm>
            <a:off x="5181600" y="2590800"/>
            <a:ext cx="6057900" cy="1714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fboot run </a:t>
            </a:r>
            <a:r>
              <a:rPr lang="zh-CN" sz="1125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递归扫描，按</a:t>
            </a:r>
            <a:r>
              <a:rPr lang="en-US" sz="1125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 --dylibPattern </a:t>
            </a:r>
            <a:r>
              <a:rPr lang="zh-CN" sz="1125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加载匹配的库</a:t>
            </a:r>
            <a:endParaRPr lang="zh-CN" sz="1125">
              <a:solidFill>
                <a:srgbClr val="E2E8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937" name="文本框 2936" descr="{&quot;isTemplate&quot;:true,&quot;type&quot;:&quot;text&quot;}"/>
          <p:cNvSpPr txBox="1"/>
          <p:nvPr/>
        </p:nvSpPr>
        <p:spPr>
          <a:xfrm>
            <a:off x="5067300" y="2933700"/>
            <a:ext cx="6286500" cy="247650"/>
          </a:xfrm>
          <a:prstGeom prst="rect">
            <a:avLst/>
          </a:prstGeom>
        </p:spPr>
        <p:txBody>
          <a:bodyPr wrap="none" lIns="0" tIns="0" rIns="0" bIns="0"/>
          <a:p>
            <a:pPr algn="ctr">
              <a:lnSpc>
                <a:spcPct val="120000"/>
              </a:lnSpc>
            </a:pPr>
            <a:r>
              <a:rPr sz="1350">
                <a:solidFill>
                  <a:srgbClr val="38BDF8"/>
                </a:solidFill>
                <a:latin typeface="微软雅黑" panose="020B0503020204020204" charset="-122"/>
                <a:ea typeface="微软雅黑" panose="020B0503020204020204" charset="-122"/>
              </a:rPr>
              <a:t>↓</a:t>
            </a:r>
            <a:endParaRPr sz="1350">
              <a:solidFill>
                <a:srgbClr val="38BDF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938" name="圆角矩形 2937"/>
          <p:cNvSpPr/>
          <p:nvPr/>
        </p:nvSpPr>
        <p:spPr>
          <a:xfrm>
            <a:off x="5067300" y="3238500"/>
            <a:ext cx="6286500" cy="400050"/>
          </a:xfrm>
          <a:prstGeom prst="roundRect">
            <a:avLst>
              <a:gd name="adj" fmla="val 19048"/>
            </a:avLst>
          </a:prstGeom>
          <a:solidFill>
            <a:srgbClr val="0B1220"/>
          </a:solidFill>
          <a:ln w="12700">
            <a:solidFill>
              <a:srgbClr val="38BDF8"/>
            </a:solidFill>
            <a:prstDash val="solid"/>
          </a:ln>
        </p:spPr>
        <p:txBody>
          <a:bodyPr/>
          <a:p/>
        </p:txBody>
      </p:sp>
      <p:sp>
        <p:nvSpPr>
          <p:cNvPr id="2939" name="文本框 2938" descr="{&quot;isTemplate&quot;:true,&quot;type&quot;:&quot;text&quot;}"/>
          <p:cNvSpPr txBox="1"/>
          <p:nvPr/>
        </p:nvSpPr>
        <p:spPr>
          <a:xfrm>
            <a:off x="5181600" y="3352800"/>
            <a:ext cx="6057900" cy="1714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38BDF8"/>
                </a:solidFill>
                <a:latin typeface="微软雅黑" panose="020B0503020204020204" charset="-122"/>
                <a:ea typeface="微软雅黑" panose="020B0503020204020204" charset="-122"/>
              </a:rPr>
              <a:t>加载即执行宏生成的顶级闭包：</a:t>
            </a:r>
            <a:r>
              <a:rPr lang="en-US" sz="1125">
                <a:solidFill>
                  <a:srgbClr val="38BDF8"/>
                </a:solidFill>
                <a:latin typeface="微软雅黑" panose="020B0503020204020204" charset="-122"/>
                <a:ea typeface="微软雅黑" panose="020B0503020204020204" charset="-122"/>
              </a:rPr>
              <a:t>@Bean </a:t>
            </a:r>
            <a:r>
              <a:rPr lang="zh-CN" sz="1125">
                <a:solidFill>
                  <a:srgbClr val="38BDF8"/>
                </a:solidFill>
                <a:latin typeface="微软雅黑" panose="020B0503020204020204" charset="-122"/>
                <a:ea typeface="微软雅黑" panose="020B0503020204020204" charset="-122"/>
              </a:rPr>
              <a:t>进</a:t>
            </a:r>
            <a:r>
              <a:rPr lang="en-US" sz="1125">
                <a:solidFill>
                  <a:srgbClr val="38BDF8"/>
                </a:solidFill>
                <a:latin typeface="微软雅黑" panose="020B0503020204020204" charset="-122"/>
                <a:ea typeface="微软雅黑" panose="020B0503020204020204" charset="-122"/>
              </a:rPr>
              <a:t> IOC</a:t>
            </a:r>
            <a:r>
              <a:rPr lang="zh-CN" sz="1125">
                <a:solidFill>
                  <a:srgbClr val="38BDF8"/>
                </a:solidFill>
                <a:latin typeface="微软雅黑" panose="020B0503020204020204" charset="-122"/>
                <a:ea typeface="微软雅黑" panose="020B0503020204020204" charset="-122"/>
              </a:rPr>
              <a:t>、</a:t>
            </a:r>
            <a:r>
              <a:rPr lang="en-US" sz="1125">
                <a:solidFill>
                  <a:srgbClr val="38BDF8"/>
                </a:solidFill>
                <a:latin typeface="微软雅黑" panose="020B0503020204020204" charset="-122"/>
                <a:ea typeface="微软雅黑" panose="020B0503020204020204" charset="-122"/>
              </a:rPr>
              <a:t>Initializer </a:t>
            </a:r>
            <a:r>
              <a:rPr lang="zh-CN" sz="1125">
                <a:solidFill>
                  <a:srgbClr val="38BDF8"/>
                </a:solidFill>
                <a:latin typeface="微软雅黑" panose="020B0503020204020204" charset="-122"/>
                <a:ea typeface="微软雅黑" panose="020B0503020204020204" charset="-122"/>
              </a:rPr>
              <a:t>进集合、</a:t>
            </a:r>
            <a:r>
              <a:rPr lang="en-US" sz="1125">
                <a:solidFill>
                  <a:srgbClr val="38BDF8"/>
                </a:solidFill>
                <a:latin typeface="微软雅黑" panose="020B0503020204020204" charset="-122"/>
                <a:ea typeface="微软雅黑" panose="020B0503020204020204" charset="-122"/>
              </a:rPr>
              <a:t>controller </a:t>
            </a:r>
            <a:r>
              <a:rPr lang="zh-CN" sz="1125">
                <a:solidFill>
                  <a:srgbClr val="38BDF8"/>
                </a:solidFill>
                <a:latin typeface="微软雅黑" panose="020B0503020204020204" charset="-122"/>
                <a:ea typeface="微软雅黑" panose="020B0503020204020204" charset="-122"/>
              </a:rPr>
              <a:t>进</a:t>
            </a:r>
            <a:r>
              <a:rPr lang="en-US" sz="1125">
                <a:solidFill>
                  <a:srgbClr val="38BDF8"/>
                </a:solidFill>
                <a:latin typeface="微软雅黑" panose="020B0503020204020204" charset="-122"/>
                <a:ea typeface="微软雅黑" panose="020B0503020204020204" charset="-122"/>
              </a:rPr>
              <a:t> MVC</a:t>
            </a:r>
            <a:endParaRPr lang="en-US" sz="1125">
              <a:solidFill>
                <a:srgbClr val="38BDF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940" name="文本框 2939" descr="{&quot;isTemplate&quot;:true,&quot;type&quot;:&quot;text&quot;}"/>
          <p:cNvSpPr txBox="1"/>
          <p:nvPr/>
        </p:nvSpPr>
        <p:spPr>
          <a:xfrm>
            <a:off x="5067300" y="3695700"/>
            <a:ext cx="6286500" cy="247650"/>
          </a:xfrm>
          <a:prstGeom prst="rect">
            <a:avLst/>
          </a:prstGeom>
        </p:spPr>
        <p:txBody>
          <a:bodyPr wrap="none" lIns="0" tIns="0" rIns="0" bIns="0"/>
          <a:p>
            <a:pPr algn="ctr">
              <a:lnSpc>
                <a:spcPct val="120000"/>
              </a:lnSpc>
            </a:pPr>
            <a:r>
              <a:rPr sz="1350">
                <a:solidFill>
                  <a:srgbClr val="38BDF8"/>
                </a:solidFill>
                <a:latin typeface="微软雅黑" panose="020B0503020204020204" charset="-122"/>
                <a:ea typeface="微软雅黑" panose="020B0503020204020204" charset="-122"/>
              </a:rPr>
              <a:t>↓</a:t>
            </a:r>
            <a:endParaRPr sz="1350">
              <a:solidFill>
                <a:srgbClr val="38BDF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941" name="圆角矩形 2940"/>
          <p:cNvSpPr/>
          <p:nvPr/>
        </p:nvSpPr>
        <p:spPr>
          <a:xfrm>
            <a:off x="5067300" y="4000500"/>
            <a:ext cx="6286500" cy="400050"/>
          </a:xfrm>
          <a:prstGeom prst="roundRect">
            <a:avLst>
              <a:gd name="adj" fmla="val 19048"/>
            </a:avLst>
          </a:prstGeom>
          <a:solidFill>
            <a:srgbClr val="0B1220"/>
          </a:solidFill>
          <a:ln w="12700">
            <a:solidFill>
              <a:srgbClr val="1E293B"/>
            </a:solidFill>
            <a:prstDash val="solid"/>
          </a:ln>
        </p:spPr>
        <p:txBody>
          <a:bodyPr/>
          <a:p/>
        </p:txBody>
      </p:sp>
      <p:sp>
        <p:nvSpPr>
          <p:cNvPr id="2942" name="文本框 2941" descr="{&quot;isTemplate&quot;:true,&quot;type&quot;:&quot;text&quot;}"/>
          <p:cNvSpPr txBox="1"/>
          <p:nvPr/>
        </p:nvSpPr>
        <p:spPr>
          <a:xfrm>
            <a:off x="5181600" y="4114800"/>
            <a:ext cx="6057900" cy="1714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按</a:t>
            </a:r>
            <a:r>
              <a:rPr lang="en-US" sz="1125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 dependencies </a:t>
            </a:r>
            <a:r>
              <a:rPr lang="zh-CN" sz="1125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拓扑排序</a:t>
            </a:r>
            <a:r>
              <a:rPr lang="en-US" sz="1125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 → initialize() → </a:t>
            </a:r>
            <a:r>
              <a:rPr lang="zh-CN" sz="1125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收集</a:t>
            </a:r>
            <a:r>
              <a:rPr lang="en-US" sz="1125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 start()</a:t>
            </a:r>
            <a:endParaRPr lang="en-US" sz="1125">
              <a:solidFill>
                <a:srgbClr val="E2E8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943" name="文本框 2942" descr="{&quot;isTemplate&quot;:true,&quot;type&quot;:&quot;text&quot;}"/>
          <p:cNvSpPr txBox="1"/>
          <p:nvPr/>
        </p:nvSpPr>
        <p:spPr>
          <a:xfrm>
            <a:off x="5067300" y="4457700"/>
            <a:ext cx="6286500" cy="247650"/>
          </a:xfrm>
          <a:prstGeom prst="rect">
            <a:avLst/>
          </a:prstGeom>
        </p:spPr>
        <p:txBody>
          <a:bodyPr wrap="none" lIns="0" tIns="0" rIns="0" bIns="0"/>
          <a:p>
            <a:pPr algn="ctr">
              <a:lnSpc>
                <a:spcPct val="120000"/>
              </a:lnSpc>
            </a:pPr>
            <a:r>
              <a:rPr sz="1350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↓</a:t>
            </a:r>
            <a:endParaRPr sz="1350">
              <a:solidFill>
                <a:srgbClr val="F59E0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944" name="圆角矩形 2943"/>
          <p:cNvSpPr/>
          <p:nvPr/>
        </p:nvSpPr>
        <p:spPr>
          <a:xfrm>
            <a:off x="5067300" y="4762500"/>
            <a:ext cx="6286500" cy="400050"/>
          </a:xfrm>
          <a:prstGeom prst="roundRect">
            <a:avLst>
              <a:gd name="adj" fmla="val 19048"/>
            </a:avLst>
          </a:prstGeom>
          <a:solidFill>
            <a:srgbClr val="0B1220"/>
          </a:solidFill>
          <a:ln w="12700">
            <a:solidFill>
              <a:srgbClr val="F59E0B"/>
            </a:solidFill>
            <a:prstDash val="solid"/>
          </a:ln>
        </p:spPr>
        <p:txBody>
          <a:bodyPr/>
          <a:p/>
        </p:txBody>
      </p:sp>
      <p:sp>
        <p:nvSpPr>
          <p:cNvPr id="2945" name="文本框 2944" descr="{&quot;isTemplate&quot;:true,&quot;type&quot;:&quot;text&quot;}"/>
          <p:cNvSpPr txBox="1"/>
          <p:nvPr/>
        </p:nvSpPr>
        <p:spPr>
          <a:xfrm>
            <a:off x="5181600" y="4876800"/>
            <a:ext cx="6057900" cy="1714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各</a:t>
            </a:r>
            <a:r>
              <a:rPr lang="en-US" sz="1125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 start() </a:t>
            </a:r>
            <a:r>
              <a:rPr lang="zh-CN" sz="1125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在新线程执行：</a:t>
            </a:r>
            <a:r>
              <a:rPr lang="en-US" sz="1125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MVC </a:t>
            </a:r>
            <a:r>
              <a:rPr lang="zh-CN" sz="1125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启动</a:t>
            </a:r>
            <a:r>
              <a:rPr lang="en-US" sz="1125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 HTTP </a:t>
            </a:r>
            <a:r>
              <a:rPr lang="zh-CN" sz="1125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并阻塞；主线程永久阻塞</a:t>
            </a:r>
            <a:endParaRPr lang="zh-CN" sz="1125">
              <a:solidFill>
                <a:srgbClr val="F59E0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946" name="任意多边形 2945"/>
          <p:cNvSpPr/>
          <p:nvPr/>
        </p:nvSpPr>
        <p:spPr>
          <a:xfrm>
            <a:off x="609600" y="6286500"/>
            <a:ext cx="10972800" cy="381000"/>
          </a:xfrm>
          <a:custGeom>
            <a:avLst/>
            <a:gdLst/>
            <a:ahLst/>
            <a:cxnLst/>
            <a:pathLst>
              <a:path w="1152" h="40">
                <a:moveTo>
                  <a:pt x="0" y="0"/>
                </a:moveTo>
                <a:lnTo>
                  <a:pt x="1152" y="0"/>
                </a:lnTo>
                <a:lnTo>
                  <a:pt x="1152" y="1"/>
                </a:lnTo>
                <a:lnTo>
                  <a:pt x="0" y="1"/>
                </a:lnTo>
                <a:close/>
              </a:path>
            </a:pathLst>
          </a:custGeom>
          <a:solidFill>
            <a:srgbClr val="1E293B"/>
          </a:solidFill>
        </p:spPr>
        <p:txBody>
          <a:bodyPr/>
          <a:p/>
        </p:txBody>
      </p:sp>
      <p:sp>
        <p:nvSpPr>
          <p:cNvPr id="2947" name="文本框 2946" descr="{&quot;isTemplate&quot;:true,&quot;type&quot;:&quot;text&quot;}"/>
          <p:cNvSpPr txBox="1"/>
          <p:nvPr/>
        </p:nvSpPr>
        <p:spPr>
          <a:xfrm>
            <a:off x="609600" y="6410325"/>
            <a:ext cx="2219325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fountain · 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一站式服务器应用开发工具库</a:t>
            </a:r>
            <a:endParaRPr lang="zh-CN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948" name="文本框 2947" descr="{&quot;isTemplate&quot;:true,&quot;type&quot;:&quot;text&quot;}"/>
          <p:cNvSpPr txBox="1"/>
          <p:nvPr/>
        </p:nvSpPr>
        <p:spPr>
          <a:xfrm>
            <a:off x="11087100" y="6410325"/>
            <a:ext cx="495300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09 / 116</a:t>
            </a:r>
            <a:endParaRPr lang="en-US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220"/>
          </a:solidFill>
        </p:spPr>
        <p:txBody>
          <a:bodyPr/>
          <a:p/>
        </p:txBody>
      </p:sp>
      <p:sp>
        <p:nvSpPr>
          <p:cNvPr id="21" name="矩形 20"/>
          <p:cNvSpPr/>
          <p:nvPr/>
        </p:nvSpPr>
        <p:spPr>
          <a:xfrm>
            <a:off x="609600" y="476250"/>
            <a:ext cx="38100" cy="381000"/>
          </a:xfrm>
          <a:prstGeom prst="rect">
            <a:avLst/>
          </a:prstGeom>
          <a:solidFill>
            <a:srgbClr val="38BDF8"/>
          </a:solidFill>
        </p:spPr>
        <p:txBody>
          <a:bodyPr/>
          <a:p/>
        </p:txBody>
      </p:sp>
      <p:sp>
        <p:nvSpPr>
          <p:cNvPr id="22" name="文本框 21" descr="{&quot;isTemplate&quot;:true,&quot;type&quot;:&quot;text&quot;}"/>
          <p:cNvSpPr txBox="1"/>
          <p:nvPr/>
        </p:nvSpPr>
        <p:spPr>
          <a:xfrm>
            <a:off x="819150" y="304800"/>
            <a:ext cx="9658350" cy="2095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第</a:t>
            </a: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 1 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章</a:t>
            </a: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 · 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为什么使用</a:t>
            </a: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 fountain · 1.3 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决策二</a:t>
            </a:r>
            <a:endParaRPr lang="zh-CN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3" name="文本框 22" descr="{&quot;isTemplate&quot;:true,&quot;type&quot;:&quot;text&quot;}"/>
          <p:cNvSpPr txBox="1"/>
          <p:nvPr/>
        </p:nvSpPr>
        <p:spPr>
          <a:xfrm>
            <a:off x="819150" y="514350"/>
            <a:ext cx="9658350" cy="5143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2550" b="1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宏为主，注解为辅，反射只点两下</a:t>
            </a:r>
            <a:endParaRPr lang="zh-CN" sz="2550" b="1">
              <a:solidFill>
                <a:srgbClr val="E2E8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4" name="文本框 23" descr="{&quot;isTemplate&quot;:true,&quot;type&quot;:&quot;text&quot;}"/>
          <p:cNvSpPr txBox="1"/>
          <p:nvPr/>
        </p:nvSpPr>
        <p:spPr>
          <a:xfrm>
            <a:off x="10648950" y="590550"/>
            <a:ext cx="933450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反直觉决策</a:t>
            </a: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 2 / 3</a:t>
            </a:r>
            <a:endParaRPr lang="en-US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5" name="圆角矩形 24"/>
          <p:cNvSpPr/>
          <p:nvPr/>
        </p:nvSpPr>
        <p:spPr>
          <a:xfrm>
            <a:off x="609600" y="1143000"/>
            <a:ext cx="4953000" cy="2505075"/>
          </a:xfrm>
          <a:prstGeom prst="roundRect">
            <a:avLst>
              <a:gd name="adj" fmla="val 4563"/>
            </a:avLst>
          </a:prstGeom>
          <a:solidFill>
            <a:srgbClr val="111C2E"/>
          </a:solidFill>
          <a:ln w="12700">
            <a:solidFill>
              <a:srgbClr val="1E293B"/>
            </a:solidFill>
            <a:prstDash val="solid"/>
          </a:ln>
        </p:spPr>
        <p:txBody>
          <a:bodyPr/>
          <a:p/>
        </p:txBody>
      </p:sp>
      <p:sp>
        <p:nvSpPr>
          <p:cNvPr id="26" name="文本框 25" descr="{&quot;isTemplate&quot;:true,&quot;type&quot;:&quot;text&quot;}"/>
          <p:cNvSpPr txBox="1"/>
          <p:nvPr/>
        </p:nvSpPr>
        <p:spPr>
          <a:xfrm>
            <a:off x="800100" y="1333500"/>
            <a:ext cx="4572000" cy="2190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注解</a:t>
            </a:r>
            <a:r>
              <a:rPr lang="en-US" sz="1425" b="1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 · </a:t>
            </a:r>
            <a:r>
              <a:rPr lang="zh-CN" sz="1425" b="1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负责声明</a:t>
            </a:r>
            <a:endParaRPr lang="zh-CN" sz="1425" b="1">
              <a:solidFill>
                <a:srgbClr val="E2E8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7" name="文本框 26" descr="{&quot;isTemplate&quot;:true,&quot;type&quot;:&quot;text&quot;}"/>
          <p:cNvSpPr txBox="1"/>
          <p:nvPr/>
        </p:nvSpPr>
        <p:spPr>
          <a:xfrm>
            <a:off x="800100" y="1628775"/>
            <a:ext cx="4572000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写起来和</a:t>
            </a:r>
            <a:r>
              <a:rPr lang="en-US" sz="105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 Spring </a:t>
            </a:r>
            <a:r>
              <a:rPr lang="zh-CN" sz="105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很像，</a:t>
            </a:r>
            <a:r>
              <a:rPr lang="en-US" sz="105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fountain </a:t>
            </a:r>
            <a:r>
              <a:rPr lang="zh-CN" sz="105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用了很多</a:t>
            </a:r>
            <a:endParaRPr lang="zh-CN" sz="105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8" name="文本框 27" descr="{&quot;isTemplate&quot;:true,&quot;type&quot;:&quot;text&quot;}"/>
          <p:cNvSpPr txBox="1"/>
          <p:nvPr/>
        </p:nvSpPr>
        <p:spPr>
          <a:xfrm>
            <a:off x="800100" y="1905000"/>
            <a:ext cx="4572000" cy="9334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80000"/>
              </a:lnSpc>
            </a:pPr>
            <a:r>
              <a:rPr lang="en-US" sz="1125">
                <a:solidFill>
                  <a:srgbClr val="94A3B8"/>
                </a:solidFill>
                <a:latin typeface="JetBrains Mono"/>
                <a:ea typeface="JetBrains Mono"/>
              </a:rPr>
              <a:t>@BeanMeta</a:t>
            </a:r>
            <a:r>
              <a:rPr lang="zh-CN" sz="1125">
                <a:solidFill>
                  <a:srgbClr val="94A3B8"/>
                </a:solidFill>
                <a:latin typeface="JetBrains Mono"/>
                <a:ea typeface="JetBrains Mono"/>
              </a:rPr>
              <a:t>　</a:t>
            </a:r>
            <a:r>
              <a:rPr lang="en-US" sz="1125">
                <a:solidFill>
                  <a:srgbClr val="94A3B8"/>
                </a:solidFill>
                <a:latin typeface="JetBrains Mono"/>
                <a:ea typeface="JetBrains Mono"/>
              </a:rPr>
              <a:t>@AspectRoute</a:t>
            </a:r>
            <a:endParaRPr lang="en-US" sz="1125">
              <a:solidFill>
                <a:srgbClr val="94A3B8"/>
              </a:solidFill>
              <a:latin typeface="JetBrains Mono"/>
              <a:ea typeface="JetBrains Mono"/>
            </a:endParaRPr>
          </a:p>
          <a:p>
            <a:pPr>
              <a:lnSpc>
                <a:spcPct val="180000"/>
              </a:lnSpc>
            </a:pPr>
            <a:r>
              <a:rPr lang="en-US" sz="1125">
                <a:solidFill>
                  <a:srgbClr val="94A3B8"/>
                </a:solidFill>
                <a:latin typeface="JetBrains Mono"/>
                <a:ea typeface="JetBrains Mono"/>
              </a:rPr>
              <a:t>@GetMapping</a:t>
            </a:r>
            <a:r>
              <a:rPr lang="zh-CN" sz="1125">
                <a:solidFill>
                  <a:srgbClr val="94A3B8"/>
                </a:solidFill>
                <a:latin typeface="JetBrains Mono"/>
                <a:ea typeface="JetBrains Mono"/>
              </a:rPr>
              <a:t>　</a:t>
            </a:r>
            <a:r>
              <a:rPr lang="en-US" sz="1125">
                <a:solidFill>
                  <a:srgbClr val="94A3B8"/>
                </a:solidFill>
                <a:latin typeface="JetBrains Mono"/>
                <a:ea typeface="JetBrains Mono"/>
              </a:rPr>
              <a:t>@PostMapping</a:t>
            </a:r>
            <a:endParaRPr lang="en-US" sz="1125">
              <a:solidFill>
                <a:srgbClr val="94A3B8"/>
              </a:solidFill>
              <a:latin typeface="JetBrains Mono"/>
              <a:ea typeface="JetBrains Mono"/>
            </a:endParaRPr>
          </a:p>
          <a:p>
            <a:pPr>
              <a:lnSpc>
                <a:spcPct val="180000"/>
              </a:lnSpc>
            </a:pPr>
            <a:r>
              <a:rPr lang="en-US" sz="1125">
                <a:solidFill>
                  <a:srgbClr val="94A3B8"/>
                </a:solidFill>
                <a:latin typeface="JetBrains Mono"/>
                <a:ea typeface="JetBrains Mono"/>
              </a:rPr>
              <a:t>@RequestParam</a:t>
            </a:r>
            <a:r>
              <a:rPr lang="zh-CN" sz="1125">
                <a:solidFill>
                  <a:srgbClr val="94A3B8"/>
                </a:solidFill>
                <a:latin typeface="JetBrains Mono"/>
                <a:ea typeface="JetBrains Mono"/>
              </a:rPr>
              <a:t>　</a:t>
            </a:r>
            <a:r>
              <a:rPr lang="en-US" sz="1125">
                <a:solidFill>
                  <a:srgbClr val="94A3B8"/>
                </a:solidFill>
                <a:latin typeface="JetBrains Mono"/>
                <a:ea typeface="JetBrains Mono"/>
              </a:rPr>
              <a:t>@RequestBody</a:t>
            </a:r>
            <a:endParaRPr lang="en-US" sz="1125">
              <a:solidFill>
                <a:srgbClr val="94A3B8"/>
              </a:solidFill>
              <a:latin typeface="JetBrains Mono"/>
              <a:ea typeface="JetBrains Mono"/>
            </a:endParaRPr>
          </a:p>
        </p:txBody>
      </p:sp>
      <p:sp>
        <p:nvSpPr>
          <p:cNvPr id="29" name="圆角矩形 28"/>
          <p:cNvSpPr/>
          <p:nvPr/>
        </p:nvSpPr>
        <p:spPr>
          <a:xfrm>
            <a:off x="609600" y="3781425"/>
            <a:ext cx="4953000" cy="2505075"/>
          </a:xfrm>
          <a:prstGeom prst="roundRect">
            <a:avLst>
              <a:gd name="adj" fmla="val 4563"/>
            </a:avLst>
          </a:prstGeom>
          <a:solidFill>
            <a:srgbClr val="111C2E"/>
          </a:solidFill>
          <a:ln w="12700">
            <a:solidFill>
              <a:srgbClr val="38BDF8"/>
            </a:solidFill>
            <a:prstDash val="solid"/>
          </a:ln>
        </p:spPr>
        <p:txBody>
          <a:bodyPr/>
          <a:p/>
        </p:txBody>
      </p:sp>
      <p:sp>
        <p:nvSpPr>
          <p:cNvPr id="30" name="文本框 29" descr="{&quot;isTemplate&quot;:true,&quot;type&quot;:&quot;text&quot;}"/>
          <p:cNvSpPr txBox="1"/>
          <p:nvPr/>
        </p:nvSpPr>
        <p:spPr>
          <a:xfrm>
            <a:off x="800100" y="3971925"/>
            <a:ext cx="4572000" cy="2190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38BDF8"/>
                </a:solidFill>
                <a:latin typeface="微软雅黑" panose="020B0503020204020204" charset="-122"/>
                <a:ea typeface="微软雅黑" panose="020B0503020204020204" charset="-122"/>
              </a:rPr>
              <a:t>仓颉宏</a:t>
            </a:r>
            <a:r>
              <a:rPr lang="en-US" sz="1425" b="1">
                <a:solidFill>
                  <a:srgbClr val="38BDF8"/>
                </a:solidFill>
                <a:latin typeface="微软雅黑" panose="020B0503020204020204" charset="-122"/>
                <a:ea typeface="微软雅黑" panose="020B0503020204020204" charset="-122"/>
              </a:rPr>
              <a:t> · </a:t>
            </a:r>
            <a:r>
              <a:rPr lang="zh-CN" sz="1425" b="1">
                <a:solidFill>
                  <a:srgbClr val="38BDF8"/>
                </a:solidFill>
                <a:latin typeface="微软雅黑" panose="020B0503020204020204" charset="-122"/>
                <a:ea typeface="微软雅黑" panose="020B0503020204020204" charset="-122"/>
              </a:rPr>
              <a:t>负责干活</a:t>
            </a:r>
            <a:endParaRPr lang="zh-CN" sz="1425" b="1">
              <a:solidFill>
                <a:srgbClr val="38BDF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1" name="文本框 30" descr="{&quot;isTemplate&quot;:true,&quot;type&quot;:&quot;text&quot;}"/>
          <p:cNvSpPr txBox="1"/>
          <p:nvPr/>
        </p:nvSpPr>
        <p:spPr>
          <a:xfrm>
            <a:off x="800100" y="4267200"/>
            <a:ext cx="4572000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编译期就把注册代码、</a:t>
            </a:r>
            <a:r>
              <a:rPr lang="en-US" sz="105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getter/setter</a:t>
            </a:r>
            <a:r>
              <a:rPr lang="zh-CN" sz="105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、列映射、</a:t>
            </a:r>
            <a:r>
              <a:rPr lang="en-US" sz="105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DAO </a:t>
            </a:r>
            <a:r>
              <a:rPr lang="zh-CN" sz="105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实现全部生成好</a:t>
            </a:r>
            <a:endParaRPr lang="zh-CN" sz="105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2" name="文本框 31" descr="{&quot;isTemplate&quot;:true,&quot;type&quot;:&quot;text&quot;}"/>
          <p:cNvSpPr txBox="1"/>
          <p:nvPr/>
        </p:nvSpPr>
        <p:spPr>
          <a:xfrm>
            <a:off x="800100" y="4543425"/>
            <a:ext cx="4572000" cy="9334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80000"/>
              </a:lnSpc>
            </a:pPr>
            <a:r>
              <a:rPr lang="en-US" sz="1125">
                <a:solidFill>
                  <a:srgbClr val="94A3B8"/>
                </a:solidFill>
                <a:latin typeface="JetBrains Mono"/>
                <a:ea typeface="JetBrains Mono"/>
              </a:rPr>
              <a:t>@Bean</a:t>
            </a:r>
            <a:r>
              <a:rPr lang="zh-CN" sz="1125">
                <a:solidFill>
                  <a:srgbClr val="94A3B8"/>
                </a:solidFill>
                <a:latin typeface="JetBrains Mono"/>
                <a:ea typeface="JetBrains Mono"/>
              </a:rPr>
              <a:t>　</a:t>
            </a:r>
            <a:r>
              <a:rPr lang="en-US" sz="1125">
                <a:solidFill>
                  <a:srgbClr val="94A3B8"/>
                </a:solidFill>
                <a:latin typeface="JetBrains Mono"/>
                <a:ea typeface="JetBrains Mono"/>
              </a:rPr>
              <a:t>@Controller</a:t>
            </a:r>
            <a:r>
              <a:rPr lang="zh-CN" sz="1125">
                <a:solidFill>
                  <a:srgbClr val="94A3B8"/>
                </a:solidFill>
                <a:latin typeface="JetBrains Mono"/>
                <a:ea typeface="JetBrains Mono"/>
              </a:rPr>
              <a:t>　</a:t>
            </a:r>
            <a:r>
              <a:rPr lang="en-US" sz="1125">
                <a:solidFill>
                  <a:srgbClr val="94A3B8"/>
                </a:solidFill>
                <a:latin typeface="JetBrains Mono"/>
                <a:ea typeface="JetBrains Mono"/>
              </a:rPr>
              <a:t>@DAO</a:t>
            </a:r>
            <a:endParaRPr lang="en-US" sz="1125">
              <a:solidFill>
                <a:srgbClr val="94A3B8"/>
              </a:solidFill>
              <a:latin typeface="JetBrains Mono"/>
              <a:ea typeface="JetBrains Mono"/>
            </a:endParaRPr>
          </a:p>
          <a:p>
            <a:pPr>
              <a:lnSpc>
                <a:spcPct val="180000"/>
              </a:lnSpc>
            </a:pPr>
            <a:r>
              <a:rPr lang="en-US" sz="1125">
                <a:solidFill>
                  <a:srgbClr val="94A3B8"/>
                </a:solidFill>
                <a:latin typeface="JetBrains Mono"/>
                <a:ea typeface="JetBrains Mono"/>
              </a:rPr>
              <a:t>@QueryMappersGenerator</a:t>
            </a:r>
            <a:endParaRPr lang="en-US" sz="1125">
              <a:solidFill>
                <a:srgbClr val="94A3B8"/>
              </a:solidFill>
              <a:latin typeface="JetBrains Mono"/>
              <a:ea typeface="JetBrains Mono"/>
            </a:endParaRPr>
          </a:p>
          <a:p>
            <a:pPr>
              <a:lnSpc>
                <a:spcPct val="180000"/>
              </a:lnSpc>
            </a:pPr>
            <a:r>
              <a:rPr lang="en-US" sz="1125">
                <a:solidFill>
                  <a:srgbClr val="94A3B8"/>
                </a:solidFill>
                <a:latin typeface="JetBrains Mono"/>
                <a:ea typeface="JetBrains Mono"/>
              </a:rPr>
              <a:t>@ORMField</a:t>
            </a:r>
            <a:r>
              <a:rPr lang="zh-CN" sz="1125">
                <a:solidFill>
                  <a:srgbClr val="94A3B8"/>
                </a:solidFill>
                <a:latin typeface="JetBrains Mono"/>
                <a:ea typeface="JetBrains Mono"/>
              </a:rPr>
              <a:t>　</a:t>
            </a:r>
            <a:r>
              <a:rPr lang="en-US" sz="1125">
                <a:solidFill>
                  <a:srgbClr val="94A3B8"/>
                </a:solidFill>
                <a:latin typeface="JetBrains Mono"/>
                <a:ea typeface="JetBrains Mono"/>
              </a:rPr>
              <a:t>@DataAssist</a:t>
            </a:r>
            <a:endParaRPr lang="en-US" sz="1125">
              <a:solidFill>
                <a:srgbClr val="94A3B8"/>
              </a:solidFill>
              <a:latin typeface="JetBrains Mono"/>
              <a:ea typeface="JetBrains Mono"/>
            </a:endParaRPr>
          </a:p>
        </p:txBody>
      </p:sp>
      <p:sp>
        <p:nvSpPr>
          <p:cNvPr id="33" name="圆角矩形 32"/>
          <p:cNvSpPr/>
          <p:nvPr/>
        </p:nvSpPr>
        <p:spPr>
          <a:xfrm>
            <a:off x="5791200" y="1143000"/>
            <a:ext cx="5791200" cy="3790950"/>
          </a:xfrm>
          <a:prstGeom prst="roundRect">
            <a:avLst>
              <a:gd name="adj" fmla="val 3015"/>
            </a:avLst>
          </a:prstGeom>
          <a:solidFill>
            <a:srgbClr val="111C2E"/>
          </a:solidFill>
          <a:ln w="12700">
            <a:solidFill>
              <a:srgbClr val="1E293B"/>
            </a:solidFill>
            <a:prstDash val="solid"/>
          </a:ln>
        </p:spPr>
        <p:txBody>
          <a:bodyPr/>
          <a:p/>
        </p:txBody>
      </p:sp>
      <p:sp>
        <p:nvSpPr>
          <p:cNvPr id="34" name="文本框 33" descr="{&quot;isTemplate&quot;:true,&quot;type&quot;:&quot;text&quot;}"/>
          <p:cNvSpPr txBox="1"/>
          <p:nvPr/>
        </p:nvSpPr>
        <p:spPr>
          <a:xfrm>
            <a:off x="6000750" y="1352550"/>
            <a:ext cx="5372100" cy="2286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反射只出现两次</a:t>
            </a:r>
            <a:endParaRPr lang="zh-CN" sz="1500" b="1">
              <a:solidFill>
                <a:srgbClr val="E2E8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5" name="圆角矩形 34"/>
          <p:cNvSpPr/>
          <p:nvPr/>
        </p:nvSpPr>
        <p:spPr>
          <a:xfrm>
            <a:off x="6000750" y="1733550"/>
            <a:ext cx="5372100" cy="542925"/>
          </a:xfrm>
          <a:prstGeom prst="roundRect">
            <a:avLst>
              <a:gd name="adj" fmla="val 14035"/>
            </a:avLst>
          </a:prstGeom>
          <a:solidFill>
            <a:srgbClr val="0B1220"/>
          </a:solidFill>
        </p:spPr>
        <p:txBody>
          <a:bodyPr/>
          <a:p/>
        </p:txBody>
      </p:sp>
      <p:sp>
        <p:nvSpPr>
          <p:cNvPr id="36" name="文本框 35" descr="{&quot;isTemplate&quot;:true,&quot;type&quot;:&quot;text&quot;}"/>
          <p:cNvSpPr txBox="1"/>
          <p:nvPr/>
        </p:nvSpPr>
        <p:spPr>
          <a:xfrm>
            <a:off x="6134100" y="1866900"/>
            <a:ext cx="95250" cy="2762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>
                <a:solidFill>
                  <a:srgbClr val="38BDF8"/>
                </a:solidFill>
                <a:latin typeface="JetBrains Mono"/>
                <a:ea typeface="JetBrains Mono"/>
              </a:rPr>
              <a:t>1</a:t>
            </a:r>
            <a:endParaRPr lang="en-US" sz="1200">
              <a:solidFill>
                <a:srgbClr val="38BDF8"/>
              </a:solidFill>
              <a:latin typeface="JetBrains Mono"/>
              <a:ea typeface="JetBrains Mono"/>
            </a:endParaRPr>
          </a:p>
        </p:txBody>
      </p:sp>
      <p:sp>
        <p:nvSpPr>
          <p:cNvPr id="37" name="文本框 36" descr="{&quot;isTemplate&quot;:true,&quot;type&quot;:&quot;text&quot;}"/>
          <p:cNvSpPr txBox="1"/>
          <p:nvPr/>
        </p:nvSpPr>
        <p:spPr>
          <a:xfrm>
            <a:off x="6362700" y="1866900"/>
            <a:ext cx="4876800" cy="2762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12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启动初始化时：读一遍注解、类型与函数签名，把</a:t>
            </a:r>
            <a:r>
              <a:rPr lang="en-US" sz="112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bean </a:t>
            </a:r>
            <a:r>
              <a:rPr lang="zh-CN" sz="112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表、路由表建起来</a:t>
            </a:r>
            <a:endParaRPr lang="zh-CN" sz="1125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8" name="圆角矩形 37"/>
          <p:cNvSpPr/>
          <p:nvPr/>
        </p:nvSpPr>
        <p:spPr>
          <a:xfrm>
            <a:off x="6000750" y="2390775"/>
            <a:ext cx="5372100" cy="819150"/>
          </a:xfrm>
          <a:prstGeom prst="roundRect">
            <a:avLst>
              <a:gd name="adj" fmla="val 9302"/>
            </a:avLst>
          </a:prstGeom>
          <a:solidFill>
            <a:srgbClr val="0B1220"/>
          </a:solidFill>
        </p:spPr>
        <p:txBody>
          <a:bodyPr/>
          <a:p/>
        </p:txBody>
      </p:sp>
      <p:sp>
        <p:nvSpPr>
          <p:cNvPr id="39" name="文本框 38" descr="{&quot;isTemplate&quot;:true,&quot;type&quot;:&quot;text&quot;}"/>
          <p:cNvSpPr txBox="1"/>
          <p:nvPr/>
        </p:nvSpPr>
        <p:spPr>
          <a:xfrm>
            <a:off x="6134100" y="2524125"/>
            <a:ext cx="95250" cy="5524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>
                <a:solidFill>
                  <a:srgbClr val="38BDF8"/>
                </a:solidFill>
                <a:latin typeface="JetBrains Mono"/>
                <a:ea typeface="JetBrains Mono"/>
              </a:rPr>
              <a:t>2</a:t>
            </a:r>
            <a:endParaRPr lang="en-US" sz="1200">
              <a:solidFill>
                <a:srgbClr val="38BDF8"/>
              </a:solidFill>
              <a:latin typeface="JetBrains Mono"/>
              <a:ea typeface="JetBrains Mono"/>
            </a:endParaRPr>
          </a:p>
        </p:txBody>
      </p:sp>
      <p:sp>
        <p:nvSpPr>
          <p:cNvPr id="40" name="文本框 39" descr="{&quot;isTemplate&quot;:true,&quot;type&quot;:&quot;text&quot;}"/>
          <p:cNvSpPr txBox="1"/>
          <p:nvPr/>
        </p:nvSpPr>
        <p:spPr>
          <a:xfrm>
            <a:off x="6362700" y="2524125"/>
            <a:ext cx="4876800" cy="552450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12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切点函数首次被调用时：算出这条链上要织入哪些切面，之后缓存住，后续直接走缓存</a:t>
            </a:r>
            <a:endParaRPr lang="zh-CN" sz="1125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1" name="文本框 40" descr="{&quot;isTemplate&quot;:true,&quot;type&quot;:&quot;text&quot;}"/>
          <p:cNvSpPr txBox="1"/>
          <p:nvPr/>
        </p:nvSpPr>
        <p:spPr>
          <a:xfrm>
            <a:off x="6000750" y="4133850"/>
            <a:ext cx="5372100" cy="590550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zh-CN" sz="112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两处反射都只用来「取信息」——注解、类型、参数与返回值，不会用它调你的方法、读写你的字段。</a:t>
            </a:r>
            <a:endParaRPr lang="zh-CN" sz="1125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2" name="圆角矩形 41"/>
          <p:cNvSpPr/>
          <p:nvPr/>
        </p:nvSpPr>
        <p:spPr>
          <a:xfrm>
            <a:off x="5791200" y="5067300"/>
            <a:ext cx="5791200" cy="1219200"/>
          </a:xfrm>
          <a:prstGeom prst="roundRect">
            <a:avLst>
              <a:gd name="adj" fmla="val 9375"/>
            </a:avLst>
          </a:prstGeom>
          <a:solidFill>
            <a:srgbClr val="111C2E"/>
          </a:solidFill>
          <a:ln w="12700">
            <a:solidFill>
              <a:srgbClr val="F59E0B"/>
            </a:solidFill>
            <a:prstDash val="solid"/>
          </a:ln>
        </p:spPr>
        <p:txBody>
          <a:bodyPr/>
          <a:p/>
        </p:txBody>
      </p:sp>
      <p:sp>
        <p:nvSpPr>
          <p:cNvPr id="43" name="文本框 42" descr="{&quot;isTemplate&quot;:true,&quot;type&quot;:&quot;text&quot;}"/>
          <p:cNvSpPr txBox="1"/>
          <p:nvPr/>
        </p:nvSpPr>
        <p:spPr>
          <a:xfrm>
            <a:off x="5981700" y="5257800"/>
            <a:ext cx="5410200" cy="2095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能编译期解决的，绝不留到运行期</a:t>
            </a:r>
            <a:endParaRPr lang="zh-CN" sz="1350" b="1">
              <a:solidFill>
                <a:srgbClr val="F59E0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4" name="文本框 43" descr="{&quot;isTemplate&quot;:true,&quot;type&quot;:&quot;text&quot;}"/>
          <p:cNvSpPr txBox="1"/>
          <p:nvPr/>
        </p:nvSpPr>
        <p:spPr>
          <a:xfrm>
            <a:off x="5981700" y="5543550"/>
            <a:ext cx="5410200" cy="552450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12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代价：宏的约定必须遵守（如</a:t>
            </a:r>
            <a:r>
              <a:rPr lang="en-US" sz="112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@ORMField </a:t>
            </a:r>
            <a:r>
              <a:rPr lang="zh-CN" sz="112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只能修饰</a:t>
            </a:r>
            <a:r>
              <a:rPr lang="en-US" sz="112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public var </a:t>
            </a:r>
            <a:r>
              <a:rPr lang="zh-CN" sz="112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或</a:t>
            </a:r>
            <a:r>
              <a:rPr lang="en-US" sz="112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public mut prop</a:t>
            </a:r>
            <a:r>
              <a:rPr lang="zh-CN" sz="112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），编译期就报错</a:t>
            </a:r>
            <a:endParaRPr lang="zh-CN" sz="1125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5" name="任意多边形 44"/>
          <p:cNvSpPr/>
          <p:nvPr/>
        </p:nvSpPr>
        <p:spPr>
          <a:xfrm>
            <a:off x="609600" y="6286500"/>
            <a:ext cx="10972800" cy="381000"/>
          </a:xfrm>
          <a:custGeom>
            <a:avLst/>
            <a:gdLst/>
            <a:ahLst/>
            <a:cxnLst/>
            <a:pathLst>
              <a:path w="1152" h="40">
                <a:moveTo>
                  <a:pt x="0" y="0"/>
                </a:moveTo>
                <a:lnTo>
                  <a:pt x="1152" y="0"/>
                </a:lnTo>
                <a:lnTo>
                  <a:pt x="1152" y="1"/>
                </a:lnTo>
                <a:lnTo>
                  <a:pt x="0" y="1"/>
                </a:lnTo>
                <a:close/>
              </a:path>
            </a:pathLst>
          </a:custGeom>
          <a:solidFill>
            <a:srgbClr val="1E293B"/>
          </a:solidFill>
        </p:spPr>
        <p:txBody>
          <a:bodyPr/>
          <a:p/>
        </p:txBody>
      </p:sp>
      <p:sp>
        <p:nvSpPr>
          <p:cNvPr id="46" name="文本框 45" descr="{&quot;isTemplate&quot;:true,&quot;type&quot;:&quot;text&quot;}"/>
          <p:cNvSpPr txBox="1"/>
          <p:nvPr/>
        </p:nvSpPr>
        <p:spPr>
          <a:xfrm>
            <a:off x="609600" y="6410325"/>
            <a:ext cx="2219325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fountain · 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一站式服务器应用开发工具库</a:t>
            </a:r>
            <a:endParaRPr lang="zh-CN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7" name="文本框 46" descr="{&quot;isTemplate&quot;:true,&quot;type&quot;:&quot;text&quot;}"/>
          <p:cNvSpPr txBox="1"/>
          <p:nvPr/>
        </p:nvSpPr>
        <p:spPr>
          <a:xfrm>
            <a:off x="11087100" y="6410325"/>
            <a:ext cx="495300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10 / 116</a:t>
            </a:r>
            <a:endParaRPr lang="en-US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1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矩形 319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220"/>
          </a:solidFill>
        </p:spPr>
        <p:txBody>
          <a:bodyPr/>
          <a:p/>
        </p:txBody>
      </p:sp>
      <p:sp>
        <p:nvSpPr>
          <p:cNvPr id="321" name="矩形 320"/>
          <p:cNvSpPr/>
          <p:nvPr/>
        </p:nvSpPr>
        <p:spPr>
          <a:xfrm>
            <a:off x="609600" y="476250"/>
            <a:ext cx="38100" cy="381000"/>
          </a:xfrm>
          <a:prstGeom prst="rect">
            <a:avLst/>
          </a:prstGeom>
          <a:solidFill>
            <a:srgbClr val="38BDF8"/>
          </a:solidFill>
        </p:spPr>
        <p:txBody>
          <a:bodyPr/>
          <a:p/>
        </p:txBody>
      </p:sp>
      <p:sp>
        <p:nvSpPr>
          <p:cNvPr id="322" name="文本框 321" descr="{&quot;isTemplate&quot;:true,&quot;type&quot;:&quot;text&quot;}"/>
          <p:cNvSpPr txBox="1"/>
          <p:nvPr/>
        </p:nvSpPr>
        <p:spPr>
          <a:xfrm>
            <a:off x="819150" y="304800"/>
            <a:ext cx="9658350" cy="2095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第</a:t>
            </a: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 1 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章</a:t>
            </a: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 · 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为什么使用</a:t>
            </a: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 fountain · 1.3 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决策三</a:t>
            </a:r>
            <a:endParaRPr lang="zh-CN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23" name="文本框 322" descr="{&quot;isTemplate&quot;:true,&quot;type&quot;:&quot;text&quot;}"/>
          <p:cNvSpPr txBox="1"/>
          <p:nvPr/>
        </p:nvSpPr>
        <p:spPr>
          <a:xfrm>
            <a:off x="819150" y="514350"/>
            <a:ext cx="9658350" cy="5143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2550" b="1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一切配置都是环境变量或命令行参数</a:t>
            </a:r>
            <a:endParaRPr lang="zh-CN" sz="2550" b="1">
              <a:solidFill>
                <a:srgbClr val="E2E8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24" name="文本框 323" descr="{&quot;isTemplate&quot;:true,&quot;type&quot;:&quot;text&quot;}"/>
          <p:cNvSpPr txBox="1"/>
          <p:nvPr/>
        </p:nvSpPr>
        <p:spPr>
          <a:xfrm>
            <a:off x="10648950" y="590550"/>
            <a:ext cx="933450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反直觉决策</a:t>
            </a: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 3 / 3</a:t>
            </a:r>
            <a:endParaRPr lang="en-US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graphicFrame>
        <p:nvGraphicFramePr>
          <p:cNvPr id="325" name="表格 324"/>
          <p:cNvGraphicFramePr/>
          <p:nvPr/>
        </p:nvGraphicFramePr>
        <p:xfrm>
          <a:off x="609600" y="1143000"/>
          <a:ext cx="10972801" cy="2781301"/>
        </p:xfrm>
        <a:graphic>
          <a:graphicData uri="http://schemas.openxmlformats.org/drawingml/2006/table">
            <a:tbl>
              <a:tblPr/>
              <a:tblGrid>
                <a:gridCol w="2141829"/>
                <a:gridCol w="4882067"/>
                <a:gridCol w="3948905"/>
              </a:tblGrid>
              <a:tr h="515805"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50" b="1">
                          <a:solidFill>
                            <a:srgbClr val="22D3EE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来源</a:t>
                      </a:r>
                      <a:endParaRPr sz="1050" b="1">
                        <a:solidFill>
                          <a:srgbClr val="22D3EE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6233A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50" b="1">
                          <a:solidFill>
                            <a:srgbClr val="22D3EE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形态</a:t>
                      </a:r>
                      <a:endParaRPr sz="1050" b="1">
                        <a:solidFill>
                          <a:srgbClr val="22D3EE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6233A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50" b="1">
                          <a:solidFill>
                            <a:srgbClr val="22D3EE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何时生效</a:t>
                      </a:r>
                      <a:endParaRPr sz="1050" b="1">
                        <a:solidFill>
                          <a:srgbClr val="22D3EE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6233A"/>
                    </a:solidFill>
                  </a:tcPr>
                </a:tc>
              </a:tr>
              <a:tr h="566374"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00" b="1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环境变量</a:t>
                      </a:r>
                      <a:endParaRPr sz="1200" b="1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00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export mvc_port=8080</a:t>
                      </a:r>
                      <a:endParaRPr sz="1200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00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进程启动时由 static init 装载</a:t>
                      </a:r>
                      <a:endParaRPr sz="1200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566374"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00" b="1">
                          <a:solidFill>
                            <a:srgbClr val="F59E0B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命令行参数</a:t>
                      </a:r>
                      <a:endParaRPr sz="1200" b="1">
                        <a:solidFill>
                          <a:srgbClr val="F59E0B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00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--mvc_port=9090</a:t>
                      </a:r>
                      <a:endParaRPr sz="1200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00">
                          <a:solidFill>
                            <a:srgbClr val="F59E0B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同上，且覆盖同名环境变量</a:t>
                      </a:r>
                      <a:endParaRPr sz="1200">
                        <a:solidFill>
                          <a:srgbClr val="F59E0B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566374"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00" b="1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进程内 Config.set</a:t>
                      </a:r>
                      <a:endParaRPr sz="1200" b="1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50">
                          <a:solidFill>
                            <a:srgbClr val="E2E8F0"/>
                          </a:solidFill>
                          <a:latin typeface="JetBrains Mono"/>
                          <a:ea typeface="JetBrains Mono"/>
                        </a:rPr>
                        <a:t>Config.set&lt;Int64&gt;([("mvc_port", 9090)])</a:t>
                      </a:r>
                      <a:endParaRPr sz="1050">
                        <a:solidFill>
                          <a:srgbClr val="E2E8F0"/>
                        </a:solidFill>
                        <a:latin typeface="JetBrains Mono"/>
                        <a:ea typeface="JetBrains Mono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00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运行期写入 / 覆盖</a:t>
                      </a:r>
                      <a:endParaRPr sz="1200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566374"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00" b="1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编译期内嵌敏感值</a:t>
                      </a:r>
                      <a:endParaRPr sz="1200" b="1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50">
                          <a:solidFill>
                            <a:srgbClr val="E2E8F0"/>
                          </a:solidFill>
                          <a:latin typeface="JetBrains Mono"/>
                          <a:ea typeface="JetBrains Mono"/>
                        </a:rPr>
                        <a:t>fboot build --paySecret=xxx</a:t>
                      </a:r>
                      <a:endParaRPr sz="1050">
                        <a:solidFill>
                          <a:srgbClr val="E2E8F0"/>
                        </a:solidFill>
                        <a:latin typeface="JetBrains Mono"/>
                        <a:ea typeface="JetBrains Mono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00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编译时嵌入产物，运行期解密 / 还原</a:t>
                      </a:r>
                      <a:endParaRPr sz="1200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</a:tbl>
          </a:graphicData>
        </a:graphic>
      </p:graphicFrame>
      <p:sp>
        <p:nvSpPr>
          <p:cNvPr id="326" name="圆角矩形 325"/>
          <p:cNvSpPr/>
          <p:nvPr/>
        </p:nvSpPr>
        <p:spPr>
          <a:xfrm>
            <a:off x="609600" y="4076700"/>
            <a:ext cx="3571875" cy="2209800"/>
          </a:xfrm>
          <a:prstGeom prst="roundRect">
            <a:avLst>
              <a:gd name="adj" fmla="val 5172"/>
            </a:avLst>
          </a:prstGeom>
          <a:solidFill>
            <a:srgbClr val="111C2E"/>
          </a:solidFill>
          <a:ln w="12700">
            <a:solidFill>
              <a:srgbClr val="1E293B"/>
            </a:solidFill>
            <a:prstDash val="solid"/>
          </a:ln>
        </p:spPr>
        <p:txBody>
          <a:bodyPr/>
          <a:p/>
        </p:txBody>
      </p:sp>
      <p:sp>
        <p:nvSpPr>
          <p:cNvPr id="327" name="文本框 326" descr="{&quot;isTemplate&quot;:true,&quot;type&quot;:&quot;text&quot;}"/>
          <p:cNvSpPr txBox="1"/>
          <p:nvPr/>
        </p:nvSpPr>
        <p:spPr>
          <a:xfrm>
            <a:off x="781050" y="4248150"/>
            <a:ext cx="3228975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编译期</a:t>
            </a:r>
            <a:endParaRPr lang="zh-CN" sz="105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28" name="文本框 327" descr="{&quot;isTemplate&quot;:true,&quot;type&quot;:&quot;text&quot;}"/>
          <p:cNvSpPr txBox="1"/>
          <p:nvPr/>
        </p:nvSpPr>
        <p:spPr>
          <a:xfrm>
            <a:off x="781050" y="4467225"/>
            <a:ext cx="3228975" cy="1905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写入产物</a:t>
            </a:r>
            <a:endParaRPr lang="zh-CN" sz="1200" b="1">
              <a:solidFill>
                <a:srgbClr val="E2E8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29" name="文本框 328" descr="{&quot;isTemplate&quot;:true,&quot;type&quot;:&quot;text&quot;}"/>
          <p:cNvSpPr txBox="1"/>
          <p:nvPr/>
        </p:nvSpPr>
        <p:spPr>
          <a:xfrm>
            <a:off x="781050" y="4733925"/>
            <a:ext cx="3228975" cy="514350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宏读到这些参数，把连接串与口令以</a:t>
            </a:r>
            <a:r>
              <a:rPr lang="en-US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SM4 </a:t>
            </a:r>
            <a:r>
              <a:rPr lang="zh-CN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密文形式嵌入产物</a:t>
            </a:r>
            <a:endParaRPr lang="zh-CN" sz="1050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30" name="圆角矩形 329"/>
          <p:cNvSpPr/>
          <p:nvPr/>
        </p:nvSpPr>
        <p:spPr>
          <a:xfrm>
            <a:off x="4314825" y="4076700"/>
            <a:ext cx="3562350" cy="2209800"/>
          </a:xfrm>
          <a:prstGeom prst="roundRect">
            <a:avLst>
              <a:gd name="adj" fmla="val 5172"/>
            </a:avLst>
          </a:prstGeom>
          <a:solidFill>
            <a:srgbClr val="111C2E"/>
          </a:solidFill>
          <a:ln w="12700">
            <a:solidFill>
              <a:srgbClr val="1E293B"/>
            </a:solidFill>
            <a:prstDash val="solid"/>
          </a:ln>
        </p:spPr>
        <p:txBody>
          <a:bodyPr/>
          <a:p/>
        </p:txBody>
      </p:sp>
      <p:sp>
        <p:nvSpPr>
          <p:cNvPr id="331" name="文本框 330" descr="{&quot;isTemplate&quot;:true,&quot;type&quot;:&quot;text&quot;}"/>
          <p:cNvSpPr txBox="1"/>
          <p:nvPr/>
        </p:nvSpPr>
        <p:spPr>
          <a:xfrm>
            <a:off x="4486275" y="4248150"/>
            <a:ext cx="3219450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运行期</a:t>
            </a:r>
            <a:endParaRPr lang="zh-CN" sz="105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32" name="文本框 331" descr="{&quot;isTemplate&quot;:true,&quot;type&quot;:&quot;text&quot;}"/>
          <p:cNvSpPr txBox="1"/>
          <p:nvPr/>
        </p:nvSpPr>
        <p:spPr>
          <a:xfrm>
            <a:off x="4486275" y="4467225"/>
            <a:ext cx="3219450" cy="1905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覆盖产物</a:t>
            </a:r>
            <a:endParaRPr lang="zh-CN" sz="1200" b="1">
              <a:solidFill>
                <a:srgbClr val="E2E8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33" name="文本框 332" descr="{&quot;isTemplate&quot;:true,&quot;type&quot;:&quot;text&quot;}"/>
          <p:cNvSpPr txBox="1"/>
          <p:nvPr/>
        </p:nvSpPr>
        <p:spPr>
          <a:xfrm>
            <a:off x="4486275" y="4733925"/>
            <a:ext cx="3219450" cy="514350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同名环境变量或</a:t>
            </a:r>
            <a:r>
              <a:rPr lang="en-US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--key=value </a:t>
            </a:r>
            <a:r>
              <a:rPr lang="zh-CN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优先级更高，直接覆盖内嵌值</a:t>
            </a:r>
            <a:endParaRPr lang="zh-CN" sz="1050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34" name="圆角矩形 333"/>
          <p:cNvSpPr/>
          <p:nvPr/>
        </p:nvSpPr>
        <p:spPr>
          <a:xfrm>
            <a:off x="8010525" y="4076700"/>
            <a:ext cx="3571875" cy="2209800"/>
          </a:xfrm>
          <a:prstGeom prst="roundRect">
            <a:avLst>
              <a:gd name="adj" fmla="val 5172"/>
            </a:avLst>
          </a:prstGeom>
          <a:solidFill>
            <a:srgbClr val="38BDF8">
              <a:alpha val="6000"/>
            </a:srgbClr>
          </a:solidFill>
          <a:ln w="12700">
            <a:solidFill>
              <a:srgbClr val="38BDF8"/>
            </a:solidFill>
            <a:prstDash val="solid"/>
          </a:ln>
        </p:spPr>
        <p:txBody>
          <a:bodyPr/>
          <a:p/>
        </p:txBody>
      </p:sp>
      <p:sp>
        <p:nvSpPr>
          <p:cNvPr id="335" name="文本框 334" descr="{&quot;isTemplate&quot;:true,&quot;type&quot;:&quot;text&quot;}"/>
          <p:cNvSpPr txBox="1"/>
          <p:nvPr/>
        </p:nvSpPr>
        <p:spPr>
          <a:xfrm>
            <a:off x="8181975" y="4248150"/>
            <a:ext cx="3228975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结果</a:t>
            </a:r>
            <a:endParaRPr lang="zh-CN" sz="105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36" name="文本框 335" descr="{&quot;isTemplate&quot;:true,&quot;type&quot;:&quot;text&quot;}"/>
          <p:cNvSpPr txBox="1"/>
          <p:nvPr/>
        </p:nvSpPr>
        <p:spPr>
          <a:xfrm>
            <a:off x="8181975" y="4467225"/>
            <a:ext cx="3228975" cy="1905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38BDF8"/>
                </a:solidFill>
                <a:latin typeface="微软雅黑" panose="020B0503020204020204" charset="-122"/>
                <a:ea typeface="微软雅黑" panose="020B0503020204020204" charset="-122"/>
              </a:rPr>
              <a:t>一份产物，多环境</a:t>
            </a:r>
            <a:endParaRPr lang="zh-CN" sz="1200" b="1">
              <a:solidFill>
                <a:srgbClr val="38BDF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37" name="文本框 336" descr="{&quot;isTemplate&quot;:true,&quot;type&quot;:&quot;text&quot;}"/>
          <p:cNvSpPr txBox="1"/>
          <p:nvPr/>
        </p:nvSpPr>
        <p:spPr>
          <a:xfrm>
            <a:off x="8181975" y="4733925"/>
            <a:ext cx="3228975" cy="2571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运行环境里不必出现敏感信息，④</a:t>
            </a:r>
            <a:r>
              <a:rPr lang="en-US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</a:t>
            </a:r>
            <a:r>
              <a:rPr lang="zh-CN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章展开完整机制</a:t>
            </a:r>
            <a:endParaRPr lang="zh-CN" sz="1050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38" name="任意多边形 337"/>
          <p:cNvSpPr/>
          <p:nvPr/>
        </p:nvSpPr>
        <p:spPr>
          <a:xfrm>
            <a:off x="609600" y="6286500"/>
            <a:ext cx="10972800" cy="381000"/>
          </a:xfrm>
          <a:custGeom>
            <a:avLst/>
            <a:gdLst/>
            <a:ahLst/>
            <a:cxnLst/>
            <a:pathLst>
              <a:path w="1152" h="40">
                <a:moveTo>
                  <a:pt x="0" y="0"/>
                </a:moveTo>
                <a:lnTo>
                  <a:pt x="1152" y="0"/>
                </a:lnTo>
                <a:lnTo>
                  <a:pt x="1152" y="1"/>
                </a:lnTo>
                <a:lnTo>
                  <a:pt x="0" y="1"/>
                </a:lnTo>
                <a:close/>
              </a:path>
            </a:pathLst>
          </a:custGeom>
          <a:solidFill>
            <a:srgbClr val="1E293B"/>
          </a:solidFill>
        </p:spPr>
        <p:txBody>
          <a:bodyPr/>
          <a:p/>
        </p:txBody>
      </p:sp>
      <p:sp>
        <p:nvSpPr>
          <p:cNvPr id="339" name="文本框 338" descr="{&quot;isTemplate&quot;:true,&quot;type&quot;:&quot;text&quot;}"/>
          <p:cNvSpPr txBox="1"/>
          <p:nvPr/>
        </p:nvSpPr>
        <p:spPr>
          <a:xfrm>
            <a:off x="609600" y="6410325"/>
            <a:ext cx="2219325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fountain · 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一站式服务器应用开发工具库</a:t>
            </a:r>
            <a:endParaRPr lang="zh-CN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40" name="文本框 339" descr="{&quot;isTemplate&quot;:true,&quot;type&quot;:&quot;text&quot;}"/>
          <p:cNvSpPr txBox="1"/>
          <p:nvPr/>
        </p:nvSpPr>
        <p:spPr>
          <a:xfrm>
            <a:off x="11087100" y="6410325"/>
            <a:ext cx="495300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11 / 116</a:t>
            </a:r>
            <a:endParaRPr lang="en-US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53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3" name="矩形 53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220"/>
          </a:solidFill>
        </p:spPr>
        <p:txBody>
          <a:bodyPr/>
          <a:p/>
        </p:txBody>
      </p:sp>
      <p:sp>
        <p:nvSpPr>
          <p:cNvPr id="534" name="矩形 533"/>
          <p:cNvSpPr/>
          <p:nvPr/>
        </p:nvSpPr>
        <p:spPr>
          <a:xfrm>
            <a:off x="609600" y="476250"/>
            <a:ext cx="38100" cy="381000"/>
          </a:xfrm>
          <a:prstGeom prst="rect">
            <a:avLst/>
          </a:prstGeom>
          <a:solidFill>
            <a:srgbClr val="38BDF8"/>
          </a:solidFill>
        </p:spPr>
        <p:txBody>
          <a:bodyPr/>
          <a:p/>
        </p:txBody>
      </p:sp>
      <p:sp>
        <p:nvSpPr>
          <p:cNvPr id="535" name="文本框 534" descr="{&quot;isTemplate&quot;:true,&quot;type&quot;:&quot;text&quot;}"/>
          <p:cNvSpPr txBox="1"/>
          <p:nvPr/>
        </p:nvSpPr>
        <p:spPr>
          <a:xfrm>
            <a:off x="819150" y="304800"/>
            <a:ext cx="9353550" cy="2095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第</a:t>
            </a: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 1 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章</a:t>
            </a: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 · 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为什么使用</a:t>
            </a: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 fountain · 1.4</a:t>
            </a:r>
            <a:endParaRPr lang="en-US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36" name="文本框 535" descr="{&quot;isTemplate&quot;:true,&quot;type&quot;:&quot;text&quot;}"/>
          <p:cNvSpPr txBox="1"/>
          <p:nvPr/>
        </p:nvSpPr>
        <p:spPr>
          <a:xfrm>
            <a:off x="819150" y="514350"/>
            <a:ext cx="9353550" cy="5143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2550" b="1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什么时候不该用</a:t>
            </a:r>
            <a:r>
              <a:rPr lang="en-US" sz="2550" b="1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 fountain</a:t>
            </a:r>
            <a:endParaRPr lang="en-US" sz="2550" b="1">
              <a:solidFill>
                <a:srgbClr val="E2E8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37" name="文本框 536" descr="{&quot;isTemplate&quot;:true,&quot;type&quot;:&quot;text&quot;}"/>
          <p:cNvSpPr txBox="1"/>
          <p:nvPr/>
        </p:nvSpPr>
        <p:spPr>
          <a:xfrm>
            <a:off x="10344150" y="590550"/>
            <a:ext cx="1238250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坦白讲，它不是万能的</a:t>
            </a:r>
            <a:endParaRPr lang="zh-CN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38" name="圆角矩形 537"/>
          <p:cNvSpPr/>
          <p:nvPr/>
        </p:nvSpPr>
        <p:spPr>
          <a:xfrm>
            <a:off x="609600" y="1143000"/>
            <a:ext cx="5419725" cy="1905000"/>
          </a:xfrm>
          <a:prstGeom prst="roundRect">
            <a:avLst>
              <a:gd name="adj" fmla="val 6000"/>
            </a:avLst>
          </a:prstGeom>
          <a:solidFill>
            <a:srgbClr val="111C2E"/>
          </a:solidFill>
          <a:ln w="12700">
            <a:solidFill>
              <a:srgbClr val="1E293B"/>
            </a:solidFill>
            <a:prstDash val="solid"/>
          </a:ln>
        </p:spPr>
        <p:txBody>
          <a:bodyPr/>
          <a:p/>
        </p:txBody>
      </p:sp>
      <p:sp>
        <p:nvSpPr>
          <p:cNvPr id="539" name="文本框 538" descr="{&quot;isTemplate&quot;:true,&quot;type&quot;:&quot;text&quot;}"/>
          <p:cNvSpPr txBox="1"/>
          <p:nvPr/>
        </p:nvSpPr>
        <p:spPr>
          <a:xfrm>
            <a:off x="800100" y="1333500"/>
            <a:ext cx="361950" cy="3714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400" b="1">
                <a:solidFill>
                  <a:srgbClr val="38BDF8"/>
                </a:solidFill>
                <a:latin typeface="JetBrains Mono"/>
                <a:ea typeface="JetBrains Mono"/>
              </a:rPr>
              <a:t>01</a:t>
            </a:r>
            <a:endParaRPr lang="en-US" sz="2400" b="1">
              <a:solidFill>
                <a:srgbClr val="38BDF8"/>
              </a:solidFill>
              <a:latin typeface="JetBrains Mono"/>
              <a:ea typeface="JetBrains Mono"/>
            </a:endParaRPr>
          </a:p>
        </p:txBody>
      </p:sp>
      <p:sp>
        <p:nvSpPr>
          <p:cNvPr id="540" name="文本框 539" descr="{&quot;isTemplate&quot;:true,&quot;type&quot;:&quot;text&quot;}"/>
          <p:cNvSpPr txBox="1"/>
          <p:nvPr/>
        </p:nvSpPr>
        <p:spPr>
          <a:xfrm>
            <a:off x="1276350" y="1333500"/>
            <a:ext cx="1266825" cy="3714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语言与平台限制</a:t>
            </a:r>
            <a:endParaRPr lang="zh-CN" sz="1425" b="1">
              <a:solidFill>
                <a:srgbClr val="E2E8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41" name="文本框 540" descr="{&quot;isTemplate&quot;:true,&quot;type&quot;:&quot;text&quot;}"/>
          <p:cNvSpPr txBox="1"/>
          <p:nvPr/>
        </p:nvSpPr>
        <p:spPr>
          <a:xfrm>
            <a:off x="800100" y="1838325"/>
            <a:ext cx="5038725" cy="590550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zh-CN" sz="112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只支持仓颉语言；当前主要面向</a:t>
            </a:r>
            <a:r>
              <a:rPr lang="en-US" sz="112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Linux / macOS / Windows / OHOS </a:t>
            </a:r>
            <a:r>
              <a:rPr lang="zh-CN" sz="112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的服务端场景。</a:t>
            </a:r>
            <a:endParaRPr lang="zh-CN" sz="1125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42" name="圆角矩形 541"/>
          <p:cNvSpPr/>
          <p:nvPr/>
        </p:nvSpPr>
        <p:spPr>
          <a:xfrm>
            <a:off x="6162675" y="1143000"/>
            <a:ext cx="5419725" cy="1905000"/>
          </a:xfrm>
          <a:prstGeom prst="roundRect">
            <a:avLst>
              <a:gd name="adj" fmla="val 6000"/>
            </a:avLst>
          </a:prstGeom>
          <a:solidFill>
            <a:srgbClr val="111C2E"/>
          </a:solidFill>
          <a:ln w="12700">
            <a:solidFill>
              <a:srgbClr val="1E293B"/>
            </a:solidFill>
            <a:prstDash val="solid"/>
          </a:ln>
        </p:spPr>
        <p:txBody>
          <a:bodyPr/>
          <a:p/>
        </p:txBody>
      </p:sp>
      <p:sp>
        <p:nvSpPr>
          <p:cNvPr id="543" name="文本框 542" descr="{&quot;isTemplate&quot;:true,&quot;type&quot;:&quot;text&quot;}"/>
          <p:cNvSpPr txBox="1"/>
          <p:nvPr/>
        </p:nvSpPr>
        <p:spPr>
          <a:xfrm>
            <a:off x="6353175" y="1333500"/>
            <a:ext cx="361950" cy="3714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400" b="1">
                <a:solidFill>
                  <a:srgbClr val="38BDF8"/>
                </a:solidFill>
                <a:latin typeface="JetBrains Mono"/>
                <a:ea typeface="JetBrains Mono"/>
              </a:rPr>
              <a:t>02</a:t>
            </a:r>
            <a:endParaRPr lang="en-US" sz="2400" b="1">
              <a:solidFill>
                <a:srgbClr val="38BDF8"/>
              </a:solidFill>
              <a:latin typeface="JetBrains Mono"/>
              <a:ea typeface="JetBrains Mono"/>
            </a:endParaRPr>
          </a:p>
        </p:txBody>
      </p:sp>
      <p:sp>
        <p:nvSpPr>
          <p:cNvPr id="544" name="文本框 543" descr="{&quot;isTemplate&quot;:true,&quot;type&quot;:&quot;text&quot;}"/>
          <p:cNvSpPr txBox="1"/>
          <p:nvPr/>
        </p:nvSpPr>
        <p:spPr>
          <a:xfrm>
            <a:off x="6829425" y="1333500"/>
            <a:ext cx="1295400" cy="3714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425" b="1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IOC </a:t>
            </a:r>
            <a:r>
              <a:rPr lang="zh-CN" sz="1425" b="1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的明确取舍</a:t>
            </a:r>
            <a:endParaRPr lang="zh-CN" sz="1425" b="1">
              <a:solidFill>
                <a:srgbClr val="E2E8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45" name="文本框 544" descr="{&quot;isTemplate&quot;:true,&quot;type&quot;:&quot;text&quot;}"/>
          <p:cNvSpPr txBox="1"/>
          <p:nvPr/>
        </p:nvSpPr>
        <p:spPr>
          <a:xfrm>
            <a:off x="6353175" y="1838325"/>
            <a:ext cx="5038725" cy="590550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en-US" sz="112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IOC </a:t>
            </a:r>
            <a:r>
              <a:rPr lang="zh-CN" sz="112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只管理</a:t>
            </a:r>
            <a:r>
              <a:rPr lang="en-US" sz="112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class</a:t>
            </a:r>
            <a:r>
              <a:rPr lang="zh-CN" sz="112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，不管理</a:t>
            </a:r>
            <a:r>
              <a:rPr lang="en-US" sz="112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struct——</a:t>
            </a:r>
            <a:r>
              <a:rPr lang="zh-CN" sz="112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值类型取出来就会复制，会有性能损失，这是作者明确的取舍。</a:t>
            </a:r>
            <a:endParaRPr lang="zh-CN" sz="1125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46" name="圆角矩形 545"/>
          <p:cNvSpPr/>
          <p:nvPr/>
        </p:nvSpPr>
        <p:spPr>
          <a:xfrm>
            <a:off x="609600" y="3181350"/>
            <a:ext cx="5419725" cy="1905000"/>
          </a:xfrm>
          <a:prstGeom prst="roundRect">
            <a:avLst>
              <a:gd name="adj" fmla="val 6000"/>
            </a:avLst>
          </a:prstGeom>
          <a:solidFill>
            <a:srgbClr val="111C2E"/>
          </a:solidFill>
          <a:ln w="12700">
            <a:solidFill>
              <a:srgbClr val="1E293B"/>
            </a:solidFill>
            <a:prstDash val="solid"/>
          </a:ln>
        </p:spPr>
        <p:txBody>
          <a:bodyPr/>
          <a:p/>
        </p:txBody>
      </p:sp>
      <p:sp>
        <p:nvSpPr>
          <p:cNvPr id="547" name="文本框 546" descr="{&quot;isTemplate&quot;:true,&quot;type&quot;:&quot;text&quot;}"/>
          <p:cNvSpPr txBox="1"/>
          <p:nvPr/>
        </p:nvSpPr>
        <p:spPr>
          <a:xfrm>
            <a:off x="800100" y="3371850"/>
            <a:ext cx="361950" cy="3714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400" b="1">
                <a:solidFill>
                  <a:srgbClr val="38BDF8"/>
                </a:solidFill>
                <a:latin typeface="JetBrains Mono"/>
                <a:ea typeface="JetBrains Mono"/>
              </a:rPr>
              <a:t>03</a:t>
            </a:r>
            <a:endParaRPr lang="en-US" sz="2400" b="1">
              <a:solidFill>
                <a:srgbClr val="38BDF8"/>
              </a:solidFill>
              <a:latin typeface="JetBrains Mono"/>
              <a:ea typeface="JetBrains Mono"/>
            </a:endParaRPr>
          </a:p>
        </p:txBody>
      </p:sp>
      <p:sp>
        <p:nvSpPr>
          <p:cNvPr id="548" name="文本框 547" descr="{&quot;isTemplate&quot;:true,&quot;type&quot;:&quot;text&quot;}"/>
          <p:cNvSpPr txBox="1"/>
          <p:nvPr/>
        </p:nvSpPr>
        <p:spPr>
          <a:xfrm>
            <a:off x="1276350" y="3371850"/>
            <a:ext cx="723900" cy="3714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依赖前提</a:t>
            </a:r>
            <a:endParaRPr lang="zh-CN" sz="1425" b="1">
              <a:solidFill>
                <a:srgbClr val="E2E8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49" name="文本框 548" descr="{&quot;isTemplate&quot;:true,&quot;type&quot;:&quot;text&quot;}"/>
          <p:cNvSpPr txBox="1"/>
          <p:nvPr/>
        </p:nvSpPr>
        <p:spPr>
          <a:xfrm>
            <a:off x="800100" y="3876675"/>
            <a:ext cx="5038725" cy="590550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zh-CN" sz="112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依赖</a:t>
            </a:r>
            <a:r>
              <a:rPr lang="en-US" sz="112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stdx</a:t>
            </a:r>
            <a:r>
              <a:rPr lang="zh-CN" sz="112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，需要配置</a:t>
            </a:r>
            <a:r>
              <a:rPr lang="en-US" sz="112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CANGJIE_STDX_DYNAMIC_PATH</a:t>
            </a:r>
            <a:r>
              <a:rPr lang="zh-CN" sz="112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；环境没配好，第一步就会卡住。</a:t>
            </a:r>
            <a:endParaRPr lang="zh-CN" sz="1125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50" name="圆角矩形 549"/>
          <p:cNvSpPr/>
          <p:nvPr/>
        </p:nvSpPr>
        <p:spPr>
          <a:xfrm>
            <a:off x="6162675" y="3181350"/>
            <a:ext cx="5419725" cy="1905000"/>
          </a:xfrm>
          <a:prstGeom prst="roundRect">
            <a:avLst>
              <a:gd name="adj" fmla="val 6000"/>
            </a:avLst>
          </a:prstGeom>
          <a:solidFill>
            <a:srgbClr val="111C2E"/>
          </a:solidFill>
          <a:ln w="12700">
            <a:solidFill>
              <a:srgbClr val="1E293B"/>
            </a:solidFill>
            <a:prstDash val="solid"/>
          </a:ln>
        </p:spPr>
        <p:txBody>
          <a:bodyPr/>
          <a:p/>
        </p:txBody>
      </p:sp>
      <p:sp>
        <p:nvSpPr>
          <p:cNvPr id="551" name="文本框 550" descr="{&quot;isTemplate&quot;:true,&quot;type&quot;:&quot;text&quot;}"/>
          <p:cNvSpPr txBox="1"/>
          <p:nvPr/>
        </p:nvSpPr>
        <p:spPr>
          <a:xfrm>
            <a:off x="6353175" y="3371850"/>
            <a:ext cx="361950" cy="3714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400" b="1">
                <a:solidFill>
                  <a:srgbClr val="38BDF8"/>
                </a:solidFill>
                <a:latin typeface="JetBrains Mono"/>
                <a:ea typeface="JetBrains Mono"/>
              </a:rPr>
              <a:t>04</a:t>
            </a:r>
            <a:endParaRPr lang="en-US" sz="2400" b="1">
              <a:solidFill>
                <a:srgbClr val="38BDF8"/>
              </a:solidFill>
              <a:latin typeface="JetBrains Mono"/>
              <a:ea typeface="JetBrains Mono"/>
            </a:endParaRPr>
          </a:p>
        </p:txBody>
      </p:sp>
      <p:sp>
        <p:nvSpPr>
          <p:cNvPr id="552" name="文本框 551" descr="{&quot;isTemplate&quot;:true,&quot;type&quot;:&quot;text&quot;}"/>
          <p:cNvSpPr txBox="1"/>
          <p:nvPr/>
        </p:nvSpPr>
        <p:spPr>
          <a:xfrm>
            <a:off x="6829425" y="3371850"/>
            <a:ext cx="723900" cy="3714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上手成本</a:t>
            </a:r>
            <a:endParaRPr lang="zh-CN" sz="1425" b="1">
              <a:solidFill>
                <a:srgbClr val="E2E8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53" name="文本框 552" descr="{&quot;isTemplate&quot;:true,&quot;type&quot;:&quot;text&quot;}"/>
          <p:cNvSpPr txBox="1"/>
          <p:nvPr/>
        </p:nvSpPr>
        <p:spPr>
          <a:xfrm>
            <a:off x="6353175" y="3876675"/>
            <a:ext cx="5038725" cy="590550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zh-CN" sz="112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宏的约定比较硬，第一次上手会有「为什么这么写才编译得过」的阶段，这是必经成本。</a:t>
            </a:r>
            <a:endParaRPr lang="zh-CN" sz="1125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54" name="圆角矩形 553"/>
          <p:cNvSpPr/>
          <p:nvPr/>
        </p:nvSpPr>
        <p:spPr>
          <a:xfrm>
            <a:off x="609600" y="5219700"/>
            <a:ext cx="10972800" cy="1066800"/>
          </a:xfrm>
          <a:prstGeom prst="roundRect">
            <a:avLst>
              <a:gd name="adj" fmla="val 10714"/>
            </a:avLst>
          </a:prstGeom>
          <a:solidFill>
            <a:srgbClr val="F59E0B">
              <a:alpha val="7000"/>
            </a:srgbClr>
          </a:solidFill>
          <a:ln w="12700">
            <a:solidFill>
              <a:srgbClr val="F59E0B"/>
            </a:solidFill>
            <a:prstDash val="solid"/>
          </a:ln>
        </p:spPr>
        <p:txBody>
          <a:bodyPr/>
          <a:p/>
        </p:txBody>
      </p:sp>
      <p:sp>
        <p:nvSpPr>
          <p:cNvPr id="555" name="矩形 554"/>
          <p:cNvSpPr/>
          <p:nvPr/>
        </p:nvSpPr>
        <p:spPr>
          <a:xfrm>
            <a:off x="800100" y="5486400"/>
            <a:ext cx="38100" cy="533400"/>
          </a:xfrm>
          <a:prstGeom prst="rect">
            <a:avLst/>
          </a:prstGeom>
          <a:solidFill>
            <a:srgbClr val="F59E0B"/>
          </a:solidFill>
        </p:spPr>
        <p:txBody>
          <a:bodyPr/>
          <a:p/>
        </p:txBody>
      </p:sp>
      <p:sp>
        <p:nvSpPr>
          <p:cNvPr id="556" name="文本框 555" descr="{&quot;isTemplate&quot;:true,&quot;type&quot;:&quot;text&quot;}"/>
          <p:cNvSpPr txBox="1"/>
          <p:nvPr/>
        </p:nvSpPr>
        <p:spPr>
          <a:xfrm>
            <a:off x="1028700" y="5486400"/>
            <a:ext cx="10363200" cy="2000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只有几百行、只有一个接口</a:t>
            </a:r>
            <a:r>
              <a:rPr lang="en-US" sz="1275" b="1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 → </a:t>
            </a:r>
            <a:r>
              <a:rPr lang="zh-CN" sz="1275" b="1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直接写</a:t>
            </a:r>
            <a:r>
              <a:rPr lang="en-US" sz="1275" b="1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 HTTP </a:t>
            </a:r>
            <a:r>
              <a:rPr lang="zh-CN" sz="1275" b="1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服务可能更省事</a:t>
            </a:r>
            <a:endParaRPr lang="zh-CN" sz="1275" b="1">
              <a:solidFill>
                <a:srgbClr val="F59E0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57" name="文本框 556" descr="{&quot;isTemplate&quot;:true,&quot;type&quot;:&quot;text&quot;}"/>
          <p:cNvSpPr txBox="1"/>
          <p:nvPr/>
        </p:nvSpPr>
        <p:spPr>
          <a:xfrm>
            <a:off x="1028700" y="5743575"/>
            <a:ext cx="10363200" cy="2762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en-US" sz="112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fountain </a:t>
            </a:r>
            <a:r>
              <a:rPr lang="zh-CN" sz="112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的价值在中大型、需要长期演进的服务端应用。</a:t>
            </a:r>
            <a:endParaRPr lang="zh-CN" sz="1125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58" name="任意多边形 557"/>
          <p:cNvSpPr/>
          <p:nvPr/>
        </p:nvSpPr>
        <p:spPr>
          <a:xfrm>
            <a:off x="609600" y="6286500"/>
            <a:ext cx="10972800" cy="381000"/>
          </a:xfrm>
          <a:custGeom>
            <a:avLst/>
            <a:gdLst/>
            <a:ahLst/>
            <a:cxnLst/>
            <a:pathLst>
              <a:path w="1152" h="40">
                <a:moveTo>
                  <a:pt x="0" y="0"/>
                </a:moveTo>
                <a:lnTo>
                  <a:pt x="1152" y="0"/>
                </a:lnTo>
                <a:lnTo>
                  <a:pt x="1152" y="1"/>
                </a:lnTo>
                <a:lnTo>
                  <a:pt x="0" y="1"/>
                </a:lnTo>
                <a:close/>
              </a:path>
            </a:pathLst>
          </a:custGeom>
          <a:solidFill>
            <a:srgbClr val="1E293B"/>
          </a:solidFill>
        </p:spPr>
        <p:txBody>
          <a:bodyPr/>
          <a:p/>
        </p:txBody>
      </p:sp>
      <p:sp>
        <p:nvSpPr>
          <p:cNvPr id="559" name="文本框 558" descr="{&quot;isTemplate&quot;:true,&quot;type&quot;:&quot;text&quot;}"/>
          <p:cNvSpPr txBox="1"/>
          <p:nvPr/>
        </p:nvSpPr>
        <p:spPr>
          <a:xfrm>
            <a:off x="609600" y="6410325"/>
            <a:ext cx="2219325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fountain · 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一站式服务器应用开发工具库</a:t>
            </a:r>
            <a:endParaRPr lang="zh-CN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60" name="文本框 559" descr="{&quot;isTemplate&quot;:true,&quot;type&quot;:&quot;text&quot;}"/>
          <p:cNvSpPr txBox="1"/>
          <p:nvPr/>
        </p:nvSpPr>
        <p:spPr>
          <a:xfrm>
            <a:off x="11087100" y="6410325"/>
            <a:ext cx="495300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12 / 116</a:t>
            </a:r>
            <a:endParaRPr lang="en-US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56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2" name="矩形 56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220"/>
          </a:solidFill>
        </p:spPr>
        <p:txBody>
          <a:bodyPr/>
          <a:p/>
        </p:txBody>
      </p:sp>
      <p:sp>
        <p:nvSpPr>
          <p:cNvPr id="563" name="矩形 562"/>
          <p:cNvSpPr/>
          <p:nvPr/>
        </p:nvSpPr>
        <p:spPr>
          <a:xfrm>
            <a:off x="609600" y="476250"/>
            <a:ext cx="38100" cy="381000"/>
          </a:xfrm>
          <a:prstGeom prst="rect">
            <a:avLst/>
          </a:prstGeom>
          <a:solidFill>
            <a:srgbClr val="38BDF8"/>
          </a:solidFill>
        </p:spPr>
        <p:txBody>
          <a:bodyPr/>
          <a:p/>
        </p:txBody>
      </p:sp>
      <p:sp>
        <p:nvSpPr>
          <p:cNvPr id="564" name="文本框 563" descr="{&quot;isTemplate&quot;:true,&quot;type&quot;:&quot;text&quot;}"/>
          <p:cNvSpPr txBox="1"/>
          <p:nvPr/>
        </p:nvSpPr>
        <p:spPr>
          <a:xfrm>
            <a:off x="819150" y="304800"/>
            <a:ext cx="10344150" cy="2095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第</a:t>
            </a: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 2 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章</a:t>
            </a: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 · 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上台准备</a:t>
            </a:r>
            <a:endParaRPr lang="zh-CN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65" name="文本框 564" descr="{&quot;isTemplate&quot;:true,&quot;type&quot;:&quot;text&quot;}"/>
          <p:cNvSpPr txBox="1"/>
          <p:nvPr/>
        </p:nvSpPr>
        <p:spPr>
          <a:xfrm>
            <a:off x="819150" y="514350"/>
            <a:ext cx="10344150" cy="5143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2550" b="1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环境：三个变量、一次安装、一条验证</a:t>
            </a:r>
            <a:endParaRPr lang="zh-CN" sz="2550" b="1">
              <a:solidFill>
                <a:srgbClr val="E2E8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66" name="文本框 565" descr="{&quot;isTemplate&quot;:true,&quot;type&quot;:&quot;text&quot;}"/>
          <p:cNvSpPr txBox="1"/>
          <p:nvPr/>
        </p:nvSpPr>
        <p:spPr>
          <a:xfrm>
            <a:off x="11334750" y="590550"/>
            <a:ext cx="247650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终端</a:t>
            </a:r>
            <a:endParaRPr lang="zh-CN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67" name="圆角矩形 566"/>
          <p:cNvSpPr/>
          <p:nvPr/>
        </p:nvSpPr>
        <p:spPr>
          <a:xfrm>
            <a:off x="609600" y="1143000"/>
            <a:ext cx="4000500" cy="1771650"/>
          </a:xfrm>
          <a:prstGeom prst="roundRect">
            <a:avLst>
              <a:gd name="adj" fmla="val 6452"/>
            </a:avLst>
          </a:prstGeom>
          <a:solidFill>
            <a:srgbClr val="111C2E"/>
          </a:solidFill>
          <a:ln w="12700">
            <a:solidFill>
              <a:srgbClr val="1E293B"/>
            </a:solidFill>
            <a:prstDash val="solid"/>
          </a:ln>
        </p:spPr>
        <p:txBody>
          <a:bodyPr/>
          <a:p/>
        </p:txBody>
      </p:sp>
      <p:sp>
        <p:nvSpPr>
          <p:cNvPr id="568" name="文本框 567" descr="{&quot;isTemplate&quot;:true,&quot;type&quot;:&quot;text&quot;}"/>
          <p:cNvSpPr txBox="1"/>
          <p:nvPr/>
        </p:nvSpPr>
        <p:spPr>
          <a:xfrm>
            <a:off x="800100" y="1333500"/>
            <a:ext cx="3619500" cy="2095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 b="1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① </a:t>
            </a:r>
            <a:r>
              <a:rPr lang="zh-CN" sz="1350" b="1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环境变量</a:t>
            </a:r>
            <a:endParaRPr lang="zh-CN" sz="1350" b="1">
              <a:solidFill>
                <a:srgbClr val="E2E8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69" name="文本框 568" descr="{&quot;isTemplate&quot;:true,&quot;type&quot;:&quot;text&quot;}"/>
          <p:cNvSpPr txBox="1"/>
          <p:nvPr/>
        </p:nvSpPr>
        <p:spPr>
          <a:xfrm>
            <a:off x="800100" y="1619250"/>
            <a:ext cx="3619500" cy="2762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zh-CN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建议直接写进</a:t>
            </a:r>
            <a:r>
              <a:rPr lang="en-US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~/.bashrc</a:t>
            </a:r>
            <a:r>
              <a:rPr lang="zh-CN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，一次配好长期有效</a:t>
            </a:r>
            <a:endParaRPr lang="zh-CN" sz="1050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70" name="文本框 569" descr="{&quot;isTemplate&quot;:true,&quot;type&quot;:&quot;text&quot;}"/>
          <p:cNvSpPr txBox="1"/>
          <p:nvPr/>
        </p:nvSpPr>
        <p:spPr>
          <a:xfrm>
            <a:off x="800100" y="1971675"/>
            <a:ext cx="3619500" cy="2762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en-US" sz="105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stdx </a:t>
            </a:r>
            <a:r>
              <a:rPr lang="zh-CN" sz="105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路径</a:t>
            </a:r>
            <a:r>
              <a:rPr lang="en-US" sz="105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 × 2</a:t>
            </a:r>
            <a:r>
              <a:rPr lang="zh-CN" sz="105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　·　</a:t>
            </a:r>
            <a:r>
              <a:rPr lang="en-US" sz="105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fboot </a:t>
            </a:r>
            <a:r>
              <a:rPr lang="zh-CN" sz="105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动态链接库路径　·　</a:t>
            </a:r>
            <a:r>
              <a:rPr lang="en-US" sz="105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PATH</a:t>
            </a:r>
            <a:endParaRPr lang="en-US" sz="105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71" name="圆角矩形 570"/>
          <p:cNvSpPr/>
          <p:nvPr/>
        </p:nvSpPr>
        <p:spPr>
          <a:xfrm>
            <a:off x="609600" y="3048000"/>
            <a:ext cx="4000500" cy="1685925"/>
          </a:xfrm>
          <a:prstGeom prst="roundRect">
            <a:avLst>
              <a:gd name="adj" fmla="val 6780"/>
            </a:avLst>
          </a:prstGeom>
          <a:solidFill>
            <a:srgbClr val="111C2E"/>
          </a:solidFill>
          <a:ln w="12700">
            <a:solidFill>
              <a:srgbClr val="1E293B"/>
            </a:solidFill>
            <a:prstDash val="solid"/>
          </a:ln>
        </p:spPr>
        <p:txBody>
          <a:bodyPr/>
          <a:p/>
        </p:txBody>
      </p:sp>
      <p:sp>
        <p:nvSpPr>
          <p:cNvPr id="572" name="文本框 571" descr="{&quot;isTemplate&quot;:true,&quot;type&quot;:&quot;text&quot;}"/>
          <p:cNvSpPr txBox="1"/>
          <p:nvPr/>
        </p:nvSpPr>
        <p:spPr>
          <a:xfrm>
            <a:off x="800100" y="3238500"/>
            <a:ext cx="3619500" cy="2095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 b="1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② </a:t>
            </a:r>
            <a:r>
              <a:rPr lang="zh-CN" sz="1350" b="1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安装</a:t>
            </a:r>
            <a:r>
              <a:rPr lang="en-US" sz="1350" b="1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 fboot</a:t>
            </a:r>
            <a:endParaRPr lang="en-US" sz="1350" b="1">
              <a:solidFill>
                <a:srgbClr val="E2E8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73" name="文本框 572" descr="{&quot;isTemplate&quot;:true,&quot;type&quot;:&quot;text&quot;}"/>
          <p:cNvSpPr txBox="1"/>
          <p:nvPr/>
        </p:nvSpPr>
        <p:spPr>
          <a:xfrm>
            <a:off x="800100" y="3524250"/>
            <a:ext cx="3619500" cy="552450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zh-CN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把版本号换成实际版本；各模块版本一致，可在仓库</a:t>
            </a:r>
            <a:r>
              <a:rPr lang="en-US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README </a:t>
            </a:r>
            <a:r>
              <a:rPr lang="zh-CN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或</a:t>
            </a:r>
            <a:r>
              <a:rPr lang="en-US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f_version </a:t>
            </a:r>
            <a:r>
              <a:rPr lang="zh-CN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查看。</a:t>
            </a:r>
            <a:endParaRPr lang="zh-CN" sz="1050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74" name="圆角矩形 573"/>
          <p:cNvSpPr/>
          <p:nvPr/>
        </p:nvSpPr>
        <p:spPr>
          <a:xfrm>
            <a:off x="609600" y="4867275"/>
            <a:ext cx="4000500" cy="1419225"/>
          </a:xfrm>
          <a:prstGeom prst="roundRect">
            <a:avLst>
              <a:gd name="adj" fmla="val 8054"/>
            </a:avLst>
          </a:prstGeom>
          <a:solidFill>
            <a:srgbClr val="38BDF8">
              <a:alpha val="6000"/>
            </a:srgbClr>
          </a:solidFill>
          <a:ln w="12700">
            <a:solidFill>
              <a:srgbClr val="38BDF8"/>
            </a:solidFill>
            <a:prstDash val="solid"/>
          </a:ln>
        </p:spPr>
        <p:txBody>
          <a:bodyPr/>
          <a:p/>
        </p:txBody>
      </p:sp>
      <p:sp>
        <p:nvSpPr>
          <p:cNvPr id="575" name="文本框 574" descr="{&quot;isTemplate&quot;:true,&quot;type&quot;:&quot;text&quot;}"/>
          <p:cNvSpPr txBox="1"/>
          <p:nvPr/>
        </p:nvSpPr>
        <p:spPr>
          <a:xfrm>
            <a:off x="800100" y="5057775"/>
            <a:ext cx="3619500" cy="2095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 b="1">
                <a:solidFill>
                  <a:srgbClr val="38BDF8"/>
                </a:solidFill>
                <a:latin typeface="微软雅黑" panose="020B0503020204020204" charset="-122"/>
                <a:ea typeface="微软雅黑" panose="020B0503020204020204" charset="-122"/>
              </a:rPr>
              <a:t>③ </a:t>
            </a:r>
            <a:r>
              <a:rPr lang="zh-CN" sz="1350" b="1">
                <a:solidFill>
                  <a:srgbClr val="38BDF8"/>
                </a:solidFill>
                <a:latin typeface="微软雅黑" panose="020B0503020204020204" charset="-122"/>
                <a:ea typeface="微软雅黑" panose="020B0503020204020204" charset="-122"/>
              </a:rPr>
              <a:t>验证</a:t>
            </a:r>
            <a:endParaRPr lang="zh-CN" sz="1350" b="1">
              <a:solidFill>
                <a:srgbClr val="38BDF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76" name="文本框 575" descr="{&quot;isTemplate&quot;:true,&quot;type&quot;:&quot;text&quot;}"/>
          <p:cNvSpPr txBox="1"/>
          <p:nvPr/>
        </p:nvSpPr>
        <p:spPr>
          <a:xfrm>
            <a:off x="800100" y="5343525"/>
            <a:ext cx="3619500" cy="2762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zh-CN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预期：打印出当前</a:t>
            </a:r>
            <a:r>
              <a:rPr lang="en-US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fountain </a:t>
            </a:r>
            <a:r>
              <a:rPr lang="zh-CN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版本号，例如</a:t>
            </a:r>
            <a:r>
              <a:rPr lang="en-US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1.3.x</a:t>
            </a:r>
            <a:r>
              <a:rPr lang="zh-CN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。</a:t>
            </a:r>
            <a:endParaRPr lang="zh-CN" sz="1050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77" name="圆角矩形 576"/>
          <p:cNvSpPr/>
          <p:nvPr/>
        </p:nvSpPr>
        <p:spPr>
          <a:xfrm>
            <a:off x="4762500" y="1143000"/>
            <a:ext cx="6819900" cy="5143500"/>
          </a:xfrm>
          <a:prstGeom prst="roundRect">
            <a:avLst>
              <a:gd name="adj" fmla="val 2222"/>
            </a:avLst>
          </a:prstGeom>
          <a:solidFill>
            <a:srgbClr val="111C2E"/>
          </a:solidFill>
          <a:ln w="12700">
            <a:solidFill>
              <a:srgbClr val="1E293B"/>
            </a:solidFill>
            <a:prstDash val="solid"/>
          </a:ln>
        </p:spPr>
        <p:txBody>
          <a:bodyPr/>
          <a:p/>
        </p:txBody>
      </p:sp>
      <p:sp>
        <p:nvSpPr>
          <p:cNvPr id="578" name="文本框 577" descr="{&quot;isTemplate&quot;:true,&quot;type&quot;:&quot;text&quot;}"/>
          <p:cNvSpPr txBox="1"/>
          <p:nvPr/>
        </p:nvSpPr>
        <p:spPr>
          <a:xfrm>
            <a:off x="4991100" y="1371600"/>
            <a:ext cx="6362700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可选：直接复制执行</a:t>
            </a:r>
            <a:endParaRPr lang="zh-CN" sz="105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79" name="圆角矩形 578"/>
          <p:cNvSpPr/>
          <p:nvPr/>
        </p:nvSpPr>
        <p:spPr>
          <a:xfrm>
            <a:off x="4991100" y="1647825"/>
            <a:ext cx="6362700" cy="4410075"/>
          </a:xfrm>
          <a:prstGeom prst="roundRect">
            <a:avLst>
              <a:gd name="adj" fmla="val 1728"/>
            </a:avLst>
          </a:prstGeom>
          <a:solidFill>
            <a:srgbClr val="0B1220"/>
          </a:solidFill>
          <a:ln w="12700">
            <a:solidFill>
              <a:srgbClr val="1E293B"/>
            </a:solidFill>
            <a:prstDash val="solid"/>
          </a:ln>
        </p:spPr>
        <p:txBody>
          <a:bodyPr/>
          <a:p/>
        </p:txBody>
      </p:sp>
      <p:sp>
        <p:nvSpPr>
          <p:cNvPr id="580" name="文本框 579" descr="{&quot;isTemplate&quot;:true,&quot;type&quot;:&quot;text&quot;}"/>
          <p:cNvSpPr txBox="1"/>
          <p:nvPr/>
        </p:nvSpPr>
        <p:spPr>
          <a:xfrm>
            <a:off x="5181600" y="1838325"/>
            <a:ext cx="5981700" cy="3143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80000"/>
              </a:lnSpc>
            </a:pPr>
            <a:r>
              <a:rPr lang="en-US" sz="1125">
                <a:solidFill>
                  <a:srgbClr val="64748B"/>
                </a:solidFill>
                <a:latin typeface="JetBrains Mono"/>
                <a:ea typeface="JetBrains Mono"/>
              </a:rPr>
              <a:t># </a:t>
            </a:r>
            <a:r>
              <a:rPr lang="zh-CN" sz="1125">
                <a:solidFill>
                  <a:srgbClr val="64748B"/>
                </a:solidFill>
                <a:latin typeface="JetBrains Mono"/>
                <a:ea typeface="JetBrains Mono"/>
              </a:rPr>
              <a:t>环境变量（建议写进</a:t>
            </a:r>
            <a:r>
              <a:rPr lang="en-US" sz="1125">
                <a:solidFill>
                  <a:srgbClr val="64748B"/>
                </a:solidFill>
                <a:latin typeface="JetBrains Mono"/>
                <a:ea typeface="JetBrains Mono"/>
              </a:rPr>
              <a:t> ~/.bashrc</a:t>
            </a:r>
            <a:r>
              <a:rPr lang="zh-CN" sz="1125">
                <a:solidFill>
                  <a:srgbClr val="64748B"/>
                </a:solidFill>
                <a:latin typeface="JetBrains Mono"/>
                <a:ea typeface="JetBrains Mono"/>
              </a:rPr>
              <a:t>）</a:t>
            </a:r>
            <a:endParaRPr lang="zh-CN" sz="1125">
              <a:solidFill>
                <a:srgbClr val="64748B"/>
              </a:solidFill>
              <a:latin typeface="JetBrains Mono"/>
              <a:ea typeface="JetBrains Mono"/>
            </a:endParaRPr>
          </a:p>
        </p:txBody>
      </p:sp>
      <p:sp>
        <p:nvSpPr>
          <p:cNvPr id="581" name="文本框 580" descr="{&quot;isTemplate&quot;:true,&quot;type&quot;:&quot;text&quot;}"/>
          <p:cNvSpPr txBox="1"/>
          <p:nvPr/>
        </p:nvSpPr>
        <p:spPr>
          <a:xfrm>
            <a:off x="5181600" y="2152650"/>
            <a:ext cx="5981700" cy="16287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90000"/>
              </a:lnSpc>
            </a:pPr>
            <a:r>
              <a:rPr lang="en-US" sz="1125">
                <a:solidFill>
                  <a:srgbClr val="E2E8F0"/>
                </a:solidFill>
                <a:latin typeface="JetBrains Mono"/>
                <a:ea typeface="JetBrains Mono"/>
              </a:rPr>
              <a:t>export CANGJIE_STDX_DYNAMIC_PATH=/path/to/dynamic_stdx</a:t>
            </a:r>
            <a:endParaRPr lang="en-US" sz="1125">
              <a:solidFill>
                <a:srgbClr val="E2E8F0"/>
              </a:solidFill>
              <a:latin typeface="JetBrains Mono"/>
              <a:ea typeface="JetBrains Mono"/>
            </a:endParaRPr>
          </a:p>
          <a:p>
            <a:pPr>
              <a:lnSpc>
                <a:spcPct val="190000"/>
              </a:lnSpc>
            </a:pPr>
            <a:r>
              <a:rPr lang="en-US" sz="1125">
                <a:solidFill>
                  <a:srgbClr val="E2E8F0"/>
                </a:solidFill>
                <a:latin typeface="JetBrains Mono"/>
                <a:ea typeface="JetBrains Mono"/>
              </a:rPr>
              <a:t>export CANGJIE_STDX_PATH=$CANGJIE_STDX_DYNAMIC_PATH</a:t>
            </a:r>
            <a:endParaRPr lang="en-US" sz="1125">
              <a:solidFill>
                <a:srgbClr val="E2E8F0"/>
              </a:solidFill>
              <a:latin typeface="JetBrains Mono"/>
              <a:ea typeface="JetBrains Mono"/>
            </a:endParaRPr>
          </a:p>
          <a:p>
            <a:pPr>
              <a:lnSpc>
                <a:spcPct val="190000"/>
              </a:lnSpc>
            </a:pPr>
            <a:r>
              <a:rPr lang="en-US" sz="1125">
                <a:solidFill>
                  <a:srgbClr val="E2E8F0"/>
                </a:solidFill>
                <a:latin typeface="JetBrains Mono"/>
                <a:ea typeface="JetBrains Mono"/>
              </a:rPr>
              <a:t>export FOUNTAIN_HOME=~/.cjpm/libs/fboot</a:t>
            </a:r>
            <a:endParaRPr lang="en-US" sz="1125">
              <a:solidFill>
                <a:srgbClr val="E2E8F0"/>
              </a:solidFill>
              <a:latin typeface="JetBrains Mono"/>
              <a:ea typeface="JetBrains Mono"/>
            </a:endParaRPr>
          </a:p>
          <a:p>
            <a:pPr>
              <a:lnSpc>
                <a:spcPct val="190000"/>
              </a:lnSpc>
            </a:pPr>
            <a:r>
              <a:rPr lang="en-US" sz="1125">
                <a:solidFill>
                  <a:srgbClr val="E2E8F0"/>
                </a:solidFill>
                <a:latin typeface="JetBrains Mono"/>
                <a:ea typeface="JetBrains Mono"/>
              </a:rPr>
              <a:t>export LD_LIBRARY_PATH=$FOUNTAIN_HOME:$LD_LIBRARY_PATH</a:t>
            </a:r>
            <a:endParaRPr lang="en-US" sz="1125">
              <a:solidFill>
                <a:srgbClr val="E2E8F0"/>
              </a:solidFill>
              <a:latin typeface="JetBrains Mono"/>
              <a:ea typeface="JetBrains Mono"/>
            </a:endParaRPr>
          </a:p>
          <a:p>
            <a:pPr>
              <a:lnSpc>
                <a:spcPct val="190000"/>
              </a:lnSpc>
            </a:pPr>
            <a:r>
              <a:rPr lang="en-US" sz="1125">
                <a:solidFill>
                  <a:srgbClr val="E2E8F0"/>
                </a:solidFill>
                <a:latin typeface="JetBrains Mono"/>
                <a:ea typeface="JetBrains Mono"/>
              </a:rPr>
              <a:t>export PATH=$PATH:~/.cjpm/bin</a:t>
            </a:r>
            <a:endParaRPr lang="en-US" sz="1125">
              <a:solidFill>
                <a:srgbClr val="E2E8F0"/>
              </a:solidFill>
              <a:latin typeface="JetBrains Mono"/>
              <a:ea typeface="JetBrains Mono"/>
            </a:endParaRPr>
          </a:p>
        </p:txBody>
      </p:sp>
      <p:sp>
        <p:nvSpPr>
          <p:cNvPr id="582" name="文本框 581" descr="{&quot;isTemplate&quot;:true,&quot;type&quot;:&quot;text&quot;}"/>
          <p:cNvSpPr txBox="1"/>
          <p:nvPr/>
        </p:nvSpPr>
        <p:spPr>
          <a:xfrm>
            <a:off x="5181600" y="3933825"/>
            <a:ext cx="5981700" cy="3143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80000"/>
              </a:lnSpc>
            </a:pPr>
            <a:r>
              <a:rPr lang="en-US" sz="1125">
                <a:solidFill>
                  <a:srgbClr val="64748B"/>
                </a:solidFill>
                <a:latin typeface="JetBrains Mono"/>
                <a:ea typeface="JetBrains Mono"/>
              </a:rPr>
              <a:t># </a:t>
            </a:r>
            <a:r>
              <a:rPr lang="zh-CN" sz="1125">
                <a:solidFill>
                  <a:srgbClr val="64748B"/>
                </a:solidFill>
                <a:latin typeface="JetBrains Mono"/>
                <a:ea typeface="JetBrains Mono"/>
              </a:rPr>
              <a:t>安装</a:t>
            </a:r>
            <a:r>
              <a:rPr lang="en-US" sz="1125">
                <a:solidFill>
                  <a:srgbClr val="64748B"/>
                </a:solidFill>
                <a:latin typeface="JetBrains Mono"/>
                <a:ea typeface="JetBrains Mono"/>
              </a:rPr>
              <a:t> fboot</a:t>
            </a:r>
            <a:endParaRPr lang="en-US" sz="1125">
              <a:solidFill>
                <a:srgbClr val="64748B"/>
              </a:solidFill>
              <a:latin typeface="JetBrains Mono"/>
              <a:ea typeface="JetBrains Mono"/>
            </a:endParaRPr>
          </a:p>
        </p:txBody>
      </p:sp>
      <p:sp>
        <p:nvSpPr>
          <p:cNvPr id="583" name="文本框 582" descr="{&quot;isTemplate&quot;:true,&quot;type&quot;:&quot;text&quot;}"/>
          <p:cNvSpPr txBox="1"/>
          <p:nvPr/>
        </p:nvSpPr>
        <p:spPr>
          <a:xfrm>
            <a:off x="5181600" y="4248150"/>
            <a:ext cx="5981700" cy="3333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90000"/>
              </a:lnSpc>
            </a:pPr>
            <a:r>
              <a:rPr lang="en-US" sz="1125">
                <a:solidFill>
                  <a:srgbClr val="E2E8F0"/>
                </a:solidFill>
                <a:latin typeface="JetBrains Mono"/>
                <a:ea typeface="JetBrains Mono"/>
              </a:rPr>
              <a:t>cjpm install "fountain::fboot"="</a:t>
            </a:r>
            <a:r>
              <a:rPr lang="zh-CN" sz="1125">
                <a:solidFill>
                  <a:srgbClr val="E2E8F0"/>
                </a:solidFill>
                <a:latin typeface="JetBrains Mono"/>
                <a:ea typeface="JetBrains Mono"/>
              </a:rPr>
              <a:t>【版本号】</a:t>
            </a:r>
            <a:r>
              <a:rPr lang="en-US" sz="1125">
                <a:solidFill>
                  <a:srgbClr val="E2E8F0"/>
                </a:solidFill>
                <a:latin typeface="JetBrains Mono"/>
                <a:ea typeface="JetBrains Mono"/>
              </a:rPr>
              <a:t>" --root ~/.cjpm</a:t>
            </a:r>
            <a:endParaRPr lang="en-US" sz="1125">
              <a:solidFill>
                <a:srgbClr val="E2E8F0"/>
              </a:solidFill>
              <a:latin typeface="JetBrains Mono"/>
              <a:ea typeface="JetBrains Mono"/>
            </a:endParaRPr>
          </a:p>
        </p:txBody>
      </p:sp>
      <p:sp>
        <p:nvSpPr>
          <p:cNvPr id="584" name="文本框 583" descr="{&quot;isTemplate&quot;:true,&quot;type&quot;:&quot;text&quot;}"/>
          <p:cNvSpPr txBox="1"/>
          <p:nvPr/>
        </p:nvSpPr>
        <p:spPr>
          <a:xfrm>
            <a:off x="5181600" y="4733925"/>
            <a:ext cx="5981700" cy="3143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80000"/>
              </a:lnSpc>
            </a:pPr>
            <a:r>
              <a:rPr lang="en-US" sz="1125">
                <a:solidFill>
                  <a:srgbClr val="64748B"/>
                </a:solidFill>
                <a:latin typeface="JetBrains Mono"/>
                <a:ea typeface="JetBrains Mono"/>
              </a:rPr>
              <a:t># </a:t>
            </a:r>
            <a:r>
              <a:rPr lang="zh-CN" sz="1125">
                <a:solidFill>
                  <a:srgbClr val="64748B"/>
                </a:solidFill>
                <a:latin typeface="JetBrains Mono"/>
                <a:ea typeface="JetBrains Mono"/>
              </a:rPr>
              <a:t>验证</a:t>
            </a:r>
            <a:endParaRPr lang="zh-CN" sz="1125">
              <a:solidFill>
                <a:srgbClr val="64748B"/>
              </a:solidFill>
              <a:latin typeface="JetBrains Mono"/>
              <a:ea typeface="JetBrains Mono"/>
            </a:endParaRPr>
          </a:p>
        </p:txBody>
      </p:sp>
      <p:sp>
        <p:nvSpPr>
          <p:cNvPr id="585" name="文本框 584" descr="{&quot;isTemplate&quot;:true,&quot;type&quot;:&quot;text&quot;}"/>
          <p:cNvSpPr txBox="1"/>
          <p:nvPr/>
        </p:nvSpPr>
        <p:spPr>
          <a:xfrm>
            <a:off x="5181600" y="5048250"/>
            <a:ext cx="5981700" cy="3333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90000"/>
              </a:lnSpc>
            </a:pPr>
            <a:r>
              <a:rPr lang="en-US" sz="1125">
                <a:solidFill>
                  <a:srgbClr val="F59E0B"/>
                </a:solidFill>
                <a:latin typeface="JetBrains Mono"/>
                <a:ea typeface="JetBrains Mono"/>
              </a:rPr>
              <a:t>fboot version</a:t>
            </a:r>
            <a:endParaRPr lang="en-US" sz="1125">
              <a:solidFill>
                <a:srgbClr val="F59E0B"/>
              </a:solidFill>
              <a:latin typeface="JetBrains Mono"/>
              <a:ea typeface="JetBrains Mono"/>
            </a:endParaRPr>
          </a:p>
        </p:txBody>
      </p:sp>
      <p:sp>
        <p:nvSpPr>
          <p:cNvPr id="586" name="任意多边形 585"/>
          <p:cNvSpPr/>
          <p:nvPr/>
        </p:nvSpPr>
        <p:spPr>
          <a:xfrm>
            <a:off x="609600" y="6286500"/>
            <a:ext cx="10972800" cy="381000"/>
          </a:xfrm>
          <a:custGeom>
            <a:avLst/>
            <a:gdLst/>
            <a:ahLst/>
            <a:cxnLst/>
            <a:pathLst>
              <a:path w="1152" h="40">
                <a:moveTo>
                  <a:pt x="0" y="0"/>
                </a:moveTo>
                <a:lnTo>
                  <a:pt x="1152" y="0"/>
                </a:lnTo>
                <a:lnTo>
                  <a:pt x="1152" y="1"/>
                </a:lnTo>
                <a:lnTo>
                  <a:pt x="0" y="1"/>
                </a:lnTo>
                <a:close/>
              </a:path>
            </a:pathLst>
          </a:custGeom>
          <a:solidFill>
            <a:srgbClr val="1E293B"/>
          </a:solidFill>
        </p:spPr>
        <p:txBody>
          <a:bodyPr/>
          <a:p/>
        </p:txBody>
      </p:sp>
      <p:sp>
        <p:nvSpPr>
          <p:cNvPr id="587" name="文本框 586" descr="{&quot;isTemplate&quot;:true,&quot;type&quot;:&quot;text&quot;}"/>
          <p:cNvSpPr txBox="1"/>
          <p:nvPr/>
        </p:nvSpPr>
        <p:spPr>
          <a:xfrm>
            <a:off x="609600" y="6410325"/>
            <a:ext cx="2219325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fountain · 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一站式服务器应用开发工具库</a:t>
            </a:r>
            <a:endParaRPr lang="zh-CN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88" name="文本框 587" descr="{&quot;isTemplate&quot;:true,&quot;type&quot;:&quot;text&quot;}"/>
          <p:cNvSpPr txBox="1"/>
          <p:nvPr/>
        </p:nvSpPr>
        <p:spPr>
          <a:xfrm>
            <a:off x="11087100" y="6410325"/>
            <a:ext cx="495300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13 / 116</a:t>
            </a:r>
            <a:endParaRPr lang="en-US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58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0" name="矩形 589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220"/>
          </a:solidFill>
        </p:spPr>
        <p:txBody>
          <a:bodyPr/>
          <a:p/>
        </p:txBody>
      </p:sp>
      <p:sp>
        <p:nvSpPr>
          <p:cNvPr id="591" name="矩形 590"/>
          <p:cNvSpPr/>
          <p:nvPr/>
        </p:nvSpPr>
        <p:spPr>
          <a:xfrm>
            <a:off x="609600" y="476250"/>
            <a:ext cx="38100" cy="381000"/>
          </a:xfrm>
          <a:prstGeom prst="rect">
            <a:avLst/>
          </a:prstGeom>
          <a:solidFill>
            <a:srgbClr val="38BDF8"/>
          </a:solidFill>
        </p:spPr>
        <p:txBody>
          <a:bodyPr/>
          <a:p/>
        </p:txBody>
      </p:sp>
      <p:sp>
        <p:nvSpPr>
          <p:cNvPr id="592" name="文本框 591" descr="{&quot;isTemplate&quot;:true,&quot;type&quot;:&quot;text&quot;}"/>
          <p:cNvSpPr txBox="1"/>
          <p:nvPr/>
        </p:nvSpPr>
        <p:spPr>
          <a:xfrm>
            <a:off x="819150" y="304800"/>
            <a:ext cx="10763250" cy="2095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第</a:t>
            </a: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 3 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章</a:t>
            </a: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 · fboot 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命令行</a:t>
            </a: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 · 3.1</a:t>
            </a:r>
            <a:endParaRPr lang="en-US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93" name="文本框 592" descr="{&quot;isTemplate&quot;:true,&quot;type&quot;:&quot;text&quot;}"/>
          <p:cNvSpPr txBox="1"/>
          <p:nvPr/>
        </p:nvSpPr>
        <p:spPr>
          <a:xfrm>
            <a:off x="819150" y="514350"/>
            <a:ext cx="10763250" cy="5143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en-US" sz="2550" b="1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fboot </a:t>
            </a:r>
            <a:r>
              <a:rPr lang="zh-CN" sz="2550" b="1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只是一个壳，第一公理在这里</a:t>
            </a:r>
            <a:endParaRPr lang="zh-CN" sz="2550" b="1">
              <a:solidFill>
                <a:srgbClr val="E2E8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94" name="圆角矩形 593"/>
          <p:cNvSpPr/>
          <p:nvPr/>
        </p:nvSpPr>
        <p:spPr>
          <a:xfrm>
            <a:off x="609600" y="1143000"/>
            <a:ext cx="3810000" cy="2114550"/>
          </a:xfrm>
          <a:prstGeom prst="roundRect">
            <a:avLst>
              <a:gd name="adj" fmla="val 5405"/>
            </a:avLst>
          </a:prstGeom>
          <a:solidFill>
            <a:srgbClr val="0B1220"/>
          </a:solidFill>
          <a:ln w="12700">
            <a:solidFill>
              <a:srgbClr val="1E293B"/>
            </a:solidFill>
            <a:prstDash val="solid"/>
          </a:ln>
        </p:spPr>
        <p:txBody>
          <a:bodyPr/>
          <a:p/>
        </p:txBody>
      </p:sp>
      <p:sp>
        <p:nvSpPr>
          <p:cNvPr id="595" name="文本框 594" descr="{&quot;isTemplate&quot;:true,&quot;type&quot;:&quot;text&quot;}"/>
          <p:cNvSpPr txBox="1"/>
          <p:nvPr/>
        </p:nvSpPr>
        <p:spPr>
          <a:xfrm>
            <a:off x="800100" y="1333500"/>
            <a:ext cx="3429000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fboot/src/main.cj</a:t>
            </a:r>
            <a:r>
              <a:rPr lang="zh-CN" sz="105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（全文）</a:t>
            </a:r>
            <a:endParaRPr lang="zh-CN" sz="105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96" name="文本框 595" descr="{&quot;isTemplate&quot;:true,&quot;type&quot;:&quot;text&quot;}"/>
          <p:cNvSpPr txBox="1"/>
          <p:nvPr/>
        </p:nvSpPr>
        <p:spPr>
          <a:xfrm>
            <a:off x="800100" y="1590675"/>
            <a:ext cx="3429000" cy="2952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80000"/>
              </a:lnSpc>
            </a:pPr>
            <a:r>
              <a:rPr lang="en-US" sz="1050">
                <a:solidFill>
                  <a:srgbClr val="E2E8F0"/>
                </a:solidFill>
                <a:latin typeface="JetBrains Mono"/>
                <a:ea typeface="JetBrains Mono"/>
              </a:rPr>
              <a:t>package fountain::fboot</a:t>
            </a:r>
            <a:endParaRPr lang="en-US" sz="1050">
              <a:solidFill>
                <a:srgbClr val="E2E8F0"/>
              </a:solidFill>
              <a:latin typeface="JetBrains Mono"/>
              <a:ea typeface="JetBrains Mono"/>
            </a:endParaRPr>
          </a:p>
        </p:txBody>
      </p:sp>
      <p:sp>
        <p:nvSpPr>
          <p:cNvPr id="597" name="文本框 596" descr="{&quot;isTemplate&quot;:true,&quot;type&quot;:&quot;text&quot;}"/>
          <p:cNvSpPr txBox="1"/>
          <p:nvPr/>
        </p:nvSpPr>
        <p:spPr>
          <a:xfrm>
            <a:off x="800100" y="1885950"/>
            <a:ext cx="3429000" cy="2952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80000"/>
              </a:lnSpc>
            </a:pPr>
            <a:r>
              <a:rPr lang="en-US" sz="1050">
                <a:solidFill>
                  <a:srgbClr val="E2E8F0"/>
                </a:solidFill>
                <a:latin typeface="JetBrains Mono"/>
                <a:ea typeface="JetBrains Mono"/>
              </a:rPr>
              <a:t>import fountain::f_app.*</a:t>
            </a:r>
            <a:endParaRPr lang="en-US" sz="1050">
              <a:solidFill>
                <a:srgbClr val="E2E8F0"/>
              </a:solidFill>
              <a:latin typeface="JetBrains Mono"/>
              <a:ea typeface="JetBrains Mono"/>
            </a:endParaRPr>
          </a:p>
        </p:txBody>
      </p:sp>
      <p:sp>
        <p:nvSpPr>
          <p:cNvPr id="598" name="文本框 597" descr="{&quot;isTemplate&quot;:true,&quot;type&quot;:&quot;text&quot;}"/>
          <p:cNvSpPr txBox="1"/>
          <p:nvPr/>
        </p:nvSpPr>
        <p:spPr>
          <a:xfrm>
            <a:off x="800100" y="2181225"/>
            <a:ext cx="3429000" cy="2952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80000"/>
              </a:lnSpc>
            </a:pPr>
            <a:r>
              <a:rPr lang="en-US" sz="1050">
                <a:solidFill>
                  <a:srgbClr val="22D3EE"/>
                </a:solidFill>
                <a:latin typeface="JetBrains Mono"/>
                <a:ea typeface="JetBrains Mono"/>
              </a:rPr>
              <a:t>main(args: Array&lt;String&gt;): Int64 {</a:t>
            </a:r>
            <a:endParaRPr lang="en-US" sz="1050">
              <a:solidFill>
                <a:srgbClr val="22D3EE"/>
              </a:solidFill>
              <a:latin typeface="JetBrains Mono"/>
              <a:ea typeface="JetBrains Mono"/>
            </a:endParaRPr>
          </a:p>
        </p:txBody>
      </p:sp>
      <p:sp>
        <p:nvSpPr>
          <p:cNvPr id="599" name="文本框 598" descr="{&quot;isTemplate&quot;:true,&quot;type&quot;:&quot;text&quot;}"/>
          <p:cNvSpPr txBox="1"/>
          <p:nvPr/>
        </p:nvSpPr>
        <p:spPr>
          <a:xfrm>
            <a:off x="800100" y="2476500"/>
            <a:ext cx="3429000" cy="2952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80000"/>
              </a:lnSpc>
            </a:pPr>
            <a:r>
              <a:rPr lang="en-US" sz="1050">
                <a:solidFill>
                  <a:srgbClr val="22D3EE"/>
                </a:solidFill>
                <a:latin typeface="JetBrains Mono"/>
                <a:ea typeface="JetBrains Mono"/>
              </a:rPr>
              <a:t>    App(args, dynamic: true).boot()</a:t>
            </a:r>
            <a:endParaRPr lang="en-US" sz="1050">
              <a:solidFill>
                <a:srgbClr val="22D3EE"/>
              </a:solidFill>
              <a:latin typeface="JetBrains Mono"/>
              <a:ea typeface="JetBrains Mono"/>
            </a:endParaRPr>
          </a:p>
        </p:txBody>
      </p:sp>
      <p:sp>
        <p:nvSpPr>
          <p:cNvPr id="600" name="文本框 599" descr="{&quot;isTemplate&quot;:true,&quot;type&quot;:&quot;text&quot;}"/>
          <p:cNvSpPr txBox="1"/>
          <p:nvPr/>
        </p:nvSpPr>
        <p:spPr>
          <a:xfrm>
            <a:off x="800100" y="2771775"/>
            <a:ext cx="3429000" cy="2952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80000"/>
              </a:lnSpc>
            </a:pPr>
            <a:r>
              <a:rPr lang="en-US" sz="1050">
                <a:solidFill>
                  <a:srgbClr val="22D3EE"/>
                </a:solidFill>
                <a:latin typeface="JetBrains Mono"/>
                <a:ea typeface="JetBrains Mono"/>
              </a:rPr>
              <a:t>}</a:t>
            </a:r>
            <a:endParaRPr lang="en-US" sz="1050">
              <a:solidFill>
                <a:srgbClr val="22D3EE"/>
              </a:solidFill>
              <a:latin typeface="JetBrains Mono"/>
              <a:ea typeface="JetBrains Mono"/>
            </a:endParaRPr>
          </a:p>
        </p:txBody>
      </p:sp>
      <p:sp>
        <p:nvSpPr>
          <p:cNvPr id="601" name="圆角矩形 600"/>
          <p:cNvSpPr/>
          <p:nvPr/>
        </p:nvSpPr>
        <p:spPr>
          <a:xfrm>
            <a:off x="609600" y="3390900"/>
            <a:ext cx="3810000" cy="2895600"/>
          </a:xfrm>
          <a:prstGeom prst="roundRect">
            <a:avLst>
              <a:gd name="adj" fmla="val 3947"/>
            </a:avLst>
          </a:prstGeom>
          <a:solidFill>
            <a:srgbClr val="111C2E"/>
          </a:solidFill>
          <a:ln w="12700">
            <a:solidFill>
              <a:srgbClr val="1E293B"/>
            </a:solidFill>
            <a:prstDash val="solid"/>
          </a:ln>
        </p:spPr>
        <p:txBody>
          <a:bodyPr/>
          <a:p/>
        </p:txBody>
      </p:sp>
      <p:sp>
        <p:nvSpPr>
          <p:cNvPr id="602" name="文本框 601" descr="{&quot;isTemplate&quot;:true,&quot;type&quot;:&quot;text&quot;}"/>
          <p:cNvSpPr txBox="1"/>
          <p:nvPr/>
        </p:nvSpPr>
        <p:spPr>
          <a:xfrm>
            <a:off x="800100" y="3581400"/>
            <a:ext cx="3429000" cy="1905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三个推论</a:t>
            </a:r>
            <a:endParaRPr lang="zh-CN" sz="1200" b="1">
              <a:solidFill>
                <a:srgbClr val="E2E8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03" name="文本框 602" descr="{&quot;isTemplate&quot;:true,&quot;type&quot;:&quot;text&quot;}"/>
          <p:cNvSpPr txBox="1"/>
          <p:nvPr/>
        </p:nvSpPr>
        <p:spPr>
          <a:xfrm>
            <a:off x="800100" y="3867150"/>
            <a:ext cx="3429000" cy="2762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en-US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· </a:t>
            </a:r>
            <a:r>
              <a:rPr lang="zh-CN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所有子命令实现都在</a:t>
            </a:r>
            <a:r>
              <a:rPr lang="en-US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fountain::f_app.App </a:t>
            </a:r>
            <a:r>
              <a:rPr lang="zh-CN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里</a:t>
            </a:r>
            <a:endParaRPr lang="zh-CN" sz="1050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04" name="文本框 603" descr="{&quot;isTemplate&quot;:true,&quot;type&quot;:&quot;text&quot;}"/>
          <p:cNvSpPr txBox="1"/>
          <p:nvPr/>
        </p:nvSpPr>
        <p:spPr>
          <a:xfrm>
            <a:off x="800100" y="4200525"/>
            <a:ext cx="3429000" cy="2762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en-US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· </a:t>
            </a:r>
            <a:r>
              <a:rPr lang="zh-CN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你自己的应用也可以用同样方式启动</a:t>
            </a:r>
            <a:endParaRPr lang="zh-CN" sz="1050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05" name="文本框 604" descr="{&quot;isTemplate&quot;:true,&quot;type&quot;:&quot;text&quot;}"/>
          <p:cNvSpPr txBox="1"/>
          <p:nvPr/>
        </p:nvSpPr>
        <p:spPr>
          <a:xfrm>
            <a:off x="800100" y="4533900"/>
            <a:ext cx="3429000" cy="2762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en-US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· </a:t>
            </a:r>
            <a:r>
              <a:rPr lang="zh-CN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可以用</a:t>
            </a:r>
            <a:r>
              <a:rPr lang="en-US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SubCommandMediator </a:t>
            </a:r>
            <a:r>
              <a:rPr lang="zh-CN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注册自己的子命令</a:t>
            </a:r>
            <a:endParaRPr lang="zh-CN" sz="1050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06" name="文本框 605" descr="{&quot;isTemplate&quot;:true,&quot;type&quot;:&quot;text&quot;}"/>
          <p:cNvSpPr txBox="1"/>
          <p:nvPr/>
        </p:nvSpPr>
        <p:spPr>
          <a:xfrm>
            <a:off x="800100" y="5819775"/>
            <a:ext cx="3429000" cy="2762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zh-CN" sz="1050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第一公理：应用项目只需要编译成动态链接库</a:t>
            </a:r>
            <a:endParaRPr lang="zh-CN" sz="1050">
              <a:solidFill>
                <a:srgbClr val="F59E0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07" name="圆角矩形 606"/>
          <p:cNvSpPr/>
          <p:nvPr/>
        </p:nvSpPr>
        <p:spPr>
          <a:xfrm>
            <a:off x="4610100" y="1143000"/>
            <a:ext cx="6972300" cy="5143500"/>
          </a:xfrm>
          <a:prstGeom prst="roundRect">
            <a:avLst>
              <a:gd name="adj" fmla="val 2222"/>
            </a:avLst>
          </a:prstGeom>
          <a:solidFill>
            <a:srgbClr val="111C2E"/>
          </a:solidFill>
          <a:ln w="12700">
            <a:solidFill>
              <a:srgbClr val="1E293B"/>
            </a:solidFill>
            <a:prstDash val="solid"/>
          </a:ln>
        </p:spPr>
        <p:txBody>
          <a:bodyPr/>
          <a:p/>
        </p:txBody>
      </p:sp>
      <p:sp>
        <p:nvSpPr>
          <p:cNvPr id="608" name="文本框 607" descr="{&quot;isTemplate&quot;:true,&quot;type&quot;:&quot;text&quot;}"/>
          <p:cNvSpPr txBox="1"/>
          <p:nvPr/>
        </p:nvSpPr>
        <p:spPr>
          <a:xfrm>
            <a:off x="4819650" y="1352550"/>
            <a:ext cx="6553200" cy="1905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fboot help</a:t>
            </a:r>
            <a:endParaRPr lang="en-US" sz="1200" b="1">
              <a:solidFill>
                <a:srgbClr val="E2E8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09" name="文本框 608" descr="{&quot;isTemplate&quot;:true,&quot;type&quot;:&quot;text&quot;}"/>
          <p:cNvSpPr txBox="1"/>
          <p:nvPr/>
        </p:nvSpPr>
        <p:spPr>
          <a:xfrm>
            <a:off x="4819650" y="1657350"/>
            <a:ext cx="6553200" cy="2571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en-US" sz="975">
                <a:solidFill>
                  <a:srgbClr val="F59E0B"/>
                </a:solidFill>
                <a:latin typeface="JetBrains Mono"/>
                <a:ea typeface="JetBrains Mono"/>
              </a:rPr>
              <a:t>1. </a:t>
            </a:r>
            <a:r>
              <a:rPr lang="zh-CN" sz="975">
                <a:solidFill>
                  <a:srgbClr val="F59E0B"/>
                </a:solidFill>
                <a:latin typeface="JetBrains Mono"/>
                <a:ea typeface="JetBrains Mono"/>
              </a:rPr>
              <a:t>应用项目只需要编译为动态链接库，把应用的动态链接库加入</a:t>
            </a:r>
            <a:r>
              <a:rPr lang="en-US" sz="975">
                <a:solidFill>
                  <a:srgbClr val="F59E0B"/>
                </a:solidFill>
                <a:latin typeface="JetBrains Mono"/>
                <a:ea typeface="JetBrains Mono"/>
              </a:rPr>
              <a:t> LD_LIBRARY_PATH</a:t>
            </a:r>
            <a:endParaRPr lang="en-US" sz="975">
              <a:solidFill>
                <a:srgbClr val="F59E0B"/>
              </a:solidFill>
              <a:latin typeface="JetBrains Mono"/>
              <a:ea typeface="JetBrains Mono"/>
            </a:endParaRPr>
          </a:p>
        </p:txBody>
      </p:sp>
      <p:sp>
        <p:nvSpPr>
          <p:cNvPr id="610" name="文本框 609" descr="{&quot;isTemplate&quot;:true,&quot;type&quot;:&quot;text&quot;}"/>
          <p:cNvSpPr txBox="1"/>
          <p:nvPr/>
        </p:nvSpPr>
        <p:spPr>
          <a:xfrm>
            <a:off x="4819650" y="1914525"/>
            <a:ext cx="6553200" cy="2571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en-US" sz="975">
                <a:solidFill>
                  <a:srgbClr val="E2E8F0"/>
                </a:solidFill>
                <a:latin typeface="JetBrains Mono"/>
                <a:ea typeface="JetBrains Mono"/>
              </a:rPr>
              <a:t>2. fboot run [PATH] --dylibPattern=</a:t>
            </a:r>
            <a:r>
              <a:rPr lang="zh-CN" sz="975">
                <a:solidFill>
                  <a:srgbClr val="E2E8F0"/>
                </a:solidFill>
                <a:latin typeface="JetBrains Mono"/>
                <a:ea typeface="JetBrains Mono"/>
              </a:rPr>
              <a:t>【正则，不含扩展名】</a:t>
            </a:r>
            <a:endParaRPr lang="zh-CN" sz="975">
              <a:solidFill>
                <a:srgbClr val="E2E8F0"/>
              </a:solidFill>
              <a:latin typeface="JetBrains Mono"/>
              <a:ea typeface="JetBrains Mono"/>
            </a:endParaRPr>
          </a:p>
        </p:txBody>
      </p:sp>
      <p:sp>
        <p:nvSpPr>
          <p:cNvPr id="611" name="文本框 610" descr="{&quot;isTemplate&quot;:true,&quot;type&quot;:&quot;text&quot;}"/>
          <p:cNvSpPr txBox="1"/>
          <p:nvPr/>
        </p:nvSpPr>
        <p:spPr>
          <a:xfrm>
            <a:off x="4819650" y="2171700"/>
            <a:ext cx="6553200" cy="2571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en-US" sz="975">
                <a:solidFill>
                  <a:srgbClr val="E2E8F0"/>
                </a:solidFill>
                <a:latin typeface="JetBrains Mono"/>
                <a:ea typeface="JetBrains Mono"/>
              </a:rPr>
              <a:t>3. fboot shutdown </a:t>
            </a:r>
            <a:r>
              <a:rPr lang="zh-CN" sz="975">
                <a:solidFill>
                  <a:srgbClr val="E2E8F0"/>
                </a:solidFill>
                <a:latin typeface="JetBrains Mono"/>
                <a:ea typeface="JetBrains Mono"/>
              </a:rPr>
              <a:t>【</a:t>
            </a:r>
            <a:r>
              <a:rPr lang="en-US" sz="975">
                <a:solidFill>
                  <a:srgbClr val="E2E8F0"/>
                </a:solidFill>
                <a:latin typeface="JetBrains Mono"/>
                <a:ea typeface="JetBrains Mono"/>
              </a:rPr>
              <a:t>PID</a:t>
            </a:r>
            <a:r>
              <a:rPr lang="zh-CN" sz="975">
                <a:solidFill>
                  <a:srgbClr val="E2E8F0"/>
                </a:solidFill>
                <a:latin typeface="JetBrains Mono"/>
                <a:ea typeface="JetBrains Mono"/>
              </a:rPr>
              <a:t>】</a:t>
            </a:r>
            <a:endParaRPr lang="zh-CN" sz="975">
              <a:solidFill>
                <a:srgbClr val="E2E8F0"/>
              </a:solidFill>
              <a:latin typeface="JetBrains Mono"/>
              <a:ea typeface="JetBrains Mono"/>
            </a:endParaRPr>
          </a:p>
        </p:txBody>
      </p:sp>
      <p:sp>
        <p:nvSpPr>
          <p:cNvPr id="612" name="文本框 611" descr="{&quot;isTemplate&quot;:true,&quot;type&quot;:&quot;text&quot;}"/>
          <p:cNvSpPr txBox="1"/>
          <p:nvPr/>
        </p:nvSpPr>
        <p:spPr>
          <a:xfrm>
            <a:off x="4819650" y="2428875"/>
            <a:ext cx="6553200" cy="2571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en-US" sz="975">
                <a:solidFill>
                  <a:srgbClr val="E2E8F0"/>
                </a:solidFill>
                <a:latin typeface="JetBrains Mono"/>
                <a:ea typeface="JetBrains Mono"/>
              </a:rPr>
              <a:t>4. fboot restart </a:t>
            </a:r>
            <a:r>
              <a:rPr lang="zh-CN" sz="975">
                <a:solidFill>
                  <a:srgbClr val="E2E8F0"/>
                </a:solidFill>
                <a:latin typeface="JetBrains Mono"/>
                <a:ea typeface="JetBrains Mono"/>
              </a:rPr>
              <a:t>【</a:t>
            </a:r>
            <a:r>
              <a:rPr lang="en-US" sz="975">
                <a:solidFill>
                  <a:srgbClr val="E2E8F0"/>
                </a:solidFill>
                <a:latin typeface="JetBrains Mono"/>
                <a:ea typeface="JetBrains Mono"/>
              </a:rPr>
              <a:t>PID</a:t>
            </a:r>
            <a:r>
              <a:rPr lang="zh-CN" sz="975">
                <a:solidFill>
                  <a:srgbClr val="E2E8F0"/>
                </a:solidFill>
                <a:latin typeface="JetBrains Mono"/>
                <a:ea typeface="JetBrains Mono"/>
              </a:rPr>
              <a:t>】</a:t>
            </a:r>
            <a:r>
              <a:rPr lang="en-US" sz="975">
                <a:solidFill>
                  <a:srgbClr val="E2E8F0"/>
                </a:solidFill>
                <a:latin typeface="JetBrains Mono"/>
                <a:ea typeface="JetBrains Mono"/>
              </a:rPr>
              <a:t> [PATH] --dylibPattern=</a:t>
            </a:r>
            <a:r>
              <a:rPr lang="zh-CN" sz="975">
                <a:solidFill>
                  <a:srgbClr val="E2E8F0"/>
                </a:solidFill>
                <a:latin typeface="JetBrains Mono"/>
                <a:ea typeface="JetBrains Mono"/>
              </a:rPr>
              <a:t>【正则】</a:t>
            </a:r>
            <a:endParaRPr lang="zh-CN" sz="975">
              <a:solidFill>
                <a:srgbClr val="E2E8F0"/>
              </a:solidFill>
              <a:latin typeface="JetBrains Mono"/>
              <a:ea typeface="JetBrains Mono"/>
            </a:endParaRPr>
          </a:p>
        </p:txBody>
      </p:sp>
      <p:sp>
        <p:nvSpPr>
          <p:cNvPr id="613" name="文本框 612" descr="{&quot;isTemplate&quot;:true,&quot;type&quot;:&quot;text&quot;}"/>
          <p:cNvSpPr txBox="1"/>
          <p:nvPr/>
        </p:nvSpPr>
        <p:spPr>
          <a:xfrm>
            <a:off x="4819650" y="2686050"/>
            <a:ext cx="6553200" cy="2571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en-US" sz="975">
                <a:solidFill>
                  <a:srgbClr val="E2E8F0"/>
                </a:solidFill>
                <a:latin typeface="JetBrains Mono"/>
                <a:ea typeface="JetBrains Mono"/>
              </a:rPr>
              <a:t>5. fboot workspace </a:t>
            </a:r>
            <a:r>
              <a:rPr lang="zh-CN" sz="975">
                <a:solidFill>
                  <a:srgbClr val="E2E8F0"/>
                </a:solidFill>
                <a:latin typeface="JetBrains Mono"/>
                <a:ea typeface="JetBrains Mono"/>
              </a:rPr>
              <a:t>【</a:t>
            </a:r>
            <a:r>
              <a:rPr lang="en-US" sz="975">
                <a:solidFill>
                  <a:srgbClr val="E2E8F0"/>
                </a:solidFill>
                <a:latin typeface="JetBrains Mono"/>
                <a:ea typeface="JetBrains Mono"/>
              </a:rPr>
              <a:t>dir_path</a:t>
            </a:r>
            <a:r>
              <a:rPr lang="zh-CN" sz="975">
                <a:solidFill>
                  <a:srgbClr val="E2E8F0"/>
                </a:solidFill>
                <a:latin typeface="JetBrains Mono"/>
                <a:ea typeface="JetBrains Mono"/>
              </a:rPr>
              <a:t>】</a:t>
            </a:r>
            <a:r>
              <a:rPr lang="en-US" sz="975">
                <a:solidFill>
                  <a:srgbClr val="E2E8F0"/>
                </a:solidFill>
                <a:latin typeface="JetBrains Mono"/>
                <a:ea typeface="JetBrains Mono"/>
              </a:rPr>
              <a:t> </a:t>
            </a:r>
            <a:r>
              <a:rPr lang="zh-CN" sz="975">
                <a:solidFill>
                  <a:srgbClr val="E2E8F0"/>
                </a:solidFill>
                <a:latin typeface="JetBrains Mono"/>
                <a:ea typeface="JetBrains Mono"/>
              </a:rPr>
              <a:t>把当前目录初始化为仓颉</a:t>
            </a:r>
            <a:r>
              <a:rPr lang="en-US" sz="975">
                <a:solidFill>
                  <a:srgbClr val="E2E8F0"/>
                </a:solidFill>
                <a:latin typeface="JetBrains Mono"/>
                <a:ea typeface="JetBrains Mono"/>
              </a:rPr>
              <a:t> workspace</a:t>
            </a:r>
            <a:endParaRPr lang="en-US" sz="975">
              <a:solidFill>
                <a:srgbClr val="E2E8F0"/>
              </a:solidFill>
              <a:latin typeface="JetBrains Mono"/>
              <a:ea typeface="JetBrains Mono"/>
            </a:endParaRPr>
          </a:p>
        </p:txBody>
      </p:sp>
      <p:sp>
        <p:nvSpPr>
          <p:cNvPr id="614" name="文本框 613" descr="{&quot;isTemplate&quot;:true,&quot;type&quot;:&quot;text&quot;}"/>
          <p:cNvSpPr txBox="1"/>
          <p:nvPr/>
        </p:nvSpPr>
        <p:spPr>
          <a:xfrm>
            <a:off x="4819650" y="2943225"/>
            <a:ext cx="6553200" cy="2571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en-US" sz="975">
                <a:solidFill>
                  <a:srgbClr val="E2E8F0"/>
                </a:solidFill>
                <a:latin typeface="JetBrains Mono"/>
                <a:ea typeface="JetBrains Mono"/>
              </a:rPr>
              <a:t>6. fboot module </a:t>
            </a:r>
            <a:r>
              <a:rPr lang="zh-CN" sz="975">
                <a:solidFill>
                  <a:srgbClr val="E2E8F0"/>
                </a:solidFill>
                <a:latin typeface="JetBrains Mono"/>
                <a:ea typeface="JetBrains Mono"/>
              </a:rPr>
              <a:t>将当前目录初始化为仓颉</a:t>
            </a:r>
            <a:r>
              <a:rPr lang="en-US" sz="975">
                <a:solidFill>
                  <a:srgbClr val="E2E8F0"/>
                </a:solidFill>
                <a:latin typeface="JetBrains Mono"/>
                <a:ea typeface="JetBrains Mono"/>
              </a:rPr>
              <a:t> dynamic </a:t>
            </a:r>
            <a:r>
              <a:rPr lang="zh-CN" sz="975">
                <a:solidFill>
                  <a:srgbClr val="E2E8F0"/>
                </a:solidFill>
                <a:latin typeface="JetBrains Mono"/>
                <a:ea typeface="JetBrains Mono"/>
              </a:rPr>
              <a:t>项目</a:t>
            </a:r>
            <a:endParaRPr lang="zh-CN" sz="975">
              <a:solidFill>
                <a:srgbClr val="E2E8F0"/>
              </a:solidFill>
              <a:latin typeface="JetBrains Mono"/>
              <a:ea typeface="JetBrains Mono"/>
            </a:endParaRPr>
          </a:p>
        </p:txBody>
      </p:sp>
      <p:sp>
        <p:nvSpPr>
          <p:cNvPr id="615" name="文本框 614" descr="{&quot;isTemplate&quot;:true,&quot;type&quot;:&quot;text&quot;}"/>
          <p:cNvSpPr txBox="1"/>
          <p:nvPr/>
        </p:nvSpPr>
        <p:spPr>
          <a:xfrm>
            <a:off x="4819650" y="3200400"/>
            <a:ext cx="6553200" cy="2571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en-US" sz="975">
                <a:solidFill>
                  <a:srgbClr val="E2E8F0"/>
                </a:solidFill>
                <a:latin typeface="JetBrains Mono"/>
                <a:ea typeface="JetBrains Mono"/>
              </a:rPr>
              <a:t>7. fboot module </a:t>
            </a:r>
            <a:r>
              <a:rPr lang="zh-CN" sz="975">
                <a:solidFill>
                  <a:srgbClr val="E2E8F0"/>
                </a:solidFill>
                <a:latin typeface="JetBrains Mono"/>
                <a:ea typeface="JetBrains Mono"/>
              </a:rPr>
              <a:t>【</a:t>
            </a:r>
            <a:r>
              <a:rPr lang="en-US" sz="975">
                <a:solidFill>
                  <a:srgbClr val="E2E8F0"/>
                </a:solidFill>
                <a:latin typeface="JetBrains Mono"/>
                <a:ea typeface="JetBrains Mono"/>
              </a:rPr>
              <a:t>module_name</a:t>
            </a:r>
            <a:r>
              <a:rPr lang="zh-CN" sz="975">
                <a:solidFill>
                  <a:srgbClr val="E2E8F0"/>
                </a:solidFill>
                <a:latin typeface="JetBrains Mono"/>
                <a:ea typeface="JetBrains Mono"/>
              </a:rPr>
              <a:t>】</a:t>
            </a:r>
            <a:r>
              <a:rPr lang="en-US" sz="975">
                <a:solidFill>
                  <a:srgbClr val="E2E8F0"/>
                </a:solidFill>
                <a:latin typeface="JetBrains Mono"/>
                <a:ea typeface="JetBrains Mono"/>
              </a:rPr>
              <a:t> </a:t>
            </a:r>
            <a:r>
              <a:rPr lang="zh-CN" sz="975">
                <a:solidFill>
                  <a:srgbClr val="E2E8F0"/>
                </a:solidFill>
                <a:latin typeface="JetBrains Mono"/>
                <a:ea typeface="JetBrains Mono"/>
              </a:rPr>
              <a:t>创建子目录、初始化为</a:t>
            </a:r>
            <a:r>
              <a:rPr lang="en-US" sz="975">
                <a:solidFill>
                  <a:srgbClr val="E2E8F0"/>
                </a:solidFill>
                <a:latin typeface="JetBrains Mono"/>
                <a:ea typeface="JetBrains Mono"/>
              </a:rPr>
              <a:t> dynamic </a:t>
            </a:r>
            <a:r>
              <a:rPr lang="zh-CN" sz="975">
                <a:solidFill>
                  <a:srgbClr val="E2E8F0"/>
                </a:solidFill>
                <a:latin typeface="JetBrains Mono"/>
                <a:ea typeface="JetBrains Mono"/>
              </a:rPr>
              <a:t>模块并挂进</a:t>
            </a:r>
            <a:r>
              <a:rPr lang="en-US" sz="975">
                <a:solidFill>
                  <a:srgbClr val="E2E8F0"/>
                </a:solidFill>
                <a:latin typeface="JetBrains Mono"/>
                <a:ea typeface="JetBrains Mono"/>
              </a:rPr>
              <a:t> cjpm.toml</a:t>
            </a:r>
            <a:endParaRPr lang="en-US" sz="975">
              <a:solidFill>
                <a:srgbClr val="E2E8F0"/>
              </a:solidFill>
              <a:latin typeface="JetBrains Mono"/>
              <a:ea typeface="JetBrains Mono"/>
            </a:endParaRPr>
          </a:p>
        </p:txBody>
      </p:sp>
      <p:sp>
        <p:nvSpPr>
          <p:cNvPr id="616" name="文本框 615" descr="{&quot;isTemplate&quot;:true,&quot;type&quot;:&quot;text&quot;}"/>
          <p:cNvSpPr txBox="1"/>
          <p:nvPr/>
        </p:nvSpPr>
        <p:spPr>
          <a:xfrm>
            <a:off x="4819650" y="3457575"/>
            <a:ext cx="6553200" cy="2571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en-US" sz="975">
                <a:solidFill>
                  <a:srgbClr val="E2E8F0"/>
                </a:solidFill>
                <a:latin typeface="JetBrains Mono"/>
                <a:ea typeface="JetBrains Mono"/>
              </a:rPr>
              <a:t>8. fboot cleanUpdate = cjpm clean → </a:t>
            </a:r>
            <a:r>
              <a:rPr lang="zh-CN" sz="975">
                <a:solidFill>
                  <a:srgbClr val="E2E8F0"/>
                </a:solidFill>
                <a:latin typeface="JetBrains Mono"/>
                <a:ea typeface="JetBrains Mono"/>
              </a:rPr>
              <a:t>删</a:t>
            </a:r>
            <a:r>
              <a:rPr lang="en-US" sz="975">
                <a:solidFill>
                  <a:srgbClr val="E2E8F0"/>
                </a:solidFill>
                <a:latin typeface="JetBrains Mono"/>
                <a:ea typeface="JetBrains Mono"/>
              </a:rPr>
              <a:t> cjpm.lock → cjpm update</a:t>
            </a:r>
            <a:endParaRPr lang="en-US" sz="975">
              <a:solidFill>
                <a:srgbClr val="E2E8F0"/>
              </a:solidFill>
              <a:latin typeface="JetBrains Mono"/>
              <a:ea typeface="JetBrains Mono"/>
            </a:endParaRPr>
          </a:p>
        </p:txBody>
      </p:sp>
      <p:sp>
        <p:nvSpPr>
          <p:cNvPr id="617" name="文本框 616" descr="{&quot;isTemplate&quot;:true,&quot;type&quot;:&quot;text&quot;}"/>
          <p:cNvSpPr txBox="1"/>
          <p:nvPr/>
        </p:nvSpPr>
        <p:spPr>
          <a:xfrm>
            <a:off x="4819650" y="3714750"/>
            <a:ext cx="6553200" cy="2571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en-US" sz="975">
                <a:solidFill>
                  <a:srgbClr val="E2E8F0"/>
                </a:solidFill>
                <a:latin typeface="JetBrains Mono"/>
                <a:ea typeface="JetBrains Mono"/>
              </a:rPr>
              <a:t>9. fboot build </a:t>
            </a:r>
            <a:r>
              <a:rPr lang="zh-CN" sz="975">
                <a:solidFill>
                  <a:srgbClr val="E2E8F0"/>
                </a:solidFill>
                <a:latin typeface="JetBrains Mono"/>
                <a:ea typeface="JetBrains Mono"/>
              </a:rPr>
              <a:t>编译使用</a:t>
            </a:r>
            <a:r>
              <a:rPr lang="en-US" sz="975">
                <a:solidFill>
                  <a:srgbClr val="E2E8F0"/>
                </a:solidFill>
                <a:latin typeface="JetBrains Mono"/>
                <a:ea typeface="JetBrains Mono"/>
              </a:rPr>
              <a:t> fountain </a:t>
            </a:r>
            <a:r>
              <a:rPr lang="zh-CN" sz="975">
                <a:solidFill>
                  <a:srgbClr val="E2E8F0"/>
                </a:solidFill>
                <a:latin typeface="JetBrains Mono"/>
                <a:ea typeface="JetBrains Mono"/>
              </a:rPr>
              <a:t>开发的应用项目</a:t>
            </a:r>
            <a:endParaRPr lang="zh-CN" sz="975">
              <a:solidFill>
                <a:srgbClr val="E2E8F0"/>
              </a:solidFill>
              <a:latin typeface="JetBrains Mono"/>
              <a:ea typeface="JetBrains Mono"/>
            </a:endParaRPr>
          </a:p>
        </p:txBody>
      </p:sp>
      <p:sp>
        <p:nvSpPr>
          <p:cNvPr id="618" name="文本框 617" descr="{&quot;isTemplate&quot;:true,&quot;type&quot;:&quot;text&quot;}"/>
          <p:cNvSpPr txBox="1"/>
          <p:nvPr/>
        </p:nvSpPr>
        <p:spPr>
          <a:xfrm>
            <a:off x="4819650" y="3971925"/>
            <a:ext cx="6553200" cy="2571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en-US" sz="975">
                <a:solidFill>
                  <a:srgbClr val="E2E8F0"/>
                </a:solidFill>
                <a:latin typeface="JetBrains Mono"/>
                <a:ea typeface="JetBrains Mono"/>
              </a:rPr>
              <a:t>10. fboot count </a:t>
            </a:r>
            <a:r>
              <a:rPr lang="zh-CN" sz="975">
                <a:solidFill>
                  <a:srgbClr val="E2E8F0"/>
                </a:solidFill>
                <a:latin typeface="JetBrains Mono"/>
                <a:ea typeface="JetBrains Mono"/>
              </a:rPr>
              <a:t>数模块数、包数、文件数、行数、耗时</a:t>
            </a:r>
            <a:endParaRPr lang="zh-CN" sz="975">
              <a:solidFill>
                <a:srgbClr val="E2E8F0"/>
              </a:solidFill>
              <a:latin typeface="JetBrains Mono"/>
              <a:ea typeface="JetBrains Mono"/>
            </a:endParaRPr>
          </a:p>
        </p:txBody>
      </p:sp>
      <p:sp>
        <p:nvSpPr>
          <p:cNvPr id="619" name="文本框 618" descr="{&quot;isTemplate&quot;:true,&quot;type&quot;:&quot;text&quot;}"/>
          <p:cNvSpPr txBox="1"/>
          <p:nvPr/>
        </p:nvSpPr>
        <p:spPr>
          <a:xfrm>
            <a:off x="4819650" y="4229100"/>
            <a:ext cx="6553200" cy="2571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en-US" sz="975">
                <a:solidFill>
                  <a:srgbClr val="E2E8F0"/>
                </a:solidFill>
                <a:latin typeface="JetBrains Mono"/>
                <a:ea typeface="JetBrains Mono"/>
              </a:rPr>
              <a:t>11. fboot pub </a:t>
            </a:r>
            <a:r>
              <a:rPr lang="zh-CN" sz="975">
                <a:solidFill>
                  <a:srgbClr val="E2E8F0"/>
                </a:solidFill>
                <a:latin typeface="JetBrains Mono"/>
                <a:ea typeface="JetBrains Mono"/>
              </a:rPr>
              <a:t>【</a:t>
            </a:r>
            <a:r>
              <a:rPr lang="en-US" sz="975">
                <a:solidFill>
                  <a:srgbClr val="E2E8F0"/>
                </a:solidFill>
                <a:latin typeface="JetBrains Mono"/>
                <a:ea typeface="JetBrains Mono"/>
              </a:rPr>
              <a:t>version</a:t>
            </a:r>
            <a:r>
              <a:rPr lang="zh-CN" sz="975">
                <a:solidFill>
                  <a:srgbClr val="E2E8F0"/>
                </a:solidFill>
                <a:latin typeface="JetBrains Mono"/>
                <a:ea typeface="JetBrains Mono"/>
              </a:rPr>
              <a:t>】</a:t>
            </a:r>
            <a:r>
              <a:rPr lang="en-US" sz="975">
                <a:solidFill>
                  <a:srgbClr val="E2E8F0"/>
                </a:solidFill>
                <a:latin typeface="JetBrains Mono"/>
                <a:ea typeface="JetBrains Mono"/>
              </a:rPr>
              <a:t> </a:t>
            </a:r>
            <a:r>
              <a:rPr lang="zh-CN" sz="975">
                <a:solidFill>
                  <a:srgbClr val="E2E8F0"/>
                </a:solidFill>
                <a:latin typeface="JetBrains Mono"/>
                <a:ea typeface="JetBrains Mono"/>
              </a:rPr>
              <a:t>发布当前路径下的仓颉模块</a:t>
            </a:r>
            <a:endParaRPr lang="zh-CN" sz="975">
              <a:solidFill>
                <a:srgbClr val="E2E8F0"/>
              </a:solidFill>
              <a:latin typeface="JetBrains Mono"/>
              <a:ea typeface="JetBrains Mono"/>
            </a:endParaRPr>
          </a:p>
        </p:txBody>
      </p:sp>
      <p:sp>
        <p:nvSpPr>
          <p:cNvPr id="620" name="文本框 619" descr="{&quot;isTemplate&quot;:true,&quot;type&quot;:&quot;text&quot;}"/>
          <p:cNvSpPr txBox="1"/>
          <p:nvPr/>
        </p:nvSpPr>
        <p:spPr>
          <a:xfrm>
            <a:off x="4819650" y="4486275"/>
            <a:ext cx="6553200" cy="2571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en-US" sz="975">
                <a:solidFill>
                  <a:srgbClr val="E2E8F0"/>
                </a:solidFill>
                <a:latin typeface="JetBrains Mono"/>
                <a:ea typeface="JetBrains Mono"/>
              </a:rPr>
              <a:t>12. fboot randhex n </a:t>
            </a:r>
            <a:r>
              <a:rPr lang="zh-CN" sz="975">
                <a:solidFill>
                  <a:srgbClr val="E2E8F0"/>
                </a:solidFill>
                <a:latin typeface="JetBrains Mono"/>
                <a:ea typeface="JetBrains Mono"/>
              </a:rPr>
              <a:t>生成</a:t>
            </a:r>
            <a:r>
              <a:rPr lang="en-US" sz="975">
                <a:solidFill>
                  <a:srgbClr val="E2E8F0"/>
                </a:solidFill>
                <a:latin typeface="JetBrains Mono"/>
                <a:ea typeface="JetBrains Mono"/>
              </a:rPr>
              <a:t> n </a:t>
            </a:r>
            <a:r>
              <a:rPr lang="zh-CN" sz="975">
                <a:solidFill>
                  <a:srgbClr val="E2E8F0"/>
                </a:solidFill>
                <a:latin typeface="JetBrains Mono"/>
                <a:ea typeface="JetBrains Mono"/>
              </a:rPr>
              <a:t>位随机</a:t>
            </a:r>
            <a:r>
              <a:rPr lang="en-US" sz="975">
                <a:solidFill>
                  <a:srgbClr val="E2E8F0"/>
                </a:solidFill>
                <a:latin typeface="JetBrains Mono"/>
                <a:ea typeface="JetBrains Mono"/>
              </a:rPr>
              <a:t> 16 </a:t>
            </a:r>
            <a:r>
              <a:rPr lang="zh-CN" sz="975">
                <a:solidFill>
                  <a:srgbClr val="E2E8F0"/>
                </a:solidFill>
                <a:latin typeface="JetBrains Mono"/>
                <a:ea typeface="JetBrains Mono"/>
              </a:rPr>
              <a:t>进制数</a:t>
            </a:r>
            <a:endParaRPr lang="zh-CN" sz="975">
              <a:solidFill>
                <a:srgbClr val="E2E8F0"/>
              </a:solidFill>
              <a:latin typeface="JetBrains Mono"/>
              <a:ea typeface="JetBrains Mono"/>
            </a:endParaRPr>
          </a:p>
        </p:txBody>
      </p:sp>
      <p:sp>
        <p:nvSpPr>
          <p:cNvPr id="621" name="文本框 620" descr="{&quot;isTemplate&quot;:true,&quot;type&quot;:&quot;text&quot;}"/>
          <p:cNvSpPr txBox="1"/>
          <p:nvPr/>
        </p:nvSpPr>
        <p:spPr>
          <a:xfrm>
            <a:off x="4819650" y="4743450"/>
            <a:ext cx="6553200" cy="2571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en-US" sz="975">
                <a:solidFill>
                  <a:srgbClr val="64748B"/>
                </a:solidFill>
                <a:latin typeface="JetBrains Mono"/>
                <a:ea typeface="JetBrains Mono"/>
              </a:rPr>
              <a:t>── </a:t>
            </a:r>
            <a:r>
              <a:rPr lang="zh-CN" sz="975">
                <a:solidFill>
                  <a:srgbClr val="64748B"/>
                </a:solidFill>
                <a:latin typeface="JetBrains Mono"/>
                <a:ea typeface="JetBrains Mono"/>
              </a:rPr>
              <a:t>以下命令用来管理</a:t>
            </a:r>
            <a:r>
              <a:rPr lang="en-US" sz="975">
                <a:solidFill>
                  <a:srgbClr val="64748B"/>
                </a:solidFill>
                <a:latin typeface="JetBrains Mono"/>
                <a:ea typeface="JetBrains Mono"/>
              </a:rPr>
              <a:t> fountain </a:t>
            </a:r>
            <a:r>
              <a:rPr lang="zh-CN" sz="975">
                <a:solidFill>
                  <a:srgbClr val="64748B"/>
                </a:solidFill>
                <a:latin typeface="JetBrains Mono"/>
                <a:ea typeface="JetBrains Mono"/>
              </a:rPr>
              <a:t>本身</a:t>
            </a:r>
            <a:r>
              <a:rPr lang="en-US" sz="975">
                <a:solidFill>
                  <a:srgbClr val="64748B"/>
                </a:solidFill>
                <a:latin typeface="JetBrains Mono"/>
                <a:ea typeface="JetBrains Mono"/>
              </a:rPr>
              <a:t> ──</a:t>
            </a:r>
            <a:endParaRPr lang="en-US" sz="975">
              <a:solidFill>
                <a:srgbClr val="64748B"/>
              </a:solidFill>
              <a:latin typeface="JetBrains Mono"/>
              <a:ea typeface="JetBrains Mono"/>
            </a:endParaRPr>
          </a:p>
        </p:txBody>
      </p:sp>
      <p:sp>
        <p:nvSpPr>
          <p:cNvPr id="622" name="文本框 621" descr="{&quot;isTemplate&quot;:true,&quot;type&quot;:&quot;text&quot;}"/>
          <p:cNvSpPr txBox="1"/>
          <p:nvPr/>
        </p:nvSpPr>
        <p:spPr>
          <a:xfrm>
            <a:off x="4819650" y="5000625"/>
            <a:ext cx="6553200" cy="2571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en-US" sz="975">
                <a:solidFill>
                  <a:srgbClr val="94A3B8"/>
                </a:solidFill>
                <a:latin typeface="JetBrains Mono"/>
                <a:ea typeface="JetBrains Mono"/>
              </a:rPr>
              <a:t>13. fboot version x.y.z </a:t>
            </a:r>
            <a:r>
              <a:rPr lang="zh-CN" sz="975">
                <a:solidFill>
                  <a:srgbClr val="94A3B8"/>
                </a:solidFill>
                <a:latin typeface="JetBrains Mono"/>
                <a:ea typeface="JetBrains Mono"/>
              </a:rPr>
              <a:t>替换版本号并提交推送、可打</a:t>
            </a:r>
            <a:r>
              <a:rPr lang="en-US" sz="975">
                <a:solidFill>
                  <a:srgbClr val="94A3B8"/>
                </a:solidFill>
                <a:latin typeface="JetBrains Mono"/>
                <a:ea typeface="JetBrains Mono"/>
              </a:rPr>
              <a:t> tag</a:t>
            </a:r>
            <a:endParaRPr lang="en-US" sz="975">
              <a:solidFill>
                <a:srgbClr val="94A3B8"/>
              </a:solidFill>
              <a:latin typeface="JetBrains Mono"/>
              <a:ea typeface="JetBrains Mono"/>
            </a:endParaRPr>
          </a:p>
        </p:txBody>
      </p:sp>
      <p:sp>
        <p:nvSpPr>
          <p:cNvPr id="623" name="文本框 622" descr="{&quot;isTemplate&quot;:true,&quot;type&quot;:&quot;text&quot;}"/>
          <p:cNvSpPr txBox="1"/>
          <p:nvPr/>
        </p:nvSpPr>
        <p:spPr>
          <a:xfrm>
            <a:off x="4819650" y="5257800"/>
            <a:ext cx="6553200" cy="2571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en-US" sz="975">
                <a:solidFill>
                  <a:srgbClr val="94A3B8"/>
                </a:solidFill>
                <a:latin typeface="JetBrains Mono"/>
                <a:ea typeface="JetBrains Mono"/>
              </a:rPr>
              <a:t>14. fboot version </a:t>
            </a:r>
            <a:r>
              <a:rPr lang="zh-CN" sz="975">
                <a:solidFill>
                  <a:srgbClr val="94A3B8"/>
                </a:solidFill>
                <a:latin typeface="JetBrains Mono"/>
                <a:ea typeface="JetBrains Mono"/>
              </a:rPr>
              <a:t>显示当前</a:t>
            </a:r>
            <a:r>
              <a:rPr lang="en-US" sz="975">
                <a:solidFill>
                  <a:srgbClr val="94A3B8"/>
                </a:solidFill>
                <a:latin typeface="JetBrains Mono"/>
                <a:ea typeface="JetBrains Mono"/>
              </a:rPr>
              <a:t> fountain </a:t>
            </a:r>
            <a:r>
              <a:rPr lang="zh-CN" sz="975">
                <a:solidFill>
                  <a:srgbClr val="94A3B8"/>
                </a:solidFill>
                <a:latin typeface="JetBrains Mono"/>
                <a:ea typeface="JetBrains Mono"/>
              </a:rPr>
              <a:t>版本号</a:t>
            </a:r>
            <a:endParaRPr lang="zh-CN" sz="975">
              <a:solidFill>
                <a:srgbClr val="94A3B8"/>
              </a:solidFill>
              <a:latin typeface="JetBrains Mono"/>
              <a:ea typeface="JetBrains Mono"/>
            </a:endParaRPr>
          </a:p>
        </p:txBody>
      </p:sp>
      <p:sp>
        <p:nvSpPr>
          <p:cNvPr id="624" name="文本框 623" descr="{&quot;isTemplate&quot;:true,&quot;type&quot;:&quot;text&quot;}"/>
          <p:cNvSpPr txBox="1"/>
          <p:nvPr/>
        </p:nvSpPr>
        <p:spPr>
          <a:xfrm>
            <a:off x="4819650" y="5514975"/>
            <a:ext cx="6553200" cy="2571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en-US" sz="975">
                <a:solidFill>
                  <a:srgbClr val="94A3B8"/>
                </a:solidFill>
                <a:latin typeface="JetBrains Mono"/>
                <a:ea typeface="JetBrains Mono"/>
              </a:rPr>
              <a:t>15. fboot help </a:t>
            </a:r>
            <a:r>
              <a:rPr lang="zh-CN" sz="975">
                <a:solidFill>
                  <a:srgbClr val="94A3B8"/>
                </a:solidFill>
                <a:latin typeface="JetBrains Mono"/>
                <a:ea typeface="JetBrains Mono"/>
              </a:rPr>
              <a:t>显示命令列表</a:t>
            </a:r>
            <a:endParaRPr lang="zh-CN" sz="975">
              <a:solidFill>
                <a:srgbClr val="94A3B8"/>
              </a:solidFill>
              <a:latin typeface="JetBrains Mono"/>
              <a:ea typeface="JetBrains Mono"/>
            </a:endParaRPr>
          </a:p>
        </p:txBody>
      </p:sp>
      <p:sp>
        <p:nvSpPr>
          <p:cNvPr id="625" name="任意多边形 624"/>
          <p:cNvSpPr/>
          <p:nvPr/>
        </p:nvSpPr>
        <p:spPr>
          <a:xfrm>
            <a:off x="609600" y="6286500"/>
            <a:ext cx="10972800" cy="381000"/>
          </a:xfrm>
          <a:custGeom>
            <a:avLst/>
            <a:gdLst/>
            <a:ahLst/>
            <a:cxnLst/>
            <a:pathLst>
              <a:path w="1152" h="40">
                <a:moveTo>
                  <a:pt x="0" y="0"/>
                </a:moveTo>
                <a:lnTo>
                  <a:pt x="1152" y="0"/>
                </a:lnTo>
                <a:lnTo>
                  <a:pt x="1152" y="1"/>
                </a:lnTo>
                <a:lnTo>
                  <a:pt x="0" y="1"/>
                </a:lnTo>
                <a:close/>
              </a:path>
            </a:pathLst>
          </a:custGeom>
          <a:solidFill>
            <a:srgbClr val="1E293B"/>
          </a:solidFill>
        </p:spPr>
        <p:txBody>
          <a:bodyPr/>
          <a:p/>
        </p:txBody>
      </p:sp>
      <p:sp>
        <p:nvSpPr>
          <p:cNvPr id="626" name="文本框 625" descr="{&quot;isTemplate&quot;:true,&quot;type&quot;:&quot;text&quot;}"/>
          <p:cNvSpPr txBox="1"/>
          <p:nvPr/>
        </p:nvSpPr>
        <p:spPr>
          <a:xfrm>
            <a:off x="609600" y="6410325"/>
            <a:ext cx="2219325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fountain · 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一站式服务器应用开发工具库</a:t>
            </a:r>
            <a:endParaRPr lang="zh-CN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27" name="文本框 626" descr="{&quot;isTemplate&quot;:true,&quot;type&quot;:&quot;text&quot;}"/>
          <p:cNvSpPr txBox="1"/>
          <p:nvPr/>
        </p:nvSpPr>
        <p:spPr>
          <a:xfrm>
            <a:off x="11087100" y="6410325"/>
            <a:ext cx="495300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14 / 116</a:t>
            </a:r>
            <a:endParaRPr lang="en-US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62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9" name="矩形 628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220"/>
          </a:solidFill>
        </p:spPr>
        <p:txBody>
          <a:bodyPr/>
          <a:p/>
        </p:txBody>
      </p:sp>
      <p:sp>
        <p:nvSpPr>
          <p:cNvPr id="630" name="矩形 629"/>
          <p:cNvSpPr/>
          <p:nvPr/>
        </p:nvSpPr>
        <p:spPr>
          <a:xfrm>
            <a:off x="609600" y="476250"/>
            <a:ext cx="38100" cy="381000"/>
          </a:xfrm>
          <a:prstGeom prst="rect">
            <a:avLst/>
          </a:prstGeom>
          <a:solidFill>
            <a:srgbClr val="38BDF8"/>
          </a:solidFill>
        </p:spPr>
        <p:txBody>
          <a:bodyPr/>
          <a:p/>
        </p:txBody>
      </p:sp>
      <p:sp>
        <p:nvSpPr>
          <p:cNvPr id="631" name="文本框 630" descr="{&quot;isTemplate&quot;:true,&quot;type&quot;:&quot;text&quot;}"/>
          <p:cNvSpPr txBox="1"/>
          <p:nvPr/>
        </p:nvSpPr>
        <p:spPr>
          <a:xfrm>
            <a:off x="819150" y="304800"/>
            <a:ext cx="10096500" cy="2095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第</a:t>
            </a: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 3 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章</a:t>
            </a: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 · fboot 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命令行</a:t>
            </a: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 · 3.2</a:t>
            </a:r>
            <a:endParaRPr lang="en-US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32" name="文本框 631" descr="{&quot;isTemplate&quot;:true,&quot;type&quot;:&quot;text&quot;}"/>
          <p:cNvSpPr txBox="1"/>
          <p:nvPr/>
        </p:nvSpPr>
        <p:spPr>
          <a:xfrm>
            <a:off x="819150" y="514350"/>
            <a:ext cx="10096500" cy="5143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en-US" sz="2550" b="1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fboot workspace</a:t>
            </a:r>
            <a:r>
              <a:rPr lang="zh-CN" sz="2550" b="1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：把目录变成仓颉</a:t>
            </a:r>
            <a:r>
              <a:rPr lang="en-US" sz="2550" b="1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 workspace</a:t>
            </a:r>
            <a:endParaRPr lang="en-US" sz="2550" b="1">
              <a:solidFill>
                <a:srgbClr val="E2E8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33" name="文本框 632" descr="{&quot;isTemplate&quot;:true,&quot;type&quot;:&quot;text&quot;}"/>
          <p:cNvSpPr txBox="1"/>
          <p:nvPr/>
        </p:nvSpPr>
        <p:spPr>
          <a:xfrm>
            <a:off x="11087100" y="590550"/>
            <a:ext cx="495300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三种用法</a:t>
            </a:r>
            <a:endParaRPr lang="zh-CN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34" name="圆角矩形 633"/>
          <p:cNvSpPr/>
          <p:nvPr/>
        </p:nvSpPr>
        <p:spPr>
          <a:xfrm>
            <a:off x="609600" y="1143000"/>
            <a:ext cx="4572000" cy="4076700"/>
          </a:xfrm>
          <a:prstGeom prst="roundRect">
            <a:avLst>
              <a:gd name="adj" fmla="val 2804"/>
            </a:avLst>
          </a:prstGeom>
          <a:solidFill>
            <a:srgbClr val="0B1220"/>
          </a:solidFill>
          <a:ln w="12700">
            <a:solidFill>
              <a:srgbClr val="1E293B"/>
            </a:solidFill>
            <a:prstDash val="solid"/>
          </a:ln>
        </p:spPr>
        <p:txBody>
          <a:bodyPr/>
          <a:p/>
        </p:txBody>
      </p:sp>
      <p:sp>
        <p:nvSpPr>
          <p:cNvPr id="635" name="文本框 634" descr="{&quot;isTemplate&quot;:true,&quot;type&quot;:&quot;text&quot;}"/>
          <p:cNvSpPr txBox="1"/>
          <p:nvPr/>
        </p:nvSpPr>
        <p:spPr>
          <a:xfrm>
            <a:off x="819150" y="1352550"/>
            <a:ext cx="4152900" cy="1905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三种用法</a:t>
            </a:r>
            <a:endParaRPr lang="zh-CN" sz="1200" b="1">
              <a:solidFill>
                <a:srgbClr val="E2E8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36" name="文本框 635" descr="{&quot;isTemplate&quot;:true,&quot;type&quot;:&quot;text&quot;}"/>
          <p:cNvSpPr txBox="1"/>
          <p:nvPr/>
        </p:nvSpPr>
        <p:spPr>
          <a:xfrm>
            <a:off x="819150" y="1676400"/>
            <a:ext cx="4152900" cy="3333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90000"/>
              </a:lnSpc>
            </a:pPr>
            <a:r>
              <a:rPr lang="en-US" sz="1125">
                <a:solidFill>
                  <a:srgbClr val="22D3EE"/>
                </a:solidFill>
                <a:latin typeface="JetBrains Mono"/>
                <a:ea typeface="JetBrains Mono"/>
              </a:rPr>
              <a:t>fboot workspace</a:t>
            </a:r>
            <a:endParaRPr lang="en-US" sz="1125">
              <a:solidFill>
                <a:srgbClr val="22D3EE"/>
              </a:solidFill>
              <a:latin typeface="JetBrains Mono"/>
              <a:ea typeface="JetBrains Mono"/>
            </a:endParaRPr>
          </a:p>
        </p:txBody>
      </p:sp>
      <p:sp>
        <p:nvSpPr>
          <p:cNvPr id="637" name="文本框 636" descr="{&quot;isTemplate&quot;:true,&quot;type&quot;:&quot;text&quot;}"/>
          <p:cNvSpPr txBox="1"/>
          <p:nvPr/>
        </p:nvSpPr>
        <p:spPr>
          <a:xfrm>
            <a:off x="819150" y="2009775"/>
            <a:ext cx="4152900" cy="2571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把「当前目录」初始化为</a:t>
            </a:r>
            <a:r>
              <a:rPr lang="en-US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workspace</a:t>
            </a:r>
            <a:endParaRPr lang="en-US" sz="1050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38" name="文本框 637" descr="{&quot;isTemplate&quot;:true,&quot;type&quot;:&quot;text&quot;}"/>
          <p:cNvSpPr txBox="1"/>
          <p:nvPr/>
        </p:nvSpPr>
        <p:spPr>
          <a:xfrm>
            <a:off x="819150" y="2400300"/>
            <a:ext cx="4152900" cy="3333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90000"/>
              </a:lnSpc>
            </a:pPr>
            <a:r>
              <a:rPr lang="en-US" sz="1125">
                <a:solidFill>
                  <a:srgbClr val="22D3EE"/>
                </a:solidFill>
                <a:latin typeface="JetBrains Mono"/>
                <a:ea typeface="JetBrains Mono"/>
              </a:rPr>
              <a:t>fboot workspace fdemo</a:t>
            </a:r>
            <a:endParaRPr lang="en-US" sz="1125">
              <a:solidFill>
                <a:srgbClr val="22D3EE"/>
              </a:solidFill>
              <a:latin typeface="JetBrains Mono"/>
              <a:ea typeface="JetBrains Mono"/>
            </a:endParaRPr>
          </a:p>
        </p:txBody>
      </p:sp>
      <p:sp>
        <p:nvSpPr>
          <p:cNvPr id="639" name="文本框 638" descr="{&quot;isTemplate&quot;:true,&quot;type&quot;:&quot;text&quot;}"/>
          <p:cNvSpPr txBox="1"/>
          <p:nvPr/>
        </p:nvSpPr>
        <p:spPr>
          <a:xfrm>
            <a:off x="819150" y="2733675"/>
            <a:ext cx="4152900" cy="2571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在当前目录下新建</a:t>
            </a:r>
            <a:r>
              <a:rPr lang="en-US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fdemo </a:t>
            </a:r>
            <a:r>
              <a:rPr lang="zh-CN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子目录并初始化</a:t>
            </a:r>
            <a:endParaRPr lang="zh-CN" sz="1050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40" name="文本框 639" descr="{&quot;isTemplate&quot;:true,&quot;type&quot;:&quot;text&quot;}"/>
          <p:cNvSpPr txBox="1"/>
          <p:nvPr/>
        </p:nvSpPr>
        <p:spPr>
          <a:xfrm>
            <a:off x="819150" y="3124200"/>
            <a:ext cx="4152900" cy="3333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90000"/>
              </a:lnSpc>
            </a:pPr>
            <a:r>
              <a:rPr lang="en-US" sz="1125">
                <a:solidFill>
                  <a:srgbClr val="22D3EE"/>
                </a:solidFill>
                <a:latin typeface="JetBrains Mono"/>
                <a:ea typeface="JetBrains Mono"/>
              </a:rPr>
              <a:t>fboot workspace /path/to/project</a:t>
            </a:r>
            <a:endParaRPr lang="en-US" sz="1125">
              <a:solidFill>
                <a:srgbClr val="22D3EE"/>
              </a:solidFill>
              <a:latin typeface="JetBrains Mono"/>
              <a:ea typeface="JetBrains Mono"/>
            </a:endParaRPr>
          </a:p>
        </p:txBody>
      </p:sp>
      <p:sp>
        <p:nvSpPr>
          <p:cNvPr id="641" name="文本框 640" descr="{&quot;isTemplate&quot;:true,&quot;type&quot;:&quot;text&quot;}"/>
          <p:cNvSpPr txBox="1"/>
          <p:nvPr/>
        </p:nvSpPr>
        <p:spPr>
          <a:xfrm>
            <a:off x="819150" y="3457575"/>
            <a:ext cx="4152900" cy="2571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指定绝对</a:t>
            </a:r>
            <a:r>
              <a:rPr lang="en-US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/ </a:t>
            </a:r>
            <a:r>
              <a:rPr lang="zh-CN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相对路径，把该路径初始化为</a:t>
            </a:r>
            <a:r>
              <a:rPr lang="en-US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workspace</a:t>
            </a:r>
            <a:endParaRPr lang="en-US" sz="1050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42" name="圆角矩形 641"/>
          <p:cNvSpPr/>
          <p:nvPr/>
        </p:nvSpPr>
        <p:spPr>
          <a:xfrm>
            <a:off x="5372100" y="1143000"/>
            <a:ext cx="6210300" cy="4076700"/>
          </a:xfrm>
          <a:prstGeom prst="roundRect">
            <a:avLst>
              <a:gd name="adj" fmla="val 2804"/>
            </a:avLst>
          </a:prstGeom>
          <a:solidFill>
            <a:srgbClr val="111C2E"/>
          </a:solidFill>
          <a:ln w="12700">
            <a:solidFill>
              <a:srgbClr val="1E293B"/>
            </a:solidFill>
            <a:prstDash val="solid"/>
          </a:ln>
        </p:spPr>
        <p:txBody>
          <a:bodyPr/>
          <a:p/>
        </p:txBody>
      </p:sp>
      <p:sp>
        <p:nvSpPr>
          <p:cNvPr id="643" name="文本框 642" descr="{&quot;isTemplate&quot;:true,&quot;type&quot;:&quot;text&quot;}"/>
          <p:cNvSpPr txBox="1"/>
          <p:nvPr/>
        </p:nvSpPr>
        <p:spPr>
          <a:xfrm>
            <a:off x="5581650" y="1352550"/>
            <a:ext cx="5791200" cy="1905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它到底做了什么</a:t>
            </a:r>
            <a:endParaRPr lang="zh-CN" sz="1200" b="1">
              <a:solidFill>
                <a:srgbClr val="E2E8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44" name="文本框 643" descr="{&quot;isTemplate&quot;:true,&quot;type&quot;:&quot;text&quot;}"/>
          <p:cNvSpPr txBox="1"/>
          <p:nvPr/>
        </p:nvSpPr>
        <p:spPr>
          <a:xfrm>
            <a:off x="5581650" y="1676400"/>
            <a:ext cx="95250" cy="2952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>
                <a:solidFill>
                  <a:srgbClr val="38BDF8"/>
                </a:solidFill>
                <a:latin typeface="JetBrains Mono"/>
                <a:ea typeface="JetBrains Mono"/>
              </a:rPr>
              <a:t>1</a:t>
            </a:r>
            <a:endParaRPr lang="en-US" sz="1200">
              <a:solidFill>
                <a:srgbClr val="38BDF8"/>
              </a:solidFill>
              <a:latin typeface="JetBrains Mono"/>
              <a:ea typeface="JetBrains Mono"/>
            </a:endParaRPr>
          </a:p>
        </p:txBody>
      </p:sp>
      <p:sp>
        <p:nvSpPr>
          <p:cNvPr id="645" name="文本框 644" descr="{&quot;isTemplate&quot;:true,&quot;type&quot;:&quot;text&quot;}"/>
          <p:cNvSpPr txBox="1"/>
          <p:nvPr/>
        </p:nvSpPr>
        <p:spPr>
          <a:xfrm>
            <a:off x="5810250" y="1676400"/>
            <a:ext cx="5562600" cy="2952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zh-CN" sz="112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在目标目录执行</a:t>
            </a:r>
            <a:r>
              <a:rPr lang="en-US" sz="112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cjpm init --workspace</a:t>
            </a:r>
            <a:endParaRPr lang="en-US" sz="1125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46" name="文本框 645" descr="{&quot;isTemplate&quot;:true,&quot;type&quot;:&quot;text&quot;}"/>
          <p:cNvSpPr txBox="1"/>
          <p:nvPr/>
        </p:nvSpPr>
        <p:spPr>
          <a:xfrm>
            <a:off x="5581650" y="2105025"/>
            <a:ext cx="95250" cy="14382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>
                <a:solidFill>
                  <a:srgbClr val="38BDF8"/>
                </a:solidFill>
                <a:latin typeface="JetBrains Mono"/>
                <a:ea typeface="JetBrains Mono"/>
              </a:rPr>
              <a:t>2</a:t>
            </a:r>
            <a:endParaRPr lang="en-US" sz="1200">
              <a:solidFill>
                <a:srgbClr val="38BDF8"/>
              </a:solidFill>
              <a:latin typeface="JetBrains Mono"/>
              <a:ea typeface="JetBrains Mono"/>
            </a:endParaRPr>
          </a:p>
        </p:txBody>
      </p:sp>
      <p:sp>
        <p:nvSpPr>
          <p:cNvPr id="647" name="文本框 646" descr="{&quot;isTemplate&quot;:true,&quot;type&quot;:&quot;text&quot;}"/>
          <p:cNvSpPr txBox="1"/>
          <p:nvPr/>
        </p:nvSpPr>
        <p:spPr>
          <a:xfrm>
            <a:off x="5810250" y="2105025"/>
            <a:ext cx="5562600" cy="2952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zh-CN" sz="112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重写</a:t>
            </a:r>
            <a:r>
              <a:rPr lang="en-US" sz="112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cjpm.toml</a:t>
            </a:r>
            <a:r>
              <a:rPr lang="zh-CN" sz="112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：</a:t>
            </a:r>
            <a:endParaRPr lang="zh-CN" sz="1125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48" name="文本框 647" descr="{&quot;isTemplate&quot;:true,&quot;type&quot;:&quot;text&quot;}"/>
          <p:cNvSpPr txBox="1"/>
          <p:nvPr/>
        </p:nvSpPr>
        <p:spPr>
          <a:xfrm>
            <a:off x="5810250" y="2438400"/>
            <a:ext cx="5562600" cy="2762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en-US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· [workspace] version </a:t>
            </a:r>
            <a:r>
              <a:rPr lang="zh-CN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定为</a:t>
            </a:r>
            <a:r>
              <a:rPr lang="en-US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1.0.0</a:t>
            </a:r>
            <a:endParaRPr lang="en-US" sz="1050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49" name="文本框 648" descr="{&quot;isTemplate&quot;:true,&quot;type&quot;:&quot;text&quot;}"/>
          <p:cNvSpPr txBox="1"/>
          <p:nvPr/>
        </p:nvSpPr>
        <p:spPr>
          <a:xfrm>
            <a:off x="5810250" y="2714625"/>
            <a:ext cx="5562600" cy="2762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en-US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· </a:t>
            </a:r>
            <a:r>
              <a:rPr lang="zh-CN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写入</a:t>
            </a:r>
            <a:r>
              <a:rPr lang="en-US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f_base / f_version </a:t>
            </a:r>
            <a:r>
              <a:rPr lang="zh-CN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依赖</a:t>
            </a:r>
            <a:endParaRPr lang="zh-CN" sz="1050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50" name="文本框 649" descr="{&quot;isTemplate&quot;:true,&quot;type&quot;:&quot;text&quot;}"/>
          <p:cNvSpPr txBox="1"/>
          <p:nvPr/>
        </p:nvSpPr>
        <p:spPr>
          <a:xfrm>
            <a:off x="5810250" y="2990850"/>
            <a:ext cx="5562600" cy="2762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en-US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· </a:t>
            </a:r>
            <a:r>
              <a:rPr lang="zh-CN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空的</a:t>
            </a:r>
            <a:r>
              <a:rPr lang="en-US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compile-option </a:t>
            </a:r>
            <a:r>
              <a:rPr lang="zh-CN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换成</a:t>
            </a:r>
            <a:r>
              <a:rPr lang="en-US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--dy-std -Woff all</a:t>
            </a:r>
            <a:endParaRPr lang="en-US" sz="1050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51" name="文本框 650" descr="{&quot;isTemplate&quot;:true,&quot;type&quot;:&quot;text&quot;}"/>
          <p:cNvSpPr txBox="1"/>
          <p:nvPr/>
        </p:nvSpPr>
        <p:spPr>
          <a:xfrm>
            <a:off x="5810250" y="3267075"/>
            <a:ext cx="5562600" cy="2762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en-US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· </a:t>
            </a:r>
            <a:r>
              <a:rPr lang="zh-CN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补齐</a:t>
            </a:r>
            <a:r>
              <a:rPr lang="en-US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Linux / macOS / Windows / OHOS </a:t>
            </a:r>
            <a:r>
              <a:rPr lang="zh-CN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的</a:t>
            </a:r>
            <a:r>
              <a:rPr lang="en-US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[target.*] </a:t>
            </a:r>
            <a:r>
              <a:rPr lang="zh-CN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与</a:t>
            </a:r>
            <a:r>
              <a:rPr lang="en-US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path-option</a:t>
            </a:r>
            <a:endParaRPr lang="en-US" sz="1050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52" name="文本框 651" descr="{&quot;isTemplate&quot;:true,&quot;type&quot;:&quot;text&quot;}"/>
          <p:cNvSpPr txBox="1"/>
          <p:nvPr/>
        </p:nvSpPr>
        <p:spPr>
          <a:xfrm>
            <a:off x="5581650" y="4714875"/>
            <a:ext cx="5791200" cy="2952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zh-CN" sz="1125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它替你写好了那</a:t>
            </a:r>
            <a:r>
              <a:rPr lang="en-US" sz="1125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 60 </a:t>
            </a:r>
            <a:r>
              <a:rPr lang="zh-CN" sz="1125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行跨平台配置，你不用再手抄。</a:t>
            </a:r>
            <a:endParaRPr lang="zh-CN" sz="1125">
              <a:solidFill>
                <a:srgbClr val="F59E0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53" name="圆角矩形 652"/>
          <p:cNvSpPr/>
          <p:nvPr/>
        </p:nvSpPr>
        <p:spPr>
          <a:xfrm>
            <a:off x="609600" y="5372100"/>
            <a:ext cx="10972800" cy="914400"/>
          </a:xfrm>
          <a:prstGeom prst="roundRect">
            <a:avLst>
              <a:gd name="adj" fmla="val 12500"/>
            </a:avLst>
          </a:prstGeom>
          <a:solidFill>
            <a:srgbClr val="38BDF8">
              <a:alpha val="6000"/>
            </a:srgbClr>
          </a:solidFill>
          <a:ln w="12700">
            <a:solidFill>
              <a:srgbClr val="38BDF8"/>
            </a:solidFill>
            <a:prstDash val="solid"/>
          </a:ln>
        </p:spPr>
        <p:txBody>
          <a:bodyPr/>
          <a:p/>
        </p:txBody>
      </p:sp>
      <p:sp>
        <p:nvSpPr>
          <p:cNvPr id="654" name="矩形 653"/>
          <p:cNvSpPr/>
          <p:nvPr/>
        </p:nvSpPr>
        <p:spPr>
          <a:xfrm>
            <a:off x="800100" y="5600700"/>
            <a:ext cx="38100" cy="457200"/>
          </a:xfrm>
          <a:prstGeom prst="rect">
            <a:avLst/>
          </a:prstGeom>
          <a:solidFill>
            <a:srgbClr val="38BDF8"/>
          </a:solidFill>
        </p:spPr>
        <p:txBody>
          <a:bodyPr/>
          <a:p/>
        </p:txBody>
      </p:sp>
      <p:sp>
        <p:nvSpPr>
          <p:cNvPr id="655" name="文本框 654" descr="{&quot;isTemplate&quot;:true,&quot;type&quot;:&quot;text&quot;}"/>
          <p:cNvSpPr txBox="1"/>
          <p:nvPr/>
        </p:nvSpPr>
        <p:spPr>
          <a:xfrm>
            <a:off x="1028700" y="5734050"/>
            <a:ext cx="10363200" cy="2000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 b="1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workspace </a:t>
            </a:r>
            <a:r>
              <a:rPr lang="zh-CN" sz="1275" b="1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是「装模块的盒子」，每个模块都必须编译为动态链接库。</a:t>
            </a:r>
            <a:endParaRPr lang="zh-CN" sz="1275" b="1">
              <a:solidFill>
                <a:srgbClr val="E2E8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56" name="任意多边形 655"/>
          <p:cNvSpPr/>
          <p:nvPr/>
        </p:nvSpPr>
        <p:spPr>
          <a:xfrm>
            <a:off x="609600" y="6286500"/>
            <a:ext cx="10972800" cy="381000"/>
          </a:xfrm>
          <a:custGeom>
            <a:avLst/>
            <a:gdLst/>
            <a:ahLst/>
            <a:cxnLst/>
            <a:pathLst>
              <a:path w="1152" h="40">
                <a:moveTo>
                  <a:pt x="0" y="0"/>
                </a:moveTo>
                <a:lnTo>
                  <a:pt x="1152" y="0"/>
                </a:lnTo>
                <a:lnTo>
                  <a:pt x="1152" y="1"/>
                </a:lnTo>
                <a:lnTo>
                  <a:pt x="0" y="1"/>
                </a:lnTo>
                <a:close/>
              </a:path>
            </a:pathLst>
          </a:custGeom>
          <a:solidFill>
            <a:srgbClr val="1E293B"/>
          </a:solidFill>
        </p:spPr>
        <p:txBody>
          <a:bodyPr/>
          <a:p/>
        </p:txBody>
      </p:sp>
      <p:sp>
        <p:nvSpPr>
          <p:cNvPr id="657" name="文本框 656" descr="{&quot;isTemplate&quot;:true,&quot;type&quot;:&quot;text&quot;}"/>
          <p:cNvSpPr txBox="1"/>
          <p:nvPr/>
        </p:nvSpPr>
        <p:spPr>
          <a:xfrm>
            <a:off x="609600" y="6410325"/>
            <a:ext cx="2219325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fountain · 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一站式服务器应用开发工具库</a:t>
            </a:r>
            <a:endParaRPr lang="zh-CN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58" name="文本框 657" descr="{&quot;isTemplate&quot;:true,&quot;type&quot;:&quot;text&quot;}"/>
          <p:cNvSpPr txBox="1"/>
          <p:nvPr/>
        </p:nvSpPr>
        <p:spPr>
          <a:xfrm>
            <a:off x="11087100" y="6410325"/>
            <a:ext cx="495300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15 / 116</a:t>
            </a:r>
            <a:endParaRPr lang="en-US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65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0" name="矩形 659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220"/>
          </a:solidFill>
        </p:spPr>
        <p:txBody>
          <a:bodyPr/>
          <a:p/>
        </p:txBody>
      </p:sp>
      <p:sp>
        <p:nvSpPr>
          <p:cNvPr id="661" name="矩形 660"/>
          <p:cNvSpPr/>
          <p:nvPr/>
        </p:nvSpPr>
        <p:spPr>
          <a:xfrm>
            <a:off x="609600" y="476250"/>
            <a:ext cx="38100" cy="381000"/>
          </a:xfrm>
          <a:prstGeom prst="rect">
            <a:avLst/>
          </a:prstGeom>
          <a:solidFill>
            <a:srgbClr val="38BDF8"/>
          </a:solidFill>
        </p:spPr>
        <p:txBody>
          <a:bodyPr/>
          <a:p/>
        </p:txBody>
      </p:sp>
      <p:sp>
        <p:nvSpPr>
          <p:cNvPr id="662" name="文本框 661" descr="{&quot;isTemplate&quot;:true,&quot;type&quot;:&quot;text&quot;}"/>
          <p:cNvSpPr txBox="1"/>
          <p:nvPr/>
        </p:nvSpPr>
        <p:spPr>
          <a:xfrm>
            <a:off x="819150" y="304800"/>
            <a:ext cx="9601200" cy="2095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第</a:t>
            </a: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 3 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章</a:t>
            </a: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 · fboot 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命令行</a:t>
            </a: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 · 3.3</a:t>
            </a:r>
            <a:endParaRPr lang="en-US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63" name="文本框 662" descr="{&quot;isTemplate&quot;:true,&quot;type&quot;:&quot;text&quot;}"/>
          <p:cNvSpPr txBox="1"/>
          <p:nvPr/>
        </p:nvSpPr>
        <p:spPr>
          <a:xfrm>
            <a:off x="819150" y="514350"/>
            <a:ext cx="9601200" cy="5143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en-US" sz="2550" b="1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fboot module</a:t>
            </a:r>
            <a:r>
              <a:rPr lang="zh-CN" sz="2550" b="1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：加一个动态链接库模块</a:t>
            </a:r>
            <a:endParaRPr lang="zh-CN" sz="2550" b="1">
              <a:solidFill>
                <a:srgbClr val="E2E8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64" name="文本框 663" descr="{&quot;isTemplate&quot;:true,&quot;type&quot;:&quot;text&quot;}"/>
          <p:cNvSpPr txBox="1"/>
          <p:nvPr/>
        </p:nvSpPr>
        <p:spPr>
          <a:xfrm>
            <a:off x="10591800" y="590550"/>
            <a:ext cx="990600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从零到第一个接口</a:t>
            </a:r>
            <a:endParaRPr lang="zh-CN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65" name="圆角矩形 664"/>
          <p:cNvSpPr/>
          <p:nvPr/>
        </p:nvSpPr>
        <p:spPr>
          <a:xfrm>
            <a:off x="609600" y="1143000"/>
            <a:ext cx="4095750" cy="5143500"/>
          </a:xfrm>
          <a:prstGeom prst="roundRect">
            <a:avLst>
              <a:gd name="adj" fmla="val 2791"/>
            </a:avLst>
          </a:prstGeom>
          <a:solidFill>
            <a:srgbClr val="111C2E"/>
          </a:solidFill>
          <a:ln w="12700">
            <a:solidFill>
              <a:srgbClr val="1E293B"/>
            </a:solidFill>
            <a:prstDash val="solid"/>
          </a:ln>
        </p:spPr>
        <p:txBody>
          <a:bodyPr/>
          <a:p/>
        </p:txBody>
      </p:sp>
      <p:sp>
        <p:nvSpPr>
          <p:cNvPr id="666" name="文本框 665" descr="{&quot;isTemplate&quot;:true,&quot;type&quot;:&quot;text&quot;}"/>
          <p:cNvSpPr txBox="1"/>
          <p:nvPr/>
        </p:nvSpPr>
        <p:spPr>
          <a:xfrm>
            <a:off x="819150" y="1352550"/>
            <a:ext cx="3676650" cy="2095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它做三件事</a:t>
            </a:r>
            <a:endParaRPr lang="zh-CN" sz="1350" b="1">
              <a:solidFill>
                <a:srgbClr val="E2E8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67" name="文本框 666" descr="{&quot;isTemplate&quot;:true,&quot;type&quot;:&quot;text&quot;}"/>
          <p:cNvSpPr txBox="1"/>
          <p:nvPr/>
        </p:nvSpPr>
        <p:spPr>
          <a:xfrm>
            <a:off x="819150" y="1714500"/>
            <a:ext cx="104775" cy="2952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>
                <a:solidFill>
                  <a:srgbClr val="38BDF8"/>
                </a:solidFill>
                <a:latin typeface="JetBrains Mono"/>
                <a:ea typeface="JetBrains Mono"/>
              </a:rPr>
              <a:t>1</a:t>
            </a:r>
            <a:endParaRPr lang="en-US" sz="1350">
              <a:solidFill>
                <a:srgbClr val="38BDF8"/>
              </a:solidFill>
              <a:latin typeface="JetBrains Mono"/>
              <a:ea typeface="JetBrains Mono"/>
            </a:endParaRPr>
          </a:p>
        </p:txBody>
      </p:sp>
      <p:sp>
        <p:nvSpPr>
          <p:cNvPr id="668" name="文本框 667" descr="{&quot;isTemplate&quot;:true,&quot;type&quot;:&quot;text&quot;}"/>
          <p:cNvSpPr txBox="1"/>
          <p:nvPr/>
        </p:nvSpPr>
        <p:spPr>
          <a:xfrm>
            <a:off x="1057275" y="1714500"/>
            <a:ext cx="3438525" cy="2952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zh-CN" sz="112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在</a:t>
            </a:r>
            <a:r>
              <a:rPr lang="en-US" sz="112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hello/ </a:t>
            </a:r>
            <a:r>
              <a:rPr lang="zh-CN" sz="112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执行</a:t>
            </a:r>
            <a:r>
              <a:rPr lang="en-US" sz="112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cjpm init --type=dynamic</a:t>
            </a:r>
            <a:endParaRPr lang="en-US" sz="1125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69" name="文本框 668" descr="{&quot;isTemplate&quot;:true,&quot;type&quot;:&quot;text&quot;}"/>
          <p:cNvSpPr txBox="1"/>
          <p:nvPr/>
        </p:nvSpPr>
        <p:spPr>
          <a:xfrm>
            <a:off x="819150" y="2162175"/>
            <a:ext cx="104775" cy="5905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>
                <a:solidFill>
                  <a:srgbClr val="38BDF8"/>
                </a:solidFill>
                <a:latin typeface="JetBrains Mono"/>
                <a:ea typeface="JetBrains Mono"/>
              </a:rPr>
              <a:t>2</a:t>
            </a:r>
            <a:endParaRPr lang="en-US" sz="1350">
              <a:solidFill>
                <a:srgbClr val="38BDF8"/>
              </a:solidFill>
              <a:latin typeface="JetBrains Mono"/>
              <a:ea typeface="JetBrains Mono"/>
            </a:endParaRPr>
          </a:p>
        </p:txBody>
      </p:sp>
      <p:sp>
        <p:nvSpPr>
          <p:cNvPr id="670" name="文本框 669" descr="{&quot;isTemplate&quot;:true,&quot;type&quot;:&quot;text&quot;}"/>
          <p:cNvSpPr txBox="1"/>
          <p:nvPr/>
        </p:nvSpPr>
        <p:spPr>
          <a:xfrm>
            <a:off x="1057275" y="2162175"/>
            <a:ext cx="3438525" cy="590550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zh-CN" sz="112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把</a:t>
            </a:r>
            <a:r>
              <a:rPr lang="en-US" sz="112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hello </a:t>
            </a:r>
            <a:r>
              <a:rPr lang="zh-CN" sz="112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加进「上一层目录」</a:t>
            </a:r>
            <a:r>
              <a:rPr lang="en-US" sz="112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cjpm.toml </a:t>
            </a:r>
            <a:r>
              <a:rPr lang="zh-CN" sz="112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的</a:t>
            </a:r>
            <a:r>
              <a:rPr lang="en-US" sz="112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members —— </a:t>
            </a:r>
            <a:r>
              <a:rPr lang="zh-CN" sz="112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所以必须在</a:t>
            </a:r>
            <a:r>
              <a:rPr lang="en-US" sz="112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workspace </a:t>
            </a:r>
            <a:r>
              <a:rPr lang="zh-CN" sz="112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根执行</a:t>
            </a:r>
            <a:endParaRPr lang="zh-CN" sz="1125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71" name="文本框 670" descr="{&quot;isTemplate&quot;:true,&quot;type&quot;:&quot;text&quot;}"/>
          <p:cNvSpPr txBox="1"/>
          <p:nvPr/>
        </p:nvSpPr>
        <p:spPr>
          <a:xfrm>
            <a:off x="819150" y="2905125"/>
            <a:ext cx="104775" cy="2952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>
                <a:solidFill>
                  <a:srgbClr val="38BDF8"/>
                </a:solidFill>
                <a:latin typeface="JetBrains Mono"/>
                <a:ea typeface="JetBrains Mono"/>
              </a:rPr>
              <a:t>3</a:t>
            </a:r>
            <a:endParaRPr lang="en-US" sz="1350">
              <a:solidFill>
                <a:srgbClr val="38BDF8"/>
              </a:solidFill>
              <a:latin typeface="JetBrains Mono"/>
              <a:ea typeface="JetBrains Mono"/>
            </a:endParaRPr>
          </a:p>
        </p:txBody>
      </p:sp>
      <p:sp>
        <p:nvSpPr>
          <p:cNvPr id="672" name="文本框 671" descr="{&quot;isTemplate&quot;:true,&quot;type&quot;:&quot;text&quot;}"/>
          <p:cNvSpPr txBox="1"/>
          <p:nvPr/>
        </p:nvSpPr>
        <p:spPr>
          <a:xfrm>
            <a:off x="1057275" y="2905125"/>
            <a:ext cx="3438525" cy="2952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zh-CN" sz="112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生成</a:t>
            </a:r>
            <a:r>
              <a:rPr lang="en-US" sz="112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hello/src/hello.cj</a:t>
            </a:r>
            <a:r>
              <a:rPr lang="zh-CN" sz="112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，内容就是一行</a:t>
            </a:r>
            <a:r>
              <a:rPr lang="en-US" sz="112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package hello</a:t>
            </a:r>
            <a:endParaRPr lang="en-US" sz="1125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73" name="圆角矩形 672"/>
          <p:cNvSpPr/>
          <p:nvPr/>
        </p:nvSpPr>
        <p:spPr>
          <a:xfrm>
            <a:off x="819150" y="5343525"/>
            <a:ext cx="3676650" cy="733425"/>
          </a:xfrm>
          <a:prstGeom prst="roundRect">
            <a:avLst>
              <a:gd name="adj" fmla="val 10390"/>
            </a:avLst>
          </a:prstGeom>
          <a:solidFill>
            <a:srgbClr val="F59E0B">
              <a:alpha val="7000"/>
            </a:srgbClr>
          </a:solidFill>
          <a:ln w="12700">
            <a:solidFill>
              <a:srgbClr val="F59E0B"/>
            </a:solidFill>
            <a:prstDash val="solid"/>
          </a:ln>
        </p:spPr>
        <p:txBody>
          <a:bodyPr/>
          <a:p/>
        </p:txBody>
      </p:sp>
      <p:sp>
        <p:nvSpPr>
          <p:cNvPr id="674" name="文本框 673" descr="{&quot;isTemplate&quot;:true,&quot;type&quot;:&quot;text&quot;}"/>
          <p:cNvSpPr txBox="1"/>
          <p:nvPr/>
        </p:nvSpPr>
        <p:spPr>
          <a:xfrm>
            <a:off x="952500" y="5476875"/>
            <a:ext cx="3409950" cy="1714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模块一定是</a:t>
            </a:r>
            <a:r>
              <a:rPr lang="en-US" sz="1125" b="1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 dynamic</a:t>
            </a:r>
            <a:endParaRPr lang="en-US" sz="1125" b="1">
              <a:solidFill>
                <a:srgbClr val="F59E0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75" name="文本框 674" descr="{&quot;isTemplate&quot;:true,&quot;type&quot;:&quot;text&quot;}"/>
          <p:cNvSpPr txBox="1"/>
          <p:nvPr/>
        </p:nvSpPr>
        <p:spPr>
          <a:xfrm>
            <a:off x="952500" y="5686425"/>
            <a:ext cx="3409950" cy="2571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这是「加载即生效」机制的前提。</a:t>
            </a:r>
            <a:endParaRPr lang="zh-CN" sz="1050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76" name="圆角矩形 675"/>
          <p:cNvSpPr/>
          <p:nvPr/>
        </p:nvSpPr>
        <p:spPr>
          <a:xfrm>
            <a:off x="4895850" y="1143000"/>
            <a:ext cx="6686550" cy="2590800"/>
          </a:xfrm>
          <a:prstGeom prst="roundRect">
            <a:avLst>
              <a:gd name="adj" fmla="val 4412"/>
            </a:avLst>
          </a:prstGeom>
          <a:solidFill>
            <a:srgbClr val="0B1220"/>
          </a:solidFill>
          <a:ln w="12700">
            <a:solidFill>
              <a:srgbClr val="1E293B"/>
            </a:solidFill>
            <a:prstDash val="solid"/>
          </a:ln>
        </p:spPr>
        <p:txBody>
          <a:bodyPr/>
          <a:p/>
        </p:txBody>
      </p:sp>
      <p:sp>
        <p:nvSpPr>
          <p:cNvPr id="677" name="文本框 676" descr="{&quot;isTemplate&quot;:true,&quot;type&quot;:&quot;text&quot;}"/>
          <p:cNvSpPr txBox="1"/>
          <p:nvPr/>
        </p:nvSpPr>
        <p:spPr>
          <a:xfrm>
            <a:off x="5086350" y="1333500"/>
            <a:ext cx="6305550" cy="1714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目录结构</a:t>
            </a:r>
            <a:endParaRPr lang="zh-CN" sz="112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78" name="文本框 677" descr="{&quot;isTemplate&quot;:true,&quot;type&quot;:&quot;text&quot;}"/>
          <p:cNvSpPr txBox="1"/>
          <p:nvPr/>
        </p:nvSpPr>
        <p:spPr>
          <a:xfrm>
            <a:off x="5086350" y="1581150"/>
            <a:ext cx="6305550" cy="20193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80000"/>
              </a:lnSpc>
            </a:pPr>
            <a:r>
              <a:rPr lang="en-US" sz="1050">
                <a:solidFill>
                  <a:srgbClr val="E2E8F0"/>
                </a:solidFill>
                <a:latin typeface="JetBrains Mono"/>
                <a:ea typeface="JetBrains Mono"/>
              </a:rPr>
              <a:t>hello_app/</a:t>
            </a:r>
            <a:endParaRPr lang="en-US" sz="1050">
              <a:solidFill>
                <a:srgbClr val="E2E8F0"/>
              </a:solidFill>
              <a:latin typeface="JetBrains Mono"/>
              <a:ea typeface="JetBrains Mono"/>
            </a:endParaRPr>
          </a:p>
          <a:p>
            <a:pPr>
              <a:lnSpc>
                <a:spcPct val="180000"/>
              </a:lnSpc>
            </a:pPr>
            <a:r>
              <a:rPr lang="en-US" sz="1050">
                <a:solidFill>
                  <a:srgbClr val="E2E8F0"/>
                </a:solidFill>
                <a:latin typeface="JetBrains Mono"/>
                <a:ea typeface="JetBrains Mono"/>
              </a:rPr>
              <a:t>├── cjpm.toml</a:t>
            </a:r>
            <a:r>
              <a:rPr lang="zh-CN" sz="1050">
                <a:solidFill>
                  <a:srgbClr val="E2E8F0"/>
                </a:solidFill>
                <a:latin typeface="JetBrains Mono"/>
                <a:ea typeface="JetBrains Mono"/>
              </a:rPr>
              <a:t>　　　</a:t>
            </a:r>
            <a:r>
              <a:rPr lang="en-US" sz="1050">
                <a:solidFill>
                  <a:srgbClr val="E2E8F0"/>
                </a:solidFill>
                <a:latin typeface="JetBrains Mono"/>
                <a:ea typeface="JetBrains Mono"/>
              </a:rPr>
              <a:t># [workspace] members = ["./hello", ...]</a:t>
            </a:r>
            <a:endParaRPr lang="en-US" sz="1050">
              <a:solidFill>
                <a:srgbClr val="E2E8F0"/>
              </a:solidFill>
              <a:latin typeface="JetBrains Mono"/>
              <a:ea typeface="JetBrains Mono"/>
            </a:endParaRPr>
          </a:p>
          <a:p>
            <a:pPr>
              <a:lnSpc>
                <a:spcPct val="180000"/>
              </a:lnSpc>
            </a:pPr>
            <a:r>
              <a:rPr lang="en-US" sz="1050">
                <a:solidFill>
                  <a:srgbClr val="E2E8F0"/>
                </a:solidFill>
                <a:latin typeface="JetBrains Mono"/>
                <a:ea typeface="JetBrains Mono"/>
              </a:rPr>
              <a:t>└── hello/</a:t>
            </a:r>
            <a:endParaRPr lang="en-US" sz="1050">
              <a:solidFill>
                <a:srgbClr val="E2E8F0"/>
              </a:solidFill>
              <a:latin typeface="JetBrains Mono"/>
              <a:ea typeface="JetBrains Mono"/>
            </a:endParaRPr>
          </a:p>
          <a:p>
            <a:pPr>
              <a:lnSpc>
                <a:spcPct val="180000"/>
              </a:lnSpc>
            </a:pPr>
            <a:r>
              <a:rPr lang="zh-CN" sz="1050">
                <a:solidFill>
                  <a:srgbClr val="E2E8F0"/>
                </a:solidFill>
                <a:latin typeface="JetBrains Mono"/>
                <a:ea typeface="JetBrains Mono"/>
              </a:rPr>
              <a:t>　　├──</a:t>
            </a:r>
            <a:r>
              <a:rPr lang="en-US" sz="1050">
                <a:solidFill>
                  <a:srgbClr val="E2E8F0"/>
                </a:solidFill>
                <a:latin typeface="JetBrains Mono"/>
                <a:ea typeface="JetBrains Mono"/>
              </a:rPr>
              <a:t> cjpm.toml</a:t>
            </a:r>
            <a:r>
              <a:rPr lang="zh-CN" sz="1050">
                <a:solidFill>
                  <a:srgbClr val="E2E8F0"/>
                </a:solidFill>
                <a:latin typeface="JetBrains Mono"/>
                <a:ea typeface="JetBrains Mono"/>
              </a:rPr>
              <a:t>　</a:t>
            </a:r>
            <a:r>
              <a:rPr lang="en-US" sz="1050">
                <a:solidFill>
                  <a:srgbClr val="E2E8F0"/>
                </a:solidFill>
                <a:latin typeface="JetBrains Mono"/>
                <a:ea typeface="JetBrains Mono"/>
              </a:rPr>
              <a:t># output-type = "dynamic"</a:t>
            </a:r>
            <a:endParaRPr lang="en-US" sz="1050">
              <a:solidFill>
                <a:srgbClr val="E2E8F0"/>
              </a:solidFill>
              <a:latin typeface="JetBrains Mono"/>
              <a:ea typeface="JetBrains Mono"/>
            </a:endParaRPr>
          </a:p>
          <a:p>
            <a:pPr>
              <a:lnSpc>
                <a:spcPct val="180000"/>
              </a:lnSpc>
            </a:pPr>
            <a:r>
              <a:rPr lang="zh-CN" sz="1050">
                <a:solidFill>
                  <a:srgbClr val="E2E8F0"/>
                </a:solidFill>
                <a:latin typeface="JetBrains Mono"/>
                <a:ea typeface="JetBrains Mono"/>
              </a:rPr>
              <a:t>　　└──</a:t>
            </a:r>
            <a:r>
              <a:rPr lang="en-US" sz="1050">
                <a:solidFill>
                  <a:srgbClr val="E2E8F0"/>
                </a:solidFill>
                <a:latin typeface="JetBrains Mono"/>
                <a:ea typeface="JetBrains Mono"/>
              </a:rPr>
              <a:t> src/</a:t>
            </a:r>
            <a:endParaRPr lang="en-US" sz="1050">
              <a:solidFill>
                <a:srgbClr val="E2E8F0"/>
              </a:solidFill>
              <a:latin typeface="JetBrains Mono"/>
              <a:ea typeface="JetBrains Mono"/>
            </a:endParaRPr>
          </a:p>
          <a:p>
            <a:pPr>
              <a:lnSpc>
                <a:spcPct val="180000"/>
              </a:lnSpc>
            </a:pPr>
            <a:r>
              <a:rPr lang="zh-CN" sz="1050">
                <a:solidFill>
                  <a:srgbClr val="E2E8F0"/>
                </a:solidFill>
                <a:latin typeface="JetBrains Mono"/>
                <a:ea typeface="JetBrains Mono"/>
              </a:rPr>
              <a:t>　　　　├──</a:t>
            </a:r>
            <a:r>
              <a:rPr lang="en-US" sz="1050">
                <a:solidFill>
                  <a:srgbClr val="E2E8F0"/>
                </a:solidFill>
                <a:latin typeface="JetBrains Mono"/>
                <a:ea typeface="JetBrains Mono"/>
              </a:rPr>
              <a:t> hello.cj</a:t>
            </a:r>
            <a:endParaRPr lang="en-US" sz="1050">
              <a:solidFill>
                <a:srgbClr val="E2E8F0"/>
              </a:solidFill>
              <a:latin typeface="JetBrains Mono"/>
              <a:ea typeface="JetBrains Mono"/>
            </a:endParaRPr>
          </a:p>
          <a:p>
            <a:pPr>
              <a:lnSpc>
                <a:spcPct val="180000"/>
              </a:lnSpc>
            </a:pPr>
            <a:r>
              <a:rPr lang="zh-CN" sz="1050">
                <a:solidFill>
                  <a:srgbClr val="E2E8F0"/>
                </a:solidFill>
                <a:latin typeface="JetBrains Mono"/>
                <a:ea typeface="JetBrains Mono"/>
              </a:rPr>
              <a:t>　　　　└──</a:t>
            </a:r>
            <a:r>
              <a:rPr lang="en-US" sz="1050">
                <a:solidFill>
                  <a:srgbClr val="E2E8F0"/>
                </a:solidFill>
                <a:latin typeface="JetBrains Mono"/>
                <a:ea typeface="JetBrains Mono"/>
              </a:rPr>
              <a:t> HelloWordController.cj</a:t>
            </a:r>
            <a:endParaRPr lang="en-US" sz="1050">
              <a:solidFill>
                <a:srgbClr val="E2E8F0"/>
              </a:solidFill>
              <a:latin typeface="JetBrains Mono"/>
              <a:ea typeface="JetBrains Mono"/>
            </a:endParaRPr>
          </a:p>
        </p:txBody>
      </p:sp>
      <p:sp>
        <p:nvSpPr>
          <p:cNvPr id="679" name="圆角矩形 678"/>
          <p:cNvSpPr/>
          <p:nvPr/>
        </p:nvSpPr>
        <p:spPr>
          <a:xfrm>
            <a:off x="4895850" y="3867150"/>
            <a:ext cx="6686550" cy="2419350"/>
          </a:xfrm>
          <a:prstGeom prst="roundRect">
            <a:avLst>
              <a:gd name="adj" fmla="val 4724"/>
            </a:avLst>
          </a:prstGeom>
          <a:solidFill>
            <a:srgbClr val="111C2E"/>
          </a:solidFill>
          <a:ln w="12700">
            <a:solidFill>
              <a:srgbClr val="38BDF8"/>
            </a:solidFill>
            <a:prstDash val="solid"/>
          </a:ln>
        </p:spPr>
        <p:txBody>
          <a:bodyPr/>
          <a:p/>
        </p:txBody>
      </p:sp>
      <p:sp>
        <p:nvSpPr>
          <p:cNvPr id="680" name="文本框 679" descr="{&quot;isTemplate&quot;:true,&quot;type&quot;:&quot;text&quot;}"/>
          <p:cNvSpPr txBox="1"/>
          <p:nvPr/>
        </p:nvSpPr>
        <p:spPr>
          <a:xfrm>
            <a:off x="5086350" y="4057650"/>
            <a:ext cx="6305550" cy="1714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38BDF8"/>
                </a:solidFill>
                <a:latin typeface="微软雅黑" panose="020B0503020204020204" charset="-122"/>
                <a:ea typeface="微软雅黑" panose="020B0503020204020204" charset="-122"/>
              </a:rPr>
              <a:t>不到</a:t>
            </a:r>
            <a:r>
              <a:rPr lang="en-US" sz="1125">
                <a:solidFill>
                  <a:srgbClr val="38BDF8"/>
                </a:solidFill>
                <a:latin typeface="微软雅黑" panose="020B0503020204020204" charset="-122"/>
                <a:ea typeface="微软雅黑" panose="020B0503020204020204" charset="-122"/>
              </a:rPr>
              <a:t> 20 </a:t>
            </a:r>
            <a:r>
              <a:rPr lang="zh-CN" sz="1125">
                <a:solidFill>
                  <a:srgbClr val="38BDF8"/>
                </a:solidFill>
                <a:latin typeface="微软雅黑" panose="020B0503020204020204" charset="-122"/>
                <a:ea typeface="微软雅黑" panose="020B0503020204020204" charset="-122"/>
              </a:rPr>
              <a:t>行，一个</a:t>
            </a:r>
            <a:r>
              <a:rPr lang="en-US" sz="1125">
                <a:solidFill>
                  <a:srgbClr val="38BDF8"/>
                </a:solidFill>
                <a:latin typeface="微软雅黑" panose="020B0503020204020204" charset="-122"/>
                <a:ea typeface="微软雅黑" panose="020B0503020204020204" charset="-122"/>
              </a:rPr>
              <a:t> HTTP </a:t>
            </a:r>
            <a:r>
              <a:rPr lang="zh-CN" sz="1125">
                <a:solidFill>
                  <a:srgbClr val="38BDF8"/>
                </a:solidFill>
                <a:latin typeface="微软雅黑" panose="020B0503020204020204" charset="-122"/>
                <a:ea typeface="微软雅黑" panose="020B0503020204020204" charset="-122"/>
              </a:rPr>
              <a:t>服务就写完了</a:t>
            </a:r>
            <a:endParaRPr lang="zh-CN" sz="1125">
              <a:solidFill>
                <a:srgbClr val="38BDF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81" name="文本框 680" descr="{&quot;isTemplate&quot;:true,&quot;type&quot;:&quot;text&quot;}"/>
          <p:cNvSpPr txBox="1"/>
          <p:nvPr/>
        </p:nvSpPr>
        <p:spPr>
          <a:xfrm>
            <a:off x="5086350" y="4324350"/>
            <a:ext cx="6305550" cy="2952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80000"/>
              </a:lnSpc>
            </a:pPr>
            <a:r>
              <a:rPr lang="en-US" sz="1050">
                <a:solidFill>
                  <a:srgbClr val="E2E8F0"/>
                </a:solidFill>
                <a:latin typeface="JetBrains Mono"/>
                <a:ea typeface="JetBrains Mono"/>
              </a:rPr>
              <a:t>@Controller</a:t>
            </a:r>
            <a:endParaRPr lang="en-US" sz="1050">
              <a:solidFill>
                <a:srgbClr val="E2E8F0"/>
              </a:solidFill>
              <a:latin typeface="JetBrains Mono"/>
              <a:ea typeface="JetBrains Mono"/>
            </a:endParaRPr>
          </a:p>
        </p:txBody>
      </p:sp>
      <p:sp>
        <p:nvSpPr>
          <p:cNvPr id="682" name="文本框 681" descr="{&quot;isTemplate&quot;:true,&quot;type&quot;:&quot;text&quot;}"/>
          <p:cNvSpPr txBox="1"/>
          <p:nvPr/>
        </p:nvSpPr>
        <p:spPr>
          <a:xfrm>
            <a:off x="5086350" y="4619625"/>
            <a:ext cx="6305550" cy="2952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80000"/>
              </a:lnSpc>
            </a:pPr>
            <a:r>
              <a:rPr lang="en-US" sz="1050">
                <a:solidFill>
                  <a:srgbClr val="E2E8F0"/>
                </a:solidFill>
                <a:latin typeface="JetBrains Mono"/>
                <a:ea typeface="JetBrains Mono"/>
              </a:rPr>
              <a:t>public class HelloWordController {</a:t>
            </a:r>
            <a:endParaRPr lang="en-US" sz="1050">
              <a:solidFill>
                <a:srgbClr val="E2E8F0"/>
              </a:solidFill>
              <a:latin typeface="JetBrains Mono"/>
              <a:ea typeface="JetBrains Mono"/>
            </a:endParaRPr>
          </a:p>
        </p:txBody>
      </p:sp>
      <p:sp>
        <p:nvSpPr>
          <p:cNvPr id="683" name="文本框 682" descr="{&quot;isTemplate&quot;:true,&quot;type&quot;:&quot;text&quot;}"/>
          <p:cNvSpPr txBox="1"/>
          <p:nvPr/>
        </p:nvSpPr>
        <p:spPr>
          <a:xfrm>
            <a:off x="5086350" y="4914900"/>
            <a:ext cx="6305550" cy="2952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80000"/>
              </a:lnSpc>
            </a:pPr>
            <a:r>
              <a:rPr lang="en-US" sz="1050">
                <a:solidFill>
                  <a:srgbClr val="22D3EE"/>
                </a:solidFill>
                <a:latin typeface="JetBrains Mono"/>
                <a:ea typeface="JetBrains Mono"/>
              </a:rPr>
              <a:t>    @GetMapping[path:"/", produces:'text/plain']</a:t>
            </a:r>
            <a:endParaRPr lang="en-US" sz="1050">
              <a:solidFill>
                <a:srgbClr val="22D3EE"/>
              </a:solidFill>
              <a:latin typeface="JetBrains Mono"/>
              <a:ea typeface="JetBrains Mono"/>
            </a:endParaRPr>
          </a:p>
        </p:txBody>
      </p:sp>
      <p:sp>
        <p:nvSpPr>
          <p:cNvPr id="684" name="文本框 683" descr="{&quot;isTemplate&quot;:true,&quot;type&quot;:&quot;text&quot;}"/>
          <p:cNvSpPr txBox="1"/>
          <p:nvPr/>
        </p:nvSpPr>
        <p:spPr>
          <a:xfrm>
            <a:off x="5086350" y="5210175"/>
            <a:ext cx="6305550" cy="2952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80000"/>
              </a:lnSpc>
            </a:pPr>
            <a:r>
              <a:rPr lang="en-US" sz="1050">
                <a:solidFill>
                  <a:srgbClr val="22D3EE"/>
                </a:solidFill>
                <a:latin typeface="JetBrains Mono"/>
                <a:ea typeface="JetBrains Mono"/>
              </a:rPr>
              <a:t>    @IgnoreSecurity</a:t>
            </a:r>
            <a:endParaRPr lang="en-US" sz="1050">
              <a:solidFill>
                <a:srgbClr val="22D3EE"/>
              </a:solidFill>
              <a:latin typeface="JetBrains Mono"/>
              <a:ea typeface="JetBrains Mono"/>
            </a:endParaRPr>
          </a:p>
        </p:txBody>
      </p:sp>
      <p:sp>
        <p:nvSpPr>
          <p:cNvPr id="685" name="文本框 684" descr="{&quot;isTemplate&quot;:true,&quot;type&quot;:&quot;text&quot;}"/>
          <p:cNvSpPr txBox="1"/>
          <p:nvPr/>
        </p:nvSpPr>
        <p:spPr>
          <a:xfrm>
            <a:off x="5086350" y="5505450"/>
            <a:ext cx="6305550" cy="2952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80000"/>
              </a:lnSpc>
            </a:pPr>
            <a:r>
              <a:rPr lang="en-US" sz="1050">
                <a:solidFill>
                  <a:srgbClr val="22D3EE"/>
                </a:solidFill>
                <a:latin typeface="JetBrains Mono"/>
                <a:ea typeface="JetBrains Mono"/>
              </a:rPr>
              <a:t>    public func helloWorld(): String { return "hello Fountain!" }</a:t>
            </a:r>
            <a:endParaRPr lang="en-US" sz="1050">
              <a:solidFill>
                <a:srgbClr val="22D3EE"/>
              </a:solidFill>
              <a:latin typeface="JetBrains Mono"/>
              <a:ea typeface="JetBrains Mono"/>
            </a:endParaRPr>
          </a:p>
        </p:txBody>
      </p:sp>
      <p:sp>
        <p:nvSpPr>
          <p:cNvPr id="686" name="文本框 685" descr="{&quot;isTemplate&quot;:true,&quot;type&quot;:&quot;text&quot;}"/>
          <p:cNvSpPr txBox="1"/>
          <p:nvPr/>
        </p:nvSpPr>
        <p:spPr>
          <a:xfrm>
            <a:off x="5086350" y="5800725"/>
            <a:ext cx="6305550" cy="2952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80000"/>
              </a:lnSpc>
            </a:pPr>
            <a:r>
              <a:rPr lang="en-US" sz="1050">
                <a:solidFill>
                  <a:srgbClr val="E2E8F0"/>
                </a:solidFill>
                <a:latin typeface="JetBrains Mono"/>
                <a:ea typeface="JetBrains Mono"/>
              </a:rPr>
              <a:t>}</a:t>
            </a:r>
            <a:endParaRPr lang="en-US" sz="1050">
              <a:solidFill>
                <a:srgbClr val="E2E8F0"/>
              </a:solidFill>
              <a:latin typeface="JetBrains Mono"/>
              <a:ea typeface="JetBrains Mono"/>
            </a:endParaRPr>
          </a:p>
        </p:txBody>
      </p:sp>
      <p:sp>
        <p:nvSpPr>
          <p:cNvPr id="687" name="任意多边形 686"/>
          <p:cNvSpPr/>
          <p:nvPr/>
        </p:nvSpPr>
        <p:spPr>
          <a:xfrm>
            <a:off x="609600" y="6286500"/>
            <a:ext cx="10972800" cy="381000"/>
          </a:xfrm>
          <a:custGeom>
            <a:avLst/>
            <a:gdLst/>
            <a:ahLst/>
            <a:cxnLst/>
            <a:pathLst>
              <a:path w="1152" h="40">
                <a:moveTo>
                  <a:pt x="0" y="0"/>
                </a:moveTo>
                <a:lnTo>
                  <a:pt x="1152" y="0"/>
                </a:lnTo>
                <a:lnTo>
                  <a:pt x="1152" y="1"/>
                </a:lnTo>
                <a:lnTo>
                  <a:pt x="0" y="1"/>
                </a:lnTo>
                <a:close/>
              </a:path>
            </a:pathLst>
          </a:custGeom>
          <a:solidFill>
            <a:srgbClr val="1E293B"/>
          </a:solidFill>
        </p:spPr>
        <p:txBody>
          <a:bodyPr/>
          <a:p/>
        </p:txBody>
      </p:sp>
      <p:sp>
        <p:nvSpPr>
          <p:cNvPr id="688" name="文本框 687" descr="{&quot;isTemplate&quot;:true,&quot;type&quot;:&quot;text&quot;}"/>
          <p:cNvSpPr txBox="1"/>
          <p:nvPr/>
        </p:nvSpPr>
        <p:spPr>
          <a:xfrm>
            <a:off x="609600" y="6410325"/>
            <a:ext cx="2219325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fountain · 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一站式服务器应用开发工具库</a:t>
            </a:r>
            <a:endParaRPr lang="zh-CN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89" name="文本框 688" descr="{&quot;isTemplate&quot;:true,&quot;type&quot;:&quot;text&quot;}"/>
          <p:cNvSpPr txBox="1"/>
          <p:nvPr/>
        </p:nvSpPr>
        <p:spPr>
          <a:xfrm>
            <a:off x="11087100" y="6410325"/>
            <a:ext cx="495300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16 / 116</a:t>
            </a:r>
            <a:endParaRPr lang="en-US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69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1" name="矩形 69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220"/>
          </a:solidFill>
        </p:spPr>
        <p:txBody>
          <a:bodyPr/>
          <a:p/>
        </p:txBody>
      </p:sp>
      <p:sp>
        <p:nvSpPr>
          <p:cNvPr id="692" name="矩形 691"/>
          <p:cNvSpPr/>
          <p:nvPr/>
        </p:nvSpPr>
        <p:spPr>
          <a:xfrm>
            <a:off x="609600" y="476250"/>
            <a:ext cx="38100" cy="381000"/>
          </a:xfrm>
          <a:prstGeom prst="rect">
            <a:avLst/>
          </a:prstGeom>
          <a:solidFill>
            <a:srgbClr val="38BDF8"/>
          </a:solidFill>
        </p:spPr>
        <p:txBody>
          <a:bodyPr/>
          <a:p/>
        </p:txBody>
      </p:sp>
      <p:sp>
        <p:nvSpPr>
          <p:cNvPr id="693" name="文本框 692" descr="{&quot;isTemplate&quot;:true,&quot;type&quot;:&quot;text&quot;}"/>
          <p:cNvSpPr txBox="1"/>
          <p:nvPr/>
        </p:nvSpPr>
        <p:spPr>
          <a:xfrm>
            <a:off x="819150" y="304800"/>
            <a:ext cx="9305925" cy="2095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第</a:t>
            </a: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 3 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章</a:t>
            </a: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 · fboot 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命令行</a:t>
            </a: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 · 3.4</a:t>
            </a:r>
            <a:endParaRPr lang="en-US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94" name="文本框 693" descr="{&quot;isTemplate&quot;:true,&quot;type&quot;:&quot;text&quot;}"/>
          <p:cNvSpPr txBox="1"/>
          <p:nvPr/>
        </p:nvSpPr>
        <p:spPr>
          <a:xfrm>
            <a:off x="819150" y="514350"/>
            <a:ext cx="9305925" cy="5143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en-US" sz="2550" b="1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fboot build </a:t>
            </a:r>
            <a:r>
              <a:rPr lang="zh-CN" sz="2550" b="1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与两个隐藏动作</a:t>
            </a:r>
            <a:endParaRPr lang="zh-CN" sz="2550" b="1">
              <a:solidFill>
                <a:srgbClr val="E2E8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95" name="文本框 694" descr="{&quot;isTemplate&quot;:true,&quot;type&quot;:&quot;text&quot;}"/>
          <p:cNvSpPr txBox="1"/>
          <p:nvPr/>
        </p:nvSpPr>
        <p:spPr>
          <a:xfrm>
            <a:off x="10296525" y="590550"/>
            <a:ext cx="1285875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不只是转发</a:t>
            </a: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 cjpm build</a:t>
            </a:r>
            <a:endParaRPr lang="en-US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96" name="圆角矩形 695"/>
          <p:cNvSpPr/>
          <p:nvPr/>
        </p:nvSpPr>
        <p:spPr>
          <a:xfrm>
            <a:off x="609600" y="1143000"/>
            <a:ext cx="4095750" cy="962025"/>
          </a:xfrm>
          <a:prstGeom prst="roundRect">
            <a:avLst>
              <a:gd name="adj" fmla="val 11881"/>
            </a:avLst>
          </a:prstGeom>
          <a:solidFill>
            <a:srgbClr val="0B1220"/>
          </a:solidFill>
          <a:ln w="12700">
            <a:solidFill>
              <a:srgbClr val="1E293B"/>
            </a:solidFill>
            <a:prstDash val="solid"/>
          </a:ln>
        </p:spPr>
        <p:txBody>
          <a:bodyPr/>
          <a:p/>
        </p:txBody>
      </p:sp>
      <p:sp>
        <p:nvSpPr>
          <p:cNvPr id="697" name="文本框 696" descr="{&quot;isTemplate&quot;:true,&quot;type&quot;:&quot;text&quot;}"/>
          <p:cNvSpPr txBox="1"/>
          <p:nvPr/>
        </p:nvSpPr>
        <p:spPr>
          <a:xfrm>
            <a:off x="800100" y="1333500"/>
            <a:ext cx="3714750" cy="1714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语法</a:t>
            </a:r>
            <a:endParaRPr lang="zh-CN" sz="112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98" name="文本框 697" descr="{&quot;isTemplate&quot;:true,&quot;type&quot;:&quot;text&quot;}"/>
          <p:cNvSpPr txBox="1"/>
          <p:nvPr/>
        </p:nvSpPr>
        <p:spPr>
          <a:xfrm>
            <a:off x="800100" y="1581150"/>
            <a:ext cx="3714750" cy="3333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80000"/>
              </a:lnSpc>
            </a:pPr>
            <a:r>
              <a:rPr lang="en-US" sz="1200">
                <a:solidFill>
                  <a:srgbClr val="22D3EE"/>
                </a:solidFill>
                <a:latin typeface="JetBrains Mono"/>
                <a:ea typeface="JetBrains Mono"/>
              </a:rPr>
              <a:t>fboot build [PATH] [args...]</a:t>
            </a:r>
            <a:endParaRPr lang="en-US" sz="1200">
              <a:solidFill>
                <a:srgbClr val="22D3EE"/>
              </a:solidFill>
              <a:latin typeface="JetBrains Mono"/>
              <a:ea typeface="JetBrains Mono"/>
            </a:endParaRPr>
          </a:p>
        </p:txBody>
      </p:sp>
      <p:sp>
        <p:nvSpPr>
          <p:cNvPr id="699" name="圆角矩形 698"/>
          <p:cNvSpPr/>
          <p:nvPr/>
        </p:nvSpPr>
        <p:spPr>
          <a:xfrm>
            <a:off x="609600" y="2238375"/>
            <a:ext cx="4095750" cy="2657475"/>
          </a:xfrm>
          <a:prstGeom prst="roundRect">
            <a:avLst>
              <a:gd name="adj" fmla="val 4301"/>
            </a:avLst>
          </a:prstGeom>
          <a:solidFill>
            <a:srgbClr val="111C2E"/>
          </a:solidFill>
          <a:ln w="12700">
            <a:solidFill>
              <a:srgbClr val="1E293B"/>
            </a:solidFill>
            <a:prstDash val="solid"/>
          </a:ln>
        </p:spPr>
        <p:txBody>
          <a:bodyPr/>
          <a:p/>
        </p:txBody>
      </p:sp>
      <p:sp>
        <p:nvSpPr>
          <p:cNvPr id="700" name="文本框 699" descr="{&quot;isTemplate&quot;:true,&quot;type&quot;:&quot;text&quot;}"/>
          <p:cNvSpPr txBox="1"/>
          <p:nvPr/>
        </p:nvSpPr>
        <p:spPr>
          <a:xfrm>
            <a:off x="800100" y="2428875"/>
            <a:ext cx="3714750" cy="1905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参数分两类</a:t>
            </a:r>
            <a:endParaRPr lang="zh-CN" sz="1200" b="1">
              <a:solidFill>
                <a:srgbClr val="E2E8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01" name="文本框 700" descr="{&quot;isTemplate&quot;:true,&quot;type&quot;:&quot;text&quot;}"/>
          <p:cNvSpPr txBox="1"/>
          <p:nvPr/>
        </p:nvSpPr>
        <p:spPr>
          <a:xfrm>
            <a:off x="800100" y="2733675"/>
            <a:ext cx="3714750" cy="2762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en-US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· PATH </a:t>
            </a:r>
            <a:r>
              <a:rPr lang="zh-CN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必须是第一个参数，且只能是路径；缺省当前目录</a:t>
            </a:r>
            <a:endParaRPr lang="zh-CN" sz="1050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02" name="文本框 701" descr="{&quot;isTemplate&quot;:true,&quot;type&quot;:&quot;text&quot;}"/>
          <p:cNvSpPr txBox="1"/>
          <p:nvPr/>
        </p:nvSpPr>
        <p:spPr>
          <a:xfrm>
            <a:off x="800100" y="3105150"/>
            <a:ext cx="3714750" cy="2762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en-US" sz="1050">
                <a:solidFill>
                  <a:srgbClr val="38BDF8"/>
                </a:solidFill>
                <a:latin typeface="微软雅黑" panose="020B0503020204020204" charset="-122"/>
                <a:ea typeface="微软雅黑" panose="020B0503020204020204" charset="-122"/>
              </a:rPr>
              <a:t>· --key=value</a:t>
            </a:r>
            <a:r>
              <a:rPr lang="zh-CN" sz="1050">
                <a:solidFill>
                  <a:srgbClr val="38BDF8"/>
                </a:solidFill>
                <a:latin typeface="微软雅黑" panose="020B0503020204020204" charset="-122"/>
                <a:ea typeface="微软雅黑" panose="020B0503020204020204" charset="-122"/>
              </a:rPr>
              <a:t>：作为配置项</a:t>
            </a:r>
            <a:r>
              <a:rPr lang="en-US" sz="1050">
                <a:solidFill>
                  <a:srgbClr val="38BDF8"/>
                </a:solidFill>
                <a:latin typeface="微软雅黑" panose="020B0503020204020204" charset="-122"/>
                <a:ea typeface="微软雅黑" panose="020B0503020204020204" charset="-122"/>
              </a:rPr>
              <a:t> —— </a:t>
            </a:r>
            <a:r>
              <a:rPr lang="zh-CN" sz="1050">
                <a:solidFill>
                  <a:srgbClr val="38BDF8"/>
                </a:solidFill>
                <a:latin typeface="微软雅黑" panose="020B0503020204020204" charset="-122"/>
                <a:ea typeface="微软雅黑" panose="020B0503020204020204" charset="-122"/>
              </a:rPr>
              <a:t>编译期注入配置的实现方式</a:t>
            </a:r>
            <a:endParaRPr lang="zh-CN" sz="1050">
              <a:solidFill>
                <a:srgbClr val="38BDF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03" name="文本框 702" descr="{&quot;isTemplate&quot;:true,&quot;type&quot;:&quot;text&quot;}"/>
          <p:cNvSpPr txBox="1"/>
          <p:nvPr/>
        </p:nvSpPr>
        <p:spPr>
          <a:xfrm>
            <a:off x="800100" y="3476625"/>
            <a:ext cx="3714750" cy="2762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en-US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· </a:t>
            </a:r>
            <a:r>
              <a:rPr lang="zh-CN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其它参数：原样作为</a:t>
            </a:r>
            <a:r>
              <a:rPr lang="en-US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cjpm build </a:t>
            </a:r>
            <a:r>
              <a:rPr lang="zh-CN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的命令行参数</a:t>
            </a:r>
            <a:endParaRPr lang="zh-CN" sz="1050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04" name="圆角矩形 703"/>
          <p:cNvSpPr/>
          <p:nvPr/>
        </p:nvSpPr>
        <p:spPr>
          <a:xfrm>
            <a:off x="4895850" y="1143000"/>
            <a:ext cx="6686550" cy="2085975"/>
          </a:xfrm>
          <a:prstGeom prst="roundRect">
            <a:avLst>
              <a:gd name="adj" fmla="val 5479"/>
            </a:avLst>
          </a:prstGeom>
          <a:solidFill>
            <a:srgbClr val="111C2E"/>
          </a:solidFill>
          <a:ln w="12700">
            <a:solidFill>
              <a:srgbClr val="38BDF8"/>
            </a:solidFill>
            <a:prstDash val="solid"/>
          </a:ln>
        </p:spPr>
        <p:txBody>
          <a:bodyPr/>
          <a:p/>
        </p:txBody>
      </p:sp>
      <p:sp>
        <p:nvSpPr>
          <p:cNvPr id="705" name="文本框 704" descr="{&quot;isTemplate&quot;:true,&quot;type&quot;:&quot;text&quot;}"/>
          <p:cNvSpPr txBox="1"/>
          <p:nvPr/>
        </p:nvSpPr>
        <p:spPr>
          <a:xfrm>
            <a:off x="5086350" y="1333500"/>
            <a:ext cx="6305550" cy="1905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38BDF8"/>
                </a:solidFill>
                <a:latin typeface="微软雅黑" panose="020B0503020204020204" charset="-122"/>
                <a:ea typeface="微软雅黑" panose="020B0503020204020204" charset="-122"/>
              </a:rPr>
              <a:t>隐藏动作</a:t>
            </a:r>
            <a:r>
              <a:rPr lang="en-US" sz="1200" b="1">
                <a:solidFill>
                  <a:srgbClr val="38BDF8"/>
                </a:solidFill>
                <a:latin typeface="微软雅黑" panose="020B0503020204020204" charset="-122"/>
                <a:ea typeface="微软雅黑" panose="020B0503020204020204" charset="-122"/>
              </a:rPr>
              <a:t> 1 · </a:t>
            </a:r>
            <a:r>
              <a:rPr lang="zh-CN" sz="1200" b="1">
                <a:solidFill>
                  <a:srgbClr val="38BDF8"/>
                </a:solidFill>
                <a:latin typeface="微软雅黑" panose="020B0503020204020204" charset="-122"/>
                <a:ea typeface="微软雅黑" panose="020B0503020204020204" charset="-122"/>
              </a:rPr>
              <a:t>生成版本模块</a:t>
            </a:r>
            <a:endParaRPr lang="zh-CN" sz="1200" b="1">
              <a:solidFill>
                <a:srgbClr val="38BDF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06" name="文本框 705" descr="{&quot;isTemplate&quot;:true,&quot;type&quot;:&quot;text&quot;}"/>
          <p:cNvSpPr txBox="1"/>
          <p:nvPr/>
        </p:nvSpPr>
        <p:spPr>
          <a:xfrm>
            <a:off x="5086350" y="1619250"/>
            <a:ext cx="6305550" cy="819150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zh-CN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在项目下临时创建模块（模块名的</a:t>
            </a:r>
            <a:r>
              <a:rPr lang="en-US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. </a:t>
            </a:r>
            <a:r>
              <a:rPr lang="zh-CN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与</a:t>
            </a:r>
            <a:r>
              <a:rPr lang="en-US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- </a:t>
            </a:r>
            <a:r>
              <a:rPr lang="zh-CN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换成</a:t>
            </a:r>
            <a:r>
              <a:rPr lang="en-US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_</a:t>
            </a:r>
            <a:r>
              <a:rPr lang="zh-CN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），写入</a:t>
            </a:r>
            <a:r>
              <a:rPr lang="en-US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src </a:t>
            </a:r>
            <a:r>
              <a:rPr lang="zh-CN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下的</a:t>
            </a:r>
            <a:r>
              <a:rPr lang="en-US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AppVersion.cj</a:t>
            </a:r>
            <a:r>
              <a:rPr lang="zh-CN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，内容是</a:t>
            </a:r>
            <a:r>
              <a:rPr lang="en-US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AppVersion.set(banner, name, version)</a:t>
            </a:r>
            <a:r>
              <a:rPr lang="zh-CN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，临时加入</a:t>
            </a:r>
            <a:r>
              <a:rPr lang="en-US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workspace members</a:t>
            </a:r>
            <a:r>
              <a:rPr lang="zh-CN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；进程退出时恢复原</a:t>
            </a:r>
            <a:r>
              <a:rPr lang="en-US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cjpm.toml </a:t>
            </a:r>
            <a:r>
              <a:rPr lang="zh-CN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并删除临时模块。</a:t>
            </a:r>
            <a:endParaRPr lang="zh-CN" sz="1050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07" name="文本框 706" descr="{&quot;isTemplate&quot;:true,&quot;type&quot;:&quot;text&quot;}"/>
          <p:cNvSpPr txBox="1"/>
          <p:nvPr/>
        </p:nvSpPr>
        <p:spPr>
          <a:xfrm>
            <a:off x="5086350" y="2762250"/>
            <a:ext cx="6305550" cy="2762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zh-CN" sz="1050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这就是启动时能打印出你自己的</a:t>
            </a:r>
            <a:r>
              <a:rPr lang="en-US" sz="1050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 BANNER </a:t>
            </a:r>
            <a:r>
              <a:rPr lang="zh-CN" sz="1050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和版本号的原因。</a:t>
            </a:r>
            <a:endParaRPr lang="zh-CN" sz="1050">
              <a:solidFill>
                <a:srgbClr val="F59E0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08" name="圆角矩形 707"/>
          <p:cNvSpPr/>
          <p:nvPr/>
        </p:nvSpPr>
        <p:spPr>
          <a:xfrm>
            <a:off x="4895850" y="3362325"/>
            <a:ext cx="6686550" cy="1533525"/>
          </a:xfrm>
          <a:prstGeom prst="roundRect">
            <a:avLst>
              <a:gd name="adj" fmla="val 7453"/>
            </a:avLst>
          </a:prstGeom>
          <a:solidFill>
            <a:srgbClr val="111C2E"/>
          </a:solidFill>
          <a:ln w="12700">
            <a:solidFill>
              <a:srgbClr val="1E293B"/>
            </a:solidFill>
            <a:prstDash val="solid"/>
          </a:ln>
        </p:spPr>
        <p:txBody>
          <a:bodyPr/>
          <a:p/>
        </p:txBody>
      </p:sp>
      <p:sp>
        <p:nvSpPr>
          <p:cNvPr id="709" name="文本框 708" descr="{&quot;isTemplate&quot;:true,&quot;type&quot;:&quot;text&quot;}"/>
          <p:cNvSpPr txBox="1"/>
          <p:nvPr/>
        </p:nvSpPr>
        <p:spPr>
          <a:xfrm>
            <a:off x="5086350" y="3552825"/>
            <a:ext cx="6305550" cy="1905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隐藏动作</a:t>
            </a:r>
            <a:r>
              <a:rPr lang="en-US" sz="1200" b="1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 2 · </a:t>
            </a:r>
            <a:r>
              <a:rPr lang="zh-CN" sz="1200" b="1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读取</a:t>
            </a:r>
            <a:r>
              <a:rPr lang="en-US" sz="1200" b="1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 banner.txt</a:t>
            </a:r>
            <a:endParaRPr lang="en-US" sz="1200" b="1">
              <a:solidFill>
                <a:srgbClr val="E2E8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10" name="文本框 709" descr="{&quot;isTemplate&quot;:true,&quot;type&quot;:&quot;text&quot;}"/>
          <p:cNvSpPr txBox="1"/>
          <p:nvPr/>
        </p:nvSpPr>
        <p:spPr>
          <a:xfrm>
            <a:off x="5086350" y="3838575"/>
            <a:ext cx="6305550" cy="552450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zh-CN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如果当前目录有非空的</a:t>
            </a:r>
            <a:r>
              <a:rPr lang="en-US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banner.txt</a:t>
            </a:r>
            <a:r>
              <a:rPr lang="zh-CN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，它会成为</a:t>
            </a:r>
            <a:r>
              <a:rPr lang="en-US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AppVersion </a:t>
            </a:r>
            <a:r>
              <a:rPr lang="zh-CN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的横幅；应用启动时的那段</a:t>
            </a:r>
            <a:r>
              <a:rPr lang="en-US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ASCII LOGO </a:t>
            </a:r>
            <a:r>
              <a:rPr lang="zh-CN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就来自这里。</a:t>
            </a:r>
            <a:endParaRPr lang="zh-CN" sz="1050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11" name="圆角矩形 710"/>
          <p:cNvSpPr/>
          <p:nvPr/>
        </p:nvSpPr>
        <p:spPr>
          <a:xfrm>
            <a:off x="609600" y="5048250"/>
            <a:ext cx="10972800" cy="1238250"/>
          </a:xfrm>
          <a:prstGeom prst="roundRect">
            <a:avLst>
              <a:gd name="adj" fmla="val 9231"/>
            </a:avLst>
          </a:prstGeom>
          <a:solidFill>
            <a:srgbClr val="F59E0B">
              <a:alpha val="7000"/>
            </a:srgbClr>
          </a:solidFill>
          <a:ln w="12700">
            <a:solidFill>
              <a:srgbClr val="F59E0B"/>
            </a:solidFill>
            <a:prstDash val="solid"/>
          </a:ln>
        </p:spPr>
        <p:txBody>
          <a:bodyPr/>
          <a:p/>
        </p:txBody>
      </p:sp>
      <p:sp>
        <p:nvSpPr>
          <p:cNvPr id="712" name="文本框 711" descr="{&quot;isTemplate&quot;:true,&quot;type&quot;:&quot;text&quot;}"/>
          <p:cNvSpPr txBox="1"/>
          <p:nvPr/>
        </p:nvSpPr>
        <p:spPr>
          <a:xfrm>
            <a:off x="800100" y="5238750"/>
            <a:ext cx="10591800" cy="1905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产物目录规则（</a:t>
            </a:r>
            <a:r>
              <a:rPr lang="en-US" sz="1200" b="1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--target-dir</a:t>
            </a:r>
            <a:r>
              <a:rPr lang="zh-CN" sz="1200" b="1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）</a:t>
            </a:r>
            <a:endParaRPr lang="zh-CN" sz="1200" b="1">
              <a:solidFill>
                <a:srgbClr val="F59E0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13" name="文本框 712" descr="{&quot;isTemplate&quot;:true,&quot;type&quot;:&quot;text&quot;}"/>
          <p:cNvSpPr txBox="1"/>
          <p:nvPr/>
        </p:nvSpPr>
        <p:spPr>
          <a:xfrm>
            <a:off x="800100" y="5505450"/>
            <a:ext cx="10591800" cy="2762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en-US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PATH </a:t>
            </a:r>
            <a:r>
              <a:rPr lang="zh-CN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等于当前工作目录时</a:t>
            </a:r>
            <a:r>
              <a:rPr lang="en-US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→ </a:t>
            </a:r>
            <a:r>
              <a:rPr lang="zh-CN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产物目录为「路径</a:t>
            </a:r>
            <a:r>
              <a:rPr lang="en-US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/ </a:t>
            </a:r>
            <a:r>
              <a:rPr lang="zh-CN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目录名」；否则</a:t>
            </a:r>
            <a:r>
              <a:rPr lang="en-US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→ </a:t>
            </a:r>
            <a:r>
              <a:rPr lang="zh-CN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产物目录就是</a:t>
            </a:r>
            <a:r>
              <a:rPr lang="en-US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PATH </a:t>
            </a:r>
            <a:r>
              <a:rPr lang="zh-CN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本身。</a:t>
            </a:r>
            <a:endParaRPr lang="zh-CN" sz="1050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14" name="文本框 713" descr="{&quot;isTemplate&quot;:true,&quot;type&quot;:&quot;text&quot;}"/>
          <p:cNvSpPr txBox="1"/>
          <p:nvPr/>
        </p:nvSpPr>
        <p:spPr>
          <a:xfrm>
            <a:off x="800100" y="5819775"/>
            <a:ext cx="10591800" cy="2762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zh-CN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这解释了</a:t>
            </a:r>
            <a:r>
              <a:rPr lang="en-US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fdemo </a:t>
            </a:r>
            <a:r>
              <a:rPr lang="zh-CN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的产物为什么在</a:t>
            </a:r>
            <a:r>
              <a:rPr lang="en-US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fdemo/fdemo/release/ </a:t>
            </a:r>
            <a:r>
              <a:rPr lang="zh-CN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下：</a:t>
            </a:r>
            <a:r>
              <a:rPr lang="en-US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boot.sh </a:t>
            </a:r>
            <a:r>
              <a:rPr lang="zh-CN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是在</a:t>
            </a:r>
            <a:r>
              <a:rPr lang="en-US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fdemo </a:t>
            </a:r>
            <a:r>
              <a:rPr lang="zh-CN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目录里执行</a:t>
            </a:r>
            <a:r>
              <a:rPr lang="en-US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fboot build ./fdemo </a:t>
            </a:r>
            <a:r>
              <a:rPr lang="zh-CN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的。</a:t>
            </a:r>
            <a:endParaRPr lang="zh-CN" sz="1050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15" name="任意多边形 714"/>
          <p:cNvSpPr/>
          <p:nvPr/>
        </p:nvSpPr>
        <p:spPr>
          <a:xfrm>
            <a:off x="609600" y="6286500"/>
            <a:ext cx="10972800" cy="381000"/>
          </a:xfrm>
          <a:custGeom>
            <a:avLst/>
            <a:gdLst/>
            <a:ahLst/>
            <a:cxnLst/>
            <a:pathLst>
              <a:path w="1152" h="40">
                <a:moveTo>
                  <a:pt x="0" y="0"/>
                </a:moveTo>
                <a:lnTo>
                  <a:pt x="1152" y="0"/>
                </a:lnTo>
                <a:lnTo>
                  <a:pt x="1152" y="1"/>
                </a:lnTo>
                <a:lnTo>
                  <a:pt x="0" y="1"/>
                </a:lnTo>
                <a:close/>
              </a:path>
            </a:pathLst>
          </a:custGeom>
          <a:solidFill>
            <a:srgbClr val="1E293B"/>
          </a:solidFill>
        </p:spPr>
        <p:txBody>
          <a:bodyPr/>
          <a:p/>
        </p:txBody>
      </p:sp>
      <p:sp>
        <p:nvSpPr>
          <p:cNvPr id="716" name="文本框 715" descr="{&quot;isTemplate&quot;:true,&quot;type&quot;:&quot;text&quot;}"/>
          <p:cNvSpPr txBox="1"/>
          <p:nvPr/>
        </p:nvSpPr>
        <p:spPr>
          <a:xfrm>
            <a:off x="609600" y="6410325"/>
            <a:ext cx="2219325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fountain · 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一站式服务器应用开发工具库</a:t>
            </a:r>
            <a:endParaRPr lang="zh-CN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17" name="文本框 716" descr="{&quot;isTemplate&quot;:true,&quot;type&quot;:&quot;text&quot;}"/>
          <p:cNvSpPr txBox="1"/>
          <p:nvPr/>
        </p:nvSpPr>
        <p:spPr>
          <a:xfrm>
            <a:off x="11087100" y="6410325"/>
            <a:ext cx="495300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17 / 116</a:t>
            </a:r>
            <a:endParaRPr lang="en-US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71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9" name="矩形 718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220"/>
          </a:solidFill>
        </p:spPr>
        <p:txBody>
          <a:bodyPr/>
          <a:p/>
        </p:txBody>
      </p:sp>
      <p:sp>
        <p:nvSpPr>
          <p:cNvPr id="720" name="矩形 719"/>
          <p:cNvSpPr/>
          <p:nvPr/>
        </p:nvSpPr>
        <p:spPr>
          <a:xfrm>
            <a:off x="609600" y="476250"/>
            <a:ext cx="38100" cy="381000"/>
          </a:xfrm>
          <a:prstGeom prst="rect">
            <a:avLst/>
          </a:prstGeom>
          <a:solidFill>
            <a:srgbClr val="38BDF8"/>
          </a:solidFill>
        </p:spPr>
        <p:txBody>
          <a:bodyPr/>
          <a:p/>
        </p:txBody>
      </p:sp>
      <p:sp>
        <p:nvSpPr>
          <p:cNvPr id="721" name="文本框 720" descr="{&quot;isTemplate&quot;:true,&quot;type&quot;:&quot;text&quot;}"/>
          <p:cNvSpPr txBox="1"/>
          <p:nvPr/>
        </p:nvSpPr>
        <p:spPr>
          <a:xfrm>
            <a:off x="819150" y="304800"/>
            <a:ext cx="9124950" cy="2095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第</a:t>
            </a: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 3 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章</a:t>
            </a: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 · fboot 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命令行</a:t>
            </a: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 · 3.4 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续</a:t>
            </a:r>
            <a:endParaRPr lang="zh-CN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22" name="文本框 721" descr="{&quot;isTemplate&quot;:true,&quot;type&quot;:&quot;text&quot;}"/>
          <p:cNvSpPr txBox="1"/>
          <p:nvPr/>
        </p:nvSpPr>
        <p:spPr>
          <a:xfrm>
            <a:off x="819150" y="514350"/>
            <a:ext cx="9124950" cy="5143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2550" b="1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编译期注入配置（重要）</a:t>
            </a:r>
            <a:endParaRPr lang="zh-CN" sz="2550" b="1">
              <a:solidFill>
                <a:srgbClr val="E2E8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23" name="文本框 722" descr="{&quot;isTemplate&quot;:true,&quot;type&quot;:&quot;text&quot;}"/>
          <p:cNvSpPr txBox="1"/>
          <p:nvPr/>
        </p:nvSpPr>
        <p:spPr>
          <a:xfrm>
            <a:off x="10115550" y="590550"/>
            <a:ext cx="1466850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fdemo/boot.sh 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的</a:t>
            </a: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 build()</a:t>
            </a:r>
            <a:endParaRPr lang="en-US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24" name="圆角矩形 723"/>
          <p:cNvSpPr/>
          <p:nvPr/>
        </p:nvSpPr>
        <p:spPr>
          <a:xfrm>
            <a:off x="609600" y="1143000"/>
            <a:ext cx="4000500" cy="4200525"/>
          </a:xfrm>
          <a:prstGeom prst="roundRect">
            <a:avLst>
              <a:gd name="adj" fmla="val 2857"/>
            </a:avLst>
          </a:prstGeom>
          <a:solidFill>
            <a:srgbClr val="111C2E"/>
          </a:solidFill>
          <a:ln w="12700">
            <a:solidFill>
              <a:srgbClr val="1E293B"/>
            </a:solidFill>
            <a:prstDash val="solid"/>
          </a:ln>
        </p:spPr>
        <p:txBody>
          <a:bodyPr/>
          <a:p/>
        </p:txBody>
      </p:sp>
      <p:sp>
        <p:nvSpPr>
          <p:cNvPr id="725" name="文本框 724" descr="{&quot;isTemplate&quot;:true,&quot;type&quot;:&quot;text&quot;}"/>
          <p:cNvSpPr txBox="1"/>
          <p:nvPr/>
        </p:nvSpPr>
        <p:spPr>
          <a:xfrm>
            <a:off x="819150" y="1352550"/>
            <a:ext cx="3581400" cy="2095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这些参数做了什么</a:t>
            </a:r>
            <a:endParaRPr lang="zh-CN" sz="1350" b="1">
              <a:solidFill>
                <a:srgbClr val="E2E8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26" name="文本框 725" descr="{&quot;isTemplate&quot;:true,&quot;type&quot;:&quot;text&quot;}"/>
          <p:cNvSpPr txBox="1"/>
          <p:nvPr/>
        </p:nvSpPr>
        <p:spPr>
          <a:xfrm>
            <a:off x="819150" y="1695450"/>
            <a:ext cx="3581400" cy="3143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80000"/>
              </a:lnSpc>
            </a:pPr>
            <a:r>
              <a:rPr lang="zh-CN" sz="112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数据库连接串、用户名密码在编译期就被写进产物。</a:t>
            </a:r>
            <a:endParaRPr lang="zh-CN" sz="1125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27" name="文本框 726" descr="{&quot;isTemplate&quot;:true,&quot;type&quot;:&quot;text&quot;}"/>
          <p:cNvSpPr txBox="1"/>
          <p:nvPr/>
        </p:nvSpPr>
        <p:spPr>
          <a:xfrm>
            <a:off x="819150" y="2105025"/>
            <a:ext cx="3581400" cy="619125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80000"/>
              </a:lnSpc>
            </a:pPr>
            <a:r>
              <a:rPr lang="zh-CN" sz="112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因为同时给了</a:t>
            </a:r>
            <a:r>
              <a:rPr lang="en-US" sz="112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sm4Key / sm4Iv</a:t>
            </a:r>
            <a:r>
              <a:rPr lang="zh-CN" sz="112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，这些敏感信息是</a:t>
            </a:r>
            <a:r>
              <a:rPr lang="en-US" sz="112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SM4 </a:t>
            </a:r>
            <a:r>
              <a:rPr lang="zh-CN" sz="112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加密后的字节数组嵌入的，不是明文。</a:t>
            </a:r>
            <a:endParaRPr lang="zh-CN" sz="1125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28" name="文本框 727" descr="{&quot;isTemplate&quot;:true,&quot;type&quot;:&quot;text&quot;}"/>
          <p:cNvSpPr txBox="1"/>
          <p:nvPr/>
        </p:nvSpPr>
        <p:spPr>
          <a:xfrm>
            <a:off x="819150" y="2819400"/>
            <a:ext cx="3581400" cy="619125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80000"/>
              </a:lnSpc>
            </a:pPr>
            <a:r>
              <a:rPr lang="zh-CN" sz="1125">
                <a:solidFill>
                  <a:srgbClr val="38BDF8"/>
                </a:solidFill>
                <a:latin typeface="微软雅黑" panose="020B0503020204020204" charset="-122"/>
                <a:ea typeface="微软雅黑" panose="020B0503020204020204" charset="-122"/>
              </a:rPr>
              <a:t>运行期同名环境变量或命令行参数优先级更高</a:t>
            </a:r>
            <a:r>
              <a:rPr lang="en-US" sz="1125">
                <a:solidFill>
                  <a:srgbClr val="38BDF8"/>
                </a:solidFill>
                <a:latin typeface="微软雅黑" panose="020B0503020204020204" charset="-122"/>
                <a:ea typeface="微软雅黑" panose="020B0503020204020204" charset="-122"/>
              </a:rPr>
              <a:t> —— </a:t>
            </a:r>
            <a:r>
              <a:rPr lang="zh-CN" sz="1125">
                <a:solidFill>
                  <a:srgbClr val="38BDF8"/>
                </a:solidFill>
                <a:latin typeface="微软雅黑" panose="020B0503020204020204" charset="-122"/>
                <a:ea typeface="微软雅黑" panose="020B0503020204020204" charset="-122"/>
              </a:rPr>
              <a:t>一份产物跑多套环境。</a:t>
            </a:r>
            <a:endParaRPr lang="zh-CN" sz="1125">
              <a:solidFill>
                <a:srgbClr val="38BDF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29" name="文本框 728" descr="{&quot;isTemplate&quot;:true,&quot;type&quot;:&quot;text&quot;}"/>
          <p:cNvSpPr txBox="1"/>
          <p:nvPr/>
        </p:nvSpPr>
        <p:spPr>
          <a:xfrm>
            <a:off x="819150" y="4857750"/>
            <a:ext cx="3581400" cy="2762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zh-CN" sz="105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也可以把</a:t>
            </a:r>
            <a:r>
              <a:rPr lang="en-US" sz="105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 -- </a:t>
            </a:r>
            <a:r>
              <a:rPr lang="zh-CN" sz="105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去掉改成环境变量，效果一样。</a:t>
            </a:r>
            <a:endParaRPr lang="zh-CN" sz="105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30" name="圆角矩形 729"/>
          <p:cNvSpPr/>
          <p:nvPr/>
        </p:nvSpPr>
        <p:spPr>
          <a:xfrm>
            <a:off x="609600" y="5476875"/>
            <a:ext cx="4000500" cy="809625"/>
          </a:xfrm>
          <a:prstGeom prst="roundRect">
            <a:avLst>
              <a:gd name="adj" fmla="val 14118"/>
            </a:avLst>
          </a:prstGeom>
          <a:solidFill>
            <a:srgbClr val="F59E0B">
              <a:alpha val="7000"/>
            </a:srgbClr>
          </a:solidFill>
          <a:ln w="12700">
            <a:solidFill>
              <a:srgbClr val="F59E0B"/>
            </a:solidFill>
            <a:prstDash val="solid"/>
          </a:ln>
        </p:spPr>
        <p:txBody>
          <a:bodyPr/>
          <a:p/>
        </p:txBody>
      </p:sp>
      <p:sp>
        <p:nvSpPr>
          <p:cNvPr id="731" name="文本框 730" descr="{&quot;isTemplate&quot;:true,&quot;type&quot;:&quot;text&quot;}"/>
          <p:cNvSpPr txBox="1"/>
          <p:nvPr/>
        </p:nvSpPr>
        <p:spPr>
          <a:xfrm>
            <a:off x="781050" y="5648325"/>
            <a:ext cx="3657600" cy="1714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真实项目不要把密码写进</a:t>
            </a:r>
            <a:r>
              <a:rPr lang="en-US" sz="1125" b="1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 boot.sh</a:t>
            </a:r>
            <a:endParaRPr lang="en-US" sz="1125" b="1">
              <a:solidFill>
                <a:srgbClr val="F59E0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32" name="文本框 731" descr="{&quot;isTemplate&quot;:true,&quot;type&quot;:&quot;text&quot;}"/>
          <p:cNvSpPr txBox="1"/>
          <p:nvPr/>
        </p:nvSpPr>
        <p:spPr>
          <a:xfrm>
            <a:off x="781050" y="5857875"/>
            <a:ext cx="3657600" cy="2571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这里只是演示用法。</a:t>
            </a:r>
            <a:endParaRPr lang="zh-CN" sz="1050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33" name="圆角矩形 732"/>
          <p:cNvSpPr/>
          <p:nvPr/>
        </p:nvSpPr>
        <p:spPr>
          <a:xfrm>
            <a:off x="4800600" y="1143000"/>
            <a:ext cx="6781800" cy="5143500"/>
          </a:xfrm>
          <a:prstGeom prst="roundRect">
            <a:avLst>
              <a:gd name="adj" fmla="val 2222"/>
            </a:avLst>
          </a:prstGeom>
          <a:solidFill>
            <a:srgbClr val="0B1220"/>
          </a:solidFill>
          <a:ln w="12700">
            <a:solidFill>
              <a:srgbClr val="1E293B"/>
            </a:solidFill>
            <a:prstDash val="solid"/>
          </a:ln>
        </p:spPr>
        <p:txBody>
          <a:bodyPr/>
          <a:p/>
        </p:txBody>
      </p:sp>
      <p:sp>
        <p:nvSpPr>
          <p:cNvPr id="734" name="文本框 733" descr="{&quot;isTemplate&quot;:true,&quot;type&quot;:&quot;text&quot;}"/>
          <p:cNvSpPr txBox="1"/>
          <p:nvPr/>
        </p:nvSpPr>
        <p:spPr>
          <a:xfrm>
            <a:off x="5029200" y="1371600"/>
            <a:ext cx="6324600" cy="1714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fdemo/boot.sh · build()</a:t>
            </a:r>
            <a:endParaRPr lang="en-US" sz="112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35" name="文本框 734" descr="{&quot;isTemplate&quot;:true,&quot;type&quot;:&quot;text&quot;}"/>
          <p:cNvSpPr txBox="1"/>
          <p:nvPr/>
        </p:nvSpPr>
        <p:spPr>
          <a:xfrm>
            <a:off x="5029200" y="1676400"/>
            <a:ext cx="6324600" cy="3429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200000"/>
              </a:lnSpc>
            </a:pPr>
            <a:r>
              <a:rPr lang="en-US" sz="1125">
                <a:solidFill>
                  <a:srgbClr val="E2E8F0"/>
                </a:solidFill>
                <a:latin typeface="JetBrains Mono"/>
                <a:ea typeface="JetBrains Mono"/>
              </a:rPr>
              <a:t>fboot build ./fdemo \</a:t>
            </a:r>
            <a:endParaRPr lang="en-US" sz="1125">
              <a:solidFill>
                <a:srgbClr val="E2E8F0"/>
              </a:solidFill>
              <a:latin typeface="JetBrains Mono"/>
              <a:ea typeface="JetBrains Mono"/>
            </a:endParaRPr>
          </a:p>
        </p:txBody>
      </p:sp>
      <p:sp>
        <p:nvSpPr>
          <p:cNvPr id="736" name="文本框 735" descr="{&quot;isTemplate&quot;:true,&quot;type&quot;:&quot;text&quot;}"/>
          <p:cNvSpPr txBox="1"/>
          <p:nvPr/>
        </p:nvSpPr>
        <p:spPr>
          <a:xfrm>
            <a:off x="5029200" y="2019300"/>
            <a:ext cx="6324600" cy="3429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200000"/>
              </a:lnSpc>
            </a:pPr>
            <a:r>
              <a:rPr lang="zh-CN" sz="1125">
                <a:solidFill>
                  <a:srgbClr val="22D3EE"/>
                </a:solidFill>
                <a:latin typeface="JetBrains Mono"/>
                <a:ea typeface="JetBrains Mono"/>
              </a:rPr>
              <a:t>　</a:t>
            </a:r>
            <a:r>
              <a:rPr lang="en-US" sz="1125">
                <a:solidFill>
                  <a:srgbClr val="22D3EE"/>
                </a:solidFill>
                <a:latin typeface="JetBrains Mono"/>
                <a:ea typeface="JetBrains Mono"/>
              </a:rPr>
              <a:t>--orm_drivers=postgres \</a:t>
            </a:r>
            <a:endParaRPr lang="en-US" sz="1125">
              <a:solidFill>
                <a:srgbClr val="22D3EE"/>
              </a:solidFill>
              <a:latin typeface="JetBrains Mono"/>
              <a:ea typeface="JetBrains Mono"/>
            </a:endParaRPr>
          </a:p>
        </p:txBody>
      </p:sp>
      <p:sp>
        <p:nvSpPr>
          <p:cNvPr id="737" name="文本框 736" descr="{&quot;isTemplate&quot;:true,&quot;type&quot;:&quot;text&quot;}"/>
          <p:cNvSpPr txBox="1"/>
          <p:nvPr/>
        </p:nvSpPr>
        <p:spPr>
          <a:xfrm>
            <a:off x="5029200" y="2362200"/>
            <a:ext cx="6324600" cy="3429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200000"/>
              </a:lnSpc>
            </a:pPr>
            <a:r>
              <a:rPr lang="zh-CN" sz="1125">
                <a:solidFill>
                  <a:srgbClr val="22D3EE"/>
                </a:solidFill>
                <a:latin typeface="JetBrains Mono"/>
                <a:ea typeface="JetBrains Mono"/>
              </a:rPr>
              <a:t>　</a:t>
            </a:r>
            <a:r>
              <a:rPr lang="en-US" sz="1125">
                <a:solidFill>
                  <a:srgbClr val="22D3EE"/>
                </a:solidFill>
                <a:latin typeface="JetBrains Mono"/>
                <a:ea typeface="JetBrains Mono"/>
              </a:rPr>
              <a:t>--postgres_orm_connectionUrl=$POSTGRES \</a:t>
            </a:r>
            <a:endParaRPr lang="en-US" sz="1125">
              <a:solidFill>
                <a:srgbClr val="22D3EE"/>
              </a:solidFill>
              <a:latin typeface="JetBrains Mono"/>
              <a:ea typeface="JetBrains Mono"/>
            </a:endParaRPr>
          </a:p>
        </p:txBody>
      </p:sp>
      <p:sp>
        <p:nvSpPr>
          <p:cNvPr id="738" name="文本框 737" descr="{&quot;isTemplate&quot;:true,&quot;type&quot;:&quot;text&quot;}"/>
          <p:cNvSpPr txBox="1"/>
          <p:nvPr/>
        </p:nvSpPr>
        <p:spPr>
          <a:xfrm>
            <a:off x="5029200" y="2705100"/>
            <a:ext cx="6324600" cy="3429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200000"/>
              </a:lnSpc>
            </a:pPr>
            <a:r>
              <a:rPr lang="zh-CN" sz="1125">
                <a:solidFill>
                  <a:srgbClr val="22D3EE"/>
                </a:solidFill>
                <a:latin typeface="JetBrains Mono"/>
                <a:ea typeface="JetBrains Mono"/>
              </a:rPr>
              <a:t>　</a:t>
            </a:r>
            <a:r>
              <a:rPr lang="en-US" sz="1125">
                <a:solidFill>
                  <a:srgbClr val="22D3EE"/>
                </a:solidFill>
                <a:latin typeface="JetBrains Mono"/>
                <a:ea typeface="JetBrains Mono"/>
              </a:rPr>
              <a:t>--postgres_orm_option_username=$POSTGRES_USERNAME \</a:t>
            </a:r>
            <a:endParaRPr lang="en-US" sz="1125">
              <a:solidFill>
                <a:srgbClr val="22D3EE"/>
              </a:solidFill>
              <a:latin typeface="JetBrains Mono"/>
              <a:ea typeface="JetBrains Mono"/>
            </a:endParaRPr>
          </a:p>
        </p:txBody>
      </p:sp>
      <p:sp>
        <p:nvSpPr>
          <p:cNvPr id="739" name="文本框 738" descr="{&quot;isTemplate&quot;:true,&quot;type&quot;:&quot;text&quot;}"/>
          <p:cNvSpPr txBox="1"/>
          <p:nvPr/>
        </p:nvSpPr>
        <p:spPr>
          <a:xfrm>
            <a:off x="5029200" y="3048000"/>
            <a:ext cx="6324600" cy="3429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200000"/>
              </a:lnSpc>
            </a:pPr>
            <a:r>
              <a:rPr lang="zh-CN" sz="1125">
                <a:solidFill>
                  <a:srgbClr val="22D3EE"/>
                </a:solidFill>
                <a:latin typeface="JetBrains Mono"/>
                <a:ea typeface="JetBrains Mono"/>
              </a:rPr>
              <a:t>　</a:t>
            </a:r>
            <a:r>
              <a:rPr lang="en-US" sz="1125">
                <a:solidFill>
                  <a:srgbClr val="22D3EE"/>
                </a:solidFill>
                <a:latin typeface="JetBrains Mono"/>
                <a:ea typeface="JetBrains Mono"/>
              </a:rPr>
              <a:t>--postgres_orm_option_password=$POSTGRES_PASSWORD \</a:t>
            </a:r>
            <a:endParaRPr lang="en-US" sz="1125">
              <a:solidFill>
                <a:srgbClr val="22D3EE"/>
              </a:solidFill>
              <a:latin typeface="JetBrains Mono"/>
              <a:ea typeface="JetBrains Mono"/>
            </a:endParaRPr>
          </a:p>
        </p:txBody>
      </p:sp>
      <p:sp>
        <p:nvSpPr>
          <p:cNvPr id="740" name="文本框 739" descr="{&quot;isTemplate&quot;:true,&quot;type&quot;:&quot;text&quot;}"/>
          <p:cNvSpPr txBox="1"/>
          <p:nvPr/>
        </p:nvSpPr>
        <p:spPr>
          <a:xfrm>
            <a:off x="5029200" y="3390900"/>
            <a:ext cx="6324600" cy="3429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200000"/>
              </a:lnSpc>
            </a:pPr>
            <a:r>
              <a:rPr lang="zh-CN" sz="1125">
                <a:solidFill>
                  <a:srgbClr val="F59E0B"/>
                </a:solidFill>
                <a:latin typeface="JetBrains Mono"/>
                <a:ea typeface="JetBrains Mono"/>
              </a:rPr>
              <a:t>　</a:t>
            </a:r>
            <a:r>
              <a:rPr lang="en-US" sz="1125">
                <a:solidFill>
                  <a:srgbClr val="F59E0B"/>
                </a:solidFill>
                <a:latin typeface="JetBrains Mono"/>
                <a:ea typeface="JetBrains Mono"/>
              </a:rPr>
              <a:t>--sm4Key=$(fboot randhex 32) \</a:t>
            </a:r>
            <a:endParaRPr lang="en-US" sz="1125">
              <a:solidFill>
                <a:srgbClr val="F59E0B"/>
              </a:solidFill>
              <a:latin typeface="JetBrains Mono"/>
              <a:ea typeface="JetBrains Mono"/>
            </a:endParaRPr>
          </a:p>
        </p:txBody>
      </p:sp>
      <p:sp>
        <p:nvSpPr>
          <p:cNvPr id="741" name="文本框 740" descr="{&quot;isTemplate&quot;:true,&quot;type&quot;:&quot;text&quot;}"/>
          <p:cNvSpPr txBox="1"/>
          <p:nvPr/>
        </p:nvSpPr>
        <p:spPr>
          <a:xfrm>
            <a:off x="5029200" y="3733800"/>
            <a:ext cx="6324600" cy="3429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200000"/>
              </a:lnSpc>
            </a:pPr>
            <a:r>
              <a:rPr lang="zh-CN" sz="1125">
                <a:solidFill>
                  <a:srgbClr val="F59E0B"/>
                </a:solidFill>
                <a:latin typeface="JetBrains Mono"/>
                <a:ea typeface="JetBrains Mono"/>
              </a:rPr>
              <a:t>　</a:t>
            </a:r>
            <a:r>
              <a:rPr lang="en-US" sz="1125">
                <a:solidFill>
                  <a:srgbClr val="F59E0B"/>
                </a:solidFill>
                <a:latin typeface="JetBrains Mono"/>
                <a:ea typeface="JetBrains Mono"/>
              </a:rPr>
              <a:t>--sm4Iv=$(fboot randhex 32)</a:t>
            </a:r>
            <a:endParaRPr lang="en-US" sz="1125">
              <a:solidFill>
                <a:srgbClr val="F59E0B"/>
              </a:solidFill>
              <a:latin typeface="JetBrains Mono"/>
              <a:ea typeface="JetBrains Mono"/>
            </a:endParaRPr>
          </a:p>
        </p:txBody>
      </p:sp>
      <p:sp>
        <p:nvSpPr>
          <p:cNvPr id="742" name="矩形 741"/>
          <p:cNvSpPr/>
          <p:nvPr/>
        </p:nvSpPr>
        <p:spPr>
          <a:xfrm>
            <a:off x="5029200" y="4248150"/>
            <a:ext cx="6324600" cy="9525"/>
          </a:xfrm>
          <a:prstGeom prst="rect">
            <a:avLst/>
          </a:prstGeom>
          <a:solidFill>
            <a:srgbClr val="1E293B"/>
          </a:solidFill>
        </p:spPr>
        <p:txBody>
          <a:bodyPr/>
          <a:p/>
        </p:txBody>
      </p:sp>
      <p:sp>
        <p:nvSpPr>
          <p:cNvPr id="743" name="文本框 742" descr="{&quot;isTemplate&quot;:true,&quot;type&quot;:&quot;text&quot;}"/>
          <p:cNvSpPr txBox="1"/>
          <p:nvPr/>
        </p:nvSpPr>
        <p:spPr>
          <a:xfrm>
            <a:off x="5029200" y="4429125"/>
            <a:ext cx="6324600" cy="3143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80000"/>
              </a:lnSpc>
            </a:pPr>
            <a:r>
              <a:rPr lang="zh-CN" sz="112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每次编译换一对</a:t>
            </a:r>
            <a:r>
              <a:rPr lang="en-US" sz="112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KEY / IV</a:t>
            </a:r>
            <a:r>
              <a:rPr lang="zh-CN" sz="112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，嵌入的密文就不一样</a:t>
            </a:r>
            <a:r>
              <a:rPr lang="en-US" sz="112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—— </a:t>
            </a:r>
            <a:r>
              <a:rPr lang="zh-CN" sz="112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一个很轻量的「产物级」防护。</a:t>
            </a:r>
            <a:endParaRPr lang="zh-CN" sz="1125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44" name="文本框 743" descr="{&quot;isTemplate&quot;:true,&quot;type&quot;:&quot;text&quot;}"/>
          <p:cNvSpPr txBox="1"/>
          <p:nvPr/>
        </p:nvSpPr>
        <p:spPr>
          <a:xfrm>
            <a:off x="5029200" y="5743575"/>
            <a:ext cx="6324600" cy="3143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80000"/>
              </a:lnSpc>
            </a:pPr>
            <a:r>
              <a:rPr lang="zh-CN" sz="112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完整机制见第四章</a:t>
            </a:r>
            <a:r>
              <a:rPr lang="en-US" sz="112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f_config</a:t>
            </a:r>
            <a:r>
              <a:rPr lang="zh-CN" sz="112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。</a:t>
            </a:r>
            <a:endParaRPr lang="zh-CN" sz="1125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45" name="任意多边形 744"/>
          <p:cNvSpPr/>
          <p:nvPr/>
        </p:nvSpPr>
        <p:spPr>
          <a:xfrm>
            <a:off x="609600" y="6286500"/>
            <a:ext cx="10972800" cy="381000"/>
          </a:xfrm>
          <a:custGeom>
            <a:avLst/>
            <a:gdLst/>
            <a:ahLst/>
            <a:cxnLst/>
            <a:pathLst>
              <a:path w="1152" h="40">
                <a:moveTo>
                  <a:pt x="0" y="0"/>
                </a:moveTo>
                <a:lnTo>
                  <a:pt x="1152" y="0"/>
                </a:lnTo>
                <a:lnTo>
                  <a:pt x="1152" y="1"/>
                </a:lnTo>
                <a:lnTo>
                  <a:pt x="0" y="1"/>
                </a:lnTo>
                <a:close/>
              </a:path>
            </a:pathLst>
          </a:custGeom>
          <a:solidFill>
            <a:srgbClr val="1E293B"/>
          </a:solidFill>
        </p:spPr>
        <p:txBody>
          <a:bodyPr/>
          <a:p/>
        </p:txBody>
      </p:sp>
      <p:sp>
        <p:nvSpPr>
          <p:cNvPr id="746" name="文本框 745" descr="{&quot;isTemplate&quot;:true,&quot;type&quot;:&quot;text&quot;}"/>
          <p:cNvSpPr txBox="1"/>
          <p:nvPr/>
        </p:nvSpPr>
        <p:spPr>
          <a:xfrm>
            <a:off x="609600" y="6410325"/>
            <a:ext cx="2219325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fountain · 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一站式服务器应用开发工具库</a:t>
            </a:r>
            <a:endParaRPr lang="zh-CN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47" name="文本框 746" descr="{&quot;isTemplate&quot;:true,&quot;type&quot;:&quot;text&quot;}"/>
          <p:cNvSpPr txBox="1"/>
          <p:nvPr/>
        </p:nvSpPr>
        <p:spPr>
          <a:xfrm>
            <a:off x="11087100" y="6410325"/>
            <a:ext cx="495300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18 / 116</a:t>
            </a:r>
            <a:endParaRPr lang="en-US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74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9" name="矩形 748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220"/>
          </a:solidFill>
        </p:spPr>
        <p:txBody>
          <a:bodyPr/>
          <a:p/>
        </p:txBody>
      </p:sp>
      <p:sp>
        <p:nvSpPr>
          <p:cNvPr id="750" name="矩形 749"/>
          <p:cNvSpPr/>
          <p:nvPr/>
        </p:nvSpPr>
        <p:spPr>
          <a:xfrm>
            <a:off x="609600" y="476250"/>
            <a:ext cx="38100" cy="381000"/>
          </a:xfrm>
          <a:prstGeom prst="rect">
            <a:avLst/>
          </a:prstGeom>
          <a:solidFill>
            <a:srgbClr val="38BDF8"/>
          </a:solidFill>
        </p:spPr>
        <p:txBody>
          <a:bodyPr/>
          <a:p/>
        </p:txBody>
      </p:sp>
      <p:sp>
        <p:nvSpPr>
          <p:cNvPr id="751" name="文本框 750" descr="{&quot;isTemplate&quot;:true,&quot;type&quot;:&quot;text&quot;}"/>
          <p:cNvSpPr txBox="1"/>
          <p:nvPr/>
        </p:nvSpPr>
        <p:spPr>
          <a:xfrm>
            <a:off x="819150" y="304800"/>
            <a:ext cx="9725025" cy="2095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第</a:t>
            </a: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 3 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章</a:t>
            </a: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 · fboot 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命令行</a:t>
            </a: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 · 3.5 / 3.6</a:t>
            </a:r>
            <a:endParaRPr lang="en-US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52" name="文本框 751" descr="{&quot;isTemplate&quot;:true,&quot;type&quot;:&quot;text&quot;}"/>
          <p:cNvSpPr txBox="1"/>
          <p:nvPr/>
        </p:nvSpPr>
        <p:spPr>
          <a:xfrm>
            <a:off x="819150" y="514350"/>
            <a:ext cx="9725025" cy="5143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en-US" sz="2550" b="1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randhex </a:t>
            </a:r>
            <a:r>
              <a:rPr lang="zh-CN" sz="2550" b="1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与</a:t>
            </a:r>
            <a:r>
              <a:rPr lang="en-US" sz="2550" b="1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 cleanUpdate</a:t>
            </a:r>
            <a:endParaRPr lang="en-US" sz="2550" b="1">
              <a:solidFill>
                <a:srgbClr val="E2E8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53" name="文本框 752" descr="{&quot;isTemplate&quot;:true,&quot;type&quot;:&quot;text&quot;}"/>
          <p:cNvSpPr txBox="1"/>
          <p:nvPr/>
        </p:nvSpPr>
        <p:spPr>
          <a:xfrm>
            <a:off x="10715625" y="590550"/>
            <a:ext cx="866775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两个高频小命令</a:t>
            </a:r>
            <a:endParaRPr lang="zh-CN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54" name="圆角矩形 753"/>
          <p:cNvSpPr/>
          <p:nvPr/>
        </p:nvSpPr>
        <p:spPr>
          <a:xfrm>
            <a:off x="609600" y="1143000"/>
            <a:ext cx="3552825" cy="5143500"/>
          </a:xfrm>
          <a:prstGeom prst="roundRect">
            <a:avLst>
              <a:gd name="adj" fmla="val 3217"/>
            </a:avLst>
          </a:prstGeom>
          <a:solidFill>
            <a:srgbClr val="111C2E"/>
          </a:solidFill>
          <a:ln w="12700">
            <a:solidFill>
              <a:srgbClr val="1E293B"/>
            </a:solidFill>
            <a:prstDash val="solid"/>
          </a:ln>
        </p:spPr>
        <p:txBody>
          <a:bodyPr/>
          <a:p/>
        </p:txBody>
      </p:sp>
      <p:sp>
        <p:nvSpPr>
          <p:cNvPr id="755" name="文本框 754" descr="{&quot;isTemplate&quot;:true,&quot;type&quot;:&quot;text&quot;}"/>
          <p:cNvSpPr txBox="1"/>
          <p:nvPr/>
        </p:nvSpPr>
        <p:spPr>
          <a:xfrm>
            <a:off x="838200" y="1371600"/>
            <a:ext cx="3095625" cy="4572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3000" b="1">
                <a:solidFill>
                  <a:srgbClr val="38BDF8"/>
                </a:solidFill>
                <a:latin typeface="JetBrains Mono"/>
                <a:ea typeface="JetBrains Mono"/>
              </a:rPr>
              <a:t>randhex</a:t>
            </a:r>
            <a:endParaRPr lang="en-US" sz="3000" b="1">
              <a:solidFill>
                <a:srgbClr val="38BDF8"/>
              </a:solidFill>
              <a:latin typeface="JetBrains Mono"/>
              <a:ea typeface="JetBrains Mono"/>
            </a:endParaRPr>
          </a:p>
        </p:txBody>
      </p:sp>
      <p:sp>
        <p:nvSpPr>
          <p:cNvPr id="756" name="文本框 755" descr="{&quot;isTemplate&quot;:true,&quot;type&quot;:&quot;text&quot;}"/>
          <p:cNvSpPr txBox="1"/>
          <p:nvPr/>
        </p:nvSpPr>
        <p:spPr>
          <a:xfrm>
            <a:off x="838200" y="2000250"/>
            <a:ext cx="3095625" cy="3143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80000"/>
              </a:lnSpc>
            </a:pPr>
            <a:r>
              <a:rPr lang="zh-CN" sz="112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生成随机</a:t>
            </a:r>
            <a:r>
              <a:rPr lang="en-US" sz="112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16 </a:t>
            </a:r>
            <a:r>
              <a:rPr lang="zh-CN" sz="112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进制串。</a:t>
            </a:r>
            <a:endParaRPr lang="zh-CN" sz="1125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57" name="圆角矩形 756"/>
          <p:cNvSpPr/>
          <p:nvPr/>
        </p:nvSpPr>
        <p:spPr>
          <a:xfrm>
            <a:off x="838200" y="2447925"/>
            <a:ext cx="3095625" cy="847725"/>
          </a:xfrm>
          <a:prstGeom prst="roundRect">
            <a:avLst>
              <a:gd name="adj" fmla="val 8989"/>
            </a:avLst>
          </a:prstGeom>
          <a:solidFill>
            <a:srgbClr val="0B1220"/>
          </a:solidFill>
          <a:ln w="12700">
            <a:solidFill>
              <a:srgbClr val="1E293B"/>
            </a:solidFill>
            <a:prstDash val="solid"/>
          </a:ln>
        </p:spPr>
        <p:txBody>
          <a:bodyPr/>
          <a:p/>
        </p:txBody>
      </p:sp>
      <p:sp>
        <p:nvSpPr>
          <p:cNvPr id="758" name="文本框 757" descr="{&quot;isTemplate&quot;:true,&quot;type&quot;:&quot;text&quot;}"/>
          <p:cNvSpPr txBox="1"/>
          <p:nvPr/>
        </p:nvSpPr>
        <p:spPr>
          <a:xfrm>
            <a:off x="971550" y="2581275"/>
            <a:ext cx="2828925" cy="5810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80000"/>
              </a:lnSpc>
            </a:pPr>
            <a:r>
              <a:rPr lang="en-US" sz="1050">
                <a:solidFill>
                  <a:srgbClr val="22D3EE"/>
                </a:solidFill>
                <a:latin typeface="JetBrains Mono"/>
                <a:ea typeface="JetBrains Mono"/>
              </a:rPr>
              <a:t>fboot randhex 16</a:t>
            </a:r>
            <a:endParaRPr lang="en-US" sz="1050">
              <a:solidFill>
                <a:srgbClr val="22D3EE"/>
              </a:solidFill>
              <a:latin typeface="JetBrains Mono"/>
              <a:ea typeface="JetBrains Mono"/>
            </a:endParaRPr>
          </a:p>
          <a:p>
            <a:pPr>
              <a:lnSpc>
                <a:spcPct val="180000"/>
              </a:lnSpc>
            </a:pPr>
            <a:r>
              <a:rPr lang="en-US" sz="1050">
                <a:solidFill>
                  <a:srgbClr val="22D3EE"/>
                </a:solidFill>
                <a:latin typeface="JetBrains Mono"/>
                <a:ea typeface="JetBrains Mono"/>
              </a:rPr>
              <a:t>fboot randhex 32</a:t>
            </a:r>
            <a:endParaRPr lang="en-US" sz="1050">
              <a:solidFill>
                <a:srgbClr val="22D3EE"/>
              </a:solidFill>
              <a:latin typeface="JetBrains Mono"/>
              <a:ea typeface="JetBrains Mono"/>
            </a:endParaRPr>
          </a:p>
        </p:txBody>
      </p:sp>
      <p:sp>
        <p:nvSpPr>
          <p:cNvPr id="759" name="文本框 758" descr="{&quot;isTemplate&quot;:true,&quot;type&quot;:&quot;text&quot;}"/>
          <p:cNvSpPr txBox="1"/>
          <p:nvPr/>
        </p:nvSpPr>
        <p:spPr>
          <a:xfrm>
            <a:off x="838200" y="3448050"/>
            <a:ext cx="3095625" cy="1152525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80000"/>
              </a:lnSpc>
            </a:pPr>
            <a:r>
              <a:rPr lang="zh-CN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实现是</a:t>
            </a:r>
            <a:r>
              <a:rPr lang="en-US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f_random </a:t>
            </a:r>
            <a:r>
              <a:rPr lang="zh-CN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的</a:t>
            </a:r>
            <a:r>
              <a:rPr lang="en-US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RandomString().randomLowerHex(n)</a:t>
            </a:r>
            <a:r>
              <a:rPr lang="zh-CN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，由</a:t>
            </a:r>
            <a:r>
              <a:rPr lang="en-US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f_app </a:t>
            </a:r>
            <a:r>
              <a:rPr lang="zh-CN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的</a:t>
            </a:r>
            <a:r>
              <a:rPr lang="en-US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RandHexCommand </a:t>
            </a:r>
            <a:r>
              <a:rPr lang="zh-CN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注册到</a:t>
            </a:r>
            <a:r>
              <a:rPr lang="en-US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SubCommandMediator</a:t>
            </a:r>
            <a:r>
              <a:rPr lang="zh-CN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。</a:t>
            </a:r>
            <a:endParaRPr lang="zh-CN" sz="1050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60" name="文本框 759" descr="{&quot;isTemplate&quot;:true,&quot;type&quot;:&quot;text&quot;}"/>
          <p:cNvSpPr txBox="1"/>
          <p:nvPr/>
        </p:nvSpPr>
        <p:spPr>
          <a:xfrm>
            <a:off x="838200" y="5191125"/>
            <a:ext cx="3095625" cy="2762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zh-CN" sz="105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最常见用途：给</a:t>
            </a:r>
            <a:r>
              <a:rPr lang="en-US" sz="105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 SM4 </a:t>
            </a:r>
            <a:r>
              <a:rPr lang="zh-CN" sz="105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生成密钥与</a:t>
            </a:r>
            <a:r>
              <a:rPr lang="en-US" sz="105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 IV</a:t>
            </a:r>
            <a:endParaRPr lang="en-US" sz="105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61" name="文本框 760" descr="{&quot;isTemplate&quot;:true,&quot;type&quot;:&quot;text&quot;}"/>
          <p:cNvSpPr txBox="1"/>
          <p:nvPr/>
        </p:nvSpPr>
        <p:spPr>
          <a:xfrm>
            <a:off x="838200" y="5467350"/>
            <a:ext cx="3095625" cy="590550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zh-CN" sz="1125" b="1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密钥</a:t>
            </a:r>
            <a:r>
              <a:rPr lang="en-US" sz="1125" b="1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 16 </a:t>
            </a:r>
            <a:r>
              <a:rPr lang="zh-CN" sz="1125" b="1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字节</a:t>
            </a:r>
            <a:r>
              <a:rPr lang="en-US" sz="1125" b="1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 = 32 </a:t>
            </a:r>
            <a:r>
              <a:rPr lang="zh-CN" sz="1125" b="1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个</a:t>
            </a:r>
            <a:r>
              <a:rPr lang="en-US" sz="1125" b="1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 16 </a:t>
            </a:r>
            <a:r>
              <a:rPr lang="zh-CN" sz="1125" b="1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进制字符</a:t>
            </a:r>
            <a:r>
              <a:rPr lang="en-US" sz="1125" b="1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 → fboot randhex 32</a:t>
            </a:r>
            <a:endParaRPr lang="en-US" sz="1125" b="1">
              <a:solidFill>
                <a:srgbClr val="F59E0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62" name="圆角矩形 761"/>
          <p:cNvSpPr/>
          <p:nvPr/>
        </p:nvSpPr>
        <p:spPr>
          <a:xfrm>
            <a:off x="4314825" y="1143000"/>
            <a:ext cx="3562350" cy="5143500"/>
          </a:xfrm>
          <a:prstGeom prst="roundRect">
            <a:avLst>
              <a:gd name="adj" fmla="val 3209"/>
            </a:avLst>
          </a:prstGeom>
          <a:solidFill>
            <a:srgbClr val="111C2E"/>
          </a:solidFill>
          <a:ln w="12700">
            <a:solidFill>
              <a:srgbClr val="1E293B"/>
            </a:solidFill>
            <a:prstDash val="solid"/>
          </a:ln>
        </p:spPr>
        <p:txBody>
          <a:bodyPr/>
          <a:p/>
        </p:txBody>
      </p:sp>
      <p:sp>
        <p:nvSpPr>
          <p:cNvPr id="763" name="文本框 762" descr="{&quot;isTemplate&quot;:true,&quot;type&quot;:&quot;text&quot;}"/>
          <p:cNvSpPr txBox="1"/>
          <p:nvPr/>
        </p:nvSpPr>
        <p:spPr>
          <a:xfrm>
            <a:off x="4543425" y="1371600"/>
            <a:ext cx="3105150" cy="4572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3000" b="1">
                <a:solidFill>
                  <a:srgbClr val="22D3EE"/>
                </a:solidFill>
                <a:latin typeface="JetBrains Mono"/>
                <a:ea typeface="JetBrains Mono"/>
              </a:rPr>
              <a:t>cleanUpdate</a:t>
            </a:r>
            <a:endParaRPr lang="en-US" sz="3000" b="1">
              <a:solidFill>
                <a:srgbClr val="22D3EE"/>
              </a:solidFill>
              <a:latin typeface="JetBrains Mono"/>
              <a:ea typeface="JetBrains Mono"/>
            </a:endParaRPr>
          </a:p>
        </p:txBody>
      </p:sp>
      <p:sp>
        <p:nvSpPr>
          <p:cNvPr id="764" name="文本框 763" descr="{&quot;isTemplate&quot;:true,&quot;type&quot;:&quot;text&quot;}"/>
          <p:cNvSpPr txBox="1"/>
          <p:nvPr/>
        </p:nvSpPr>
        <p:spPr>
          <a:xfrm>
            <a:off x="4543425" y="2000250"/>
            <a:ext cx="3105150" cy="3143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80000"/>
              </a:lnSpc>
            </a:pPr>
            <a:r>
              <a:rPr lang="zh-CN" sz="112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等价于三步：</a:t>
            </a:r>
            <a:endParaRPr lang="zh-CN" sz="1125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65" name="文本框 764" descr="{&quot;isTemplate&quot;:true,&quot;type&quot;:&quot;text&quot;}"/>
          <p:cNvSpPr txBox="1"/>
          <p:nvPr/>
        </p:nvSpPr>
        <p:spPr>
          <a:xfrm>
            <a:off x="4543425" y="2409825"/>
            <a:ext cx="3105150" cy="2762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en-US" sz="1050">
                <a:solidFill>
                  <a:srgbClr val="E2E8F0"/>
                </a:solidFill>
                <a:latin typeface="JetBrains Mono"/>
                <a:ea typeface="JetBrains Mono"/>
              </a:rPr>
              <a:t>1</a:t>
            </a:r>
            <a:r>
              <a:rPr lang="zh-CN" sz="1050">
                <a:solidFill>
                  <a:srgbClr val="E2E8F0"/>
                </a:solidFill>
                <a:latin typeface="JetBrains Mono"/>
                <a:ea typeface="JetBrains Mono"/>
              </a:rPr>
              <a:t>　</a:t>
            </a:r>
            <a:r>
              <a:rPr lang="en-US" sz="1050">
                <a:solidFill>
                  <a:srgbClr val="E2E8F0"/>
                </a:solidFill>
                <a:latin typeface="JetBrains Mono"/>
                <a:ea typeface="JetBrains Mono"/>
              </a:rPr>
              <a:t>cjpm clean --target-dir=...</a:t>
            </a:r>
            <a:endParaRPr lang="en-US" sz="1050">
              <a:solidFill>
                <a:srgbClr val="E2E8F0"/>
              </a:solidFill>
              <a:latin typeface="JetBrains Mono"/>
              <a:ea typeface="JetBrains Mono"/>
            </a:endParaRPr>
          </a:p>
        </p:txBody>
      </p:sp>
      <p:sp>
        <p:nvSpPr>
          <p:cNvPr id="766" name="文本框 765" descr="{&quot;isTemplate&quot;:true,&quot;type&quot;:&quot;text&quot;}"/>
          <p:cNvSpPr txBox="1"/>
          <p:nvPr/>
        </p:nvSpPr>
        <p:spPr>
          <a:xfrm>
            <a:off x="4543425" y="2762250"/>
            <a:ext cx="3105150" cy="2762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en-US" sz="1050">
                <a:solidFill>
                  <a:srgbClr val="E2E8F0"/>
                </a:solidFill>
                <a:latin typeface="JetBrains Mono"/>
                <a:ea typeface="JetBrains Mono"/>
              </a:rPr>
              <a:t>2</a:t>
            </a:r>
            <a:r>
              <a:rPr lang="zh-CN" sz="1050">
                <a:solidFill>
                  <a:srgbClr val="E2E8F0"/>
                </a:solidFill>
                <a:latin typeface="JetBrains Mono"/>
                <a:ea typeface="JetBrains Mono"/>
              </a:rPr>
              <a:t>　删除</a:t>
            </a:r>
            <a:r>
              <a:rPr lang="en-US" sz="1050">
                <a:solidFill>
                  <a:srgbClr val="E2E8F0"/>
                </a:solidFill>
                <a:latin typeface="JetBrains Mono"/>
                <a:ea typeface="JetBrains Mono"/>
              </a:rPr>
              <a:t> cjpm.lock</a:t>
            </a:r>
            <a:endParaRPr lang="en-US" sz="1050">
              <a:solidFill>
                <a:srgbClr val="E2E8F0"/>
              </a:solidFill>
              <a:latin typeface="JetBrains Mono"/>
              <a:ea typeface="JetBrains Mono"/>
            </a:endParaRPr>
          </a:p>
        </p:txBody>
      </p:sp>
      <p:sp>
        <p:nvSpPr>
          <p:cNvPr id="767" name="文本框 766" descr="{&quot;isTemplate&quot;:true,&quot;type&quot;:&quot;text&quot;}"/>
          <p:cNvSpPr txBox="1"/>
          <p:nvPr/>
        </p:nvSpPr>
        <p:spPr>
          <a:xfrm>
            <a:off x="4543425" y="3114675"/>
            <a:ext cx="3105150" cy="2762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en-US" sz="1050">
                <a:solidFill>
                  <a:srgbClr val="E2E8F0"/>
                </a:solidFill>
                <a:latin typeface="JetBrains Mono"/>
                <a:ea typeface="JetBrains Mono"/>
              </a:rPr>
              <a:t>3</a:t>
            </a:r>
            <a:r>
              <a:rPr lang="zh-CN" sz="1050">
                <a:solidFill>
                  <a:srgbClr val="E2E8F0"/>
                </a:solidFill>
                <a:latin typeface="JetBrains Mono"/>
                <a:ea typeface="JetBrains Mono"/>
              </a:rPr>
              <a:t>　</a:t>
            </a:r>
            <a:r>
              <a:rPr lang="en-US" sz="1050">
                <a:solidFill>
                  <a:srgbClr val="E2E8F0"/>
                </a:solidFill>
                <a:latin typeface="JetBrains Mono"/>
                <a:ea typeface="JetBrains Mono"/>
              </a:rPr>
              <a:t>cjpm update</a:t>
            </a:r>
            <a:endParaRPr lang="en-US" sz="1050">
              <a:solidFill>
                <a:srgbClr val="E2E8F0"/>
              </a:solidFill>
              <a:latin typeface="JetBrains Mono"/>
              <a:ea typeface="JetBrains Mono"/>
            </a:endParaRPr>
          </a:p>
        </p:txBody>
      </p:sp>
      <p:sp>
        <p:nvSpPr>
          <p:cNvPr id="768" name="圆角矩形 767"/>
          <p:cNvSpPr/>
          <p:nvPr/>
        </p:nvSpPr>
        <p:spPr>
          <a:xfrm>
            <a:off x="4543425" y="3543300"/>
            <a:ext cx="3105150" cy="847725"/>
          </a:xfrm>
          <a:prstGeom prst="roundRect">
            <a:avLst>
              <a:gd name="adj" fmla="val 8989"/>
            </a:avLst>
          </a:prstGeom>
          <a:solidFill>
            <a:srgbClr val="0B1220"/>
          </a:solidFill>
          <a:ln w="12700">
            <a:solidFill>
              <a:srgbClr val="1E293B"/>
            </a:solidFill>
            <a:prstDash val="solid"/>
          </a:ln>
        </p:spPr>
        <p:txBody>
          <a:bodyPr/>
          <a:p/>
        </p:txBody>
      </p:sp>
      <p:sp>
        <p:nvSpPr>
          <p:cNvPr id="769" name="文本框 768" descr="{&quot;isTemplate&quot;:true,&quot;type&quot;:&quot;text&quot;}"/>
          <p:cNvSpPr txBox="1"/>
          <p:nvPr/>
        </p:nvSpPr>
        <p:spPr>
          <a:xfrm>
            <a:off x="4676775" y="3676650"/>
            <a:ext cx="2838450" cy="5810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80000"/>
              </a:lnSpc>
            </a:pPr>
            <a:r>
              <a:rPr lang="en-US" sz="1050">
                <a:solidFill>
                  <a:srgbClr val="22D3EE"/>
                </a:solidFill>
                <a:latin typeface="JetBrains Mono"/>
                <a:ea typeface="JetBrains Mono"/>
              </a:rPr>
              <a:t>fboot cleanUpdate</a:t>
            </a:r>
            <a:endParaRPr lang="en-US" sz="1050">
              <a:solidFill>
                <a:srgbClr val="22D3EE"/>
              </a:solidFill>
              <a:latin typeface="JetBrains Mono"/>
              <a:ea typeface="JetBrains Mono"/>
            </a:endParaRPr>
          </a:p>
          <a:p>
            <a:pPr>
              <a:lnSpc>
                <a:spcPct val="180000"/>
              </a:lnSpc>
            </a:pPr>
            <a:r>
              <a:rPr lang="en-US" sz="1050">
                <a:solidFill>
                  <a:srgbClr val="22D3EE"/>
                </a:solidFill>
                <a:latin typeface="JetBrains Mono"/>
                <a:ea typeface="JetBrains Mono"/>
              </a:rPr>
              <a:t>fboot cleanUpdate ./fdemo</a:t>
            </a:r>
            <a:endParaRPr lang="en-US" sz="1050">
              <a:solidFill>
                <a:srgbClr val="22D3EE"/>
              </a:solidFill>
              <a:latin typeface="JetBrains Mono"/>
              <a:ea typeface="JetBrains Mono"/>
            </a:endParaRPr>
          </a:p>
        </p:txBody>
      </p:sp>
      <p:sp>
        <p:nvSpPr>
          <p:cNvPr id="770" name="文本框 769" descr="{&quot;isTemplate&quot;:true,&quot;type&quot;:&quot;text&quot;}"/>
          <p:cNvSpPr txBox="1"/>
          <p:nvPr/>
        </p:nvSpPr>
        <p:spPr>
          <a:xfrm>
            <a:off x="4543425" y="5476875"/>
            <a:ext cx="3105150" cy="581025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80000"/>
              </a:lnSpc>
            </a:pPr>
            <a:r>
              <a:rPr lang="en-US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fdemo/boot.sh </a:t>
            </a:r>
            <a:r>
              <a:rPr lang="zh-CN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里也封装了它：</a:t>
            </a:r>
            <a:r>
              <a:rPr lang="en-US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./boot.sh cleanUpdate</a:t>
            </a:r>
            <a:endParaRPr lang="en-US" sz="1050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71" name="圆角矩形 770"/>
          <p:cNvSpPr/>
          <p:nvPr/>
        </p:nvSpPr>
        <p:spPr>
          <a:xfrm>
            <a:off x="8029575" y="1143000"/>
            <a:ext cx="3552825" cy="5143500"/>
          </a:xfrm>
          <a:prstGeom prst="roundRect">
            <a:avLst>
              <a:gd name="adj" fmla="val 3217"/>
            </a:avLst>
          </a:prstGeom>
          <a:solidFill>
            <a:srgbClr val="38BDF8">
              <a:alpha val="6000"/>
            </a:srgbClr>
          </a:solidFill>
          <a:ln w="12700">
            <a:solidFill>
              <a:srgbClr val="38BDF8"/>
            </a:solidFill>
            <a:prstDash val="solid"/>
          </a:ln>
        </p:spPr>
        <p:txBody>
          <a:bodyPr/>
          <a:p/>
        </p:txBody>
      </p:sp>
      <p:sp>
        <p:nvSpPr>
          <p:cNvPr id="772" name="文本框 771" descr="{&quot;isTemplate&quot;:true,&quot;type&quot;:&quot;text&quot;}"/>
          <p:cNvSpPr txBox="1"/>
          <p:nvPr/>
        </p:nvSpPr>
        <p:spPr>
          <a:xfrm>
            <a:off x="8258175" y="1371600"/>
            <a:ext cx="3095625" cy="2286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38BDF8"/>
                </a:solidFill>
                <a:latin typeface="微软雅黑" panose="020B0503020204020204" charset="-122"/>
                <a:ea typeface="微软雅黑" panose="020B0503020204020204" charset="-122"/>
              </a:rPr>
              <a:t>什么时候必须用它</a:t>
            </a:r>
            <a:endParaRPr lang="zh-CN" sz="1500" b="1">
              <a:solidFill>
                <a:srgbClr val="38BDF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73" name="文本框 772" descr="{&quot;isTemplate&quot;:true,&quot;type&quot;:&quot;text&quot;}"/>
          <p:cNvSpPr txBox="1"/>
          <p:nvPr/>
        </p:nvSpPr>
        <p:spPr>
          <a:xfrm>
            <a:off x="8258175" y="1790700"/>
            <a:ext cx="3095625" cy="3143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en-US" sz="120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· </a:t>
            </a:r>
            <a:r>
              <a:rPr lang="zh-CN" sz="120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改了</a:t>
            </a:r>
            <a:r>
              <a:rPr lang="en-US" sz="120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 cjpm.toml </a:t>
            </a:r>
            <a:r>
              <a:rPr lang="zh-CN" sz="120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的依赖</a:t>
            </a:r>
            <a:endParaRPr lang="zh-CN" sz="1200">
              <a:solidFill>
                <a:srgbClr val="E2E8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74" name="文本框 773" descr="{&quot;isTemplate&quot;:true,&quot;type&quot;:&quot;text&quot;}"/>
          <p:cNvSpPr txBox="1"/>
          <p:nvPr/>
        </p:nvSpPr>
        <p:spPr>
          <a:xfrm>
            <a:off x="8258175" y="2238375"/>
            <a:ext cx="3095625" cy="3143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en-US" sz="120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· </a:t>
            </a:r>
            <a:r>
              <a:rPr lang="zh-CN" sz="120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切换了</a:t>
            </a:r>
            <a:r>
              <a:rPr lang="en-US" sz="120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 SDK / stdx </a:t>
            </a:r>
            <a:r>
              <a:rPr lang="zh-CN" sz="120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版本</a:t>
            </a:r>
            <a:endParaRPr lang="zh-CN" sz="1200">
              <a:solidFill>
                <a:srgbClr val="E2E8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75" name="文本框 774" descr="{&quot;isTemplate&quot;:true,&quot;type&quot;:&quot;text&quot;}"/>
          <p:cNvSpPr txBox="1"/>
          <p:nvPr/>
        </p:nvSpPr>
        <p:spPr>
          <a:xfrm>
            <a:off x="8258175" y="2724150"/>
            <a:ext cx="3095625" cy="619125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80000"/>
              </a:lnSpc>
            </a:pPr>
            <a:r>
              <a:rPr lang="zh-CN" sz="112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旧产物可能与新依赖二进制不兼容，症状是各种诡异错误。</a:t>
            </a:r>
            <a:endParaRPr lang="zh-CN" sz="1125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76" name="文本框 775" descr="{&quot;isTemplate&quot;:true,&quot;type&quot;:&quot;text&quot;}"/>
          <p:cNvSpPr txBox="1"/>
          <p:nvPr/>
        </p:nvSpPr>
        <p:spPr>
          <a:xfrm>
            <a:off x="8258175" y="5724525"/>
            <a:ext cx="3095625" cy="3333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80000"/>
              </a:lnSpc>
            </a:pPr>
            <a:r>
              <a:rPr lang="zh-CN" sz="1200" b="1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不要浪费时间</a:t>
            </a:r>
            <a:r>
              <a:rPr lang="en-US" sz="1200" b="1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 debug</a:t>
            </a:r>
            <a:r>
              <a:rPr lang="zh-CN" sz="1200" b="1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，直接</a:t>
            </a:r>
            <a:r>
              <a:rPr lang="en-US" sz="1200" b="1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 cleanUpdate</a:t>
            </a:r>
            <a:r>
              <a:rPr lang="zh-CN" sz="1200" b="1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。</a:t>
            </a:r>
            <a:endParaRPr lang="zh-CN" sz="1200" b="1">
              <a:solidFill>
                <a:srgbClr val="F59E0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77" name="任意多边形 776"/>
          <p:cNvSpPr/>
          <p:nvPr/>
        </p:nvSpPr>
        <p:spPr>
          <a:xfrm>
            <a:off x="609600" y="6286500"/>
            <a:ext cx="10972800" cy="381000"/>
          </a:xfrm>
          <a:custGeom>
            <a:avLst/>
            <a:gdLst/>
            <a:ahLst/>
            <a:cxnLst/>
            <a:pathLst>
              <a:path w="1152" h="40">
                <a:moveTo>
                  <a:pt x="0" y="0"/>
                </a:moveTo>
                <a:lnTo>
                  <a:pt x="1152" y="0"/>
                </a:lnTo>
                <a:lnTo>
                  <a:pt x="1152" y="1"/>
                </a:lnTo>
                <a:lnTo>
                  <a:pt x="0" y="1"/>
                </a:lnTo>
                <a:close/>
              </a:path>
            </a:pathLst>
          </a:custGeom>
          <a:solidFill>
            <a:srgbClr val="1E293B"/>
          </a:solidFill>
        </p:spPr>
        <p:txBody>
          <a:bodyPr/>
          <a:p/>
        </p:txBody>
      </p:sp>
      <p:sp>
        <p:nvSpPr>
          <p:cNvPr id="778" name="文本框 777" descr="{&quot;isTemplate&quot;:true,&quot;type&quot;:&quot;text&quot;}"/>
          <p:cNvSpPr txBox="1"/>
          <p:nvPr/>
        </p:nvSpPr>
        <p:spPr>
          <a:xfrm>
            <a:off x="609600" y="6410325"/>
            <a:ext cx="2219325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fountain · 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一站式服务器应用开发工具库</a:t>
            </a:r>
            <a:endParaRPr lang="zh-CN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79" name="文本框 778" descr="{&quot;isTemplate&quot;:true,&quot;type&quot;:&quot;text&quot;}"/>
          <p:cNvSpPr txBox="1"/>
          <p:nvPr/>
        </p:nvSpPr>
        <p:spPr>
          <a:xfrm>
            <a:off x="11087100" y="6410325"/>
            <a:ext cx="495300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19 / 116</a:t>
            </a:r>
            <a:endParaRPr lang="en-US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80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0" name="矩形 809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220"/>
          </a:solidFill>
        </p:spPr>
        <p:txBody>
          <a:bodyPr/>
          <a:p/>
        </p:txBody>
      </p:sp>
      <p:sp>
        <p:nvSpPr>
          <p:cNvPr id="811" name="矩形 810"/>
          <p:cNvSpPr/>
          <p:nvPr/>
        </p:nvSpPr>
        <p:spPr>
          <a:xfrm>
            <a:off x="609600" y="476250"/>
            <a:ext cx="38100" cy="381000"/>
          </a:xfrm>
          <a:prstGeom prst="rect">
            <a:avLst/>
          </a:prstGeom>
          <a:solidFill>
            <a:srgbClr val="38BDF8"/>
          </a:solidFill>
        </p:spPr>
        <p:txBody>
          <a:bodyPr/>
          <a:p/>
        </p:txBody>
      </p:sp>
      <p:sp>
        <p:nvSpPr>
          <p:cNvPr id="812" name="文本框 811" descr="{&quot;isTemplate&quot;:true,&quot;type&quot;:&quot;text&quot;}"/>
          <p:cNvSpPr txBox="1"/>
          <p:nvPr/>
        </p:nvSpPr>
        <p:spPr>
          <a:xfrm>
            <a:off x="819150" y="304800"/>
            <a:ext cx="8153400" cy="2095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第</a:t>
            </a: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 3 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章</a:t>
            </a: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 · fboot 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命令行</a:t>
            </a: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 · 3.7</a:t>
            </a:r>
            <a:endParaRPr lang="en-US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13" name="文本框 812" descr="{&quot;isTemplate&quot;:true,&quot;type&quot;:&quot;text&quot;}"/>
          <p:cNvSpPr txBox="1"/>
          <p:nvPr/>
        </p:nvSpPr>
        <p:spPr>
          <a:xfrm>
            <a:off x="819150" y="514350"/>
            <a:ext cx="8153400" cy="5143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en-US" sz="2550" b="1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fboot run</a:t>
            </a:r>
            <a:r>
              <a:rPr lang="zh-CN" sz="2550" b="1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：启动应用</a:t>
            </a:r>
            <a:endParaRPr lang="zh-CN" sz="2550" b="1">
              <a:solidFill>
                <a:srgbClr val="E2E8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14" name="文本框 813" descr="{&quot;isTemplate&quot;:true,&quot;type&quot;:&quot;text&quot;}"/>
          <p:cNvSpPr txBox="1"/>
          <p:nvPr/>
        </p:nvSpPr>
        <p:spPr>
          <a:xfrm>
            <a:off x="9144000" y="590550"/>
            <a:ext cx="2438400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fboot run [PATH] --dylibPattern=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【正则】</a:t>
            </a:r>
            <a:endParaRPr lang="zh-CN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15" name="圆角矩形 814"/>
          <p:cNvSpPr/>
          <p:nvPr/>
        </p:nvSpPr>
        <p:spPr>
          <a:xfrm>
            <a:off x="609600" y="1143000"/>
            <a:ext cx="7162800" cy="504825"/>
          </a:xfrm>
          <a:prstGeom prst="roundRect">
            <a:avLst>
              <a:gd name="adj" fmla="val 18868"/>
            </a:avLst>
          </a:prstGeom>
          <a:solidFill>
            <a:srgbClr val="111C2E"/>
          </a:solidFill>
        </p:spPr>
        <p:txBody>
          <a:bodyPr/>
          <a:p/>
        </p:txBody>
      </p:sp>
      <p:sp>
        <p:nvSpPr>
          <p:cNvPr id="816" name="文本框 815" descr="{&quot;isTemplate&quot;:true,&quot;type&quot;:&quot;text&quot;}"/>
          <p:cNvSpPr txBox="1"/>
          <p:nvPr/>
        </p:nvSpPr>
        <p:spPr>
          <a:xfrm>
            <a:off x="723900" y="1257300"/>
            <a:ext cx="323850" cy="2762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b="1">
                <a:solidFill>
                  <a:srgbClr val="38BDF8"/>
                </a:solidFill>
                <a:latin typeface="JetBrains Mono"/>
                <a:ea typeface="JetBrains Mono"/>
              </a:rPr>
              <a:t>1</a:t>
            </a:r>
            <a:endParaRPr lang="en-US" sz="1500" b="1">
              <a:solidFill>
                <a:srgbClr val="38BDF8"/>
              </a:solidFill>
              <a:latin typeface="JetBrains Mono"/>
              <a:ea typeface="JetBrains Mono"/>
            </a:endParaRPr>
          </a:p>
        </p:txBody>
      </p:sp>
      <p:sp>
        <p:nvSpPr>
          <p:cNvPr id="817" name="文本框 816" descr="{&quot;isTemplate&quot;:true,&quot;type&quot;:&quot;text&quot;}"/>
          <p:cNvSpPr txBox="1"/>
          <p:nvPr/>
        </p:nvSpPr>
        <p:spPr>
          <a:xfrm>
            <a:off x="1181100" y="1257300"/>
            <a:ext cx="6477000" cy="2762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12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确定目标路径：第一个不以</a:t>
            </a:r>
            <a:r>
              <a:rPr lang="en-US" sz="112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- </a:t>
            </a:r>
            <a:r>
              <a:rPr lang="zh-CN" sz="112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开头的参数；缺省当前目录，不存在就创建</a:t>
            </a:r>
            <a:endParaRPr lang="zh-CN" sz="1125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18" name="圆角矩形 817"/>
          <p:cNvSpPr/>
          <p:nvPr/>
        </p:nvSpPr>
        <p:spPr>
          <a:xfrm>
            <a:off x="609600" y="1724025"/>
            <a:ext cx="7162800" cy="781050"/>
          </a:xfrm>
          <a:prstGeom prst="roundRect">
            <a:avLst>
              <a:gd name="adj" fmla="val 12195"/>
            </a:avLst>
          </a:prstGeom>
          <a:solidFill>
            <a:srgbClr val="111C2E"/>
          </a:solidFill>
        </p:spPr>
        <p:txBody>
          <a:bodyPr/>
          <a:p/>
        </p:txBody>
      </p:sp>
      <p:sp>
        <p:nvSpPr>
          <p:cNvPr id="819" name="文本框 818" descr="{&quot;isTemplate&quot;:true,&quot;type&quot;:&quot;text&quot;}"/>
          <p:cNvSpPr txBox="1"/>
          <p:nvPr/>
        </p:nvSpPr>
        <p:spPr>
          <a:xfrm>
            <a:off x="723900" y="1838325"/>
            <a:ext cx="323850" cy="5524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b="1">
                <a:solidFill>
                  <a:srgbClr val="38BDF8"/>
                </a:solidFill>
                <a:latin typeface="JetBrains Mono"/>
                <a:ea typeface="JetBrains Mono"/>
              </a:rPr>
              <a:t>2</a:t>
            </a:r>
            <a:endParaRPr lang="en-US" sz="1500" b="1">
              <a:solidFill>
                <a:srgbClr val="38BDF8"/>
              </a:solidFill>
              <a:latin typeface="JetBrains Mono"/>
              <a:ea typeface="JetBrains Mono"/>
            </a:endParaRPr>
          </a:p>
        </p:txBody>
      </p:sp>
      <p:sp>
        <p:nvSpPr>
          <p:cNvPr id="820" name="文本框 819" descr="{&quot;isTemplate&quot;:true,&quot;type&quot;:&quot;text&quot;}"/>
          <p:cNvSpPr txBox="1"/>
          <p:nvPr/>
        </p:nvSpPr>
        <p:spPr>
          <a:xfrm>
            <a:off x="1181100" y="1838325"/>
            <a:ext cx="6477000" cy="552450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12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按平台选扩展名与搜索路径变量：</a:t>
            </a:r>
            <a:r>
              <a:rPr lang="en-US" sz="112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Windows .dll / Path</a:t>
            </a:r>
            <a:r>
              <a:rPr lang="zh-CN" sz="112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；</a:t>
            </a:r>
            <a:r>
              <a:rPr lang="en-US" sz="112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macOS .dylib / DYLD_...</a:t>
            </a:r>
            <a:r>
              <a:rPr lang="zh-CN" sz="112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；其它</a:t>
            </a:r>
            <a:r>
              <a:rPr lang="en-US" sz="112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.so / LD_LIBRARY_PATH</a:t>
            </a:r>
            <a:endParaRPr lang="en-US" sz="1125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21" name="圆角矩形 820"/>
          <p:cNvSpPr/>
          <p:nvPr/>
        </p:nvSpPr>
        <p:spPr>
          <a:xfrm>
            <a:off x="609600" y="2581275"/>
            <a:ext cx="7162800" cy="504825"/>
          </a:xfrm>
          <a:prstGeom prst="roundRect">
            <a:avLst>
              <a:gd name="adj" fmla="val 18868"/>
            </a:avLst>
          </a:prstGeom>
          <a:solidFill>
            <a:srgbClr val="111C2E"/>
          </a:solidFill>
        </p:spPr>
        <p:txBody>
          <a:bodyPr/>
          <a:p/>
        </p:txBody>
      </p:sp>
      <p:sp>
        <p:nvSpPr>
          <p:cNvPr id="822" name="文本框 821" descr="{&quot;isTemplate&quot;:true,&quot;type&quot;:&quot;text&quot;}"/>
          <p:cNvSpPr txBox="1"/>
          <p:nvPr/>
        </p:nvSpPr>
        <p:spPr>
          <a:xfrm>
            <a:off x="723900" y="2695575"/>
            <a:ext cx="323850" cy="2762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b="1">
                <a:solidFill>
                  <a:srgbClr val="38BDF8"/>
                </a:solidFill>
                <a:latin typeface="JetBrains Mono"/>
                <a:ea typeface="JetBrains Mono"/>
              </a:rPr>
              <a:t>3</a:t>
            </a:r>
            <a:endParaRPr lang="en-US" sz="1500" b="1">
              <a:solidFill>
                <a:srgbClr val="38BDF8"/>
              </a:solidFill>
              <a:latin typeface="JetBrains Mono"/>
              <a:ea typeface="JetBrains Mono"/>
            </a:endParaRPr>
          </a:p>
        </p:txBody>
      </p:sp>
      <p:sp>
        <p:nvSpPr>
          <p:cNvPr id="823" name="文本框 822" descr="{&quot;isTemplate&quot;:true,&quot;type&quot;:&quot;text&quot;}"/>
          <p:cNvSpPr txBox="1"/>
          <p:nvPr/>
        </p:nvSpPr>
        <p:spPr>
          <a:xfrm>
            <a:off x="1181100" y="2695575"/>
            <a:ext cx="6477000" cy="2762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12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递归扫描目录，加载文件名匹配</a:t>
            </a:r>
            <a:r>
              <a:rPr lang="en-US" sz="112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^lib.*((${dylibPattern})|.+_stAtIc__).*$ </a:t>
            </a:r>
            <a:r>
              <a:rPr lang="zh-CN" sz="112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的库</a:t>
            </a:r>
            <a:endParaRPr lang="zh-CN" sz="1125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24" name="圆角矩形 823"/>
          <p:cNvSpPr/>
          <p:nvPr/>
        </p:nvSpPr>
        <p:spPr>
          <a:xfrm>
            <a:off x="609600" y="3162300"/>
            <a:ext cx="7162800" cy="504825"/>
          </a:xfrm>
          <a:prstGeom prst="roundRect">
            <a:avLst>
              <a:gd name="adj" fmla="val 18868"/>
            </a:avLst>
          </a:prstGeom>
          <a:solidFill>
            <a:srgbClr val="111C2E"/>
          </a:solidFill>
        </p:spPr>
        <p:txBody>
          <a:bodyPr/>
          <a:p/>
        </p:txBody>
      </p:sp>
      <p:sp>
        <p:nvSpPr>
          <p:cNvPr id="825" name="文本框 824" descr="{&quot;isTemplate&quot;:true,&quot;type&quot;:&quot;text&quot;}"/>
          <p:cNvSpPr txBox="1"/>
          <p:nvPr/>
        </p:nvSpPr>
        <p:spPr>
          <a:xfrm>
            <a:off x="723900" y="3276600"/>
            <a:ext cx="323850" cy="2762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b="1">
                <a:solidFill>
                  <a:srgbClr val="38BDF8"/>
                </a:solidFill>
                <a:latin typeface="JetBrains Mono"/>
                <a:ea typeface="JetBrains Mono"/>
              </a:rPr>
              <a:t>4</a:t>
            </a:r>
            <a:endParaRPr lang="en-US" sz="1500" b="1">
              <a:solidFill>
                <a:srgbClr val="38BDF8"/>
              </a:solidFill>
              <a:latin typeface="JetBrains Mono"/>
              <a:ea typeface="JetBrains Mono"/>
            </a:endParaRPr>
          </a:p>
        </p:txBody>
      </p:sp>
      <p:sp>
        <p:nvSpPr>
          <p:cNvPr id="826" name="文本框 825" descr="{&quot;isTemplate&quot;:true,&quot;type&quot;:&quot;text&quot;}"/>
          <p:cNvSpPr txBox="1"/>
          <p:nvPr/>
        </p:nvSpPr>
        <p:spPr>
          <a:xfrm>
            <a:off x="1181100" y="3276600"/>
            <a:ext cx="6477000" cy="2762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125">
                <a:solidFill>
                  <a:srgbClr val="38BDF8"/>
                </a:solidFill>
                <a:latin typeface="微软雅黑" panose="020B0503020204020204" charset="-122"/>
                <a:ea typeface="微软雅黑" panose="020B0503020204020204" charset="-122"/>
              </a:rPr>
              <a:t>加载即执行宏生成的顶级匿名闭包：</a:t>
            </a:r>
            <a:r>
              <a:rPr lang="en-US" sz="1125">
                <a:solidFill>
                  <a:srgbClr val="38BDF8"/>
                </a:solidFill>
                <a:latin typeface="微软雅黑" panose="020B0503020204020204" charset="-122"/>
                <a:ea typeface="微软雅黑" panose="020B0503020204020204" charset="-122"/>
              </a:rPr>
              <a:t>@Bean </a:t>
            </a:r>
            <a:r>
              <a:rPr lang="zh-CN" sz="1125">
                <a:solidFill>
                  <a:srgbClr val="38BDF8"/>
                </a:solidFill>
                <a:latin typeface="微软雅黑" panose="020B0503020204020204" charset="-122"/>
                <a:ea typeface="微软雅黑" panose="020B0503020204020204" charset="-122"/>
              </a:rPr>
              <a:t>进</a:t>
            </a:r>
            <a:r>
              <a:rPr lang="en-US" sz="1125">
                <a:solidFill>
                  <a:srgbClr val="38BDF8"/>
                </a:solidFill>
                <a:latin typeface="微软雅黑" panose="020B0503020204020204" charset="-122"/>
                <a:ea typeface="微软雅黑" panose="020B0503020204020204" charset="-122"/>
              </a:rPr>
              <a:t> IOC</a:t>
            </a:r>
            <a:r>
              <a:rPr lang="zh-CN" sz="1125">
                <a:solidFill>
                  <a:srgbClr val="38BDF8"/>
                </a:solidFill>
                <a:latin typeface="微软雅黑" panose="020B0503020204020204" charset="-122"/>
                <a:ea typeface="微软雅黑" panose="020B0503020204020204" charset="-122"/>
              </a:rPr>
              <a:t>、</a:t>
            </a:r>
            <a:r>
              <a:rPr lang="en-US" sz="1125">
                <a:solidFill>
                  <a:srgbClr val="38BDF8"/>
                </a:solidFill>
                <a:latin typeface="微软雅黑" panose="020B0503020204020204" charset="-122"/>
                <a:ea typeface="微软雅黑" panose="020B0503020204020204" charset="-122"/>
              </a:rPr>
              <a:t>Initializer </a:t>
            </a:r>
            <a:r>
              <a:rPr lang="zh-CN" sz="1125">
                <a:solidFill>
                  <a:srgbClr val="38BDF8"/>
                </a:solidFill>
                <a:latin typeface="微软雅黑" panose="020B0503020204020204" charset="-122"/>
                <a:ea typeface="微软雅黑" panose="020B0503020204020204" charset="-122"/>
              </a:rPr>
              <a:t>进集合、</a:t>
            </a:r>
            <a:r>
              <a:rPr lang="en-US" sz="1125">
                <a:solidFill>
                  <a:srgbClr val="38BDF8"/>
                </a:solidFill>
                <a:latin typeface="微软雅黑" panose="020B0503020204020204" charset="-122"/>
                <a:ea typeface="微软雅黑" panose="020B0503020204020204" charset="-122"/>
              </a:rPr>
              <a:t>controller </a:t>
            </a:r>
            <a:r>
              <a:rPr lang="zh-CN" sz="1125">
                <a:solidFill>
                  <a:srgbClr val="38BDF8"/>
                </a:solidFill>
                <a:latin typeface="微软雅黑" panose="020B0503020204020204" charset="-122"/>
                <a:ea typeface="微软雅黑" panose="020B0503020204020204" charset="-122"/>
              </a:rPr>
              <a:t>进</a:t>
            </a:r>
            <a:r>
              <a:rPr lang="en-US" sz="1125">
                <a:solidFill>
                  <a:srgbClr val="38BDF8"/>
                </a:solidFill>
                <a:latin typeface="微软雅黑" panose="020B0503020204020204" charset="-122"/>
                <a:ea typeface="微软雅黑" panose="020B0503020204020204" charset="-122"/>
              </a:rPr>
              <a:t> MVC</a:t>
            </a:r>
            <a:endParaRPr lang="en-US" sz="1125">
              <a:solidFill>
                <a:srgbClr val="38BDF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27" name="圆角矩形 826"/>
          <p:cNvSpPr/>
          <p:nvPr/>
        </p:nvSpPr>
        <p:spPr>
          <a:xfrm>
            <a:off x="609600" y="3743325"/>
            <a:ext cx="7162800" cy="504825"/>
          </a:xfrm>
          <a:prstGeom prst="roundRect">
            <a:avLst>
              <a:gd name="adj" fmla="val 18868"/>
            </a:avLst>
          </a:prstGeom>
          <a:solidFill>
            <a:srgbClr val="111C2E"/>
          </a:solidFill>
        </p:spPr>
        <p:txBody>
          <a:bodyPr/>
          <a:p/>
        </p:txBody>
      </p:sp>
      <p:sp>
        <p:nvSpPr>
          <p:cNvPr id="828" name="文本框 827" descr="{&quot;isTemplate&quot;:true,&quot;type&quot;:&quot;text&quot;}"/>
          <p:cNvSpPr txBox="1"/>
          <p:nvPr/>
        </p:nvSpPr>
        <p:spPr>
          <a:xfrm>
            <a:off x="723900" y="3857625"/>
            <a:ext cx="323850" cy="2762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b="1">
                <a:solidFill>
                  <a:srgbClr val="38BDF8"/>
                </a:solidFill>
                <a:latin typeface="JetBrains Mono"/>
                <a:ea typeface="JetBrains Mono"/>
              </a:rPr>
              <a:t>5</a:t>
            </a:r>
            <a:endParaRPr lang="en-US" sz="1500" b="1">
              <a:solidFill>
                <a:srgbClr val="38BDF8"/>
              </a:solidFill>
              <a:latin typeface="JetBrains Mono"/>
              <a:ea typeface="JetBrains Mono"/>
            </a:endParaRPr>
          </a:p>
        </p:txBody>
      </p:sp>
      <p:sp>
        <p:nvSpPr>
          <p:cNvPr id="829" name="文本框 828" descr="{&quot;isTemplate&quot;:true,&quot;type&quot;:&quot;text&quot;}"/>
          <p:cNvSpPr txBox="1"/>
          <p:nvPr/>
        </p:nvSpPr>
        <p:spPr>
          <a:xfrm>
            <a:off x="1181100" y="3857625"/>
            <a:ext cx="6477000" cy="2762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12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按</a:t>
            </a:r>
            <a:r>
              <a:rPr lang="en-US" sz="112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dependencies </a:t>
            </a:r>
            <a:r>
              <a:rPr lang="zh-CN" sz="112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拓扑排序后依次</a:t>
            </a:r>
            <a:r>
              <a:rPr lang="en-US" sz="112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initialize()</a:t>
            </a:r>
            <a:r>
              <a:rPr lang="zh-CN" sz="112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，收集所有</a:t>
            </a:r>
            <a:r>
              <a:rPr lang="en-US" sz="112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start()</a:t>
            </a:r>
            <a:endParaRPr lang="en-US" sz="1125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30" name="圆角矩形 829"/>
          <p:cNvSpPr/>
          <p:nvPr/>
        </p:nvSpPr>
        <p:spPr>
          <a:xfrm>
            <a:off x="609600" y="4324350"/>
            <a:ext cx="7162800" cy="504825"/>
          </a:xfrm>
          <a:prstGeom prst="roundRect">
            <a:avLst>
              <a:gd name="adj" fmla="val 18868"/>
            </a:avLst>
          </a:prstGeom>
          <a:solidFill>
            <a:srgbClr val="111C2E"/>
          </a:solidFill>
        </p:spPr>
        <p:txBody>
          <a:bodyPr/>
          <a:p/>
        </p:txBody>
      </p:sp>
      <p:sp>
        <p:nvSpPr>
          <p:cNvPr id="831" name="文本框 830" descr="{&quot;isTemplate&quot;:true,&quot;type&quot;:&quot;text&quot;}"/>
          <p:cNvSpPr txBox="1"/>
          <p:nvPr/>
        </p:nvSpPr>
        <p:spPr>
          <a:xfrm>
            <a:off x="723900" y="4438650"/>
            <a:ext cx="323850" cy="2762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b="1">
                <a:solidFill>
                  <a:srgbClr val="38BDF8"/>
                </a:solidFill>
                <a:latin typeface="JetBrains Mono"/>
                <a:ea typeface="JetBrains Mono"/>
              </a:rPr>
              <a:t>6</a:t>
            </a:r>
            <a:endParaRPr lang="en-US" sz="1500" b="1">
              <a:solidFill>
                <a:srgbClr val="38BDF8"/>
              </a:solidFill>
              <a:latin typeface="JetBrains Mono"/>
              <a:ea typeface="JetBrains Mono"/>
            </a:endParaRPr>
          </a:p>
        </p:txBody>
      </p:sp>
      <p:sp>
        <p:nvSpPr>
          <p:cNvPr id="832" name="文本框 831" descr="{&quot;isTemplate&quot;:true,&quot;type&quot;:&quot;text&quot;}"/>
          <p:cNvSpPr txBox="1"/>
          <p:nvPr/>
        </p:nvSpPr>
        <p:spPr>
          <a:xfrm>
            <a:off x="1181100" y="4438650"/>
            <a:ext cx="6477000" cy="2762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12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每个</a:t>
            </a:r>
            <a:r>
              <a:rPr lang="en-US" sz="112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start() </a:t>
            </a:r>
            <a:r>
              <a:rPr lang="zh-CN" sz="112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在新线程执行；</a:t>
            </a:r>
            <a:r>
              <a:rPr lang="en-US" sz="112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MVC </a:t>
            </a:r>
            <a:r>
              <a:rPr lang="zh-CN" sz="112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的</a:t>
            </a:r>
            <a:r>
              <a:rPr lang="en-US" sz="112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start() </a:t>
            </a:r>
            <a:r>
              <a:rPr lang="zh-CN" sz="112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启动</a:t>
            </a:r>
            <a:r>
              <a:rPr lang="en-US" sz="112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HTTP </a:t>
            </a:r>
            <a:r>
              <a:rPr lang="zh-CN" sz="112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服务并阻塞</a:t>
            </a:r>
            <a:endParaRPr lang="zh-CN" sz="1125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33" name="圆角矩形 832"/>
          <p:cNvSpPr/>
          <p:nvPr/>
        </p:nvSpPr>
        <p:spPr>
          <a:xfrm>
            <a:off x="609600" y="4905375"/>
            <a:ext cx="7162800" cy="504825"/>
          </a:xfrm>
          <a:prstGeom prst="roundRect">
            <a:avLst>
              <a:gd name="adj" fmla="val 18868"/>
            </a:avLst>
          </a:prstGeom>
          <a:solidFill>
            <a:srgbClr val="111C2E"/>
          </a:solidFill>
        </p:spPr>
        <p:txBody>
          <a:bodyPr/>
          <a:p/>
        </p:txBody>
      </p:sp>
      <p:sp>
        <p:nvSpPr>
          <p:cNvPr id="834" name="文本框 833" descr="{&quot;isTemplate&quot;:true,&quot;type&quot;:&quot;text&quot;}"/>
          <p:cNvSpPr txBox="1"/>
          <p:nvPr/>
        </p:nvSpPr>
        <p:spPr>
          <a:xfrm>
            <a:off x="723900" y="5019675"/>
            <a:ext cx="323850" cy="2762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b="1">
                <a:solidFill>
                  <a:srgbClr val="38BDF8"/>
                </a:solidFill>
                <a:latin typeface="JetBrains Mono"/>
                <a:ea typeface="JetBrains Mono"/>
              </a:rPr>
              <a:t>7</a:t>
            </a:r>
            <a:endParaRPr lang="en-US" sz="1500" b="1">
              <a:solidFill>
                <a:srgbClr val="38BDF8"/>
              </a:solidFill>
              <a:latin typeface="JetBrains Mono"/>
              <a:ea typeface="JetBrains Mono"/>
            </a:endParaRPr>
          </a:p>
        </p:txBody>
      </p:sp>
      <p:sp>
        <p:nvSpPr>
          <p:cNvPr id="835" name="文本框 834" descr="{&quot;isTemplate&quot;:true,&quot;type&quot;:&quot;text&quot;}"/>
          <p:cNvSpPr txBox="1"/>
          <p:nvPr/>
        </p:nvSpPr>
        <p:spPr>
          <a:xfrm>
            <a:off x="1181100" y="5019675"/>
            <a:ext cx="6477000" cy="2762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12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主线程永久阻塞：</a:t>
            </a:r>
            <a:r>
              <a:rPr lang="en-US" sz="112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while(true){ sleep(Duration.Max) }</a:t>
            </a:r>
            <a:endParaRPr lang="en-US" sz="1125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36" name="圆角矩形 835"/>
          <p:cNvSpPr/>
          <p:nvPr/>
        </p:nvSpPr>
        <p:spPr>
          <a:xfrm>
            <a:off x="609600" y="5486400"/>
            <a:ext cx="7162800" cy="542925"/>
          </a:xfrm>
          <a:prstGeom prst="roundRect">
            <a:avLst>
              <a:gd name="adj" fmla="val 17544"/>
            </a:avLst>
          </a:prstGeom>
          <a:solidFill>
            <a:srgbClr val="F59E0B">
              <a:alpha val="7000"/>
            </a:srgbClr>
          </a:solidFill>
          <a:ln w="12700">
            <a:solidFill>
              <a:srgbClr val="F59E0B"/>
            </a:solidFill>
            <a:prstDash val="solid"/>
          </a:ln>
        </p:spPr>
        <p:txBody>
          <a:bodyPr/>
          <a:p/>
        </p:txBody>
      </p:sp>
      <p:sp>
        <p:nvSpPr>
          <p:cNvPr id="837" name="文本框 836" descr="{&quot;isTemplate&quot;:true,&quot;type&quot;:&quot;text&quot;}"/>
          <p:cNvSpPr txBox="1"/>
          <p:nvPr/>
        </p:nvSpPr>
        <p:spPr>
          <a:xfrm>
            <a:off x="742950" y="5619750"/>
            <a:ext cx="323850" cy="2762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b="1">
                <a:solidFill>
                  <a:srgbClr val="F59E0B"/>
                </a:solidFill>
                <a:latin typeface="JetBrains Mono"/>
                <a:ea typeface="JetBrains Mono"/>
              </a:rPr>
              <a:t>8</a:t>
            </a:r>
            <a:endParaRPr lang="en-US" sz="1500" b="1">
              <a:solidFill>
                <a:srgbClr val="F59E0B"/>
              </a:solidFill>
              <a:latin typeface="JetBrains Mono"/>
              <a:ea typeface="JetBrains Mono"/>
            </a:endParaRPr>
          </a:p>
        </p:txBody>
      </p:sp>
      <p:sp>
        <p:nvSpPr>
          <p:cNvPr id="838" name="文本框 837" descr="{&quot;isTemplate&quot;:true,&quot;type&quot;:&quot;text&quot;}"/>
          <p:cNvSpPr txBox="1"/>
          <p:nvPr/>
        </p:nvSpPr>
        <p:spPr>
          <a:xfrm>
            <a:off x="1200150" y="5619750"/>
            <a:ext cx="6438900" cy="2762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en-US" sz="1125" b="1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fboot run </a:t>
            </a:r>
            <a:r>
              <a:rPr lang="zh-CN" sz="1125" b="1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不会返回</a:t>
            </a:r>
            <a:endParaRPr lang="zh-CN" sz="1125" b="1">
              <a:solidFill>
                <a:srgbClr val="F59E0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39" name="圆角矩形 838"/>
          <p:cNvSpPr/>
          <p:nvPr/>
        </p:nvSpPr>
        <p:spPr>
          <a:xfrm>
            <a:off x="7962900" y="1143000"/>
            <a:ext cx="3619500" cy="3781425"/>
          </a:xfrm>
          <a:prstGeom prst="roundRect">
            <a:avLst>
              <a:gd name="adj" fmla="val 3158"/>
            </a:avLst>
          </a:prstGeom>
          <a:solidFill>
            <a:srgbClr val="111C2E"/>
          </a:solidFill>
          <a:ln w="12700">
            <a:solidFill>
              <a:srgbClr val="1E293B"/>
            </a:solidFill>
            <a:prstDash val="solid"/>
          </a:ln>
        </p:spPr>
        <p:txBody>
          <a:bodyPr/>
          <a:p/>
        </p:txBody>
      </p:sp>
      <p:sp>
        <p:nvSpPr>
          <p:cNvPr id="840" name="文本框 839" descr="{&quot;isTemplate&quot;:true,&quot;type&quot;:&quot;text&quot;}"/>
          <p:cNvSpPr txBox="1"/>
          <p:nvPr/>
        </p:nvSpPr>
        <p:spPr>
          <a:xfrm>
            <a:off x="8153400" y="1333500"/>
            <a:ext cx="3238500" cy="2000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 b="1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--dylibPattern </a:t>
            </a:r>
            <a:r>
              <a:rPr lang="zh-CN" sz="1275" b="1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是最容易踩的坑</a:t>
            </a:r>
            <a:endParaRPr lang="zh-CN" sz="1275" b="1">
              <a:solidFill>
                <a:srgbClr val="E2E8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41" name="文本框 840" descr="{&quot;isTemplate&quot;:true,&quot;type&quot;:&quot;text&quot;}"/>
          <p:cNvSpPr txBox="1"/>
          <p:nvPr/>
        </p:nvSpPr>
        <p:spPr>
          <a:xfrm>
            <a:off x="8153400" y="1628775"/>
            <a:ext cx="3238500" cy="552450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zh-CN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不给自己加正则，</a:t>
            </a:r>
            <a:r>
              <a:rPr lang="en-US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fboot </a:t>
            </a:r>
            <a:r>
              <a:rPr lang="zh-CN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会加载目录下全部</a:t>
            </a:r>
            <a:r>
              <a:rPr lang="en-US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lib* </a:t>
            </a:r>
            <a:r>
              <a:rPr lang="zh-CN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库，可能导致某些动态链接库被重复加载，应用启动失败。</a:t>
            </a:r>
            <a:endParaRPr lang="zh-CN" sz="1050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42" name="文本框 841" descr="{&quot;isTemplate&quot;:true,&quot;type&quot;:&quot;text&quot;}"/>
          <p:cNvSpPr txBox="1"/>
          <p:nvPr/>
        </p:nvSpPr>
        <p:spPr>
          <a:xfrm>
            <a:off x="8153400" y="4181475"/>
            <a:ext cx="3238500" cy="552450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zh-CN" sz="1050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凡是靠</a:t>
            </a:r>
            <a:r>
              <a:rPr lang="en-US" sz="1050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 @Bean </a:t>
            </a:r>
            <a:r>
              <a:rPr lang="zh-CN" sz="1050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生效的东西，所在动态链接库都必须被</a:t>
            </a:r>
            <a:r>
              <a:rPr lang="en-US" sz="1050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 --dylibPattern </a:t>
            </a:r>
            <a:r>
              <a:rPr lang="zh-CN" sz="1050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匹配到。</a:t>
            </a:r>
            <a:endParaRPr lang="zh-CN" sz="1050">
              <a:solidFill>
                <a:srgbClr val="F59E0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43" name="圆角矩形 842"/>
          <p:cNvSpPr/>
          <p:nvPr/>
        </p:nvSpPr>
        <p:spPr>
          <a:xfrm>
            <a:off x="7962900" y="5057775"/>
            <a:ext cx="3619500" cy="1228725"/>
          </a:xfrm>
          <a:prstGeom prst="roundRect">
            <a:avLst>
              <a:gd name="adj" fmla="val 9302"/>
            </a:avLst>
          </a:prstGeom>
          <a:solidFill>
            <a:srgbClr val="111C2E"/>
          </a:solidFill>
          <a:ln w="12700">
            <a:solidFill>
              <a:srgbClr val="1E293B"/>
            </a:solidFill>
            <a:prstDash val="solid"/>
          </a:ln>
        </p:spPr>
        <p:txBody>
          <a:bodyPr/>
          <a:p/>
        </p:txBody>
      </p:sp>
      <p:sp>
        <p:nvSpPr>
          <p:cNvPr id="844" name="文本框 843" descr="{&quot;isTemplate&quot;:true,&quot;type&quot;:&quot;text&quot;}"/>
          <p:cNvSpPr txBox="1"/>
          <p:nvPr/>
        </p:nvSpPr>
        <p:spPr>
          <a:xfrm>
            <a:off x="8153400" y="5248275"/>
            <a:ext cx="3238500" cy="2000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它「卡住」是正常的</a:t>
            </a:r>
            <a:endParaRPr lang="zh-CN" sz="1275" b="1">
              <a:solidFill>
                <a:srgbClr val="E2E8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45" name="文本框 844" descr="{&quot;isTemplate&quot;:true,&quot;type&quot;:&quot;text&quot;}"/>
          <p:cNvSpPr txBox="1"/>
          <p:nvPr/>
        </p:nvSpPr>
        <p:spPr>
          <a:xfrm>
            <a:off x="8153400" y="5543550"/>
            <a:ext cx="3238500" cy="552450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zh-CN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启动完成后进程会永久阻塞在服务循环里，另开终端发请求即可。</a:t>
            </a:r>
            <a:endParaRPr lang="zh-CN" sz="1050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46" name="任意多边形 845"/>
          <p:cNvSpPr/>
          <p:nvPr/>
        </p:nvSpPr>
        <p:spPr>
          <a:xfrm>
            <a:off x="609600" y="6286500"/>
            <a:ext cx="10972800" cy="381000"/>
          </a:xfrm>
          <a:custGeom>
            <a:avLst/>
            <a:gdLst/>
            <a:ahLst/>
            <a:cxnLst/>
            <a:pathLst>
              <a:path w="1152" h="40">
                <a:moveTo>
                  <a:pt x="0" y="0"/>
                </a:moveTo>
                <a:lnTo>
                  <a:pt x="1152" y="0"/>
                </a:lnTo>
                <a:lnTo>
                  <a:pt x="1152" y="1"/>
                </a:lnTo>
                <a:lnTo>
                  <a:pt x="0" y="1"/>
                </a:lnTo>
                <a:close/>
              </a:path>
            </a:pathLst>
          </a:custGeom>
          <a:solidFill>
            <a:srgbClr val="1E293B"/>
          </a:solidFill>
        </p:spPr>
        <p:txBody>
          <a:bodyPr/>
          <a:p/>
        </p:txBody>
      </p:sp>
      <p:sp>
        <p:nvSpPr>
          <p:cNvPr id="847" name="文本框 846" descr="{&quot;isTemplate&quot;:true,&quot;type&quot;:&quot;text&quot;}"/>
          <p:cNvSpPr txBox="1"/>
          <p:nvPr/>
        </p:nvSpPr>
        <p:spPr>
          <a:xfrm>
            <a:off x="609600" y="6410325"/>
            <a:ext cx="2219325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fountain · 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一站式服务器应用开发工具库</a:t>
            </a:r>
            <a:endParaRPr lang="zh-CN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48" name="文本框 847" descr="{&quot;isTemplate&quot;:true,&quot;type&quot;:&quot;text&quot;}"/>
          <p:cNvSpPr txBox="1"/>
          <p:nvPr/>
        </p:nvSpPr>
        <p:spPr>
          <a:xfrm>
            <a:off x="11087100" y="6410325"/>
            <a:ext cx="495300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20 / 116</a:t>
            </a:r>
            <a:endParaRPr lang="en-US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84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0" name="矩形 849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220"/>
          </a:solidFill>
        </p:spPr>
        <p:txBody>
          <a:bodyPr/>
          <a:p/>
        </p:txBody>
      </p:sp>
      <p:sp>
        <p:nvSpPr>
          <p:cNvPr id="851" name="矩形 850"/>
          <p:cNvSpPr/>
          <p:nvPr/>
        </p:nvSpPr>
        <p:spPr>
          <a:xfrm>
            <a:off x="609600" y="476250"/>
            <a:ext cx="38100" cy="381000"/>
          </a:xfrm>
          <a:prstGeom prst="rect">
            <a:avLst/>
          </a:prstGeom>
          <a:solidFill>
            <a:srgbClr val="38BDF8"/>
          </a:solidFill>
        </p:spPr>
        <p:txBody>
          <a:bodyPr/>
          <a:p/>
        </p:txBody>
      </p:sp>
      <p:sp>
        <p:nvSpPr>
          <p:cNvPr id="852" name="文本框 851" descr="{&quot;isTemplate&quot;:true,&quot;type&quot;:&quot;text&quot;}"/>
          <p:cNvSpPr txBox="1"/>
          <p:nvPr/>
        </p:nvSpPr>
        <p:spPr>
          <a:xfrm>
            <a:off x="819150" y="304800"/>
            <a:ext cx="9848850" cy="2095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第</a:t>
            </a: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 3 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章</a:t>
            </a: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 · fboot 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命令行</a:t>
            </a: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 · 3.7 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续</a:t>
            </a:r>
            <a:endParaRPr lang="zh-CN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53" name="文本框 852" descr="{&quot;isTemplate&quot;:true,&quot;type&quot;:&quot;text&quot;}"/>
          <p:cNvSpPr txBox="1"/>
          <p:nvPr/>
        </p:nvSpPr>
        <p:spPr>
          <a:xfrm>
            <a:off x="819150" y="514350"/>
            <a:ext cx="9848850" cy="5143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en-US" sz="2550" b="1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--dylibPattern </a:t>
            </a:r>
            <a:r>
              <a:rPr lang="zh-CN" sz="2550" b="1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怎么读</a:t>
            </a:r>
            <a:endParaRPr lang="zh-CN" sz="2550" b="1">
              <a:solidFill>
                <a:srgbClr val="E2E8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54" name="文本框 853" descr="{&quot;isTemplate&quot;:true,&quot;type&quot;:&quot;text&quot;}"/>
          <p:cNvSpPr txBox="1"/>
          <p:nvPr/>
        </p:nvSpPr>
        <p:spPr>
          <a:xfrm>
            <a:off x="10839450" y="590550"/>
            <a:ext cx="742950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最容易踩的坑</a:t>
            </a:r>
            <a:endParaRPr lang="zh-CN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55" name="文本框 854" descr="{&quot;isTemplate&quot;:true,&quot;type&quot;:&quot;text&quot;}"/>
          <p:cNvSpPr txBox="1"/>
          <p:nvPr/>
        </p:nvSpPr>
        <p:spPr>
          <a:xfrm>
            <a:off x="609600" y="1143000"/>
            <a:ext cx="10972800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64748B"/>
                </a:solidFill>
                <a:latin typeface="JetBrains Mono"/>
                <a:ea typeface="JetBrains Mono"/>
              </a:rPr>
              <a:t>fboot run ./fdemo --dylibPattern='(boot|user\.util\.(auth|cron)|\.(controller|service\.impl))'</a:t>
            </a:r>
            <a:endParaRPr lang="en-US" sz="1050">
              <a:solidFill>
                <a:srgbClr val="64748B"/>
              </a:solidFill>
              <a:latin typeface="JetBrains Mono"/>
              <a:ea typeface="JetBrains Mono"/>
            </a:endParaRPr>
          </a:p>
        </p:txBody>
      </p:sp>
      <p:graphicFrame>
        <p:nvGraphicFramePr>
          <p:cNvPr id="856" name="表格 855"/>
          <p:cNvGraphicFramePr/>
          <p:nvPr/>
        </p:nvGraphicFramePr>
        <p:xfrm>
          <a:off x="609600" y="1457325"/>
          <a:ext cx="10972800" cy="2667002"/>
        </p:xfrm>
        <a:graphic>
          <a:graphicData uri="http://schemas.openxmlformats.org/drawingml/2006/table">
            <a:tbl>
              <a:tblPr/>
              <a:tblGrid>
                <a:gridCol w="914628"/>
                <a:gridCol w="1825149"/>
                <a:gridCol w="8233023"/>
              </a:tblGrid>
              <a:tr h="291576"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 b="1">
                          <a:solidFill>
                            <a:srgbClr val="22D3EE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片段</a:t>
                      </a:r>
                      <a:endParaRPr sz="975" b="1">
                        <a:solidFill>
                          <a:srgbClr val="22D3EE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6233A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 b="1">
                          <a:solidFill>
                            <a:srgbClr val="22D3EE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加载什么</a:t>
                      </a:r>
                      <a:endParaRPr sz="975" b="1">
                        <a:solidFill>
                          <a:srgbClr val="22D3EE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6233A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 b="1">
                          <a:solidFill>
                            <a:srgbClr val="22D3EE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为什么必须加载</a:t>
                      </a:r>
                      <a:endParaRPr sz="975" b="1">
                        <a:solidFill>
                          <a:srgbClr val="22D3EE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6233A"/>
                    </a:solidFill>
                  </a:tcPr>
                </a:tc>
              </a:tr>
              <a:tr h="515865"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50">
                          <a:solidFill>
                            <a:srgbClr val="38BDF8"/>
                          </a:solidFill>
                          <a:latin typeface="JetBrains Mono"/>
                          <a:ea typeface="JetBrains Mono"/>
                        </a:rPr>
                        <a:t>boot</a:t>
                      </a:r>
                      <a:endParaRPr sz="1050">
                        <a:solidFill>
                          <a:srgbClr val="38BDF8"/>
                        </a:solidFill>
                        <a:latin typeface="JetBrains Mono"/>
                        <a:ea typeface="JetBrains Mono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50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初始化包 fountain::boot</a:t>
                      </a:r>
                      <a:endParaRPr sz="1050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50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ControllerAspect（切面）、TransactionHookImpl（事务钩子）、LogTextMediaType（自定义 MediaType）、Http500Handler（500 处理器）都在这里，都是 @Bean，不加载就静默失效</a:t>
                      </a:r>
                      <a:endParaRPr sz="1050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515865"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50">
                          <a:solidFill>
                            <a:srgbClr val="38BDF8"/>
                          </a:solidFill>
                          <a:latin typeface="JetBrains Mono"/>
                          <a:ea typeface="JetBrains Mono"/>
                        </a:rPr>
                        <a:t>\.(controller</a:t>
                      </a:r>
                      <a:endParaRPr sz="1050">
                        <a:solidFill>
                          <a:srgbClr val="38BDF8"/>
                        </a:solidFill>
                        <a:latin typeface="JetBrains Mono"/>
                        <a:ea typeface="JetBrains Mono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50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所有 controller 包</a:t>
                      </a:r>
                      <a:endParaRPr sz="1050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50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MVC 路由注册</a:t>
                      </a:r>
                      <a:endParaRPr sz="1050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311966"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50">
                          <a:solidFill>
                            <a:srgbClr val="38BDF8"/>
                          </a:solidFill>
                          <a:latin typeface="JetBrains Mono"/>
                          <a:ea typeface="JetBrains Mono"/>
                        </a:rPr>
                        <a:t>service\.impl</a:t>
                      </a:r>
                      <a:endParaRPr sz="1050">
                        <a:solidFill>
                          <a:srgbClr val="38BDF8"/>
                        </a:solidFill>
                        <a:latin typeface="JetBrains Mono"/>
                        <a:ea typeface="JetBrains Mono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50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所有 service 实现包</a:t>
                      </a:r>
                      <a:endParaRPr sz="1050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50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@TransactionalService 的织入和业务实现</a:t>
                      </a:r>
                      <a:endParaRPr sz="1050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515865"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50">
                          <a:solidFill>
                            <a:srgbClr val="38BDF8"/>
                          </a:solidFill>
                          <a:latin typeface="JetBrains Mono"/>
                          <a:ea typeface="JetBrains Mono"/>
                        </a:rPr>
                        <a:t>user\.util\.auth</a:t>
                      </a:r>
                      <a:endParaRPr sz="1050">
                        <a:solidFill>
                          <a:srgbClr val="38BDF8"/>
                        </a:solidFill>
                        <a:latin typeface="JetBrains Mono"/>
                        <a:ea typeface="JetBrains Mono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50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AuthCheckerImpl（登录 / 权限检查器）</a:t>
                      </a:r>
                      <a:endParaRPr sz="1050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50">
                          <a:solidFill>
                            <a:srgbClr val="F59E0B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它是 @Bean，不加载 → 所有接口都不做鉴权（危险）</a:t>
                      </a:r>
                      <a:endParaRPr sz="1050">
                        <a:solidFill>
                          <a:srgbClr val="F59E0B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515865"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50">
                          <a:solidFill>
                            <a:srgbClr val="38BDF8"/>
                          </a:solidFill>
                          <a:latin typeface="JetBrains Mono"/>
                          <a:ea typeface="JetBrains Mono"/>
                        </a:rPr>
                        <a:t>user\.util\.cron</a:t>
                      </a:r>
                      <a:endParaRPr sz="1050">
                        <a:solidFill>
                          <a:srgbClr val="38BDF8"/>
                        </a:solidFill>
                        <a:latin typeface="JetBrains Mono"/>
                        <a:ea typeface="JetBrains Mono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50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TickTockTaskImpl（定时任务）</a:t>
                      </a:r>
                      <a:endParaRPr sz="1050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50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它是 @Bean，不加载 → 定时任务不执行</a:t>
                      </a:r>
                      <a:endParaRPr sz="1050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</a:tbl>
          </a:graphicData>
        </a:graphic>
      </p:graphicFrame>
      <p:sp>
        <p:nvSpPr>
          <p:cNvPr id="857" name="圆角矩形 856"/>
          <p:cNvSpPr/>
          <p:nvPr/>
        </p:nvSpPr>
        <p:spPr>
          <a:xfrm>
            <a:off x="609600" y="4276725"/>
            <a:ext cx="5410200" cy="2009775"/>
          </a:xfrm>
          <a:prstGeom prst="roundRect">
            <a:avLst>
              <a:gd name="adj" fmla="val 5687"/>
            </a:avLst>
          </a:prstGeom>
          <a:solidFill>
            <a:srgbClr val="38BDF8">
              <a:alpha val="6000"/>
            </a:srgbClr>
          </a:solidFill>
          <a:ln w="12700">
            <a:solidFill>
              <a:srgbClr val="38BDF8"/>
            </a:solidFill>
            <a:prstDash val="solid"/>
          </a:ln>
        </p:spPr>
        <p:txBody>
          <a:bodyPr/>
          <a:p/>
        </p:txBody>
      </p:sp>
      <p:sp>
        <p:nvSpPr>
          <p:cNvPr id="858" name="文本框 857" descr="{&quot;isTemplate&quot;:true,&quot;type&quot;:&quot;text&quot;}"/>
          <p:cNvSpPr txBox="1"/>
          <p:nvPr/>
        </p:nvSpPr>
        <p:spPr>
          <a:xfrm>
            <a:off x="800100" y="4467225"/>
            <a:ext cx="5029200" cy="1905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38BDF8"/>
                </a:solidFill>
                <a:latin typeface="微软雅黑" panose="020B0503020204020204" charset="-122"/>
                <a:ea typeface="微软雅黑" panose="020B0503020204020204" charset="-122"/>
              </a:rPr>
              <a:t>一句话</a:t>
            </a:r>
            <a:endParaRPr lang="zh-CN" sz="1200" b="1">
              <a:solidFill>
                <a:srgbClr val="38BDF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59" name="文本框 858" descr="{&quot;isTemplate&quot;:true,&quot;type&quot;:&quot;text&quot;}"/>
          <p:cNvSpPr txBox="1"/>
          <p:nvPr/>
        </p:nvSpPr>
        <p:spPr>
          <a:xfrm>
            <a:off x="800100" y="4733925"/>
            <a:ext cx="5029200" cy="590550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zh-CN" sz="1125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凡是靠</a:t>
            </a:r>
            <a:r>
              <a:rPr lang="en-US" sz="1125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 @Bean </a:t>
            </a:r>
            <a:r>
              <a:rPr lang="zh-CN" sz="1125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生效的东西，所在的动态链接库都必须被</a:t>
            </a:r>
            <a:r>
              <a:rPr lang="en-US" sz="1125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 --dylibPattern </a:t>
            </a:r>
            <a:r>
              <a:rPr lang="zh-CN" sz="1125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匹配到。</a:t>
            </a:r>
            <a:endParaRPr lang="zh-CN" sz="1125">
              <a:solidFill>
                <a:srgbClr val="E2E8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60" name="圆角矩形 859"/>
          <p:cNvSpPr/>
          <p:nvPr/>
        </p:nvSpPr>
        <p:spPr>
          <a:xfrm>
            <a:off x="6172200" y="4276725"/>
            <a:ext cx="5410200" cy="2009775"/>
          </a:xfrm>
          <a:prstGeom prst="roundRect">
            <a:avLst>
              <a:gd name="adj" fmla="val 5687"/>
            </a:avLst>
          </a:prstGeom>
          <a:solidFill>
            <a:srgbClr val="111C2E"/>
          </a:solidFill>
          <a:ln w="12700">
            <a:solidFill>
              <a:srgbClr val="1E293B"/>
            </a:solidFill>
            <a:prstDash val="solid"/>
          </a:ln>
        </p:spPr>
        <p:txBody>
          <a:bodyPr/>
          <a:p/>
        </p:txBody>
      </p:sp>
      <p:sp>
        <p:nvSpPr>
          <p:cNvPr id="861" name="文本框 860" descr="{&quot;isTemplate&quot;:true,&quot;type&quot;:&quot;text&quot;}"/>
          <p:cNvSpPr txBox="1"/>
          <p:nvPr/>
        </p:nvSpPr>
        <p:spPr>
          <a:xfrm>
            <a:off x="6362700" y="4467225"/>
            <a:ext cx="5029200" cy="1905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现场：</a:t>
            </a:r>
            <a:r>
              <a:rPr lang="en-US" sz="1200" b="1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hello_app</a:t>
            </a:r>
            <a:endParaRPr lang="en-US" sz="1200" b="1">
              <a:solidFill>
                <a:srgbClr val="E2E8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62" name="文本框 861" descr="{&quot;isTemplate&quot;:true,&quot;type&quot;:&quot;text&quot;}"/>
          <p:cNvSpPr txBox="1"/>
          <p:nvPr/>
        </p:nvSpPr>
        <p:spPr>
          <a:xfrm>
            <a:off x="6362700" y="4733925"/>
            <a:ext cx="5029200" cy="2762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en-US" sz="1050">
                <a:solidFill>
                  <a:srgbClr val="22D3EE"/>
                </a:solidFill>
                <a:latin typeface="JetBrains Mono"/>
                <a:ea typeface="JetBrains Mono"/>
              </a:rPr>
              <a:t>fboot run --dylibPattern='hello'</a:t>
            </a:r>
            <a:endParaRPr lang="en-US" sz="1050">
              <a:solidFill>
                <a:srgbClr val="22D3EE"/>
              </a:solidFill>
              <a:latin typeface="JetBrains Mono"/>
              <a:ea typeface="JetBrains Mono"/>
            </a:endParaRPr>
          </a:p>
        </p:txBody>
      </p:sp>
      <p:sp>
        <p:nvSpPr>
          <p:cNvPr id="863" name="文本框 862" descr="{&quot;isTemplate&quot;:true,&quot;type&quot;:&quot;text&quot;}"/>
          <p:cNvSpPr txBox="1"/>
          <p:nvPr/>
        </p:nvSpPr>
        <p:spPr>
          <a:xfrm>
            <a:off x="6362700" y="5010150"/>
            <a:ext cx="5029200" cy="2762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en-US" sz="1050">
                <a:solidFill>
                  <a:srgbClr val="94A3B8"/>
                </a:solidFill>
                <a:latin typeface="JetBrains Mono"/>
                <a:ea typeface="JetBrains Mono"/>
              </a:rPr>
              <a:t>curl http://localhost:8080/</a:t>
            </a:r>
            <a:endParaRPr lang="en-US" sz="1050">
              <a:solidFill>
                <a:srgbClr val="94A3B8"/>
              </a:solidFill>
              <a:latin typeface="JetBrains Mono"/>
              <a:ea typeface="JetBrains Mono"/>
            </a:endParaRPr>
          </a:p>
        </p:txBody>
      </p:sp>
      <p:sp>
        <p:nvSpPr>
          <p:cNvPr id="864" name="文本框 863" descr="{&quot;isTemplate&quot;:true,&quot;type&quot;:&quot;text&quot;}"/>
          <p:cNvSpPr txBox="1"/>
          <p:nvPr/>
        </p:nvSpPr>
        <p:spPr>
          <a:xfrm>
            <a:off x="6362700" y="5800725"/>
            <a:ext cx="5029200" cy="2952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en-US" sz="1125" b="1">
                <a:solidFill>
                  <a:srgbClr val="F59E0B"/>
                </a:solidFill>
                <a:latin typeface="JetBrains Mono"/>
                <a:ea typeface="JetBrains Mono"/>
              </a:rPr>
              <a:t>hello Fountain!</a:t>
            </a:r>
            <a:endParaRPr lang="en-US" sz="1125" b="1">
              <a:solidFill>
                <a:srgbClr val="F59E0B"/>
              </a:solidFill>
              <a:latin typeface="JetBrains Mono"/>
              <a:ea typeface="JetBrains Mono"/>
            </a:endParaRPr>
          </a:p>
        </p:txBody>
      </p:sp>
      <p:sp>
        <p:nvSpPr>
          <p:cNvPr id="865" name="任意多边形 864"/>
          <p:cNvSpPr/>
          <p:nvPr/>
        </p:nvSpPr>
        <p:spPr>
          <a:xfrm>
            <a:off x="609600" y="6286500"/>
            <a:ext cx="10972800" cy="381000"/>
          </a:xfrm>
          <a:custGeom>
            <a:avLst/>
            <a:gdLst/>
            <a:ahLst/>
            <a:cxnLst/>
            <a:pathLst>
              <a:path w="1152" h="40">
                <a:moveTo>
                  <a:pt x="0" y="0"/>
                </a:moveTo>
                <a:lnTo>
                  <a:pt x="1152" y="0"/>
                </a:lnTo>
                <a:lnTo>
                  <a:pt x="1152" y="1"/>
                </a:lnTo>
                <a:lnTo>
                  <a:pt x="0" y="1"/>
                </a:lnTo>
                <a:close/>
              </a:path>
            </a:pathLst>
          </a:custGeom>
          <a:solidFill>
            <a:srgbClr val="1E293B"/>
          </a:solidFill>
        </p:spPr>
        <p:txBody>
          <a:bodyPr/>
          <a:p/>
        </p:txBody>
      </p:sp>
      <p:sp>
        <p:nvSpPr>
          <p:cNvPr id="866" name="文本框 865" descr="{&quot;isTemplate&quot;:true,&quot;type&quot;:&quot;text&quot;}"/>
          <p:cNvSpPr txBox="1"/>
          <p:nvPr/>
        </p:nvSpPr>
        <p:spPr>
          <a:xfrm>
            <a:off x="609600" y="6410325"/>
            <a:ext cx="2219325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fountain · 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一站式服务器应用开发工具库</a:t>
            </a:r>
            <a:endParaRPr lang="zh-CN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67" name="文本框 866" descr="{&quot;isTemplate&quot;:true,&quot;type&quot;:&quot;text&quot;}"/>
          <p:cNvSpPr txBox="1"/>
          <p:nvPr/>
        </p:nvSpPr>
        <p:spPr>
          <a:xfrm>
            <a:off x="11087100" y="6410325"/>
            <a:ext cx="495300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21 / 116</a:t>
            </a:r>
            <a:endParaRPr lang="en-US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86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9" name="矩形 868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220"/>
          </a:solidFill>
        </p:spPr>
        <p:txBody>
          <a:bodyPr/>
          <a:p/>
        </p:txBody>
      </p:sp>
      <p:sp>
        <p:nvSpPr>
          <p:cNvPr id="870" name="矩形 869"/>
          <p:cNvSpPr/>
          <p:nvPr/>
        </p:nvSpPr>
        <p:spPr>
          <a:xfrm>
            <a:off x="609600" y="476250"/>
            <a:ext cx="38100" cy="381000"/>
          </a:xfrm>
          <a:prstGeom prst="rect">
            <a:avLst/>
          </a:prstGeom>
          <a:solidFill>
            <a:srgbClr val="38BDF8"/>
          </a:solidFill>
        </p:spPr>
        <p:txBody>
          <a:bodyPr/>
          <a:p/>
        </p:txBody>
      </p:sp>
      <p:sp>
        <p:nvSpPr>
          <p:cNvPr id="871" name="文本框 870" descr="{&quot;isTemplate&quot;:true,&quot;type&quot;:&quot;text&quot;}"/>
          <p:cNvSpPr txBox="1"/>
          <p:nvPr/>
        </p:nvSpPr>
        <p:spPr>
          <a:xfrm>
            <a:off x="819150" y="304800"/>
            <a:ext cx="9972675" cy="2095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第</a:t>
            </a: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 3 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章</a:t>
            </a: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 · fboot 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命令行</a:t>
            </a: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 · 3.8</a:t>
            </a:r>
            <a:endParaRPr lang="en-US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72" name="文本框 871" descr="{&quot;isTemplate&quot;:true,&quot;type&quot;:&quot;text&quot;}"/>
          <p:cNvSpPr txBox="1"/>
          <p:nvPr/>
        </p:nvSpPr>
        <p:spPr>
          <a:xfrm>
            <a:off x="819150" y="514350"/>
            <a:ext cx="9972675" cy="5143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2550" b="1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其余命令与自定义子命令</a:t>
            </a:r>
            <a:endParaRPr lang="zh-CN" sz="2550" b="1">
              <a:solidFill>
                <a:srgbClr val="E2E8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73" name="文本框 872" descr="{&quot;isTemplate&quot;:true,&quot;type&quot;:&quot;text&quot;}"/>
          <p:cNvSpPr txBox="1"/>
          <p:nvPr/>
        </p:nvSpPr>
        <p:spPr>
          <a:xfrm>
            <a:off x="10963275" y="590550"/>
            <a:ext cx="619125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快速过一遍</a:t>
            </a:r>
            <a:endParaRPr lang="zh-CN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graphicFrame>
        <p:nvGraphicFramePr>
          <p:cNvPr id="874" name="表格 873"/>
          <p:cNvGraphicFramePr/>
          <p:nvPr/>
        </p:nvGraphicFramePr>
        <p:xfrm>
          <a:off x="609600" y="1143000"/>
          <a:ext cx="10972800" cy="2857500"/>
        </p:xfrm>
        <a:graphic>
          <a:graphicData uri="http://schemas.openxmlformats.org/drawingml/2006/table">
            <a:tbl>
              <a:tblPr/>
              <a:tblGrid>
                <a:gridCol w="3939822"/>
                <a:gridCol w="3633410"/>
                <a:gridCol w="3399568"/>
              </a:tblGrid>
              <a:tr h="316027"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 b="1">
                          <a:solidFill>
                            <a:srgbClr val="22D3EE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命令</a:t>
                      </a:r>
                      <a:endParaRPr sz="975" b="1">
                        <a:solidFill>
                          <a:srgbClr val="22D3EE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6233A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 b="1">
                          <a:solidFill>
                            <a:srgbClr val="22D3EE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作用</a:t>
                      </a:r>
                      <a:endParaRPr sz="975" b="1">
                        <a:solidFill>
                          <a:srgbClr val="22D3EE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6233A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 b="1">
                          <a:solidFill>
                            <a:srgbClr val="22D3EE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演示</a:t>
                      </a:r>
                      <a:endParaRPr sz="975" b="1">
                        <a:solidFill>
                          <a:srgbClr val="22D3EE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6233A"/>
                    </a:solidFill>
                  </a:tcPr>
                </a:tc>
              </a:tr>
              <a:tr h="525974"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38BDF8"/>
                          </a:solidFill>
                          <a:latin typeface="JetBrains Mono"/>
                          <a:ea typeface="JetBrains Mono"/>
                        </a:rPr>
                        <a:t>fboot count [PATH] [--ext=cj] [--ignoreBrackets] [--ignoreComments]</a:t>
                      </a:r>
                      <a:endParaRPr sz="975">
                        <a:solidFill>
                          <a:srgbClr val="38BDF8"/>
                        </a:solidFill>
                        <a:latin typeface="JetBrains Mono"/>
                        <a:ea typeface="JetBrains Mono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50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统计项目模块数 / 包数 / 文件数 / 行数与耗时</a:t>
                      </a:r>
                      <a:endParaRPr sz="1050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50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fboot count ./fdemo</a:t>
                      </a:r>
                      <a:endParaRPr sz="1050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559124"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38BDF8"/>
                          </a:solidFill>
                          <a:latin typeface="JetBrains Mono"/>
                          <a:ea typeface="JetBrains Mono"/>
                        </a:rPr>
                        <a:t>fboot test [PATH] [args...] --dylibPattern=【正则】</a:t>
                      </a:r>
                      <a:endParaRPr sz="975">
                        <a:solidFill>
                          <a:srgbClr val="38BDF8"/>
                        </a:solidFill>
                        <a:latin typeface="JetBrains Mono"/>
                        <a:ea typeface="JetBrains Mono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50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用 PATH/test/cjpm.toml 覆盖 PATH/cjpm.toml，先 build 再 run</a:t>
                      </a:r>
                      <a:endParaRPr sz="1050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50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缺 --dylibPattern 会抛 BootException</a:t>
                      </a:r>
                      <a:endParaRPr sz="1050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559124"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38BDF8"/>
                          </a:solidFill>
                          <a:latin typeface="JetBrains Mono"/>
                          <a:ea typeface="JetBrains Mono"/>
                        </a:rPr>
                        <a:t>fboot pub 【x.y.z】 [--skip-lint] [--skip-test]</a:t>
                      </a:r>
                      <a:endParaRPr sz="975">
                        <a:solidFill>
                          <a:srgbClr val="38BDF8"/>
                        </a:solidFill>
                        <a:latin typeface="JetBrains Mono"/>
                        <a:ea typeface="JetBrains Mono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50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批量发布模块，自动按依赖排序、改版本号、探测制品仓库</a:t>
                      </a:r>
                      <a:endParaRPr sz="1050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50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用 .modules 文件的 [include] / [exclude] / [detention] 控制范围</a:t>
                      </a:r>
                      <a:endParaRPr sz="1050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559124"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38BDF8"/>
                          </a:solidFill>
                          <a:latin typeface="JetBrains Mono"/>
                          <a:ea typeface="JetBrains Mono"/>
                        </a:rPr>
                        <a:t>fboot version</a:t>
                      </a:r>
                      <a:endParaRPr sz="975">
                        <a:solidFill>
                          <a:srgbClr val="38BDF8"/>
                        </a:solidFill>
                        <a:latin typeface="JetBrains Mono"/>
                        <a:ea typeface="JetBrains Mono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50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打印 fountain 版本（不带参数）；管理 fountain 自身版本（带 x.y.z）</a:t>
                      </a:r>
                      <a:endParaRPr sz="1050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50">
                          <a:solidFill>
                            <a:srgbClr val="F59E0B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谨慎演示，它会动 git</a:t>
                      </a:r>
                      <a:endParaRPr sz="1050">
                        <a:solidFill>
                          <a:srgbClr val="F59E0B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338126"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38BDF8"/>
                          </a:solidFill>
                          <a:latin typeface="JetBrains Mono"/>
                          <a:ea typeface="JetBrains Mono"/>
                        </a:rPr>
                        <a:t>fboot 【自定义子命令】</a:t>
                      </a:r>
                      <a:endParaRPr sz="975">
                        <a:solidFill>
                          <a:srgbClr val="38BDF8"/>
                        </a:solidFill>
                        <a:latin typeface="JetBrains Mono"/>
                        <a:ea typeface="JetBrains Mono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50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执行实现了 fountain::f_app.SubCommand 的类</a:t>
                      </a:r>
                      <a:endParaRPr sz="1050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50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见下</a:t>
                      </a:r>
                      <a:endParaRPr sz="1050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</a:tbl>
          </a:graphicData>
        </a:graphic>
      </p:graphicFrame>
      <p:sp>
        <p:nvSpPr>
          <p:cNvPr id="875" name="圆角矩形 874"/>
          <p:cNvSpPr/>
          <p:nvPr/>
        </p:nvSpPr>
        <p:spPr>
          <a:xfrm>
            <a:off x="609600" y="4152900"/>
            <a:ext cx="10972800" cy="2133600"/>
          </a:xfrm>
          <a:prstGeom prst="roundRect">
            <a:avLst>
              <a:gd name="adj" fmla="val 5357"/>
            </a:avLst>
          </a:prstGeom>
          <a:solidFill>
            <a:srgbClr val="38BDF8">
              <a:alpha val="6000"/>
            </a:srgbClr>
          </a:solidFill>
          <a:ln w="12700">
            <a:solidFill>
              <a:srgbClr val="38BDF8"/>
            </a:solidFill>
            <a:prstDash val="solid"/>
          </a:ln>
        </p:spPr>
        <p:txBody>
          <a:bodyPr/>
          <a:p/>
        </p:txBody>
      </p:sp>
      <p:sp>
        <p:nvSpPr>
          <p:cNvPr id="876" name="文本框 875" descr="{&quot;isTemplate&quot;:true,&quot;type&quot;:&quot;text&quot;}"/>
          <p:cNvSpPr txBox="1"/>
          <p:nvPr/>
        </p:nvSpPr>
        <p:spPr>
          <a:xfrm>
            <a:off x="819150" y="4362450"/>
            <a:ext cx="10553700" cy="2095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38BDF8"/>
                </a:solidFill>
                <a:latin typeface="微软雅黑" panose="020B0503020204020204" charset="-122"/>
                <a:ea typeface="微软雅黑" panose="020B0503020204020204" charset="-122"/>
              </a:rPr>
              <a:t>自定义子命令</a:t>
            </a:r>
            <a:endParaRPr lang="zh-CN" sz="1350" b="1">
              <a:solidFill>
                <a:srgbClr val="38BDF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77" name="文本框 876" descr="{&quot;isTemplate&quot;:true,&quot;type&quot;:&quot;text&quot;}"/>
          <p:cNvSpPr txBox="1"/>
          <p:nvPr/>
        </p:nvSpPr>
        <p:spPr>
          <a:xfrm>
            <a:off x="819150" y="4667250"/>
            <a:ext cx="10553700" cy="3143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80000"/>
              </a:lnSpc>
            </a:pPr>
            <a:r>
              <a:rPr lang="en-US" sz="1125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pub </a:t>
            </a:r>
            <a:r>
              <a:rPr lang="zh-CN" sz="1125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和</a:t>
            </a:r>
            <a:r>
              <a:rPr lang="en-US" sz="1125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 randhex </a:t>
            </a:r>
            <a:r>
              <a:rPr lang="zh-CN" sz="1125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本身就是最好的例子：写一个实现</a:t>
            </a:r>
            <a:r>
              <a:rPr lang="en-US" sz="1125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 SubCommand </a:t>
            </a:r>
            <a:r>
              <a:rPr lang="zh-CN" sz="1125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的类，在</a:t>
            </a:r>
            <a:r>
              <a:rPr lang="en-US" sz="1125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 static init() </a:t>
            </a:r>
            <a:r>
              <a:rPr lang="zh-CN" sz="1125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里</a:t>
            </a:r>
            <a:r>
              <a:rPr lang="en-US" sz="1125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 SubCommandMediator.register(...)</a:t>
            </a:r>
            <a:r>
              <a:rPr lang="zh-CN" sz="1125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，编译成动态链接库即可。</a:t>
            </a:r>
            <a:endParaRPr lang="zh-CN" sz="1125">
              <a:solidFill>
                <a:srgbClr val="E2E8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78" name="文本框 877" descr="{&quot;isTemplate&quot;:true,&quot;type&quot;:&quot;text&quot;}"/>
          <p:cNvSpPr txBox="1"/>
          <p:nvPr/>
        </p:nvSpPr>
        <p:spPr>
          <a:xfrm>
            <a:off x="819150" y="5800725"/>
            <a:ext cx="10553700" cy="2762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zh-CN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未命中时框架会扫描并加载动态链接库、让</a:t>
            </a:r>
            <a:r>
              <a:rPr lang="en-US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static init() </a:t>
            </a:r>
            <a:r>
              <a:rPr lang="zh-CN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完成注册，然后重试一次；仍然没有才抛异常并列出可用命令。</a:t>
            </a:r>
            <a:endParaRPr lang="zh-CN" sz="1050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79" name="任意多边形 878"/>
          <p:cNvSpPr/>
          <p:nvPr/>
        </p:nvSpPr>
        <p:spPr>
          <a:xfrm>
            <a:off x="609600" y="6286500"/>
            <a:ext cx="10972800" cy="381000"/>
          </a:xfrm>
          <a:custGeom>
            <a:avLst/>
            <a:gdLst/>
            <a:ahLst/>
            <a:cxnLst/>
            <a:pathLst>
              <a:path w="1152" h="40">
                <a:moveTo>
                  <a:pt x="0" y="0"/>
                </a:moveTo>
                <a:lnTo>
                  <a:pt x="1152" y="0"/>
                </a:lnTo>
                <a:lnTo>
                  <a:pt x="1152" y="1"/>
                </a:lnTo>
                <a:lnTo>
                  <a:pt x="0" y="1"/>
                </a:lnTo>
                <a:close/>
              </a:path>
            </a:pathLst>
          </a:custGeom>
          <a:solidFill>
            <a:srgbClr val="1E293B"/>
          </a:solidFill>
        </p:spPr>
        <p:txBody>
          <a:bodyPr/>
          <a:p/>
        </p:txBody>
      </p:sp>
      <p:sp>
        <p:nvSpPr>
          <p:cNvPr id="880" name="文本框 879" descr="{&quot;isTemplate&quot;:true,&quot;type&quot;:&quot;text&quot;}"/>
          <p:cNvSpPr txBox="1"/>
          <p:nvPr/>
        </p:nvSpPr>
        <p:spPr>
          <a:xfrm>
            <a:off x="609600" y="6410325"/>
            <a:ext cx="2219325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fountain · 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一站式服务器应用开发工具库</a:t>
            </a:r>
            <a:endParaRPr lang="zh-CN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81" name="文本框 880" descr="{&quot;isTemplate&quot;:true,&quot;type&quot;:&quot;text&quot;}"/>
          <p:cNvSpPr txBox="1"/>
          <p:nvPr/>
        </p:nvSpPr>
        <p:spPr>
          <a:xfrm>
            <a:off x="11087100" y="6410325"/>
            <a:ext cx="495300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22 / 116</a:t>
            </a:r>
            <a:endParaRPr lang="en-US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88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3" name="矩形 88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220"/>
          </a:solidFill>
        </p:spPr>
        <p:txBody>
          <a:bodyPr/>
          <a:p/>
        </p:txBody>
      </p:sp>
      <p:sp>
        <p:nvSpPr>
          <p:cNvPr id="884" name="矩形 883"/>
          <p:cNvSpPr/>
          <p:nvPr/>
        </p:nvSpPr>
        <p:spPr>
          <a:xfrm>
            <a:off x="609600" y="476250"/>
            <a:ext cx="38100" cy="381000"/>
          </a:xfrm>
          <a:prstGeom prst="rect">
            <a:avLst/>
          </a:prstGeom>
          <a:solidFill>
            <a:srgbClr val="38BDF8"/>
          </a:solidFill>
        </p:spPr>
        <p:txBody>
          <a:bodyPr/>
          <a:p/>
        </p:txBody>
      </p:sp>
      <p:sp>
        <p:nvSpPr>
          <p:cNvPr id="885" name="文本框 884" descr="{&quot;isTemplate&quot;:true,&quot;type&quot;:&quot;text&quot;}"/>
          <p:cNvSpPr txBox="1"/>
          <p:nvPr/>
        </p:nvSpPr>
        <p:spPr>
          <a:xfrm>
            <a:off x="819150" y="304800"/>
            <a:ext cx="9848850" cy="2095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第</a:t>
            </a: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 4 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章</a:t>
            </a: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 · 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配置</a:t>
            </a: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 f_config · 4.1</a:t>
            </a:r>
            <a:endParaRPr lang="en-US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86" name="文本框 885" descr="{&quot;isTemplate&quot;:true,&quot;type&quot;:&quot;text&quot;}"/>
          <p:cNvSpPr txBox="1"/>
          <p:nvPr/>
        </p:nvSpPr>
        <p:spPr>
          <a:xfrm>
            <a:off x="819150" y="514350"/>
            <a:ext cx="9848850" cy="5143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2550" b="1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开场：</a:t>
            </a:r>
            <a:r>
              <a:rPr lang="en-US" sz="2550" b="1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fountain </a:t>
            </a:r>
            <a:r>
              <a:rPr lang="zh-CN" sz="2550" b="1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没有配置文件</a:t>
            </a:r>
            <a:endParaRPr lang="zh-CN" sz="2550" b="1">
              <a:solidFill>
                <a:srgbClr val="E2E8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87" name="文本框 886" descr="{&quot;isTemplate&quot;:true,&quot;type&quot;:&quot;text&quot;}"/>
          <p:cNvSpPr txBox="1"/>
          <p:nvPr/>
        </p:nvSpPr>
        <p:spPr>
          <a:xfrm>
            <a:off x="10839450" y="590550"/>
            <a:ext cx="742950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只有四个来源</a:t>
            </a:r>
            <a:endParaRPr lang="zh-CN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88" name="圆角矩形 887"/>
          <p:cNvSpPr/>
          <p:nvPr/>
        </p:nvSpPr>
        <p:spPr>
          <a:xfrm>
            <a:off x="609600" y="1143000"/>
            <a:ext cx="10972800" cy="1695450"/>
          </a:xfrm>
          <a:prstGeom prst="roundRect">
            <a:avLst>
              <a:gd name="adj" fmla="val 6742"/>
            </a:avLst>
          </a:prstGeom>
          <a:solidFill>
            <a:srgbClr val="111C2E"/>
          </a:solidFill>
          <a:ln w="12700">
            <a:solidFill>
              <a:srgbClr val="1E293B"/>
            </a:solidFill>
            <a:prstDash val="solid"/>
          </a:ln>
        </p:spPr>
        <p:txBody>
          <a:bodyPr/>
          <a:p/>
        </p:txBody>
      </p:sp>
      <p:sp>
        <p:nvSpPr>
          <p:cNvPr id="889" name="文本框 888" descr="{&quot;isTemplate&quot;:true,&quot;type&quot;:&quot;text&quot;}"/>
          <p:cNvSpPr txBox="1"/>
          <p:nvPr/>
        </p:nvSpPr>
        <p:spPr>
          <a:xfrm>
            <a:off x="838200" y="1609725"/>
            <a:ext cx="7048500" cy="3714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400" b="1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「不依赖任何配置文件。」</a:t>
            </a:r>
            <a:endParaRPr lang="zh-CN" sz="2400" b="1">
              <a:solidFill>
                <a:srgbClr val="E2E8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90" name="文本框 889" descr="{&quot;isTemplate&quot;:true,&quot;type&quot;:&quot;text&quot;}"/>
          <p:cNvSpPr txBox="1"/>
          <p:nvPr/>
        </p:nvSpPr>
        <p:spPr>
          <a:xfrm>
            <a:off x="838200" y="2076450"/>
            <a:ext cx="7048500" cy="2952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zh-CN" sz="112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端口、连接池、事务规则、日志格式、数据库连接串，全都来自下表的四个来源。</a:t>
            </a:r>
            <a:endParaRPr lang="zh-CN" sz="1125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91" name="圆角矩形 890"/>
          <p:cNvSpPr/>
          <p:nvPr/>
        </p:nvSpPr>
        <p:spPr>
          <a:xfrm>
            <a:off x="8115300" y="1333500"/>
            <a:ext cx="3238500" cy="390525"/>
          </a:xfrm>
          <a:prstGeom prst="roundRect">
            <a:avLst>
              <a:gd name="adj" fmla="val 19512"/>
            </a:avLst>
          </a:prstGeom>
          <a:solidFill>
            <a:srgbClr val="0B1220"/>
          </a:solidFill>
          <a:ln w="12700">
            <a:solidFill>
              <a:srgbClr val="1E293B"/>
            </a:solidFill>
            <a:prstDash val="solid"/>
          </a:ln>
        </p:spPr>
        <p:txBody>
          <a:bodyPr/>
          <a:p/>
        </p:txBody>
      </p:sp>
      <p:sp>
        <p:nvSpPr>
          <p:cNvPr id="892" name="文本框 891" descr="{&quot;isTemplate&quot;:true,&quot;type&quot;:&quot;text&quot;}"/>
          <p:cNvSpPr txBox="1"/>
          <p:nvPr/>
        </p:nvSpPr>
        <p:spPr>
          <a:xfrm>
            <a:off x="8229600" y="1447800"/>
            <a:ext cx="3009900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strike="sngStrike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application.yml</a:t>
            </a:r>
            <a:endParaRPr lang="en-US" sz="1050" strike="sngStrike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93" name="圆角矩形 892"/>
          <p:cNvSpPr/>
          <p:nvPr/>
        </p:nvSpPr>
        <p:spPr>
          <a:xfrm>
            <a:off x="8115300" y="1800225"/>
            <a:ext cx="3238500" cy="390525"/>
          </a:xfrm>
          <a:prstGeom prst="roundRect">
            <a:avLst>
              <a:gd name="adj" fmla="val 19512"/>
            </a:avLst>
          </a:prstGeom>
          <a:solidFill>
            <a:srgbClr val="0B1220"/>
          </a:solidFill>
          <a:ln w="12700">
            <a:solidFill>
              <a:srgbClr val="1E293B"/>
            </a:solidFill>
            <a:prstDash val="solid"/>
          </a:ln>
        </p:spPr>
        <p:txBody>
          <a:bodyPr/>
          <a:p/>
        </p:txBody>
      </p:sp>
      <p:sp>
        <p:nvSpPr>
          <p:cNvPr id="894" name="文本框 893" descr="{&quot;isTemplate&quot;:true,&quot;type&quot;:&quot;text&quot;}"/>
          <p:cNvSpPr txBox="1"/>
          <p:nvPr/>
        </p:nvSpPr>
        <p:spPr>
          <a:xfrm>
            <a:off x="8229600" y="1914525"/>
            <a:ext cx="3009900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strike="sngStrike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*.properties</a:t>
            </a:r>
            <a:endParaRPr lang="en-US" sz="1050" strike="sngStrike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95" name="圆角矩形 894"/>
          <p:cNvSpPr/>
          <p:nvPr/>
        </p:nvSpPr>
        <p:spPr>
          <a:xfrm>
            <a:off x="8115300" y="2266950"/>
            <a:ext cx="3238500" cy="390525"/>
          </a:xfrm>
          <a:prstGeom prst="roundRect">
            <a:avLst>
              <a:gd name="adj" fmla="val 19512"/>
            </a:avLst>
          </a:prstGeom>
          <a:solidFill>
            <a:srgbClr val="0B1220"/>
          </a:solidFill>
          <a:ln w="12700">
            <a:solidFill>
              <a:srgbClr val="1E293B"/>
            </a:solidFill>
            <a:prstDash val="solid"/>
          </a:ln>
        </p:spPr>
        <p:txBody>
          <a:bodyPr/>
          <a:p/>
        </p:txBody>
      </p:sp>
      <p:sp>
        <p:nvSpPr>
          <p:cNvPr id="896" name="文本框 895" descr="{&quot;isTemplate&quot;:true,&quot;type&quot;:&quot;text&quot;}"/>
          <p:cNvSpPr txBox="1"/>
          <p:nvPr/>
        </p:nvSpPr>
        <p:spPr>
          <a:xfrm>
            <a:off x="8229600" y="2381250"/>
            <a:ext cx="3009900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strike="sngStrike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JSON </a:t>
            </a:r>
            <a:r>
              <a:rPr lang="zh-CN" sz="1050" strike="sngStrike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配置</a:t>
            </a:r>
            <a:endParaRPr lang="zh-CN" sz="1050" strike="sngStrike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graphicFrame>
        <p:nvGraphicFramePr>
          <p:cNvPr id="897" name="表格 896"/>
          <p:cNvGraphicFramePr/>
          <p:nvPr/>
        </p:nvGraphicFramePr>
        <p:xfrm>
          <a:off x="609600" y="2990850"/>
          <a:ext cx="10972800" cy="3295650"/>
        </p:xfrm>
        <a:graphic>
          <a:graphicData uri="http://schemas.openxmlformats.org/drawingml/2006/table">
            <a:tbl>
              <a:tblPr/>
              <a:tblGrid>
                <a:gridCol w="1871511"/>
                <a:gridCol w="3812912"/>
                <a:gridCol w="5288377"/>
              </a:tblGrid>
              <a:tr h="642337"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50" b="1">
                          <a:solidFill>
                            <a:srgbClr val="22D3EE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来源</a:t>
                      </a:r>
                      <a:endParaRPr sz="1050" b="1">
                        <a:solidFill>
                          <a:srgbClr val="22D3EE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6233A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50" b="1">
                          <a:solidFill>
                            <a:srgbClr val="22D3EE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形态</a:t>
                      </a:r>
                      <a:endParaRPr sz="1050" b="1">
                        <a:solidFill>
                          <a:srgbClr val="22D3EE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6233A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50" b="1">
                          <a:solidFill>
                            <a:srgbClr val="22D3EE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何时生效</a:t>
                      </a:r>
                      <a:endParaRPr sz="1050" b="1">
                        <a:solidFill>
                          <a:srgbClr val="22D3EE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6233A"/>
                    </a:solidFill>
                  </a:tcPr>
                </a:tc>
              </a:tr>
              <a:tr h="663328"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 b="1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环境变量</a:t>
                      </a:r>
                      <a:endParaRPr sz="1125" b="1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export mvc_port=8080</a:t>
                      </a:r>
                      <a:endParaRPr sz="1125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进程启动时由 static init 装载</a:t>
                      </a:r>
                      <a:endParaRPr sz="1125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663328"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 b="1">
                          <a:solidFill>
                            <a:srgbClr val="F59E0B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命令行参数</a:t>
                      </a:r>
                      <a:endParaRPr sz="1125" b="1">
                        <a:solidFill>
                          <a:srgbClr val="F59E0B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--mvc_port=9090</a:t>
                      </a:r>
                      <a:endParaRPr sz="1125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同上，且覆盖同名环境变量</a:t>
                      </a:r>
                      <a:endParaRPr sz="1125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663328"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 b="1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进程内 Config.set</a:t>
                      </a:r>
                      <a:endParaRPr sz="1125" b="1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Config.set&lt;Int64&gt;([("mvc_port", 9090)])</a:t>
                      </a:r>
                      <a:endParaRPr sz="1125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运行期写入 / 覆盖</a:t>
                      </a:r>
                      <a:endParaRPr sz="1125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663328"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 b="1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编译期内嵌的敏感值</a:t>
                      </a:r>
                      <a:endParaRPr sz="1125" b="1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fboot build --paySecret=xxx</a:t>
                      </a:r>
                      <a:endParaRPr sz="1125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编译时嵌入产物，运行期解密 / 还原（@EmbedSensitive）</a:t>
                      </a:r>
                      <a:endParaRPr sz="1125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</a:tbl>
          </a:graphicData>
        </a:graphic>
      </p:graphicFrame>
      <p:sp>
        <p:nvSpPr>
          <p:cNvPr id="898" name="任意多边形 897"/>
          <p:cNvSpPr/>
          <p:nvPr/>
        </p:nvSpPr>
        <p:spPr>
          <a:xfrm>
            <a:off x="609600" y="6286500"/>
            <a:ext cx="10972800" cy="381000"/>
          </a:xfrm>
          <a:custGeom>
            <a:avLst/>
            <a:gdLst/>
            <a:ahLst/>
            <a:cxnLst/>
            <a:pathLst>
              <a:path w="1152" h="40">
                <a:moveTo>
                  <a:pt x="0" y="0"/>
                </a:moveTo>
                <a:lnTo>
                  <a:pt x="1152" y="0"/>
                </a:lnTo>
                <a:lnTo>
                  <a:pt x="1152" y="1"/>
                </a:lnTo>
                <a:lnTo>
                  <a:pt x="0" y="1"/>
                </a:lnTo>
                <a:close/>
              </a:path>
            </a:pathLst>
          </a:custGeom>
          <a:solidFill>
            <a:srgbClr val="1E293B"/>
          </a:solidFill>
        </p:spPr>
        <p:txBody>
          <a:bodyPr/>
          <a:p/>
        </p:txBody>
      </p:sp>
      <p:sp>
        <p:nvSpPr>
          <p:cNvPr id="899" name="文本框 898" descr="{&quot;isTemplate&quot;:true,&quot;type&quot;:&quot;text&quot;}"/>
          <p:cNvSpPr txBox="1"/>
          <p:nvPr/>
        </p:nvSpPr>
        <p:spPr>
          <a:xfrm>
            <a:off x="609600" y="6410325"/>
            <a:ext cx="2219325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fountain · 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一站式服务器应用开发工具库</a:t>
            </a:r>
            <a:endParaRPr lang="zh-CN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00" name="文本框 899" descr="{&quot;isTemplate&quot;:true,&quot;type&quot;:&quot;text&quot;}"/>
          <p:cNvSpPr txBox="1"/>
          <p:nvPr/>
        </p:nvSpPr>
        <p:spPr>
          <a:xfrm>
            <a:off x="11087100" y="6410325"/>
            <a:ext cx="495300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23 / 116</a:t>
            </a:r>
            <a:endParaRPr lang="en-US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90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2" name="矩形 90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220"/>
          </a:solidFill>
        </p:spPr>
        <p:txBody>
          <a:bodyPr/>
          <a:p/>
        </p:txBody>
      </p:sp>
      <p:sp>
        <p:nvSpPr>
          <p:cNvPr id="903" name="矩形 902"/>
          <p:cNvSpPr/>
          <p:nvPr/>
        </p:nvSpPr>
        <p:spPr>
          <a:xfrm>
            <a:off x="609600" y="476250"/>
            <a:ext cx="38100" cy="381000"/>
          </a:xfrm>
          <a:prstGeom prst="rect">
            <a:avLst/>
          </a:prstGeom>
          <a:solidFill>
            <a:srgbClr val="38BDF8"/>
          </a:solidFill>
        </p:spPr>
        <p:txBody>
          <a:bodyPr/>
          <a:p/>
        </p:txBody>
      </p:sp>
      <p:sp>
        <p:nvSpPr>
          <p:cNvPr id="904" name="文本框 903" descr="{&quot;isTemplate&quot;:true,&quot;type&quot;:&quot;text&quot;}"/>
          <p:cNvSpPr txBox="1"/>
          <p:nvPr/>
        </p:nvSpPr>
        <p:spPr>
          <a:xfrm>
            <a:off x="819150" y="304800"/>
            <a:ext cx="10344150" cy="2095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第</a:t>
            </a: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 4 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章</a:t>
            </a: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 · 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配置</a:t>
            </a: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 f_config · 4.2</a:t>
            </a:r>
            <a:endParaRPr lang="en-US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05" name="文本框 904" descr="{&quot;isTemplate&quot;:true,&quot;type&quot;:&quot;text&quot;}"/>
          <p:cNvSpPr txBox="1"/>
          <p:nvPr/>
        </p:nvSpPr>
        <p:spPr>
          <a:xfrm>
            <a:off x="819150" y="514350"/>
            <a:ext cx="10344150" cy="5143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2550" b="1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命令行参数的四种合法写法</a:t>
            </a:r>
            <a:endParaRPr lang="zh-CN" sz="2550" b="1">
              <a:solidFill>
                <a:srgbClr val="E2E8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06" name="文本框 905" descr="{&quot;isTemplate&quot;:true,&quot;type&quot;:&quot;text&quot;}"/>
          <p:cNvSpPr txBox="1"/>
          <p:nvPr/>
        </p:nvSpPr>
        <p:spPr>
          <a:xfrm>
            <a:off x="11334750" y="590550"/>
            <a:ext cx="247650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重点</a:t>
            </a:r>
            <a:endParaRPr lang="zh-CN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graphicFrame>
        <p:nvGraphicFramePr>
          <p:cNvPr id="907" name="表格 906"/>
          <p:cNvGraphicFramePr/>
          <p:nvPr/>
        </p:nvGraphicFramePr>
        <p:xfrm>
          <a:off x="609600" y="1143000"/>
          <a:ext cx="10972800" cy="2362200"/>
        </p:xfrm>
        <a:graphic>
          <a:graphicData uri="http://schemas.openxmlformats.org/drawingml/2006/table">
            <a:tbl>
              <a:tblPr/>
              <a:tblGrid>
                <a:gridCol w="1926800"/>
                <a:gridCol w="9046000"/>
              </a:tblGrid>
              <a:tr h="460403"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50" b="1">
                          <a:solidFill>
                            <a:srgbClr val="22D3EE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写法</a:t>
                      </a:r>
                      <a:endParaRPr sz="1050" b="1">
                        <a:solidFill>
                          <a:srgbClr val="22D3EE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6233A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50" b="1">
                          <a:solidFill>
                            <a:srgbClr val="22D3EE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含义</a:t>
                      </a:r>
                      <a:endParaRPr sz="1050" b="1">
                        <a:solidFill>
                          <a:srgbClr val="22D3EE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6233A"/>
                    </a:solidFill>
                  </a:tcPr>
                </a:tc>
              </a:tr>
              <a:tr h="475449"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>
                          <a:solidFill>
                            <a:srgbClr val="38BDF8"/>
                          </a:solidFill>
                          <a:latin typeface="JetBrains Mono"/>
                          <a:ea typeface="JetBrains Mono"/>
                        </a:rPr>
                        <a:t>--argName=argValue</a:t>
                      </a:r>
                      <a:endParaRPr sz="1125">
                        <a:solidFill>
                          <a:srgbClr val="38BDF8"/>
                        </a:solidFill>
                        <a:latin typeface="JetBrains Mono"/>
                        <a:ea typeface="JetBrains Mono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>
                          <a:solidFill>
                            <a:srgbClr val="F59E0B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key = '=' 左侧，value = '=' 右侧，两侧都 trimAscii；为了跟 cjpm 参数区分，fboot build 只支持这一种写法</a:t>
                      </a:r>
                      <a:endParaRPr sz="1125">
                        <a:solidFill>
                          <a:srgbClr val="F59E0B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475449"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>
                          <a:solidFill>
                            <a:srgbClr val="38BDF8"/>
                          </a:solidFill>
                          <a:latin typeface="JetBrains Mono"/>
                          <a:ea typeface="JetBrains Mono"/>
                        </a:rPr>
                        <a:t>--argName</a:t>
                      </a:r>
                      <a:endParaRPr sz="1125">
                        <a:solidFill>
                          <a:srgbClr val="38BDF8"/>
                        </a:solidFill>
                        <a:latin typeface="JetBrains Mono"/>
                        <a:ea typeface="JetBrains Mono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等价于 --argName=true</a:t>
                      </a:r>
                      <a:endParaRPr sz="1125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475449"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>
                          <a:solidFill>
                            <a:srgbClr val="38BDF8"/>
                          </a:solidFill>
                          <a:latin typeface="JetBrains Mono"/>
                          <a:ea typeface="JetBrains Mono"/>
                        </a:rPr>
                        <a:t>-argName argVal</a:t>
                      </a:r>
                      <a:endParaRPr sz="1125">
                        <a:solidFill>
                          <a:srgbClr val="38BDF8"/>
                        </a:solidFill>
                        <a:latin typeface="JetBrains Mono"/>
                        <a:ea typeface="JetBrains Mono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下一个参数若以 '-' 开头则不当作值，该配置项值为 true</a:t>
                      </a:r>
                      <a:endParaRPr sz="1125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475449"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>
                          <a:solidFill>
                            <a:srgbClr val="38BDF8"/>
                          </a:solidFill>
                          <a:latin typeface="JetBrains Mono"/>
                          <a:ea typeface="JetBrains Mono"/>
                        </a:rPr>
                        <a:t>-argName</a:t>
                      </a:r>
                      <a:endParaRPr sz="1125">
                        <a:solidFill>
                          <a:srgbClr val="38BDF8"/>
                        </a:solidFill>
                        <a:latin typeface="JetBrains Mono"/>
                        <a:ea typeface="JetBrains Mono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等价于 -argName true</a:t>
                      </a:r>
                      <a:endParaRPr sz="1125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</a:tbl>
          </a:graphicData>
        </a:graphic>
      </p:graphicFrame>
      <p:sp>
        <p:nvSpPr>
          <p:cNvPr id="908" name="圆角矩形 907"/>
          <p:cNvSpPr/>
          <p:nvPr/>
        </p:nvSpPr>
        <p:spPr>
          <a:xfrm>
            <a:off x="609600" y="3657600"/>
            <a:ext cx="5410200" cy="2628900"/>
          </a:xfrm>
          <a:prstGeom prst="roundRect">
            <a:avLst>
              <a:gd name="adj" fmla="val 4348"/>
            </a:avLst>
          </a:prstGeom>
          <a:solidFill>
            <a:srgbClr val="F59E0B">
              <a:alpha val="7000"/>
            </a:srgbClr>
          </a:solidFill>
          <a:ln w="12700">
            <a:solidFill>
              <a:srgbClr val="F59E0B"/>
            </a:solidFill>
            <a:prstDash val="solid"/>
          </a:ln>
        </p:spPr>
        <p:txBody>
          <a:bodyPr/>
          <a:p/>
        </p:txBody>
      </p:sp>
      <p:sp>
        <p:nvSpPr>
          <p:cNvPr id="909" name="文本框 908" descr="{&quot;isTemplate&quot;:true,&quot;type&quot;:&quot;text&quot;}"/>
          <p:cNvSpPr txBox="1"/>
          <p:nvPr/>
        </p:nvSpPr>
        <p:spPr>
          <a:xfrm>
            <a:off x="800100" y="3848100"/>
            <a:ext cx="5029200" cy="1905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三条规则</a:t>
            </a:r>
            <a:endParaRPr lang="zh-CN" sz="1200" b="1">
              <a:solidFill>
                <a:srgbClr val="F59E0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10" name="文本框 909" descr="{&quot;isTemplate&quot;:true,&quot;type&quot;:&quot;text&quot;}"/>
          <p:cNvSpPr txBox="1"/>
          <p:nvPr/>
        </p:nvSpPr>
        <p:spPr>
          <a:xfrm>
            <a:off x="800100" y="4133850"/>
            <a:ext cx="5029200" cy="2952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80000"/>
              </a:lnSpc>
            </a:pPr>
            <a:r>
              <a:rPr lang="en-US" sz="105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· </a:t>
            </a:r>
            <a:r>
              <a:rPr lang="zh-CN" sz="105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单横线形式不支持</a:t>
            </a:r>
            <a:r>
              <a:rPr lang="en-US" sz="105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 = </a:t>
            </a:r>
            <a:r>
              <a:rPr lang="zh-CN" sz="105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赋值，</a:t>
            </a:r>
            <a:r>
              <a:rPr lang="en-US" sz="105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-argName=argValue </a:t>
            </a:r>
            <a:r>
              <a:rPr lang="zh-CN" sz="105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会被整体当成配置项名</a:t>
            </a:r>
            <a:endParaRPr lang="zh-CN" sz="1050">
              <a:solidFill>
                <a:srgbClr val="E2E8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11" name="文本框 910" descr="{&quot;isTemplate&quot;:true,&quot;type&quot;:&quot;text&quot;}"/>
          <p:cNvSpPr txBox="1"/>
          <p:nvPr/>
        </p:nvSpPr>
        <p:spPr>
          <a:xfrm>
            <a:off x="800100" y="4505325"/>
            <a:ext cx="5029200" cy="581025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80000"/>
              </a:lnSpc>
            </a:pPr>
            <a:r>
              <a:rPr lang="en-US" sz="105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· </a:t>
            </a:r>
            <a:r>
              <a:rPr lang="zh-CN" sz="105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不以</a:t>
            </a:r>
            <a:r>
              <a:rPr lang="en-US" sz="105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 - </a:t>
            </a:r>
            <a:r>
              <a:rPr lang="zh-CN" sz="105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开头的参数被忽略；</a:t>
            </a:r>
            <a:r>
              <a:rPr lang="en-US" sz="105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env.getCommandLine()[0]</a:t>
            </a:r>
            <a:r>
              <a:rPr lang="zh-CN" sz="105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（程序自身路径）不参与解析</a:t>
            </a:r>
            <a:endParaRPr lang="zh-CN" sz="1050">
              <a:solidFill>
                <a:srgbClr val="E2E8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12" name="文本框 911" descr="{&quot;isTemplate&quot;:true,&quot;type&quot;:&quot;text&quot;}"/>
          <p:cNvSpPr txBox="1"/>
          <p:nvPr/>
        </p:nvSpPr>
        <p:spPr>
          <a:xfrm>
            <a:off x="800100" y="5162550"/>
            <a:ext cx="5029200" cy="2952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80000"/>
              </a:lnSpc>
            </a:pPr>
            <a:r>
              <a:rPr lang="en-US" sz="105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· </a:t>
            </a:r>
            <a:r>
              <a:rPr lang="zh-CN" sz="105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命名风格不被改写</a:t>
            </a:r>
            <a:r>
              <a:rPr lang="en-US" sz="105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 —— </a:t>
            </a:r>
            <a:r>
              <a:rPr lang="zh-CN" sz="105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业务配置建议同样用驼峰</a:t>
            </a:r>
            <a:endParaRPr lang="zh-CN" sz="1050">
              <a:solidFill>
                <a:srgbClr val="E2E8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13" name="圆角矩形 912"/>
          <p:cNvSpPr/>
          <p:nvPr/>
        </p:nvSpPr>
        <p:spPr>
          <a:xfrm>
            <a:off x="6172200" y="3657600"/>
            <a:ext cx="5410200" cy="2628900"/>
          </a:xfrm>
          <a:prstGeom prst="roundRect">
            <a:avLst>
              <a:gd name="adj" fmla="val 4348"/>
            </a:avLst>
          </a:prstGeom>
          <a:solidFill>
            <a:srgbClr val="0B1220"/>
          </a:solidFill>
          <a:ln w="12700">
            <a:solidFill>
              <a:srgbClr val="1E293B"/>
            </a:solidFill>
            <a:prstDash val="solid"/>
          </a:ln>
        </p:spPr>
        <p:txBody>
          <a:bodyPr/>
          <a:p/>
        </p:txBody>
      </p:sp>
      <p:sp>
        <p:nvSpPr>
          <p:cNvPr id="914" name="文本框 913" descr="{&quot;isTemplate&quot;:true,&quot;type&quot;:&quot;text&quot;}"/>
          <p:cNvSpPr txBox="1"/>
          <p:nvPr/>
        </p:nvSpPr>
        <p:spPr>
          <a:xfrm>
            <a:off x="6362700" y="3848100"/>
            <a:ext cx="5029200" cy="1714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fdemo/boot.sh · build()</a:t>
            </a:r>
            <a:endParaRPr lang="en-US" sz="112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15" name="文本框 914" descr="{&quot;isTemplate&quot;:true,&quot;type&quot;:&quot;text&quot;}"/>
          <p:cNvSpPr txBox="1"/>
          <p:nvPr/>
        </p:nvSpPr>
        <p:spPr>
          <a:xfrm>
            <a:off x="6362700" y="4114800"/>
            <a:ext cx="5029200" cy="2952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80000"/>
              </a:lnSpc>
            </a:pPr>
            <a:r>
              <a:rPr lang="en-US" sz="1050">
                <a:solidFill>
                  <a:srgbClr val="E2E8F0"/>
                </a:solidFill>
                <a:latin typeface="JetBrains Mono"/>
                <a:ea typeface="JetBrains Mono"/>
              </a:rPr>
              <a:t>args='--orm_drivers=postgres'</a:t>
            </a:r>
            <a:endParaRPr lang="en-US" sz="1050">
              <a:solidFill>
                <a:srgbClr val="E2E8F0"/>
              </a:solidFill>
              <a:latin typeface="JetBrains Mono"/>
              <a:ea typeface="JetBrains Mono"/>
            </a:endParaRPr>
          </a:p>
        </p:txBody>
      </p:sp>
      <p:sp>
        <p:nvSpPr>
          <p:cNvPr id="916" name="文本框 915" descr="{&quot;isTemplate&quot;:true,&quot;type&quot;:&quot;text&quot;}"/>
          <p:cNvSpPr txBox="1"/>
          <p:nvPr/>
        </p:nvSpPr>
        <p:spPr>
          <a:xfrm>
            <a:off x="6362700" y="4410075"/>
            <a:ext cx="5029200" cy="2952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80000"/>
              </a:lnSpc>
            </a:pPr>
            <a:r>
              <a:rPr lang="en-US" sz="1050">
                <a:solidFill>
                  <a:srgbClr val="E2E8F0"/>
                </a:solidFill>
                <a:latin typeface="JetBrains Mono"/>
                <a:ea typeface="JetBrains Mono"/>
              </a:rPr>
              <a:t>args="$args --postgres_orm_connectionUrl=$POSTGRES"</a:t>
            </a:r>
            <a:endParaRPr lang="en-US" sz="1050">
              <a:solidFill>
                <a:srgbClr val="E2E8F0"/>
              </a:solidFill>
              <a:latin typeface="JetBrains Mono"/>
              <a:ea typeface="JetBrains Mono"/>
            </a:endParaRPr>
          </a:p>
        </p:txBody>
      </p:sp>
      <p:sp>
        <p:nvSpPr>
          <p:cNvPr id="917" name="文本框 916" descr="{&quot;isTemplate&quot;:true,&quot;type&quot;:&quot;text&quot;}"/>
          <p:cNvSpPr txBox="1"/>
          <p:nvPr/>
        </p:nvSpPr>
        <p:spPr>
          <a:xfrm>
            <a:off x="6362700" y="4705350"/>
            <a:ext cx="5029200" cy="2952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80000"/>
              </a:lnSpc>
            </a:pPr>
            <a:r>
              <a:rPr lang="en-US" sz="1050">
                <a:solidFill>
                  <a:srgbClr val="E2E8F0"/>
                </a:solidFill>
                <a:latin typeface="JetBrains Mono"/>
                <a:ea typeface="JetBrains Mono"/>
              </a:rPr>
              <a:t>args="$args --sm4Key=$(fboot randhex 32)"</a:t>
            </a:r>
            <a:endParaRPr lang="en-US" sz="1050">
              <a:solidFill>
                <a:srgbClr val="E2E8F0"/>
              </a:solidFill>
              <a:latin typeface="JetBrains Mono"/>
              <a:ea typeface="JetBrains Mono"/>
            </a:endParaRPr>
          </a:p>
        </p:txBody>
      </p:sp>
      <p:sp>
        <p:nvSpPr>
          <p:cNvPr id="918" name="文本框 917" descr="{&quot;isTemplate&quot;:true,&quot;type&quot;:&quot;text&quot;}"/>
          <p:cNvSpPr txBox="1"/>
          <p:nvPr/>
        </p:nvSpPr>
        <p:spPr>
          <a:xfrm>
            <a:off x="6362700" y="5000625"/>
            <a:ext cx="5029200" cy="2952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80000"/>
              </a:lnSpc>
            </a:pPr>
            <a:r>
              <a:rPr lang="en-US" sz="1050">
                <a:solidFill>
                  <a:srgbClr val="F59E0B"/>
                </a:solidFill>
                <a:latin typeface="JetBrains Mono"/>
                <a:ea typeface="JetBrains Mono"/>
              </a:rPr>
              <a:t>fboot build $target_path $args</a:t>
            </a:r>
            <a:endParaRPr lang="en-US" sz="1050">
              <a:solidFill>
                <a:srgbClr val="F59E0B"/>
              </a:solidFill>
              <a:latin typeface="JetBrains Mono"/>
              <a:ea typeface="JetBrains Mono"/>
            </a:endParaRPr>
          </a:p>
        </p:txBody>
      </p:sp>
      <p:sp>
        <p:nvSpPr>
          <p:cNvPr id="919" name="文本框 918" descr="{&quot;isTemplate&quot;:true,&quot;type&quot;:&quot;text&quot;}"/>
          <p:cNvSpPr txBox="1"/>
          <p:nvPr/>
        </p:nvSpPr>
        <p:spPr>
          <a:xfrm>
            <a:off x="6362700" y="5819775"/>
            <a:ext cx="5029200" cy="2762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zh-CN" sz="105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作者在上面留了一段被注释掉的等价写法，用的全是</a:t>
            </a:r>
            <a:r>
              <a:rPr lang="en-US" sz="105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 export</a:t>
            </a:r>
            <a:r>
              <a:rPr lang="zh-CN" sz="105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。</a:t>
            </a:r>
            <a:endParaRPr lang="zh-CN" sz="105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20" name="任意多边形 919"/>
          <p:cNvSpPr/>
          <p:nvPr/>
        </p:nvSpPr>
        <p:spPr>
          <a:xfrm>
            <a:off x="609600" y="6286500"/>
            <a:ext cx="10972800" cy="381000"/>
          </a:xfrm>
          <a:custGeom>
            <a:avLst/>
            <a:gdLst/>
            <a:ahLst/>
            <a:cxnLst/>
            <a:pathLst>
              <a:path w="1152" h="40">
                <a:moveTo>
                  <a:pt x="0" y="0"/>
                </a:moveTo>
                <a:lnTo>
                  <a:pt x="1152" y="0"/>
                </a:lnTo>
                <a:lnTo>
                  <a:pt x="1152" y="1"/>
                </a:lnTo>
                <a:lnTo>
                  <a:pt x="0" y="1"/>
                </a:lnTo>
                <a:close/>
              </a:path>
            </a:pathLst>
          </a:custGeom>
          <a:solidFill>
            <a:srgbClr val="1E293B"/>
          </a:solidFill>
        </p:spPr>
        <p:txBody>
          <a:bodyPr/>
          <a:p/>
        </p:txBody>
      </p:sp>
      <p:sp>
        <p:nvSpPr>
          <p:cNvPr id="921" name="文本框 920" descr="{&quot;isTemplate&quot;:true,&quot;type&quot;:&quot;text&quot;}"/>
          <p:cNvSpPr txBox="1"/>
          <p:nvPr/>
        </p:nvSpPr>
        <p:spPr>
          <a:xfrm>
            <a:off x="609600" y="6410325"/>
            <a:ext cx="2219325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fountain · 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一站式服务器应用开发工具库</a:t>
            </a:r>
            <a:endParaRPr lang="zh-CN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22" name="文本框 921" descr="{&quot;isTemplate&quot;:true,&quot;type&quot;:&quot;text&quot;}"/>
          <p:cNvSpPr txBox="1"/>
          <p:nvPr/>
        </p:nvSpPr>
        <p:spPr>
          <a:xfrm>
            <a:off x="11087100" y="6410325"/>
            <a:ext cx="495300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24 / 116</a:t>
            </a:r>
            <a:endParaRPr lang="en-US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92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4" name="矩形 92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220"/>
          </a:solidFill>
        </p:spPr>
        <p:txBody>
          <a:bodyPr/>
          <a:p/>
        </p:txBody>
      </p:sp>
      <p:sp>
        <p:nvSpPr>
          <p:cNvPr id="925" name="矩形 924"/>
          <p:cNvSpPr/>
          <p:nvPr/>
        </p:nvSpPr>
        <p:spPr>
          <a:xfrm>
            <a:off x="609600" y="476250"/>
            <a:ext cx="38100" cy="381000"/>
          </a:xfrm>
          <a:prstGeom prst="rect">
            <a:avLst/>
          </a:prstGeom>
          <a:solidFill>
            <a:srgbClr val="38BDF8"/>
          </a:solidFill>
        </p:spPr>
        <p:txBody>
          <a:bodyPr/>
          <a:p/>
        </p:txBody>
      </p:sp>
      <p:sp>
        <p:nvSpPr>
          <p:cNvPr id="926" name="文本框 925" descr="{&quot;isTemplate&quot;:true,&quot;type&quot;:&quot;text&quot;}"/>
          <p:cNvSpPr txBox="1"/>
          <p:nvPr/>
        </p:nvSpPr>
        <p:spPr>
          <a:xfrm>
            <a:off x="819150" y="304800"/>
            <a:ext cx="9648825" cy="2095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第</a:t>
            </a: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 4 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章</a:t>
            </a: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 · 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配置</a:t>
            </a: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 f_config · 4.2 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续</a:t>
            </a:r>
            <a:endParaRPr lang="zh-CN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27" name="文本框 926" descr="{&quot;isTemplate&quot;:true,&quot;type&quot;:&quot;text&quot;}"/>
          <p:cNvSpPr txBox="1"/>
          <p:nvPr/>
        </p:nvSpPr>
        <p:spPr>
          <a:xfrm>
            <a:off x="819150" y="514350"/>
            <a:ext cx="9648825" cy="5143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2550" b="1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同一个写法，两个舞台</a:t>
            </a:r>
            <a:endParaRPr lang="zh-CN" sz="2550" b="1">
              <a:solidFill>
                <a:srgbClr val="E2E8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28" name="文本框 927" descr="{&quot;isTemplate&quot;:true,&quot;type&quot;:&quot;text&quot;}"/>
          <p:cNvSpPr txBox="1"/>
          <p:nvPr/>
        </p:nvSpPr>
        <p:spPr>
          <a:xfrm>
            <a:off x="10639425" y="590550"/>
            <a:ext cx="942975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编译期</a:t>
            </a: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 vs 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运行期</a:t>
            </a:r>
            <a:endParaRPr lang="zh-CN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29" name="圆角矩形 928"/>
          <p:cNvSpPr/>
          <p:nvPr/>
        </p:nvSpPr>
        <p:spPr>
          <a:xfrm>
            <a:off x="609600" y="1143000"/>
            <a:ext cx="5410200" cy="3390900"/>
          </a:xfrm>
          <a:prstGeom prst="roundRect">
            <a:avLst>
              <a:gd name="adj" fmla="val 3371"/>
            </a:avLst>
          </a:prstGeom>
          <a:solidFill>
            <a:srgbClr val="111C2E"/>
          </a:solidFill>
          <a:ln w="12700">
            <a:solidFill>
              <a:srgbClr val="38BDF8"/>
            </a:solidFill>
            <a:prstDash val="solid"/>
          </a:ln>
        </p:spPr>
        <p:txBody>
          <a:bodyPr/>
          <a:p/>
        </p:txBody>
      </p:sp>
      <p:sp>
        <p:nvSpPr>
          <p:cNvPr id="930" name="文本框 929" descr="{&quot;isTemplate&quot;:true,&quot;type&quot;:&quot;text&quot;}"/>
          <p:cNvSpPr txBox="1"/>
          <p:nvPr/>
        </p:nvSpPr>
        <p:spPr>
          <a:xfrm>
            <a:off x="819150" y="1352550"/>
            <a:ext cx="4991100" cy="2286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38BDF8"/>
                </a:solidFill>
                <a:latin typeface="微软雅黑" panose="020B0503020204020204" charset="-122"/>
                <a:ea typeface="微软雅黑" panose="020B0503020204020204" charset="-122"/>
              </a:rPr>
              <a:t>编译期</a:t>
            </a:r>
            <a:endParaRPr lang="zh-CN" sz="1500" b="1">
              <a:solidFill>
                <a:srgbClr val="38BDF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31" name="文本框 930" descr="{&quot;isTemplate&quot;:true,&quot;type&quot;:&quot;text&quot;}"/>
          <p:cNvSpPr txBox="1"/>
          <p:nvPr/>
        </p:nvSpPr>
        <p:spPr>
          <a:xfrm>
            <a:off x="819150" y="1638300"/>
            <a:ext cx="4991100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在</a:t>
            </a:r>
            <a:r>
              <a:rPr lang="en-US" sz="105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 fboot build </a:t>
            </a:r>
            <a:r>
              <a:rPr lang="zh-CN" sz="105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进程自己的</a:t>
            </a:r>
            <a:r>
              <a:rPr lang="en-US" sz="105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 argv </a:t>
            </a:r>
            <a:r>
              <a:rPr lang="zh-CN" sz="105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里</a:t>
            </a:r>
            <a:endParaRPr lang="zh-CN" sz="105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32" name="文本框 931" descr="{&quot;isTemplate&quot;:true,&quot;type&quot;:&quot;text&quot;}"/>
          <p:cNvSpPr txBox="1"/>
          <p:nvPr/>
        </p:nvSpPr>
        <p:spPr>
          <a:xfrm>
            <a:off x="819150" y="1952625"/>
            <a:ext cx="4991100" cy="3143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80000"/>
              </a:lnSpc>
            </a:pPr>
            <a:r>
              <a:rPr lang="en-US" sz="112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· </a:t>
            </a:r>
            <a:r>
              <a:rPr lang="zh-CN" sz="112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由</a:t>
            </a:r>
            <a:r>
              <a:rPr lang="en-US" sz="112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fboot </a:t>
            </a:r>
            <a:r>
              <a:rPr lang="zh-CN" sz="112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进程里的</a:t>
            </a:r>
            <a:r>
              <a:rPr lang="en-US" sz="112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f_config </a:t>
            </a:r>
            <a:r>
              <a:rPr lang="zh-CN" sz="112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读到</a:t>
            </a:r>
            <a:endParaRPr lang="zh-CN" sz="1125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33" name="文本框 932" descr="{&quot;isTemplate&quot;:true,&quot;type&quot;:&quot;text&quot;}"/>
          <p:cNvSpPr txBox="1"/>
          <p:nvPr/>
        </p:nvSpPr>
        <p:spPr>
          <a:xfrm>
            <a:off x="819150" y="2343150"/>
            <a:ext cx="4991100" cy="3143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80000"/>
              </a:lnSpc>
            </a:pPr>
            <a:r>
              <a:rPr lang="en-US" sz="112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· </a:t>
            </a:r>
            <a:r>
              <a:rPr lang="zh-CN" sz="112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转成</a:t>
            </a:r>
            <a:r>
              <a:rPr lang="en-US" sz="112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cjpm build </a:t>
            </a:r>
            <a:r>
              <a:rPr lang="zh-CN" sz="112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子进程的环境变量</a:t>
            </a:r>
            <a:endParaRPr lang="zh-CN" sz="1125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34" name="文本框 933" descr="{&quot;isTemplate&quot;:true,&quot;type&quot;:&quot;text&quot;}"/>
          <p:cNvSpPr txBox="1"/>
          <p:nvPr/>
        </p:nvSpPr>
        <p:spPr>
          <a:xfrm>
            <a:off x="819150" y="2733675"/>
            <a:ext cx="4991100" cy="619125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80000"/>
              </a:lnSpc>
            </a:pPr>
            <a:r>
              <a:rPr lang="en-US" sz="112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· </a:t>
            </a:r>
            <a:r>
              <a:rPr lang="zh-CN" sz="112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宏（</a:t>
            </a:r>
            <a:r>
              <a:rPr lang="en-US" sz="112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@EmbedSensitive</a:t>
            </a:r>
            <a:r>
              <a:rPr lang="zh-CN" sz="112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、</a:t>
            </a:r>
            <a:r>
              <a:rPr lang="en-US" sz="112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ORMConfig</a:t>
            </a:r>
            <a:r>
              <a:rPr lang="zh-CN" sz="112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）在编译期读到它们，把连接串</a:t>
            </a:r>
            <a:r>
              <a:rPr lang="en-US" sz="112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/ </a:t>
            </a:r>
            <a:r>
              <a:rPr lang="zh-CN" sz="112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口令加密嵌入产物</a:t>
            </a:r>
            <a:endParaRPr lang="zh-CN" sz="1125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35" name="文本框 934" descr="{&quot;isTemplate&quot;:true,&quot;type&quot;:&quot;text&quot;}"/>
          <p:cNvSpPr txBox="1"/>
          <p:nvPr/>
        </p:nvSpPr>
        <p:spPr>
          <a:xfrm>
            <a:off x="819150" y="4048125"/>
            <a:ext cx="4991100" cy="2762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zh-CN" sz="1050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效果：写进产物，成为编译期内嵌值</a:t>
            </a:r>
            <a:endParaRPr lang="zh-CN" sz="1050">
              <a:solidFill>
                <a:srgbClr val="F59E0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36" name="圆角矩形 935"/>
          <p:cNvSpPr/>
          <p:nvPr/>
        </p:nvSpPr>
        <p:spPr>
          <a:xfrm>
            <a:off x="6172200" y="1143000"/>
            <a:ext cx="5410200" cy="3390900"/>
          </a:xfrm>
          <a:prstGeom prst="roundRect">
            <a:avLst>
              <a:gd name="adj" fmla="val 3371"/>
            </a:avLst>
          </a:prstGeom>
          <a:solidFill>
            <a:srgbClr val="111C2E"/>
          </a:solidFill>
          <a:ln w="12700">
            <a:solidFill>
              <a:srgbClr val="1E293B"/>
            </a:solidFill>
            <a:prstDash val="solid"/>
          </a:ln>
        </p:spPr>
        <p:txBody>
          <a:bodyPr/>
          <a:p/>
        </p:txBody>
      </p:sp>
      <p:sp>
        <p:nvSpPr>
          <p:cNvPr id="937" name="文本框 936" descr="{&quot;isTemplate&quot;:true,&quot;type&quot;:&quot;text&quot;}"/>
          <p:cNvSpPr txBox="1"/>
          <p:nvPr/>
        </p:nvSpPr>
        <p:spPr>
          <a:xfrm>
            <a:off x="6381750" y="1352550"/>
            <a:ext cx="4991100" cy="2286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运行期</a:t>
            </a:r>
            <a:endParaRPr lang="zh-CN" sz="1500" b="1">
              <a:solidFill>
                <a:srgbClr val="E2E8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38" name="文本框 937" descr="{&quot;isTemplate&quot;:true,&quot;type&quot;:&quot;text&quot;}"/>
          <p:cNvSpPr txBox="1"/>
          <p:nvPr/>
        </p:nvSpPr>
        <p:spPr>
          <a:xfrm>
            <a:off x="6381750" y="1638300"/>
            <a:ext cx="4991100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在</a:t>
            </a:r>
            <a:r>
              <a:rPr lang="en-US" sz="105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 fboot run </a:t>
            </a:r>
            <a:r>
              <a:rPr lang="zh-CN" sz="105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进程的</a:t>
            </a:r>
            <a:r>
              <a:rPr lang="en-US" sz="105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 argv </a:t>
            </a:r>
            <a:r>
              <a:rPr lang="zh-CN" sz="105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里（应用就加载在这个进程里）</a:t>
            </a:r>
            <a:endParaRPr lang="zh-CN" sz="105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39" name="文本框 938" descr="{&quot;isTemplate&quot;:true,&quot;type&quot;:&quot;text&quot;}"/>
          <p:cNvSpPr txBox="1"/>
          <p:nvPr/>
        </p:nvSpPr>
        <p:spPr>
          <a:xfrm>
            <a:off x="6381750" y="1952625"/>
            <a:ext cx="4991100" cy="3143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80000"/>
              </a:lnSpc>
            </a:pPr>
            <a:r>
              <a:rPr lang="en-US" sz="112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· </a:t>
            </a:r>
            <a:r>
              <a:rPr lang="zh-CN" sz="112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同一个</a:t>
            </a:r>
            <a:r>
              <a:rPr lang="en-US" sz="112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f_config</a:t>
            </a:r>
            <a:r>
              <a:rPr lang="zh-CN" sz="112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，同一套</a:t>
            </a:r>
            <a:r>
              <a:rPr lang="en-US" sz="112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static init</a:t>
            </a:r>
            <a:endParaRPr lang="en-US" sz="1125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40" name="文本框 939" descr="{&quot;isTemplate&quot;:true,&quot;type&quot;:&quot;text&quot;}"/>
          <p:cNvSpPr txBox="1"/>
          <p:nvPr/>
        </p:nvSpPr>
        <p:spPr>
          <a:xfrm>
            <a:off x="6381750" y="2343150"/>
            <a:ext cx="4991100" cy="3143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80000"/>
              </a:lnSpc>
            </a:pPr>
            <a:r>
              <a:rPr lang="en-US" sz="112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· </a:t>
            </a:r>
            <a:r>
              <a:rPr lang="zh-CN" sz="112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装载进</a:t>
            </a:r>
            <a:r>
              <a:rPr lang="en-US" sz="112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ARGS</a:t>
            </a:r>
            <a:endParaRPr lang="en-US" sz="1125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41" name="文本框 940" descr="{&quot;isTemplate&quot;:true,&quot;type&quot;:&quot;text&quot;}"/>
          <p:cNvSpPr txBox="1"/>
          <p:nvPr/>
        </p:nvSpPr>
        <p:spPr>
          <a:xfrm>
            <a:off x="6381750" y="2733675"/>
            <a:ext cx="4991100" cy="3143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80000"/>
              </a:lnSpc>
            </a:pPr>
            <a:r>
              <a:rPr lang="en-US" sz="112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· </a:t>
            </a:r>
            <a:r>
              <a:rPr lang="zh-CN" sz="112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覆盖同名环境变量，也覆盖编译期内嵌值</a:t>
            </a:r>
            <a:endParaRPr lang="zh-CN" sz="1125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42" name="文本框 941" descr="{&quot;isTemplate&quot;:true,&quot;type&quot;:&quot;text&quot;}"/>
          <p:cNvSpPr txBox="1"/>
          <p:nvPr/>
        </p:nvSpPr>
        <p:spPr>
          <a:xfrm>
            <a:off x="6381750" y="4048125"/>
            <a:ext cx="4991100" cy="2762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zh-CN" sz="1050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效果：一份产物跑多套环境</a:t>
            </a:r>
            <a:endParaRPr lang="zh-CN" sz="1050">
              <a:solidFill>
                <a:srgbClr val="F59E0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43" name="圆角矩形 942"/>
          <p:cNvSpPr/>
          <p:nvPr/>
        </p:nvSpPr>
        <p:spPr>
          <a:xfrm>
            <a:off x="609600" y="4686300"/>
            <a:ext cx="10972800" cy="1600200"/>
          </a:xfrm>
          <a:prstGeom prst="roundRect">
            <a:avLst>
              <a:gd name="adj" fmla="val 7143"/>
            </a:avLst>
          </a:prstGeom>
          <a:solidFill>
            <a:srgbClr val="38BDF8">
              <a:alpha val="6000"/>
            </a:srgbClr>
          </a:solidFill>
          <a:ln w="12700">
            <a:solidFill>
              <a:srgbClr val="38BDF8"/>
            </a:solidFill>
            <a:prstDash val="solid"/>
          </a:ln>
        </p:spPr>
        <p:txBody>
          <a:bodyPr/>
          <a:p/>
        </p:txBody>
      </p:sp>
      <p:sp>
        <p:nvSpPr>
          <p:cNvPr id="944" name="文本框 943" descr="{&quot;isTemplate&quot;:true,&quot;type&quot;:&quot;text&quot;}"/>
          <p:cNvSpPr txBox="1"/>
          <p:nvPr/>
        </p:nvSpPr>
        <p:spPr>
          <a:xfrm>
            <a:off x="800100" y="4876800"/>
            <a:ext cx="10591800" cy="1905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38BDF8"/>
                </a:solidFill>
                <a:latin typeface="微软雅黑" panose="020B0503020204020204" charset="-122"/>
                <a:ea typeface="微软雅黑" panose="020B0503020204020204" charset="-122"/>
              </a:rPr>
              <a:t>两边都是同一条规则</a:t>
            </a:r>
            <a:endParaRPr lang="zh-CN" sz="1200" b="1">
              <a:solidFill>
                <a:srgbClr val="38BDF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45" name="文本框 944" descr="{&quot;isTemplate&quot;:true,&quot;type&quot;:&quot;text&quot;}"/>
          <p:cNvSpPr txBox="1"/>
          <p:nvPr/>
        </p:nvSpPr>
        <p:spPr>
          <a:xfrm>
            <a:off x="800100" y="5124450"/>
            <a:ext cx="10591800" cy="2952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zh-CN" sz="1125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谁的命令行里有</a:t>
            </a:r>
            <a:r>
              <a:rPr lang="en-US" sz="1125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 --k=v</a:t>
            </a:r>
            <a:r>
              <a:rPr lang="zh-CN" sz="1125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，且那个进程链了</a:t>
            </a:r>
            <a:r>
              <a:rPr lang="en-US" sz="1125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 f_config</a:t>
            </a:r>
            <a:r>
              <a:rPr lang="zh-CN" sz="1125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，谁就把它读成配置项。</a:t>
            </a:r>
            <a:endParaRPr lang="zh-CN" sz="1125">
              <a:solidFill>
                <a:srgbClr val="E2E8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46" name="文本框 945" descr="{&quot;isTemplate&quot;:true,&quot;type&quot;:&quot;text&quot;}"/>
          <p:cNvSpPr txBox="1"/>
          <p:nvPr/>
        </p:nvSpPr>
        <p:spPr>
          <a:xfrm>
            <a:off x="800100" y="5495925"/>
            <a:ext cx="10591800" cy="552450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zh-CN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对照</a:t>
            </a:r>
            <a:r>
              <a:rPr lang="en-US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fdemo</a:t>
            </a:r>
            <a:r>
              <a:rPr lang="zh-CN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：</a:t>
            </a:r>
            <a:r>
              <a:rPr lang="en-US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boot.sh </a:t>
            </a:r>
            <a:r>
              <a:rPr lang="zh-CN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的</a:t>
            </a:r>
            <a:r>
              <a:rPr lang="en-US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build() </a:t>
            </a:r>
            <a:r>
              <a:rPr lang="zh-CN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把</a:t>
            </a:r>
            <a:r>
              <a:rPr lang="en-US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--k=v </a:t>
            </a:r>
            <a:r>
              <a:rPr lang="zh-CN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交给</a:t>
            </a:r>
            <a:r>
              <a:rPr lang="en-US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fboot build → </a:t>
            </a:r>
            <a:r>
              <a:rPr lang="zh-CN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编译期；</a:t>
            </a:r>
            <a:r>
              <a:rPr lang="en-US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boot.sh </a:t>
            </a:r>
            <a:r>
              <a:rPr lang="zh-CN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的</a:t>
            </a:r>
            <a:r>
              <a:rPr lang="en-US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run() </a:t>
            </a:r>
            <a:r>
              <a:rPr lang="zh-CN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用</a:t>
            </a:r>
            <a:r>
              <a:rPr lang="en-US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export → </a:t>
            </a:r>
            <a:r>
              <a:rPr lang="zh-CN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运行期；</a:t>
            </a:r>
            <a:r>
              <a:rPr lang="en-US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boot-win-gitbash.sh </a:t>
            </a:r>
            <a:r>
              <a:rPr lang="zh-CN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的</a:t>
            </a:r>
            <a:r>
              <a:rPr lang="en-US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run() </a:t>
            </a:r>
            <a:r>
              <a:rPr lang="zh-CN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直接把</a:t>
            </a:r>
            <a:r>
              <a:rPr lang="en-US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--k=v </a:t>
            </a:r>
            <a:r>
              <a:rPr lang="zh-CN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拼在</a:t>
            </a:r>
            <a:r>
              <a:rPr lang="en-US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fboot run </a:t>
            </a:r>
            <a:r>
              <a:rPr lang="zh-CN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后面</a:t>
            </a:r>
            <a:r>
              <a:rPr lang="en-US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→ </a:t>
            </a:r>
            <a:r>
              <a:rPr lang="zh-CN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运行期。</a:t>
            </a:r>
            <a:endParaRPr lang="zh-CN" sz="1050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47" name="任意多边形 946"/>
          <p:cNvSpPr/>
          <p:nvPr/>
        </p:nvSpPr>
        <p:spPr>
          <a:xfrm>
            <a:off x="609600" y="6286500"/>
            <a:ext cx="10972800" cy="381000"/>
          </a:xfrm>
          <a:custGeom>
            <a:avLst/>
            <a:gdLst/>
            <a:ahLst/>
            <a:cxnLst/>
            <a:pathLst>
              <a:path w="1152" h="40">
                <a:moveTo>
                  <a:pt x="0" y="0"/>
                </a:moveTo>
                <a:lnTo>
                  <a:pt x="1152" y="0"/>
                </a:lnTo>
                <a:lnTo>
                  <a:pt x="1152" y="1"/>
                </a:lnTo>
                <a:lnTo>
                  <a:pt x="0" y="1"/>
                </a:lnTo>
                <a:close/>
              </a:path>
            </a:pathLst>
          </a:custGeom>
          <a:solidFill>
            <a:srgbClr val="1E293B"/>
          </a:solidFill>
        </p:spPr>
        <p:txBody>
          <a:bodyPr/>
          <a:p/>
        </p:txBody>
      </p:sp>
      <p:sp>
        <p:nvSpPr>
          <p:cNvPr id="948" name="文本框 947" descr="{&quot;isTemplate&quot;:true,&quot;type&quot;:&quot;text&quot;}"/>
          <p:cNvSpPr txBox="1"/>
          <p:nvPr/>
        </p:nvSpPr>
        <p:spPr>
          <a:xfrm>
            <a:off x="609600" y="6410325"/>
            <a:ext cx="2219325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fountain · 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一站式服务器应用开发工具库</a:t>
            </a:r>
            <a:endParaRPr lang="zh-CN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49" name="文本框 948" descr="{&quot;isTemplate&quot;:true,&quot;type&quot;:&quot;text&quot;}"/>
          <p:cNvSpPr txBox="1"/>
          <p:nvPr/>
        </p:nvSpPr>
        <p:spPr>
          <a:xfrm>
            <a:off x="11087100" y="6410325"/>
            <a:ext cx="495300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25 / 116</a:t>
            </a:r>
            <a:endParaRPr lang="en-US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95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1" name="矩形 95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220"/>
          </a:solidFill>
        </p:spPr>
        <p:txBody>
          <a:bodyPr/>
          <a:p/>
        </p:txBody>
      </p:sp>
      <p:sp>
        <p:nvSpPr>
          <p:cNvPr id="952" name="矩形 951"/>
          <p:cNvSpPr/>
          <p:nvPr/>
        </p:nvSpPr>
        <p:spPr>
          <a:xfrm>
            <a:off x="609600" y="476250"/>
            <a:ext cx="38100" cy="381000"/>
          </a:xfrm>
          <a:prstGeom prst="rect">
            <a:avLst/>
          </a:prstGeom>
          <a:solidFill>
            <a:srgbClr val="38BDF8"/>
          </a:solidFill>
        </p:spPr>
        <p:txBody>
          <a:bodyPr/>
          <a:p/>
        </p:txBody>
      </p:sp>
      <p:sp>
        <p:nvSpPr>
          <p:cNvPr id="953" name="文本框 952" descr="{&quot;isTemplate&quot;:true,&quot;type&quot;:&quot;text&quot;}"/>
          <p:cNvSpPr txBox="1"/>
          <p:nvPr/>
        </p:nvSpPr>
        <p:spPr>
          <a:xfrm>
            <a:off x="819150" y="304800"/>
            <a:ext cx="9848850" cy="2095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第</a:t>
            </a: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 4 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章</a:t>
            </a: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 · 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配置</a:t>
            </a: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 f_config · 4.3</a:t>
            </a:r>
            <a:endParaRPr lang="en-US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54" name="文本框 953" descr="{&quot;isTemplate&quot;:true,&quot;type&quot;:&quot;text&quot;}"/>
          <p:cNvSpPr txBox="1"/>
          <p:nvPr/>
        </p:nvSpPr>
        <p:spPr>
          <a:xfrm>
            <a:off x="819150" y="514350"/>
            <a:ext cx="9848850" cy="5143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2550" b="1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读取优先级：先命中者生效</a:t>
            </a:r>
            <a:endParaRPr lang="zh-CN" sz="2550" b="1">
              <a:solidFill>
                <a:srgbClr val="E2E8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55" name="文本框 954" descr="{&quot;isTemplate&quot;:true,&quot;type&quot;:&quot;text&quot;}"/>
          <p:cNvSpPr txBox="1"/>
          <p:nvPr/>
        </p:nvSpPr>
        <p:spPr>
          <a:xfrm>
            <a:off x="10839450" y="590550"/>
            <a:ext cx="742950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建议做成动画</a:t>
            </a:r>
            <a:endParaRPr lang="zh-CN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56" name="圆角矩形 955"/>
          <p:cNvSpPr/>
          <p:nvPr/>
        </p:nvSpPr>
        <p:spPr>
          <a:xfrm>
            <a:off x="609600" y="1143000"/>
            <a:ext cx="3143250" cy="5143500"/>
          </a:xfrm>
          <a:prstGeom prst="roundRect">
            <a:avLst>
              <a:gd name="adj" fmla="val 3636"/>
            </a:avLst>
          </a:prstGeom>
          <a:solidFill>
            <a:srgbClr val="111C2E"/>
          </a:solidFill>
          <a:ln w="12700">
            <a:solidFill>
              <a:srgbClr val="1E293B"/>
            </a:solidFill>
            <a:prstDash val="solid"/>
          </a:ln>
        </p:spPr>
        <p:txBody>
          <a:bodyPr/>
          <a:p/>
        </p:txBody>
      </p:sp>
      <p:sp>
        <p:nvSpPr>
          <p:cNvPr id="957" name="文本框 956" descr="{&quot;isTemplate&quot;:true,&quot;type&quot;:&quot;text&quot;}"/>
          <p:cNvSpPr txBox="1"/>
          <p:nvPr/>
        </p:nvSpPr>
        <p:spPr>
          <a:xfrm>
            <a:off x="857250" y="1390650"/>
            <a:ext cx="2647950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查找顺序</a:t>
            </a:r>
            <a:endParaRPr lang="zh-CN" sz="105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58" name="文本框 957" descr="{&quot;isTemplate&quot;:true,&quot;type&quot;:&quot;text&quot;}"/>
          <p:cNvSpPr txBox="1"/>
          <p:nvPr/>
        </p:nvSpPr>
        <p:spPr>
          <a:xfrm>
            <a:off x="857250" y="1647825"/>
            <a:ext cx="2647950" cy="11049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7200" b="1">
                <a:solidFill>
                  <a:srgbClr val="F59E0B"/>
                </a:solidFill>
                <a:latin typeface="JetBrains Mono"/>
                <a:ea typeface="JetBrains Mono"/>
              </a:rPr>
              <a:t>4</a:t>
            </a:r>
            <a:endParaRPr lang="en-US" sz="7200" b="1">
              <a:solidFill>
                <a:srgbClr val="F59E0B"/>
              </a:solidFill>
              <a:latin typeface="JetBrains Mono"/>
              <a:ea typeface="JetBrains Mono"/>
            </a:endParaRPr>
          </a:p>
        </p:txBody>
      </p:sp>
      <p:sp>
        <p:nvSpPr>
          <p:cNvPr id="959" name="文本框 958" descr="{&quot;isTemplate&quot;:true,&quot;type&quot;:&quot;text&quot;}"/>
          <p:cNvSpPr txBox="1"/>
          <p:nvPr/>
        </p:nvSpPr>
        <p:spPr>
          <a:xfrm>
            <a:off x="857250" y="2867025"/>
            <a:ext cx="2647950" cy="2286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级读取优先级</a:t>
            </a:r>
            <a:endParaRPr lang="zh-CN" sz="1500" b="1">
              <a:solidFill>
                <a:srgbClr val="E2E8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60" name="矩形 959"/>
          <p:cNvSpPr/>
          <p:nvPr/>
        </p:nvSpPr>
        <p:spPr>
          <a:xfrm>
            <a:off x="857250" y="3267075"/>
            <a:ext cx="381000" cy="28575"/>
          </a:xfrm>
          <a:prstGeom prst="rect">
            <a:avLst/>
          </a:prstGeom>
          <a:solidFill>
            <a:srgbClr val="38BDF8"/>
          </a:solidFill>
        </p:spPr>
        <p:txBody>
          <a:bodyPr/>
          <a:p/>
        </p:txBody>
      </p:sp>
      <p:sp>
        <p:nvSpPr>
          <p:cNvPr id="961" name="文本框 960" descr="{&quot;isTemplate&quot;:true,&quot;type&quot;:&quot;text&quot;}"/>
          <p:cNvSpPr txBox="1"/>
          <p:nvPr/>
        </p:nvSpPr>
        <p:spPr>
          <a:xfrm>
            <a:off x="857250" y="3467100"/>
            <a:ext cx="2647950" cy="3143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80000"/>
              </a:lnSpc>
            </a:pPr>
            <a:r>
              <a:rPr lang="zh-CN" sz="112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先命中者生效，命中即返回。</a:t>
            </a:r>
            <a:endParaRPr lang="zh-CN" sz="1125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62" name="文本框 961" descr="{&quot;isTemplate&quot;:true,&quot;type&quot;:&quot;text&quot;}"/>
          <p:cNvSpPr txBox="1"/>
          <p:nvPr/>
        </p:nvSpPr>
        <p:spPr>
          <a:xfrm>
            <a:off x="857250" y="5419725"/>
            <a:ext cx="2647950" cy="619125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80000"/>
              </a:lnSpc>
            </a:pPr>
            <a:r>
              <a:rPr lang="zh-CN" sz="1125" b="1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运行期配置（环境变量</a:t>
            </a:r>
            <a:r>
              <a:rPr lang="en-US" sz="1125" b="1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 / </a:t>
            </a:r>
            <a:r>
              <a:rPr lang="zh-CN" sz="1125" b="1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命令行）优先级高于编译期内嵌值。</a:t>
            </a:r>
            <a:endParaRPr lang="zh-CN" sz="1125" b="1">
              <a:solidFill>
                <a:srgbClr val="F59E0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graphicFrame>
        <p:nvGraphicFramePr>
          <p:cNvPr id="963" name="表格 962"/>
          <p:cNvGraphicFramePr/>
          <p:nvPr/>
        </p:nvGraphicFramePr>
        <p:xfrm>
          <a:off x="3981450" y="1143000"/>
          <a:ext cx="7600950" cy="2552700"/>
        </p:xfrm>
        <a:graphic>
          <a:graphicData uri="http://schemas.openxmlformats.org/drawingml/2006/table">
            <a:tbl>
              <a:tblPr/>
              <a:tblGrid>
                <a:gridCol w="666159"/>
                <a:gridCol w="6934791"/>
              </a:tblGrid>
              <a:tr h="471014"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 b="1">
                          <a:solidFill>
                            <a:srgbClr val="22D3EE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顺序</a:t>
                      </a:r>
                      <a:endParaRPr sz="975" b="1">
                        <a:solidFill>
                          <a:srgbClr val="22D3EE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6233A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 b="1">
                          <a:solidFill>
                            <a:srgbClr val="22D3EE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来源</a:t>
                      </a:r>
                      <a:endParaRPr sz="975" b="1">
                        <a:solidFill>
                          <a:srgbClr val="22D3EE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6233A"/>
                    </a:solidFill>
                  </a:tcPr>
                </a:tc>
              </a:tr>
              <a:tr h="520421"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 b="1">
                          <a:solidFill>
                            <a:srgbClr val="F59E0B"/>
                          </a:solidFill>
                          <a:latin typeface="JetBrains Mono"/>
                          <a:ea typeface="JetBrains Mono"/>
                        </a:rPr>
                        <a:t>1</a:t>
                      </a:r>
                      <a:endParaRPr sz="1125" b="1">
                        <a:solidFill>
                          <a:srgbClr val="F59E0B"/>
                        </a:solidFill>
                        <a:latin typeface="JetBrains Mono"/>
                        <a:ea typeface="JetBrains Mono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环境变量 / 命令行参数（ARGS[key]）</a:t>
                      </a:r>
                      <a:endParaRPr sz="1125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520421"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 b="1">
                          <a:solidFill>
                            <a:srgbClr val="F59E0B"/>
                          </a:solidFill>
                          <a:latin typeface="JetBrains Mono"/>
                          <a:ea typeface="JetBrains Mono"/>
                        </a:rPr>
                        <a:t>2</a:t>
                      </a:r>
                      <a:endParaRPr sz="1125" b="1">
                        <a:solidFill>
                          <a:srgbClr val="F59E0B"/>
                        </a:solidFill>
                        <a:latin typeface="JetBrains Mono"/>
                        <a:ea typeface="JetBrains Mono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带全局前缀的同名项（ARGS[fountain_key]）</a:t>
                      </a:r>
                      <a:endParaRPr sz="1125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520421"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 b="1">
                          <a:solidFill>
                            <a:srgbClr val="94A3B8"/>
                          </a:solidFill>
                          <a:latin typeface="JetBrains Mono"/>
                          <a:ea typeface="JetBrains Mono"/>
                        </a:rPr>
                        <a:t>3</a:t>
                      </a:r>
                      <a:endParaRPr sz="1125" b="1">
                        <a:solidFill>
                          <a:srgbClr val="94A3B8"/>
                        </a:solidFill>
                        <a:latin typeface="JetBrains Mono"/>
                        <a:ea typeface="JetBrains Mono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编译期内嵌的敏感值（sensitiveMap[key]）</a:t>
                      </a:r>
                      <a:endParaRPr sz="1125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520421"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 b="1">
                          <a:solidFill>
                            <a:srgbClr val="94A3B8"/>
                          </a:solidFill>
                          <a:latin typeface="JetBrains Mono"/>
                          <a:ea typeface="JetBrains Mono"/>
                        </a:rPr>
                        <a:t>4</a:t>
                      </a:r>
                      <a:endParaRPr sz="1125" b="1">
                        <a:solidFill>
                          <a:srgbClr val="94A3B8"/>
                        </a:solidFill>
                        <a:latin typeface="JetBrains Mono"/>
                        <a:ea typeface="JetBrains Mono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带全局前缀的敏感值（sensitiveMap[fountain_key]）</a:t>
                      </a:r>
                      <a:endParaRPr sz="1125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</a:tbl>
          </a:graphicData>
        </a:graphic>
      </p:graphicFrame>
      <p:sp>
        <p:nvSpPr>
          <p:cNvPr id="964" name="圆角矩形 963"/>
          <p:cNvSpPr/>
          <p:nvPr/>
        </p:nvSpPr>
        <p:spPr>
          <a:xfrm>
            <a:off x="3981450" y="3848100"/>
            <a:ext cx="7600950" cy="2438400"/>
          </a:xfrm>
          <a:prstGeom prst="roundRect">
            <a:avLst>
              <a:gd name="adj" fmla="val 4688"/>
            </a:avLst>
          </a:prstGeom>
          <a:solidFill>
            <a:srgbClr val="111C2E"/>
          </a:solidFill>
          <a:ln w="12700">
            <a:solidFill>
              <a:srgbClr val="1E293B"/>
            </a:solidFill>
            <a:prstDash val="solid"/>
          </a:ln>
        </p:spPr>
        <p:txBody>
          <a:bodyPr/>
          <a:p/>
        </p:txBody>
      </p:sp>
      <p:sp>
        <p:nvSpPr>
          <p:cNvPr id="965" name="文本框 964" descr="{&quot;isTemplate&quot;:true,&quot;type&quot;:&quot;text&quot;}"/>
          <p:cNvSpPr txBox="1"/>
          <p:nvPr/>
        </p:nvSpPr>
        <p:spPr>
          <a:xfrm>
            <a:off x="4171950" y="4038600"/>
            <a:ext cx="7219950" cy="2000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全局前缀</a:t>
            </a:r>
            <a:r>
              <a:rPr lang="en-US" sz="1275" b="1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 fountain</a:t>
            </a:r>
            <a:endParaRPr lang="en-US" sz="1275" b="1">
              <a:solidFill>
                <a:srgbClr val="E2E8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66" name="文本框 965" descr="{&quot;isTemplate&quot;:true,&quot;type&quot;:&quot;text&quot;}"/>
          <p:cNvSpPr txBox="1"/>
          <p:nvPr/>
        </p:nvSpPr>
        <p:spPr>
          <a:xfrm>
            <a:off x="4171950" y="4333875"/>
            <a:ext cx="7219950" cy="2762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zh-CN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原名未命中时会再试</a:t>
            </a:r>
            <a:r>
              <a:rPr lang="en-US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fountain_</a:t>
            </a:r>
            <a:r>
              <a:rPr lang="zh-CN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【</a:t>
            </a:r>
            <a:r>
              <a:rPr lang="en-US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key</a:t>
            </a:r>
            <a:r>
              <a:rPr lang="zh-CN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】；</a:t>
            </a:r>
            <a:r>
              <a:rPr lang="en-US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getAll </a:t>
            </a:r>
            <a:r>
              <a:rPr lang="zh-CN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的结果里则会把</a:t>
            </a:r>
            <a:r>
              <a:rPr lang="en-US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fountain_ </a:t>
            </a:r>
            <a:r>
              <a:rPr lang="zh-CN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去掉。</a:t>
            </a:r>
            <a:endParaRPr lang="zh-CN" sz="1050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67" name="圆角矩形 966"/>
          <p:cNvSpPr/>
          <p:nvPr/>
        </p:nvSpPr>
        <p:spPr>
          <a:xfrm>
            <a:off x="4171950" y="4705350"/>
            <a:ext cx="7219950" cy="781050"/>
          </a:xfrm>
          <a:prstGeom prst="roundRect">
            <a:avLst>
              <a:gd name="adj" fmla="val 9756"/>
            </a:avLst>
          </a:prstGeom>
          <a:solidFill>
            <a:srgbClr val="0B1220"/>
          </a:solidFill>
          <a:ln w="12700">
            <a:solidFill>
              <a:srgbClr val="1E293B"/>
            </a:solidFill>
            <a:prstDash val="solid"/>
          </a:ln>
        </p:spPr>
        <p:txBody>
          <a:bodyPr/>
          <a:p/>
        </p:txBody>
      </p:sp>
      <p:sp>
        <p:nvSpPr>
          <p:cNvPr id="968" name="文本框 967" descr="{&quot;isTemplate&quot;:true,&quot;type&quot;:&quot;text&quot;}"/>
          <p:cNvSpPr txBox="1"/>
          <p:nvPr/>
        </p:nvSpPr>
        <p:spPr>
          <a:xfrm>
            <a:off x="4286250" y="4819650"/>
            <a:ext cx="6991350" cy="5524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en-US" sz="1050">
                <a:solidFill>
                  <a:srgbClr val="22D3EE"/>
                </a:solidFill>
                <a:latin typeface="JetBrains Mono"/>
                <a:ea typeface="JetBrains Mono"/>
              </a:rPr>
              <a:t>export myAppSecret='xxx'</a:t>
            </a:r>
            <a:r>
              <a:rPr lang="zh-CN" sz="1050">
                <a:solidFill>
                  <a:srgbClr val="22D3EE"/>
                </a:solidFill>
                <a:latin typeface="JetBrains Mono"/>
                <a:ea typeface="JetBrains Mono"/>
              </a:rPr>
              <a:t>　　　　　</a:t>
            </a:r>
            <a:r>
              <a:rPr lang="en-US" sz="1050">
                <a:solidFill>
                  <a:srgbClr val="22D3EE"/>
                </a:solidFill>
                <a:latin typeface="JetBrains Mono"/>
                <a:ea typeface="JetBrains Mono"/>
              </a:rPr>
              <a:t># </a:t>
            </a:r>
            <a:r>
              <a:rPr lang="zh-CN" sz="1050">
                <a:solidFill>
                  <a:srgbClr val="22D3EE"/>
                </a:solidFill>
                <a:latin typeface="JetBrains Mono"/>
                <a:ea typeface="JetBrains Mono"/>
              </a:rPr>
              <a:t>命中</a:t>
            </a:r>
            <a:endParaRPr lang="zh-CN" sz="1050">
              <a:solidFill>
                <a:srgbClr val="22D3EE"/>
              </a:solidFill>
              <a:latin typeface="JetBrains Mono"/>
              <a:ea typeface="JetBrains Mono"/>
            </a:endParaRPr>
          </a:p>
          <a:p>
            <a:pPr>
              <a:lnSpc>
                <a:spcPct val="170000"/>
              </a:lnSpc>
            </a:pPr>
            <a:r>
              <a:rPr lang="en-US" sz="1050">
                <a:solidFill>
                  <a:srgbClr val="22D3EE"/>
                </a:solidFill>
                <a:latin typeface="JetBrains Mono"/>
                <a:ea typeface="JetBrains Mono"/>
              </a:rPr>
              <a:t>export fountain_myAppSecret='xxx'</a:t>
            </a:r>
            <a:r>
              <a:rPr lang="zh-CN" sz="1050">
                <a:solidFill>
                  <a:srgbClr val="22D3EE"/>
                </a:solidFill>
                <a:latin typeface="JetBrains Mono"/>
                <a:ea typeface="JetBrains Mono"/>
              </a:rPr>
              <a:t>　</a:t>
            </a:r>
            <a:r>
              <a:rPr lang="en-US" sz="1050">
                <a:solidFill>
                  <a:srgbClr val="22D3EE"/>
                </a:solidFill>
                <a:latin typeface="JetBrains Mono"/>
                <a:ea typeface="JetBrains Mono"/>
              </a:rPr>
              <a:t># </a:t>
            </a:r>
            <a:r>
              <a:rPr lang="zh-CN" sz="1050">
                <a:solidFill>
                  <a:srgbClr val="22D3EE"/>
                </a:solidFill>
                <a:latin typeface="JetBrains Mono"/>
                <a:ea typeface="JetBrains Mono"/>
              </a:rPr>
              <a:t>等价写法</a:t>
            </a:r>
            <a:endParaRPr lang="zh-CN" sz="1050">
              <a:solidFill>
                <a:srgbClr val="22D3EE"/>
              </a:solidFill>
              <a:latin typeface="JetBrains Mono"/>
              <a:ea typeface="JetBrains Mono"/>
            </a:endParaRPr>
          </a:p>
        </p:txBody>
      </p:sp>
      <p:sp>
        <p:nvSpPr>
          <p:cNvPr id="969" name="文本框 968" descr="{&quot;isTemplate&quot;:true,&quot;type&quot;:&quot;text&quot;}"/>
          <p:cNvSpPr txBox="1"/>
          <p:nvPr/>
        </p:nvSpPr>
        <p:spPr>
          <a:xfrm>
            <a:off x="4171950" y="5819775"/>
            <a:ext cx="7219950" cy="2762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en-US" sz="105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getAll(prefix)</a:t>
            </a:r>
            <a:r>
              <a:rPr lang="zh-CN" sz="105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：</a:t>
            </a:r>
            <a:r>
              <a:rPr lang="en-US" sz="105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prefix </a:t>
            </a:r>
            <a:r>
              <a:rPr lang="zh-CN" sz="105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为空返回全部，否则</a:t>
            </a:r>
            <a:r>
              <a:rPr lang="en-US" sz="105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 key </a:t>
            </a:r>
            <a:r>
              <a:rPr lang="zh-CN" sz="105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需以</a:t>
            </a:r>
            <a:r>
              <a:rPr lang="en-US" sz="105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 prefix_ </a:t>
            </a:r>
            <a:r>
              <a:rPr lang="zh-CN" sz="105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或</a:t>
            </a:r>
            <a:r>
              <a:rPr lang="en-US" sz="105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 fountain_prefix_ </a:t>
            </a:r>
            <a:r>
              <a:rPr lang="zh-CN" sz="105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开头。</a:t>
            </a:r>
            <a:endParaRPr lang="zh-CN" sz="105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70" name="任意多边形 969"/>
          <p:cNvSpPr/>
          <p:nvPr/>
        </p:nvSpPr>
        <p:spPr>
          <a:xfrm>
            <a:off x="609600" y="6286500"/>
            <a:ext cx="10972800" cy="381000"/>
          </a:xfrm>
          <a:custGeom>
            <a:avLst/>
            <a:gdLst/>
            <a:ahLst/>
            <a:cxnLst/>
            <a:pathLst>
              <a:path w="1152" h="40">
                <a:moveTo>
                  <a:pt x="0" y="0"/>
                </a:moveTo>
                <a:lnTo>
                  <a:pt x="1152" y="0"/>
                </a:lnTo>
                <a:lnTo>
                  <a:pt x="1152" y="1"/>
                </a:lnTo>
                <a:lnTo>
                  <a:pt x="0" y="1"/>
                </a:lnTo>
                <a:close/>
              </a:path>
            </a:pathLst>
          </a:custGeom>
          <a:solidFill>
            <a:srgbClr val="1E293B"/>
          </a:solidFill>
        </p:spPr>
        <p:txBody>
          <a:bodyPr/>
          <a:p/>
        </p:txBody>
      </p:sp>
      <p:sp>
        <p:nvSpPr>
          <p:cNvPr id="971" name="文本框 970" descr="{&quot;isTemplate&quot;:true,&quot;type&quot;:&quot;text&quot;}"/>
          <p:cNvSpPr txBox="1"/>
          <p:nvPr/>
        </p:nvSpPr>
        <p:spPr>
          <a:xfrm>
            <a:off x="609600" y="6410325"/>
            <a:ext cx="2219325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fountain · 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一站式服务器应用开发工具库</a:t>
            </a:r>
            <a:endParaRPr lang="zh-CN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72" name="文本框 971" descr="{&quot;isTemplate&quot;:true,&quot;type&quot;:&quot;text&quot;}"/>
          <p:cNvSpPr txBox="1"/>
          <p:nvPr/>
        </p:nvSpPr>
        <p:spPr>
          <a:xfrm>
            <a:off x="11087100" y="6410325"/>
            <a:ext cx="495300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26 / 116</a:t>
            </a:r>
            <a:endParaRPr lang="en-US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97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4" name="矩形 97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220"/>
          </a:solidFill>
        </p:spPr>
        <p:txBody>
          <a:bodyPr/>
          <a:p/>
        </p:txBody>
      </p:sp>
      <p:sp>
        <p:nvSpPr>
          <p:cNvPr id="975" name="矩形 974"/>
          <p:cNvSpPr/>
          <p:nvPr/>
        </p:nvSpPr>
        <p:spPr>
          <a:xfrm>
            <a:off x="609600" y="476250"/>
            <a:ext cx="38100" cy="381000"/>
          </a:xfrm>
          <a:prstGeom prst="rect">
            <a:avLst/>
          </a:prstGeom>
          <a:solidFill>
            <a:srgbClr val="38BDF8"/>
          </a:solidFill>
        </p:spPr>
        <p:txBody>
          <a:bodyPr/>
          <a:p/>
        </p:txBody>
      </p:sp>
      <p:sp>
        <p:nvSpPr>
          <p:cNvPr id="976" name="文本框 975" descr="{&quot;isTemplate&quot;:true,&quot;type&quot;:&quot;text&quot;}"/>
          <p:cNvSpPr txBox="1"/>
          <p:nvPr/>
        </p:nvSpPr>
        <p:spPr>
          <a:xfrm>
            <a:off x="819150" y="304800"/>
            <a:ext cx="10096500" cy="2095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第</a:t>
            </a: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 4 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章</a:t>
            </a: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 · 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配置</a:t>
            </a: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 f_config · 4.4</a:t>
            </a:r>
            <a:endParaRPr lang="en-US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77" name="文本框 976" descr="{&quot;isTemplate&quot;:true,&quot;type&quot;:&quot;text&quot;}"/>
          <p:cNvSpPr txBox="1"/>
          <p:nvPr/>
        </p:nvSpPr>
        <p:spPr>
          <a:xfrm>
            <a:off x="819150" y="514350"/>
            <a:ext cx="10096500" cy="5143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en-US" sz="2550" b="1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Config API</a:t>
            </a:r>
            <a:endParaRPr lang="en-US" sz="2550" b="1">
              <a:solidFill>
                <a:srgbClr val="E2E8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78" name="文本框 977" descr="{&quot;isTemplate&quot;:true,&quot;type&quot;:&quot;text&quot;}"/>
          <p:cNvSpPr txBox="1"/>
          <p:nvPr/>
        </p:nvSpPr>
        <p:spPr>
          <a:xfrm>
            <a:off x="11087100" y="590550"/>
            <a:ext cx="495300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挑重点讲</a:t>
            </a:r>
            <a:endParaRPr lang="zh-CN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79" name="圆角矩形 978"/>
          <p:cNvSpPr/>
          <p:nvPr/>
        </p:nvSpPr>
        <p:spPr>
          <a:xfrm>
            <a:off x="609600" y="1143000"/>
            <a:ext cx="4095750" cy="2466975"/>
          </a:xfrm>
          <a:prstGeom prst="roundRect">
            <a:avLst>
              <a:gd name="adj" fmla="val 4633"/>
            </a:avLst>
          </a:prstGeom>
          <a:solidFill>
            <a:srgbClr val="111C2E"/>
          </a:solidFill>
          <a:ln w="12700">
            <a:solidFill>
              <a:srgbClr val="1E293B"/>
            </a:solidFill>
            <a:prstDash val="solid"/>
          </a:ln>
        </p:spPr>
        <p:txBody>
          <a:bodyPr/>
          <a:p/>
        </p:txBody>
      </p:sp>
      <p:sp>
        <p:nvSpPr>
          <p:cNvPr id="980" name="文本框 979" descr="{&quot;isTemplate&quot;:true,&quot;type&quot;:&quot;text&quot;}"/>
          <p:cNvSpPr txBox="1"/>
          <p:nvPr/>
        </p:nvSpPr>
        <p:spPr>
          <a:xfrm>
            <a:off x="800100" y="1333500"/>
            <a:ext cx="3714750" cy="2000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单数不抛，复数抛</a:t>
            </a:r>
            <a:endParaRPr lang="zh-CN" sz="1275" b="1">
              <a:solidFill>
                <a:srgbClr val="E2E8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81" name="文本框 980" descr="{&quot;isTemplate&quot;:true,&quot;type&quot;:&quot;text&quot;}"/>
          <p:cNvSpPr txBox="1"/>
          <p:nvPr/>
        </p:nvSpPr>
        <p:spPr>
          <a:xfrm>
            <a:off x="800100" y="1628775"/>
            <a:ext cx="3714750" cy="2952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80000"/>
              </a:lnSpc>
            </a:pPr>
            <a:r>
              <a:rPr lang="en-US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getValue / getData</a:t>
            </a:r>
            <a:r>
              <a:rPr lang="zh-CN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：解析失败返回</a:t>
            </a:r>
            <a:r>
              <a:rPr lang="en-US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None</a:t>
            </a:r>
            <a:r>
              <a:rPr lang="zh-CN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，不抛异常。</a:t>
            </a:r>
            <a:endParaRPr lang="zh-CN" sz="1050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82" name="文本框 981" descr="{&quot;isTemplate&quot;:true,&quot;type&quot;:&quot;text&quot;}"/>
          <p:cNvSpPr txBox="1"/>
          <p:nvPr/>
        </p:nvSpPr>
        <p:spPr>
          <a:xfrm>
            <a:off x="800100" y="2000250"/>
            <a:ext cx="3714750" cy="581025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80000"/>
              </a:lnSpc>
            </a:pPr>
            <a:r>
              <a:rPr lang="en-US" sz="1050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getValues / getDatas</a:t>
            </a:r>
            <a:r>
              <a:rPr lang="zh-CN" sz="1050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：解析失败抛异常；配置项不存在返回空数组。</a:t>
            </a:r>
            <a:endParaRPr lang="zh-CN" sz="1050">
              <a:solidFill>
                <a:srgbClr val="F59E0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83" name="文本框 982" descr="{&quot;isTemplate&quot;:true,&quot;type&quot;:&quot;text&quot;}"/>
          <p:cNvSpPr txBox="1"/>
          <p:nvPr/>
        </p:nvSpPr>
        <p:spPr>
          <a:xfrm>
            <a:off x="800100" y="3143250"/>
            <a:ext cx="3714750" cy="2762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zh-CN" sz="105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这个不对称是故意的，写容错代码时别搞混。</a:t>
            </a:r>
            <a:endParaRPr lang="zh-CN" sz="105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84" name="圆角矩形 983"/>
          <p:cNvSpPr/>
          <p:nvPr/>
        </p:nvSpPr>
        <p:spPr>
          <a:xfrm>
            <a:off x="609600" y="3743325"/>
            <a:ext cx="4095750" cy="2543175"/>
          </a:xfrm>
          <a:prstGeom prst="roundRect">
            <a:avLst>
              <a:gd name="adj" fmla="val 4494"/>
            </a:avLst>
          </a:prstGeom>
          <a:solidFill>
            <a:srgbClr val="111C2E"/>
          </a:solidFill>
          <a:ln w="12700">
            <a:solidFill>
              <a:srgbClr val="1E293B"/>
            </a:solidFill>
            <a:prstDash val="solid"/>
          </a:ln>
        </p:spPr>
        <p:txBody>
          <a:bodyPr/>
          <a:p/>
        </p:txBody>
      </p:sp>
      <p:sp>
        <p:nvSpPr>
          <p:cNvPr id="985" name="文本框 984" descr="{&quot;isTemplate&quot;:true,&quot;type&quot;:&quot;text&quot;}"/>
          <p:cNvSpPr txBox="1"/>
          <p:nvPr/>
        </p:nvSpPr>
        <p:spPr>
          <a:xfrm>
            <a:off x="800100" y="3933825"/>
            <a:ext cx="3714750" cy="2000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 b="1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bufferSize </a:t>
            </a:r>
            <a:r>
              <a:rPr lang="zh-CN" sz="1275" b="1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最贴心</a:t>
            </a:r>
            <a:endParaRPr lang="zh-CN" sz="1275" b="1">
              <a:solidFill>
                <a:srgbClr val="E2E8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86" name="文本框 985" descr="{&quot;isTemplate&quot;:true,&quot;type&quot;:&quot;text&quot;}"/>
          <p:cNvSpPr txBox="1"/>
          <p:nvPr/>
        </p:nvSpPr>
        <p:spPr>
          <a:xfrm>
            <a:off x="800100" y="4229100"/>
            <a:ext cx="3714750" cy="2952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80000"/>
              </a:lnSpc>
            </a:pPr>
            <a:r>
              <a:rPr lang="zh-CN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配置项不存在</a:t>
            </a:r>
            <a:r>
              <a:rPr lang="en-US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/ </a:t>
            </a:r>
            <a:r>
              <a:rPr lang="zh-CN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解析失败</a:t>
            </a:r>
            <a:r>
              <a:rPr lang="en-US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/ x ≤ 0 → </a:t>
            </a:r>
            <a:r>
              <a:rPr lang="zh-CN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返回默认值。</a:t>
            </a:r>
            <a:endParaRPr lang="zh-CN" sz="1050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87" name="文本框 986" descr="{&quot;isTemplate&quot;:true,&quot;type&quot;:&quot;text&quot;}"/>
          <p:cNvSpPr txBox="1"/>
          <p:nvPr/>
        </p:nvSpPr>
        <p:spPr>
          <a:xfrm>
            <a:off x="800100" y="4600575"/>
            <a:ext cx="3714750" cy="2952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80000"/>
              </a:lnSpc>
            </a:pPr>
            <a:r>
              <a:rPr lang="zh-CN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调试模式且</a:t>
            </a:r>
            <a:r>
              <a:rPr lang="en-US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x </a:t>
            </a:r>
            <a:r>
              <a:rPr lang="zh-CN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大于</a:t>
            </a:r>
            <a:r>
              <a:rPr lang="en-US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0 → </a:t>
            </a:r>
            <a:r>
              <a:rPr lang="zh-CN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原样返回</a:t>
            </a:r>
            <a:r>
              <a:rPr lang="en-US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x</a:t>
            </a:r>
            <a:r>
              <a:rPr lang="zh-CN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。</a:t>
            </a:r>
            <a:endParaRPr lang="zh-CN" sz="1050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88" name="文本框 987" descr="{&quot;isTemplate&quot;:true,&quot;type&quot;:&quot;text&quot;}"/>
          <p:cNvSpPr txBox="1"/>
          <p:nvPr/>
        </p:nvSpPr>
        <p:spPr>
          <a:xfrm>
            <a:off x="800100" y="4972050"/>
            <a:ext cx="3714750" cy="2952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80000"/>
              </a:lnSpc>
            </a:pPr>
            <a:r>
              <a:rPr lang="zh-CN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非调试模式</a:t>
            </a:r>
            <a:r>
              <a:rPr lang="en-US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→ </a:t>
            </a:r>
            <a:r>
              <a:rPr lang="zh-CN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向上取整到</a:t>
            </a:r>
            <a:r>
              <a:rPr lang="en-US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2 </a:t>
            </a:r>
            <a:r>
              <a:rPr lang="zh-CN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的幂，且恒不小于默认值。</a:t>
            </a:r>
            <a:endParaRPr lang="zh-CN" sz="1050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89" name="文本框 988" descr="{&quot;isTemplate&quot;:true,&quot;type&quot;:&quot;text&quot;}"/>
          <p:cNvSpPr txBox="1"/>
          <p:nvPr/>
        </p:nvSpPr>
        <p:spPr>
          <a:xfrm>
            <a:off x="800100" y="5819775"/>
            <a:ext cx="3714750" cy="2762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zh-CN" sz="105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环形缓冲区直接拿它当容量。</a:t>
            </a:r>
            <a:endParaRPr lang="zh-CN" sz="105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90" name="圆角矩形 989"/>
          <p:cNvSpPr/>
          <p:nvPr/>
        </p:nvSpPr>
        <p:spPr>
          <a:xfrm>
            <a:off x="4895850" y="1143000"/>
            <a:ext cx="6686550" cy="5143500"/>
          </a:xfrm>
          <a:prstGeom prst="roundRect">
            <a:avLst>
              <a:gd name="adj" fmla="val 2222"/>
            </a:avLst>
          </a:prstGeom>
          <a:solidFill>
            <a:srgbClr val="0B1220"/>
          </a:solidFill>
          <a:ln w="12700">
            <a:solidFill>
              <a:srgbClr val="1E293B"/>
            </a:solidFill>
            <a:prstDash val="solid"/>
          </a:ln>
        </p:spPr>
        <p:txBody>
          <a:bodyPr/>
          <a:p/>
        </p:txBody>
      </p:sp>
      <p:sp>
        <p:nvSpPr>
          <p:cNvPr id="991" name="文本框 990" descr="{&quot;isTemplate&quot;:true,&quot;type&quot;:&quot;text&quot;}"/>
          <p:cNvSpPr txBox="1"/>
          <p:nvPr/>
        </p:nvSpPr>
        <p:spPr>
          <a:xfrm>
            <a:off x="5105400" y="1352550"/>
            <a:ext cx="6267450" cy="1714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package fountain::f_config · </a:t>
            </a:r>
            <a:r>
              <a:rPr lang="zh-CN" sz="112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节选</a:t>
            </a:r>
            <a:endParaRPr lang="zh-CN" sz="112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92" name="文本框 991" descr="{&quot;isTemplate&quot;:true,&quot;type&quot;:&quot;text&quot;}"/>
          <p:cNvSpPr txBox="1"/>
          <p:nvPr/>
        </p:nvSpPr>
        <p:spPr>
          <a:xfrm>
            <a:off x="5105400" y="1638300"/>
            <a:ext cx="6267450" cy="3048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90000"/>
              </a:lnSpc>
            </a:pPr>
            <a:r>
              <a:rPr lang="en-US" sz="1050">
                <a:solidFill>
                  <a:srgbClr val="E2E8F0"/>
                </a:solidFill>
                <a:latin typeface="JetBrains Mono"/>
                <a:ea typeface="JetBrains Mono"/>
              </a:rPr>
              <a:t>getString(key)</a:t>
            </a:r>
            <a:r>
              <a:rPr lang="zh-CN" sz="1050">
                <a:solidFill>
                  <a:srgbClr val="E2E8F0"/>
                </a:solidFill>
                <a:latin typeface="JetBrains Mono"/>
                <a:ea typeface="JetBrains Mono"/>
              </a:rPr>
              <a:t>　　　　　　　　　</a:t>
            </a:r>
            <a:r>
              <a:rPr lang="en-US" sz="1050">
                <a:solidFill>
                  <a:srgbClr val="E2E8F0"/>
                </a:solidFill>
                <a:latin typeface="JetBrains Mono"/>
                <a:ea typeface="JetBrains Mono"/>
              </a:rPr>
              <a:t>// ?String</a:t>
            </a:r>
            <a:endParaRPr lang="en-US" sz="1050">
              <a:solidFill>
                <a:srgbClr val="E2E8F0"/>
              </a:solidFill>
              <a:latin typeface="JetBrains Mono"/>
              <a:ea typeface="JetBrains Mono"/>
            </a:endParaRPr>
          </a:p>
        </p:txBody>
      </p:sp>
      <p:sp>
        <p:nvSpPr>
          <p:cNvPr id="993" name="文本框 992" descr="{&quot;isTemplate&quot;:true,&quot;type&quot;:&quot;text&quot;}"/>
          <p:cNvSpPr txBox="1"/>
          <p:nvPr/>
        </p:nvSpPr>
        <p:spPr>
          <a:xfrm>
            <a:off x="5105400" y="1943100"/>
            <a:ext cx="6267450" cy="3048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90000"/>
              </a:lnSpc>
            </a:pPr>
            <a:r>
              <a:rPr lang="en-US" sz="1050">
                <a:solidFill>
                  <a:srgbClr val="38BDF8"/>
                </a:solidFill>
                <a:latin typeface="JetBrains Mono"/>
                <a:ea typeface="JetBrains Mono"/>
              </a:rPr>
              <a:t>getValue&lt;T&gt;(key)</a:t>
            </a:r>
            <a:r>
              <a:rPr lang="zh-CN" sz="1050">
                <a:solidFill>
                  <a:srgbClr val="38BDF8"/>
                </a:solidFill>
                <a:latin typeface="JetBrains Mono"/>
                <a:ea typeface="JetBrains Mono"/>
              </a:rPr>
              <a:t>　　　　　　　　</a:t>
            </a:r>
            <a:r>
              <a:rPr lang="en-US" sz="1050">
                <a:solidFill>
                  <a:srgbClr val="38BDF8"/>
                </a:solidFill>
                <a:latin typeface="JetBrains Mono"/>
                <a:ea typeface="JetBrains Mono"/>
              </a:rPr>
              <a:t>// ?T</a:t>
            </a:r>
            <a:r>
              <a:rPr lang="zh-CN" sz="1050">
                <a:solidFill>
                  <a:srgbClr val="38BDF8"/>
                </a:solidFill>
                <a:latin typeface="JetBrains Mono"/>
                <a:ea typeface="JetBrains Mono"/>
              </a:rPr>
              <a:t>，失败返回</a:t>
            </a:r>
            <a:r>
              <a:rPr lang="en-US" sz="1050">
                <a:solidFill>
                  <a:srgbClr val="38BDF8"/>
                </a:solidFill>
                <a:latin typeface="JetBrains Mono"/>
                <a:ea typeface="JetBrains Mono"/>
              </a:rPr>
              <a:t> None</a:t>
            </a:r>
            <a:endParaRPr lang="en-US" sz="1050">
              <a:solidFill>
                <a:srgbClr val="38BDF8"/>
              </a:solidFill>
              <a:latin typeface="JetBrains Mono"/>
              <a:ea typeface="JetBrains Mono"/>
            </a:endParaRPr>
          </a:p>
        </p:txBody>
      </p:sp>
      <p:sp>
        <p:nvSpPr>
          <p:cNvPr id="994" name="文本框 993" descr="{&quot;isTemplate&quot;:true,&quot;type&quot;:&quot;text&quot;}"/>
          <p:cNvSpPr txBox="1"/>
          <p:nvPr/>
        </p:nvSpPr>
        <p:spPr>
          <a:xfrm>
            <a:off x="5105400" y="2247900"/>
            <a:ext cx="6267450" cy="3048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90000"/>
              </a:lnSpc>
            </a:pPr>
            <a:r>
              <a:rPr lang="en-US" sz="1050">
                <a:solidFill>
                  <a:srgbClr val="38BDF8"/>
                </a:solidFill>
                <a:latin typeface="JetBrains Mono"/>
                <a:ea typeface="JetBrains Mono"/>
              </a:rPr>
              <a:t>getValues&lt;T&gt;(key, delim!)</a:t>
            </a:r>
            <a:r>
              <a:rPr lang="zh-CN" sz="1050">
                <a:solidFill>
                  <a:srgbClr val="38BDF8"/>
                </a:solidFill>
                <a:latin typeface="JetBrains Mono"/>
                <a:ea typeface="JetBrains Mono"/>
              </a:rPr>
              <a:t>　　　</a:t>
            </a:r>
            <a:r>
              <a:rPr lang="en-US" sz="1050">
                <a:solidFill>
                  <a:srgbClr val="38BDF8"/>
                </a:solidFill>
                <a:latin typeface="JetBrains Mono"/>
                <a:ea typeface="JetBrains Mono"/>
              </a:rPr>
              <a:t>// Array&lt;T&gt;</a:t>
            </a:r>
            <a:r>
              <a:rPr lang="zh-CN" sz="1050">
                <a:solidFill>
                  <a:srgbClr val="38BDF8"/>
                </a:solidFill>
                <a:latin typeface="JetBrains Mono"/>
                <a:ea typeface="JetBrains Mono"/>
              </a:rPr>
              <a:t>，失败抛异常</a:t>
            </a:r>
            <a:endParaRPr lang="zh-CN" sz="1050">
              <a:solidFill>
                <a:srgbClr val="38BDF8"/>
              </a:solidFill>
              <a:latin typeface="JetBrains Mono"/>
              <a:ea typeface="JetBrains Mono"/>
            </a:endParaRPr>
          </a:p>
        </p:txBody>
      </p:sp>
      <p:sp>
        <p:nvSpPr>
          <p:cNvPr id="995" name="文本框 994" descr="{&quot;isTemplate&quot;:true,&quot;type&quot;:&quot;text&quot;}"/>
          <p:cNvSpPr txBox="1"/>
          <p:nvPr/>
        </p:nvSpPr>
        <p:spPr>
          <a:xfrm>
            <a:off x="5105400" y="2552700"/>
            <a:ext cx="6267450" cy="3048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90000"/>
              </a:lnSpc>
            </a:pPr>
            <a:r>
              <a:rPr lang="en-US" sz="1050">
                <a:solidFill>
                  <a:srgbClr val="E2E8F0"/>
                </a:solidFill>
                <a:latin typeface="JetBrains Mono"/>
                <a:ea typeface="JetBrains Mono"/>
              </a:rPr>
              <a:t>getStringArray(key, delim!)</a:t>
            </a:r>
            <a:r>
              <a:rPr lang="zh-CN" sz="1050">
                <a:solidFill>
                  <a:srgbClr val="E2E8F0"/>
                </a:solidFill>
                <a:latin typeface="JetBrains Mono"/>
                <a:ea typeface="JetBrains Mono"/>
              </a:rPr>
              <a:t>　　</a:t>
            </a:r>
            <a:r>
              <a:rPr lang="en-US" sz="1050">
                <a:solidFill>
                  <a:srgbClr val="E2E8F0"/>
                </a:solidFill>
                <a:latin typeface="JetBrains Mono"/>
                <a:ea typeface="JetBrains Mono"/>
              </a:rPr>
              <a:t>// Array&lt;String&gt;</a:t>
            </a:r>
            <a:endParaRPr lang="en-US" sz="1050">
              <a:solidFill>
                <a:srgbClr val="E2E8F0"/>
              </a:solidFill>
              <a:latin typeface="JetBrains Mono"/>
              <a:ea typeface="JetBrains Mono"/>
            </a:endParaRPr>
          </a:p>
        </p:txBody>
      </p:sp>
      <p:sp>
        <p:nvSpPr>
          <p:cNvPr id="996" name="文本框 995" descr="{&quot;isTemplate&quot;:true,&quot;type&quot;:&quot;text&quot;}"/>
          <p:cNvSpPr txBox="1"/>
          <p:nvPr/>
        </p:nvSpPr>
        <p:spPr>
          <a:xfrm>
            <a:off x="5105400" y="2857500"/>
            <a:ext cx="6267450" cy="3048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90000"/>
              </a:lnSpc>
            </a:pPr>
            <a:r>
              <a:rPr lang="en-US" sz="1050">
                <a:solidFill>
                  <a:srgbClr val="E2E8F0"/>
                </a:solidFill>
                <a:latin typeface="JetBrains Mono"/>
                <a:ea typeface="JetBrains Mono"/>
              </a:rPr>
              <a:t>getData&lt;T&gt;(key) / getDatas&lt;T&gt;()</a:t>
            </a:r>
            <a:endParaRPr lang="en-US" sz="1050">
              <a:solidFill>
                <a:srgbClr val="E2E8F0"/>
              </a:solidFill>
              <a:latin typeface="JetBrains Mono"/>
              <a:ea typeface="JetBrains Mono"/>
            </a:endParaRPr>
          </a:p>
        </p:txBody>
      </p:sp>
      <p:sp>
        <p:nvSpPr>
          <p:cNvPr id="997" name="文本框 996" descr="{&quot;isTemplate&quot;:true,&quot;type&quot;:&quot;text&quot;}"/>
          <p:cNvSpPr txBox="1"/>
          <p:nvPr/>
        </p:nvSpPr>
        <p:spPr>
          <a:xfrm>
            <a:off x="5105400" y="3162300"/>
            <a:ext cx="6267450" cy="3048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90000"/>
              </a:lnSpc>
            </a:pPr>
            <a:r>
              <a:rPr lang="en-US" sz="1050">
                <a:solidFill>
                  <a:srgbClr val="E2E8F0"/>
                </a:solidFill>
                <a:latin typeface="JetBrains Mono"/>
                <a:ea typeface="JetBrains Mono"/>
              </a:rPr>
              <a:t>getDateTime(key, format!)</a:t>
            </a:r>
            <a:r>
              <a:rPr lang="zh-CN" sz="1050">
                <a:solidFill>
                  <a:srgbClr val="E2E8F0"/>
                </a:solidFill>
                <a:latin typeface="JetBrains Mono"/>
                <a:ea typeface="JetBrains Mono"/>
              </a:rPr>
              <a:t>　　·　</a:t>
            </a:r>
            <a:r>
              <a:rPr lang="en-US" sz="1050">
                <a:solidFill>
                  <a:srgbClr val="E2E8F0"/>
                </a:solidFill>
                <a:latin typeface="JetBrains Mono"/>
                <a:ea typeface="JetBrains Mono"/>
              </a:rPr>
              <a:t>getDateTimes(...)</a:t>
            </a:r>
            <a:endParaRPr lang="en-US" sz="1050">
              <a:solidFill>
                <a:srgbClr val="E2E8F0"/>
              </a:solidFill>
              <a:latin typeface="JetBrains Mono"/>
              <a:ea typeface="JetBrains Mono"/>
            </a:endParaRPr>
          </a:p>
        </p:txBody>
      </p:sp>
      <p:sp>
        <p:nvSpPr>
          <p:cNvPr id="998" name="文本框 997" descr="{&quot;isTemplate&quot;:true,&quot;type&quot;:&quot;text&quot;}"/>
          <p:cNvSpPr txBox="1"/>
          <p:nvPr/>
        </p:nvSpPr>
        <p:spPr>
          <a:xfrm>
            <a:off x="5105400" y="3467100"/>
            <a:ext cx="6267450" cy="3048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90000"/>
              </a:lnSpc>
            </a:pPr>
            <a:r>
              <a:rPr lang="en-US" sz="1050">
                <a:solidFill>
                  <a:srgbClr val="E2E8F0"/>
                </a:solidFill>
                <a:latin typeface="JetBrains Mono"/>
                <a:ea typeface="JetBrains Mono"/>
              </a:rPr>
              <a:t>getDuration(key)</a:t>
            </a:r>
            <a:r>
              <a:rPr lang="zh-CN" sz="1050">
                <a:solidFill>
                  <a:srgbClr val="E2E8F0"/>
                </a:solidFill>
                <a:latin typeface="JetBrains Mono"/>
                <a:ea typeface="JetBrains Mono"/>
              </a:rPr>
              <a:t>　·　</a:t>
            </a:r>
            <a:r>
              <a:rPr lang="en-US" sz="1050">
                <a:solidFill>
                  <a:srgbClr val="E2E8F0"/>
                </a:solidFill>
                <a:latin typeface="JetBrains Mono"/>
                <a:ea typeface="JetBrains Mono"/>
              </a:rPr>
              <a:t>getDurations(key)</a:t>
            </a:r>
            <a:endParaRPr lang="en-US" sz="1050">
              <a:solidFill>
                <a:srgbClr val="E2E8F0"/>
              </a:solidFill>
              <a:latin typeface="JetBrains Mono"/>
              <a:ea typeface="JetBrains Mono"/>
            </a:endParaRPr>
          </a:p>
        </p:txBody>
      </p:sp>
      <p:sp>
        <p:nvSpPr>
          <p:cNvPr id="999" name="文本框 998" descr="{&quot;isTemplate&quot;:true,&quot;type&quot;:&quot;text&quot;}"/>
          <p:cNvSpPr txBox="1"/>
          <p:nvPr/>
        </p:nvSpPr>
        <p:spPr>
          <a:xfrm>
            <a:off x="5105400" y="3771900"/>
            <a:ext cx="6267450" cy="3048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90000"/>
              </a:lnSpc>
            </a:pPr>
            <a:r>
              <a:rPr lang="en-US" sz="1050">
                <a:solidFill>
                  <a:srgbClr val="F59E0B"/>
                </a:solidFill>
                <a:latin typeface="JetBrains Mono"/>
                <a:ea typeface="JetBrains Mono"/>
              </a:rPr>
              <a:t>bufferSize(bufferKey, default, debugging)</a:t>
            </a:r>
            <a:endParaRPr lang="en-US" sz="1050">
              <a:solidFill>
                <a:srgbClr val="F59E0B"/>
              </a:solidFill>
              <a:latin typeface="JetBrains Mono"/>
              <a:ea typeface="JetBrains Mono"/>
            </a:endParaRPr>
          </a:p>
        </p:txBody>
      </p:sp>
      <p:sp>
        <p:nvSpPr>
          <p:cNvPr id="1000" name="文本框 999" descr="{&quot;isTemplate&quot;:true,&quot;type&quot;:&quot;text&quot;}"/>
          <p:cNvSpPr txBox="1"/>
          <p:nvPr/>
        </p:nvSpPr>
        <p:spPr>
          <a:xfrm>
            <a:off x="5105400" y="4076700"/>
            <a:ext cx="6267450" cy="3048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90000"/>
              </a:lnSpc>
            </a:pPr>
            <a:r>
              <a:rPr lang="en-US" sz="1050">
                <a:solidFill>
                  <a:srgbClr val="E2E8F0"/>
                </a:solidFill>
                <a:latin typeface="JetBrains Mono"/>
                <a:ea typeface="JetBrains Mono"/>
              </a:rPr>
              <a:t>getAll(prefix) / getAll()</a:t>
            </a:r>
            <a:endParaRPr lang="en-US" sz="1050">
              <a:solidFill>
                <a:srgbClr val="E2E8F0"/>
              </a:solidFill>
              <a:latin typeface="JetBrains Mono"/>
              <a:ea typeface="JetBrains Mono"/>
            </a:endParaRPr>
          </a:p>
        </p:txBody>
      </p:sp>
      <p:sp>
        <p:nvSpPr>
          <p:cNvPr id="1001" name="文本框 1000" descr="{&quot;isTemplate&quot;:true,&quot;type&quot;:&quot;text&quot;}"/>
          <p:cNvSpPr txBox="1"/>
          <p:nvPr/>
        </p:nvSpPr>
        <p:spPr>
          <a:xfrm>
            <a:off x="5105400" y="4381500"/>
            <a:ext cx="6267450" cy="3048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90000"/>
              </a:lnSpc>
            </a:pPr>
            <a:r>
              <a:rPr lang="en-US" sz="1050">
                <a:solidFill>
                  <a:srgbClr val="E2E8F0"/>
                </a:solidFill>
                <a:latin typeface="JetBrains Mono"/>
                <a:ea typeface="JetBrains Mono"/>
              </a:rPr>
              <a:t>set&lt;T&gt;(tuples, ifAbsent!)</a:t>
            </a:r>
            <a:endParaRPr lang="en-US" sz="1050">
              <a:solidFill>
                <a:srgbClr val="E2E8F0"/>
              </a:solidFill>
              <a:latin typeface="JetBrains Mono"/>
              <a:ea typeface="JetBrains Mono"/>
            </a:endParaRPr>
          </a:p>
        </p:txBody>
      </p:sp>
      <p:sp>
        <p:nvSpPr>
          <p:cNvPr id="1002" name="文本框 1001" descr="{&quot;isTemplate&quot;:true,&quot;type&quot;:&quot;text&quot;}"/>
          <p:cNvSpPr txBox="1"/>
          <p:nvPr/>
        </p:nvSpPr>
        <p:spPr>
          <a:xfrm>
            <a:off x="5105400" y="4686300"/>
            <a:ext cx="6267450" cy="3048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90000"/>
              </a:lnSpc>
            </a:pPr>
            <a:r>
              <a:rPr lang="en-US" sz="1050">
                <a:solidFill>
                  <a:srgbClr val="94A3B8"/>
                </a:solidFill>
                <a:latin typeface="JetBrains Mono"/>
                <a:ea typeface="JetBrains Mono"/>
              </a:rPr>
              <a:t>refresher(prefix, fn)</a:t>
            </a:r>
            <a:endParaRPr lang="en-US" sz="1050">
              <a:solidFill>
                <a:srgbClr val="94A3B8"/>
              </a:solidFill>
              <a:latin typeface="JetBrains Mono"/>
              <a:ea typeface="JetBrains Mono"/>
            </a:endParaRPr>
          </a:p>
        </p:txBody>
      </p:sp>
      <p:sp>
        <p:nvSpPr>
          <p:cNvPr id="1003" name="文本框 1002" descr="{&quot;isTemplate&quot;:true,&quot;type&quot;:&quot;text&quot;}"/>
          <p:cNvSpPr txBox="1"/>
          <p:nvPr/>
        </p:nvSpPr>
        <p:spPr>
          <a:xfrm>
            <a:off x="5105400" y="4991100"/>
            <a:ext cx="6267450" cy="3048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90000"/>
              </a:lnSpc>
            </a:pPr>
            <a:r>
              <a:rPr lang="en-US" sz="1050">
                <a:solidFill>
                  <a:srgbClr val="94A3B8"/>
                </a:solidFill>
                <a:latin typeface="JetBrains Mono"/>
                <a:ea typeface="JetBrains Mono"/>
              </a:rPr>
              <a:t>getSM4()</a:t>
            </a:r>
            <a:r>
              <a:rPr lang="zh-CN" sz="1050">
                <a:solidFill>
                  <a:srgbClr val="94A3B8"/>
                </a:solidFill>
                <a:latin typeface="JetBrains Mono"/>
                <a:ea typeface="JetBrains Mono"/>
              </a:rPr>
              <a:t>　·　</a:t>
            </a:r>
            <a:r>
              <a:rPr lang="en-US" sz="1050">
                <a:solidFill>
                  <a:srgbClr val="94A3B8"/>
                </a:solidFill>
                <a:latin typeface="JetBrains Mono"/>
                <a:ea typeface="JetBrains Mono"/>
              </a:rPr>
              <a:t>registerSensitive(key, value)</a:t>
            </a:r>
            <a:endParaRPr lang="en-US" sz="1050">
              <a:solidFill>
                <a:srgbClr val="94A3B8"/>
              </a:solidFill>
              <a:latin typeface="JetBrains Mono"/>
              <a:ea typeface="JetBrains Mono"/>
            </a:endParaRPr>
          </a:p>
        </p:txBody>
      </p:sp>
      <p:sp>
        <p:nvSpPr>
          <p:cNvPr id="1004" name="文本框 1003" descr="{&quot;isTemplate&quot;:true,&quot;type&quot;:&quot;text&quot;}"/>
          <p:cNvSpPr txBox="1"/>
          <p:nvPr/>
        </p:nvSpPr>
        <p:spPr>
          <a:xfrm>
            <a:off x="5105400" y="5391150"/>
            <a:ext cx="6267450" cy="3048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90000"/>
              </a:lnSpc>
            </a:pPr>
            <a:r>
              <a:rPr lang="zh-CN" sz="105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还定义了</a:t>
            </a:r>
            <a:r>
              <a:rPr lang="en-US" sz="105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 sm4Operation / sm4Padding / sm4Key / sm4Iv / sm4Aad / sm4TagSize </a:t>
            </a:r>
            <a:r>
              <a:rPr lang="zh-CN" sz="105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六个常量。</a:t>
            </a:r>
            <a:endParaRPr lang="zh-CN" sz="105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05" name="任意多边形 1004"/>
          <p:cNvSpPr/>
          <p:nvPr/>
        </p:nvSpPr>
        <p:spPr>
          <a:xfrm>
            <a:off x="609600" y="6286500"/>
            <a:ext cx="10972800" cy="381000"/>
          </a:xfrm>
          <a:custGeom>
            <a:avLst/>
            <a:gdLst/>
            <a:ahLst/>
            <a:cxnLst/>
            <a:pathLst>
              <a:path w="1152" h="40">
                <a:moveTo>
                  <a:pt x="0" y="0"/>
                </a:moveTo>
                <a:lnTo>
                  <a:pt x="1152" y="0"/>
                </a:lnTo>
                <a:lnTo>
                  <a:pt x="1152" y="1"/>
                </a:lnTo>
                <a:lnTo>
                  <a:pt x="0" y="1"/>
                </a:lnTo>
                <a:close/>
              </a:path>
            </a:pathLst>
          </a:custGeom>
          <a:solidFill>
            <a:srgbClr val="1E293B"/>
          </a:solidFill>
        </p:spPr>
        <p:txBody>
          <a:bodyPr/>
          <a:p/>
        </p:txBody>
      </p:sp>
      <p:sp>
        <p:nvSpPr>
          <p:cNvPr id="1006" name="文本框 1005" descr="{&quot;isTemplate&quot;:true,&quot;type&quot;:&quot;text&quot;}"/>
          <p:cNvSpPr txBox="1"/>
          <p:nvPr/>
        </p:nvSpPr>
        <p:spPr>
          <a:xfrm>
            <a:off x="609600" y="6410325"/>
            <a:ext cx="2219325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fountain · 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一站式服务器应用开发工具库</a:t>
            </a:r>
            <a:endParaRPr lang="zh-CN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07" name="文本框 1006" descr="{&quot;isTemplate&quot;:true,&quot;type&quot;:&quot;text&quot;}"/>
          <p:cNvSpPr txBox="1"/>
          <p:nvPr/>
        </p:nvSpPr>
        <p:spPr>
          <a:xfrm>
            <a:off x="11087100" y="6410325"/>
            <a:ext cx="495300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27 / 116</a:t>
            </a:r>
            <a:endParaRPr lang="en-US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00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9" name="矩形 1008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220"/>
          </a:solidFill>
        </p:spPr>
        <p:txBody>
          <a:bodyPr/>
          <a:p/>
        </p:txBody>
      </p:sp>
      <p:sp>
        <p:nvSpPr>
          <p:cNvPr id="1010" name="矩形 1009"/>
          <p:cNvSpPr/>
          <p:nvPr/>
        </p:nvSpPr>
        <p:spPr>
          <a:xfrm>
            <a:off x="609600" y="476250"/>
            <a:ext cx="38100" cy="381000"/>
          </a:xfrm>
          <a:prstGeom prst="rect">
            <a:avLst/>
          </a:prstGeom>
          <a:solidFill>
            <a:srgbClr val="38BDF8"/>
          </a:solidFill>
        </p:spPr>
        <p:txBody>
          <a:bodyPr/>
          <a:p/>
        </p:txBody>
      </p:sp>
      <p:sp>
        <p:nvSpPr>
          <p:cNvPr id="1011" name="文本框 1010" descr="{&quot;isTemplate&quot;:true,&quot;type&quot;:&quot;text&quot;}"/>
          <p:cNvSpPr txBox="1"/>
          <p:nvPr/>
        </p:nvSpPr>
        <p:spPr>
          <a:xfrm>
            <a:off x="819150" y="304800"/>
            <a:ext cx="10096500" cy="2095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第</a:t>
            </a: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 4 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章</a:t>
            </a: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 · 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配置</a:t>
            </a: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 f_config · 4.5</a:t>
            </a:r>
            <a:endParaRPr lang="en-US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12" name="文本框 1011" descr="{&quot;isTemplate&quot;:true,&quot;type&quot;:&quot;text&quot;}"/>
          <p:cNvSpPr txBox="1"/>
          <p:nvPr/>
        </p:nvSpPr>
        <p:spPr>
          <a:xfrm>
            <a:off x="819150" y="514350"/>
            <a:ext cx="10096500" cy="5143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2550" b="1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敏感配置与</a:t>
            </a:r>
            <a:r>
              <a:rPr lang="en-US" sz="2550" b="1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 SM4 </a:t>
            </a:r>
            <a:r>
              <a:rPr lang="zh-CN" sz="2550" b="1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加密</a:t>
            </a:r>
            <a:endParaRPr lang="zh-CN" sz="2550" b="1">
              <a:solidFill>
                <a:srgbClr val="E2E8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13" name="文本框 1012" descr="{&quot;isTemplate&quot;:true,&quot;type&quot;:&quot;text&quot;}"/>
          <p:cNvSpPr txBox="1"/>
          <p:nvPr/>
        </p:nvSpPr>
        <p:spPr>
          <a:xfrm>
            <a:off x="11087100" y="590550"/>
            <a:ext cx="495300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本章高潮</a:t>
            </a:r>
            <a:endParaRPr lang="zh-CN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14" name="圆角矩形 1013"/>
          <p:cNvSpPr/>
          <p:nvPr/>
        </p:nvSpPr>
        <p:spPr>
          <a:xfrm>
            <a:off x="609600" y="1143000"/>
            <a:ext cx="4286250" cy="3314700"/>
          </a:xfrm>
          <a:prstGeom prst="roundRect">
            <a:avLst>
              <a:gd name="adj" fmla="val 3448"/>
            </a:avLst>
          </a:prstGeom>
          <a:solidFill>
            <a:srgbClr val="111C2E"/>
          </a:solidFill>
          <a:ln w="12700">
            <a:solidFill>
              <a:srgbClr val="38BDF8"/>
            </a:solidFill>
            <a:prstDash val="solid"/>
          </a:ln>
        </p:spPr>
        <p:txBody>
          <a:bodyPr/>
          <a:p/>
        </p:txBody>
      </p:sp>
      <p:sp>
        <p:nvSpPr>
          <p:cNvPr id="1015" name="文本框 1014" descr="{&quot;isTemplate&quot;:true,&quot;type&quot;:&quot;text&quot;}"/>
          <p:cNvSpPr txBox="1"/>
          <p:nvPr/>
        </p:nvSpPr>
        <p:spPr>
          <a:xfrm>
            <a:off x="819150" y="1352550"/>
            <a:ext cx="3867150" cy="2095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38BDF8"/>
                </a:solidFill>
                <a:latin typeface="微软雅黑" panose="020B0503020204020204" charset="-122"/>
                <a:ea typeface="微软雅黑" panose="020B0503020204020204" charset="-122"/>
              </a:rPr>
              <a:t>敏感值怎么走</a:t>
            </a:r>
            <a:endParaRPr lang="zh-CN" sz="1350" b="1">
              <a:solidFill>
                <a:srgbClr val="38BDF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16" name="文本框 1015" descr="{&quot;isTemplate&quot;:true,&quot;type&quot;:&quot;text&quot;}"/>
          <p:cNvSpPr txBox="1"/>
          <p:nvPr/>
        </p:nvSpPr>
        <p:spPr>
          <a:xfrm>
            <a:off x="819150" y="1676400"/>
            <a:ext cx="3867150" cy="2571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en-US" sz="105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1</a:t>
            </a:r>
            <a:r>
              <a:rPr lang="zh-CN" sz="105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　编译期在编译机上读取环境变量</a:t>
            </a:r>
            <a:endParaRPr lang="zh-CN" sz="1050">
              <a:solidFill>
                <a:srgbClr val="E2E8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17" name="文本框 1016" descr="{&quot;isTemplate&quot;:true,&quot;type&quot;:&quot;text&quot;}"/>
          <p:cNvSpPr txBox="1"/>
          <p:nvPr/>
        </p:nvSpPr>
        <p:spPr>
          <a:xfrm>
            <a:off x="819150" y="1990725"/>
            <a:ext cx="3867150" cy="2571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en-US" sz="105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2</a:t>
            </a:r>
            <a:r>
              <a:rPr lang="zh-CN" sz="105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　用</a:t>
            </a:r>
            <a:r>
              <a:rPr lang="en-US" sz="105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 SM4 </a:t>
            </a:r>
            <a:r>
              <a:rPr lang="zh-CN" sz="105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加密</a:t>
            </a:r>
            <a:endParaRPr lang="zh-CN" sz="1050">
              <a:solidFill>
                <a:srgbClr val="E2E8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18" name="文本框 1017" descr="{&quot;isTemplate&quot;:true,&quot;type&quot;:&quot;text&quot;}"/>
          <p:cNvSpPr txBox="1"/>
          <p:nvPr/>
        </p:nvSpPr>
        <p:spPr>
          <a:xfrm>
            <a:off x="819150" y="2305050"/>
            <a:ext cx="3867150" cy="2571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en-US" sz="105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3</a:t>
            </a:r>
            <a:r>
              <a:rPr lang="zh-CN" sz="105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　作为字节数组嵌入编译产物</a:t>
            </a:r>
            <a:endParaRPr lang="zh-CN" sz="1050">
              <a:solidFill>
                <a:srgbClr val="E2E8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19" name="文本框 1018" descr="{&quot;isTemplate&quot;:true,&quot;type&quot;:&quot;text&quot;}"/>
          <p:cNvSpPr txBox="1"/>
          <p:nvPr/>
        </p:nvSpPr>
        <p:spPr>
          <a:xfrm>
            <a:off x="819150" y="2619375"/>
            <a:ext cx="3867150" cy="2571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en-US" sz="105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4</a:t>
            </a:r>
            <a:r>
              <a:rPr lang="zh-CN" sz="105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　进程启动时注册到独立的</a:t>
            </a:r>
            <a:r>
              <a:rPr lang="en-US" sz="105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 sensitiveMap</a:t>
            </a:r>
            <a:endParaRPr lang="en-US" sz="1050">
              <a:solidFill>
                <a:srgbClr val="E2E8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20" name="文本框 1019" descr="{&quot;isTemplate&quot;:true,&quot;type&quot;:&quot;text&quot;}"/>
          <p:cNvSpPr txBox="1"/>
          <p:nvPr/>
        </p:nvSpPr>
        <p:spPr>
          <a:xfrm>
            <a:off x="819150" y="2933700"/>
            <a:ext cx="3867150" cy="2571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en-US" sz="105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5</a:t>
            </a:r>
            <a:r>
              <a:rPr lang="zh-CN" sz="105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　再用常规</a:t>
            </a:r>
            <a:r>
              <a:rPr lang="en-US" sz="105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 getString </a:t>
            </a:r>
            <a:r>
              <a:rPr lang="zh-CN" sz="105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读取</a:t>
            </a:r>
            <a:endParaRPr lang="zh-CN" sz="1050">
              <a:solidFill>
                <a:srgbClr val="E2E8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21" name="文本框 1020" descr="{&quot;isTemplate&quot;:true,&quot;type&quot;:&quot;text&quot;}"/>
          <p:cNvSpPr txBox="1"/>
          <p:nvPr/>
        </p:nvSpPr>
        <p:spPr>
          <a:xfrm>
            <a:off x="819150" y="3305175"/>
            <a:ext cx="3867150" cy="552450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zh-CN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未配</a:t>
            </a:r>
            <a:r>
              <a:rPr lang="en-US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SM4 → </a:t>
            </a:r>
            <a:r>
              <a:rPr lang="zh-CN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嵌入</a:t>
            </a:r>
            <a:r>
              <a:rPr lang="en-US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UTF8 </a:t>
            </a:r>
            <a:r>
              <a:rPr lang="zh-CN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明文；配了</a:t>
            </a:r>
            <a:r>
              <a:rPr lang="en-US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SM4 → </a:t>
            </a:r>
            <a:r>
              <a:rPr lang="zh-CN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嵌入密文，</a:t>
            </a:r>
            <a:r>
              <a:rPr lang="en-US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SM4 </a:t>
            </a:r>
            <a:r>
              <a:rPr lang="zh-CN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参数一并嵌入供运行期解密。</a:t>
            </a:r>
            <a:endParaRPr lang="zh-CN" sz="1050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22" name="文本框 1021" descr="{&quot;isTemplate&quot;:true,&quot;type&quot;:&quot;text&quot;}"/>
          <p:cNvSpPr txBox="1"/>
          <p:nvPr/>
        </p:nvSpPr>
        <p:spPr>
          <a:xfrm>
            <a:off x="819150" y="3971925"/>
            <a:ext cx="3867150" cy="2762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zh-CN" sz="1050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运行期同名配置优先级更高，可以被覆盖。</a:t>
            </a:r>
            <a:endParaRPr lang="zh-CN" sz="1050">
              <a:solidFill>
                <a:srgbClr val="F59E0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23" name="圆角矩形 1022"/>
          <p:cNvSpPr/>
          <p:nvPr/>
        </p:nvSpPr>
        <p:spPr>
          <a:xfrm>
            <a:off x="5048250" y="1143000"/>
            <a:ext cx="6534150" cy="3314700"/>
          </a:xfrm>
          <a:prstGeom prst="roundRect">
            <a:avLst>
              <a:gd name="adj" fmla="val 3448"/>
            </a:avLst>
          </a:prstGeom>
          <a:solidFill>
            <a:srgbClr val="111C2E"/>
          </a:solidFill>
          <a:ln w="12700">
            <a:solidFill>
              <a:srgbClr val="1E293B"/>
            </a:solidFill>
            <a:prstDash val="solid"/>
          </a:ln>
        </p:spPr>
        <p:txBody>
          <a:bodyPr/>
          <a:p/>
        </p:txBody>
      </p:sp>
      <p:sp>
        <p:nvSpPr>
          <p:cNvPr id="1024" name="文本框 1023" descr="{&quot;isTemplate&quot;:true,&quot;type&quot;:&quot;text&quot;}"/>
          <p:cNvSpPr txBox="1"/>
          <p:nvPr/>
        </p:nvSpPr>
        <p:spPr>
          <a:xfrm>
            <a:off x="5238750" y="1333500"/>
            <a:ext cx="6153150" cy="1905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SM4 </a:t>
            </a:r>
            <a:r>
              <a:rPr lang="zh-CN" sz="1200" b="1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配置项</a:t>
            </a:r>
            <a:endParaRPr lang="zh-CN" sz="1200" b="1">
              <a:solidFill>
                <a:srgbClr val="E2E8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25" name="文本框 1024" descr="{&quot;isTemplate&quot;:true,&quot;type&quot;:&quot;text&quot;}"/>
          <p:cNvSpPr txBox="1"/>
          <p:nvPr/>
        </p:nvSpPr>
        <p:spPr>
          <a:xfrm>
            <a:off x="5238750" y="1638300"/>
            <a:ext cx="1143000" cy="2286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22D3EE"/>
                </a:solidFill>
                <a:latin typeface="JetBrains Mono"/>
                <a:ea typeface="JetBrains Mono"/>
              </a:rPr>
              <a:t>sm4Operation</a:t>
            </a:r>
            <a:endParaRPr lang="en-US" sz="975">
              <a:solidFill>
                <a:srgbClr val="22D3EE"/>
              </a:solidFill>
              <a:latin typeface="JetBrains Mono"/>
              <a:ea typeface="JetBrains Mono"/>
            </a:endParaRPr>
          </a:p>
        </p:txBody>
      </p:sp>
      <p:sp>
        <p:nvSpPr>
          <p:cNvPr id="1026" name="文本框 1025" descr="{&quot;isTemplate&quot;:true,&quot;type&quot;:&quot;text&quot;}"/>
          <p:cNvSpPr txBox="1"/>
          <p:nvPr/>
        </p:nvSpPr>
        <p:spPr>
          <a:xfrm>
            <a:off x="6477000" y="1638300"/>
            <a:ext cx="1009650" cy="2286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默认</a:t>
            </a:r>
            <a:r>
              <a:rPr lang="en-US" sz="97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CBC</a:t>
            </a:r>
            <a:endParaRPr lang="en-US" sz="975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27" name="文本框 1026" descr="{&quot;isTemplate&quot;:true,&quot;type&quot;:&quot;text&quot;}"/>
          <p:cNvSpPr txBox="1"/>
          <p:nvPr/>
        </p:nvSpPr>
        <p:spPr>
          <a:xfrm>
            <a:off x="7581900" y="1638300"/>
            <a:ext cx="3810000" cy="2286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en-US" sz="97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CBC CFB CTR GCM OFB</a:t>
            </a:r>
            <a:r>
              <a:rPr lang="zh-CN" sz="97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（</a:t>
            </a:r>
            <a:r>
              <a:rPr lang="en-US" sz="97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ECB </a:t>
            </a:r>
            <a:r>
              <a:rPr lang="zh-CN" sz="97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不支持）</a:t>
            </a:r>
            <a:endParaRPr lang="zh-CN" sz="975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28" name="文本框 1027" descr="{&quot;isTemplate&quot;:true,&quot;type&quot;:&quot;text&quot;}"/>
          <p:cNvSpPr txBox="1"/>
          <p:nvPr/>
        </p:nvSpPr>
        <p:spPr>
          <a:xfrm>
            <a:off x="5238750" y="1943100"/>
            <a:ext cx="1143000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22D3EE"/>
                </a:solidFill>
                <a:latin typeface="JetBrains Mono"/>
                <a:ea typeface="JetBrains Mono"/>
              </a:rPr>
              <a:t>sm4Padding</a:t>
            </a:r>
            <a:endParaRPr lang="en-US" sz="975">
              <a:solidFill>
                <a:srgbClr val="22D3EE"/>
              </a:solidFill>
              <a:latin typeface="JetBrains Mono"/>
              <a:ea typeface="JetBrains Mono"/>
            </a:endParaRPr>
          </a:p>
        </p:txBody>
      </p:sp>
      <p:sp>
        <p:nvSpPr>
          <p:cNvPr id="1029" name="文本框 1028" descr="{&quot;isTemplate&quot;:true,&quot;type&quot;:&quot;text&quot;}"/>
          <p:cNvSpPr txBox="1"/>
          <p:nvPr/>
        </p:nvSpPr>
        <p:spPr>
          <a:xfrm>
            <a:off x="6477000" y="1943100"/>
            <a:ext cx="1009650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默认</a:t>
            </a:r>
            <a:r>
              <a:rPr lang="en-US" sz="97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PKCS7</a:t>
            </a:r>
            <a:endParaRPr lang="en-US" sz="975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30" name="文本框 1029" descr="{&quot;isTemplate&quot;:true,&quot;type&quot;:&quot;text&quot;}"/>
          <p:cNvSpPr txBox="1"/>
          <p:nvPr/>
        </p:nvSpPr>
        <p:spPr>
          <a:xfrm>
            <a:off x="7581900" y="1943100"/>
            <a:ext cx="3810000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NoPadding / PKCS7Padding</a:t>
            </a:r>
            <a:endParaRPr lang="en-US" sz="975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31" name="文本框 1030" descr="{&quot;isTemplate&quot;:true,&quot;type&quot;:&quot;text&quot;}"/>
          <p:cNvSpPr txBox="1"/>
          <p:nvPr/>
        </p:nvSpPr>
        <p:spPr>
          <a:xfrm>
            <a:off x="5238750" y="2171700"/>
            <a:ext cx="1143000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F59E0B"/>
                </a:solidFill>
                <a:latin typeface="JetBrains Mono"/>
                <a:ea typeface="JetBrains Mono"/>
              </a:rPr>
              <a:t>sm4Key</a:t>
            </a:r>
            <a:endParaRPr lang="en-US" sz="975">
              <a:solidFill>
                <a:srgbClr val="F59E0B"/>
              </a:solidFill>
              <a:latin typeface="JetBrains Mono"/>
              <a:ea typeface="JetBrains Mono"/>
            </a:endParaRPr>
          </a:p>
        </p:txBody>
      </p:sp>
      <p:sp>
        <p:nvSpPr>
          <p:cNvPr id="1032" name="文本框 1031" descr="{&quot;isTemplate&quot;:true,&quot;type&quot;:&quot;text&quot;}"/>
          <p:cNvSpPr txBox="1"/>
          <p:nvPr/>
        </p:nvSpPr>
        <p:spPr>
          <a:xfrm>
            <a:off x="6477000" y="2171700"/>
            <a:ext cx="1009650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必须配置</a:t>
            </a:r>
            <a:endParaRPr lang="zh-CN" sz="975">
              <a:solidFill>
                <a:srgbClr val="F59E0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33" name="文本框 1032" descr="{&quot;isTemplate&quot;:true,&quot;type&quot;:&quot;text&quot;}"/>
          <p:cNvSpPr txBox="1"/>
          <p:nvPr/>
        </p:nvSpPr>
        <p:spPr>
          <a:xfrm>
            <a:off x="7581900" y="2171700"/>
            <a:ext cx="3810000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16 </a:t>
            </a:r>
            <a:r>
              <a:rPr lang="zh-CN" sz="97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字节</a:t>
            </a:r>
            <a:r>
              <a:rPr lang="en-US" sz="97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= </a:t>
            </a:r>
            <a:r>
              <a:rPr lang="zh-CN" sz="97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长度</a:t>
            </a:r>
            <a:r>
              <a:rPr lang="en-US" sz="97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32 </a:t>
            </a:r>
            <a:r>
              <a:rPr lang="zh-CN" sz="97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的</a:t>
            </a:r>
            <a:r>
              <a:rPr lang="en-US" sz="97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16 </a:t>
            </a:r>
            <a:r>
              <a:rPr lang="zh-CN" sz="97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进制串</a:t>
            </a:r>
            <a:endParaRPr lang="zh-CN" sz="975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34" name="文本框 1033" descr="{&quot;isTemplate&quot;:true,&quot;type&quot;:&quot;text&quot;}"/>
          <p:cNvSpPr txBox="1"/>
          <p:nvPr/>
        </p:nvSpPr>
        <p:spPr>
          <a:xfrm>
            <a:off x="5238750" y="2400300"/>
            <a:ext cx="1143000" cy="2286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22D3EE"/>
                </a:solidFill>
                <a:latin typeface="JetBrains Mono"/>
                <a:ea typeface="JetBrains Mono"/>
              </a:rPr>
              <a:t>sm4Iv</a:t>
            </a:r>
            <a:endParaRPr lang="en-US" sz="975">
              <a:solidFill>
                <a:srgbClr val="22D3EE"/>
              </a:solidFill>
              <a:latin typeface="JetBrains Mono"/>
              <a:ea typeface="JetBrains Mono"/>
            </a:endParaRPr>
          </a:p>
        </p:txBody>
      </p:sp>
      <p:sp>
        <p:nvSpPr>
          <p:cNvPr id="1035" name="文本框 1034" descr="{&quot;isTemplate&quot;:true,&quot;type&quot;:&quot;text&quot;}"/>
          <p:cNvSpPr txBox="1"/>
          <p:nvPr/>
        </p:nvSpPr>
        <p:spPr>
          <a:xfrm>
            <a:off x="6477000" y="2400300"/>
            <a:ext cx="1009650" cy="2286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配</a:t>
            </a:r>
            <a:r>
              <a:rPr lang="en-US" sz="97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key </a:t>
            </a:r>
            <a:r>
              <a:rPr lang="zh-CN" sz="97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就要配</a:t>
            </a:r>
            <a:endParaRPr lang="zh-CN" sz="975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36" name="文本框 1035" descr="{&quot;isTemplate&quot;:true,&quot;type&quot;:&quot;text&quot;}"/>
          <p:cNvSpPr txBox="1"/>
          <p:nvPr/>
        </p:nvSpPr>
        <p:spPr>
          <a:xfrm>
            <a:off x="7581900" y="2400300"/>
            <a:ext cx="3810000" cy="2286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en-US" sz="97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CBC/OFB/CFB </a:t>
            </a:r>
            <a:r>
              <a:rPr lang="zh-CN" sz="97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要</a:t>
            </a:r>
            <a:r>
              <a:rPr lang="en-US" sz="97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16 </a:t>
            </a:r>
            <a:r>
              <a:rPr lang="zh-CN" sz="97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字节，</a:t>
            </a:r>
            <a:r>
              <a:rPr lang="en-US" sz="97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GCM </a:t>
            </a:r>
            <a:r>
              <a:rPr lang="zh-CN" sz="97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要</a:t>
            </a:r>
            <a:r>
              <a:rPr lang="en-US" sz="97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12</a:t>
            </a:r>
            <a:endParaRPr lang="en-US" sz="975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37" name="文本框 1036" descr="{&quot;isTemplate&quot;:true,&quot;type&quot;:&quot;text&quot;}"/>
          <p:cNvSpPr txBox="1"/>
          <p:nvPr/>
        </p:nvSpPr>
        <p:spPr>
          <a:xfrm>
            <a:off x="5238750" y="2705100"/>
            <a:ext cx="1143000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22D3EE"/>
                </a:solidFill>
                <a:latin typeface="JetBrains Mono"/>
                <a:ea typeface="JetBrains Mono"/>
              </a:rPr>
              <a:t>sm4Aad</a:t>
            </a:r>
            <a:endParaRPr lang="en-US" sz="975">
              <a:solidFill>
                <a:srgbClr val="22D3EE"/>
              </a:solidFill>
              <a:latin typeface="JetBrains Mono"/>
              <a:ea typeface="JetBrains Mono"/>
            </a:endParaRPr>
          </a:p>
        </p:txBody>
      </p:sp>
      <p:sp>
        <p:nvSpPr>
          <p:cNvPr id="1038" name="文本框 1037" descr="{&quot;isTemplate&quot;:true,&quot;type&quot;:&quot;text&quot;}"/>
          <p:cNvSpPr txBox="1"/>
          <p:nvPr/>
        </p:nvSpPr>
        <p:spPr>
          <a:xfrm>
            <a:off x="6477000" y="2705100"/>
            <a:ext cx="1009650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空字节数组</a:t>
            </a:r>
            <a:endParaRPr lang="zh-CN" sz="975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39" name="文本框 1038" descr="{&quot;isTemplate&quot;:true,&quot;type&quot;:&quot;text&quot;}"/>
          <p:cNvSpPr txBox="1"/>
          <p:nvPr/>
        </p:nvSpPr>
        <p:spPr>
          <a:xfrm>
            <a:off x="7581900" y="2705100"/>
            <a:ext cx="3810000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16 </a:t>
            </a:r>
            <a:r>
              <a:rPr lang="zh-CN" sz="97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进制串</a:t>
            </a:r>
            <a:endParaRPr lang="zh-CN" sz="975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40" name="文本框 1039" descr="{&quot;isTemplate&quot;:true,&quot;type&quot;:&quot;text&quot;}"/>
          <p:cNvSpPr txBox="1"/>
          <p:nvPr/>
        </p:nvSpPr>
        <p:spPr>
          <a:xfrm>
            <a:off x="5238750" y="2933700"/>
            <a:ext cx="1143000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22D3EE"/>
                </a:solidFill>
                <a:latin typeface="JetBrains Mono"/>
                <a:ea typeface="JetBrains Mono"/>
              </a:rPr>
              <a:t>sm4TagSize</a:t>
            </a:r>
            <a:endParaRPr lang="en-US" sz="975">
              <a:solidFill>
                <a:srgbClr val="22D3EE"/>
              </a:solidFill>
              <a:latin typeface="JetBrains Mono"/>
              <a:ea typeface="JetBrains Mono"/>
            </a:endParaRPr>
          </a:p>
        </p:txBody>
      </p:sp>
      <p:sp>
        <p:nvSpPr>
          <p:cNvPr id="1041" name="文本框 1040" descr="{&quot;isTemplate&quot;:true,&quot;type&quot;:&quot;text&quot;}"/>
          <p:cNvSpPr txBox="1"/>
          <p:nvPr/>
        </p:nvSpPr>
        <p:spPr>
          <a:xfrm>
            <a:off x="6477000" y="2933700"/>
            <a:ext cx="1009650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默认</a:t>
            </a:r>
            <a:r>
              <a:rPr lang="en-US" sz="97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16</a:t>
            </a:r>
            <a:endParaRPr lang="en-US" sz="975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42" name="文本框 1041" descr="{&quot;isTemplate&quot;:true,&quot;type&quot;:&quot;text&quot;}"/>
          <p:cNvSpPr txBox="1"/>
          <p:nvPr/>
        </p:nvSpPr>
        <p:spPr>
          <a:xfrm>
            <a:off x="7581900" y="2933700"/>
            <a:ext cx="3810000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Int64 </a:t>
            </a:r>
            <a:r>
              <a:rPr lang="zh-CN" sz="97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字符串</a:t>
            </a:r>
            <a:endParaRPr lang="zh-CN" sz="975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43" name="圆角矩形 1042"/>
          <p:cNvSpPr/>
          <p:nvPr/>
        </p:nvSpPr>
        <p:spPr>
          <a:xfrm>
            <a:off x="5238750" y="3524250"/>
            <a:ext cx="6153150" cy="742950"/>
          </a:xfrm>
          <a:prstGeom prst="roundRect">
            <a:avLst>
              <a:gd name="adj" fmla="val 10256"/>
            </a:avLst>
          </a:prstGeom>
          <a:solidFill>
            <a:srgbClr val="0B1220"/>
          </a:solidFill>
          <a:ln w="12700">
            <a:solidFill>
              <a:srgbClr val="1E293B"/>
            </a:solidFill>
            <a:prstDash val="solid"/>
          </a:ln>
        </p:spPr>
        <p:txBody>
          <a:bodyPr/>
          <a:p/>
        </p:txBody>
      </p:sp>
      <p:sp>
        <p:nvSpPr>
          <p:cNvPr id="1044" name="文本框 1043" descr="{&quot;isTemplate&quot;:true,&quot;type&quot;:&quot;text&quot;}"/>
          <p:cNvSpPr txBox="1"/>
          <p:nvPr/>
        </p:nvSpPr>
        <p:spPr>
          <a:xfrm>
            <a:off x="5353050" y="3638550"/>
            <a:ext cx="5924550" cy="5143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en-US" sz="975">
                <a:solidFill>
                  <a:srgbClr val="22D3EE"/>
                </a:solidFill>
                <a:latin typeface="JetBrains Mono"/>
                <a:ea typeface="JetBrains Mono"/>
              </a:rPr>
              <a:t>export sm4Key=$(fboot randhex 32)</a:t>
            </a:r>
            <a:endParaRPr lang="en-US" sz="975">
              <a:solidFill>
                <a:srgbClr val="22D3EE"/>
              </a:solidFill>
              <a:latin typeface="JetBrains Mono"/>
              <a:ea typeface="JetBrains Mono"/>
            </a:endParaRPr>
          </a:p>
          <a:p>
            <a:pPr>
              <a:lnSpc>
                <a:spcPct val="170000"/>
              </a:lnSpc>
            </a:pPr>
            <a:r>
              <a:rPr lang="en-US" sz="975">
                <a:solidFill>
                  <a:srgbClr val="22D3EE"/>
                </a:solidFill>
                <a:latin typeface="JetBrains Mono"/>
                <a:ea typeface="JetBrains Mono"/>
              </a:rPr>
              <a:t>export sm4Iv=$(fboot randhex 32)</a:t>
            </a:r>
            <a:r>
              <a:rPr lang="zh-CN" sz="975">
                <a:solidFill>
                  <a:srgbClr val="22D3EE"/>
                </a:solidFill>
                <a:latin typeface="JetBrains Mono"/>
                <a:ea typeface="JetBrains Mono"/>
              </a:rPr>
              <a:t>　</a:t>
            </a:r>
            <a:r>
              <a:rPr lang="en-US" sz="975">
                <a:solidFill>
                  <a:srgbClr val="22D3EE"/>
                </a:solidFill>
                <a:latin typeface="JetBrains Mono"/>
                <a:ea typeface="JetBrains Mono"/>
              </a:rPr>
              <a:t># GCM </a:t>
            </a:r>
            <a:r>
              <a:rPr lang="zh-CN" sz="975">
                <a:solidFill>
                  <a:srgbClr val="22D3EE"/>
                </a:solidFill>
                <a:latin typeface="JetBrains Mono"/>
                <a:ea typeface="JetBrains Mono"/>
              </a:rPr>
              <a:t>用</a:t>
            </a:r>
            <a:r>
              <a:rPr lang="en-US" sz="975">
                <a:solidFill>
                  <a:srgbClr val="22D3EE"/>
                </a:solidFill>
                <a:latin typeface="JetBrains Mono"/>
                <a:ea typeface="JetBrains Mono"/>
              </a:rPr>
              <a:t> 24</a:t>
            </a:r>
            <a:endParaRPr lang="en-US" sz="975">
              <a:solidFill>
                <a:srgbClr val="22D3EE"/>
              </a:solidFill>
              <a:latin typeface="JetBrains Mono"/>
              <a:ea typeface="JetBrains Mono"/>
            </a:endParaRPr>
          </a:p>
        </p:txBody>
      </p:sp>
      <p:sp>
        <p:nvSpPr>
          <p:cNvPr id="1045" name="圆角矩形 1044"/>
          <p:cNvSpPr/>
          <p:nvPr/>
        </p:nvSpPr>
        <p:spPr>
          <a:xfrm>
            <a:off x="609600" y="4610100"/>
            <a:ext cx="10972800" cy="1676400"/>
          </a:xfrm>
          <a:prstGeom prst="roundRect">
            <a:avLst>
              <a:gd name="adj" fmla="val 6818"/>
            </a:avLst>
          </a:prstGeom>
          <a:solidFill>
            <a:srgbClr val="F59E0B">
              <a:alpha val="7000"/>
            </a:srgbClr>
          </a:solidFill>
          <a:ln w="12700">
            <a:solidFill>
              <a:srgbClr val="F59E0B"/>
            </a:solidFill>
            <a:prstDash val="solid"/>
          </a:ln>
        </p:spPr>
        <p:txBody>
          <a:bodyPr/>
          <a:p/>
        </p:txBody>
      </p:sp>
      <p:sp>
        <p:nvSpPr>
          <p:cNvPr id="1046" name="文本框 1045" descr="{&quot;isTemplate&quot;:true,&quot;type&quot;:&quot;text&quot;}"/>
          <p:cNvSpPr txBox="1"/>
          <p:nvPr/>
        </p:nvSpPr>
        <p:spPr>
          <a:xfrm>
            <a:off x="800100" y="4800600"/>
            <a:ext cx="10591800" cy="1714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两点讲出来比藏着好</a:t>
            </a:r>
            <a:endParaRPr lang="zh-CN" sz="1125" b="1">
              <a:solidFill>
                <a:srgbClr val="F59E0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47" name="文本框 1046" descr="{&quot;isTemplate&quot;:true,&quot;type&quot;:&quot;text&quot;}"/>
          <p:cNvSpPr txBox="1"/>
          <p:nvPr/>
        </p:nvSpPr>
        <p:spPr>
          <a:xfrm>
            <a:off x="800100" y="5048250"/>
            <a:ext cx="10591800" cy="2762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en-US" sz="105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① SM4 </a:t>
            </a:r>
            <a:r>
              <a:rPr lang="zh-CN" sz="105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参数本身（含密钥）也会以字节数组形式出现在编译产物里</a:t>
            </a:r>
            <a:r>
              <a:rPr lang="en-US" sz="105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 —— </a:t>
            </a:r>
            <a:r>
              <a:rPr lang="zh-CN" sz="105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抬高的是「直接从二进制</a:t>
            </a:r>
            <a:r>
              <a:rPr lang="en-US" sz="105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 grep </a:t>
            </a:r>
            <a:r>
              <a:rPr lang="zh-CN" sz="105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出配置」的门槛，不能替代密钥管理服务。</a:t>
            </a:r>
            <a:endParaRPr lang="zh-CN" sz="1050">
              <a:solidFill>
                <a:srgbClr val="E2E8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48" name="文本框 1047" descr="{&quot;isTemplate&quot;:true,&quot;type&quot;:&quot;text&quot;}"/>
          <p:cNvSpPr txBox="1"/>
          <p:nvPr/>
        </p:nvSpPr>
        <p:spPr>
          <a:xfrm>
            <a:off x="800100" y="5381625"/>
            <a:ext cx="10591800" cy="2762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en-US" sz="105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② </a:t>
            </a:r>
            <a:r>
              <a:rPr lang="zh-CN" sz="105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每次解密都会重新构造一次</a:t>
            </a:r>
            <a:r>
              <a:rPr lang="en-US" sz="105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 SM4 </a:t>
            </a:r>
            <a:r>
              <a:rPr lang="zh-CN" sz="105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实例，敏感配置多或读取频繁时建议自己缓存结果。</a:t>
            </a:r>
            <a:endParaRPr lang="zh-CN" sz="1050">
              <a:solidFill>
                <a:srgbClr val="E2E8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49" name="任意多边形 1048"/>
          <p:cNvSpPr/>
          <p:nvPr/>
        </p:nvSpPr>
        <p:spPr>
          <a:xfrm>
            <a:off x="609600" y="6286500"/>
            <a:ext cx="10972800" cy="381000"/>
          </a:xfrm>
          <a:custGeom>
            <a:avLst/>
            <a:gdLst/>
            <a:ahLst/>
            <a:cxnLst/>
            <a:pathLst>
              <a:path w="1152" h="40">
                <a:moveTo>
                  <a:pt x="0" y="0"/>
                </a:moveTo>
                <a:lnTo>
                  <a:pt x="1152" y="0"/>
                </a:lnTo>
                <a:lnTo>
                  <a:pt x="1152" y="1"/>
                </a:lnTo>
                <a:lnTo>
                  <a:pt x="0" y="1"/>
                </a:lnTo>
                <a:close/>
              </a:path>
            </a:pathLst>
          </a:custGeom>
          <a:solidFill>
            <a:srgbClr val="1E293B"/>
          </a:solidFill>
        </p:spPr>
        <p:txBody>
          <a:bodyPr/>
          <a:p/>
        </p:txBody>
      </p:sp>
      <p:sp>
        <p:nvSpPr>
          <p:cNvPr id="1050" name="文本框 1049" descr="{&quot;isTemplate&quot;:true,&quot;type&quot;:&quot;text&quot;}"/>
          <p:cNvSpPr txBox="1"/>
          <p:nvPr/>
        </p:nvSpPr>
        <p:spPr>
          <a:xfrm>
            <a:off x="609600" y="6410325"/>
            <a:ext cx="2219325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fountain · 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一站式服务器应用开发工具库</a:t>
            </a:r>
            <a:endParaRPr lang="zh-CN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51" name="文本框 1050" descr="{&quot;isTemplate&quot;:true,&quot;type&quot;:&quot;text&quot;}"/>
          <p:cNvSpPr txBox="1"/>
          <p:nvPr/>
        </p:nvSpPr>
        <p:spPr>
          <a:xfrm>
            <a:off x="11087100" y="6410325"/>
            <a:ext cx="495300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28 / 116</a:t>
            </a:r>
            <a:endParaRPr lang="en-US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05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3" name="矩形 105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220"/>
          </a:solidFill>
        </p:spPr>
        <p:txBody>
          <a:bodyPr/>
          <a:p/>
        </p:txBody>
      </p:sp>
      <p:sp>
        <p:nvSpPr>
          <p:cNvPr id="1054" name="矩形 1053"/>
          <p:cNvSpPr/>
          <p:nvPr/>
        </p:nvSpPr>
        <p:spPr>
          <a:xfrm>
            <a:off x="609600" y="476250"/>
            <a:ext cx="38100" cy="381000"/>
          </a:xfrm>
          <a:prstGeom prst="rect">
            <a:avLst/>
          </a:prstGeom>
          <a:solidFill>
            <a:srgbClr val="38BDF8"/>
          </a:solidFill>
        </p:spPr>
        <p:txBody>
          <a:bodyPr/>
          <a:p/>
        </p:txBody>
      </p:sp>
      <p:sp>
        <p:nvSpPr>
          <p:cNvPr id="1055" name="文本框 1054" descr="{&quot;isTemplate&quot;:true,&quot;type&quot;:&quot;text&quot;}"/>
          <p:cNvSpPr txBox="1"/>
          <p:nvPr/>
        </p:nvSpPr>
        <p:spPr>
          <a:xfrm>
            <a:off x="819150" y="304800"/>
            <a:ext cx="9601200" cy="2095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第</a:t>
            </a: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 4 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章</a:t>
            </a: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 · 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配置</a:t>
            </a: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 f_config · 4.6</a:t>
            </a:r>
            <a:endParaRPr lang="en-US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56" name="文本框 1055" descr="{&quot;isTemplate&quot;:true,&quot;type&quot;:&quot;text&quot;}"/>
          <p:cNvSpPr txBox="1"/>
          <p:nvPr/>
        </p:nvSpPr>
        <p:spPr>
          <a:xfrm>
            <a:off x="819150" y="514350"/>
            <a:ext cx="9601200" cy="5143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en-US" sz="2550" b="1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@EmbedSensitive </a:t>
            </a:r>
            <a:r>
              <a:rPr lang="zh-CN" sz="2550" b="1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宏</a:t>
            </a:r>
            <a:endParaRPr lang="zh-CN" sz="2550" b="1">
              <a:solidFill>
                <a:srgbClr val="E2E8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57" name="文本框 1056" descr="{&quot;isTemplate&quot;:true,&quot;type&quot;:&quot;text&quot;}"/>
          <p:cNvSpPr txBox="1"/>
          <p:nvPr/>
        </p:nvSpPr>
        <p:spPr>
          <a:xfrm>
            <a:off x="10591800" y="590550"/>
            <a:ext cx="990600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编译期嵌入的实现</a:t>
            </a:r>
            <a:endParaRPr lang="zh-CN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58" name="圆角矩形 1057"/>
          <p:cNvSpPr/>
          <p:nvPr/>
        </p:nvSpPr>
        <p:spPr>
          <a:xfrm>
            <a:off x="609600" y="1143000"/>
            <a:ext cx="4953000" cy="3314700"/>
          </a:xfrm>
          <a:prstGeom prst="roundRect">
            <a:avLst>
              <a:gd name="adj" fmla="val 3448"/>
            </a:avLst>
          </a:prstGeom>
          <a:solidFill>
            <a:srgbClr val="111C2E"/>
          </a:solidFill>
          <a:ln w="12700">
            <a:solidFill>
              <a:srgbClr val="1E293B"/>
            </a:solidFill>
            <a:prstDash val="solid"/>
          </a:ln>
        </p:spPr>
        <p:txBody>
          <a:bodyPr/>
          <a:p/>
        </p:txBody>
      </p:sp>
      <p:sp>
        <p:nvSpPr>
          <p:cNvPr id="1059" name="文本框 1058" descr="{&quot;isTemplate&quot;:true,&quot;type&quot;:&quot;text&quot;}"/>
          <p:cNvSpPr txBox="1"/>
          <p:nvPr/>
        </p:nvSpPr>
        <p:spPr>
          <a:xfrm>
            <a:off x="800100" y="1333500"/>
            <a:ext cx="4572000" cy="2000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用法：源文件顶层调用</a:t>
            </a:r>
            <a:endParaRPr lang="zh-CN" sz="1275" b="1">
              <a:solidFill>
                <a:srgbClr val="E2E8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60" name="文本框 1059" descr="{&quot;isTemplate&quot;:true,&quot;type&quot;:&quot;text&quot;}"/>
          <p:cNvSpPr txBox="1"/>
          <p:nvPr/>
        </p:nvSpPr>
        <p:spPr>
          <a:xfrm>
            <a:off x="800100" y="1609725"/>
            <a:ext cx="4572000" cy="2952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80000"/>
              </a:lnSpc>
            </a:pPr>
            <a:r>
              <a:rPr lang="en-US" sz="1050">
                <a:solidFill>
                  <a:srgbClr val="22D3EE"/>
                </a:solidFill>
                <a:latin typeface="JetBrains Mono"/>
                <a:ea typeface="JetBrains Mono"/>
              </a:rPr>
              <a:t>@EmbedSensitive(paySecretKey pushToken)</a:t>
            </a:r>
            <a:endParaRPr lang="en-US" sz="1050">
              <a:solidFill>
                <a:srgbClr val="22D3EE"/>
              </a:solidFill>
              <a:latin typeface="JetBrains Mono"/>
              <a:ea typeface="JetBrains Mono"/>
            </a:endParaRPr>
          </a:p>
        </p:txBody>
      </p:sp>
      <p:sp>
        <p:nvSpPr>
          <p:cNvPr id="1061" name="文本框 1060" descr="{&quot;isTemplate&quot;:true,&quot;type&quot;:&quot;text&quot;}"/>
          <p:cNvSpPr txBox="1"/>
          <p:nvPr/>
        </p:nvSpPr>
        <p:spPr>
          <a:xfrm>
            <a:off x="800100" y="1943100"/>
            <a:ext cx="4572000" cy="2381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逗号分隔亦可。编译机上没有对应环境变量就不注册。</a:t>
            </a:r>
            <a:endParaRPr lang="zh-CN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62" name="文本框 1061" descr="{&quot;isTemplate&quot;:true,&quot;type&quot;:&quot;text&quot;}"/>
          <p:cNvSpPr txBox="1"/>
          <p:nvPr/>
        </p:nvSpPr>
        <p:spPr>
          <a:xfrm>
            <a:off x="800100" y="2314575"/>
            <a:ext cx="4572000" cy="1905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嵌入规则</a:t>
            </a:r>
            <a:endParaRPr lang="zh-CN" sz="1200" b="1">
              <a:solidFill>
                <a:srgbClr val="E2E8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63" name="文本框 1062" descr="{&quot;isTemplate&quot;:true,&quot;type&quot;:&quot;text&quot;}"/>
          <p:cNvSpPr txBox="1"/>
          <p:nvPr/>
        </p:nvSpPr>
        <p:spPr>
          <a:xfrm>
            <a:off x="800100" y="2581275"/>
            <a:ext cx="4572000" cy="2571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en-US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1</a:t>
            </a:r>
            <a:r>
              <a:rPr lang="zh-CN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　编译期取不到值的名字会被忽略</a:t>
            </a:r>
            <a:endParaRPr lang="zh-CN" sz="1050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64" name="文本框 1063" descr="{&quot;isTemplate&quot;:true,&quot;type&quot;:&quot;text&quot;}"/>
          <p:cNvSpPr txBox="1"/>
          <p:nvPr/>
        </p:nvSpPr>
        <p:spPr>
          <a:xfrm>
            <a:off x="800100" y="2876550"/>
            <a:ext cx="4572000" cy="2571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en-US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2</a:t>
            </a:r>
            <a:r>
              <a:rPr lang="zh-CN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　编译期配了</a:t>
            </a:r>
            <a:r>
              <a:rPr lang="en-US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sm4Key </a:t>
            </a:r>
            <a:r>
              <a:rPr lang="zh-CN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写密文，否则写</a:t>
            </a:r>
            <a:r>
              <a:rPr lang="en-US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UTF8 </a:t>
            </a:r>
            <a:r>
              <a:rPr lang="zh-CN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明文</a:t>
            </a:r>
            <a:endParaRPr lang="zh-CN" sz="1050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65" name="文本框 1064" descr="{&quot;isTemplate&quot;:true,&quot;type&quot;:&quot;text&quot;}"/>
          <p:cNvSpPr txBox="1"/>
          <p:nvPr/>
        </p:nvSpPr>
        <p:spPr>
          <a:xfrm>
            <a:off x="800100" y="3171825"/>
            <a:ext cx="4572000" cy="2571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en-US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3</a:t>
            </a:r>
            <a:r>
              <a:rPr lang="zh-CN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　仅在「有敏感值」且「</a:t>
            </a:r>
            <a:r>
              <a:rPr lang="en-US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sm4Key </a:t>
            </a:r>
            <a:r>
              <a:rPr lang="zh-CN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非空」时写入</a:t>
            </a:r>
            <a:r>
              <a:rPr lang="en-US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SM4 </a:t>
            </a:r>
            <a:r>
              <a:rPr lang="zh-CN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六参数</a:t>
            </a:r>
            <a:endParaRPr lang="zh-CN" sz="1050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66" name="文本框 1065" descr="{&quot;isTemplate&quot;:true,&quot;type&quot;:&quot;text&quot;}"/>
          <p:cNvSpPr txBox="1"/>
          <p:nvPr/>
        </p:nvSpPr>
        <p:spPr>
          <a:xfrm>
            <a:off x="800100" y="3467100"/>
            <a:ext cx="4572000" cy="2571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en-US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4</a:t>
            </a:r>
            <a:r>
              <a:rPr lang="zh-CN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　同名重复注册以最后一次为准</a:t>
            </a:r>
            <a:endParaRPr lang="zh-CN" sz="1050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67" name="文本框 1066" descr="{&quot;isTemplate&quot;:true,&quot;type&quot;:&quot;text&quot;}"/>
          <p:cNvSpPr txBox="1"/>
          <p:nvPr/>
        </p:nvSpPr>
        <p:spPr>
          <a:xfrm>
            <a:off x="800100" y="3762375"/>
            <a:ext cx="4572000" cy="2571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en-US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5</a:t>
            </a:r>
            <a:r>
              <a:rPr lang="zh-CN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　运行期读取仍遵循</a:t>
            </a:r>
            <a:r>
              <a:rPr lang="en-US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4.3 </a:t>
            </a:r>
            <a:r>
              <a:rPr lang="zh-CN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的优先级</a:t>
            </a:r>
            <a:endParaRPr lang="zh-CN" sz="1050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68" name="文本框 1067" descr="{&quot;isTemplate&quot;:true,&quot;type&quot;:&quot;text&quot;}"/>
          <p:cNvSpPr txBox="1"/>
          <p:nvPr/>
        </p:nvSpPr>
        <p:spPr>
          <a:xfrm>
            <a:off x="800100" y="4029075"/>
            <a:ext cx="4572000" cy="2381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SM4 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六个参数本身按明文字节写入。</a:t>
            </a:r>
            <a:endParaRPr lang="zh-CN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69" name="圆角矩形 1068"/>
          <p:cNvSpPr/>
          <p:nvPr/>
        </p:nvSpPr>
        <p:spPr>
          <a:xfrm>
            <a:off x="5753100" y="1143000"/>
            <a:ext cx="5829300" cy="3333750"/>
          </a:xfrm>
          <a:prstGeom prst="roundRect">
            <a:avLst>
              <a:gd name="adj" fmla="val 3429"/>
            </a:avLst>
          </a:prstGeom>
          <a:solidFill>
            <a:srgbClr val="0B1220"/>
          </a:solidFill>
          <a:ln w="12700">
            <a:solidFill>
              <a:srgbClr val="1E293B"/>
            </a:solidFill>
            <a:prstDash val="solid"/>
          </a:ln>
        </p:spPr>
        <p:txBody>
          <a:bodyPr/>
          <a:p/>
        </p:txBody>
      </p:sp>
      <p:sp>
        <p:nvSpPr>
          <p:cNvPr id="1070" name="文本框 1069" descr="{&quot;isTemplate&quot;:true,&quot;type&quot;:&quot;text&quot;}"/>
          <p:cNvSpPr txBox="1"/>
          <p:nvPr/>
        </p:nvSpPr>
        <p:spPr>
          <a:xfrm>
            <a:off x="5924550" y="1314450"/>
            <a:ext cx="5486400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展开后：一个立即执行的匿名闭包</a:t>
            </a:r>
            <a:endParaRPr lang="zh-CN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71" name="文本框 1070" descr="{&quot;isTemplate&quot;:true,&quot;type&quot;:&quot;text&quot;}"/>
          <p:cNvSpPr txBox="1"/>
          <p:nvPr/>
        </p:nvSpPr>
        <p:spPr>
          <a:xfrm>
            <a:off x="5924550" y="1543050"/>
            <a:ext cx="5486400" cy="2762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85000"/>
              </a:lnSpc>
            </a:pPr>
            <a:r>
              <a:rPr lang="en-US" sz="975">
                <a:solidFill>
                  <a:srgbClr val="E2E8F0"/>
                </a:solidFill>
                <a:latin typeface="JetBrains Mono"/>
                <a:ea typeface="JetBrains Mono"/>
              </a:rPr>
              <a:t>private let _ = {=&gt;</a:t>
            </a:r>
            <a:endParaRPr lang="en-US" sz="975">
              <a:solidFill>
                <a:srgbClr val="E2E8F0"/>
              </a:solidFill>
              <a:latin typeface="JetBrains Mono"/>
              <a:ea typeface="JetBrains Mono"/>
            </a:endParaRPr>
          </a:p>
        </p:txBody>
      </p:sp>
      <p:sp>
        <p:nvSpPr>
          <p:cNvPr id="1072" name="文本框 1071" descr="{&quot;isTemplate&quot;:true,&quot;type&quot;:&quot;text&quot;}"/>
          <p:cNvSpPr txBox="1"/>
          <p:nvPr/>
        </p:nvSpPr>
        <p:spPr>
          <a:xfrm>
            <a:off x="5924550" y="1819275"/>
            <a:ext cx="5486400" cy="2762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85000"/>
              </a:lnSpc>
            </a:pPr>
            <a:r>
              <a:rPr lang="en-US" sz="975">
                <a:solidFill>
                  <a:srgbClr val="38BDF8"/>
                </a:solidFill>
                <a:latin typeface="JetBrains Mono"/>
                <a:ea typeface="JetBrains Mono"/>
              </a:rPr>
              <a:t>    Config.registerSensitive('paySecretKey', [...])</a:t>
            </a:r>
            <a:endParaRPr lang="en-US" sz="975">
              <a:solidFill>
                <a:srgbClr val="38BDF8"/>
              </a:solidFill>
              <a:latin typeface="JetBrains Mono"/>
              <a:ea typeface="JetBrains Mono"/>
            </a:endParaRPr>
          </a:p>
        </p:txBody>
      </p:sp>
      <p:sp>
        <p:nvSpPr>
          <p:cNvPr id="1073" name="文本框 1072" descr="{&quot;isTemplate&quot;:true,&quot;type&quot;:&quot;text&quot;}"/>
          <p:cNvSpPr txBox="1"/>
          <p:nvPr/>
        </p:nvSpPr>
        <p:spPr>
          <a:xfrm>
            <a:off x="5924550" y="2095500"/>
            <a:ext cx="5486400" cy="2762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85000"/>
              </a:lnSpc>
            </a:pPr>
            <a:r>
              <a:rPr lang="en-US" sz="975">
                <a:solidFill>
                  <a:srgbClr val="38BDF8"/>
                </a:solidFill>
                <a:latin typeface="JetBrains Mono"/>
                <a:ea typeface="JetBrains Mono"/>
              </a:rPr>
              <a:t>    Config.registerSensitive('pushToken', [...])</a:t>
            </a:r>
            <a:endParaRPr lang="en-US" sz="975">
              <a:solidFill>
                <a:srgbClr val="38BDF8"/>
              </a:solidFill>
              <a:latin typeface="JetBrains Mono"/>
              <a:ea typeface="JetBrains Mono"/>
            </a:endParaRPr>
          </a:p>
        </p:txBody>
      </p:sp>
      <p:sp>
        <p:nvSpPr>
          <p:cNvPr id="1074" name="文本框 1073" descr="{&quot;isTemplate&quot;:true,&quot;type&quot;:&quot;text&quot;}"/>
          <p:cNvSpPr txBox="1"/>
          <p:nvPr/>
        </p:nvSpPr>
        <p:spPr>
          <a:xfrm>
            <a:off x="5924550" y="2371725"/>
            <a:ext cx="5486400" cy="2762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85000"/>
              </a:lnSpc>
            </a:pPr>
            <a:r>
              <a:rPr lang="en-US" sz="975">
                <a:solidFill>
                  <a:srgbClr val="94A3B8"/>
                </a:solidFill>
                <a:latin typeface="JetBrains Mono"/>
                <a:ea typeface="JetBrains Mono"/>
              </a:rPr>
              <a:t>    Config.registerSensitive('sm4Operation', ...)</a:t>
            </a:r>
            <a:endParaRPr lang="en-US" sz="975">
              <a:solidFill>
                <a:srgbClr val="94A3B8"/>
              </a:solidFill>
              <a:latin typeface="JetBrains Mono"/>
              <a:ea typeface="JetBrains Mono"/>
            </a:endParaRPr>
          </a:p>
        </p:txBody>
      </p:sp>
      <p:sp>
        <p:nvSpPr>
          <p:cNvPr id="1075" name="文本框 1074" descr="{&quot;isTemplate&quot;:true,&quot;type&quot;:&quot;text&quot;}"/>
          <p:cNvSpPr txBox="1"/>
          <p:nvPr/>
        </p:nvSpPr>
        <p:spPr>
          <a:xfrm>
            <a:off x="5924550" y="2647950"/>
            <a:ext cx="5486400" cy="2762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85000"/>
              </a:lnSpc>
            </a:pPr>
            <a:r>
              <a:rPr lang="en-US" sz="975">
                <a:solidFill>
                  <a:srgbClr val="94A3B8"/>
                </a:solidFill>
                <a:latin typeface="JetBrains Mono"/>
                <a:ea typeface="JetBrains Mono"/>
              </a:rPr>
              <a:t>    Config.registerSensitive('sm4Padding', ...)</a:t>
            </a:r>
            <a:endParaRPr lang="en-US" sz="975">
              <a:solidFill>
                <a:srgbClr val="94A3B8"/>
              </a:solidFill>
              <a:latin typeface="JetBrains Mono"/>
              <a:ea typeface="JetBrains Mono"/>
            </a:endParaRPr>
          </a:p>
        </p:txBody>
      </p:sp>
      <p:sp>
        <p:nvSpPr>
          <p:cNvPr id="1076" name="文本框 1075" descr="{&quot;isTemplate&quot;:true,&quot;type&quot;:&quot;text&quot;}"/>
          <p:cNvSpPr txBox="1"/>
          <p:nvPr/>
        </p:nvSpPr>
        <p:spPr>
          <a:xfrm>
            <a:off x="5924550" y="2924175"/>
            <a:ext cx="5486400" cy="2762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85000"/>
              </a:lnSpc>
            </a:pPr>
            <a:r>
              <a:rPr lang="en-US" sz="975">
                <a:solidFill>
                  <a:srgbClr val="94A3B8"/>
                </a:solidFill>
                <a:latin typeface="JetBrains Mono"/>
                <a:ea typeface="JetBrains Mono"/>
              </a:rPr>
              <a:t>    Config.registerSensitive('sm4Key', ...)</a:t>
            </a:r>
            <a:endParaRPr lang="en-US" sz="975">
              <a:solidFill>
                <a:srgbClr val="94A3B8"/>
              </a:solidFill>
              <a:latin typeface="JetBrains Mono"/>
              <a:ea typeface="JetBrains Mono"/>
            </a:endParaRPr>
          </a:p>
        </p:txBody>
      </p:sp>
      <p:sp>
        <p:nvSpPr>
          <p:cNvPr id="1077" name="文本框 1076" descr="{&quot;isTemplate&quot;:true,&quot;type&quot;:&quot;text&quot;}"/>
          <p:cNvSpPr txBox="1"/>
          <p:nvPr/>
        </p:nvSpPr>
        <p:spPr>
          <a:xfrm>
            <a:off x="5924550" y="3200400"/>
            <a:ext cx="5486400" cy="2762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85000"/>
              </a:lnSpc>
            </a:pPr>
            <a:r>
              <a:rPr lang="en-US" sz="975">
                <a:solidFill>
                  <a:srgbClr val="94A3B8"/>
                </a:solidFill>
                <a:latin typeface="JetBrains Mono"/>
                <a:ea typeface="JetBrains Mono"/>
              </a:rPr>
              <a:t>    Config.registerSensitive('sm4Iv', ...)</a:t>
            </a:r>
            <a:endParaRPr lang="en-US" sz="975">
              <a:solidFill>
                <a:srgbClr val="94A3B8"/>
              </a:solidFill>
              <a:latin typeface="JetBrains Mono"/>
              <a:ea typeface="JetBrains Mono"/>
            </a:endParaRPr>
          </a:p>
        </p:txBody>
      </p:sp>
      <p:sp>
        <p:nvSpPr>
          <p:cNvPr id="1078" name="文本框 1077" descr="{&quot;isTemplate&quot;:true,&quot;type&quot;:&quot;text&quot;}"/>
          <p:cNvSpPr txBox="1"/>
          <p:nvPr/>
        </p:nvSpPr>
        <p:spPr>
          <a:xfrm>
            <a:off x="5924550" y="3476625"/>
            <a:ext cx="5486400" cy="2762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85000"/>
              </a:lnSpc>
            </a:pPr>
            <a:r>
              <a:rPr lang="en-US" sz="975">
                <a:solidFill>
                  <a:srgbClr val="94A3B8"/>
                </a:solidFill>
                <a:latin typeface="JetBrains Mono"/>
                <a:ea typeface="JetBrains Mono"/>
              </a:rPr>
              <a:t>    Config.registerSensitive('sm4Aad', ...)</a:t>
            </a:r>
            <a:endParaRPr lang="en-US" sz="975">
              <a:solidFill>
                <a:srgbClr val="94A3B8"/>
              </a:solidFill>
              <a:latin typeface="JetBrains Mono"/>
              <a:ea typeface="JetBrains Mono"/>
            </a:endParaRPr>
          </a:p>
        </p:txBody>
      </p:sp>
      <p:sp>
        <p:nvSpPr>
          <p:cNvPr id="1079" name="文本框 1078" descr="{&quot;isTemplate&quot;:true,&quot;type&quot;:&quot;text&quot;}"/>
          <p:cNvSpPr txBox="1"/>
          <p:nvPr/>
        </p:nvSpPr>
        <p:spPr>
          <a:xfrm>
            <a:off x="5924550" y="3752850"/>
            <a:ext cx="5486400" cy="2762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85000"/>
              </a:lnSpc>
            </a:pPr>
            <a:r>
              <a:rPr lang="en-US" sz="975">
                <a:solidFill>
                  <a:srgbClr val="94A3B8"/>
                </a:solidFill>
                <a:latin typeface="JetBrains Mono"/>
                <a:ea typeface="JetBrains Mono"/>
              </a:rPr>
              <a:t>    Config.registerSensitive('sm4TagSize', ...)</a:t>
            </a:r>
            <a:endParaRPr lang="en-US" sz="975">
              <a:solidFill>
                <a:srgbClr val="94A3B8"/>
              </a:solidFill>
              <a:latin typeface="JetBrains Mono"/>
              <a:ea typeface="JetBrains Mono"/>
            </a:endParaRPr>
          </a:p>
        </p:txBody>
      </p:sp>
      <p:sp>
        <p:nvSpPr>
          <p:cNvPr id="1080" name="文本框 1079" descr="{&quot;isTemplate&quot;:true,&quot;type&quot;:&quot;text&quot;}"/>
          <p:cNvSpPr txBox="1"/>
          <p:nvPr/>
        </p:nvSpPr>
        <p:spPr>
          <a:xfrm>
            <a:off x="5924550" y="4029075"/>
            <a:ext cx="5486400" cy="2762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85000"/>
              </a:lnSpc>
            </a:pPr>
            <a:r>
              <a:rPr lang="en-US" sz="975">
                <a:solidFill>
                  <a:srgbClr val="E2E8F0"/>
                </a:solidFill>
                <a:latin typeface="JetBrains Mono"/>
                <a:ea typeface="JetBrains Mono"/>
              </a:rPr>
              <a:t>}()</a:t>
            </a:r>
            <a:endParaRPr lang="en-US" sz="975">
              <a:solidFill>
                <a:srgbClr val="E2E8F0"/>
              </a:solidFill>
              <a:latin typeface="JetBrains Mono"/>
              <a:ea typeface="JetBrains Mono"/>
            </a:endParaRPr>
          </a:p>
        </p:txBody>
      </p:sp>
      <p:sp>
        <p:nvSpPr>
          <p:cNvPr id="1081" name="圆角矩形 1080"/>
          <p:cNvSpPr/>
          <p:nvPr/>
        </p:nvSpPr>
        <p:spPr>
          <a:xfrm>
            <a:off x="609600" y="4610100"/>
            <a:ext cx="10972800" cy="1676400"/>
          </a:xfrm>
          <a:prstGeom prst="roundRect">
            <a:avLst>
              <a:gd name="adj" fmla="val 6818"/>
            </a:avLst>
          </a:prstGeom>
          <a:solidFill>
            <a:srgbClr val="38BDF8">
              <a:alpha val="6000"/>
            </a:srgbClr>
          </a:solidFill>
          <a:ln w="12700">
            <a:solidFill>
              <a:srgbClr val="38BDF8"/>
            </a:solidFill>
            <a:prstDash val="solid"/>
          </a:ln>
        </p:spPr>
        <p:txBody>
          <a:bodyPr/>
          <a:p/>
        </p:txBody>
      </p:sp>
      <p:sp>
        <p:nvSpPr>
          <p:cNvPr id="1082" name="文本框 1081" descr="{&quot;isTemplate&quot;:true,&quot;type&quot;:&quot;text&quot;}"/>
          <p:cNvSpPr txBox="1"/>
          <p:nvPr/>
        </p:nvSpPr>
        <p:spPr>
          <a:xfrm>
            <a:off x="781050" y="4781550"/>
            <a:ext cx="10629900" cy="1714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38BDF8"/>
                </a:solidFill>
                <a:latin typeface="微软雅黑" panose="020B0503020204020204" charset="-122"/>
                <a:ea typeface="微软雅黑" panose="020B0503020204020204" charset="-122"/>
              </a:rPr>
              <a:t>f_orm </a:t>
            </a:r>
            <a:r>
              <a:rPr lang="zh-CN" sz="1125" b="1">
                <a:solidFill>
                  <a:srgbClr val="38BDF8"/>
                </a:solidFill>
                <a:latin typeface="微软雅黑" panose="020B0503020204020204" charset="-122"/>
                <a:ea typeface="微软雅黑" panose="020B0503020204020204" charset="-122"/>
              </a:rPr>
              <a:t>就是基于这个宏的封装</a:t>
            </a:r>
            <a:endParaRPr lang="zh-CN" sz="1125" b="1">
              <a:solidFill>
                <a:srgbClr val="38BDF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83" name="文本框 1082" descr="{&quot;isTemplate&quot;:true,&quot;type&quot;:&quot;text&quot;}"/>
          <p:cNvSpPr txBox="1"/>
          <p:nvPr/>
        </p:nvSpPr>
        <p:spPr>
          <a:xfrm>
            <a:off x="781050" y="5010150"/>
            <a:ext cx="10629900" cy="2762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en-US" sz="105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f_orm/src/ProtectedMacros/EmbedSensitive.cj </a:t>
            </a:r>
            <a:r>
              <a:rPr lang="zh-CN" sz="105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生成</a:t>
            </a:r>
            <a:r>
              <a:rPr lang="en-US" sz="105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 ORM </a:t>
            </a:r>
            <a:r>
              <a:rPr lang="zh-CN" sz="105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的连接串</a:t>
            </a:r>
            <a:r>
              <a:rPr lang="en-US" sz="105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 / </a:t>
            </a:r>
            <a:r>
              <a:rPr lang="zh-CN" sz="105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用户名</a:t>
            </a:r>
            <a:r>
              <a:rPr lang="en-US" sz="105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 / </a:t>
            </a:r>
            <a:r>
              <a:rPr lang="zh-CN" sz="105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口令键，再转调</a:t>
            </a:r>
            <a:r>
              <a:rPr lang="en-US" sz="105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 @EmbedSensitive</a:t>
            </a:r>
            <a:r>
              <a:rPr lang="zh-CN" sz="105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，最终在</a:t>
            </a:r>
            <a:r>
              <a:rPr lang="en-US" sz="105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 f_orm </a:t>
            </a:r>
            <a:r>
              <a:rPr lang="zh-CN" sz="105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里以</a:t>
            </a:r>
            <a:r>
              <a:rPr lang="en-US" sz="105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 @ORMEmbedSensitive() </a:t>
            </a:r>
            <a:r>
              <a:rPr lang="zh-CN" sz="105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触发。</a:t>
            </a:r>
            <a:endParaRPr lang="zh-CN" sz="1050">
              <a:solidFill>
                <a:srgbClr val="E2E8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84" name="文本框 1083" descr="{&quot;isTemplate&quot;:true,&quot;type&quot;:&quot;text&quot;}"/>
          <p:cNvSpPr txBox="1"/>
          <p:nvPr/>
        </p:nvSpPr>
        <p:spPr>
          <a:xfrm>
            <a:off x="781050" y="5343525"/>
            <a:ext cx="10629900" cy="2762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zh-CN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所以你在</a:t>
            </a:r>
            <a:r>
              <a:rPr lang="en-US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boot.sh </a:t>
            </a:r>
            <a:r>
              <a:rPr lang="zh-CN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里写的</a:t>
            </a:r>
            <a:r>
              <a:rPr lang="en-US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--postgres_orm_connectionUrl=... </a:t>
            </a:r>
            <a:r>
              <a:rPr lang="zh-CN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才能被嵌进产物。</a:t>
            </a:r>
            <a:endParaRPr lang="zh-CN" sz="1050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85" name="任意多边形 1084"/>
          <p:cNvSpPr/>
          <p:nvPr/>
        </p:nvSpPr>
        <p:spPr>
          <a:xfrm>
            <a:off x="609600" y="6286500"/>
            <a:ext cx="10972800" cy="381000"/>
          </a:xfrm>
          <a:custGeom>
            <a:avLst/>
            <a:gdLst/>
            <a:ahLst/>
            <a:cxnLst/>
            <a:pathLst>
              <a:path w="1152" h="40">
                <a:moveTo>
                  <a:pt x="0" y="0"/>
                </a:moveTo>
                <a:lnTo>
                  <a:pt x="1152" y="0"/>
                </a:lnTo>
                <a:lnTo>
                  <a:pt x="1152" y="1"/>
                </a:lnTo>
                <a:lnTo>
                  <a:pt x="0" y="1"/>
                </a:lnTo>
                <a:close/>
              </a:path>
            </a:pathLst>
          </a:custGeom>
          <a:solidFill>
            <a:srgbClr val="1E293B"/>
          </a:solidFill>
        </p:spPr>
        <p:txBody>
          <a:bodyPr/>
          <a:p/>
        </p:txBody>
      </p:sp>
      <p:sp>
        <p:nvSpPr>
          <p:cNvPr id="1086" name="文本框 1085" descr="{&quot;isTemplate&quot;:true,&quot;type&quot;:&quot;text&quot;}"/>
          <p:cNvSpPr txBox="1"/>
          <p:nvPr/>
        </p:nvSpPr>
        <p:spPr>
          <a:xfrm>
            <a:off x="609600" y="6410325"/>
            <a:ext cx="2219325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fountain · 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一站式服务器应用开发工具库</a:t>
            </a:r>
            <a:endParaRPr lang="zh-CN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87" name="文本框 1086" descr="{&quot;isTemplate&quot;:true,&quot;type&quot;:&quot;text&quot;}"/>
          <p:cNvSpPr txBox="1"/>
          <p:nvPr/>
        </p:nvSpPr>
        <p:spPr>
          <a:xfrm>
            <a:off x="11087100" y="6410325"/>
            <a:ext cx="495300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29 / 116</a:t>
            </a:r>
            <a:endParaRPr lang="en-US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10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1" name="矩形 110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220"/>
          </a:solidFill>
        </p:spPr>
        <p:txBody>
          <a:bodyPr/>
          <a:p/>
        </p:txBody>
      </p:sp>
      <p:sp>
        <p:nvSpPr>
          <p:cNvPr id="1102" name="矩形 1101"/>
          <p:cNvSpPr/>
          <p:nvPr/>
        </p:nvSpPr>
        <p:spPr>
          <a:xfrm>
            <a:off x="609600" y="476250"/>
            <a:ext cx="38100" cy="381000"/>
          </a:xfrm>
          <a:prstGeom prst="rect">
            <a:avLst/>
          </a:prstGeom>
          <a:solidFill>
            <a:srgbClr val="38BDF8"/>
          </a:solidFill>
        </p:spPr>
        <p:txBody>
          <a:bodyPr/>
          <a:p/>
        </p:txBody>
      </p:sp>
      <p:sp>
        <p:nvSpPr>
          <p:cNvPr id="1103" name="文本框 1102" descr="{&quot;isTemplate&quot;:true,&quot;type&quot;:&quot;text&quot;}"/>
          <p:cNvSpPr txBox="1"/>
          <p:nvPr/>
        </p:nvSpPr>
        <p:spPr>
          <a:xfrm>
            <a:off x="819150" y="304800"/>
            <a:ext cx="9601200" cy="2095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第</a:t>
            </a: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 4 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章</a:t>
            </a: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 · 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配置</a:t>
            </a: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 f_config · 4.7 / 4.8</a:t>
            </a:r>
            <a:endParaRPr lang="en-US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04" name="文本框 1103" descr="{&quot;isTemplate&quot;:true,&quot;type&quot;:&quot;text&quot;}"/>
          <p:cNvSpPr txBox="1"/>
          <p:nvPr/>
        </p:nvSpPr>
        <p:spPr>
          <a:xfrm>
            <a:off x="819150" y="514350"/>
            <a:ext cx="9601200" cy="5143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2550" b="1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可配置的时间格式与两个已知问题</a:t>
            </a:r>
            <a:endParaRPr lang="zh-CN" sz="2550" b="1">
              <a:solidFill>
                <a:srgbClr val="E2E8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05" name="文本框 1104" descr="{&quot;isTemplate&quot;:true,&quot;type&quot;:&quot;text&quot;}"/>
          <p:cNvSpPr txBox="1"/>
          <p:nvPr/>
        </p:nvSpPr>
        <p:spPr>
          <a:xfrm>
            <a:off x="10591800" y="590550"/>
            <a:ext cx="990600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讲出来省得观众踩</a:t>
            </a:r>
            <a:endParaRPr lang="zh-CN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06" name="圆角矩形 1105"/>
          <p:cNvSpPr/>
          <p:nvPr/>
        </p:nvSpPr>
        <p:spPr>
          <a:xfrm>
            <a:off x="609600" y="1143000"/>
            <a:ext cx="3552825" cy="3200400"/>
          </a:xfrm>
          <a:prstGeom prst="roundRect">
            <a:avLst>
              <a:gd name="adj" fmla="val 3571"/>
            </a:avLst>
          </a:prstGeom>
          <a:solidFill>
            <a:srgbClr val="111C2E"/>
          </a:solidFill>
          <a:ln w="12700">
            <a:solidFill>
              <a:srgbClr val="38BDF8"/>
            </a:solidFill>
            <a:prstDash val="solid"/>
          </a:ln>
        </p:spPr>
        <p:txBody>
          <a:bodyPr/>
          <a:p/>
        </p:txBody>
      </p:sp>
      <p:sp>
        <p:nvSpPr>
          <p:cNvPr id="1107" name="文本框 1106" descr="{&quot;isTemplate&quot;:true,&quot;type&quot;:&quot;text&quot;}"/>
          <p:cNvSpPr txBox="1"/>
          <p:nvPr/>
        </p:nvSpPr>
        <p:spPr>
          <a:xfrm>
            <a:off x="800100" y="1333500"/>
            <a:ext cx="3171825" cy="2095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 b="1">
                <a:solidFill>
                  <a:srgbClr val="38BDF8"/>
                </a:solidFill>
                <a:latin typeface="微软雅黑" panose="020B0503020204020204" charset="-122"/>
                <a:ea typeface="微软雅黑" panose="020B0503020204020204" charset="-122"/>
              </a:rPr>
              <a:t>DateTimeConfConverter</a:t>
            </a:r>
            <a:endParaRPr lang="en-US" sz="1350" b="1">
              <a:solidFill>
                <a:srgbClr val="38BDF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08" name="文本框 1107" descr="{&quot;isTemplate&quot;:true,&quot;type&quot;:&quot;text&quot;}"/>
          <p:cNvSpPr txBox="1"/>
          <p:nvPr/>
        </p:nvSpPr>
        <p:spPr>
          <a:xfrm>
            <a:off x="800100" y="1600200"/>
            <a:ext cx="3171825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时间格式也可配</a:t>
            </a:r>
            <a:endParaRPr lang="zh-CN" sz="105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09" name="文本框 1108" descr="{&quot;isTemplate&quot;:true,&quot;type&quot;:&quot;text&quot;}"/>
          <p:cNvSpPr txBox="1"/>
          <p:nvPr/>
        </p:nvSpPr>
        <p:spPr>
          <a:xfrm>
            <a:off x="800100" y="1895475"/>
            <a:ext cx="3171825" cy="2952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80000"/>
              </a:lnSpc>
            </a:pPr>
            <a:r>
              <a:rPr lang="en-US" sz="1050">
                <a:solidFill>
                  <a:srgbClr val="E2E8F0"/>
                </a:solidFill>
                <a:latin typeface="JetBrains Mono"/>
                <a:ea typeface="JetBrains Mono"/>
              </a:rPr>
              <a:t>@DateTimeConfConverter[myDateFormat]</a:t>
            </a:r>
            <a:endParaRPr lang="en-US" sz="1050">
              <a:solidFill>
                <a:srgbClr val="E2E8F0"/>
              </a:solidFill>
              <a:latin typeface="JetBrains Mono"/>
              <a:ea typeface="JetBrains Mono"/>
            </a:endParaRPr>
          </a:p>
        </p:txBody>
      </p:sp>
      <p:sp>
        <p:nvSpPr>
          <p:cNvPr id="1110" name="文本框 1109" descr="{&quot;isTemplate&quot;:true,&quot;type&quot;:&quot;text&quot;}"/>
          <p:cNvSpPr txBox="1"/>
          <p:nvPr/>
        </p:nvSpPr>
        <p:spPr>
          <a:xfrm>
            <a:off x="800100" y="2190750"/>
            <a:ext cx="3171825" cy="2952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80000"/>
              </a:lnSpc>
            </a:pPr>
            <a:r>
              <a:rPr lang="en-US" sz="1050">
                <a:solidFill>
                  <a:srgbClr val="E2E8F0"/>
                </a:solidFill>
                <a:latin typeface="JetBrains Mono"/>
                <a:ea typeface="JetBrains Mono"/>
              </a:rPr>
              <a:t>private var createdAt: DateTime</a:t>
            </a:r>
            <a:endParaRPr lang="en-US" sz="1050">
              <a:solidFill>
                <a:srgbClr val="E2E8F0"/>
              </a:solidFill>
              <a:latin typeface="JetBrains Mono"/>
              <a:ea typeface="JetBrains Mono"/>
            </a:endParaRPr>
          </a:p>
        </p:txBody>
      </p:sp>
      <p:sp>
        <p:nvSpPr>
          <p:cNvPr id="1111" name="文本框 1110" descr="{&quot;isTemplate&quot;:true,&quot;type&quot;:&quot;text&quot;}"/>
          <p:cNvSpPr txBox="1"/>
          <p:nvPr/>
        </p:nvSpPr>
        <p:spPr>
          <a:xfrm>
            <a:off x="800100" y="2543175"/>
            <a:ext cx="3171825" cy="2952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80000"/>
              </a:lnSpc>
            </a:pPr>
            <a:r>
              <a:rPr lang="en-US" sz="1050">
                <a:solidFill>
                  <a:srgbClr val="22D3EE"/>
                </a:solidFill>
                <a:latin typeface="JetBrains Mono"/>
                <a:ea typeface="JetBrains Mono"/>
              </a:rPr>
              <a:t>export myDateFormat='yyyy/MM/dd'</a:t>
            </a:r>
            <a:endParaRPr lang="en-US" sz="1050">
              <a:solidFill>
                <a:srgbClr val="22D3EE"/>
              </a:solidFill>
              <a:latin typeface="JetBrains Mono"/>
              <a:ea typeface="JetBrains Mono"/>
            </a:endParaRPr>
          </a:p>
        </p:txBody>
      </p:sp>
      <p:sp>
        <p:nvSpPr>
          <p:cNvPr id="1112" name="文本框 1111" descr="{&quot;isTemplate&quot;:true,&quot;type&quot;:&quot;text&quot;}"/>
          <p:cNvSpPr txBox="1"/>
          <p:nvPr/>
        </p:nvSpPr>
        <p:spPr>
          <a:xfrm>
            <a:off x="800100" y="2990850"/>
            <a:ext cx="3171825" cy="561975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75000"/>
              </a:lnSpc>
            </a:pPr>
            <a:r>
              <a:rPr lang="en-US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conf </a:t>
            </a:r>
            <a:r>
              <a:rPr lang="zh-CN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是「保存时间格式的配置项名」，不是格式本身；按</a:t>
            </a:r>
            <a:r>
              <a:rPr lang="en-US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4.3 </a:t>
            </a:r>
            <a:r>
              <a:rPr lang="zh-CN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的优先级读取，没配就用</a:t>
            </a:r>
            <a:r>
              <a:rPr lang="en-US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default</a:t>
            </a:r>
            <a:r>
              <a:rPr lang="zh-CN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。</a:t>
            </a:r>
            <a:endParaRPr lang="zh-CN" sz="1050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13" name="文本框 1112" descr="{&quot;isTemplate&quot;:true,&quot;type&quot;:&quot;text&quot;}"/>
          <p:cNvSpPr txBox="1"/>
          <p:nvPr/>
        </p:nvSpPr>
        <p:spPr>
          <a:xfrm>
            <a:off x="800100" y="3590925"/>
            <a:ext cx="3171825" cy="561975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75000"/>
              </a:lnSpc>
            </a:pPr>
            <a:r>
              <a:rPr lang="zh-CN" sz="1050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多租户、多地区各家日期格式不一样</a:t>
            </a:r>
            <a:r>
              <a:rPr lang="en-US" sz="1050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 —— </a:t>
            </a:r>
            <a:r>
              <a:rPr lang="zh-CN" sz="1050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一个注解解决。</a:t>
            </a:r>
            <a:endParaRPr lang="zh-CN" sz="1050">
              <a:solidFill>
                <a:srgbClr val="F59E0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14" name="圆角矩形 1113"/>
          <p:cNvSpPr/>
          <p:nvPr/>
        </p:nvSpPr>
        <p:spPr>
          <a:xfrm>
            <a:off x="4314825" y="1143000"/>
            <a:ext cx="3562350" cy="3200400"/>
          </a:xfrm>
          <a:prstGeom prst="roundRect">
            <a:avLst>
              <a:gd name="adj" fmla="val 3571"/>
            </a:avLst>
          </a:prstGeom>
          <a:solidFill>
            <a:srgbClr val="111C2E"/>
          </a:solidFill>
          <a:ln w="12700">
            <a:solidFill>
              <a:srgbClr val="1E293B"/>
            </a:solidFill>
            <a:prstDash val="solid"/>
          </a:ln>
        </p:spPr>
        <p:txBody>
          <a:bodyPr/>
          <a:p/>
        </p:txBody>
      </p:sp>
      <p:sp>
        <p:nvSpPr>
          <p:cNvPr id="1115" name="文本框 1114" descr="{&quot;isTemplate&quot;:true,&quot;type&quot;:&quot;text&quot;}"/>
          <p:cNvSpPr txBox="1"/>
          <p:nvPr/>
        </p:nvSpPr>
        <p:spPr>
          <a:xfrm>
            <a:off x="4505325" y="1333500"/>
            <a:ext cx="3181350" cy="2095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已知问题</a:t>
            </a:r>
            <a:r>
              <a:rPr lang="en-US" sz="1350" b="1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 1</a:t>
            </a:r>
            <a:endParaRPr lang="en-US" sz="1350" b="1">
              <a:solidFill>
                <a:srgbClr val="E2E8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16" name="文本框 1115" descr="{&quot;isTemplate&quot;:true,&quot;type&quot;:&quot;text&quot;}"/>
          <p:cNvSpPr txBox="1"/>
          <p:nvPr/>
        </p:nvSpPr>
        <p:spPr>
          <a:xfrm>
            <a:off x="4505325" y="1600200"/>
            <a:ext cx="3181350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单数不抛，复数抛</a:t>
            </a:r>
            <a:endParaRPr lang="zh-CN" sz="105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17" name="文本框 1116" descr="{&quot;isTemplate&quot;:true,&quot;type&quot;:&quot;text&quot;}"/>
          <p:cNvSpPr txBox="1"/>
          <p:nvPr/>
        </p:nvSpPr>
        <p:spPr>
          <a:xfrm>
            <a:off x="4505325" y="1895475"/>
            <a:ext cx="3181350" cy="2952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80000"/>
              </a:lnSpc>
            </a:pPr>
            <a:r>
              <a:rPr lang="en-US" sz="1050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getValues / getDateTimes </a:t>
            </a:r>
            <a:r>
              <a:rPr lang="zh-CN" sz="1050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解析失败会抛异常。</a:t>
            </a:r>
            <a:endParaRPr lang="zh-CN" sz="1050">
              <a:solidFill>
                <a:srgbClr val="F59E0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18" name="文本框 1117" descr="{&quot;isTemplate&quot;:true,&quot;type&quot;:&quot;text&quot;}"/>
          <p:cNvSpPr txBox="1"/>
          <p:nvPr/>
        </p:nvSpPr>
        <p:spPr>
          <a:xfrm>
            <a:off x="4505325" y="2266950"/>
            <a:ext cx="3181350" cy="581025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80000"/>
              </a:lnSpc>
            </a:pPr>
            <a:r>
              <a:rPr lang="zh-CN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单数版本</a:t>
            </a:r>
            <a:r>
              <a:rPr lang="en-US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getValue / getDateTime</a:t>
            </a:r>
            <a:r>
              <a:rPr lang="zh-CN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（配置不存在时）返回</a:t>
            </a:r>
            <a:r>
              <a:rPr lang="en-US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None / </a:t>
            </a:r>
            <a:r>
              <a:rPr lang="zh-CN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空数组。</a:t>
            </a:r>
            <a:endParaRPr lang="zh-CN" sz="1050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19" name="文本框 1118" descr="{&quot;isTemplate&quot;:true,&quot;type&quot;:&quot;text&quot;}"/>
          <p:cNvSpPr txBox="1"/>
          <p:nvPr/>
        </p:nvSpPr>
        <p:spPr>
          <a:xfrm>
            <a:off x="4505325" y="3000375"/>
            <a:ext cx="3181350" cy="561975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75000"/>
              </a:lnSpc>
            </a:pPr>
            <a:r>
              <a:rPr lang="zh-CN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这是故意的：复数项配置在解析过程中，只要有某一个转换失败，则整个配置失效。</a:t>
            </a:r>
            <a:endParaRPr lang="zh-CN" sz="1050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20" name="文本框 1119" descr="{&quot;isTemplate&quot;:true,&quot;type&quot;:&quot;text&quot;}"/>
          <p:cNvSpPr txBox="1"/>
          <p:nvPr/>
        </p:nvSpPr>
        <p:spPr>
          <a:xfrm>
            <a:off x="4505325" y="3867150"/>
            <a:ext cx="3181350" cy="2857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5000"/>
              </a:lnSpc>
            </a:pPr>
            <a:r>
              <a:rPr lang="zh-CN" sz="105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写容错代码时别搞混。</a:t>
            </a:r>
            <a:endParaRPr lang="zh-CN" sz="105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21" name="圆角矩形 1120"/>
          <p:cNvSpPr/>
          <p:nvPr/>
        </p:nvSpPr>
        <p:spPr>
          <a:xfrm>
            <a:off x="8029575" y="1143000"/>
            <a:ext cx="3552825" cy="3200400"/>
          </a:xfrm>
          <a:prstGeom prst="roundRect">
            <a:avLst>
              <a:gd name="adj" fmla="val 3571"/>
            </a:avLst>
          </a:prstGeom>
          <a:solidFill>
            <a:srgbClr val="111C2E"/>
          </a:solidFill>
          <a:ln w="12700">
            <a:solidFill>
              <a:srgbClr val="F59E0B"/>
            </a:solidFill>
            <a:prstDash val="solid"/>
          </a:ln>
        </p:spPr>
        <p:txBody>
          <a:bodyPr/>
          <a:p/>
        </p:txBody>
      </p:sp>
      <p:sp>
        <p:nvSpPr>
          <p:cNvPr id="1122" name="文本框 1121" descr="{&quot;isTemplate&quot;:true,&quot;type&quot;:&quot;text&quot;}"/>
          <p:cNvSpPr txBox="1"/>
          <p:nvPr/>
        </p:nvSpPr>
        <p:spPr>
          <a:xfrm>
            <a:off x="8220075" y="1333500"/>
            <a:ext cx="3171825" cy="2095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已知问题</a:t>
            </a:r>
            <a:r>
              <a:rPr lang="en-US" sz="1350" b="1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 2</a:t>
            </a:r>
            <a:endParaRPr lang="en-US" sz="1350" b="1">
              <a:solidFill>
                <a:srgbClr val="F59E0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23" name="文本框 1122" descr="{&quot;isTemplate&quot;:true,&quot;type&quot;:&quot;text&quot;}"/>
          <p:cNvSpPr txBox="1"/>
          <p:nvPr/>
        </p:nvSpPr>
        <p:spPr>
          <a:xfrm>
            <a:off x="8220075" y="1600200"/>
            <a:ext cx="3171825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refresher </a:t>
            </a:r>
            <a:r>
              <a:rPr lang="zh-CN" sz="105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前缀匹配恒不成立</a:t>
            </a:r>
            <a:endParaRPr lang="zh-CN" sz="105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24" name="文本框 1123" descr="{&quot;isTemplate&quot;:true,&quot;type&quot;:&quot;text&quot;}"/>
          <p:cNvSpPr txBox="1"/>
          <p:nvPr/>
        </p:nvSpPr>
        <p:spPr>
          <a:xfrm>
            <a:off x="8220075" y="1895475"/>
            <a:ext cx="3171825" cy="866775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80000"/>
              </a:lnSpc>
            </a:pPr>
            <a:r>
              <a:rPr lang="en-US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LoggerConfig </a:t>
            </a:r>
            <a:r>
              <a:rPr lang="zh-CN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的</a:t>
            </a:r>
            <a:r>
              <a:rPr lang="en-US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static init </a:t>
            </a:r>
            <a:r>
              <a:rPr lang="zh-CN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里注册了回调</a:t>
            </a:r>
            <a:r>
              <a:rPr lang="en-US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Config.refresher(confPrefix, LoggerFactory.refresh)</a:t>
            </a:r>
            <a:r>
              <a:rPr lang="zh-CN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，但前缀匹配不成立。</a:t>
            </a:r>
            <a:endParaRPr lang="zh-CN" sz="1050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25" name="文本框 1124" descr="{&quot;isTemplate&quot;:true,&quot;type&quot;:&quot;text&quot;}"/>
          <p:cNvSpPr txBox="1"/>
          <p:nvPr/>
        </p:nvSpPr>
        <p:spPr>
          <a:xfrm>
            <a:off x="8220075" y="2857500"/>
            <a:ext cx="3171825" cy="2952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80000"/>
              </a:lnSpc>
            </a:pPr>
            <a:r>
              <a:rPr lang="zh-CN" sz="1050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结论：</a:t>
            </a:r>
            <a:r>
              <a:rPr lang="en-US" sz="1050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Config.set </a:t>
            </a:r>
            <a:r>
              <a:rPr lang="zh-CN" sz="1050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不会触发任何刷新回调。</a:t>
            </a:r>
            <a:endParaRPr lang="zh-CN" sz="1050">
              <a:solidFill>
                <a:srgbClr val="F59E0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26" name="文本框 1125" descr="{&quot;isTemplate&quot;:true,&quot;type&quot;:&quot;text&quot;}"/>
          <p:cNvSpPr txBox="1"/>
          <p:nvPr/>
        </p:nvSpPr>
        <p:spPr>
          <a:xfrm>
            <a:off x="8220075" y="3590925"/>
            <a:ext cx="3171825" cy="561975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75000"/>
              </a:lnSpc>
            </a:pPr>
            <a:r>
              <a:rPr lang="zh-CN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所以改完配置要自己调一次</a:t>
            </a:r>
            <a:r>
              <a:rPr lang="en-US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LoggerFactory.refresh()</a:t>
            </a:r>
            <a:r>
              <a:rPr lang="zh-CN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（见第十五章）。</a:t>
            </a:r>
            <a:endParaRPr lang="zh-CN" sz="1050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27" name="圆角矩形 1126"/>
          <p:cNvSpPr/>
          <p:nvPr/>
        </p:nvSpPr>
        <p:spPr>
          <a:xfrm>
            <a:off x="609600" y="4495800"/>
            <a:ext cx="10972800" cy="1790700"/>
          </a:xfrm>
          <a:prstGeom prst="roundRect">
            <a:avLst>
              <a:gd name="adj" fmla="val 6383"/>
            </a:avLst>
          </a:prstGeom>
          <a:solidFill>
            <a:srgbClr val="38BDF8">
              <a:alpha val="6000"/>
            </a:srgbClr>
          </a:solidFill>
          <a:ln w="12700">
            <a:solidFill>
              <a:srgbClr val="38BDF8"/>
            </a:solidFill>
            <a:prstDash val="solid"/>
          </a:ln>
        </p:spPr>
        <p:txBody>
          <a:bodyPr/>
          <a:p/>
        </p:txBody>
      </p:sp>
      <p:sp>
        <p:nvSpPr>
          <p:cNvPr id="1128" name="矩形 1127"/>
          <p:cNvSpPr/>
          <p:nvPr/>
        </p:nvSpPr>
        <p:spPr>
          <a:xfrm>
            <a:off x="800100" y="5105400"/>
            <a:ext cx="38100" cy="571500"/>
          </a:xfrm>
          <a:prstGeom prst="rect">
            <a:avLst/>
          </a:prstGeom>
          <a:solidFill>
            <a:srgbClr val="38BDF8"/>
          </a:solidFill>
        </p:spPr>
        <p:txBody>
          <a:bodyPr/>
          <a:p/>
        </p:txBody>
      </p:sp>
      <p:sp>
        <p:nvSpPr>
          <p:cNvPr id="1129" name="文本框 1128" descr="{&quot;isTemplate&quot;:true,&quot;type&quot;:&quot;text&quot;}"/>
          <p:cNvSpPr txBox="1"/>
          <p:nvPr/>
        </p:nvSpPr>
        <p:spPr>
          <a:xfrm>
            <a:off x="1028700" y="5238750"/>
            <a:ext cx="10363200" cy="3143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zh-CN" sz="1200" b="1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这两个问题的共同影响：容错代码要按「单数</a:t>
            </a:r>
            <a:r>
              <a:rPr lang="en-US" sz="1200" b="1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 / </a:t>
            </a:r>
            <a:r>
              <a:rPr lang="zh-CN" sz="1200" b="1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复数」两套写；运行期刷新必须显式调用，不能指望</a:t>
            </a:r>
            <a:r>
              <a:rPr lang="en-US" sz="1200" b="1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 Config.set </a:t>
            </a:r>
            <a:r>
              <a:rPr lang="zh-CN" sz="1200" b="1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自动生效。</a:t>
            </a:r>
            <a:endParaRPr lang="zh-CN" sz="1200" b="1">
              <a:solidFill>
                <a:srgbClr val="E2E8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30" name="任意多边形 1129"/>
          <p:cNvSpPr/>
          <p:nvPr/>
        </p:nvSpPr>
        <p:spPr>
          <a:xfrm>
            <a:off x="609600" y="6286500"/>
            <a:ext cx="10972800" cy="381000"/>
          </a:xfrm>
          <a:custGeom>
            <a:avLst/>
            <a:gdLst/>
            <a:ahLst/>
            <a:cxnLst/>
            <a:pathLst>
              <a:path w="1152" h="40">
                <a:moveTo>
                  <a:pt x="0" y="0"/>
                </a:moveTo>
                <a:lnTo>
                  <a:pt x="1152" y="0"/>
                </a:lnTo>
                <a:lnTo>
                  <a:pt x="1152" y="1"/>
                </a:lnTo>
                <a:lnTo>
                  <a:pt x="0" y="1"/>
                </a:lnTo>
                <a:close/>
              </a:path>
            </a:pathLst>
          </a:custGeom>
          <a:solidFill>
            <a:srgbClr val="1E293B"/>
          </a:solidFill>
        </p:spPr>
        <p:txBody>
          <a:bodyPr/>
          <a:p/>
        </p:txBody>
      </p:sp>
      <p:sp>
        <p:nvSpPr>
          <p:cNvPr id="1131" name="文本框 1130" descr="{&quot;isTemplate&quot;:true,&quot;type&quot;:&quot;text&quot;}"/>
          <p:cNvSpPr txBox="1"/>
          <p:nvPr/>
        </p:nvSpPr>
        <p:spPr>
          <a:xfrm>
            <a:off x="609600" y="6410325"/>
            <a:ext cx="2219325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fountain · 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一站式服务器应用开发工具库</a:t>
            </a:r>
            <a:endParaRPr lang="zh-CN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32" name="文本框 1131" descr="{&quot;isTemplate&quot;:true,&quot;type&quot;:&quot;text&quot;}"/>
          <p:cNvSpPr txBox="1"/>
          <p:nvPr/>
        </p:nvSpPr>
        <p:spPr>
          <a:xfrm>
            <a:off x="11087100" y="6410325"/>
            <a:ext cx="495300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30 / 116</a:t>
            </a:r>
            <a:endParaRPr lang="en-US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13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4" name="矩形 113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220"/>
          </a:solidFill>
        </p:spPr>
        <p:txBody>
          <a:bodyPr/>
          <a:p/>
        </p:txBody>
      </p:sp>
      <p:sp>
        <p:nvSpPr>
          <p:cNvPr id="1135" name="矩形 1134"/>
          <p:cNvSpPr/>
          <p:nvPr/>
        </p:nvSpPr>
        <p:spPr>
          <a:xfrm>
            <a:off x="609600" y="476250"/>
            <a:ext cx="38100" cy="381000"/>
          </a:xfrm>
          <a:prstGeom prst="rect">
            <a:avLst/>
          </a:prstGeom>
          <a:solidFill>
            <a:srgbClr val="38BDF8"/>
          </a:solidFill>
        </p:spPr>
        <p:txBody>
          <a:bodyPr/>
          <a:p/>
        </p:txBody>
      </p:sp>
      <p:sp>
        <p:nvSpPr>
          <p:cNvPr id="1136" name="文本框 1135" descr="{&quot;isTemplate&quot;:true,&quot;type&quot;:&quot;text&quot;}"/>
          <p:cNvSpPr txBox="1"/>
          <p:nvPr/>
        </p:nvSpPr>
        <p:spPr>
          <a:xfrm>
            <a:off x="819150" y="304800"/>
            <a:ext cx="10353675" cy="2095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第</a:t>
            </a: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 4 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章</a:t>
            </a: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 · 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配置</a:t>
            </a: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 f_config · 4.9</a:t>
            </a:r>
            <a:endParaRPr lang="en-US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37" name="文本框 1136" descr="{&quot;isTemplate&quot;:true,&quot;type&quot;:&quot;text&quot;}"/>
          <p:cNvSpPr txBox="1"/>
          <p:nvPr/>
        </p:nvSpPr>
        <p:spPr>
          <a:xfrm>
            <a:off x="819150" y="514350"/>
            <a:ext cx="10353675" cy="5143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2550" b="1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现场演示：内嵌、覆盖、无配置文件</a:t>
            </a:r>
            <a:endParaRPr lang="zh-CN" sz="2550" b="1">
              <a:solidFill>
                <a:srgbClr val="E2E8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38" name="文本框 1137" descr="{&quot;isTemplate&quot;:true,&quot;type&quot;:&quot;text&quot;}"/>
          <p:cNvSpPr txBox="1"/>
          <p:nvPr/>
        </p:nvSpPr>
        <p:spPr>
          <a:xfrm>
            <a:off x="11344275" y="590550"/>
            <a:ext cx="238125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3 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步</a:t>
            </a:r>
            <a:endParaRPr lang="zh-CN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39" name="圆角矩形 1138"/>
          <p:cNvSpPr/>
          <p:nvPr/>
        </p:nvSpPr>
        <p:spPr>
          <a:xfrm>
            <a:off x="609600" y="1143000"/>
            <a:ext cx="10972800" cy="828675"/>
          </a:xfrm>
          <a:prstGeom prst="roundRect">
            <a:avLst>
              <a:gd name="adj" fmla="val 13793"/>
            </a:avLst>
          </a:prstGeom>
          <a:solidFill>
            <a:srgbClr val="111C2E"/>
          </a:solidFill>
        </p:spPr>
        <p:txBody>
          <a:bodyPr/>
          <a:p/>
        </p:txBody>
      </p:sp>
      <p:sp>
        <p:nvSpPr>
          <p:cNvPr id="1140" name="文本框 1139" descr="{&quot;isTemplate&quot;:true,&quot;type&quot;:&quot;text&quot;}"/>
          <p:cNvSpPr txBox="1"/>
          <p:nvPr/>
        </p:nvSpPr>
        <p:spPr>
          <a:xfrm>
            <a:off x="762000" y="1295400"/>
            <a:ext cx="342900" cy="5238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650" b="1">
                <a:solidFill>
                  <a:srgbClr val="38BDF8"/>
                </a:solidFill>
                <a:latin typeface="JetBrains Mono"/>
                <a:ea typeface="JetBrains Mono"/>
              </a:rPr>
              <a:t>1</a:t>
            </a:r>
            <a:endParaRPr lang="en-US" sz="1650" b="1">
              <a:solidFill>
                <a:srgbClr val="38BDF8"/>
              </a:solidFill>
              <a:latin typeface="JetBrains Mono"/>
              <a:ea typeface="JetBrains Mono"/>
            </a:endParaRPr>
          </a:p>
        </p:txBody>
      </p:sp>
      <p:sp>
        <p:nvSpPr>
          <p:cNvPr id="1141" name="文本框 1140" descr="{&quot;isTemplate&quot;:true,&quot;type&quot;:&quot;text&quot;}"/>
          <p:cNvSpPr txBox="1"/>
          <p:nvPr/>
        </p:nvSpPr>
        <p:spPr>
          <a:xfrm>
            <a:off x="1257300" y="1295400"/>
            <a:ext cx="10172700" cy="1905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数一下</a:t>
            </a:r>
            <a:r>
              <a:rPr lang="en-US" sz="1200" b="1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 fdemo </a:t>
            </a:r>
            <a:r>
              <a:rPr lang="zh-CN" sz="1200" b="1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有多少配置</a:t>
            </a:r>
            <a:endParaRPr lang="zh-CN" sz="1200" b="1">
              <a:solidFill>
                <a:srgbClr val="E2E8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42" name="文本框 1141" descr="{&quot;isTemplate&quot;:true,&quot;type&quot;:&quot;text&quot;}"/>
          <p:cNvSpPr txBox="1"/>
          <p:nvPr/>
        </p:nvSpPr>
        <p:spPr>
          <a:xfrm>
            <a:off x="1257300" y="1543050"/>
            <a:ext cx="10172700" cy="2762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en-US" sz="1050">
                <a:solidFill>
                  <a:srgbClr val="22D3EE"/>
                </a:solidFill>
                <a:latin typeface="JetBrains Mono"/>
                <a:ea typeface="JetBrains Mono"/>
              </a:rPr>
              <a:t>grep -c 'export' fdemo/boot.sh</a:t>
            </a:r>
            <a:endParaRPr lang="en-US" sz="1050">
              <a:solidFill>
                <a:srgbClr val="22D3EE"/>
              </a:solidFill>
              <a:latin typeface="JetBrains Mono"/>
              <a:ea typeface="JetBrains Mono"/>
            </a:endParaRPr>
          </a:p>
        </p:txBody>
      </p:sp>
      <p:sp>
        <p:nvSpPr>
          <p:cNvPr id="1143" name="圆角矩形 1142"/>
          <p:cNvSpPr/>
          <p:nvPr/>
        </p:nvSpPr>
        <p:spPr>
          <a:xfrm>
            <a:off x="609600" y="2124075"/>
            <a:ext cx="10972800" cy="1104900"/>
          </a:xfrm>
          <a:prstGeom prst="roundRect">
            <a:avLst>
              <a:gd name="adj" fmla="val 10345"/>
            </a:avLst>
          </a:prstGeom>
          <a:solidFill>
            <a:srgbClr val="111C2E"/>
          </a:solidFill>
        </p:spPr>
        <p:txBody>
          <a:bodyPr/>
          <a:p/>
        </p:txBody>
      </p:sp>
      <p:sp>
        <p:nvSpPr>
          <p:cNvPr id="1144" name="文本框 1143" descr="{&quot;isTemplate&quot;:true,&quot;type&quot;:&quot;text&quot;}"/>
          <p:cNvSpPr txBox="1"/>
          <p:nvPr/>
        </p:nvSpPr>
        <p:spPr>
          <a:xfrm>
            <a:off x="762000" y="2276475"/>
            <a:ext cx="342900" cy="8001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650" b="1">
                <a:solidFill>
                  <a:srgbClr val="38BDF8"/>
                </a:solidFill>
                <a:latin typeface="JetBrains Mono"/>
                <a:ea typeface="JetBrains Mono"/>
              </a:rPr>
              <a:t>2</a:t>
            </a:r>
            <a:endParaRPr lang="en-US" sz="1650" b="1">
              <a:solidFill>
                <a:srgbClr val="38BDF8"/>
              </a:solidFill>
              <a:latin typeface="JetBrains Mono"/>
              <a:ea typeface="JetBrains Mono"/>
            </a:endParaRPr>
          </a:p>
        </p:txBody>
      </p:sp>
      <p:sp>
        <p:nvSpPr>
          <p:cNvPr id="1145" name="文本框 1144" descr="{&quot;isTemplate&quot;:true,&quot;type&quot;:&quot;text&quot;}"/>
          <p:cNvSpPr txBox="1"/>
          <p:nvPr/>
        </p:nvSpPr>
        <p:spPr>
          <a:xfrm>
            <a:off x="1257300" y="2276475"/>
            <a:ext cx="10172700" cy="1905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编译期注入：</a:t>
            </a:r>
            <a:r>
              <a:rPr lang="en-US" sz="1200" b="1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--k=v </a:t>
            </a:r>
            <a:r>
              <a:rPr lang="zh-CN" sz="1200" b="1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变成</a:t>
            </a:r>
            <a:r>
              <a:rPr lang="en-US" sz="1200" b="1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 cjpm build </a:t>
            </a:r>
            <a:r>
              <a:rPr lang="zh-CN" sz="1200" b="1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子进程的环境变量</a:t>
            </a:r>
            <a:endParaRPr lang="zh-CN" sz="1200" b="1">
              <a:solidFill>
                <a:srgbClr val="E2E8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46" name="文本框 1145" descr="{&quot;isTemplate&quot;:true,&quot;type&quot;:&quot;text&quot;}"/>
          <p:cNvSpPr txBox="1"/>
          <p:nvPr/>
        </p:nvSpPr>
        <p:spPr>
          <a:xfrm>
            <a:off x="1257300" y="2524125"/>
            <a:ext cx="10172700" cy="2762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en-US" sz="1050">
                <a:solidFill>
                  <a:srgbClr val="22D3EE"/>
                </a:solidFill>
                <a:latin typeface="JetBrains Mono"/>
                <a:ea typeface="JetBrains Mono"/>
              </a:rPr>
              <a:t>cd fdemo</a:t>
            </a:r>
            <a:r>
              <a:rPr lang="zh-CN" sz="1050">
                <a:solidFill>
                  <a:srgbClr val="22D3EE"/>
                </a:solidFill>
                <a:latin typeface="JetBrains Mono"/>
                <a:ea typeface="JetBrains Mono"/>
              </a:rPr>
              <a:t>；</a:t>
            </a:r>
            <a:r>
              <a:rPr lang="en-US" sz="1050">
                <a:solidFill>
                  <a:srgbClr val="22D3EE"/>
                </a:solidFill>
                <a:latin typeface="JetBrains Mono"/>
                <a:ea typeface="JetBrains Mono"/>
              </a:rPr>
              <a:t>export POSTGRES=...</a:t>
            </a:r>
            <a:r>
              <a:rPr lang="zh-CN" sz="1050">
                <a:solidFill>
                  <a:srgbClr val="22D3EE"/>
                </a:solidFill>
                <a:latin typeface="JetBrains Mono"/>
                <a:ea typeface="JetBrains Mono"/>
              </a:rPr>
              <a:t>；</a:t>
            </a:r>
            <a:r>
              <a:rPr lang="en-US" sz="1050">
                <a:solidFill>
                  <a:srgbClr val="22D3EE"/>
                </a:solidFill>
                <a:latin typeface="JetBrains Mono"/>
                <a:ea typeface="JetBrains Mono"/>
              </a:rPr>
              <a:t>./boot.sh build</a:t>
            </a:r>
            <a:endParaRPr lang="en-US" sz="1050">
              <a:solidFill>
                <a:srgbClr val="22D3EE"/>
              </a:solidFill>
              <a:latin typeface="JetBrains Mono"/>
              <a:ea typeface="JetBrains Mono"/>
            </a:endParaRPr>
          </a:p>
        </p:txBody>
      </p:sp>
      <p:sp>
        <p:nvSpPr>
          <p:cNvPr id="1147" name="文本框 1146" descr="{&quot;isTemplate&quot;:true,&quot;type&quot;:&quot;text&quot;}"/>
          <p:cNvSpPr txBox="1"/>
          <p:nvPr/>
        </p:nvSpPr>
        <p:spPr>
          <a:xfrm>
            <a:off x="1257300" y="2838450"/>
            <a:ext cx="10172700" cy="2381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内部：</a:t>
            </a: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--sm4Key=$(fboot randhex 32) --sm4Iv=$(fboot randhex 32)</a:t>
            </a:r>
            <a:endParaRPr lang="en-US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48" name="圆角矩形 1147"/>
          <p:cNvSpPr/>
          <p:nvPr/>
        </p:nvSpPr>
        <p:spPr>
          <a:xfrm>
            <a:off x="609600" y="3381375"/>
            <a:ext cx="10972800" cy="1143000"/>
          </a:xfrm>
          <a:prstGeom prst="roundRect">
            <a:avLst>
              <a:gd name="adj" fmla="val 10000"/>
            </a:avLst>
          </a:prstGeom>
          <a:solidFill>
            <a:srgbClr val="111C2E"/>
          </a:solidFill>
        </p:spPr>
        <p:txBody>
          <a:bodyPr/>
          <a:p/>
        </p:txBody>
      </p:sp>
      <p:sp>
        <p:nvSpPr>
          <p:cNvPr id="1149" name="文本框 1148" descr="{&quot;isTemplate&quot;:true,&quot;type&quot;:&quot;text&quot;}"/>
          <p:cNvSpPr txBox="1"/>
          <p:nvPr/>
        </p:nvSpPr>
        <p:spPr>
          <a:xfrm>
            <a:off x="762000" y="3533775"/>
            <a:ext cx="342900" cy="8382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650" b="1">
                <a:solidFill>
                  <a:srgbClr val="F59E0B"/>
                </a:solidFill>
                <a:latin typeface="JetBrains Mono"/>
                <a:ea typeface="JetBrains Mono"/>
              </a:rPr>
              <a:t>3</a:t>
            </a:r>
            <a:endParaRPr lang="en-US" sz="1650" b="1">
              <a:solidFill>
                <a:srgbClr val="F59E0B"/>
              </a:solidFill>
              <a:latin typeface="JetBrains Mono"/>
              <a:ea typeface="JetBrains Mono"/>
            </a:endParaRPr>
          </a:p>
        </p:txBody>
      </p:sp>
      <p:sp>
        <p:nvSpPr>
          <p:cNvPr id="1150" name="文本框 1149" descr="{&quot;isTemplate&quot;:true,&quot;type&quot;:&quot;text&quot;}"/>
          <p:cNvSpPr txBox="1"/>
          <p:nvPr/>
        </p:nvSpPr>
        <p:spPr>
          <a:xfrm>
            <a:off x="1257300" y="3533775"/>
            <a:ext cx="10172700" cy="1905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运行期覆盖：两种写法完全等价</a:t>
            </a:r>
            <a:endParaRPr lang="zh-CN" sz="1200" b="1">
              <a:solidFill>
                <a:srgbClr val="E2E8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51" name="文本框 1150" descr="{&quot;isTemplate&quot;:true,&quot;type&quot;:&quot;text&quot;}"/>
          <p:cNvSpPr txBox="1"/>
          <p:nvPr/>
        </p:nvSpPr>
        <p:spPr>
          <a:xfrm>
            <a:off x="1257300" y="3781425"/>
            <a:ext cx="10172700" cy="2762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zh-CN" sz="1050">
                <a:solidFill>
                  <a:srgbClr val="94A3B8"/>
                </a:solidFill>
                <a:latin typeface="JetBrains Mono"/>
                <a:ea typeface="JetBrains Mono"/>
              </a:rPr>
              <a:t>写法一（环境变量）：</a:t>
            </a:r>
            <a:r>
              <a:rPr lang="en-US" sz="1050">
                <a:solidFill>
                  <a:srgbClr val="94A3B8"/>
                </a:solidFill>
                <a:latin typeface="JetBrains Mono"/>
                <a:ea typeface="JetBrains Mono"/>
              </a:rPr>
              <a:t>export mvc_port=8080 → ./boot.sh run</a:t>
            </a:r>
            <a:endParaRPr lang="en-US" sz="1050">
              <a:solidFill>
                <a:srgbClr val="94A3B8"/>
              </a:solidFill>
              <a:latin typeface="JetBrains Mono"/>
              <a:ea typeface="JetBrains Mono"/>
            </a:endParaRPr>
          </a:p>
        </p:txBody>
      </p:sp>
      <p:sp>
        <p:nvSpPr>
          <p:cNvPr id="1152" name="文本框 1151" descr="{&quot;isTemplate&quot;:true,&quot;type&quot;:&quot;text&quot;}"/>
          <p:cNvSpPr txBox="1"/>
          <p:nvPr/>
        </p:nvSpPr>
        <p:spPr>
          <a:xfrm>
            <a:off x="1257300" y="4095750"/>
            <a:ext cx="10172700" cy="2762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zh-CN" sz="1050">
                <a:solidFill>
                  <a:srgbClr val="F59E0B"/>
                </a:solidFill>
                <a:latin typeface="JetBrains Mono"/>
                <a:ea typeface="JetBrains Mono"/>
              </a:rPr>
              <a:t>写法二（命令行参数）：</a:t>
            </a:r>
            <a:r>
              <a:rPr lang="en-US" sz="1050">
                <a:solidFill>
                  <a:srgbClr val="F59E0B"/>
                </a:solidFill>
                <a:latin typeface="JetBrains Mono"/>
                <a:ea typeface="JetBrains Mono"/>
              </a:rPr>
              <a:t>fboot run ./fdemo --mvc_port=9090 --orm_drivers=postgres</a:t>
            </a:r>
            <a:endParaRPr lang="en-US" sz="1050">
              <a:solidFill>
                <a:srgbClr val="F59E0B"/>
              </a:solidFill>
              <a:latin typeface="JetBrains Mono"/>
              <a:ea typeface="JetBrains Mono"/>
            </a:endParaRPr>
          </a:p>
        </p:txBody>
      </p:sp>
      <p:sp>
        <p:nvSpPr>
          <p:cNvPr id="1153" name="圆角矩形 1152"/>
          <p:cNvSpPr/>
          <p:nvPr/>
        </p:nvSpPr>
        <p:spPr>
          <a:xfrm>
            <a:off x="609600" y="4676775"/>
            <a:ext cx="10972800" cy="1609725"/>
          </a:xfrm>
          <a:prstGeom prst="roundRect">
            <a:avLst>
              <a:gd name="adj" fmla="val 7101"/>
            </a:avLst>
          </a:prstGeom>
          <a:solidFill>
            <a:srgbClr val="38BDF8">
              <a:alpha val="6000"/>
            </a:srgbClr>
          </a:solidFill>
          <a:ln w="12700">
            <a:solidFill>
              <a:srgbClr val="38BDF8"/>
            </a:solidFill>
            <a:prstDash val="solid"/>
          </a:ln>
        </p:spPr>
        <p:txBody>
          <a:bodyPr/>
          <a:p/>
        </p:txBody>
      </p:sp>
      <p:sp>
        <p:nvSpPr>
          <p:cNvPr id="1154" name="文本框 1153" descr="{&quot;isTemplate&quot;:true,&quot;type&quot;:&quot;text&quot;}"/>
          <p:cNvSpPr txBox="1"/>
          <p:nvPr/>
        </p:nvSpPr>
        <p:spPr>
          <a:xfrm>
            <a:off x="800100" y="4867275"/>
            <a:ext cx="10591800" cy="1905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38BDF8"/>
                </a:solidFill>
                <a:latin typeface="微软雅黑" panose="020B0503020204020204" charset="-122"/>
                <a:ea typeface="微软雅黑" panose="020B0503020204020204" charset="-122"/>
              </a:rPr>
              <a:t>预期</a:t>
            </a:r>
            <a:endParaRPr lang="zh-CN" sz="1200" b="1">
              <a:solidFill>
                <a:srgbClr val="38BDF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55" name="文本框 1154" descr="{&quot;isTemplate&quot;:true,&quot;type&quot;:&quot;text&quot;}"/>
          <p:cNvSpPr txBox="1"/>
          <p:nvPr/>
        </p:nvSpPr>
        <p:spPr>
          <a:xfrm>
            <a:off x="800100" y="5133975"/>
            <a:ext cx="10591800" cy="2762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zh-CN" sz="105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编译成功，连接串与口令被加密嵌入产物；日志里出现</a:t>
            </a:r>
            <a:r>
              <a:rPr lang="en-US" sz="105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 9090 </a:t>
            </a:r>
            <a:r>
              <a:rPr lang="zh-CN" sz="105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端口，</a:t>
            </a:r>
            <a:r>
              <a:rPr lang="en-US" sz="105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Config.getString('mvc_port') </a:t>
            </a:r>
            <a:r>
              <a:rPr lang="zh-CN" sz="105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取到命令行参数的值，覆盖了环境变量值；两种写法效果完全一致。</a:t>
            </a:r>
            <a:endParaRPr lang="zh-CN" sz="1050">
              <a:solidFill>
                <a:srgbClr val="E2E8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56" name="文本框 1155" descr="{&quot;isTemplate&quot;:true,&quot;type&quot;:&quot;text&quot;}"/>
          <p:cNvSpPr txBox="1"/>
          <p:nvPr/>
        </p:nvSpPr>
        <p:spPr>
          <a:xfrm>
            <a:off x="800100" y="5819775"/>
            <a:ext cx="10591800" cy="2762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zh-CN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这就是「环境变量与</a:t>
            </a:r>
            <a:r>
              <a:rPr lang="en-US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--key=value </a:t>
            </a:r>
            <a:r>
              <a:rPr lang="zh-CN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平级，后者覆盖前者」最直观的证明。</a:t>
            </a:r>
            <a:endParaRPr lang="zh-CN" sz="1050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57" name="任意多边形 1156"/>
          <p:cNvSpPr/>
          <p:nvPr/>
        </p:nvSpPr>
        <p:spPr>
          <a:xfrm>
            <a:off x="609600" y="6286500"/>
            <a:ext cx="10972800" cy="381000"/>
          </a:xfrm>
          <a:custGeom>
            <a:avLst/>
            <a:gdLst/>
            <a:ahLst/>
            <a:cxnLst/>
            <a:pathLst>
              <a:path w="1152" h="40">
                <a:moveTo>
                  <a:pt x="0" y="0"/>
                </a:moveTo>
                <a:lnTo>
                  <a:pt x="1152" y="0"/>
                </a:lnTo>
                <a:lnTo>
                  <a:pt x="1152" y="1"/>
                </a:lnTo>
                <a:lnTo>
                  <a:pt x="0" y="1"/>
                </a:lnTo>
                <a:close/>
              </a:path>
            </a:pathLst>
          </a:custGeom>
          <a:solidFill>
            <a:srgbClr val="1E293B"/>
          </a:solidFill>
        </p:spPr>
        <p:txBody>
          <a:bodyPr/>
          <a:p/>
        </p:txBody>
      </p:sp>
      <p:sp>
        <p:nvSpPr>
          <p:cNvPr id="1158" name="文本框 1157" descr="{&quot;isTemplate&quot;:true,&quot;type&quot;:&quot;text&quot;}"/>
          <p:cNvSpPr txBox="1"/>
          <p:nvPr/>
        </p:nvSpPr>
        <p:spPr>
          <a:xfrm>
            <a:off x="609600" y="6410325"/>
            <a:ext cx="2219325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fountain · 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一站式服务器应用开发工具库</a:t>
            </a:r>
            <a:endParaRPr lang="zh-CN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59" name="文本框 1158" descr="{&quot;isTemplate&quot;:true,&quot;type&quot;:&quot;text&quot;}"/>
          <p:cNvSpPr txBox="1"/>
          <p:nvPr/>
        </p:nvSpPr>
        <p:spPr>
          <a:xfrm>
            <a:off x="11087100" y="6410325"/>
            <a:ext cx="495300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31 / 116</a:t>
            </a:r>
            <a:endParaRPr lang="en-US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16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1" name="矩形 116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220"/>
          </a:solidFill>
        </p:spPr>
        <p:txBody>
          <a:bodyPr/>
          <a:p/>
        </p:txBody>
      </p:sp>
      <p:sp>
        <p:nvSpPr>
          <p:cNvPr id="1162" name="矩形 1161"/>
          <p:cNvSpPr/>
          <p:nvPr/>
        </p:nvSpPr>
        <p:spPr>
          <a:xfrm>
            <a:off x="609600" y="476250"/>
            <a:ext cx="38100" cy="381000"/>
          </a:xfrm>
          <a:prstGeom prst="rect">
            <a:avLst/>
          </a:prstGeom>
          <a:solidFill>
            <a:srgbClr val="38BDF8"/>
          </a:solidFill>
        </p:spPr>
        <p:txBody>
          <a:bodyPr/>
          <a:p/>
        </p:txBody>
      </p:sp>
      <p:sp>
        <p:nvSpPr>
          <p:cNvPr id="1163" name="文本框 1162" descr="{&quot;isTemplate&quot;:true,&quot;type&quot;:&quot;text&quot;}"/>
          <p:cNvSpPr txBox="1"/>
          <p:nvPr/>
        </p:nvSpPr>
        <p:spPr>
          <a:xfrm>
            <a:off x="819150" y="304800"/>
            <a:ext cx="9477375" cy="2095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第</a:t>
            </a: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 5 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章</a:t>
            </a: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 · 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现场跑通</a:t>
            </a: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 fdemo · 5.1</a:t>
            </a:r>
            <a:endParaRPr lang="en-US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64" name="文本框 1163" descr="{&quot;isTemplate&quot;:true,&quot;type&quot;:&quot;text&quot;}"/>
          <p:cNvSpPr txBox="1"/>
          <p:nvPr/>
        </p:nvSpPr>
        <p:spPr>
          <a:xfrm>
            <a:off x="819150" y="514350"/>
            <a:ext cx="9477375" cy="5143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en-US" sz="2550" b="1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fdemo </a:t>
            </a:r>
            <a:r>
              <a:rPr lang="zh-CN" sz="2550" b="1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目录结构</a:t>
            </a:r>
            <a:endParaRPr lang="zh-CN" sz="2550" b="1">
              <a:solidFill>
                <a:srgbClr val="E2E8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65" name="文本框 1164" descr="{&quot;isTemplate&quot;:true,&quot;type&quot;:&quot;text&quot;}"/>
          <p:cNvSpPr txBox="1"/>
          <p:nvPr/>
        </p:nvSpPr>
        <p:spPr>
          <a:xfrm>
            <a:off x="10467975" y="590550"/>
            <a:ext cx="1114425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分包决定</a:t>
            </a: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 dylib 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粒度</a:t>
            </a:r>
            <a:endParaRPr lang="zh-CN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66" name="圆角矩形 1165"/>
          <p:cNvSpPr/>
          <p:nvPr/>
        </p:nvSpPr>
        <p:spPr>
          <a:xfrm>
            <a:off x="609600" y="1143000"/>
            <a:ext cx="5905500" cy="5143500"/>
          </a:xfrm>
          <a:prstGeom prst="roundRect">
            <a:avLst>
              <a:gd name="adj" fmla="val 2222"/>
            </a:avLst>
          </a:prstGeom>
          <a:solidFill>
            <a:srgbClr val="0B1220"/>
          </a:solidFill>
          <a:ln w="12700">
            <a:solidFill>
              <a:srgbClr val="1E293B"/>
            </a:solidFill>
            <a:prstDash val="solid"/>
          </a:ln>
        </p:spPr>
        <p:txBody>
          <a:bodyPr/>
          <a:p/>
        </p:txBody>
      </p:sp>
      <p:sp>
        <p:nvSpPr>
          <p:cNvPr id="1167" name="文本框 1166" descr="{&quot;isTemplate&quot;:true,&quot;type&quot;:&quot;text&quot;}"/>
          <p:cNvSpPr txBox="1"/>
          <p:nvPr/>
        </p:nvSpPr>
        <p:spPr>
          <a:xfrm>
            <a:off x="800100" y="1333500"/>
            <a:ext cx="5524500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fdemo/</a:t>
            </a:r>
            <a:endParaRPr lang="en-US" sz="105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68" name="文本框 1167" descr="{&quot;isTemplate&quot;:true,&quot;type&quot;:&quot;text&quot;}"/>
          <p:cNvSpPr txBox="1"/>
          <p:nvPr/>
        </p:nvSpPr>
        <p:spPr>
          <a:xfrm>
            <a:off x="800100" y="1590675"/>
            <a:ext cx="5524500" cy="40862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en-US" sz="1050">
                <a:solidFill>
                  <a:srgbClr val="E2E8F0"/>
                </a:solidFill>
                <a:latin typeface="JetBrains Mono"/>
                <a:ea typeface="JetBrains Mono"/>
              </a:rPr>
              <a:t>├── cjpm.toml</a:t>
            </a:r>
            <a:r>
              <a:rPr lang="zh-CN" sz="1050">
                <a:solidFill>
                  <a:srgbClr val="E2E8F0"/>
                </a:solidFill>
                <a:latin typeface="JetBrains Mono"/>
                <a:ea typeface="JetBrains Mono"/>
              </a:rPr>
              <a:t>　　　</a:t>
            </a:r>
            <a:r>
              <a:rPr lang="en-US" sz="1050">
                <a:solidFill>
                  <a:srgbClr val="E2E8F0"/>
                </a:solidFill>
                <a:latin typeface="JetBrains Mono"/>
                <a:ea typeface="JetBrains Mono"/>
              </a:rPr>
              <a:t># workspace</a:t>
            </a:r>
            <a:r>
              <a:rPr lang="zh-CN" sz="1050">
                <a:solidFill>
                  <a:srgbClr val="E2E8F0"/>
                </a:solidFill>
                <a:latin typeface="JetBrains Mono"/>
                <a:ea typeface="JetBrains Mono"/>
              </a:rPr>
              <a:t>：</a:t>
            </a:r>
            <a:r>
              <a:rPr lang="en-US" sz="1050">
                <a:solidFill>
                  <a:srgbClr val="E2E8F0"/>
                </a:solidFill>
                <a:latin typeface="JetBrains Mono"/>
                <a:ea typeface="JetBrains Mono"/>
              </a:rPr>
              <a:t>members = ["./boot", "./user"]</a:t>
            </a:r>
            <a:endParaRPr lang="en-US" sz="1050">
              <a:solidFill>
                <a:srgbClr val="E2E8F0"/>
              </a:solidFill>
              <a:latin typeface="JetBrains Mono"/>
              <a:ea typeface="JetBrains Mono"/>
            </a:endParaRPr>
          </a:p>
          <a:p>
            <a:pPr>
              <a:lnSpc>
                <a:spcPct val="150000"/>
              </a:lnSpc>
            </a:pPr>
            <a:r>
              <a:rPr lang="en-US" sz="1050">
                <a:solidFill>
                  <a:srgbClr val="E2E8F0"/>
                </a:solidFill>
                <a:latin typeface="JetBrains Mono"/>
                <a:ea typeface="JetBrains Mono"/>
              </a:rPr>
              <a:t>├── banner.txt</a:t>
            </a:r>
            <a:r>
              <a:rPr lang="zh-CN" sz="1050">
                <a:solidFill>
                  <a:srgbClr val="E2E8F0"/>
                </a:solidFill>
                <a:latin typeface="JetBrains Mono"/>
                <a:ea typeface="JetBrains Mono"/>
              </a:rPr>
              <a:t>　　　</a:t>
            </a:r>
            <a:r>
              <a:rPr lang="en-US" sz="1050">
                <a:solidFill>
                  <a:srgbClr val="E2E8F0"/>
                </a:solidFill>
                <a:latin typeface="JetBrains Mono"/>
                <a:ea typeface="JetBrains Mono"/>
              </a:rPr>
              <a:t># </a:t>
            </a:r>
            <a:r>
              <a:rPr lang="zh-CN" sz="1050">
                <a:solidFill>
                  <a:srgbClr val="E2E8F0"/>
                </a:solidFill>
                <a:latin typeface="JetBrains Mono"/>
                <a:ea typeface="JetBrains Mono"/>
              </a:rPr>
              <a:t>启动横幅（</a:t>
            </a:r>
            <a:r>
              <a:rPr lang="en-US" sz="1050">
                <a:solidFill>
                  <a:srgbClr val="E2E8F0"/>
                </a:solidFill>
                <a:latin typeface="JetBrains Mono"/>
                <a:ea typeface="JetBrains Mono"/>
              </a:rPr>
              <a:t>fboot build </a:t>
            </a:r>
            <a:r>
              <a:rPr lang="zh-CN" sz="1050">
                <a:solidFill>
                  <a:srgbClr val="E2E8F0"/>
                </a:solidFill>
                <a:latin typeface="JetBrains Mono"/>
                <a:ea typeface="JetBrains Mono"/>
              </a:rPr>
              <a:t>打包进版本模块）</a:t>
            </a:r>
            <a:endParaRPr lang="zh-CN" sz="1050">
              <a:solidFill>
                <a:srgbClr val="E2E8F0"/>
              </a:solidFill>
              <a:latin typeface="JetBrains Mono"/>
              <a:ea typeface="JetBrains Mono"/>
            </a:endParaRPr>
          </a:p>
          <a:p>
            <a:pPr>
              <a:lnSpc>
                <a:spcPct val="150000"/>
              </a:lnSpc>
            </a:pPr>
            <a:r>
              <a:rPr lang="en-US" sz="1050">
                <a:solidFill>
                  <a:srgbClr val="E2E8F0"/>
                </a:solidFill>
                <a:latin typeface="JetBrains Mono"/>
                <a:ea typeface="JetBrains Mono"/>
              </a:rPr>
              <a:t>├── boot.sh · boot-macos.sh · boot-win-gitbash.sh</a:t>
            </a:r>
            <a:endParaRPr lang="en-US" sz="1050">
              <a:solidFill>
                <a:srgbClr val="E2E8F0"/>
              </a:solidFill>
              <a:latin typeface="JetBrains Mono"/>
              <a:ea typeface="JetBrains Mono"/>
            </a:endParaRPr>
          </a:p>
          <a:p>
            <a:pPr>
              <a:lnSpc>
                <a:spcPct val="150000"/>
              </a:lnSpc>
            </a:pPr>
            <a:r>
              <a:rPr lang="en-US" sz="1050">
                <a:solidFill>
                  <a:srgbClr val="E2E8F0"/>
                </a:solidFill>
                <a:latin typeface="JetBrains Mono"/>
                <a:ea typeface="JetBrains Mono"/>
              </a:rPr>
              <a:t>├── boot/</a:t>
            </a:r>
            <a:r>
              <a:rPr lang="zh-CN" sz="1050">
                <a:solidFill>
                  <a:srgbClr val="E2E8F0"/>
                </a:solidFill>
                <a:latin typeface="JetBrains Mono"/>
                <a:ea typeface="JetBrains Mono"/>
              </a:rPr>
              <a:t>　　　　　</a:t>
            </a:r>
            <a:r>
              <a:rPr lang="en-US" sz="1050">
                <a:solidFill>
                  <a:srgbClr val="E2E8F0"/>
                </a:solidFill>
                <a:latin typeface="JetBrains Mono"/>
                <a:ea typeface="JetBrains Mono"/>
              </a:rPr>
              <a:t> # </a:t>
            </a:r>
            <a:r>
              <a:rPr lang="zh-CN" sz="1050">
                <a:solidFill>
                  <a:srgbClr val="E2E8F0"/>
                </a:solidFill>
                <a:latin typeface="JetBrains Mono"/>
                <a:ea typeface="JetBrains Mono"/>
              </a:rPr>
              <a:t>初始化模块</a:t>
            </a:r>
            <a:endParaRPr lang="zh-CN" sz="1050">
              <a:solidFill>
                <a:srgbClr val="E2E8F0"/>
              </a:solidFill>
              <a:latin typeface="JetBrains Mono"/>
              <a:ea typeface="JetBrains Mono"/>
            </a:endParaRPr>
          </a:p>
          <a:p>
            <a:pPr>
              <a:lnSpc>
                <a:spcPct val="150000"/>
              </a:lnSpc>
            </a:pPr>
            <a:r>
              <a:rPr lang="zh-CN" sz="1050">
                <a:solidFill>
                  <a:srgbClr val="E2E8F0"/>
                </a:solidFill>
                <a:latin typeface="JetBrains Mono"/>
                <a:ea typeface="JetBrains Mono"/>
              </a:rPr>
              <a:t>│　　└──</a:t>
            </a:r>
            <a:r>
              <a:rPr lang="en-US" sz="1050">
                <a:solidFill>
                  <a:srgbClr val="E2E8F0"/>
                </a:solidFill>
                <a:latin typeface="JetBrains Mono"/>
                <a:ea typeface="JetBrains Mono"/>
              </a:rPr>
              <a:t> src/</a:t>
            </a:r>
            <a:r>
              <a:rPr lang="zh-CN" sz="1050">
                <a:solidFill>
                  <a:srgbClr val="E2E8F0"/>
                </a:solidFill>
                <a:latin typeface="JetBrains Mono"/>
                <a:ea typeface="JetBrains Mono"/>
              </a:rPr>
              <a:t>　　</a:t>
            </a:r>
            <a:r>
              <a:rPr lang="en-US" sz="1050">
                <a:solidFill>
                  <a:srgbClr val="E2E8F0"/>
                </a:solidFill>
                <a:latin typeface="JetBrains Mono"/>
                <a:ea typeface="JetBrains Mono"/>
              </a:rPr>
              <a:t>ControllerAspect · TransactionHookImpl</a:t>
            </a:r>
            <a:endParaRPr lang="en-US" sz="1050">
              <a:solidFill>
                <a:srgbClr val="E2E8F0"/>
              </a:solidFill>
              <a:latin typeface="JetBrains Mono"/>
              <a:ea typeface="JetBrains Mono"/>
            </a:endParaRPr>
          </a:p>
          <a:p>
            <a:pPr>
              <a:lnSpc>
                <a:spcPct val="150000"/>
              </a:lnSpc>
            </a:pPr>
            <a:r>
              <a:rPr lang="zh-CN" sz="1050">
                <a:solidFill>
                  <a:srgbClr val="E2E8F0"/>
                </a:solidFill>
                <a:latin typeface="JetBrains Mono"/>
                <a:ea typeface="JetBrains Mono"/>
              </a:rPr>
              <a:t>│　　　　　　　　</a:t>
            </a:r>
            <a:r>
              <a:rPr lang="en-US" sz="1050">
                <a:solidFill>
                  <a:srgbClr val="E2E8F0"/>
                </a:solidFill>
                <a:latin typeface="JetBrains Mono"/>
                <a:ea typeface="JetBrains Mono"/>
              </a:rPr>
              <a:t>LogMediaType · error/ErrorHandler</a:t>
            </a:r>
            <a:endParaRPr lang="en-US" sz="1050">
              <a:solidFill>
                <a:srgbClr val="E2E8F0"/>
              </a:solidFill>
              <a:latin typeface="JetBrains Mono"/>
              <a:ea typeface="JetBrains Mono"/>
            </a:endParaRPr>
          </a:p>
          <a:p>
            <a:pPr>
              <a:lnSpc>
                <a:spcPct val="150000"/>
              </a:lnSpc>
            </a:pPr>
            <a:r>
              <a:rPr lang="en-US" sz="1050">
                <a:solidFill>
                  <a:srgbClr val="E2E8F0"/>
                </a:solidFill>
                <a:latin typeface="JetBrains Mono"/>
                <a:ea typeface="JetBrains Mono"/>
              </a:rPr>
              <a:t>└── user/</a:t>
            </a:r>
            <a:r>
              <a:rPr lang="zh-CN" sz="1050">
                <a:solidFill>
                  <a:srgbClr val="E2E8F0"/>
                </a:solidFill>
                <a:latin typeface="JetBrains Mono"/>
                <a:ea typeface="JetBrains Mono"/>
              </a:rPr>
              <a:t>　　　　　</a:t>
            </a:r>
            <a:r>
              <a:rPr lang="en-US" sz="1050">
                <a:solidFill>
                  <a:srgbClr val="E2E8F0"/>
                </a:solidFill>
                <a:latin typeface="JetBrains Mono"/>
                <a:ea typeface="JetBrains Mono"/>
              </a:rPr>
              <a:t> # </a:t>
            </a:r>
            <a:r>
              <a:rPr lang="zh-CN" sz="1050">
                <a:solidFill>
                  <a:srgbClr val="E2E8F0"/>
                </a:solidFill>
                <a:latin typeface="JetBrains Mono"/>
                <a:ea typeface="JetBrains Mono"/>
              </a:rPr>
              <a:t>业务模块</a:t>
            </a:r>
            <a:endParaRPr lang="zh-CN" sz="1050">
              <a:solidFill>
                <a:srgbClr val="E2E8F0"/>
              </a:solidFill>
              <a:latin typeface="JetBrains Mono"/>
              <a:ea typeface="JetBrains Mono"/>
            </a:endParaRPr>
          </a:p>
          <a:p>
            <a:pPr>
              <a:lnSpc>
                <a:spcPct val="150000"/>
              </a:lnSpc>
            </a:pPr>
            <a:r>
              <a:rPr lang="zh-CN" sz="1050">
                <a:solidFill>
                  <a:srgbClr val="E2E8F0"/>
                </a:solidFill>
                <a:latin typeface="JetBrains Mono"/>
                <a:ea typeface="JetBrains Mono"/>
              </a:rPr>
              <a:t>　　　└──</a:t>
            </a:r>
            <a:r>
              <a:rPr lang="en-US" sz="1050">
                <a:solidFill>
                  <a:srgbClr val="E2E8F0"/>
                </a:solidFill>
                <a:latin typeface="JetBrains Mono"/>
                <a:ea typeface="JetBrains Mono"/>
              </a:rPr>
              <a:t> src/</a:t>
            </a:r>
            <a:endParaRPr lang="en-US" sz="1050">
              <a:solidFill>
                <a:srgbClr val="E2E8F0"/>
              </a:solidFill>
              <a:latin typeface="JetBrains Mono"/>
              <a:ea typeface="JetBrains Mono"/>
            </a:endParaRPr>
          </a:p>
          <a:p>
            <a:pPr>
              <a:lnSpc>
                <a:spcPct val="150000"/>
              </a:lnSpc>
            </a:pPr>
            <a:r>
              <a:rPr lang="zh-CN" sz="1050">
                <a:solidFill>
                  <a:srgbClr val="E2E8F0"/>
                </a:solidFill>
                <a:latin typeface="JetBrains Mono"/>
                <a:ea typeface="JetBrains Mono"/>
              </a:rPr>
              <a:t>　　　　　　├──</a:t>
            </a:r>
            <a:r>
              <a:rPr lang="en-US" sz="1050">
                <a:solidFill>
                  <a:srgbClr val="E2E8F0"/>
                </a:solidFill>
                <a:latin typeface="JetBrains Mono"/>
                <a:ea typeface="JetBrains Mono"/>
              </a:rPr>
              <a:t> controller/</a:t>
            </a:r>
            <a:r>
              <a:rPr lang="zh-CN" sz="1050">
                <a:solidFill>
                  <a:srgbClr val="E2E8F0"/>
                </a:solidFill>
                <a:latin typeface="JetBrains Mono"/>
                <a:ea typeface="JetBrains Mono"/>
              </a:rPr>
              <a:t>　　</a:t>
            </a:r>
            <a:r>
              <a:rPr lang="en-US" sz="1050">
                <a:solidFill>
                  <a:srgbClr val="E2E8F0"/>
                </a:solidFill>
                <a:latin typeface="JetBrains Mono"/>
                <a:ea typeface="JetBrains Mono"/>
              </a:rPr>
              <a:t>UserController · CurrentUserController</a:t>
            </a:r>
            <a:endParaRPr lang="en-US" sz="1050">
              <a:solidFill>
                <a:srgbClr val="E2E8F0"/>
              </a:solidFill>
              <a:latin typeface="JetBrains Mono"/>
              <a:ea typeface="JetBrains Mono"/>
            </a:endParaRPr>
          </a:p>
          <a:p>
            <a:pPr>
              <a:lnSpc>
                <a:spcPct val="150000"/>
              </a:lnSpc>
            </a:pPr>
            <a:r>
              <a:rPr lang="zh-CN" sz="1050">
                <a:solidFill>
                  <a:srgbClr val="E2E8F0"/>
                </a:solidFill>
                <a:latin typeface="JetBrains Mono"/>
                <a:ea typeface="JetBrains Mono"/>
              </a:rPr>
              <a:t>　　　　　　│　　　　　　　　</a:t>
            </a:r>
            <a:r>
              <a:rPr lang="en-US" sz="1050">
                <a:solidFill>
                  <a:srgbClr val="E2E8F0"/>
                </a:solidFill>
                <a:latin typeface="JetBrains Mono"/>
                <a:ea typeface="JetBrains Mono"/>
              </a:rPr>
              <a:t> HellowordController · UploadController</a:t>
            </a:r>
            <a:endParaRPr lang="en-US" sz="1050">
              <a:solidFill>
                <a:srgbClr val="E2E8F0"/>
              </a:solidFill>
              <a:latin typeface="JetBrains Mono"/>
              <a:ea typeface="JetBrains Mono"/>
            </a:endParaRPr>
          </a:p>
          <a:p>
            <a:pPr>
              <a:lnSpc>
                <a:spcPct val="150000"/>
              </a:lnSpc>
            </a:pPr>
            <a:r>
              <a:rPr lang="zh-CN" sz="1050">
                <a:solidFill>
                  <a:srgbClr val="E2E8F0"/>
                </a:solidFill>
                <a:latin typeface="JetBrains Mono"/>
                <a:ea typeface="JetBrains Mono"/>
              </a:rPr>
              <a:t>　　　　　　├──</a:t>
            </a:r>
            <a:r>
              <a:rPr lang="en-US" sz="1050">
                <a:solidFill>
                  <a:srgbClr val="E2E8F0"/>
                </a:solidFill>
                <a:latin typeface="JetBrains Mono"/>
                <a:ea typeface="JetBrains Mono"/>
              </a:rPr>
              <a:t> service/</a:t>
            </a:r>
            <a:r>
              <a:rPr lang="zh-CN" sz="1050">
                <a:solidFill>
                  <a:srgbClr val="E2E8F0"/>
                </a:solidFill>
                <a:latin typeface="JetBrains Mono"/>
                <a:ea typeface="JetBrains Mono"/>
              </a:rPr>
              <a:t>　　　　</a:t>
            </a:r>
            <a:r>
              <a:rPr lang="en-US" sz="1050">
                <a:solidFill>
                  <a:srgbClr val="E2E8F0"/>
                </a:solidFill>
                <a:latin typeface="JetBrains Mono"/>
                <a:ea typeface="JetBrains Mono"/>
              </a:rPr>
              <a:t>UserService</a:t>
            </a:r>
            <a:r>
              <a:rPr lang="zh-CN" sz="1050">
                <a:solidFill>
                  <a:srgbClr val="E2E8F0"/>
                </a:solidFill>
                <a:latin typeface="JetBrains Mono"/>
                <a:ea typeface="JetBrains Mono"/>
              </a:rPr>
              <a:t>（接口）</a:t>
            </a:r>
            <a:endParaRPr lang="zh-CN" sz="1050">
              <a:solidFill>
                <a:srgbClr val="E2E8F0"/>
              </a:solidFill>
              <a:latin typeface="JetBrains Mono"/>
              <a:ea typeface="JetBrains Mono"/>
            </a:endParaRPr>
          </a:p>
          <a:p>
            <a:pPr>
              <a:lnSpc>
                <a:spcPct val="150000"/>
              </a:lnSpc>
            </a:pPr>
            <a:r>
              <a:rPr lang="zh-CN" sz="1050">
                <a:solidFill>
                  <a:srgbClr val="E2E8F0"/>
                </a:solidFill>
                <a:latin typeface="JetBrains Mono"/>
                <a:ea typeface="JetBrains Mono"/>
              </a:rPr>
              <a:t>　　　　　　├──</a:t>
            </a:r>
            <a:r>
              <a:rPr lang="en-US" sz="1050">
                <a:solidFill>
                  <a:srgbClr val="E2E8F0"/>
                </a:solidFill>
                <a:latin typeface="JetBrains Mono"/>
                <a:ea typeface="JetBrains Mono"/>
              </a:rPr>
              <a:t> service/impl/</a:t>
            </a:r>
            <a:r>
              <a:rPr lang="zh-CN" sz="1050">
                <a:solidFill>
                  <a:srgbClr val="E2E8F0"/>
                </a:solidFill>
                <a:latin typeface="JetBrains Mono"/>
                <a:ea typeface="JetBrains Mono"/>
              </a:rPr>
              <a:t>　</a:t>
            </a:r>
            <a:r>
              <a:rPr lang="en-US" sz="1050">
                <a:solidFill>
                  <a:srgbClr val="E2E8F0"/>
                </a:solidFill>
                <a:latin typeface="JetBrains Mono"/>
                <a:ea typeface="JetBrains Mono"/>
              </a:rPr>
              <a:t> UserServiceImpl · HelloworldServiceImpl</a:t>
            </a:r>
            <a:endParaRPr lang="en-US" sz="1050">
              <a:solidFill>
                <a:srgbClr val="E2E8F0"/>
              </a:solidFill>
              <a:latin typeface="JetBrains Mono"/>
              <a:ea typeface="JetBrains Mono"/>
            </a:endParaRPr>
          </a:p>
          <a:p>
            <a:pPr>
              <a:lnSpc>
                <a:spcPct val="150000"/>
              </a:lnSpc>
            </a:pPr>
            <a:r>
              <a:rPr lang="zh-CN" sz="1050">
                <a:solidFill>
                  <a:srgbClr val="E2E8F0"/>
                </a:solidFill>
                <a:latin typeface="JetBrains Mono"/>
                <a:ea typeface="JetBrains Mono"/>
              </a:rPr>
              <a:t>　　　　　　├──</a:t>
            </a:r>
            <a:r>
              <a:rPr lang="en-US" sz="1050">
                <a:solidFill>
                  <a:srgbClr val="E2E8F0"/>
                </a:solidFill>
                <a:latin typeface="JetBrains Mono"/>
                <a:ea typeface="JetBrains Mono"/>
              </a:rPr>
              <a:t> dao/</a:t>
            </a:r>
            <a:r>
              <a:rPr lang="zh-CN" sz="1050">
                <a:solidFill>
                  <a:srgbClr val="E2E8F0"/>
                </a:solidFill>
                <a:latin typeface="JetBrains Mono"/>
                <a:ea typeface="JetBrains Mono"/>
              </a:rPr>
              <a:t>　　　　　　</a:t>
            </a:r>
            <a:r>
              <a:rPr lang="en-US" sz="1050">
                <a:solidFill>
                  <a:srgbClr val="E2E8F0"/>
                </a:solidFill>
                <a:latin typeface="JetBrains Mono"/>
                <a:ea typeface="JetBrains Mono"/>
              </a:rPr>
              <a:t>UserDAO</a:t>
            </a:r>
            <a:endParaRPr lang="en-US" sz="1050">
              <a:solidFill>
                <a:srgbClr val="E2E8F0"/>
              </a:solidFill>
              <a:latin typeface="JetBrains Mono"/>
              <a:ea typeface="JetBrains Mono"/>
            </a:endParaRPr>
          </a:p>
          <a:p>
            <a:pPr>
              <a:lnSpc>
                <a:spcPct val="150000"/>
              </a:lnSpc>
            </a:pPr>
            <a:r>
              <a:rPr lang="zh-CN" sz="1050">
                <a:solidFill>
                  <a:srgbClr val="E2E8F0"/>
                </a:solidFill>
                <a:latin typeface="JetBrains Mono"/>
                <a:ea typeface="JetBrains Mono"/>
              </a:rPr>
              <a:t>　　　　　　├──</a:t>
            </a:r>
            <a:r>
              <a:rPr lang="en-US" sz="1050">
                <a:solidFill>
                  <a:srgbClr val="E2E8F0"/>
                </a:solidFill>
                <a:latin typeface="JetBrains Mono"/>
                <a:ea typeface="JetBrains Mono"/>
              </a:rPr>
              <a:t> model/po/</a:t>
            </a:r>
            <a:r>
              <a:rPr lang="zh-CN" sz="1050">
                <a:solidFill>
                  <a:srgbClr val="E2E8F0"/>
                </a:solidFill>
                <a:latin typeface="JetBrains Mono"/>
                <a:ea typeface="JetBrains Mono"/>
              </a:rPr>
              <a:t>　　　</a:t>
            </a:r>
            <a:r>
              <a:rPr lang="en-US" sz="1050">
                <a:solidFill>
                  <a:srgbClr val="E2E8F0"/>
                </a:solidFill>
                <a:latin typeface="JetBrains Mono"/>
                <a:ea typeface="JetBrains Mono"/>
              </a:rPr>
              <a:t> UserPO</a:t>
            </a:r>
            <a:r>
              <a:rPr lang="zh-CN" sz="1050">
                <a:solidFill>
                  <a:srgbClr val="E2E8F0"/>
                </a:solidFill>
                <a:latin typeface="JetBrains Mono"/>
                <a:ea typeface="JetBrains Mono"/>
              </a:rPr>
              <a:t>（持久化对象）</a:t>
            </a:r>
            <a:endParaRPr lang="zh-CN" sz="1050">
              <a:solidFill>
                <a:srgbClr val="E2E8F0"/>
              </a:solidFill>
              <a:latin typeface="JetBrains Mono"/>
              <a:ea typeface="JetBrains Mono"/>
            </a:endParaRPr>
          </a:p>
          <a:p>
            <a:pPr>
              <a:lnSpc>
                <a:spcPct val="150000"/>
              </a:lnSpc>
            </a:pPr>
            <a:r>
              <a:rPr lang="zh-CN" sz="1050">
                <a:solidFill>
                  <a:srgbClr val="E2E8F0"/>
                </a:solidFill>
                <a:latin typeface="JetBrains Mono"/>
                <a:ea typeface="JetBrains Mono"/>
              </a:rPr>
              <a:t>　　　　　　├──</a:t>
            </a:r>
            <a:r>
              <a:rPr lang="en-US" sz="1050">
                <a:solidFill>
                  <a:srgbClr val="E2E8F0"/>
                </a:solidFill>
                <a:latin typeface="JetBrains Mono"/>
                <a:ea typeface="JetBrains Mono"/>
              </a:rPr>
              <a:t> model/mvc/</a:t>
            </a:r>
            <a:r>
              <a:rPr lang="zh-CN" sz="1050">
                <a:solidFill>
                  <a:srgbClr val="E2E8F0"/>
                </a:solidFill>
                <a:latin typeface="JetBrains Mono"/>
                <a:ea typeface="JetBrains Mono"/>
              </a:rPr>
              <a:t>　　　</a:t>
            </a:r>
            <a:r>
              <a:rPr lang="en-US" sz="1050">
                <a:solidFill>
                  <a:srgbClr val="E2E8F0"/>
                </a:solidFill>
                <a:latin typeface="JetBrains Mono"/>
                <a:ea typeface="JetBrains Mono"/>
              </a:rPr>
              <a:t>UserRequest · UserResponse · UserSession</a:t>
            </a:r>
            <a:endParaRPr lang="en-US" sz="1050">
              <a:solidFill>
                <a:srgbClr val="E2E8F0"/>
              </a:solidFill>
              <a:latin typeface="JetBrains Mono"/>
              <a:ea typeface="JetBrains Mono"/>
            </a:endParaRPr>
          </a:p>
          <a:p>
            <a:pPr>
              <a:lnSpc>
                <a:spcPct val="150000"/>
              </a:lnSpc>
            </a:pPr>
            <a:r>
              <a:rPr lang="zh-CN" sz="1050">
                <a:solidFill>
                  <a:srgbClr val="E2E8F0"/>
                </a:solidFill>
                <a:latin typeface="JetBrains Mono"/>
                <a:ea typeface="JetBrains Mono"/>
              </a:rPr>
              <a:t>　　　　　　├──</a:t>
            </a:r>
            <a:r>
              <a:rPr lang="en-US" sz="1050">
                <a:solidFill>
                  <a:srgbClr val="E2E8F0"/>
                </a:solidFill>
                <a:latin typeface="JetBrains Mono"/>
                <a:ea typeface="JetBrains Mono"/>
              </a:rPr>
              <a:t> model/entity/</a:t>
            </a:r>
            <a:r>
              <a:rPr lang="zh-CN" sz="1050">
                <a:solidFill>
                  <a:srgbClr val="E2E8F0"/>
                </a:solidFill>
                <a:latin typeface="JetBrains Mono"/>
                <a:ea typeface="JetBrains Mono"/>
              </a:rPr>
              <a:t>　</a:t>
            </a:r>
            <a:r>
              <a:rPr lang="en-US" sz="1050">
                <a:solidFill>
                  <a:srgbClr val="E2E8F0"/>
                </a:solidFill>
                <a:latin typeface="JetBrains Mono"/>
                <a:ea typeface="JetBrains Mono"/>
              </a:rPr>
              <a:t> UserEntity</a:t>
            </a:r>
            <a:endParaRPr lang="en-US" sz="1050">
              <a:solidFill>
                <a:srgbClr val="E2E8F0"/>
              </a:solidFill>
              <a:latin typeface="JetBrains Mono"/>
              <a:ea typeface="JetBrains Mono"/>
            </a:endParaRPr>
          </a:p>
          <a:p>
            <a:pPr>
              <a:lnSpc>
                <a:spcPct val="150000"/>
              </a:lnSpc>
            </a:pPr>
            <a:r>
              <a:rPr lang="zh-CN" sz="1050">
                <a:solidFill>
                  <a:srgbClr val="E2E8F0"/>
                </a:solidFill>
                <a:latin typeface="JetBrains Mono"/>
                <a:ea typeface="JetBrains Mono"/>
              </a:rPr>
              <a:t>　　　　　　└──</a:t>
            </a:r>
            <a:r>
              <a:rPr lang="en-US" sz="1050">
                <a:solidFill>
                  <a:srgbClr val="E2E8F0"/>
                </a:solidFill>
                <a:latin typeface="JetBrains Mono"/>
                <a:ea typeface="JetBrains Mono"/>
              </a:rPr>
              <a:t> util/</a:t>
            </a:r>
            <a:r>
              <a:rPr lang="zh-CN" sz="1050">
                <a:solidFill>
                  <a:srgbClr val="E2E8F0"/>
                </a:solidFill>
                <a:latin typeface="JetBrains Mono"/>
                <a:ea typeface="JetBrains Mono"/>
              </a:rPr>
              <a:t>　　　　　</a:t>
            </a:r>
            <a:r>
              <a:rPr lang="en-US" sz="1050">
                <a:solidFill>
                  <a:srgbClr val="E2E8F0"/>
                </a:solidFill>
                <a:latin typeface="JetBrains Mono"/>
                <a:ea typeface="JetBrains Mono"/>
              </a:rPr>
              <a:t> UserSessionCache · auth/ · cron/</a:t>
            </a:r>
            <a:endParaRPr lang="en-US" sz="1050">
              <a:solidFill>
                <a:srgbClr val="E2E8F0"/>
              </a:solidFill>
              <a:latin typeface="JetBrains Mono"/>
              <a:ea typeface="JetBrains Mono"/>
            </a:endParaRPr>
          </a:p>
        </p:txBody>
      </p:sp>
      <p:sp>
        <p:nvSpPr>
          <p:cNvPr id="1169" name="圆角矩形 1168"/>
          <p:cNvSpPr/>
          <p:nvPr/>
        </p:nvSpPr>
        <p:spPr>
          <a:xfrm>
            <a:off x="6705600" y="1143000"/>
            <a:ext cx="4876800" cy="2505075"/>
          </a:xfrm>
          <a:prstGeom prst="roundRect">
            <a:avLst>
              <a:gd name="adj" fmla="val 4563"/>
            </a:avLst>
          </a:prstGeom>
          <a:solidFill>
            <a:srgbClr val="111C2E"/>
          </a:solidFill>
          <a:ln w="12700">
            <a:solidFill>
              <a:srgbClr val="38BDF8"/>
            </a:solidFill>
            <a:prstDash val="solid"/>
          </a:ln>
        </p:spPr>
        <p:txBody>
          <a:bodyPr/>
          <a:p/>
        </p:txBody>
      </p:sp>
      <p:sp>
        <p:nvSpPr>
          <p:cNvPr id="1170" name="文本框 1169" descr="{&quot;isTemplate&quot;:true,&quot;type&quot;:&quot;text&quot;}"/>
          <p:cNvSpPr txBox="1"/>
          <p:nvPr/>
        </p:nvSpPr>
        <p:spPr>
          <a:xfrm>
            <a:off x="6896100" y="1333500"/>
            <a:ext cx="4495800" cy="2095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38BDF8"/>
                </a:solidFill>
                <a:latin typeface="微软雅黑" panose="020B0503020204020204" charset="-122"/>
                <a:ea typeface="微软雅黑" panose="020B0503020204020204" charset="-122"/>
              </a:rPr>
              <a:t>为什么这样分包</a:t>
            </a:r>
            <a:endParaRPr lang="zh-CN" sz="1350" b="1">
              <a:solidFill>
                <a:srgbClr val="38BDF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71" name="文本框 1170" descr="{&quot;isTemplate&quot;:true,&quot;type&quot;:&quot;text&quot;}"/>
          <p:cNvSpPr txBox="1"/>
          <p:nvPr/>
        </p:nvSpPr>
        <p:spPr>
          <a:xfrm>
            <a:off x="6896100" y="1657350"/>
            <a:ext cx="4495800" cy="3143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80000"/>
              </a:lnSpc>
            </a:pPr>
            <a:r>
              <a:rPr lang="zh-CN" sz="112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分包决定动态链接库的粒度，动态链接库粒度决定</a:t>
            </a:r>
            <a:r>
              <a:rPr lang="en-US" sz="112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--dylibPattern</a:t>
            </a:r>
            <a:r>
              <a:rPr lang="zh-CN" sz="112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。</a:t>
            </a:r>
            <a:endParaRPr lang="zh-CN" sz="1125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72" name="文本框 1171" descr="{&quot;isTemplate&quot;:true,&quot;type&quot;:&quot;text&quot;}"/>
          <p:cNvSpPr txBox="1"/>
          <p:nvPr/>
        </p:nvSpPr>
        <p:spPr>
          <a:xfrm>
            <a:off x="6896100" y="2066925"/>
            <a:ext cx="4495800" cy="619125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80000"/>
              </a:lnSpc>
            </a:pPr>
            <a:r>
              <a:rPr lang="zh-CN" sz="112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所以「切面放哪个包」「鉴权器放哪个包」是需要在设计阶段就想清楚的事。</a:t>
            </a:r>
            <a:endParaRPr lang="zh-CN" sz="1125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73" name="文本框 1172" descr="{&quot;isTemplate&quot;:true,&quot;type&quot;:&quot;text&quot;}"/>
          <p:cNvSpPr txBox="1"/>
          <p:nvPr/>
        </p:nvSpPr>
        <p:spPr>
          <a:xfrm>
            <a:off x="6896100" y="3143250"/>
            <a:ext cx="4495800" cy="3143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80000"/>
              </a:lnSpc>
            </a:pPr>
            <a:r>
              <a:rPr lang="en-US" sz="1125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boot </a:t>
            </a:r>
            <a:r>
              <a:rPr lang="zh-CN" sz="1125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包在正则里有专门的一段，就是这个原因。</a:t>
            </a:r>
            <a:endParaRPr lang="zh-CN" sz="1125">
              <a:solidFill>
                <a:srgbClr val="F59E0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74" name="圆角矩形 1173"/>
          <p:cNvSpPr/>
          <p:nvPr/>
        </p:nvSpPr>
        <p:spPr>
          <a:xfrm>
            <a:off x="6705600" y="3781425"/>
            <a:ext cx="4876800" cy="2505075"/>
          </a:xfrm>
          <a:prstGeom prst="roundRect">
            <a:avLst>
              <a:gd name="adj" fmla="val 4563"/>
            </a:avLst>
          </a:prstGeom>
          <a:solidFill>
            <a:srgbClr val="111C2E"/>
          </a:solidFill>
          <a:ln w="12700">
            <a:solidFill>
              <a:srgbClr val="1E293B"/>
            </a:solidFill>
            <a:prstDash val="solid"/>
          </a:ln>
        </p:spPr>
        <p:txBody>
          <a:bodyPr/>
          <a:p/>
        </p:txBody>
      </p:sp>
      <p:sp>
        <p:nvSpPr>
          <p:cNvPr id="1175" name="文本框 1174" descr="{&quot;isTemplate&quot;:true,&quot;type&quot;:&quot;text&quot;}"/>
          <p:cNvSpPr txBox="1"/>
          <p:nvPr/>
        </p:nvSpPr>
        <p:spPr>
          <a:xfrm>
            <a:off x="6896100" y="3971925"/>
            <a:ext cx="4495800" cy="2095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一段最真实的动态链接库拆分</a:t>
            </a:r>
            <a:endParaRPr lang="zh-CN" sz="1350" b="1">
              <a:solidFill>
                <a:srgbClr val="E2E8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76" name="文本框 1175" descr="{&quot;isTemplate&quot;:true,&quot;type&quot;:&quot;text&quot;}"/>
          <p:cNvSpPr txBox="1"/>
          <p:nvPr/>
        </p:nvSpPr>
        <p:spPr>
          <a:xfrm>
            <a:off x="6896100" y="4295775"/>
            <a:ext cx="4495800" cy="619125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80000"/>
              </a:lnSpc>
            </a:pPr>
            <a:r>
              <a:rPr lang="en-US" sz="112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boot </a:t>
            </a:r>
            <a:r>
              <a:rPr lang="zh-CN" sz="112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里的四样东西都不是业务，但都必须被加载：切面、事务钩子、自定义</a:t>
            </a:r>
            <a:r>
              <a:rPr lang="en-US" sz="112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MediaType</a:t>
            </a:r>
            <a:r>
              <a:rPr lang="zh-CN" sz="112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、</a:t>
            </a:r>
            <a:r>
              <a:rPr lang="en-US" sz="112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500 </a:t>
            </a:r>
            <a:r>
              <a:rPr lang="zh-CN" sz="112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处理器。</a:t>
            </a:r>
            <a:endParaRPr lang="zh-CN" sz="1125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77" name="文本框 1176" descr="{&quot;isTemplate&quot;:true,&quot;type&quot;:&quot;text&quot;}"/>
          <p:cNvSpPr txBox="1"/>
          <p:nvPr/>
        </p:nvSpPr>
        <p:spPr>
          <a:xfrm>
            <a:off x="6896100" y="5010150"/>
            <a:ext cx="4495800" cy="3143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80000"/>
              </a:lnSpc>
            </a:pPr>
            <a:r>
              <a:rPr lang="en-US" sz="112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user </a:t>
            </a:r>
            <a:r>
              <a:rPr lang="zh-CN" sz="112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里则是标准的</a:t>
            </a:r>
            <a:r>
              <a:rPr lang="en-US" sz="112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controller / service / dao / model </a:t>
            </a:r>
            <a:r>
              <a:rPr lang="zh-CN" sz="112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四层。</a:t>
            </a:r>
            <a:endParaRPr lang="zh-CN" sz="1125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78" name="文本框 1177" descr="{&quot;isTemplate&quot;:true,&quot;type&quot;:&quot;text&quot;}"/>
          <p:cNvSpPr txBox="1"/>
          <p:nvPr/>
        </p:nvSpPr>
        <p:spPr>
          <a:xfrm>
            <a:off x="6896100" y="5781675"/>
            <a:ext cx="4495800" cy="3143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80000"/>
              </a:lnSpc>
            </a:pPr>
            <a:r>
              <a:rPr lang="zh-CN" sz="112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业务代码里你只写了这四个东西。</a:t>
            </a:r>
            <a:endParaRPr lang="zh-CN" sz="112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79" name="任意多边形 1178"/>
          <p:cNvSpPr/>
          <p:nvPr/>
        </p:nvSpPr>
        <p:spPr>
          <a:xfrm>
            <a:off x="609600" y="6286500"/>
            <a:ext cx="10972800" cy="381000"/>
          </a:xfrm>
          <a:custGeom>
            <a:avLst/>
            <a:gdLst/>
            <a:ahLst/>
            <a:cxnLst/>
            <a:pathLst>
              <a:path w="1152" h="40">
                <a:moveTo>
                  <a:pt x="0" y="0"/>
                </a:moveTo>
                <a:lnTo>
                  <a:pt x="1152" y="0"/>
                </a:lnTo>
                <a:lnTo>
                  <a:pt x="1152" y="1"/>
                </a:lnTo>
                <a:lnTo>
                  <a:pt x="0" y="1"/>
                </a:lnTo>
                <a:close/>
              </a:path>
            </a:pathLst>
          </a:custGeom>
          <a:solidFill>
            <a:srgbClr val="1E293B"/>
          </a:solidFill>
        </p:spPr>
        <p:txBody>
          <a:bodyPr/>
          <a:p/>
        </p:txBody>
      </p:sp>
      <p:sp>
        <p:nvSpPr>
          <p:cNvPr id="1180" name="文本框 1179" descr="{&quot;isTemplate&quot;:true,&quot;type&quot;:&quot;text&quot;}"/>
          <p:cNvSpPr txBox="1"/>
          <p:nvPr/>
        </p:nvSpPr>
        <p:spPr>
          <a:xfrm>
            <a:off x="609600" y="6410325"/>
            <a:ext cx="2219325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fountain · 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一站式服务器应用开发工具库</a:t>
            </a:r>
            <a:endParaRPr lang="zh-CN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81" name="文本框 1180" descr="{&quot;isTemplate&quot;:true,&quot;type&quot;:&quot;text&quot;}"/>
          <p:cNvSpPr txBox="1"/>
          <p:nvPr/>
        </p:nvSpPr>
        <p:spPr>
          <a:xfrm>
            <a:off x="11087100" y="6410325"/>
            <a:ext cx="495300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32 / 116</a:t>
            </a:r>
            <a:endParaRPr lang="en-US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18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3" name="矩形 118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220"/>
          </a:solidFill>
        </p:spPr>
        <p:txBody>
          <a:bodyPr/>
          <a:p/>
        </p:txBody>
      </p:sp>
      <p:sp>
        <p:nvSpPr>
          <p:cNvPr id="1184" name="矩形 1183"/>
          <p:cNvSpPr/>
          <p:nvPr/>
        </p:nvSpPr>
        <p:spPr>
          <a:xfrm>
            <a:off x="609600" y="476250"/>
            <a:ext cx="38100" cy="381000"/>
          </a:xfrm>
          <a:prstGeom prst="rect">
            <a:avLst/>
          </a:prstGeom>
          <a:solidFill>
            <a:srgbClr val="38BDF8"/>
          </a:solidFill>
        </p:spPr>
        <p:txBody>
          <a:bodyPr/>
          <a:p/>
        </p:txBody>
      </p:sp>
      <p:sp>
        <p:nvSpPr>
          <p:cNvPr id="1185" name="文本框 1184" descr="{&quot;isTemplate&quot;:true,&quot;type&quot;:&quot;text&quot;}"/>
          <p:cNvSpPr txBox="1"/>
          <p:nvPr/>
        </p:nvSpPr>
        <p:spPr>
          <a:xfrm>
            <a:off x="819150" y="304800"/>
            <a:ext cx="9906000" cy="2095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第</a:t>
            </a: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 5 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章</a:t>
            </a: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 · 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现场跑通</a:t>
            </a: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 fdemo · 5.2 / 5.3</a:t>
            </a:r>
            <a:endParaRPr lang="en-US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86" name="文本框 1185" descr="{&quot;isTemplate&quot;:true,&quot;type&quot;:&quot;text&quot;}"/>
          <p:cNvSpPr txBox="1"/>
          <p:nvPr/>
        </p:nvSpPr>
        <p:spPr>
          <a:xfrm>
            <a:off x="819150" y="514350"/>
            <a:ext cx="9906000" cy="5143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2550" b="1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建表、编译、启动</a:t>
            </a:r>
            <a:endParaRPr lang="zh-CN" sz="2550" b="1">
              <a:solidFill>
                <a:srgbClr val="E2E8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87" name="文本框 1186" descr="{&quot;isTemplate&quot;:true,&quot;type&quot;:&quot;text&quot;}"/>
          <p:cNvSpPr txBox="1"/>
          <p:nvPr/>
        </p:nvSpPr>
        <p:spPr>
          <a:xfrm>
            <a:off x="10896600" y="590550"/>
            <a:ext cx="685800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PostgreSQL</a:t>
            </a:r>
            <a:endParaRPr lang="en-US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88" name="圆角矩形 1187"/>
          <p:cNvSpPr/>
          <p:nvPr/>
        </p:nvSpPr>
        <p:spPr>
          <a:xfrm>
            <a:off x="609600" y="1143000"/>
            <a:ext cx="10972800" cy="2590800"/>
          </a:xfrm>
          <a:prstGeom prst="roundRect">
            <a:avLst>
              <a:gd name="adj" fmla="val 4412"/>
            </a:avLst>
          </a:prstGeom>
          <a:solidFill>
            <a:srgbClr val="0B1220"/>
          </a:solidFill>
          <a:ln w="12700">
            <a:solidFill>
              <a:srgbClr val="1E293B"/>
            </a:solidFill>
            <a:prstDash val="solid"/>
          </a:ln>
        </p:spPr>
        <p:txBody>
          <a:bodyPr/>
          <a:p/>
        </p:txBody>
      </p:sp>
      <p:sp>
        <p:nvSpPr>
          <p:cNvPr id="1189" name="文本框 1188" descr="{&quot;isTemplate&quot;:true,&quot;type&quot;:&quot;text&quot;}"/>
          <p:cNvSpPr txBox="1"/>
          <p:nvPr/>
        </p:nvSpPr>
        <p:spPr>
          <a:xfrm>
            <a:off x="800100" y="1333500"/>
            <a:ext cx="10591800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5.2 </a:t>
            </a:r>
            <a:r>
              <a:rPr lang="zh-CN" sz="105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建表</a:t>
            </a:r>
            <a:endParaRPr lang="zh-CN" sz="105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90" name="文本框 1189" descr="{&quot;isTemplate&quot;:true,&quot;type&quot;:&quot;text&quot;}"/>
          <p:cNvSpPr txBox="1"/>
          <p:nvPr/>
        </p:nvSpPr>
        <p:spPr>
          <a:xfrm>
            <a:off x="800100" y="1590675"/>
            <a:ext cx="10591800" cy="3048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85000"/>
              </a:lnSpc>
            </a:pPr>
            <a:r>
              <a:rPr lang="en-US" sz="1050">
                <a:solidFill>
                  <a:srgbClr val="E2E8F0"/>
                </a:solidFill>
                <a:latin typeface="JetBrains Mono"/>
                <a:ea typeface="JetBrains Mono"/>
              </a:rPr>
              <a:t>CREATE TABLE public.user_info (</a:t>
            </a:r>
            <a:endParaRPr lang="en-US" sz="1050">
              <a:solidFill>
                <a:srgbClr val="E2E8F0"/>
              </a:solidFill>
              <a:latin typeface="JetBrains Mono"/>
              <a:ea typeface="JetBrains Mono"/>
            </a:endParaRPr>
          </a:p>
        </p:txBody>
      </p:sp>
      <p:sp>
        <p:nvSpPr>
          <p:cNvPr id="1191" name="文本框 1190" descr="{&quot;isTemplate&quot;:true,&quot;type&quot;:&quot;text&quot;}"/>
          <p:cNvSpPr txBox="1"/>
          <p:nvPr/>
        </p:nvSpPr>
        <p:spPr>
          <a:xfrm>
            <a:off x="800100" y="1895475"/>
            <a:ext cx="10591800" cy="3048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85000"/>
              </a:lnSpc>
            </a:pPr>
            <a:r>
              <a:rPr lang="en-US" sz="1050">
                <a:solidFill>
                  <a:srgbClr val="22D3EE"/>
                </a:solidFill>
                <a:latin typeface="JetBrains Mono"/>
                <a:ea typeface="JetBrains Mono"/>
              </a:rPr>
              <a:t>    id int8 GENERATED BY DEFAULT AS IDENTITY NOT NULL,</a:t>
            </a:r>
            <a:endParaRPr lang="en-US" sz="1050">
              <a:solidFill>
                <a:srgbClr val="22D3EE"/>
              </a:solidFill>
              <a:latin typeface="JetBrains Mono"/>
              <a:ea typeface="JetBrains Mono"/>
            </a:endParaRPr>
          </a:p>
        </p:txBody>
      </p:sp>
      <p:sp>
        <p:nvSpPr>
          <p:cNvPr id="1192" name="文本框 1191" descr="{&quot;isTemplate&quot;:true,&quot;type&quot;:&quot;text&quot;}"/>
          <p:cNvSpPr txBox="1"/>
          <p:nvPr/>
        </p:nvSpPr>
        <p:spPr>
          <a:xfrm>
            <a:off x="800100" y="2200275"/>
            <a:ext cx="10591800" cy="3048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85000"/>
              </a:lnSpc>
            </a:pPr>
            <a:r>
              <a:rPr lang="en-US" sz="1050">
                <a:solidFill>
                  <a:srgbClr val="22D3EE"/>
                </a:solidFill>
                <a:latin typeface="JetBrains Mono"/>
                <a:ea typeface="JetBrains Mono"/>
              </a:rPr>
              <a:t>    username varchar(32) NOT NULL,</a:t>
            </a:r>
            <a:endParaRPr lang="en-US" sz="1050">
              <a:solidFill>
                <a:srgbClr val="22D3EE"/>
              </a:solidFill>
              <a:latin typeface="JetBrains Mono"/>
              <a:ea typeface="JetBrains Mono"/>
            </a:endParaRPr>
          </a:p>
        </p:txBody>
      </p:sp>
      <p:sp>
        <p:nvSpPr>
          <p:cNvPr id="1193" name="文本框 1192" descr="{&quot;isTemplate&quot;:true,&quot;type&quot;:&quot;text&quot;}"/>
          <p:cNvSpPr txBox="1"/>
          <p:nvPr/>
        </p:nvSpPr>
        <p:spPr>
          <a:xfrm>
            <a:off x="800100" y="2505075"/>
            <a:ext cx="10591800" cy="3048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85000"/>
              </a:lnSpc>
            </a:pPr>
            <a:r>
              <a:rPr lang="en-US" sz="1050">
                <a:solidFill>
                  <a:srgbClr val="22D3EE"/>
                </a:solidFill>
                <a:latin typeface="JetBrains Mono"/>
                <a:ea typeface="JetBrains Mono"/>
              </a:rPr>
              <a:t>    "password" varchar(24) NOT NULL,</a:t>
            </a:r>
            <a:endParaRPr lang="en-US" sz="1050">
              <a:solidFill>
                <a:srgbClr val="22D3EE"/>
              </a:solidFill>
              <a:latin typeface="JetBrains Mono"/>
              <a:ea typeface="JetBrains Mono"/>
            </a:endParaRPr>
          </a:p>
        </p:txBody>
      </p:sp>
      <p:sp>
        <p:nvSpPr>
          <p:cNvPr id="1194" name="文本框 1193" descr="{&quot;isTemplate&quot;:true,&quot;type&quot;:&quot;text&quot;}"/>
          <p:cNvSpPr txBox="1"/>
          <p:nvPr/>
        </p:nvSpPr>
        <p:spPr>
          <a:xfrm>
            <a:off x="800100" y="2809875"/>
            <a:ext cx="10591800" cy="3048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85000"/>
              </a:lnSpc>
            </a:pPr>
            <a:r>
              <a:rPr lang="zh-CN" sz="1050">
                <a:solidFill>
                  <a:srgbClr val="22D3EE"/>
                </a:solidFill>
                <a:latin typeface="JetBrains Mono"/>
                <a:ea typeface="JetBrains Mono"/>
              </a:rPr>
              <a:t>　　</a:t>
            </a:r>
            <a:r>
              <a:rPr lang="en-US" sz="1050">
                <a:solidFill>
                  <a:srgbClr val="22D3EE"/>
                </a:solidFill>
                <a:latin typeface="JetBrains Mono"/>
                <a:ea typeface="JetBrains Mono"/>
              </a:rPr>
              <a:t>save_time timestamptz DEFAULT now() NULL,</a:t>
            </a:r>
            <a:endParaRPr lang="en-US" sz="1050">
              <a:solidFill>
                <a:srgbClr val="22D3EE"/>
              </a:solidFill>
              <a:latin typeface="JetBrains Mono"/>
              <a:ea typeface="JetBrains Mono"/>
            </a:endParaRPr>
          </a:p>
        </p:txBody>
      </p:sp>
      <p:sp>
        <p:nvSpPr>
          <p:cNvPr id="1195" name="文本框 1194" descr="{&quot;isTemplate&quot;:true,&quot;type&quot;:&quot;text&quot;}"/>
          <p:cNvSpPr txBox="1"/>
          <p:nvPr/>
        </p:nvSpPr>
        <p:spPr>
          <a:xfrm>
            <a:off x="800100" y="3114675"/>
            <a:ext cx="10591800" cy="3048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85000"/>
              </a:lnSpc>
            </a:pPr>
            <a:r>
              <a:rPr lang="en-US" sz="1050">
                <a:solidFill>
                  <a:srgbClr val="E2E8F0"/>
                </a:solidFill>
                <a:latin typeface="JetBrains Mono"/>
                <a:ea typeface="JetBrains Mono"/>
              </a:rPr>
              <a:t>    CONSTRAINT user_info_pkey PRIMARY KEY (id),</a:t>
            </a:r>
            <a:endParaRPr lang="en-US" sz="1050">
              <a:solidFill>
                <a:srgbClr val="E2E8F0"/>
              </a:solidFill>
              <a:latin typeface="JetBrains Mono"/>
              <a:ea typeface="JetBrains Mono"/>
            </a:endParaRPr>
          </a:p>
        </p:txBody>
      </p:sp>
      <p:sp>
        <p:nvSpPr>
          <p:cNvPr id="1196" name="文本框 1195" descr="{&quot;isTemplate&quot;:true,&quot;type&quot;:&quot;text&quot;}"/>
          <p:cNvSpPr txBox="1"/>
          <p:nvPr/>
        </p:nvSpPr>
        <p:spPr>
          <a:xfrm>
            <a:off x="800100" y="3419475"/>
            <a:ext cx="10591800" cy="3048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85000"/>
              </a:lnSpc>
            </a:pPr>
            <a:r>
              <a:rPr lang="en-US" sz="1050">
                <a:solidFill>
                  <a:srgbClr val="E2E8F0"/>
                </a:solidFill>
                <a:latin typeface="JetBrains Mono"/>
                <a:ea typeface="JetBrains Mono"/>
              </a:rPr>
              <a:t>    CONSTRAINT user_info_username_key UNIQUE (username));</a:t>
            </a:r>
            <a:endParaRPr lang="en-US" sz="1050">
              <a:solidFill>
                <a:srgbClr val="E2E8F0"/>
              </a:solidFill>
              <a:latin typeface="JetBrains Mono"/>
              <a:ea typeface="JetBrains Mono"/>
            </a:endParaRPr>
          </a:p>
        </p:txBody>
      </p:sp>
      <p:sp>
        <p:nvSpPr>
          <p:cNvPr id="1197" name="圆角矩形 1196"/>
          <p:cNvSpPr/>
          <p:nvPr/>
        </p:nvSpPr>
        <p:spPr>
          <a:xfrm>
            <a:off x="609600" y="3886200"/>
            <a:ext cx="5410200" cy="2400300"/>
          </a:xfrm>
          <a:prstGeom prst="roundRect">
            <a:avLst>
              <a:gd name="adj" fmla="val 4762"/>
            </a:avLst>
          </a:prstGeom>
          <a:solidFill>
            <a:srgbClr val="111C2E"/>
          </a:solidFill>
          <a:ln w="12700">
            <a:solidFill>
              <a:srgbClr val="1E293B"/>
            </a:solidFill>
            <a:prstDash val="solid"/>
          </a:ln>
        </p:spPr>
        <p:txBody>
          <a:bodyPr/>
          <a:p/>
        </p:txBody>
      </p:sp>
      <p:sp>
        <p:nvSpPr>
          <p:cNvPr id="1198" name="文本框 1197" descr="{&quot;isTemplate&quot;:true,&quot;type&quot;:&quot;text&quot;}"/>
          <p:cNvSpPr txBox="1"/>
          <p:nvPr/>
        </p:nvSpPr>
        <p:spPr>
          <a:xfrm>
            <a:off x="800100" y="4076700"/>
            <a:ext cx="5029200" cy="1714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5.3 </a:t>
            </a:r>
            <a:r>
              <a:rPr lang="zh-CN" sz="112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编译</a:t>
            </a:r>
            <a:r>
              <a:rPr lang="en-US" sz="112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 + </a:t>
            </a:r>
            <a:r>
              <a:rPr lang="zh-CN" sz="112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启动</a:t>
            </a:r>
            <a:endParaRPr lang="zh-CN" sz="112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99" name="文本框 1198" descr="{&quot;isTemplate&quot;:true,&quot;type&quot;:&quot;text&quot;}"/>
          <p:cNvSpPr txBox="1"/>
          <p:nvPr/>
        </p:nvSpPr>
        <p:spPr>
          <a:xfrm>
            <a:off x="800100" y="4324350"/>
            <a:ext cx="5029200" cy="3048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85000"/>
              </a:lnSpc>
            </a:pPr>
            <a:r>
              <a:rPr lang="en-US" sz="1050">
                <a:solidFill>
                  <a:srgbClr val="E2E8F0"/>
                </a:solidFill>
                <a:latin typeface="JetBrains Mono"/>
                <a:ea typeface="JetBrains Mono"/>
              </a:rPr>
              <a:t>export POSTGRES='postgres://user:pass@host:5432/dbname'</a:t>
            </a:r>
            <a:endParaRPr lang="en-US" sz="1050">
              <a:solidFill>
                <a:srgbClr val="E2E8F0"/>
              </a:solidFill>
              <a:latin typeface="JetBrains Mono"/>
              <a:ea typeface="JetBrains Mono"/>
            </a:endParaRPr>
          </a:p>
        </p:txBody>
      </p:sp>
      <p:sp>
        <p:nvSpPr>
          <p:cNvPr id="1200" name="文本框 1199" descr="{&quot;isTemplate&quot;:true,&quot;type&quot;:&quot;text&quot;}"/>
          <p:cNvSpPr txBox="1"/>
          <p:nvPr/>
        </p:nvSpPr>
        <p:spPr>
          <a:xfrm>
            <a:off x="800100" y="4629150"/>
            <a:ext cx="5029200" cy="3048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85000"/>
              </a:lnSpc>
            </a:pPr>
            <a:r>
              <a:rPr lang="en-US" sz="1050">
                <a:solidFill>
                  <a:srgbClr val="E2E8F0"/>
                </a:solidFill>
                <a:latin typeface="JetBrains Mono"/>
                <a:ea typeface="JetBrains Mono"/>
              </a:rPr>
              <a:t>export CANGJIE_STDX_PATH=$CANGJIE_STDX_DYNAMIC_PATH</a:t>
            </a:r>
            <a:endParaRPr lang="en-US" sz="1050">
              <a:solidFill>
                <a:srgbClr val="E2E8F0"/>
              </a:solidFill>
              <a:latin typeface="JetBrains Mono"/>
              <a:ea typeface="JetBrains Mono"/>
            </a:endParaRPr>
          </a:p>
        </p:txBody>
      </p:sp>
      <p:sp>
        <p:nvSpPr>
          <p:cNvPr id="1201" name="文本框 1200" descr="{&quot;isTemplate&quot;:true,&quot;type&quot;:&quot;text&quot;}"/>
          <p:cNvSpPr txBox="1"/>
          <p:nvPr/>
        </p:nvSpPr>
        <p:spPr>
          <a:xfrm>
            <a:off x="800100" y="4933950"/>
            <a:ext cx="5029200" cy="600075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85000"/>
              </a:lnSpc>
            </a:pPr>
            <a:r>
              <a:rPr lang="en-US" sz="1050">
                <a:solidFill>
                  <a:srgbClr val="22D3EE"/>
                </a:solidFill>
                <a:latin typeface="JetBrains Mono"/>
                <a:ea typeface="JetBrains Mono"/>
              </a:rPr>
              <a:t>./boot.sh build</a:t>
            </a:r>
            <a:r>
              <a:rPr lang="zh-CN" sz="1050">
                <a:solidFill>
                  <a:srgbClr val="22D3EE"/>
                </a:solidFill>
                <a:latin typeface="JetBrains Mono"/>
                <a:ea typeface="JetBrains Mono"/>
              </a:rPr>
              <a:t>　</a:t>
            </a:r>
            <a:r>
              <a:rPr lang="en-US" sz="1050">
                <a:solidFill>
                  <a:srgbClr val="22D3EE"/>
                </a:solidFill>
                <a:latin typeface="JetBrains Mono"/>
                <a:ea typeface="JetBrains Mono"/>
              </a:rPr>
              <a:t># </a:t>
            </a:r>
            <a:r>
              <a:rPr lang="zh-CN" sz="1050">
                <a:solidFill>
                  <a:srgbClr val="22D3EE"/>
                </a:solidFill>
                <a:latin typeface="JetBrains Mono"/>
                <a:ea typeface="JetBrains Mono"/>
              </a:rPr>
              <a:t>内部：</a:t>
            </a:r>
            <a:r>
              <a:rPr lang="en-US" sz="1050">
                <a:solidFill>
                  <a:srgbClr val="22D3EE"/>
                </a:solidFill>
                <a:latin typeface="JetBrains Mono"/>
                <a:ea typeface="JetBrains Mono"/>
              </a:rPr>
              <a:t>fboot build ./fdemo --orm_drivers=postgres ...</a:t>
            </a:r>
            <a:endParaRPr lang="en-US" sz="1050">
              <a:solidFill>
                <a:srgbClr val="22D3EE"/>
              </a:solidFill>
              <a:latin typeface="JetBrains Mono"/>
              <a:ea typeface="JetBrains Mono"/>
            </a:endParaRPr>
          </a:p>
        </p:txBody>
      </p:sp>
      <p:sp>
        <p:nvSpPr>
          <p:cNvPr id="1202" name="文本框 1201" descr="{&quot;isTemplate&quot;:true,&quot;type&quot;:&quot;text&quot;}"/>
          <p:cNvSpPr txBox="1"/>
          <p:nvPr/>
        </p:nvSpPr>
        <p:spPr>
          <a:xfrm>
            <a:off x="800100" y="5534025"/>
            <a:ext cx="5029200" cy="3048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85000"/>
              </a:lnSpc>
            </a:pPr>
            <a:r>
              <a:rPr lang="en-US" sz="1050">
                <a:solidFill>
                  <a:srgbClr val="22D3EE"/>
                </a:solidFill>
                <a:latin typeface="JetBrains Mono"/>
                <a:ea typeface="JetBrains Mono"/>
              </a:rPr>
              <a:t>./boot.sh run</a:t>
            </a:r>
            <a:r>
              <a:rPr lang="zh-CN" sz="1050">
                <a:solidFill>
                  <a:srgbClr val="22D3EE"/>
                </a:solidFill>
                <a:latin typeface="JetBrains Mono"/>
                <a:ea typeface="JetBrains Mono"/>
              </a:rPr>
              <a:t>　　</a:t>
            </a:r>
            <a:r>
              <a:rPr lang="en-US" sz="1050">
                <a:solidFill>
                  <a:srgbClr val="22D3EE"/>
                </a:solidFill>
                <a:latin typeface="JetBrains Mono"/>
                <a:ea typeface="JetBrains Mono"/>
              </a:rPr>
              <a:t># </a:t>
            </a:r>
            <a:r>
              <a:rPr lang="zh-CN" sz="1050">
                <a:solidFill>
                  <a:srgbClr val="22D3EE"/>
                </a:solidFill>
                <a:latin typeface="JetBrains Mono"/>
                <a:ea typeface="JetBrains Mono"/>
              </a:rPr>
              <a:t>内部：</a:t>
            </a:r>
            <a:r>
              <a:rPr lang="en-US" sz="1050">
                <a:solidFill>
                  <a:srgbClr val="22D3EE"/>
                </a:solidFill>
                <a:latin typeface="JetBrains Mono"/>
                <a:ea typeface="JetBrains Mono"/>
              </a:rPr>
              <a:t>fboot run ./fdemo --dylibPattern='(...)'</a:t>
            </a:r>
            <a:endParaRPr lang="en-US" sz="1050">
              <a:solidFill>
                <a:srgbClr val="22D3EE"/>
              </a:solidFill>
              <a:latin typeface="JetBrains Mono"/>
              <a:ea typeface="JetBrains Mono"/>
            </a:endParaRPr>
          </a:p>
        </p:txBody>
      </p:sp>
      <p:sp>
        <p:nvSpPr>
          <p:cNvPr id="1203" name="圆角矩形 1202"/>
          <p:cNvSpPr/>
          <p:nvPr/>
        </p:nvSpPr>
        <p:spPr>
          <a:xfrm>
            <a:off x="6172200" y="3886200"/>
            <a:ext cx="5410200" cy="2400300"/>
          </a:xfrm>
          <a:prstGeom prst="roundRect">
            <a:avLst>
              <a:gd name="adj" fmla="val 4762"/>
            </a:avLst>
          </a:prstGeom>
          <a:solidFill>
            <a:srgbClr val="0B1220"/>
          </a:solidFill>
          <a:ln w="12700">
            <a:solidFill>
              <a:srgbClr val="38BDF8"/>
            </a:solidFill>
            <a:prstDash val="solid"/>
          </a:ln>
        </p:spPr>
        <p:txBody>
          <a:bodyPr/>
          <a:p/>
        </p:txBody>
      </p:sp>
      <p:sp>
        <p:nvSpPr>
          <p:cNvPr id="1204" name="文本框 1203" descr="{&quot;isTemplate&quot;:true,&quot;type&quot;:&quot;text&quot;}"/>
          <p:cNvSpPr txBox="1"/>
          <p:nvPr/>
        </p:nvSpPr>
        <p:spPr>
          <a:xfrm>
            <a:off x="6362700" y="4076700"/>
            <a:ext cx="5029200" cy="1714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38BDF8"/>
                </a:solidFill>
                <a:latin typeface="微软雅黑" panose="020B0503020204020204" charset="-122"/>
                <a:ea typeface="微软雅黑" panose="020B0503020204020204" charset="-122"/>
              </a:rPr>
              <a:t>预期</a:t>
            </a:r>
            <a:endParaRPr lang="zh-CN" sz="1125">
              <a:solidFill>
                <a:srgbClr val="38BDF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05" name="文本框 1204" descr="{&quot;isTemplate&quot;:true,&quot;type&quot;:&quot;text&quot;}"/>
          <p:cNvSpPr txBox="1"/>
          <p:nvPr/>
        </p:nvSpPr>
        <p:spPr>
          <a:xfrm>
            <a:off x="6362700" y="4324350"/>
            <a:ext cx="5029200" cy="10191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en-US" sz="975">
                <a:solidFill>
                  <a:srgbClr val="94A3B8"/>
                </a:solidFill>
                <a:latin typeface="JetBrains Mono"/>
                <a:ea typeface="JetBrains Mono"/>
              </a:rPr>
              <a:t>[INFO-...] ...</a:t>
            </a:r>
            <a:r>
              <a:rPr lang="zh-CN" sz="975">
                <a:solidFill>
                  <a:srgbClr val="94A3B8"/>
                </a:solidFill>
                <a:latin typeface="JetBrains Mono"/>
                <a:ea typeface="JetBrains Mono"/>
              </a:rPr>
              <a:t>（</a:t>
            </a:r>
            <a:r>
              <a:rPr lang="en-US" sz="975">
                <a:solidFill>
                  <a:srgbClr val="94A3B8"/>
                </a:solidFill>
                <a:latin typeface="JetBrains Mono"/>
                <a:ea typeface="JetBrains Mono"/>
              </a:rPr>
              <a:t>fountain </a:t>
            </a:r>
            <a:r>
              <a:rPr lang="zh-CN" sz="975">
                <a:solidFill>
                  <a:srgbClr val="94A3B8"/>
                </a:solidFill>
                <a:latin typeface="JetBrains Mono"/>
                <a:ea typeface="JetBrains Mono"/>
              </a:rPr>
              <a:t>启动日志）</a:t>
            </a:r>
            <a:endParaRPr lang="zh-CN" sz="975">
              <a:solidFill>
                <a:srgbClr val="94A3B8"/>
              </a:solidFill>
              <a:latin typeface="JetBrains Mono"/>
              <a:ea typeface="JetBrains Mono"/>
            </a:endParaRPr>
          </a:p>
          <a:p>
            <a:pPr>
              <a:lnSpc>
                <a:spcPct val="170000"/>
              </a:lnSpc>
            </a:pPr>
            <a:r>
              <a:rPr lang="zh-CN" sz="975">
                <a:solidFill>
                  <a:srgbClr val="94A3B8"/>
                </a:solidFill>
                <a:latin typeface="JetBrains Mono"/>
                <a:ea typeface="JetBrains Mono"/>
              </a:rPr>
              <a:t>　</a:t>
            </a:r>
            <a:r>
              <a:rPr lang="en-US" sz="975">
                <a:solidFill>
                  <a:srgbClr val="94A3B8"/>
                </a:solidFill>
                <a:latin typeface="JetBrains Mono"/>
                <a:ea typeface="JetBrains Mono"/>
              </a:rPr>
              <a:t>_____</a:t>
            </a:r>
            <a:r>
              <a:rPr lang="zh-CN" sz="975">
                <a:solidFill>
                  <a:srgbClr val="94A3B8"/>
                </a:solidFill>
                <a:latin typeface="JetBrains Mono"/>
                <a:ea typeface="JetBrains Mono"/>
              </a:rPr>
              <a:t>　</a:t>
            </a:r>
            <a:r>
              <a:rPr lang="en-US" sz="975">
                <a:solidFill>
                  <a:srgbClr val="94A3B8"/>
                </a:solidFill>
                <a:latin typeface="JetBrains Mono"/>
                <a:ea typeface="JetBrains Mono"/>
              </a:rPr>
              <a:t>.___</a:t>
            </a:r>
            <a:endParaRPr lang="en-US" sz="975">
              <a:solidFill>
                <a:srgbClr val="94A3B8"/>
              </a:solidFill>
              <a:latin typeface="JetBrains Mono"/>
              <a:ea typeface="JetBrains Mono"/>
            </a:endParaRPr>
          </a:p>
          <a:p>
            <a:pPr>
              <a:lnSpc>
                <a:spcPct val="170000"/>
              </a:lnSpc>
            </a:pPr>
            <a:r>
              <a:rPr lang="en-US" sz="975">
                <a:solidFill>
                  <a:srgbClr val="94A3B8"/>
                </a:solidFill>
                <a:latin typeface="JetBrains Mono"/>
                <a:ea typeface="JetBrains Mono"/>
              </a:rPr>
              <a:t>_/ ____\__| _/____</a:t>
            </a:r>
            <a:r>
              <a:rPr lang="zh-CN" sz="975">
                <a:solidFill>
                  <a:srgbClr val="94A3B8"/>
                </a:solidFill>
                <a:latin typeface="JetBrains Mono"/>
                <a:ea typeface="JetBrains Mono"/>
              </a:rPr>
              <a:t>　</a:t>
            </a:r>
            <a:r>
              <a:rPr lang="en-US" sz="975">
                <a:solidFill>
                  <a:srgbClr val="94A3B8"/>
                </a:solidFill>
                <a:latin typeface="JetBrains Mono"/>
                <a:ea typeface="JetBrains Mono"/>
              </a:rPr>
              <a:t> _____</a:t>
            </a:r>
            <a:r>
              <a:rPr lang="zh-CN" sz="975">
                <a:solidFill>
                  <a:srgbClr val="94A3B8"/>
                </a:solidFill>
                <a:latin typeface="JetBrains Mono"/>
                <a:ea typeface="JetBrains Mono"/>
              </a:rPr>
              <a:t>　</a:t>
            </a:r>
            <a:r>
              <a:rPr lang="en-US" sz="975">
                <a:solidFill>
                  <a:srgbClr val="94A3B8"/>
                </a:solidFill>
                <a:latin typeface="JetBrains Mono"/>
                <a:ea typeface="JetBrains Mono"/>
              </a:rPr>
              <a:t> ____</a:t>
            </a:r>
            <a:endParaRPr lang="en-US" sz="975">
              <a:solidFill>
                <a:srgbClr val="94A3B8"/>
              </a:solidFill>
              <a:latin typeface="JetBrains Mono"/>
              <a:ea typeface="JetBrains Mono"/>
            </a:endParaRPr>
          </a:p>
          <a:p>
            <a:pPr>
              <a:lnSpc>
                <a:spcPct val="170000"/>
              </a:lnSpc>
            </a:pPr>
            <a:r>
              <a:rPr lang="zh-CN" sz="975">
                <a:solidFill>
                  <a:srgbClr val="94A3B8"/>
                </a:solidFill>
                <a:latin typeface="JetBrains Mono"/>
                <a:ea typeface="JetBrains Mono"/>
              </a:rPr>
              <a:t>（</a:t>
            </a:r>
            <a:r>
              <a:rPr lang="en-US" sz="975">
                <a:solidFill>
                  <a:srgbClr val="94A3B8"/>
                </a:solidFill>
                <a:latin typeface="JetBrains Mono"/>
                <a:ea typeface="JetBrains Mono"/>
              </a:rPr>
              <a:t>fdemo </a:t>
            </a:r>
            <a:r>
              <a:rPr lang="zh-CN" sz="975">
                <a:solidFill>
                  <a:srgbClr val="94A3B8"/>
                </a:solidFill>
                <a:latin typeface="JetBrains Mono"/>
                <a:ea typeface="JetBrains Mono"/>
              </a:rPr>
              <a:t>的</a:t>
            </a:r>
            <a:r>
              <a:rPr lang="en-US" sz="975">
                <a:solidFill>
                  <a:srgbClr val="94A3B8"/>
                </a:solidFill>
                <a:latin typeface="JetBrains Mono"/>
                <a:ea typeface="JetBrains Mono"/>
              </a:rPr>
              <a:t> ASCII BANNER</a:t>
            </a:r>
            <a:r>
              <a:rPr lang="zh-CN" sz="975">
                <a:solidFill>
                  <a:srgbClr val="94A3B8"/>
                </a:solidFill>
                <a:latin typeface="JetBrains Mono"/>
                <a:ea typeface="JetBrains Mono"/>
              </a:rPr>
              <a:t>，来自</a:t>
            </a:r>
            <a:r>
              <a:rPr lang="en-US" sz="975">
                <a:solidFill>
                  <a:srgbClr val="94A3B8"/>
                </a:solidFill>
                <a:latin typeface="JetBrains Mono"/>
                <a:ea typeface="JetBrains Mono"/>
              </a:rPr>
              <a:t> banner.txt</a:t>
            </a:r>
            <a:r>
              <a:rPr lang="zh-CN" sz="975">
                <a:solidFill>
                  <a:srgbClr val="94A3B8"/>
                </a:solidFill>
                <a:latin typeface="JetBrains Mono"/>
                <a:ea typeface="JetBrains Mono"/>
              </a:rPr>
              <a:t>）</a:t>
            </a:r>
            <a:endParaRPr lang="zh-CN" sz="975">
              <a:solidFill>
                <a:srgbClr val="94A3B8"/>
              </a:solidFill>
              <a:latin typeface="JetBrains Mono"/>
              <a:ea typeface="JetBrains Mono"/>
            </a:endParaRPr>
          </a:p>
        </p:txBody>
      </p:sp>
      <p:sp>
        <p:nvSpPr>
          <p:cNvPr id="1206" name="文本框 1205" descr="{&quot;isTemplate&quot;:true,&quot;type&quot;:&quot;text&quot;}"/>
          <p:cNvSpPr txBox="1"/>
          <p:nvPr/>
        </p:nvSpPr>
        <p:spPr>
          <a:xfrm>
            <a:off x="6362700" y="5562600"/>
            <a:ext cx="5029200" cy="2952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80000"/>
              </a:lnSpc>
            </a:pPr>
            <a:r>
              <a:rPr lang="en-US" sz="1050" b="1">
                <a:solidFill>
                  <a:srgbClr val="F59E0B"/>
                </a:solidFill>
                <a:latin typeface="JetBrains Mono"/>
                <a:ea typeface="JetBrains Mono"/>
              </a:rPr>
              <a:t>fdemo(1.1.0) started by 1.3.x in xxxms</a:t>
            </a:r>
            <a:endParaRPr lang="en-US" sz="1050" b="1">
              <a:solidFill>
                <a:srgbClr val="F59E0B"/>
              </a:solidFill>
              <a:latin typeface="JetBrains Mono"/>
              <a:ea typeface="JetBrains Mono"/>
            </a:endParaRPr>
          </a:p>
        </p:txBody>
      </p:sp>
      <p:sp>
        <p:nvSpPr>
          <p:cNvPr id="1207" name="文本框 1206" descr="{&quot;isTemplate&quot;:true,&quot;type&quot;:&quot;text&quot;}"/>
          <p:cNvSpPr txBox="1"/>
          <p:nvPr/>
        </p:nvSpPr>
        <p:spPr>
          <a:xfrm>
            <a:off x="6362700" y="5857875"/>
            <a:ext cx="5029200" cy="2381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应用名</a:t>
            </a: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 / 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版本来自</a:t>
            </a: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 fboot build 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注入的版本模块。</a:t>
            </a:r>
            <a:endParaRPr lang="zh-CN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08" name="任意多边形 1207"/>
          <p:cNvSpPr/>
          <p:nvPr/>
        </p:nvSpPr>
        <p:spPr>
          <a:xfrm>
            <a:off x="609600" y="6286500"/>
            <a:ext cx="10972800" cy="381000"/>
          </a:xfrm>
          <a:custGeom>
            <a:avLst/>
            <a:gdLst/>
            <a:ahLst/>
            <a:cxnLst/>
            <a:pathLst>
              <a:path w="1152" h="40">
                <a:moveTo>
                  <a:pt x="0" y="0"/>
                </a:moveTo>
                <a:lnTo>
                  <a:pt x="1152" y="0"/>
                </a:lnTo>
                <a:lnTo>
                  <a:pt x="1152" y="1"/>
                </a:lnTo>
                <a:lnTo>
                  <a:pt x="0" y="1"/>
                </a:lnTo>
                <a:close/>
              </a:path>
            </a:pathLst>
          </a:custGeom>
          <a:solidFill>
            <a:srgbClr val="1E293B"/>
          </a:solidFill>
        </p:spPr>
        <p:txBody>
          <a:bodyPr/>
          <a:p/>
        </p:txBody>
      </p:sp>
      <p:sp>
        <p:nvSpPr>
          <p:cNvPr id="1209" name="文本框 1208" descr="{&quot;isTemplate&quot;:true,&quot;type&quot;:&quot;text&quot;}"/>
          <p:cNvSpPr txBox="1"/>
          <p:nvPr/>
        </p:nvSpPr>
        <p:spPr>
          <a:xfrm>
            <a:off x="609600" y="6410325"/>
            <a:ext cx="2219325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fountain · 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一站式服务器应用开发工具库</a:t>
            </a:r>
            <a:endParaRPr lang="zh-CN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10" name="文本框 1209" descr="{&quot;isTemplate&quot;:true,&quot;type&quot;:&quot;text&quot;}"/>
          <p:cNvSpPr txBox="1"/>
          <p:nvPr/>
        </p:nvSpPr>
        <p:spPr>
          <a:xfrm>
            <a:off x="11087100" y="6410325"/>
            <a:ext cx="495300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33 / 116</a:t>
            </a:r>
            <a:endParaRPr lang="en-US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21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2" name="矩形 121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220"/>
          </a:solidFill>
        </p:spPr>
        <p:txBody>
          <a:bodyPr/>
          <a:p/>
        </p:txBody>
      </p:sp>
      <p:sp>
        <p:nvSpPr>
          <p:cNvPr id="1213" name="矩形 1212"/>
          <p:cNvSpPr/>
          <p:nvPr/>
        </p:nvSpPr>
        <p:spPr>
          <a:xfrm>
            <a:off x="609600" y="476250"/>
            <a:ext cx="38100" cy="381000"/>
          </a:xfrm>
          <a:prstGeom prst="rect">
            <a:avLst/>
          </a:prstGeom>
          <a:solidFill>
            <a:srgbClr val="38BDF8"/>
          </a:solidFill>
        </p:spPr>
        <p:txBody>
          <a:bodyPr/>
          <a:p/>
        </p:txBody>
      </p:sp>
      <p:sp>
        <p:nvSpPr>
          <p:cNvPr id="1214" name="文本框 1213" descr="{&quot;isTemplate&quot;:true,&quot;type&quot;:&quot;text&quot;}"/>
          <p:cNvSpPr txBox="1"/>
          <p:nvPr/>
        </p:nvSpPr>
        <p:spPr>
          <a:xfrm>
            <a:off x="819150" y="304800"/>
            <a:ext cx="9477375" cy="2095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第</a:t>
            </a: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 5 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章</a:t>
            </a: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 · 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现场跑通</a:t>
            </a: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 fdemo · 5.4</a:t>
            </a:r>
            <a:endParaRPr lang="en-US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15" name="文本框 1214" descr="{&quot;isTemplate&quot;:true,&quot;type&quot;:&quot;text&quot;}"/>
          <p:cNvSpPr txBox="1"/>
          <p:nvPr/>
        </p:nvSpPr>
        <p:spPr>
          <a:xfrm>
            <a:off x="819150" y="514350"/>
            <a:ext cx="9477375" cy="5143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2550" b="1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接口验证清单</a:t>
            </a:r>
            <a:r>
              <a:rPr lang="en-US" sz="2550" b="1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 1–6</a:t>
            </a:r>
            <a:endParaRPr lang="en-US" sz="2550" b="1">
              <a:solidFill>
                <a:srgbClr val="E2E8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16" name="文本框 1215" descr="{&quot;isTemplate&quot;:true,&quot;type&quot;:&quot;text&quot;}"/>
          <p:cNvSpPr txBox="1"/>
          <p:nvPr/>
        </p:nvSpPr>
        <p:spPr>
          <a:xfrm>
            <a:off x="10467975" y="590550"/>
            <a:ext cx="1114425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建议做成画面对照表</a:t>
            </a:r>
            <a:endParaRPr lang="zh-CN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17" name="文本框 1216" descr="{&quot;isTemplate&quot;:true,&quot;type&quot;:&quot;text&quot;}"/>
          <p:cNvSpPr txBox="1"/>
          <p:nvPr/>
        </p:nvSpPr>
        <p:spPr>
          <a:xfrm>
            <a:off x="609600" y="1143000"/>
            <a:ext cx="10972800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下面命令里的</a:t>
            </a:r>
            <a:r>
              <a:rPr lang="en-US" sz="105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 ... </a:t>
            </a:r>
            <a:r>
              <a:rPr lang="zh-CN" sz="105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代表</a:t>
            </a:r>
            <a:r>
              <a:rPr lang="en-US" sz="105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 http://localhost:8080</a:t>
            </a:r>
            <a:endParaRPr lang="en-US" sz="105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graphicFrame>
        <p:nvGraphicFramePr>
          <p:cNvPr id="1218" name="表格 1217"/>
          <p:cNvGraphicFramePr/>
          <p:nvPr/>
        </p:nvGraphicFramePr>
        <p:xfrm>
          <a:off x="609600" y="1419225"/>
          <a:ext cx="10972800" cy="4724403"/>
        </p:xfrm>
        <a:graphic>
          <a:graphicData uri="http://schemas.openxmlformats.org/drawingml/2006/table">
            <a:tbl>
              <a:tblPr/>
              <a:tblGrid>
                <a:gridCol w="150578"/>
                <a:gridCol w="1275869"/>
                <a:gridCol w="6748507"/>
                <a:gridCol w="2797845"/>
              </a:tblGrid>
              <a:tr h="525342"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 b="1">
                          <a:solidFill>
                            <a:srgbClr val="22D3EE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#</a:t>
                      </a:r>
                      <a:endParaRPr sz="975" b="1">
                        <a:solidFill>
                          <a:srgbClr val="22D3EE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6233A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 b="1">
                          <a:solidFill>
                            <a:srgbClr val="22D3EE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目的</a:t>
                      </a:r>
                      <a:endParaRPr sz="975" b="1">
                        <a:solidFill>
                          <a:srgbClr val="22D3EE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6233A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 b="1">
                          <a:solidFill>
                            <a:srgbClr val="22D3EE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命令</a:t>
                      </a:r>
                      <a:endParaRPr sz="975" b="1">
                        <a:solidFill>
                          <a:srgbClr val="22D3EE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6233A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 b="1">
                          <a:solidFill>
                            <a:srgbClr val="22D3EE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预期</a:t>
                      </a:r>
                      <a:endParaRPr sz="975" b="1">
                        <a:solidFill>
                          <a:srgbClr val="22D3EE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6233A"/>
                    </a:solidFill>
                  </a:tcPr>
                </a:tc>
              </a:tr>
              <a:tr h="525342"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1</a:t>
                      </a:r>
                      <a:endParaRPr sz="975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忽略安全的接口</a:t>
                      </a:r>
                      <a:endParaRPr sz="975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curl -H 'Accept:text/plain' .../helloworld</a:t>
                      </a:r>
                      <a:endParaRPr sz="975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helloworld</a:t>
                      </a:r>
                      <a:endParaRPr sz="975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874345"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2</a:t>
                      </a:r>
                      <a:endParaRPr sz="975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注册（忽略鉴权 + 权限）</a:t>
                      </a:r>
                      <a:endParaRPr sz="975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curl -XPOST .../api/user/register -H 'Content-Type:application/x-www-form-urlencoded' -d 'username=abcdef&amp;password=bcbcbcbc'</a:t>
                      </a:r>
                      <a:endParaRPr sz="975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返回含 id / username / password 的 JSON 文本</a:t>
                      </a:r>
                      <a:endParaRPr sz="975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874345"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3</a:t>
                      </a:r>
                      <a:endParaRPr sz="975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登录拿 JWT</a:t>
                      </a:r>
                      <a:endParaRPr sz="975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curl -XPOST .../api/user/session -H 'Content-Type:application/json' -d '{"username":"abcdef","password":"bcbcbcbc"}'</a:t>
                      </a:r>
                      <a:endParaRPr sz="975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{"status":1,"fields":{"userId":…,"jwt":"…","logged":true}}</a:t>
                      </a:r>
                      <a:endParaRPr sz="975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874345"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4</a:t>
                      </a:r>
                      <a:endParaRPr sz="975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带 JWT 访问受保护接口</a:t>
                      </a:r>
                      <a:endParaRPr sz="975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curl -H 'Authorization: 【第 3 步的 jwt】' .../api/user/1</a:t>
                      </a:r>
                      <a:endParaRPr sz="975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用户 JSON</a:t>
                      </a:r>
                      <a:endParaRPr sz="975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525342"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5</a:t>
                      </a:r>
                      <a:endParaRPr sz="975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 b="1">
                          <a:solidFill>
                            <a:srgbClr val="F59E0B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不带 JWT 访问</a:t>
                      </a:r>
                      <a:endParaRPr sz="975" b="1">
                        <a:solidFill>
                          <a:srgbClr val="F59E0B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F59E0B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curl -i -H 'Accept:application/json' .../api/user/1</a:t>
                      </a:r>
                      <a:endParaRPr sz="975">
                        <a:solidFill>
                          <a:srgbClr val="F59E0B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F59E0B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401 + {"status":-1}</a:t>
                      </a:r>
                      <a:endParaRPr sz="975">
                        <a:solidFill>
                          <a:srgbClr val="F59E0B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525342"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6</a:t>
                      </a:r>
                      <a:endParaRPr sz="975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分页列表</a:t>
                      </a:r>
                      <a:endParaRPr sz="975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curl -H 'Authorization: 【jwt】' .../api/users</a:t>
                      </a:r>
                      <a:endParaRPr sz="975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Pagination&lt;UserPO&gt; 序列化结果</a:t>
                      </a:r>
                      <a:endParaRPr sz="975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</a:tbl>
          </a:graphicData>
        </a:graphic>
      </p:graphicFrame>
      <p:sp>
        <p:nvSpPr>
          <p:cNvPr id="1219" name="任意多边形 1218"/>
          <p:cNvSpPr/>
          <p:nvPr/>
        </p:nvSpPr>
        <p:spPr>
          <a:xfrm>
            <a:off x="609600" y="6286500"/>
            <a:ext cx="10972800" cy="381000"/>
          </a:xfrm>
          <a:custGeom>
            <a:avLst/>
            <a:gdLst/>
            <a:ahLst/>
            <a:cxnLst/>
            <a:pathLst>
              <a:path w="1152" h="40">
                <a:moveTo>
                  <a:pt x="0" y="0"/>
                </a:moveTo>
                <a:lnTo>
                  <a:pt x="1152" y="0"/>
                </a:lnTo>
                <a:lnTo>
                  <a:pt x="1152" y="1"/>
                </a:lnTo>
                <a:lnTo>
                  <a:pt x="0" y="1"/>
                </a:lnTo>
                <a:close/>
              </a:path>
            </a:pathLst>
          </a:custGeom>
          <a:solidFill>
            <a:srgbClr val="1E293B"/>
          </a:solidFill>
        </p:spPr>
        <p:txBody>
          <a:bodyPr/>
          <a:p/>
        </p:txBody>
      </p:sp>
      <p:sp>
        <p:nvSpPr>
          <p:cNvPr id="1220" name="文本框 1219" descr="{&quot;isTemplate&quot;:true,&quot;type&quot;:&quot;text&quot;}"/>
          <p:cNvSpPr txBox="1"/>
          <p:nvPr/>
        </p:nvSpPr>
        <p:spPr>
          <a:xfrm>
            <a:off x="609600" y="6410325"/>
            <a:ext cx="2219325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fountain · 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一站式服务器应用开发工具库</a:t>
            </a:r>
            <a:endParaRPr lang="zh-CN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21" name="文本框 1220" descr="{&quot;isTemplate&quot;:true,&quot;type&quot;:&quot;text&quot;}"/>
          <p:cNvSpPr txBox="1"/>
          <p:nvPr/>
        </p:nvSpPr>
        <p:spPr>
          <a:xfrm>
            <a:off x="11087100" y="6410325"/>
            <a:ext cx="495300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34 / 116</a:t>
            </a:r>
            <a:endParaRPr lang="en-US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22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3" name="矩形 122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220"/>
          </a:solidFill>
        </p:spPr>
        <p:txBody>
          <a:bodyPr/>
          <a:p/>
        </p:txBody>
      </p:sp>
      <p:sp>
        <p:nvSpPr>
          <p:cNvPr id="1224" name="矩形 1223"/>
          <p:cNvSpPr/>
          <p:nvPr/>
        </p:nvSpPr>
        <p:spPr>
          <a:xfrm>
            <a:off x="609600" y="476250"/>
            <a:ext cx="38100" cy="381000"/>
          </a:xfrm>
          <a:prstGeom prst="rect">
            <a:avLst/>
          </a:prstGeom>
          <a:solidFill>
            <a:srgbClr val="38BDF8"/>
          </a:solidFill>
        </p:spPr>
        <p:txBody>
          <a:bodyPr/>
          <a:p/>
        </p:txBody>
      </p:sp>
      <p:sp>
        <p:nvSpPr>
          <p:cNvPr id="1225" name="文本框 1224" descr="{&quot;isTemplate&quot;:true,&quot;type&quot;:&quot;text&quot;}"/>
          <p:cNvSpPr txBox="1"/>
          <p:nvPr/>
        </p:nvSpPr>
        <p:spPr>
          <a:xfrm>
            <a:off x="819150" y="304800"/>
            <a:ext cx="10220325" cy="2095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第</a:t>
            </a: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 5 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章</a:t>
            </a: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 · 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现场跑通</a:t>
            </a: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 fdemo · 5.4 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续</a:t>
            </a:r>
            <a:endParaRPr lang="zh-CN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26" name="文本框 1225" descr="{&quot;isTemplate&quot;:true,&quot;type&quot;:&quot;text&quot;}"/>
          <p:cNvSpPr txBox="1"/>
          <p:nvPr/>
        </p:nvSpPr>
        <p:spPr>
          <a:xfrm>
            <a:off x="819150" y="514350"/>
            <a:ext cx="10220325" cy="5143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2550" b="1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接口验证清单</a:t>
            </a:r>
            <a:r>
              <a:rPr lang="en-US" sz="2550" b="1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 7–12 </a:t>
            </a:r>
            <a:r>
              <a:rPr lang="zh-CN" sz="2550" b="1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与压测</a:t>
            </a:r>
            <a:endParaRPr lang="zh-CN" sz="2550" b="1">
              <a:solidFill>
                <a:srgbClr val="E2E8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27" name="文本框 1226" descr="{&quot;isTemplate&quot;:true,&quot;type&quot;:&quot;text&quot;}"/>
          <p:cNvSpPr txBox="1"/>
          <p:nvPr/>
        </p:nvSpPr>
        <p:spPr>
          <a:xfrm>
            <a:off x="11210925" y="590550"/>
            <a:ext cx="371475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后六条</a:t>
            </a:r>
            <a:endParaRPr lang="zh-CN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graphicFrame>
        <p:nvGraphicFramePr>
          <p:cNvPr id="1228" name="表格 1227"/>
          <p:cNvGraphicFramePr/>
          <p:nvPr/>
        </p:nvGraphicFramePr>
        <p:xfrm>
          <a:off x="609600" y="1143000"/>
          <a:ext cx="10972801" cy="4038600"/>
        </p:xfrm>
        <a:graphic>
          <a:graphicData uri="http://schemas.openxmlformats.org/drawingml/2006/table">
            <a:tbl>
              <a:tblPr/>
              <a:tblGrid>
                <a:gridCol w="242493"/>
                <a:gridCol w="1180258"/>
                <a:gridCol w="6816322"/>
                <a:gridCol w="2733728"/>
              </a:tblGrid>
              <a:tr h="484903"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 b="1">
                          <a:solidFill>
                            <a:srgbClr val="22D3EE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#</a:t>
                      </a:r>
                      <a:endParaRPr sz="975" b="1">
                        <a:solidFill>
                          <a:srgbClr val="22D3EE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6233A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 b="1">
                          <a:solidFill>
                            <a:srgbClr val="22D3EE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目的</a:t>
                      </a:r>
                      <a:endParaRPr sz="975" b="1">
                        <a:solidFill>
                          <a:srgbClr val="22D3EE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6233A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 b="1">
                          <a:solidFill>
                            <a:srgbClr val="22D3EE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命令</a:t>
                      </a:r>
                      <a:endParaRPr sz="975" b="1">
                        <a:solidFill>
                          <a:srgbClr val="22D3EE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6233A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 b="1">
                          <a:solidFill>
                            <a:srgbClr val="22D3EE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预期</a:t>
                      </a:r>
                      <a:endParaRPr sz="975" b="1">
                        <a:solidFill>
                          <a:srgbClr val="22D3EE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6233A"/>
                    </a:solidFill>
                  </a:tcPr>
                </a:tc>
              </a:tr>
              <a:tr h="484903"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7</a:t>
                      </a:r>
                      <a:endParaRPr sz="975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参数校验</a:t>
                      </a:r>
                      <a:endParaRPr sz="975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curl -XPOST .../api/user/session -d '{"username":"ab","password":""}'</a:t>
                      </a:r>
                      <a:endParaRPr sz="975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校验失败（用户名至少 6 位 / 密码必填）</a:t>
                      </a:r>
                      <a:endParaRPr sz="975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484903"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8</a:t>
                      </a:r>
                      <a:endParaRPr sz="975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500 处理器</a:t>
                      </a:r>
                      <a:endParaRPr sz="975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curl -i .../api/error</a:t>
                      </a:r>
                      <a:endParaRPr sz="975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走 NameOf500Handler 返回统一错误体</a:t>
                      </a:r>
                      <a:endParaRPr sz="975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484903"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9</a:t>
                      </a:r>
                      <a:endParaRPr sz="975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文件上传</a:t>
                      </a:r>
                      <a:endParaRPr sz="975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curl -XPOST .../upload -F 'name=abc' -F 'file=@./banner.txt'</a:t>
                      </a:r>
                      <a:endParaRPr sz="975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ok</a:t>
                      </a:r>
                      <a:endParaRPr sz="975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484903"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10</a:t>
                      </a:r>
                      <a:endParaRPr sz="975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重定向</a:t>
                      </a:r>
                      <a:endParaRPr sz="975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curl -i .../redirect/helloworld</a:t>
                      </a:r>
                      <a:endParaRPr sz="975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302 + Location: /helloworld</a:t>
                      </a:r>
                      <a:endParaRPr sz="975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807042"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11</a:t>
                      </a:r>
                      <a:endParaRPr sz="975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 b="1">
                          <a:solidFill>
                            <a:srgbClr val="F59E0B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自定义 MediaType</a:t>
                      </a:r>
                      <a:endParaRPr sz="975" b="1">
                        <a:solidFill>
                          <a:srgbClr val="F59E0B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curl -XPOST .../api/user/sessionLog -H 'Content-Type:application/json+log' -H 'Accept:application/json+log' -d '…'</a:t>
                      </a:r>
                      <a:endParaRPr sz="975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F59E0B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日志里出现 fromData: / toData:</a:t>
                      </a:r>
                      <a:endParaRPr sz="975">
                        <a:solidFill>
                          <a:srgbClr val="F59E0B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807042"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12</a:t>
                      </a:r>
                      <a:endParaRPr sz="975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定时任务</a:t>
                      </a:r>
                      <a:endParaRPr sz="975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观察控制台</a:t>
                      </a:r>
                      <a:endParaRPr sz="975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每隔若干秒打印 TickTockTaskImpl is executing</a:t>
                      </a:r>
                      <a:endParaRPr sz="975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</a:tbl>
          </a:graphicData>
        </a:graphic>
      </p:graphicFrame>
      <p:sp>
        <p:nvSpPr>
          <p:cNvPr id="1229" name="圆角矩形 1228"/>
          <p:cNvSpPr/>
          <p:nvPr/>
        </p:nvSpPr>
        <p:spPr>
          <a:xfrm>
            <a:off x="609600" y="5314950"/>
            <a:ext cx="10972800" cy="971550"/>
          </a:xfrm>
          <a:prstGeom prst="roundRect">
            <a:avLst>
              <a:gd name="adj" fmla="val 11765"/>
            </a:avLst>
          </a:prstGeom>
          <a:solidFill>
            <a:srgbClr val="38BDF8">
              <a:alpha val="6000"/>
            </a:srgbClr>
          </a:solidFill>
          <a:ln w="12700">
            <a:solidFill>
              <a:srgbClr val="38BDF8"/>
            </a:solidFill>
            <a:prstDash val="solid"/>
          </a:ln>
        </p:spPr>
        <p:txBody>
          <a:bodyPr/>
          <a:p/>
        </p:txBody>
      </p:sp>
      <p:sp>
        <p:nvSpPr>
          <p:cNvPr id="1230" name="矩形 1229"/>
          <p:cNvSpPr/>
          <p:nvPr/>
        </p:nvSpPr>
        <p:spPr>
          <a:xfrm>
            <a:off x="800100" y="5553075"/>
            <a:ext cx="38100" cy="495300"/>
          </a:xfrm>
          <a:prstGeom prst="rect">
            <a:avLst/>
          </a:prstGeom>
          <a:solidFill>
            <a:srgbClr val="38BDF8"/>
          </a:solidFill>
        </p:spPr>
        <p:txBody>
          <a:bodyPr/>
          <a:p/>
        </p:txBody>
      </p:sp>
      <p:sp>
        <p:nvSpPr>
          <p:cNvPr id="1231" name="文本框 1230" descr="{&quot;isTemplate&quot;:true,&quot;type&quot;:&quot;text&quot;}"/>
          <p:cNvSpPr txBox="1"/>
          <p:nvPr/>
        </p:nvSpPr>
        <p:spPr>
          <a:xfrm>
            <a:off x="1028700" y="5543550"/>
            <a:ext cx="10363200" cy="1905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38BDF8"/>
                </a:solidFill>
                <a:latin typeface="微软雅黑" panose="020B0503020204020204" charset="-122"/>
                <a:ea typeface="微软雅黑" panose="020B0503020204020204" charset="-122"/>
              </a:rPr>
              <a:t>可选：压测，展示一下性能</a:t>
            </a:r>
            <a:endParaRPr lang="zh-CN" sz="1200" b="1">
              <a:solidFill>
                <a:srgbClr val="38BDF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32" name="文本框 1231" descr="{&quot;isTemplate&quot;:true,&quot;type&quot;:&quot;text&quot;}"/>
          <p:cNvSpPr txBox="1"/>
          <p:nvPr/>
        </p:nvSpPr>
        <p:spPr>
          <a:xfrm>
            <a:off x="1028700" y="5791200"/>
            <a:ext cx="10363200" cy="2762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en-US" sz="1050">
                <a:solidFill>
                  <a:srgbClr val="94A3B8"/>
                </a:solidFill>
                <a:latin typeface="JetBrains Mono"/>
                <a:ea typeface="JetBrains Mono"/>
              </a:rPr>
              <a:t>./boot.sh loop 100</a:t>
            </a:r>
            <a:r>
              <a:rPr lang="zh-CN" sz="1050">
                <a:solidFill>
                  <a:srgbClr val="94A3B8"/>
                </a:solidFill>
                <a:latin typeface="JetBrains Mono"/>
                <a:ea typeface="JetBrains Mono"/>
              </a:rPr>
              <a:t>　·　</a:t>
            </a:r>
            <a:r>
              <a:rPr lang="en-US" sz="1050">
                <a:solidFill>
                  <a:srgbClr val="94A3B8"/>
                </a:solidFill>
                <a:latin typeface="JetBrains Mono"/>
                <a:ea typeface="JetBrains Mono"/>
              </a:rPr>
              <a:t>./boot.sh ab 16 10000</a:t>
            </a:r>
            <a:r>
              <a:rPr lang="zh-CN" sz="1050">
                <a:solidFill>
                  <a:srgbClr val="94A3B8"/>
                </a:solidFill>
                <a:latin typeface="JetBrains Mono"/>
                <a:ea typeface="JetBrains Mono"/>
              </a:rPr>
              <a:t>（需先装</a:t>
            </a:r>
            <a:r>
              <a:rPr lang="en-US" sz="1050">
                <a:solidFill>
                  <a:srgbClr val="94A3B8"/>
                </a:solidFill>
                <a:latin typeface="JetBrains Mono"/>
                <a:ea typeface="JetBrains Mono"/>
              </a:rPr>
              <a:t> apache2-utils</a:t>
            </a:r>
            <a:r>
              <a:rPr lang="zh-CN" sz="1050">
                <a:solidFill>
                  <a:srgbClr val="94A3B8"/>
                </a:solidFill>
                <a:latin typeface="JetBrains Mono"/>
                <a:ea typeface="JetBrains Mono"/>
              </a:rPr>
              <a:t>）</a:t>
            </a:r>
            <a:endParaRPr lang="zh-CN" sz="1050">
              <a:solidFill>
                <a:srgbClr val="94A3B8"/>
              </a:solidFill>
              <a:latin typeface="JetBrains Mono"/>
              <a:ea typeface="JetBrains Mono"/>
            </a:endParaRPr>
          </a:p>
        </p:txBody>
      </p:sp>
      <p:sp>
        <p:nvSpPr>
          <p:cNvPr id="1233" name="任意多边形 1232"/>
          <p:cNvSpPr/>
          <p:nvPr/>
        </p:nvSpPr>
        <p:spPr>
          <a:xfrm>
            <a:off x="609600" y="6286500"/>
            <a:ext cx="10972800" cy="381000"/>
          </a:xfrm>
          <a:custGeom>
            <a:avLst/>
            <a:gdLst/>
            <a:ahLst/>
            <a:cxnLst/>
            <a:pathLst>
              <a:path w="1152" h="40">
                <a:moveTo>
                  <a:pt x="0" y="0"/>
                </a:moveTo>
                <a:lnTo>
                  <a:pt x="1152" y="0"/>
                </a:lnTo>
                <a:lnTo>
                  <a:pt x="1152" y="1"/>
                </a:lnTo>
                <a:lnTo>
                  <a:pt x="0" y="1"/>
                </a:lnTo>
                <a:close/>
              </a:path>
            </a:pathLst>
          </a:custGeom>
          <a:solidFill>
            <a:srgbClr val="1E293B"/>
          </a:solidFill>
        </p:spPr>
        <p:txBody>
          <a:bodyPr/>
          <a:p/>
        </p:txBody>
      </p:sp>
      <p:sp>
        <p:nvSpPr>
          <p:cNvPr id="1234" name="文本框 1233" descr="{&quot;isTemplate&quot;:true,&quot;type&quot;:&quot;text&quot;}"/>
          <p:cNvSpPr txBox="1"/>
          <p:nvPr/>
        </p:nvSpPr>
        <p:spPr>
          <a:xfrm>
            <a:off x="609600" y="6410325"/>
            <a:ext cx="2219325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fountain · 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一站式服务器应用开发工具库</a:t>
            </a:r>
            <a:endParaRPr lang="zh-CN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35" name="文本框 1234" descr="{&quot;isTemplate&quot;:true,&quot;type&quot;:&quot;text&quot;}"/>
          <p:cNvSpPr txBox="1"/>
          <p:nvPr/>
        </p:nvSpPr>
        <p:spPr>
          <a:xfrm>
            <a:off x="11087100" y="6410325"/>
            <a:ext cx="495300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35 / 116</a:t>
            </a:r>
            <a:endParaRPr lang="en-US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23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7" name="矩形 1236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220"/>
          </a:solidFill>
        </p:spPr>
        <p:txBody>
          <a:bodyPr/>
          <a:p/>
        </p:txBody>
      </p:sp>
      <p:sp>
        <p:nvSpPr>
          <p:cNvPr id="1238" name="文本框 1237" descr="{&quot;isTemplate&quot;:true,&quot;type&quot;:&quot;text&quot;}"/>
          <p:cNvSpPr txBox="1"/>
          <p:nvPr/>
        </p:nvSpPr>
        <p:spPr>
          <a:xfrm>
            <a:off x="8239125" y="1143000"/>
            <a:ext cx="3571875" cy="36576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4000" b="1">
                <a:solidFill>
                  <a:srgbClr val="16233A"/>
                </a:solidFill>
                <a:latin typeface="JetBrains Mono"/>
                <a:ea typeface="JetBrains Mono"/>
              </a:rPr>
              <a:t>02</a:t>
            </a:r>
            <a:endParaRPr lang="en-US" sz="24000" b="1">
              <a:solidFill>
                <a:srgbClr val="16233A"/>
              </a:solidFill>
              <a:latin typeface="JetBrains Mono"/>
              <a:ea typeface="JetBrains Mono"/>
            </a:endParaRPr>
          </a:p>
        </p:txBody>
      </p:sp>
      <p:sp>
        <p:nvSpPr>
          <p:cNvPr id="1239" name="矩形 1238"/>
          <p:cNvSpPr/>
          <p:nvPr/>
        </p:nvSpPr>
        <p:spPr>
          <a:xfrm>
            <a:off x="0" y="0"/>
            <a:ext cx="76200" cy="6858000"/>
          </a:xfrm>
          <a:prstGeom prst="rect">
            <a:avLst/>
          </a:prstGeom>
          <a:gradFill>
            <a:gsLst>
              <a:gs pos="0">
                <a:srgbClr val="38BDF8"/>
              </a:gs>
              <a:gs pos="100000">
                <a:srgbClr val="22D3EE"/>
              </a:gs>
            </a:gsLst>
            <a:lin ang="2700000" scaled="1"/>
          </a:gradFill>
        </p:spPr>
        <p:txBody>
          <a:bodyPr/>
          <a:p/>
        </p:txBody>
      </p:sp>
      <p:sp>
        <p:nvSpPr>
          <p:cNvPr id="1240" name="文本框 1239" descr="{&quot;isTemplate&quot;:true,&quot;type&quot;:&quot;text&quot;}"/>
          <p:cNvSpPr txBox="1"/>
          <p:nvPr/>
        </p:nvSpPr>
        <p:spPr>
          <a:xfrm>
            <a:off x="1143000" y="2076450"/>
            <a:ext cx="1019175" cy="1905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spc="450">
                <a:solidFill>
                  <a:srgbClr val="38BDF8"/>
                </a:solidFill>
                <a:latin typeface="微软雅黑" panose="020B0503020204020204" charset="-122"/>
                <a:ea typeface="微软雅黑" panose="020B0503020204020204" charset="-122"/>
              </a:rPr>
              <a:t>PART 02</a:t>
            </a:r>
            <a:endParaRPr lang="en-US" sz="1200" spc="450">
              <a:solidFill>
                <a:srgbClr val="38BDF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41" name="文本框 1240" descr="{&quot;isTemplate&quot;:true,&quot;type&quot;:&quot;text&quot;}"/>
          <p:cNvSpPr txBox="1"/>
          <p:nvPr/>
        </p:nvSpPr>
        <p:spPr>
          <a:xfrm>
            <a:off x="1143000" y="2419350"/>
            <a:ext cx="2133600" cy="7429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15000"/>
              </a:lnSpc>
            </a:pPr>
            <a:r>
              <a:rPr lang="zh-CN" sz="42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框架核心</a:t>
            </a:r>
            <a:endParaRPr lang="zh-CN" sz="42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42" name="矩形 1241"/>
          <p:cNvSpPr/>
          <p:nvPr/>
        </p:nvSpPr>
        <p:spPr>
          <a:xfrm>
            <a:off x="1143000" y="3276600"/>
            <a:ext cx="1524000" cy="57150"/>
          </a:xfrm>
          <a:prstGeom prst="rect">
            <a:avLst/>
          </a:prstGeom>
          <a:gradFill>
            <a:gsLst>
              <a:gs pos="0">
                <a:srgbClr val="38BDF8"/>
              </a:gs>
              <a:gs pos="100000">
                <a:srgbClr val="22D3EE"/>
              </a:gs>
            </a:gsLst>
            <a:lin ang="2700000" scaled="1"/>
          </a:gradFill>
        </p:spPr>
        <p:txBody>
          <a:bodyPr/>
          <a:p/>
        </p:txBody>
      </p:sp>
      <p:sp>
        <p:nvSpPr>
          <p:cNvPr id="1243" name="文本框 1242" descr="{&quot;isTemplate&quot;:true,&quot;type&quot;:&quot;text&quot;}"/>
          <p:cNvSpPr txBox="1"/>
          <p:nvPr/>
        </p:nvSpPr>
        <p:spPr>
          <a:xfrm>
            <a:off x="1143000" y="3733800"/>
            <a:ext cx="5553075" cy="4000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90000"/>
              </a:lnSpc>
            </a:pPr>
            <a:r>
              <a:rPr lang="en-US" sz="13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f_bean </a:t>
            </a:r>
            <a:r>
              <a:rPr lang="zh-CN" sz="13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对象怎么来　·　</a:t>
            </a:r>
            <a:r>
              <a:rPr lang="en-US" sz="13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f_aspect </a:t>
            </a:r>
            <a:r>
              <a:rPr lang="zh-CN" sz="13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横切逻辑放哪　·　</a:t>
            </a:r>
            <a:r>
              <a:rPr lang="en-US" sz="13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f_data </a:t>
            </a:r>
            <a:r>
              <a:rPr lang="zh-CN" sz="13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数据怎么流动</a:t>
            </a:r>
            <a:endParaRPr lang="zh-CN" sz="1350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44" name="文本框 1243" descr="{&quot;isTemplate&quot;:true,&quot;type&quot;:&quot;text&quot;}"/>
          <p:cNvSpPr txBox="1"/>
          <p:nvPr/>
        </p:nvSpPr>
        <p:spPr>
          <a:xfrm>
            <a:off x="1143000" y="4076700"/>
            <a:ext cx="3990975" cy="4000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90000"/>
              </a:lnSpc>
            </a:pPr>
            <a:r>
              <a:rPr lang="en-US" sz="13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f_util </a:t>
            </a:r>
            <a:r>
              <a:rPr lang="zh-CN" sz="13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工具箱　·　</a:t>
            </a:r>
            <a:r>
              <a:rPr lang="en-US" sz="13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f_mvc </a:t>
            </a:r>
            <a:r>
              <a:rPr lang="zh-CN" sz="13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协议层　·　</a:t>
            </a:r>
            <a:r>
              <a:rPr lang="en-US" sz="13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f_http </a:t>
            </a:r>
            <a:r>
              <a:rPr lang="zh-CN" sz="13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数据格式</a:t>
            </a:r>
            <a:endParaRPr lang="zh-CN" sz="1350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45" name="文本框 1244" descr="{&quot;isTemplate&quot;:true,&quot;type&quot;:&quot;text&quot;}"/>
          <p:cNvSpPr txBox="1"/>
          <p:nvPr/>
        </p:nvSpPr>
        <p:spPr>
          <a:xfrm>
            <a:off x="1143000" y="4876800"/>
            <a:ext cx="657225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第</a:t>
            </a:r>
            <a:r>
              <a:rPr lang="en-US" sz="105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 6–11 </a:t>
            </a:r>
            <a:r>
              <a:rPr lang="zh-CN" sz="105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章</a:t>
            </a:r>
            <a:endParaRPr lang="zh-CN" sz="105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46" name="矩形 1245"/>
          <p:cNvSpPr/>
          <p:nvPr/>
        </p:nvSpPr>
        <p:spPr>
          <a:xfrm>
            <a:off x="2028825" y="4886325"/>
            <a:ext cx="9525" cy="152400"/>
          </a:xfrm>
          <a:prstGeom prst="rect">
            <a:avLst/>
          </a:prstGeom>
          <a:solidFill>
            <a:srgbClr val="1E293B"/>
          </a:solidFill>
        </p:spPr>
        <p:txBody>
          <a:bodyPr/>
          <a:p/>
        </p:txBody>
      </p:sp>
      <p:sp>
        <p:nvSpPr>
          <p:cNvPr id="1247" name="文本框 1246" descr="{&quot;isTemplate&quot;:true,&quot;type&quot;:&quot;text&quot;}"/>
          <p:cNvSpPr txBox="1"/>
          <p:nvPr/>
        </p:nvSpPr>
        <p:spPr>
          <a:xfrm>
            <a:off x="2266950" y="4876800"/>
            <a:ext cx="1000125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对应第</a:t>
            </a:r>
            <a:r>
              <a:rPr lang="en-US" sz="105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 37–74 </a:t>
            </a:r>
            <a:r>
              <a:rPr lang="zh-CN" sz="105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页</a:t>
            </a:r>
            <a:endParaRPr lang="zh-CN" sz="105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48" name="矩形 1247"/>
          <p:cNvSpPr/>
          <p:nvPr/>
        </p:nvSpPr>
        <p:spPr>
          <a:xfrm>
            <a:off x="3495675" y="4886325"/>
            <a:ext cx="9525" cy="152400"/>
          </a:xfrm>
          <a:prstGeom prst="rect">
            <a:avLst/>
          </a:prstGeom>
          <a:solidFill>
            <a:srgbClr val="1E293B"/>
          </a:solidFill>
        </p:spPr>
        <p:txBody>
          <a:bodyPr/>
          <a:p/>
        </p:txBody>
      </p:sp>
      <p:sp>
        <p:nvSpPr>
          <p:cNvPr id="1249" name="文本框 1248" descr="{&quot;isTemplate&quot;:true,&quot;type&quot;:&quot;text&quot;}"/>
          <p:cNvSpPr txBox="1"/>
          <p:nvPr/>
        </p:nvSpPr>
        <p:spPr>
          <a:xfrm>
            <a:off x="3733800" y="4876800"/>
            <a:ext cx="847725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建议</a:t>
            </a:r>
            <a:r>
              <a:rPr lang="en-US" sz="105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 100 </a:t>
            </a:r>
            <a:r>
              <a:rPr lang="zh-CN" sz="105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分钟</a:t>
            </a:r>
            <a:endParaRPr lang="zh-CN" sz="105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25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1" name="矩形 125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220"/>
          </a:solidFill>
        </p:spPr>
        <p:txBody>
          <a:bodyPr/>
          <a:p/>
        </p:txBody>
      </p:sp>
      <p:sp>
        <p:nvSpPr>
          <p:cNvPr id="1252" name="矩形 1251"/>
          <p:cNvSpPr/>
          <p:nvPr/>
        </p:nvSpPr>
        <p:spPr>
          <a:xfrm>
            <a:off x="609600" y="476250"/>
            <a:ext cx="38100" cy="381000"/>
          </a:xfrm>
          <a:prstGeom prst="rect">
            <a:avLst/>
          </a:prstGeom>
          <a:solidFill>
            <a:srgbClr val="38BDF8"/>
          </a:solidFill>
        </p:spPr>
        <p:txBody>
          <a:bodyPr/>
          <a:p/>
        </p:txBody>
      </p:sp>
      <p:sp>
        <p:nvSpPr>
          <p:cNvPr id="1253" name="文本框 1252" descr="{&quot;isTemplate&quot;:true,&quot;type&quot;:&quot;text&quot;}"/>
          <p:cNvSpPr txBox="1"/>
          <p:nvPr/>
        </p:nvSpPr>
        <p:spPr>
          <a:xfrm>
            <a:off x="819150" y="304800"/>
            <a:ext cx="9324975" cy="2095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第</a:t>
            </a: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 6 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章</a:t>
            </a: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 · IOC f_bean · 6.1</a:t>
            </a:r>
            <a:endParaRPr lang="en-US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54" name="文本框 1253" descr="{&quot;isTemplate&quot;:true,&quot;type&quot;:&quot;text&quot;}"/>
          <p:cNvSpPr txBox="1"/>
          <p:nvPr/>
        </p:nvSpPr>
        <p:spPr>
          <a:xfrm>
            <a:off x="819150" y="514350"/>
            <a:ext cx="9324975" cy="5143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2550" b="1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最小可用：</a:t>
            </a:r>
            <a:r>
              <a:rPr lang="en-US" sz="2550" b="1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@Bean + @BeanMeta</a:t>
            </a:r>
            <a:endParaRPr lang="en-US" sz="2550" b="1">
              <a:solidFill>
                <a:srgbClr val="E2E8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55" name="文本框 1254" descr="{&quot;isTemplate&quot;:true,&quot;type&quot;:&quot;text&quot;}"/>
          <p:cNvSpPr txBox="1"/>
          <p:nvPr/>
        </p:nvSpPr>
        <p:spPr>
          <a:xfrm>
            <a:off x="10315575" y="590550"/>
            <a:ext cx="1266825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三张</a:t>
            </a: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 HashMap 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建索引</a:t>
            </a:r>
            <a:endParaRPr lang="zh-CN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56" name="圆角矩形 1255"/>
          <p:cNvSpPr/>
          <p:nvPr/>
        </p:nvSpPr>
        <p:spPr>
          <a:xfrm>
            <a:off x="609600" y="1143000"/>
            <a:ext cx="6972300" cy="5143500"/>
          </a:xfrm>
          <a:prstGeom prst="roundRect">
            <a:avLst>
              <a:gd name="adj" fmla="val 2222"/>
            </a:avLst>
          </a:prstGeom>
          <a:solidFill>
            <a:srgbClr val="0B1220"/>
          </a:solidFill>
          <a:ln w="12700">
            <a:solidFill>
              <a:srgbClr val="1E293B"/>
            </a:solidFill>
            <a:prstDash val="solid"/>
          </a:ln>
        </p:spPr>
        <p:txBody>
          <a:bodyPr/>
          <a:p/>
        </p:txBody>
      </p:sp>
      <p:sp>
        <p:nvSpPr>
          <p:cNvPr id="1257" name="文本框 1256" descr="{&quot;isTemplate&quot;:true,&quot;type&quot;:&quot;text&quot;}"/>
          <p:cNvSpPr txBox="1"/>
          <p:nvPr/>
        </p:nvSpPr>
        <p:spPr>
          <a:xfrm>
            <a:off x="800100" y="1333500"/>
            <a:ext cx="6591300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import fountain::f_bean.* / fountain::f_bean.macros.*</a:t>
            </a:r>
            <a:endParaRPr lang="en-US" sz="105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58" name="文本框 1257" descr="{&quot;isTemplate&quot;:true,&quot;type&quot;:&quot;text&quot;}"/>
          <p:cNvSpPr txBox="1"/>
          <p:nvPr/>
        </p:nvSpPr>
        <p:spPr>
          <a:xfrm>
            <a:off x="800100" y="1590675"/>
            <a:ext cx="6591300" cy="3048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85000"/>
              </a:lnSpc>
            </a:pPr>
            <a:r>
              <a:rPr lang="en-US" sz="1050">
                <a:solidFill>
                  <a:srgbClr val="E2E8F0"/>
                </a:solidFill>
                <a:latin typeface="JetBrains Mono"/>
                <a:ea typeface="JetBrains Mono"/>
              </a:rPr>
              <a:t>@Bean</a:t>
            </a:r>
            <a:endParaRPr lang="en-US" sz="1050">
              <a:solidFill>
                <a:srgbClr val="E2E8F0"/>
              </a:solidFill>
              <a:latin typeface="JetBrains Mono"/>
              <a:ea typeface="JetBrains Mono"/>
            </a:endParaRPr>
          </a:p>
        </p:txBody>
      </p:sp>
      <p:sp>
        <p:nvSpPr>
          <p:cNvPr id="1259" name="文本框 1258" descr="{&quot;isTemplate&quot;:true,&quot;type&quot;:&quot;text&quot;}"/>
          <p:cNvSpPr txBox="1"/>
          <p:nvPr/>
        </p:nvSpPr>
        <p:spPr>
          <a:xfrm>
            <a:off x="800100" y="1895475"/>
            <a:ext cx="6591300" cy="3048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85000"/>
              </a:lnSpc>
            </a:pPr>
            <a:r>
              <a:rPr lang="en-US" sz="1050">
                <a:solidFill>
                  <a:srgbClr val="E2E8F0"/>
                </a:solidFill>
                <a:latin typeface="JetBrains Mono"/>
                <a:ea typeface="JetBrains Mono"/>
              </a:rPr>
              <a:t>@BeanMeta[                       // </a:t>
            </a:r>
            <a:r>
              <a:rPr lang="zh-CN" sz="1050">
                <a:solidFill>
                  <a:srgbClr val="E2E8F0"/>
                </a:solidFill>
                <a:latin typeface="JetBrains Mono"/>
                <a:ea typeface="JetBrains Mono"/>
              </a:rPr>
              <a:t>全是默认值时可省略</a:t>
            </a:r>
            <a:endParaRPr lang="zh-CN" sz="1050">
              <a:solidFill>
                <a:srgbClr val="E2E8F0"/>
              </a:solidFill>
              <a:latin typeface="JetBrains Mono"/>
              <a:ea typeface="JetBrains Mono"/>
            </a:endParaRPr>
          </a:p>
        </p:txBody>
      </p:sp>
      <p:sp>
        <p:nvSpPr>
          <p:cNvPr id="1260" name="文本框 1259" descr="{&quot;isTemplate&quot;:true,&quot;type&quot;:&quot;text&quot;}"/>
          <p:cNvSpPr txBox="1"/>
          <p:nvPr/>
        </p:nvSpPr>
        <p:spPr>
          <a:xfrm>
            <a:off x="800100" y="2200275"/>
            <a:ext cx="6591300" cy="3048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85000"/>
              </a:lnSpc>
            </a:pPr>
            <a:r>
              <a:rPr lang="en-US" sz="1050">
                <a:solidFill>
                  <a:srgbClr val="22D3EE"/>
                </a:solidFill>
                <a:latin typeface="JetBrains Mono"/>
                <a:ea typeface="JetBrains Mono"/>
              </a:rPr>
              <a:t>    name: '',                    // </a:t>
            </a:r>
            <a:r>
              <a:rPr lang="zh-CN" sz="1050">
                <a:solidFill>
                  <a:srgbClr val="22D3EE"/>
                </a:solidFill>
                <a:latin typeface="JetBrains Mono"/>
                <a:ea typeface="JetBrains Mono"/>
              </a:rPr>
              <a:t>默认「类型全限定名</a:t>
            </a:r>
            <a:r>
              <a:rPr lang="en-US" sz="1050">
                <a:solidFill>
                  <a:srgbClr val="22D3EE"/>
                </a:solidFill>
                <a:latin typeface="JetBrains Mono"/>
                <a:ea typeface="JetBrains Mono"/>
              </a:rPr>
              <a:t> + </a:t>
            </a:r>
            <a:r>
              <a:rPr lang="zh-CN" sz="1050">
                <a:solidFill>
                  <a:srgbClr val="22D3EE"/>
                </a:solidFill>
                <a:latin typeface="JetBrains Mono"/>
                <a:ea typeface="JetBrains Mono"/>
              </a:rPr>
              <a:t>序号」</a:t>
            </a:r>
            <a:endParaRPr lang="zh-CN" sz="1050">
              <a:solidFill>
                <a:srgbClr val="22D3EE"/>
              </a:solidFill>
              <a:latin typeface="JetBrains Mono"/>
              <a:ea typeface="JetBrains Mono"/>
            </a:endParaRPr>
          </a:p>
        </p:txBody>
      </p:sp>
      <p:sp>
        <p:nvSpPr>
          <p:cNvPr id="1261" name="文本框 1260" descr="{&quot;isTemplate&quot;:true,&quot;type&quot;:&quot;text&quot;}"/>
          <p:cNvSpPr txBox="1"/>
          <p:nvPr/>
        </p:nvSpPr>
        <p:spPr>
          <a:xfrm>
            <a:off x="800100" y="2505075"/>
            <a:ext cx="6591300" cy="3048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85000"/>
              </a:lnSpc>
            </a:pPr>
            <a:r>
              <a:rPr lang="en-US" sz="1050">
                <a:solidFill>
                  <a:srgbClr val="22D3EE"/>
                </a:solidFill>
                <a:latin typeface="JetBrains Mono"/>
                <a:ea typeface="JetBrains Mono"/>
              </a:rPr>
              <a:t>    scope: BeanScope.singleton,  // singleton | prototype</a:t>
            </a:r>
            <a:endParaRPr lang="en-US" sz="1050">
              <a:solidFill>
                <a:srgbClr val="22D3EE"/>
              </a:solidFill>
              <a:latin typeface="JetBrains Mono"/>
              <a:ea typeface="JetBrains Mono"/>
            </a:endParaRPr>
          </a:p>
        </p:txBody>
      </p:sp>
      <p:sp>
        <p:nvSpPr>
          <p:cNvPr id="1262" name="文本框 1261" descr="{&quot;isTemplate&quot;:true,&quot;type&quot;:&quot;text&quot;}"/>
          <p:cNvSpPr txBox="1"/>
          <p:nvPr/>
        </p:nvSpPr>
        <p:spPr>
          <a:xfrm>
            <a:off x="800100" y="2809875"/>
            <a:ext cx="6591300" cy="3048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85000"/>
              </a:lnSpc>
            </a:pPr>
            <a:r>
              <a:rPr lang="en-US" sz="1050">
                <a:solidFill>
                  <a:srgbClr val="22D3EE"/>
                </a:solidFill>
                <a:latin typeface="JetBrains Mono"/>
                <a:ea typeface="JetBrains Mono"/>
              </a:rPr>
              <a:t>    lazy: true,                  // singleton </a:t>
            </a:r>
            <a:r>
              <a:rPr lang="zh-CN" sz="1050">
                <a:solidFill>
                  <a:srgbClr val="22D3EE"/>
                </a:solidFill>
                <a:latin typeface="JetBrains Mono"/>
                <a:ea typeface="JetBrains Mono"/>
              </a:rPr>
              <a:t>懒加载；</a:t>
            </a:r>
            <a:r>
              <a:rPr lang="en-US" sz="1050">
                <a:solidFill>
                  <a:srgbClr val="22D3EE"/>
                </a:solidFill>
                <a:latin typeface="JetBrains Mono"/>
                <a:ea typeface="JetBrains Mono"/>
              </a:rPr>
              <a:t>prototype </a:t>
            </a:r>
            <a:r>
              <a:rPr lang="zh-CN" sz="1050">
                <a:solidFill>
                  <a:srgbClr val="22D3EE"/>
                </a:solidFill>
                <a:latin typeface="JetBrains Mono"/>
                <a:ea typeface="JetBrains Mono"/>
              </a:rPr>
              <a:t>下不生效</a:t>
            </a:r>
            <a:endParaRPr lang="zh-CN" sz="1050">
              <a:solidFill>
                <a:srgbClr val="22D3EE"/>
              </a:solidFill>
              <a:latin typeface="JetBrains Mono"/>
              <a:ea typeface="JetBrains Mono"/>
            </a:endParaRPr>
          </a:p>
        </p:txBody>
      </p:sp>
      <p:sp>
        <p:nvSpPr>
          <p:cNvPr id="1263" name="文本框 1262" descr="{&quot;isTemplate&quot;:true,&quot;type&quot;:&quot;text&quot;}"/>
          <p:cNvSpPr txBox="1"/>
          <p:nvPr/>
        </p:nvSpPr>
        <p:spPr>
          <a:xfrm>
            <a:off x="800100" y="3114675"/>
            <a:ext cx="6591300" cy="3048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85000"/>
              </a:lnSpc>
            </a:pPr>
            <a:r>
              <a:rPr lang="en-US" sz="1050">
                <a:solidFill>
                  <a:srgbClr val="22D3EE"/>
                </a:solidFill>
                <a:latin typeface="JetBrains Mono"/>
                <a:ea typeface="JetBrains Mono"/>
              </a:rPr>
              <a:t>    primary: false,              // </a:t>
            </a:r>
            <a:r>
              <a:rPr lang="zh-CN" sz="1050">
                <a:solidFill>
                  <a:srgbClr val="22D3EE"/>
                </a:solidFill>
                <a:latin typeface="JetBrains Mono"/>
                <a:ea typeface="JetBrains Mono"/>
              </a:rPr>
              <a:t>同类型排最前</a:t>
            </a:r>
            <a:endParaRPr lang="zh-CN" sz="1050">
              <a:solidFill>
                <a:srgbClr val="22D3EE"/>
              </a:solidFill>
              <a:latin typeface="JetBrains Mono"/>
              <a:ea typeface="JetBrains Mono"/>
            </a:endParaRPr>
          </a:p>
        </p:txBody>
      </p:sp>
      <p:sp>
        <p:nvSpPr>
          <p:cNvPr id="1264" name="文本框 1263" descr="{&quot;isTemplate&quot;:true,&quot;type&quot;:&quot;text&quot;}"/>
          <p:cNvSpPr txBox="1"/>
          <p:nvPr/>
        </p:nvSpPr>
        <p:spPr>
          <a:xfrm>
            <a:off x="800100" y="3419475"/>
            <a:ext cx="6591300" cy="3048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85000"/>
              </a:lnSpc>
            </a:pPr>
            <a:r>
              <a:rPr lang="en-US" sz="1050">
                <a:solidFill>
                  <a:srgbClr val="22D3EE"/>
                </a:solidFill>
                <a:latin typeface="JetBrains Mono"/>
                <a:ea typeface="JetBrains Mono"/>
              </a:rPr>
              <a:t>    order: 0,                    // </a:t>
            </a:r>
            <a:r>
              <a:rPr lang="zh-CN" sz="1050">
                <a:solidFill>
                  <a:srgbClr val="22D3EE"/>
                </a:solidFill>
                <a:latin typeface="JetBrains Mono"/>
                <a:ea typeface="JetBrains Mono"/>
              </a:rPr>
              <a:t>同类型排序</a:t>
            </a:r>
            <a:endParaRPr lang="zh-CN" sz="1050">
              <a:solidFill>
                <a:srgbClr val="22D3EE"/>
              </a:solidFill>
              <a:latin typeface="JetBrains Mono"/>
              <a:ea typeface="JetBrains Mono"/>
            </a:endParaRPr>
          </a:p>
        </p:txBody>
      </p:sp>
      <p:sp>
        <p:nvSpPr>
          <p:cNvPr id="1265" name="文本框 1264" descr="{&quot;isTemplate&quot;:true,&quot;type&quot;:&quot;text&quot;}"/>
          <p:cNvSpPr txBox="1"/>
          <p:nvPr/>
        </p:nvSpPr>
        <p:spPr>
          <a:xfrm>
            <a:off x="800100" y="3724275"/>
            <a:ext cx="6591300" cy="3048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85000"/>
              </a:lnSpc>
            </a:pPr>
            <a:r>
              <a:rPr lang="en-US" sz="1050">
                <a:solidFill>
                  <a:srgbClr val="22D3EE"/>
                </a:solidFill>
                <a:latin typeface="JetBrains Mono"/>
                <a:ea typeface="JetBrains Mono"/>
              </a:rPr>
              <a:t>    condition: NoneBeanCondition.instance</a:t>
            </a:r>
            <a:endParaRPr lang="en-US" sz="1050">
              <a:solidFill>
                <a:srgbClr val="22D3EE"/>
              </a:solidFill>
              <a:latin typeface="JetBrains Mono"/>
              <a:ea typeface="JetBrains Mono"/>
            </a:endParaRPr>
          </a:p>
        </p:txBody>
      </p:sp>
      <p:sp>
        <p:nvSpPr>
          <p:cNvPr id="1266" name="文本框 1265" descr="{&quot;isTemplate&quot;:true,&quot;type&quot;:&quot;text&quot;}"/>
          <p:cNvSpPr txBox="1"/>
          <p:nvPr/>
        </p:nvSpPr>
        <p:spPr>
          <a:xfrm>
            <a:off x="800100" y="4029075"/>
            <a:ext cx="6591300" cy="3048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85000"/>
              </a:lnSpc>
            </a:pPr>
            <a:r>
              <a:rPr lang="en-US" sz="1050">
                <a:solidFill>
                  <a:srgbClr val="E2E8F0"/>
                </a:solidFill>
                <a:latin typeface="JetBrains Mono"/>
                <a:ea typeface="JetBrains Mono"/>
              </a:rPr>
              <a:t>]</a:t>
            </a:r>
            <a:endParaRPr lang="en-US" sz="1050">
              <a:solidFill>
                <a:srgbClr val="E2E8F0"/>
              </a:solidFill>
              <a:latin typeface="JetBrains Mono"/>
              <a:ea typeface="JetBrains Mono"/>
            </a:endParaRPr>
          </a:p>
        </p:txBody>
      </p:sp>
      <p:sp>
        <p:nvSpPr>
          <p:cNvPr id="1267" name="文本框 1266" descr="{&quot;isTemplate&quot;:true,&quot;type&quot;:&quot;text&quot;}"/>
          <p:cNvSpPr txBox="1"/>
          <p:nvPr/>
        </p:nvSpPr>
        <p:spPr>
          <a:xfrm>
            <a:off x="800100" y="4333875"/>
            <a:ext cx="6591300" cy="3048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85000"/>
              </a:lnSpc>
            </a:pPr>
            <a:r>
              <a:rPr lang="en-US" sz="1050">
                <a:solidFill>
                  <a:srgbClr val="E2E8F0"/>
                </a:solidFill>
                <a:latin typeface="JetBrains Mono"/>
                <a:ea typeface="JetBrains Mono"/>
              </a:rPr>
              <a:t>public class ClassName{}</a:t>
            </a:r>
            <a:endParaRPr lang="en-US" sz="1050">
              <a:solidFill>
                <a:srgbClr val="E2E8F0"/>
              </a:solidFill>
              <a:latin typeface="JetBrains Mono"/>
              <a:ea typeface="JetBrains Mono"/>
            </a:endParaRPr>
          </a:p>
        </p:txBody>
      </p:sp>
      <p:sp>
        <p:nvSpPr>
          <p:cNvPr id="1268" name="文本框 1267" descr="{&quot;isTemplate&quot;:true,&quot;type&quot;:&quot;text&quot;}"/>
          <p:cNvSpPr txBox="1"/>
          <p:nvPr/>
        </p:nvSpPr>
        <p:spPr>
          <a:xfrm>
            <a:off x="800100" y="4733925"/>
            <a:ext cx="6591300" cy="3048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85000"/>
              </a:lnSpc>
            </a:pPr>
            <a:r>
              <a:rPr lang="en-US" sz="1050">
                <a:solidFill>
                  <a:srgbClr val="F59E0B"/>
                </a:solidFill>
                <a:latin typeface="JetBrains Mono"/>
                <a:ea typeface="JetBrains Mono"/>
              </a:rPr>
              <a:t>@Bean[String, Duration|Int64, String]   // </a:t>
            </a:r>
            <a:r>
              <a:rPr lang="zh-CN" sz="1050">
                <a:solidFill>
                  <a:srgbClr val="F59E0B"/>
                </a:solidFill>
                <a:latin typeface="JetBrains Mono"/>
                <a:ea typeface="JetBrains Mono"/>
              </a:rPr>
              <a:t>泛型类：</a:t>
            </a:r>
            <a:r>
              <a:rPr lang="en-US" sz="1050">
                <a:solidFill>
                  <a:srgbClr val="F59E0B"/>
                </a:solidFill>
                <a:latin typeface="JetBrains Mono"/>
                <a:ea typeface="JetBrains Mono"/>
              </a:rPr>
              <a:t>| </a:t>
            </a:r>
            <a:r>
              <a:rPr lang="zh-CN" sz="1050">
                <a:solidFill>
                  <a:srgbClr val="F59E0B"/>
                </a:solidFill>
                <a:latin typeface="JetBrains Mono"/>
                <a:ea typeface="JetBrains Mono"/>
              </a:rPr>
              <a:t>分隔多组泛型实参</a:t>
            </a:r>
            <a:endParaRPr lang="zh-CN" sz="1050">
              <a:solidFill>
                <a:srgbClr val="F59E0B"/>
              </a:solidFill>
              <a:latin typeface="JetBrains Mono"/>
              <a:ea typeface="JetBrains Mono"/>
            </a:endParaRPr>
          </a:p>
        </p:txBody>
      </p:sp>
      <p:sp>
        <p:nvSpPr>
          <p:cNvPr id="1269" name="文本框 1268" descr="{&quot;isTemplate&quot;:true,&quot;type&quot;:&quot;text&quot;}"/>
          <p:cNvSpPr txBox="1"/>
          <p:nvPr/>
        </p:nvSpPr>
        <p:spPr>
          <a:xfrm>
            <a:off x="800100" y="5038725"/>
            <a:ext cx="6591300" cy="3048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85000"/>
              </a:lnSpc>
            </a:pPr>
            <a:r>
              <a:rPr lang="en-US" sz="1050">
                <a:solidFill>
                  <a:srgbClr val="E2E8F0"/>
                </a:solidFill>
                <a:latin typeface="JetBrains Mono"/>
                <a:ea typeface="JetBrains Mono"/>
              </a:rPr>
              <a:t>public class GenericClass&lt;T, E&gt;{</a:t>
            </a:r>
            <a:endParaRPr lang="en-US" sz="1050">
              <a:solidFill>
                <a:srgbClr val="E2E8F0"/>
              </a:solidFill>
              <a:latin typeface="JetBrains Mono"/>
              <a:ea typeface="JetBrains Mono"/>
            </a:endParaRPr>
          </a:p>
        </p:txBody>
      </p:sp>
      <p:sp>
        <p:nvSpPr>
          <p:cNvPr id="1270" name="文本框 1269" descr="{&quot;isTemplate&quot;:true,&quot;type&quot;:&quot;text&quot;}"/>
          <p:cNvSpPr txBox="1"/>
          <p:nvPr/>
        </p:nvSpPr>
        <p:spPr>
          <a:xfrm>
            <a:off x="800100" y="5343525"/>
            <a:ext cx="6591300" cy="3048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85000"/>
              </a:lnSpc>
            </a:pPr>
            <a:r>
              <a:rPr lang="en-US" sz="1050">
                <a:solidFill>
                  <a:srgbClr val="E2E8F0"/>
                </a:solidFill>
                <a:latin typeface="JetBrains Mono"/>
                <a:ea typeface="JetBrains Mono"/>
              </a:rPr>
              <a:t>    private let bean = lookup&lt;ClassName&gt;()</a:t>
            </a:r>
            <a:endParaRPr lang="en-US" sz="1050">
              <a:solidFill>
                <a:srgbClr val="E2E8F0"/>
              </a:solidFill>
              <a:latin typeface="JetBrains Mono"/>
              <a:ea typeface="JetBrains Mono"/>
            </a:endParaRPr>
          </a:p>
        </p:txBody>
      </p:sp>
      <p:sp>
        <p:nvSpPr>
          <p:cNvPr id="1271" name="文本框 1270" descr="{&quot;isTemplate&quot;:true,&quot;type&quot;:&quot;text&quot;}"/>
          <p:cNvSpPr txBox="1"/>
          <p:nvPr/>
        </p:nvSpPr>
        <p:spPr>
          <a:xfrm>
            <a:off x="800100" y="5648325"/>
            <a:ext cx="6591300" cy="3048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85000"/>
              </a:lnSpc>
            </a:pPr>
            <a:r>
              <a:rPr lang="en-US" sz="1050">
                <a:solidFill>
                  <a:srgbClr val="E2E8F0"/>
                </a:solidFill>
                <a:latin typeface="JetBrains Mono"/>
                <a:ea typeface="JetBrains Mono"/>
              </a:rPr>
              <a:t>}</a:t>
            </a:r>
            <a:endParaRPr lang="en-US" sz="1050">
              <a:solidFill>
                <a:srgbClr val="E2E8F0"/>
              </a:solidFill>
              <a:latin typeface="JetBrains Mono"/>
              <a:ea typeface="JetBrains Mono"/>
            </a:endParaRPr>
          </a:p>
        </p:txBody>
      </p:sp>
      <p:sp>
        <p:nvSpPr>
          <p:cNvPr id="1272" name="圆角矩形 1271"/>
          <p:cNvSpPr/>
          <p:nvPr/>
        </p:nvSpPr>
        <p:spPr>
          <a:xfrm>
            <a:off x="7772400" y="1143000"/>
            <a:ext cx="3810000" cy="3752850"/>
          </a:xfrm>
          <a:prstGeom prst="roundRect">
            <a:avLst>
              <a:gd name="adj" fmla="val 3046"/>
            </a:avLst>
          </a:prstGeom>
          <a:solidFill>
            <a:srgbClr val="111C2E"/>
          </a:solidFill>
          <a:ln w="12700">
            <a:solidFill>
              <a:srgbClr val="38BDF8"/>
            </a:solidFill>
            <a:prstDash val="solid"/>
          </a:ln>
        </p:spPr>
        <p:txBody>
          <a:bodyPr/>
          <a:p/>
        </p:txBody>
      </p:sp>
      <p:sp>
        <p:nvSpPr>
          <p:cNvPr id="1273" name="文本框 1272" descr="{&quot;isTemplate&quot;:true,&quot;type&quot;:&quot;text&quot;}"/>
          <p:cNvSpPr txBox="1"/>
          <p:nvPr/>
        </p:nvSpPr>
        <p:spPr>
          <a:xfrm>
            <a:off x="7962900" y="1333500"/>
            <a:ext cx="3429000" cy="2095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38BDF8"/>
                </a:solidFill>
                <a:latin typeface="微软雅黑" panose="020B0503020204020204" charset="-122"/>
                <a:ea typeface="微软雅黑" panose="020B0503020204020204" charset="-122"/>
              </a:rPr>
              <a:t>三张索引表</a:t>
            </a:r>
            <a:endParaRPr lang="zh-CN" sz="1350" b="1">
              <a:solidFill>
                <a:srgbClr val="38BDF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74" name="文本框 1273" descr="{&quot;isTemplate&quot;:true,&quot;type&quot;:&quot;text&quot;}"/>
          <p:cNvSpPr txBox="1"/>
          <p:nvPr/>
        </p:nvSpPr>
        <p:spPr>
          <a:xfrm>
            <a:off x="7962900" y="1657350"/>
            <a:ext cx="3429000" cy="2952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80000"/>
              </a:lnSpc>
            </a:pPr>
            <a:r>
              <a:rPr lang="en-US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KEY = bean </a:t>
            </a:r>
            <a:r>
              <a:rPr lang="zh-CN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名</a:t>
            </a:r>
            <a:endParaRPr lang="zh-CN" sz="1050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75" name="文本框 1274" descr="{&quot;isTemplate&quot;:true,&quot;type&quot;:&quot;text&quot;}"/>
          <p:cNvSpPr txBox="1"/>
          <p:nvPr/>
        </p:nvSpPr>
        <p:spPr>
          <a:xfrm>
            <a:off x="7962900" y="2009775"/>
            <a:ext cx="3429000" cy="2952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80000"/>
              </a:lnSpc>
            </a:pPr>
            <a:r>
              <a:rPr lang="en-US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KEY = </a:t>
            </a:r>
            <a:r>
              <a:rPr lang="zh-CN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类</a:t>
            </a:r>
            <a:r>
              <a:rPr lang="en-US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/ </a:t>
            </a:r>
            <a:r>
              <a:rPr lang="zh-CN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父类</a:t>
            </a:r>
            <a:r>
              <a:rPr lang="en-US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/ </a:t>
            </a:r>
            <a:r>
              <a:rPr lang="zh-CN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实现接口的</a:t>
            </a:r>
            <a:r>
              <a:rPr lang="en-US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TypeInfo</a:t>
            </a:r>
            <a:endParaRPr lang="en-US" sz="1050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76" name="文本框 1275" descr="{&quot;isTemplate&quot;:true,&quot;type&quot;:&quot;text&quot;}"/>
          <p:cNvSpPr txBox="1"/>
          <p:nvPr/>
        </p:nvSpPr>
        <p:spPr>
          <a:xfrm>
            <a:off x="7962900" y="2362200"/>
            <a:ext cx="3429000" cy="2952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80000"/>
              </a:lnSpc>
            </a:pPr>
            <a:r>
              <a:rPr lang="en-US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KEY = </a:t>
            </a:r>
            <a:r>
              <a:rPr lang="zh-CN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类上注解</a:t>
            </a:r>
            <a:r>
              <a:rPr lang="en-US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/ </a:t>
            </a:r>
            <a:r>
              <a:rPr lang="zh-CN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注解父类型的</a:t>
            </a:r>
            <a:r>
              <a:rPr lang="en-US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TypeInfo</a:t>
            </a:r>
            <a:endParaRPr lang="en-US" sz="1050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77" name="文本框 1276" descr="{&quot;isTemplate&quot;:true,&quot;type&quot;:&quot;text&quot;}"/>
          <p:cNvSpPr txBox="1"/>
          <p:nvPr/>
        </p:nvSpPr>
        <p:spPr>
          <a:xfrm>
            <a:off x="7962900" y="4410075"/>
            <a:ext cx="3429000" cy="2952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80000"/>
              </a:lnSpc>
            </a:pPr>
            <a:r>
              <a:rPr lang="zh-CN" sz="1050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所以你可以用名字、用类型、用注解三种方式取</a:t>
            </a:r>
            <a:r>
              <a:rPr lang="en-US" sz="1050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 bean</a:t>
            </a:r>
            <a:r>
              <a:rPr lang="zh-CN" sz="1050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。</a:t>
            </a:r>
            <a:endParaRPr lang="zh-CN" sz="1050">
              <a:solidFill>
                <a:srgbClr val="F59E0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78" name="圆角矩形 1277"/>
          <p:cNvSpPr/>
          <p:nvPr/>
        </p:nvSpPr>
        <p:spPr>
          <a:xfrm>
            <a:off x="7772400" y="5029200"/>
            <a:ext cx="3810000" cy="1257300"/>
          </a:xfrm>
          <a:prstGeom prst="roundRect">
            <a:avLst>
              <a:gd name="adj" fmla="val 9091"/>
            </a:avLst>
          </a:prstGeom>
          <a:solidFill>
            <a:srgbClr val="111C2E"/>
          </a:solidFill>
          <a:ln w="12700">
            <a:solidFill>
              <a:srgbClr val="1E293B"/>
            </a:solidFill>
            <a:prstDash val="solid"/>
          </a:ln>
        </p:spPr>
        <p:txBody>
          <a:bodyPr/>
          <a:p/>
        </p:txBody>
      </p:sp>
      <p:sp>
        <p:nvSpPr>
          <p:cNvPr id="1279" name="文本框 1278" descr="{&quot;isTemplate&quot;:true,&quot;type&quot;:&quot;text&quot;}"/>
          <p:cNvSpPr txBox="1"/>
          <p:nvPr/>
        </p:nvSpPr>
        <p:spPr>
          <a:xfrm>
            <a:off x="7962900" y="5219700"/>
            <a:ext cx="3429000" cy="2000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只管理</a:t>
            </a:r>
            <a:r>
              <a:rPr lang="en-US" sz="1275" b="1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 class</a:t>
            </a:r>
            <a:endParaRPr lang="en-US" sz="1275" b="1">
              <a:solidFill>
                <a:srgbClr val="E2E8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80" name="文本框 1279" descr="{&quot;isTemplate&quot;:true,&quot;type&quot;:&quot;text&quot;}"/>
          <p:cNvSpPr txBox="1"/>
          <p:nvPr/>
        </p:nvSpPr>
        <p:spPr>
          <a:xfrm>
            <a:off x="7962900" y="5514975"/>
            <a:ext cx="3429000" cy="581025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80000"/>
              </a:lnSpc>
            </a:pPr>
            <a:r>
              <a:rPr lang="zh-CN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不管理</a:t>
            </a:r>
            <a:r>
              <a:rPr lang="en-US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struct</a:t>
            </a:r>
            <a:r>
              <a:rPr lang="zh-CN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：值类型取出来就会复制，得不偿失，这是作者明确的取舍。</a:t>
            </a:r>
            <a:endParaRPr lang="zh-CN" sz="1050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81" name="任意多边形 1280"/>
          <p:cNvSpPr/>
          <p:nvPr/>
        </p:nvSpPr>
        <p:spPr>
          <a:xfrm>
            <a:off x="609600" y="6286500"/>
            <a:ext cx="10972800" cy="381000"/>
          </a:xfrm>
          <a:custGeom>
            <a:avLst/>
            <a:gdLst/>
            <a:ahLst/>
            <a:cxnLst/>
            <a:pathLst>
              <a:path w="1152" h="40">
                <a:moveTo>
                  <a:pt x="0" y="0"/>
                </a:moveTo>
                <a:lnTo>
                  <a:pt x="1152" y="0"/>
                </a:lnTo>
                <a:lnTo>
                  <a:pt x="1152" y="1"/>
                </a:lnTo>
                <a:lnTo>
                  <a:pt x="0" y="1"/>
                </a:lnTo>
                <a:close/>
              </a:path>
            </a:pathLst>
          </a:custGeom>
          <a:solidFill>
            <a:srgbClr val="1E293B"/>
          </a:solidFill>
        </p:spPr>
        <p:txBody>
          <a:bodyPr/>
          <a:p/>
        </p:txBody>
      </p:sp>
      <p:sp>
        <p:nvSpPr>
          <p:cNvPr id="1282" name="文本框 1281" descr="{&quot;isTemplate&quot;:true,&quot;type&quot;:&quot;text&quot;}"/>
          <p:cNvSpPr txBox="1"/>
          <p:nvPr/>
        </p:nvSpPr>
        <p:spPr>
          <a:xfrm>
            <a:off x="609600" y="6410325"/>
            <a:ext cx="2219325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fountain · 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一站式服务器应用开发工具库</a:t>
            </a:r>
            <a:endParaRPr lang="zh-CN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83" name="文本框 1282" descr="{&quot;isTemplate&quot;:true,&quot;type&quot;:&quot;text&quot;}"/>
          <p:cNvSpPr txBox="1"/>
          <p:nvPr/>
        </p:nvSpPr>
        <p:spPr>
          <a:xfrm>
            <a:off x="11087100" y="6410325"/>
            <a:ext cx="495300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37 / 116</a:t>
            </a:r>
            <a:endParaRPr lang="en-US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28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5" name="矩形 1284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220"/>
          </a:solidFill>
        </p:spPr>
        <p:txBody>
          <a:bodyPr/>
          <a:p/>
        </p:txBody>
      </p:sp>
      <p:sp>
        <p:nvSpPr>
          <p:cNvPr id="1286" name="矩形 1285"/>
          <p:cNvSpPr/>
          <p:nvPr/>
        </p:nvSpPr>
        <p:spPr>
          <a:xfrm>
            <a:off x="609600" y="476250"/>
            <a:ext cx="38100" cy="381000"/>
          </a:xfrm>
          <a:prstGeom prst="rect">
            <a:avLst/>
          </a:prstGeom>
          <a:solidFill>
            <a:srgbClr val="38BDF8"/>
          </a:solidFill>
        </p:spPr>
        <p:txBody>
          <a:bodyPr/>
          <a:p/>
        </p:txBody>
      </p:sp>
      <p:sp>
        <p:nvSpPr>
          <p:cNvPr id="1287" name="文本框 1286" descr="{&quot;isTemplate&quot;:true,&quot;type&quot;:&quot;text&quot;}"/>
          <p:cNvSpPr txBox="1"/>
          <p:nvPr/>
        </p:nvSpPr>
        <p:spPr>
          <a:xfrm>
            <a:off x="819150" y="304800"/>
            <a:ext cx="9563100" cy="2095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第</a:t>
            </a: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 6 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章</a:t>
            </a: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 · IOC f_bean · 6.2</a:t>
            </a:r>
            <a:endParaRPr lang="en-US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88" name="文本框 1287" descr="{&quot;isTemplate&quot;:true,&quot;type&quot;:&quot;text&quot;}"/>
          <p:cNvSpPr txBox="1"/>
          <p:nvPr/>
        </p:nvSpPr>
        <p:spPr>
          <a:xfrm>
            <a:off x="819150" y="514350"/>
            <a:ext cx="9563100" cy="5143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2550" b="1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取</a:t>
            </a:r>
            <a:r>
              <a:rPr lang="en-US" sz="2550" b="1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 bean</a:t>
            </a:r>
            <a:r>
              <a:rPr lang="zh-CN" sz="2550" b="1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：</a:t>
            </a:r>
            <a:r>
              <a:rPr lang="en-US" sz="2550" b="1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lookup </a:t>
            </a:r>
            <a:r>
              <a:rPr lang="zh-CN" sz="2550" b="1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家族</a:t>
            </a:r>
            <a:endParaRPr lang="zh-CN" sz="2550" b="1">
              <a:solidFill>
                <a:srgbClr val="E2E8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89" name="文本框 1288" descr="{&quot;isTemplate&quot;:true,&quot;type&quot;:&quot;text&quot;}"/>
          <p:cNvSpPr txBox="1"/>
          <p:nvPr/>
        </p:nvSpPr>
        <p:spPr>
          <a:xfrm>
            <a:off x="10553700" y="590550"/>
            <a:ext cx="1028700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lookupList 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是重点</a:t>
            </a:r>
            <a:endParaRPr lang="zh-CN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graphicFrame>
        <p:nvGraphicFramePr>
          <p:cNvPr id="1290" name="表格 1289"/>
          <p:cNvGraphicFramePr/>
          <p:nvPr/>
        </p:nvGraphicFramePr>
        <p:xfrm>
          <a:off x="609600" y="1143000"/>
          <a:ext cx="10972800" cy="3810000"/>
        </p:xfrm>
        <a:graphic>
          <a:graphicData uri="http://schemas.openxmlformats.org/drawingml/2006/table">
            <a:tbl>
              <a:tblPr/>
              <a:tblGrid>
                <a:gridCol w="4129514"/>
                <a:gridCol w="2379720"/>
                <a:gridCol w="4463566"/>
              </a:tblGrid>
              <a:tr h="325660"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 b="1">
                          <a:solidFill>
                            <a:srgbClr val="22D3EE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函数</a:t>
                      </a:r>
                      <a:endParaRPr sz="975" b="1">
                        <a:solidFill>
                          <a:srgbClr val="22D3EE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6233A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 b="1">
                          <a:solidFill>
                            <a:srgbClr val="22D3EE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返回</a:t>
                      </a:r>
                      <a:endParaRPr sz="975" b="1">
                        <a:solidFill>
                          <a:srgbClr val="22D3EE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6233A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 b="1">
                          <a:solidFill>
                            <a:srgbClr val="22D3EE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说明</a:t>
                      </a:r>
                      <a:endParaRPr sz="975" b="1">
                        <a:solidFill>
                          <a:srgbClr val="22D3EE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6233A"/>
                    </a:solidFill>
                  </a:tcPr>
                </a:tc>
              </a:tr>
              <a:tr h="348434"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50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lookup&lt;T&gt;()</a:t>
                      </a:r>
                      <a:endParaRPr sz="1050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50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T</a:t>
                      </a:r>
                      <a:endParaRPr sz="1050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50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第一个，找不到抛异常</a:t>
                      </a:r>
                      <a:endParaRPr sz="1050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348434"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50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lookup&lt;T&gt;(name: String)</a:t>
                      </a:r>
                      <a:endParaRPr sz="1050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50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T</a:t>
                      </a:r>
                      <a:endParaRPr sz="1050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50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按名字</a:t>
                      </a:r>
                      <a:endParaRPr sz="1050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348434"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50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lookup&lt;T&gt;(cond: StringCond)</a:t>
                      </a:r>
                      <a:endParaRPr sz="1050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50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T</a:t>
                      </a:r>
                      <a:endParaRPr sz="1050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50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名字符合条件</a:t>
                      </a:r>
                      <a:endParaRPr sz="1050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348434"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50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lookupOption&lt;T&gt;() / (name) / (cond)</a:t>
                      </a:r>
                      <a:endParaRPr sz="1050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50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?T</a:t>
                      </a:r>
                      <a:endParaRPr sz="1050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50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找不到返回 None</a:t>
                      </a:r>
                      <a:endParaRPr sz="1050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348434"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50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lookupList&lt;T&gt;() / (cond)</a:t>
                      </a:r>
                      <a:endParaRPr sz="1050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50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ArrayList&lt;T&gt;</a:t>
                      </a:r>
                      <a:endParaRPr sz="1050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50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全部实现 —— 策略模式的免费实现</a:t>
                      </a:r>
                      <a:endParaRPr sz="1050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348434"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50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lookupHashSet&lt;T&gt;()</a:t>
                      </a:r>
                      <a:endParaRPr sz="1050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50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HashSet&lt;T&gt;</a:t>
                      </a:r>
                      <a:endParaRPr sz="1050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50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T 需 Hashable 且 Equatable</a:t>
                      </a:r>
                      <a:endParaRPr sz="1050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348434"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50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lookupTreeSet&lt;T&gt;()</a:t>
                      </a:r>
                      <a:endParaRPr sz="1050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50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TreeSet&lt;T&gt;</a:t>
                      </a:r>
                      <a:endParaRPr sz="1050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50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T 需 Comparable</a:t>
                      </a:r>
                      <a:endParaRPr sz="1050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348434"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50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lookupHashMap&lt;T&gt;()</a:t>
                      </a:r>
                      <a:endParaRPr sz="1050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50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HashMap&lt;String, T&gt;</a:t>
                      </a:r>
                      <a:endParaRPr sz="1050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50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KEY 是 bean 名</a:t>
                      </a:r>
                      <a:endParaRPr sz="1050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348434"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50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lookupLables&lt;L, T&gt;()</a:t>
                      </a:r>
                      <a:endParaRPr sz="1050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50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HashMap&lt;L, T&gt;</a:t>
                      </a:r>
                      <a:endParaRPr sz="1050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50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T 实现 BeanLabel&lt;L&gt;，用 label 做 KEY</a:t>
                      </a:r>
                      <a:endParaRPr sz="1050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348434"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50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lookupWeights&lt;W, T&gt;()</a:t>
                      </a:r>
                      <a:endParaRPr sz="1050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50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TreeMap&lt;W, T&gt;</a:t>
                      </a:r>
                      <a:endParaRPr sz="1050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50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T 实现 BeanWeight&lt;W&gt;，用 weight 排序</a:t>
                      </a:r>
                      <a:endParaRPr sz="1050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</a:tbl>
          </a:graphicData>
        </a:graphic>
      </p:graphicFrame>
      <p:sp>
        <p:nvSpPr>
          <p:cNvPr id="1291" name="圆角矩形 1290"/>
          <p:cNvSpPr/>
          <p:nvPr/>
        </p:nvSpPr>
        <p:spPr>
          <a:xfrm>
            <a:off x="609600" y="5067300"/>
            <a:ext cx="10972800" cy="1219200"/>
          </a:xfrm>
          <a:prstGeom prst="roundRect">
            <a:avLst>
              <a:gd name="adj" fmla="val 9375"/>
            </a:avLst>
          </a:prstGeom>
          <a:solidFill>
            <a:srgbClr val="111C2E"/>
          </a:solidFill>
          <a:ln w="12700">
            <a:solidFill>
              <a:srgbClr val="1E293B"/>
            </a:solidFill>
            <a:prstDash val="solid"/>
          </a:ln>
        </p:spPr>
        <p:txBody>
          <a:bodyPr/>
          <a:p/>
        </p:txBody>
      </p:sp>
      <p:sp>
        <p:nvSpPr>
          <p:cNvPr id="1292" name="文本框 1291" descr="{&quot;isTemplate&quot;:true,&quot;type&quot;:&quot;text&quot;}"/>
          <p:cNvSpPr txBox="1"/>
          <p:nvPr/>
        </p:nvSpPr>
        <p:spPr>
          <a:xfrm>
            <a:off x="781050" y="5238750"/>
            <a:ext cx="10629900" cy="1714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StringCond </a:t>
            </a:r>
            <a:r>
              <a:rPr lang="zh-CN" sz="1125" b="1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是一个匹配规则枚举</a:t>
            </a:r>
            <a:endParaRPr lang="zh-CN" sz="1125" b="1">
              <a:solidFill>
                <a:srgbClr val="E2E8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93" name="文本框 1292" descr="{&quot;isTemplate&quot;:true,&quot;type&quot;:&quot;text&quot;}"/>
          <p:cNvSpPr txBox="1"/>
          <p:nvPr/>
        </p:nvSpPr>
        <p:spPr>
          <a:xfrm>
            <a:off x="781050" y="5486400"/>
            <a:ext cx="10629900" cy="2952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80000"/>
              </a:lnSpc>
            </a:pPr>
            <a:r>
              <a:rPr lang="en-US" sz="1050">
                <a:solidFill>
                  <a:srgbClr val="38BDF8"/>
                </a:solidFill>
                <a:latin typeface="JetBrains Mono"/>
                <a:ea typeface="JetBrains Mono"/>
              </a:rPr>
              <a:t>IgnoreCond | Exactly(s) | Prefix(s) | Suffix(s) | Wildcard(s) | Regexp(s) | Contains(s) | In(s)</a:t>
            </a:r>
            <a:endParaRPr lang="en-US" sz="1050">
              <a:solidFill>
                <a:srgbClr val="38BDF8"/>
              </a:solidFill>
              <a:latin typeface="JetBrains Mono"/>
              <a:ea typeface="JetBrains Mono"/>
            </a:endParaRPr>
          </a:p>
        </p:txBody>
      </p:sp>
      <p:sp>
        <p:nvSpPr>
          <p:cNvPr id="1294" name="文本框 1293" descr="{&quot;isTemplate&quot;:true,&quot;type&quot;:&quot;text&quot;}"/>
          <p:cNvSpPr txBox="1"/>
          <p:nvPr/>
        </p:nvSpPr>
        <p:spPr>
          <a:xfrm>
            <a:off x="781050" y="5838825"/>
            <a:ext cx="10629900" cy="2762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zh-CN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配合</a:t>
            </a:r>
            <a:r>
              <a:rPr lang="en-US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BeanLabel / BeanWeight</a:t>
            </a:r>
            <a:r>
              <a:rPr lang="zh-CN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，</a:t>
            </a:r>
            <a:r>
              <a:rPr lang="en-US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lookupList </a:t>
            </a:r>
            <a:r>
              <a:rPr lang="zh-CN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还能直接做成路由表或加权负载均衡。</a:t>
            </a:r>
            <a:endParaRPr lang="zh-CN" sz="1050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95" name="任意多边形 1294"/>
          <p:cNvSpPr/>
          <p:nvPr/>
        </p:nvSpPr>
        <p:spPr>
          <a:xfrm>
            <a:off x="609600" y="6286500"/>
            <a:ext cx="10972800" cy="381000"/>
          </a:xfrm>
          <a:custGeom>
            <a:avLst/>
            <a:gdLst/>
            <a:ahLst/>
            <a:cxnLst/>
            <a:pathLst>
              <a:path w="1152" h="40">
                <a:moveTo>
                  <a:pt x="0" y="0"/>
                </a:moveTo>
                <a:lnTo>
                  <a:pt x="1152" y="0"/>
                </a:lnTo>
                <a:lnTo>
                  <a:pt x="1152" y="1"/>
                </a:lnTo>
                <a:lnTo>
                  <a:pt x="0" y="1"/>
                </a:lnTo>
                <a:close/>
              </a:path>
            </a:pathLst>
          </a:custGeom>
          <a:solidFill>
            <a:srgbClr val="1E293B"/>
          </a:solidFill>
        </p:spPr>
        <p:txBody>
          <a:bodyPr/>
          <a:p/>
        </p:txBody>
      </p:sp>
      <p:sp>
        <p:nvSpPr>
          <p:cNvPr id="1296" name="文本框 1295" descr="{&quot;isTemplate&quot;:true,&quot;type&quot;:&quot;text&quot;}"/>
          <p:cNvSpPr txBox="1"/>
          <p:nvPr/>
        </p:nvSpPr>
        <p:spPr>
          <a:xfrm>
            <a:off x="609600" y="6410325"/>
            <a:ext cx="2219325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fountain · 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一站式服务器应用开发工具库</a:t>
            </a:r>
            <a:endParaRPr lang="zh-CN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97" name="文本框 1296" descr="{&quot;isTemplate&quot;:true,&quot;type&quot;:&quot;text&quot;}"/>
          <p:cNvSpPr txBox="1"/>
          <p:nvPr/>
        </p:nvSpPr>
        <p:spPr>
          <a:xfrm>
            <a:off x="11087100" y="6410325"/>
            <a:ext cx="495300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38 / 116</a:t>
            </a:r>
            <a:endParaRPr lang="en-US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29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9" name="矩形 1298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220"/>
          </a:solidFill>
        </p:spPr>
        <p:txBody>
          <a:bodyPr/>
          <a:p/>
        </p:txBody>
      </p:sp>
      <p:sp>
        <p:nvSpPr>
          <p:cNvPr id="1300" name="矩形 1299"/>
          <p:cNvSpPr/>
          <p:nvPr/>
        </p:nvSpPr>
        <p:spPr>
          <a:xfrm>
            <a:off x="609600" y="476250"/>
            <a:ext cx="38100" cy="381000"/>
          </a:xfrm>
          <a:prstGeom prst="rect">
            <a:avLst/>
          </a:prstGeom>
          <a:solidFill>
            <a:srgbClr val="38BDF8"/>
          </a:solidFill>
        </p:spPr>
        <p:txBody>
          <a:bodyPr/>
          <a:p/>
        </p:txBody>
      </p:sp>
      <p:sp>
        <p:nvSpPr>
          <p:cNvPr id="1301" name="文本框 1300" descr="{&quot;isTemplate&quot;:true,&quot;type&quot;:&quot;text&quot;}"/>
          <p:cNvSpPr txBox="1"/>
          <p:nvPr/>
        </p:nvSpPr>
        <p:spPr>
          <a:xfrm>
            <a:off x="819150" y="304800"/>
            <a:ext cx="8267700" cy="2095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第</a:t>
            </a: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 6 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章</a:t>
            </a: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 · IOC f_bean · 6.3</a:t>
            </a:r>
            <a:endParaRPr lang="en-US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02" name="文本框 1301" descr="{&quot;isTemplate&quot;:true,&quot;type&quot;:&quot;text&quot;}"/>
          <p:cNvSpPr txBox="1"/>
          <p:nvPr/>
        </p:nvSpPr>
        <p:spPr>
          <a:xfrm>
            <a:off x="819150" y="514350"/>
            <a:ext cx="8267700" cy="5143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2550" b="1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生命周期与构造注入</a:t>
            </a:r>
            <a:endParaRPr lang="zh-CN" sz="2550" b="1">
              <a:solidFill>
                <a:srgbClr val="E2E8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03" name="文本框 1302" descr="{&quot;isTemplate&quot;:true,&quot;type&quot;:&quot;text&quot;}"/>
          <p:cNvSpPr txBox="1"/>
          <p:nvPr/>
        </p:nvSpPr>
        <p:spPr>
          <a:xfrm>
            <a:off x="9258300" y="590550"/>
            <a:ext cx="2324100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@Constructor / @Value / @BeanParam</a:t>
            </a:r>
            <a:endParaRPr lang="en-US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04" name="圆角矩形 1303"/>
          <p:cNvSpPr/>
          <p:nvPr/>
        </p:nvSpPr>
        <p:spPr>
          <a:xfrm>
            <a:off x="609600" y="1143000"/>
            <a:ext cx="6667500" cy="5143500"/>
          </a:xfrm>
          <a:prstGeom prst="roundRect">
            <a:avLst>
              <a:gd name="adj" fmla="val 2222"/>
            </a:avLst>
          </a:prstGeom>
          <a:solidFill>
            <a:srgbClr val="0B1220"/>
          </a:solidFill>
          <a:ln w="12700">
            <a:solidFill>
              <a:srgbClr val="1E293B"/>
            </a:solidFill>
            <a:prstDash val="solid"/>
          </a:ln>
        </p:spPr>
        <p:txBody>
          <a:bodyPr/>
          <a:p/>
        </p:txBody>
      </p:sp>
      <p:sp>
        <p:nvSpPr>
          <p:cNvPr id="1305" name="文本框 1304" descr="{&quot;isTemplate&quot;:true,&quot;type&quot;:&quot;text&quot;}"/>
          <p:cNvSpPr txBox="1"/>
          <p:nvPr/>
        </p:nvSpPr>
        <p:spPr>
          <a:xfrm>
            <a:off x="800100" y="1333500"/>
            <a:ext cx="6286500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自定义构造</a:t>
            </a:r>
            <a:r>
              <a:rPr lang="en-US" sz="105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 + </a:t>
            </a:r>
            <a:r>
              <a:rPr lang="zh-CN" sz="105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注入</a:t>
            </a:r>
            <a:endParaRPr lang="zh-CN" sz="105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06" name="文本框 1305" descr="{&quot;isTemplate&quot;:true,&quot;type&quot;:&quot;text&quot;}"/>
          <p:cNvSpPr txBox="1"/>
          <p:nvPr/>
        </p:nvSpPr>
        <p:spPr>
          <a:xfrm>
            <a:off x="800100" y="1590675"/>
            <a:ext cx="6286500" cy="2571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en-US" sz="1050">
                <a:solidFill>
                  <a:srgbClr val="E2E8F0"/>
                </a:solidFill>
                <a:latin typeface="JetBrains Mono"/>
                <a:ea typeface="JetBrains Mono"/>
              </a:rPr>
              <a:t>@Bean</a:t>
            </a:r>
            <a:endParaRPr lang="en-US" sz="1050">
              <a:solidFill>
                <a:srgbClr val="E2E8F0"/>
              </a:solidFill>
              <a:latin typeface="JetBrains Mono"/>
              <a:ea typeface="JetBrains Mono"/>
            </a:endParaRPr>
          </a:p>
        </p:txBody>
      </p:sp>
      <p:sp>
        <p:nvSpPr>
          <p:cNvPr id="1307" name="文本框 1306" descr="{&quot;isTemplate&quot;:true,&quot;type&quot;:&quot;text&quot;}"/>
          <p:cNvSpPr txBox="1"/>
          <p:nvPr/>
        </p:nvSpPr>
        <p:spPr>
          <a:xfrm>
            <a:off x="800100" y="1847850"/>
            <a:ext cx="6286500" cy="2571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en-US" sz="1050">
                <a:solidFill>
                  <a:srgbClr val="E2E8F0"/>
                </a:solidFill>
                <a:latin typeface="JetBrains Mono"/>
                <a:ea typeface="JetBrains Mono"/>
              </a:rPr>
              <a:t>public class MyBean </a:t>
            </a:r>
            <a:r>
              <a:rPr lang="en-US" sz="1050">
                <a:solidFill>
                  <a:srgbClr val="E2E8F0"/>
                </a:solidFill>
                <a:latin typeface="JetBrains Mono"/>
                <a:ea typeface="JetBrains Mono"/>
              </a:rPr>
              <a:t>{</a:t>
            </a:r>
            <a:endParaRPr lang="en-US" sz="1050">
              <a:solidFill>
                <a:srgbClr val="E2E8F0"/>
              </a:solidFill>
              <a:latin typeface="JetBrains Mono"/>
              <a:ea typeface="JetBrains Mono"/>
            </a:endParaRPr>
          </a:p>
        </p:txBody>
      </p:sp>
      <p:sp>
        <p:nvSpPr>
          <p:cNvPr id="1308" name="文本框 1307" descr="{&quot;isTemplate&quot;:true,&quot;type&quot;:&quot;text&quot;}"/>
          <p:cNvSpPr txBox="1"/>
          <p:nvPr/>
        </p:nvSpPr>
        <p:spPr>
          <a:xfrm>
            <a:off x="800100" y="2105025"/>
            <a:ext cx="6286500" cy="2571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en-US" sz="1050">
                <a:solidFill>
                  <a:srgbClr val="22D3EE"/>
                </a:solidFill>
                <a:latin typeface="JetBrains Mono"/>
                <a:ea typeface="JetBrains Mono"/>
              </a:rPr>
              <a:t>    @Constructor</a:t>
            </a:r>
            <a:endParaRPr lang="en-US" sz="1050">
              <a:solidFill>
                <a:srgbClr val="22D3EE"/>
              </a:solidFill>
              <a:latin typeface="JetBrains Mono"/>
              <a:ea typeface="JetBrains Mono"/>
            </a:endParaRPr>
          </a:p>
        </p:txBody>
      </p:sp>
      <p:sp>
        <p:nvSpPr>
          <p:cNvPr id="1309" name="文本框 1308" descr="{&quot;isTemplate&quot;:true,&quot;type&quot;:&quot;text&quot;}"/>
          <p:cNvSpPr txBox="1"/>
          <p:nvPr/>
        </p:nvSpPr>
        <p:spPr>
          <a:xfrm>
            <a:off x="800100" y="2362200"/>
            <a:ext cx="6286500" cy="2571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en-US" sz="1050">
                <a:solidFill>
                  <a:srgbClr val="22D3EE"/>
                </a:solidFill>
                <a:latin typeface="JetBrains Mono"/>
                <a:ea typeface="JetBrains Mono"/>
              </a:rPr>
              <a:t>    public init(@Value[name: 'mvc_port', default: 8080] port: Int64,</a:t>
            </a:r>
            <a:endParaRPr lang="en-US" sz="1050">
              <a:solidFill>
                <a:srgbClr val="22D3EE"/>
              </a:solidFill>
              <a:latin typeface="JetBrains Mono"/>
              <a:ea typeface="JetBrains Mono"/>
            </a:endParaRPr>
          </a:p>
        </p:txBody>
      </p:sp>
      <p:sp>
        <p:nvSpPr>
          <p:cNvPr id="1310" name="文本框 1309" descr="{&quot;isTemplate&quot;:true,&quot;type&quot;:&quot;text&quot;}"/>
          <p:cNvSpPr txBox="1"/>
          <p:nvPr/>
        </p:nvSpPr>
        <p:spPr>
          <a:xfrm>
            <a:off x="800100" y="2619375"/>
            <a:ext cx="6286500" cy="2571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en-US" sz="1050">
                <a:solidFill>
                  <a:srgbClr val="22D3EE"/>
                </a:solidFill>
                <a:latin typeface="JetBrains Mono"/>
                <a:ea typeface="JetBrains Mono"/>
              </a:rPr>
              <a:t>                @BeanParam[Prefix('user')] svc: UserService) {}</a:t>
            </a:r>
            <a:endParaRPr lang="en-US" sz="1050">
              <a:solidFill>
                <a:srgbClr val="22D3EE"/>
              </a:solidFill>
              <a:latin typeface="JetBrains Mono"/>
              <a:ea typeface="JetBrains Mono"/>
            </a:endParaRPr>
          </a:p>
        </p:txBody>
      </p:sp>
      <p:sp>
        <p:nvSpPr>
          <p:cNvPr id="1311" name="文本框 1310" descr="{&quot;isTemplate&quot;:true,&quot;type&quot;:&quot;text&quot;}"/>
          <p:cNvSpPr txBox="1"/>
          <p:nvPr/>
        </p:nvSpPr>
        <p:spPr>
          <a:xfrm>
            <a:off x="800100" y="2876550"/>
            <a:ext cx="6286500" cy="2571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en-US" sz="1050">
                <a:solidFill>
                  <a:srgbClr val="E2E8F0"/>
                </a:solidFill>
                <a:latin typeface="JetBrains Mono"/>
                <a:ea typeface="JetBrains Mono"/>
              </a:rPr>
              <a:t>}</a:t>
            </a:r>
            <a:endParaRPr lang="en-US" sz="1050">
              <a:solidFill>
                <a:srgbClr val="E2E8F0"/>
              </a:solidFill>
              <a:latin typeface="JetBrains Mono"/>
              <a:ea typeface="JetBrains Mono"/>
            </a:endParaRPr>
          </a:p>
        </p:txBody>
      </p:sp>
      <p:sp>
        <p:nvSpPr>
          <p:cNvPr id="1312" name="矩形 1311"/>
          <p:cNvSpPr/>
          <p:nvPr/>
        </p:nvSpPr>
        <p:spPr>
          <a:xfrm>
            <a:off x="800100" y="3248025"/>
            <a:ext cx="6286500" cy="9525"/>
          </a:xfrm>
          <a:prstGeom prst="rect">
            <a:avLst/>
          </a:prstGeom>
          <a:solidFill>
            <a:srgbClr val="1E293B"/>
          </a:solidFill>
        </p:spPr>
        <p:txBody>
          <a:bodyPr/>
          <a:p/>
        </p:txBody>
      </p:sp>
      <p:sp>
        <p:nvSpPr>
          <p:cNvPr id="1313" name="文本框 1312" descr="{&quot;isTemplate&quot;:true,&quot;type&quot;:&quot;text&quot;}"/>
          <p:cNvSpPr txBox="1"/>
          <p:nvPr/>
        </p:nvSpPr>
        <p:spPr>
          <a:xfrm>
            <a:off x="800100" y="3371850"/>
            <a:ext cx="6286500" cy="2952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80000"/>
              </a:lnSpc>
            </a:pPr>
            <a:r>
              <a:rPr lang="en-US" sz="1050">
                <a:solidFill>
                  <a:srgbClr val="94A3B8"/>
                </a:solidFill>
                <a:latin typeface="JetBrains Mono"/>
                <a:ea typeface="JetBrains Mono"/>
              </a:rPr>
              <a:t>// </a:t>
            </a:r>
            <a:r>
              <a:rPr lang="zh-CN" sz="1050">
                <a:solidFill>
                  <a:srgbClr val="94A3B8"/>
                </a:solidFill>
                <a:latin typeface="JetBrains Mono"/>
                <a:ea typeface="JetBrains Mono"/>
              </a:rPr>
              <a:t>工厂</a:t>
            </a:r>
            <a:r>
              <a:rPr lang="en-US" sz="1050">
                <a:solidFill>
                  <a:srgbClr val="94A3B8"/>
                </a:solidFill>
                <a:latin typeface="JetBrains Mono"/>
                <a:ea typeface="JetBrains Mono"/>
              </a:rPr>
              <a:t> bean</a:t>
            </a:r>
            <a:r>
              <a:rPr lang="zh-CN" sz="1050">
                <a:solidFill>
                  <a:srgbClr val="94A3B8"/>
                </a:solidFill>
                <a:latin typeface="JetBrains Mono"/>
                <a:ea typeface="JetBrains Mono"/>
              </a:rPr>
              <a:t>：</a:t>
            </a:r>
            <a:r>
              <a:rPr lang="en-US" sz="1050">
                <a:solidFill>
                  <a:srgbClr val="94A3B8"/>
                </a:solidFill>
                <a:latin typeface="JetBrains Mono"/>
                <a:ea typeface="JetBrains Mono"/>
              </a:rPr>
              <a:t>get() </a:t>
            </a:r>
            <a:r>
              <a:rPr lang="zh-CN" sz="1050">
                <a:solidFill>
                  <a:srgbClr val="94A3B8"/>
                </a:solidFill>
                <a:latin typeface="JetBrains Mono"/>
                <a:ea typeface="JetBrains Mono"/>
              </a:rPr>
              <a:t>的返回值才是真正的</a:t>
            </a:r>
            <a:r>
              <a:rPr lang="en-US" sz="1050">
                <a:solidFill>
                  <a:srgbClr val="94A3B8"/>
                </a:solidFill>
                <a:latin typeface="JetBrains Mono"/>
                <a:ea typeface="JetBrains Mono"/>
              </a:rPr>
              <a:t> bean</a:t>
            </a:r>
            <a:endParaRPr lang="en-US" sz="1050">
              <a:solidFill>
                <a:srgbClr val="94A3B8"/>
              </a:solidFill>
              <a:latin typeface="JetBrains Mono"/>
              <a:ea typeface="JetBrains Mono"/>
            </a:endParaRPr>
          </a:p>
        </p:txBody>
      </p:sp>
      <p:sp>
        <p:nvSpPr>
          <p:cNvPr id="1314" name="文本框 1313" descr="{&quot;isTemplate&quot;:true,&quot;type&quot;:&quot;text&quot;}"/>
          <p:cNvSpPr txBox="1"/>
          <p:nvPr/>
        </p:nvSpPr>
        <p:spPr>
          <a:xfrm>
            <a:off x="800100" y="3667125"/>
            <a:ext cx="6286500" cy="2571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en-US" sz="1050">
                <a:solidFill>
                  <a:srgbClr val="E2E8F0"/>
                </a:solidFill>
                <a:latin typeface="JetBrains Mono"/>
                <a:ea typeface="JetBrains Mono"/>
              </a:rPr>
              <a:t>public interface FactoryBean {</a:t>
            </a:r>
            <a:endParaRPr lang="en-US" sz="1050">
              <a:solidFill>
                <a:srgbClr val="E2E8F0"/>
              </a:solidFill>
              <a:latin typeface="JetBrains Mono"/>
              <a:ea typeface="JetBrains Mono"/>
            </a:endParaRPr>
          </a:p>
        </p:txBody>
      </p:sp>
      <p:sp>
        <p:nvSpPr>
          <p:cNvPr id="1315" name="文本框 1314" descr="{&quot;isTemplate&quot;:true,&quot;type&quot;:&quot;text&quot;}"/>
          <p:cNvSpPr txBox="1"/>
          <p:nvPr/>
        </p:nvSpPr>
        <p:spPr>
          <a:xfrm>
            <a:off x="800100" y="3924300"/>
            <a:ext cx="6286500" cy="2571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en-US" sz="1050">
                <a:solidFill>
                  <a:srgbClr val="E2E8F0"/>
                </a:solidFill>
                <a:latin typeface="JetBrains Mono"/>
                <a:ea typeface="JetBrains Mono"/>
              </a:rPr>
              <a:t>    static prop typeInfo: TypeInfo</a:t>
            </a:r>
            <a:endParaRPr lang="en-US" sz="1050">
              <a:solidFill>
                <a:srgbClr val="E2E8F0"/>
              </a:solidFill>
              <a:latin typeface="JetBrains Mono"/>
              <a:ea typeface="JetBrains Mono"/>
            </a:endParaRPr>
          </a:p>
        </p:txBody>
      </p:sp>
      <p:sp>
        <p:nvSpPr>
          <p:cNvPr id="1316" name="文本框 1315" descr="{&quot;isTemplate&quot;:true,&quot;type&quot;:&quot;text&quot;}"/>
          <p:cNvSpPr txBox="1"/>
          <p:nvPr/>
        </p:nvSpPr>
        <p:spPr>
          <a:xfrm>
            <a:off x="800100" y="4181475"/>
            <a:ext cx="6286500" cy="2571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en-US" sz="1050">
                <a:solidFill>
                  <a:srgbClr val="E2E8F0"/>
                </a:solidFill>
                <a:latin typeface="JetBrains Mono"/>
                <a:ea typeface="JetBrains Mono"/>
              </a:rPr>
              <a:t>    func get(): Object</a:t>
            </a:r>
            <a:endParaRPr lang="en-US" sz="1050">
              <a:solidFill>
                <a:srgbClr val="E2E8F0"/>
              </a:solidFill>
              <a:latin typeface="JetBrains Mono"/>
              <a:ea typeface="JetBrains Mono"/>
            </a:endParaRPr>
          </a:p>
        </p:txBody>
      </p:sp>
      <p:sp>
        <p:nvSpPr>
          <p:cNvPr id="1317" name="文本框 1316" descr="{&quot;isTemplate&quot;:true,&quot;type&quot;:&quot;text&quot;}"/>
          <p:cNvSpPr txBox="1"/>
          <p:nvPr/>
        </p:nvSpPr>
        <p:spPr>
          <a:xfrm>
            <a:off x="800100" y="4438650"/>
            <a:ext cx="6286500" cy="2571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en-US" sz="1050">
                <a:solidFill>
                  <a:srgbClr val="E2E8F0"/>
                </a:solidFill>
                <a:latin typeface="JetBrains Mono"/>
                <a:ea typeface="JetBrains Mono"/>
              </a:rPr>
              <a:t>}</a:t>
            </a:r>
            <a:endParaRPr lang="en-US" sz="1050">
              <a:solidFill>
                <a:srgbClr val="E2E8F0"/>
              </a:solidFill>
              <a:latin typeface="JetBrains Mono"/>
              <a:ea typeface="JetBrains Mono"/>
            </a:endParaRPr>
          </a:p>
        </p:txBody>
      </p:sp>
      <p:sp>
        <p:nvSpPr>
          <p:cNvPr id="1318" name="矩形 1317"/>
          <p:cNvSpPr/>
          <p:nvPr/>
        </p:nvSpPr>
        <p:spPr>
          <a:xfrm>
            <a:off x="800100" y="4810125"/>
            <a:ext cx="6286500" cy="9525"/>
          </a:xfrm>
          <a:prstGeom prst="rect">
            <a:avLst/>
          </a:prstGeom>
          <a:solidFill>
            <a:srgbClr val="1E293B"/>
          </a:solidFill>
        </p:spPr>
        <p:txBody>
          <a:bodyPr/>
          <a:p/>
        </p:txBody>
      </p:sp>
      <p:sp>
        <p:nvSpPr>
          <p:cNvPr id="1319" name="文本框 1318" descr="{&quot;isTemplate&quot;:true,&quot;type&quot;:&quot;text&quot;}"/>
          <p:cNvSpPr txBox="1"/>
          <p:nvPr/>
        </p:nvSpPr>
        <p:spPr>
          <a:xfrm>
            <a:off x="800100" y="4933950"/>
            <a:ext cx="6286500" cy="2571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en-US" sz="1050">
                <a:solidFill>
                  <a:srgbClr val="E2E8F0"/>
                </a:solidFill>
                <a:latin typeface="JetBrains Mono"/>
                <a:ea typeface="JetBrains Mono"/>
              </a:rPr>
              <a:t>// </a:t>
            </a:r>
            <a:r>
              <a:rPr lang="zh-CN" sz="1050">
                <a:solidFill>
                  <a:srgbClr val="E2E8F0"/>
                </a:solidFill>
                <a:latin typeface="JetBrains Mono"/>
                <a:ea typeface="JetBrains Mono"/>
              </a:rPr>
              <a:t>初始化后回调</a:t>
            </a:r>
            <a:r>
              <a:rPr lang="en-US" sz="1050">
                <a:solidFill>
                  <a:srgbClr val="E2E8F0"/>
                </a:solidFill>
                <a:latin typeface="JetBrains Mono"/>
                <a:ea typeface="JetBrains Mono"/>
              </a:rPr>
              <a:t> / </a:t>
            </a:r>
            <a:r>
              <a:rPr lang="zh-CN" sz="1050">
                <a:solidFill>
                  <a:srgbClr val="E2E8F0"/>
                </a:solidFill>
                <a:latin typeface="JetBrains Mono"/>
                <a:ea typeface="JetBrains Mono"/>
              </a:rPr>
              <a:t>销毁回调</a:t>
            </a:r>
            <a:endParaRPr lang="zh-CN" sz="1050">
              <a:solidFill>
                <a:srgbClr val="E2E8F0"/>
              </a:solidFill>
              <a:latin typeface="JetBrains Mono"/>
              <a:ea typeface="JetBrains Mono"/>
            </a:endParaRPr>
          </a:p>
        </p:txBody>
      </p:sp>
      <p:sp>
        <p:nvSpPr>
          <p:cNvPr id="1320" name="文本框 1319" descr="{&quot;isTemplate&quot;:true,&quot;type&quot;:&quot;text&quot;}"/>
          <p:cNvSpPr txBox="1"/>
          <p:nvPr/>
        </p:nvSpPr>
        <p:spPr>
          <a:xfrm>
            <a:off x="800100" y="5191125"/>
            <a:ext cx="6286500" cy="2571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en-US" sz="1050">
                <a:solidFill>
                  <a:srgbClr val="E2E8F0"/>
                </a:solidFill>
                <a:latin typeface="JetBrains Mono"/>
                <a:ea typeface="JetBrains Mono"/>
              </a:rPr>
              <a:t>public interface PostConstruct { func postConstruct(): Unit }</a:t>
            </a:r>
            <a:endParaRPr lang="en-US" sz="1050">
              <a:solidFill>
                <a:srgbClr val="E2E8F0"/>
              </a:solidFill>
              <a:latin typeface="JetBrains Mono"/>
              <a:ea typeface="JetBrains Mono"/>
            </a:endParaRPr>
          </a:p>
        </p:txBody>
      </p:sp>
      <p:sp>
        <p:nvSpPr>
          <p:cNvPr id="1321" name="文本框 1320" descr="{&quot;isTemplate&quot;:true,&quot;type&quot;:&quot;text&quot;}"/>
          <p:cNvSpPr txBox="1"/>
          <p:nvPr/>
        </p:nvSpPr>
        <p:spPr>
          <a:xfrm>
            <a:off x="800100" y="5448300"/>
            <a:ext cx="6286500" cy="2571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en-US" sz="1050">
                <a:solidFill>
                  <a:srgbClr val="E2E8F0"/>
                </a:solidFill>
                <a:latin typeface="JetBrains Mono"/>
                <a:ea typeface="JetBrains Mono"/>
              </a:rPr>
              <a:t>public interface Destroy { func destroy(): Unit }</a:t>
            </a:r>
            <a:endParaRPr lang="en-US" sz="1050">
              <a:solidFill>
                <a:srgbClr val="E2E8F0"/>
              </a:solidFill>
              <a:latin typeface="JetBrains Mono"/>
              <a:ea typeface="JetBrains Mono"/>
            </a:endParaRPr>
          </a:p>
        </p:txBody>
      </p:sp>
      <p:sp>
        <p:nvSpPr>
          <p:cNvPr id="1322" name="圆角矩形 1321"/>
          <p:cNvSpPr/>
          <p:nvPr/>
        </p:nvSpPr>
        <p:spPr>
          <a:xfrm>
            <a:off x="7467600" y="1143000"/>
            <a:ext cx="3810000" cy="3686175"/>
          </a:xfrm>
          <a:prstGeom prst="roundRect">
            <a:avLst>
              <a:gd name="adj" fmla="val 3101"/>
            </a:avLst>
          </a:prstGeom>
          <a:solidFill>
            <a:srgbClr val="111C2E"/>
          </a:solidFill>
          <a:ln w="12700">
            <a:solidFill>
              <a:srgbClr val="38BDF8"/>
            </a:solidFill>
            <a:prstDash val="solid"/>
          </a:ln>
        </p:spPr>
        <p:txBody>
          <a:bodyPr/>
          <a:p/>
        </p:txBody>
      </p:sp>
      <p:sp>
        <p:nvSpPr>
          <p:cNvPr id="1323" name="文本框 1322" descr="{&quot;isTemplate&quot;:true,&quot;type&quot;:&quot;text&quot;}"/>
          <p:cNvSpPr txBox="1"/>
          <p:nvPr/>
        </p:nvSpPr>
        <p:spPr>
          <a:xfrm>
            <a:off x="7658100" y="1333500"/>
            <a:ext cx="3429000" cy="2000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 b="1">
                <a:solidFill>
                  <a:srgbClr val="38BDF8"/>
                </a:solidFill>
                <a:latin typeface="微软雅黑" panose="020B0503020204020204" charset="-122"/>
                <a:ea typeface="微软雅黑" panose="020B0503020204020204" charset="-122"/>
              </a:rPr>
              <a:t>@Value </a:t>
            </a:r>
            <a:r>
              <a:rPr lang="zh-CN" sz="1275" b="1">
                <a:solidFill>
                  <a:srgbClr val="38BDF8"/>
                </a:solidFill>
                <a:latin typeface="微软雅黑" panose="020B0503020204020204" charset="-122"/>
                <a:ea typeface="微软雅黑" panose="020B0503020204020204" charset="-122"/>
              </a:rPr>
              <a:t>的四个属性</a:t>
            </a:r>
            <a:endParaRPr lang="zh-CN" sz="1275" b="1">
              <a:solidFill>
                <a:srgbClr val="38BDF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24" name="文本框 1323" descr="{&quot;isTemplate&quot;:true,&quot;type&quot;:&quot;text&quot;}"/>
          <p:cNvSpPr txBox="1"/>
          <p:nvPr/>
        </p:nvSpPr>
        <p:spPr>
          <a:xfrm>
            <a:off x="7658100" y="1628775"/>
            <a:ext cx="3429000" cy="2952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80000"/>
              </a:lnSpc>
            </a:pPr>
            <a:r>
              <a:rPr lang="en-US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name</a:t>
            </a:r>
            <a:r>
              <a:rPr lang="zh-CN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　</a:t>
            </a:r>
            <a:r>
              <a:rPr lang="en-US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default</a:t>
            </a:r>
            <a:r>
              <a:rPr lang="zh-CN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　</a:t>
            </a:r>
            <a:r>
              <a:rPr lang="en-US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dateFormat</a:t>
            </a:r>
            <a:r>
              <a:rPr lang="zh-CN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　</a:t>
            </a:r>
            <a:r>
              <a:rPr lang="en-US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delim</a:t>
            </a:r>
            <a:endParaRPr lang="en-US" sz="1050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25" name="文本框 1324" descr="{&quot;isTemplate&quot;:true,&quot;type&quot;:&quot;text&quot;}"/>
          <p:cNvSpPr txBox="1"/>
          <p:nvPr/>
        </p:nvSpPr>
        <p:spPr>
          <a:xfrm>
            <a:off x="7658100" y="2019300"/>
            <a:ext cx="3429000" cy="581025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80000"/>
              </a:lnSpc>
            </a:pPr>
            <a:r>
              <a:rPr lang="en-US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dateFormat </a:t>
            </a:r>
            <a:r>
              <a:rPr lang="zh-CN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把配置里的时间字符串直接转成</a:t>
            </a:r>
            <a:r>
              <a:rPr lang="en-US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DateTime</a:t>
            </a:r>
            <a:r>
              <a:rPr lang="zh-CN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；</a:t>
            </a:r>
            <a:r>
              <a:rPr lang="en-US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delim </a:t>
            </a:r>
            <a:r>
              <a:rPr lang="zh-CN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是数组配置项的分隔符。</a:t>
            </a:r>
            <a:endParaRPr lang="zh-CN" sz="1050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26" name="文本框 1325" descr="{&quot;isTemplate&quot;:true,&quot;type&quot;:&quot;text&quot;}"/>
          <p:cNvSpPr txBox="1"/>
          <p:nvPr/>
        </p:nvSpPr>
        <p:spPr>
          <a:xfrm>
            <a:off x="7658100" y="4057650"/>
            <a:ext cx="3429000" cy="581025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80000"/>
              </a:lnSpc>
            </a:pPr>
            <a:r>
              <a:rPr lang="en-US" sz="1050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@Value </a:t>
            </a:r>
            <a:r>
              <a:rPr lang="zh-CN" sz="1050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与</a:t>
            </a:r>
            <a:r>
              <a:rPr lang="en-US" sz="1050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 @BeanParam </a:t>
            </a:r>
            <a:r>
              <a:rPr lang="zh-CN" sz="1050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只能修饰被</a:t>
            </a:r>
            <a:r>
              <a:rPr lang="en-US" sz="1050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 @Constructor </a:t>
            </a:r>
            <a:r>
              <a:rPr lang="zh-CN" sz="1050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修饰的函数形参，否则编译期报错。</a:t>
            </a:r>
            <a:endParaRPr lang="zh-CN" sz="1050">
              <a:solidFill>
                <a:srgbClr val="F59E0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27" name="圆角矩形 1326"/>
          <p:cNvSpPr/>
          <p:nvPr/>
        </p:nvSpPr>
        <p:spPr>
          <a:xfrm>
            <a:off x="7467600" y="4962525"/>
            <a:ext cx="3810000" cy="1323975"/>
          </a:xfrm>
          <a:prstGeom prst="roundRect">
            <a:avLst>
              <a:gd name="adj" fmla="val 8633"/>
            </a:avLst>
          </a:prstGeom>
          <a:solidFill>
            <a:srgbClr val="111C2E"/>
          </a:solidFill>
          <a:ln w="12700">
            <a:solidFill>
              <a:srgbClr val="1E293B"/>
            </a:solidFill>
            <a:prstDash val="solid"/>
          </a:ln>
        </p:spPr>
        <p:txBody>
          <a:bodyPr/>
          <a:p/>
        </p:txBody>
      </p:sp>
      <p:sp>
        <p:nvSpPr>
          <p:cNvPr id="1328" name="文本框 1327" descr="{&quot;isTemplate&quot;:true,&quot;type&quot;:&quot;text&quot;}"/>
          <p:cNvSpPr txBox="1"/>
          <p:nvPr/>
        </p:nvSpPr>
        <p:spPr>
          <a:xfrm>
            <a:off x="7658100" y="5153025"/>
            <a:ext cx="3429000" cy="2000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两个回调的差别</a:t>
            </a:r>
            <a:endParaRPr lang="zh-CN" sz="1275" b="1">
              <a:solidFill>
                <a:srgbClr val="E2E8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29" name="文本框 1328" descr="{&quot;isTemplate&quot;:true,&quot;type&quot;:&quot;text&quot;}"/>
          <p:cNvSpPr txBox="1"/>
          <p:nvPr/>
        </p:nvSpPr>
        <p:spPr>
          <a:xfrm>
            <a:off x="7658100" y="5448300"/>
            <a:ext cx="3429000" cy="2952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80000"/>
              </a:lnSpc>
            </a:pPr>
            <a:r>
              <a:rPr lang="en-US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prototype </a:t>
            </a:r>
            <a:r>
              <a:rPr lang="zh-CN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需要自己调</a:t>
            </a:r>
            <a:r>
              <a:rPr lang="en-US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destroy</a:t>
            </a:r>
            <a:r>
              <a:rPr lang="zh-CN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。</a:t>
            </a:r>
            <a:endParaRPr lang="zh-CN" sz="1050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30" name="文本框 1329" descr="{&quot;isTemplate&quot;:true,&quot;type&quot;:&quot;text&quot;}"/>
          <p:cNvSpPr txBox="1"/>
          <p:nvPr/>
        </p:nvSpPr>
        <p:spPr>
          <a:xfrm>
            <a:off x="7658100" y="5800725"/>
            <a:ext cx="3429000" cy="2952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80000"/>
              </a:lnSpc>
            </a:pPr>
            <a:r>
              <a:rPr lang="en-US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singleton </a:t>
            </a:r>
            <a:r>
              <a:rPr lang="zh-CN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由</a:t>
            </a:r>
            <a:r>
              <a:rPr lang="en-US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IOC </a:t>
            </a:r>
            <a:r>
              <a:rPr lang="zh-CN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在退出时统一调。</a:t>
            </a:r>
            <a:endParaRPr lang="zh-CN" sz="1050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31" name="任意多边形 1330"/>
          <p:cNvSpPr/>
          <p:nvPr/>
        </p:nvSpPr>
        <p:spPr>
          <a:xfrm>
            <a:off x="609600" y="6286500"/>
            <a:ext cx="10972800" cy="381000"/>
          </a:xfrm>
          <a:custGeom>
            <a:avLst/>
            <a:gdLst/>
            <a:ahLst/>
            <a:cxnLst/>
            <a:pathLst>
              <a:path w="1152" h="40">
                <a:moveTo>
                  <a:pt x="0" y="0"/>
                </a:moveTo>
                <a:lnTo>
                  <a:pt x="1152" y="0"/>
                </a:lnTo>
                <a:lnTo>
                  <a:pt x="1152" y="1"/>
                </a:lnTo>
                <a:lnTo>
                  <a:pt x="0" y="1"/>
                </a:lnTo>
                <a:close/>
              </a:path>
            </a:pathLst>
          </a:custGeom>
          <a:solidFill>
            <a:srgbClr val="1E293B"/>
          </a:solidFill>
        </p:spPr>
        <p:txBody>
          <a:bodyPr/>
          <a:p/>
        </p:txBody>
      </p:sp>
      <p:sp>
        <p:nvSpPr>
          <p:cNvPr id="1332" name="文本框 1331" descr="{&quot;isTemplate&quot;:true,&quot;type&quot;:&quot;text&quot;}"/>
          <p:cNvSpPr txBox="1"/>
          <p:nvPr/>
        </p:nvSpPr>
        <p:spPr>
          <a:xfrm>
            <a:off x="609600" y="6410325"/>
            <a:ext cx="2219325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fountain · 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一站式服务器应用开发工具库</a:t>
            </a:r>
            <a:endParaRPr lang="zh-CN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33" name="文本框 1332" descr="{&quot;isTemplate&quot;:true,&quot;type&quot;:&quot;text&quot;}"/>
          <p:cNvSpPr txBox="1"/>
          <p:nvPr/>
        </p:nvSpPr>
        <p:spPr>
          <a:xfrm>
            <a:off x="11087100" y="6410325"/>
            <a:ext cx="495300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39 / 116</a:t>
            </a:r>
            <a:endParaRPr lang="en-US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35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2" name="矩形 135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220"/>
          </a:solidFill>
        </p:spPr>
        <p:txBody>
          <a:bodyPr/>
          <a:p/>
        </p:txBody>
      </p:sp>
      <p:sp>
        <p:nvSpPr>
          <p:cNvPr id="1353" name="矩形 1352"/>
          <p:cNvSpPr/>
          <p:nvPr/>
        </p:nvSpPr>
        <p:spPr>
          <a:xfrm>
            <a:off x="609600" y="476250"/>
            <a:ext cx="38100" cy="381000"/>
          </a:xfrm>
          <a:prstGeom prst="rect">
            <a:avLst/>
          </a:prstGeom>
          <a:solidFill>
            <a:srgbClr val="38BDF8"/>
          </a:solidFill>
        </p:spPr>
        <p:txBody>
          <a:bodyPr/>
          <a:p/>
        </p:txBody>
      </p:sp>
      <p:sp>
        <p:nvSpPr>
          <p:cNvPr id="1354" name="文本框 1353" descr="{&quot;isTemplate&quot;:true,&quot;type&quot;:&quot;text&quot;}"/>
          <p:cNvSpPr txBox="1"/>
          <p:nvPr/>
        </p:nvSpPr>
        <p:spPr>
          <a:xfrm>
            <a:off x="819150" y="304800"/>
            <a:ext cx="9677400" cy="2095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第</a:t>
            </a: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 6 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章</a:t>
            </a: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 · IOC f_bean · 6.4</a:t>
            </a:r>
            <a:endParaRPr lang="en-US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55" name="文本框 1354" descr="{&quot;isTemplate&quot;:true,&quot;type&quot;:&quot;text&quot;}"/>
          <p:cNvSpPr txBox="1"/>
          <p:nvPr/>
        </p:nvSpPr>
        <p:spPr>
          <a:xfrm>
            <a:off x="819150" y="514350"/>
            <a:ext cx="9677400" cy="5143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2550" b="1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条件装配：</a:t>
            </a:r>
            <a:r>
              <a:rPr lang="en-US" sz="2550" b="1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BeanCondition</a:t>
            </a:r>
            <a:endParaRPr lang="en-US" sz="2550" b="1">
              <a:solidFill>
                <a:srgbClr val="E2E8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56" name="文本框 1355" descr="{&quot;isTemplate&quot;:true,&quot;type&quot;:&quot;text&quot;}"/>
          <p:cNvSpPr txBox="1"/>
          <p:nvPr/>
        </p:nvSpPr>
        <p:spPr>
          <a:xfrm>
            <a:off x="10668000" y="590550"/>
            <a:ext cx="914400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&amp; | ! 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可直接组合</a:t>
            </a:r>
            <a:endParaRPr lang="zh-CN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57" name="圆角矩形 1356"/>
          <p:cNvSpPr/>
          <p:nvPr/>
        </p:nvSpPr>
        <p:spPr>
          <a:xfrm>
            <a:off x="609600" y="1143000"/>
            <a:ext cx="4953000" cy="3314700"/>
          </a:xfrm>
          <a:prstGeom prst="roundRect">
            <a:avLst>
              <a:gd name="adj" fmla="val 3448"/>
            </a:avLst>
          </a:prstGeom>
          <a:solidFill>
            <a:srgbClr val="0B1220"/>
          </a:solidFill>
          <a:ln w="12700">
            <a:solidFill>
              <a:srgbClr val="1E293B"/>
            </a:solidFill>
            <a:prstDash val="solid"/>
          </a:ln>
        </p:spPr>
        <p:txBody>
          <a:bodyPr/>
          <a:p/>
        </p:txBody>
      </p:sp>
      <p:sp>
        <p:nvSpPr>
          <p:cNvPr id="1358" name="文本框 1357" descr="{&quot;isTemplate&quot;:true,&quot;type&quot;:&quot;text&quot;}"/>
          <p:cNvSpPr txBox="1"/>
          <p:nvPr/>
        </p:nvSpPr>
        <p:spPr>
          <a:xfrm>
            <a:off x="800100" y="1333500"/>
            <a:ext cx="4572000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接口</a:t>
            </a:r>
            <a:endParaRPr lang="zh-CN" sz="105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59" name="文本框 1358" descr="{&quot;isTemplate&quot;:true,&quot;type&quot;:&quot;text&quot;}"/>
          <p:cNvSpPr txBox="1"/>
          <p:nvPr/>
        </p:nvSpPr>
        <p:spPr>
          <a:xfrm>
            <a:off x="800100" y="1590675"/>
            <a:ext cx="4572000" cy="2381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en-US" sz="975">
                <a:solidFill>
                  <a:srgbClr val="E2E8F0"/>
                </a:solidFill>
                <a:latin typeface="JetBrains Mono"/>
                <a:ea typeface="JetBrains Mono"/>
              </a:rPr>
              <a:t>public interface BeanCondition &lt;: ToString {</a:t>
            </a:r>
            <a:endParaRPr lang="en-US" sz="975">
              <a:solidFill>
                <a:srgbClr val="E2E8F0"/>
              </a:solidFill>
              <a:latin typeface="JetBrains Mono"/>
              <a:ea typeface="JetBrains Mono"/>
            </a:endParaRPr>
          </a:p>
        </p:txBody>
      </p:sp>
      <p:sp>
        <p:nvSpPr>
          <p:cNvPr id="1360" name="文本框 1359" descr="{&quot;isTemplate&quot;:true,&quot;type&quot;:&quot;text&quot;}"/>
          <p:cNvSpPr txBox="1"/>
          <p:nvPr/>
        </p:nvSpPr>
        <p:spPr>
          <a:xfrm>
            <a:off x="800100" y="1828800"/>
            <a:ext cx="4572000" cy="2381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en-US" sz="975">
                <a:solidFill>
                  <a:srgbClr val="22D3EE"/>
                </a:solidFill>
                <a:latin typeface="JetBrains Mono"/>
                <a:ea typeface="JetBrains Mono"/>
              </a:rPr>
              <a:t>    func on(factory: BeanFactory): Bool</a:t>
            </a:r>
            <a:endParaRPr lang="en-US" sz="975">
              <a:solidFill>
                <a:srgbClr val="22D3EE"/>
              </a:solidFill>
              <a:latin typeface="JetBrains Mono"/>
              <a:ea typeface="JetBrains Mono"/>
            </a:endParaRPr>
          </a:p>
        </p:txBody>
      </p:sp>
      <p:sp>
        <p:nvSpPr>
          <p:cNvPr id="1361" name="文本框 1360" descr="{&quot;isTemplate&quot;:true,&quot;type&quot;:&quot;text&quot;}"/>
          <p:cNvSpPr txBox="1"/>
          <p:nvPr/>
        </p:nvSpPr>
        <p:spPr>
          <a:xfrm>
            <a:off x="800100" y="2066925"/>
            <a:ext cx="4572000" cy="2381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en-US" sz="975">
                <a:solidFill>
                  <a:srgbClr val="22D3EE"/>
                </a:solidFill>
                <a:latin typeface="JetBrains Mono"/>
                <a:ea typeface="JetBrains Mono"/>
              </a:rPr>
              <a:t>    operator const func &amp;(right: BeanCondition): BeanCondition</a:t>
            </a:r>
            <a:endParaRPr lang="en-US" sz="975">
              <a:solidFill>
                <a:srgbClr val="22D3EE"/>
              </a:solidFill>
              <a:latin typeface="JetBrains Mono"/>
              <a:ea typeface="JetBrains Mono"/>
            </a:endParaRPr>
          </a:p>
        </p:txBody>
      </p:sp>
      <p:sp>
        <p:nvSpPr>
          <p:cNvPr id="1362" name="文本框 1361" descr="{&quot;isTemplate&quot;:true,&quot;type&quot;:&quot;text&quot;}"/>
          <p:cNvSpPr txBox="1"/>
          <p:nvPr/>
        </p:nvSpPr>
        <p:spPr>
          <a:xfrm>
            <a:off x="800100" y="2305050"/>
            <a:ext cx="4572000" cy="2381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en-US" sz="975">
                <a:solidFill>
                  <a:srgbClr val="22D3EE"/>
                </a:solidFill>
                <a:latin typeface="JetBrains Mono"/>
                <a:ea typeface="JetBrains Mono"/>
              </a:rPr>
              <a:t>    operator const func |(right: BeanCondition): BeanCondition</a:t>
            </a:r>
            <a:endParaRPr lang="en-US" sz="975">
              <a:solidFill>
                <a:srgbClr val="22D3EE"/>
              </a:solidFill>
              <a:latin typeface="JetBrains Mono"/>
              <a:ea typeface="JetBrains Mono"/>
            </a:endParaRPr>
          </a:p>
        </p:txBody>
      </p:sp>
      <p:sp>
        <p:nvSpPr>
          <p:cNvPr id="1363" name="文本框 1362" descr="{&quot;isTemplate&quot;:true,&quot;type&quot;:&quot;text&quot;}"/>
          <p:cNvSpPr txBox="1"/>
          <p:nvPr/>
        </p:nvSpPr>
        <p:spPr>
          <a:xfrm>
            <a:off x="800100" y="2543175"/>
            <a:ext cx="4572000" cy="2381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en-US" sz="975">
                <a:solidFill>
                  <a:srgbClr val="22D3EE"/>
                </a:solidFill>
                <a:latin typeface="JetBrains Mono"/>
                <a:ea typeface="JetBrains Mono"/>
              </a:rPr>
              <a:t>    operator const func !(): BeanCondition</a:t>
            </a:r>
            <a:endParaRPr lang="en-US" sz="975">
              <a:solidFill>
                <a:srgbClr val="22D3EE"/>
              </a:solidFill>
              <a:latin typeface="JetBrains Mono"/>
              <a:ea typeface="JetBrains Mono"/>
            </a:endParaRPr>
          </a:p>
        </p:txBody>
      </p:sp>
      <p:sp>
        <p:nvSpPr>
          <p:cNvPr id="1364" name="文本框 1363" descr="{&quot;isTemplate&quot;:true,&quot;type&quot;:&quot;text&quot;}"/>
          <p:cNvSpPr txBox="1"/>
          <p:nvPr/>
        </p:nvSpPr>
        <p:spPr>
          <a:xfrm>
            <a:off x="800100" y="2781300"/>
            <a:ext cx="4572000" cy="2381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en-US" sz="975">
                <a:solidFill>
                  <a:srgbClr val="E2E8F0"/>
                </a:solidFill>
                <a:latin typeface="JetBrains Mono"/>
                <a:ea typeface="JetBrains Mono"/>
              </a:rPr>
              <a:t>}</a:t>
            </a:r>
            <a:endParaRPr lang="en-US" sz="975">
              <a:solidFill>
                <a:srgbClr val="E2E8F0"/>
              </a:solidFill>
              <a:latin typeface="JetBrains Mono"/>
              <a:ea typeface="JetBrains Mono"/>
            </a:endParaRPr>
          </a:p>
        </p:txBody>
      </p:sp>
      <p:sp>
        <p:nvSpPr>
          <p:cNvPr id="1365" name="文本框 1364" descr="{&quot;isTemplate&quot;:true,&quot;type&quot;:&quot;text&quot;}"/>
          <p:cNvSpPr txBox="1"/>
          <p:nvPr/>
        </p:nvSpPr>
        <p:spPr>
          <a:xfrm>
            <a:off x="800100" y="3962400"/>
            <a:ext cx="4572000" cy="3048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90000"/>
              </a:lnSpc>
            </a:pPr>
            <a:r>
              <a:rPr lang="zh-CN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条件对象可直接用</a:t>
            </a:r>
            <a:r>
              <a:rPr lang="en-US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&amp; | ! </a:t>
            </a:r>
            <a:r>
              <a:rPr lang="zh-CN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组合，不需要字符串表达式。</a:t>
            </a:r>
            <a:endParaRPr lang="zh-CN" sz="1050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66" name="圆角矩形 1365"/>
          <p:cNvSpPr/>
          <p:nvPr/>
        </p:nvSpPr>
        <p:spPr>
          <a:xfrm>
            <a:off x="5753100" y="1143000"/>
            <a:ext cx="5829300" cy="3314700"/>
          </a:xfrm>
          <a:prstGeom prst="roundRect">
            <a:avLst>
              <a:gd name="adj" fmla="val 3448"/>
            </a:avLst>
          </a:prstGeom>
          <a:solidFill>
            <a:srgbClr val="111C2E"/>
          </a:solidFill>
          <a:ln w="12700">
            <a:solidFill>
              <a:srgbClr val="1E293B"/>
            </a:solidFill>
            <a:prstDash val="solid"/>
          </a:ln>
        </p:spPr>
        <p:txBody>
          <a:bodyPr/>
          <a:p/>
        </p:txBody>
      </p:sp>
      <p:sp>
        <p:nvSpPr>
          <p:cNvPr id="1367" name="文本框 1366" descr="{&quot;isTemplate&quot;:true,&quot;type&quot;:&quot;text&quot;}"/>
          <p:cNvSpPr txBox="1"/>
          <p:nvPr/>
        </p:nvSpPr>
        <p:spPr>
          <a:xfrm>
            <a:off x="5943600" y="1333500"/>
            <a:ext cx="5448300" cy="1905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内置实现</a:t>
            </a:r>
            <a:endParaRPr lang="zh-CN" sz="1200" b="1">
              <a:solidFill>
                <a:srgbClr val="E2E8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68" name="文本框 1367" descr="{&quot;isTemplate&quot;:true,&quot;type&quot;:&quot;text&quot;}"/>
          <p:cNvSpPr txBox="1"/>
          <p:nvPr/>
        </p:nvSpPr>
        <p:spPr>
          <a:xfrm>
            <a:off x="5943600" y="1619250"/>
            <a:ext cx="5448300" cy="2952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80000"/>
              </a:lnSpc>
            </a:pPr>
            <a:r>
              <a:rPr lang="en-US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· NoneBeanCondition —— </a:t>
            </a:r>
            <a:r>
              <a:rPr lang="zh-CN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永远</a:t>
            </a:r>
            <a:r>
              <a:rPr lang="en-US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true</a:t>
            </a:r>
            <a:r>
              <a:rPr lang="zh-CN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（默认）</a:t>
            </a:r>
            <a:endParaRPr lang="zh-CN" sz="1050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69" name="文本框 1368" descr="{&quot;isTemplate&quot;:true,&quot;type&quot;:&quot;text&quot;}"/>
          <p:cNvSpPr txBox="1"/>
          <p:nvPr/>
        </p:nvSpPr>
        <p:spPr>
          <a:xfrm>
            <a:off x="5943600" y="1971675"/>
            <a:ext cx="5448300" cy="2952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80000"/>
              </a:lnSpc>
            </a:pPr>
            <a:r>
              <a:rPr lang="en-US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· AndCond / OrCond / NotCond —— </a:t>
            </a:r>
            <a:r>
              <a:rPr lang="zh-CN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组合器</a:t>
            </a:r>
            <a:endParaRPr lang="zh-CN" sz="1050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70" name="文本框 1369" descr="{&quot;isTemplate&quot;:true,&quot;type&quot;:&quot;text&quot;}"/>
          <p:cNvSpPr txBox="1"/>
          <p:nvPr/>
        </p:nvSpPr>
        <p:spPr>
          <a:xfrm>
            <a:off x="5943600" y="2324100"/>
            <a:ext cx="5448300" cy="2952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80000"/>
              </a:lnSpc>
            </a:pPr>
            <a:r>
              <a:rPr lang="en-US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· ConfCond —— IgnoreConf | Exists(key) | NotExists(key) | Value(key, StringCond)</a:t>
            </a:r>
            <a:endParaRPr lang="en-US" sz="1050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71" name="文本框 1370" descr="{&quot;isTemplate&quot;:true,&quot;type&quot;:&quot;text&quot;}"/>
          <p:cNvSpPr txBox="1"/>
          <p:nvPr/>
        </p:nvSpPr>
        <p:spPr>
          <a:xfrm>
            <a:off x="5943600" y="2676525"/>
            <a:ext cx="5448300" cy="581025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80000"/>
              </a:lnSpc>
            </a:pPr>
            <a:r>
              <a:rPr lang="en-US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· BeanDef —— </a:t>
            </a:r>
            <a:r>
              <a:rPr lang="zh-CN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存在满足条件的</a:t>
            </a:r>
            <a:r>
              <a:rPr lang="en-US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bean </a:t>
            </a:r>
            <a:r>
              <a:rPr lang="zh-CN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定义才成立，可用</a:t>
            </a:r>
            <a:r>
              <a:rPr lang="en-US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beanType / beanName / scope / count </a:t>
            </a:r>
            <a:r>
              <a:rPr lang="zh-CN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组合</a:t>
            </a:r>
            <a:endParaRPr lang="zh-CN" sz="1050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72" name="文本框 1371" descr="{&quot;isTemplate&quot;:true,&quot;type&quot;:&quot;text&quot;}"/>
          <p:cNvSpPr txBox="1"/>
          <p:nvPr/>
        </p:nvSpPr>
        <p:spPr>
          <a:xfrm>
            <a:off x="5943600" y="3971925"/>
            <a:ext cx="5448300" cy="2952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80000"/>
              </a:lnSpc>
            </a:pPr>
            <a:r>
              <a:rPr lang="zh-CN" sz="1050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不满足条件的</a:t>
            </a:r>
            <a:r>
              <a:rPr lang="en-US" sz="1050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 bean </a:t>
            </a:r>
            <a:r>
              <a:rPr lang="zh-CN" sz="1050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在</a:t>
            </a:r>
            <a:r>
              <a:rPr lang="en-US" sz="1050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 afterRegistered() </a:t>
            </a:r>
            <a:r>
              <a:rPr lang="zh-CN" sz="1050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阶段被从</a:t>
            </a:r>
            <a:r>
              <a:rPr lang="en-US" sz="1050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 BeanFactory </a:t>
            </a:r>
            <a:r>
              <a:rPr lang="zh-CN" sz="1050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删除。</a:t>
            </a:r>
            <a:endParaRPr lang="zh-CN" sz="1050">
              <a:solidFill>
                <a:srgbClr val="F59E0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73" name="圆角矩形 1372"/>
          <p:cNvSpPr/>
          <p:nvPr/>
        </p:nvSpPr>
        <p:spPr>
          <a:xfrm>
            <a:off x="609600" y="4610100"/>
            <a:ext cx="10972800" cy="1562100"/>
          </a:xfrm>
          <a:prstGeom prst="roundRect">
            <a:avLst>
              <a:gd name="adj" fmla="val 7317"/>
            </a:avLst>
          </a:prstGeom>
          <a:solidFill>
            <a:srgbClr val="0B1220"/>
          </a:solidFill>
          <a:ln w="12700">
            <a:solidFill>
              <a:srgbClr val="38BDF8"/>
            </a:solidFill>
            <a:prstDash val="solid"/>
          </a:ln>
        </p:spPr>
        <p:txBody>
          <a:bodyPr/>
          <a:p/>
        </p:txBody>
      </p:sp>
      <p:sp>
        <p:nvSpPr>
          <p:cNvPr id="1374" name="文本框 1373" descr="{&quot;isTemplate&quot;:true,&quot;type&quot;:&quot;text&quot;}"/>
          <p:cNvSpPr txBox="1"/>
          <p:nvPr/>
        </p:nvSpPr>
        <p:spPr>
          <a:xfrm>
            <a:off x="762000" y="4762500"/>
            <a:ext cx="10668000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示例：配置里有</a:t>
            </a:r>
            <a:r>
              <a:rPr lang="en-US" sz="105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 postgres</a:t>
            </a:r>
            <a:r>
              <a:rPr lang="zh-CN" sz="105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，且有</a:t>
            </a:r>
            <a:r>
              <a:rPr lang="en-US" sz="105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 Dialect </a:t>
            </a:r>
            <a:r>
              <a:rPr lang="zh-CN" sz="105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实现，这个</a:t>
            </a:r>
            <a:r>
              <a:rPr lang="en-US" sz="105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 bean </a:t>
            </a:r>
            <a:r>
              <a:rPr lang="zh-CN" sz="105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才存在</a:t>
            </a:r>
            <a:endParaRPr lang="zh-CN" sz="105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75" name="文本框 1374" descr="{&quot;isTemplate&quot;:true,&quot;type&quot;:&quot;text&quot;}"/>
          <p:cNvSpPr txBox="1"/>
          <p:nvPr/>
        </p:nvSpPr>
        <p:spPr>
          <a:xfrm>
            <a:off x="762000" y="5000625"/>
            <a:ext cx="10668000" cy="2381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en-US" sz="975">
                <a:solidFill>
                  <a:srgbClr val="22D3EE"/>
                </a:solidFill>
                <a:latin typeface="JetBrains Mono"/>
                <a:ea typeface="JetBrains Mono"/>
              </a:rPr>
              <a:t>@Bean</a:t>
            </a:r>
            <a:endParaRPr lang="en-US" sz="975">
              <a:solidFill>
                <a:srgbClr val="22D3EE"/>
              </a:solidFill>
              <a:latin typeface="JetBrains Mono"/>
              <a:ea typeface="JetBrains Mono"/>
            </a:endParaRPr>
          </a:p>
        </p:txBody>
      </p:sp>
      <p:sp>
        <p:nvSpPr>
          <p:cNvPr id="1376" name="文本框 1375" descr="{&quot;isTemplate&quot;:true,&quot;type&quot;:&quot;text&quot;}"/>
          <p:cNvSpPr txBox="1"/>
          <p:nvPr/>
        </p:nvSpPr>
        <p:spPr>
          <a:xfrm>
            <a:off x="762000" y="5238750"/>
            <a:ext cx="10668000" cy="2381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en-US" sz="975">
                <a:solidFill>
                  <a:srgbClr val="E2E8F0"/>
                </a:solidFill>
                <a:latin typeface="JetBrains Mono"/>
                <a:ea typeface="JetBrains Mono"/>
              </a:rPr>
              <a:t>@BeanMeta[condition: ConfCond.Value('orm_drivers', StringCond.Contains('postgres'))</a:t>
            </a:r>
            <a:endParaRPr lang="en-US" sz="975">
              <a:solidFill>
                <a:srgbClr val="E2E8F0"/>
              </a:solidFill>
              <a:latin typeface="JetBrains Mono"/>
              <a:ea typeface="JetBrains Mono"/>
            </a:endParaRPr>
          </a:p>
        </p:txBody>
      </p:sp>
      <p:sp>
        <p:nvSpPr>
          <p:cNvPr id="1377" name="文本框 1376" descr="{&quot;isTemplate&quot;:true,&quot;type&quot;:&quot;text&quot;}"/>
          <p:cNvSpPr txBox="1"/>
          <p:nvPr/>
        </p:nvSpPr>
        <p:spPr>
          <a:xfrm>
            <a:off x="762000" y="5476875"/>
            <a:ext cx="10668000" cy="2381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en-US" sz="975">
                <a:solidFill>
                  <a:srgbClr val="E2E8F0"/>
                </a:solidFill>
                <a:latin typeface="JetBrains Mono"/>
                <a:ea typeface="JetBrains Mono"/>
              </a:rPr>
              <a:t>                   &amp; BeanDef(beanType: BeanDefType.SubOfOnly('fountain::f_orm.base.Dialect'))]</a:t>
            </a:r>
            <a:endParaRPr lang="en-US" sz="975">
              <a:solidFill>
                <a:srgbClr val="E2E8F0"/>
              </a:solidFill>
              <a:latin typeface="JetBrains Mono"/>
              <a:ea typeface="JetBrains Mono"/>
            </a:endParaRPr>
          </a:p>
        </p:txBody>
      </p:sp>
      <p:sp>
        <p:nvSpPr>
          <p:cNvPr id="1378" name="文本框 1377" descr="{&quot;isTemplate&quot;:true,&quot;type&quot;:&quot;text&quot;}"/>
          <p:cNvSpPr txBox="1"/>
          <p:nvPr/>
        </p:nvSpPr>
        <p:spPr>
          <a:xfrm>
            <a:off x="762000" y="5715000"/>
            <a:ext cx="10668000" cy="2381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en-US" sz="975">
                <a:solidFill>
                  <a:srgbClr val="E2E8F0"/>
                </a:solidFill>
                <a:latin typeface="JetBrains Mono"/>
                <a:ea typeface="JetBrains Mono"/>
              </a:rPr>
              <a:t>public class PostgresOnlyBean {}</a:t>
            </a:r>
            <a:endParaRPr lang="en-US" sz="975">
              <a:solidFill>
                <a:srgbClr val="E2E8F0"/>
              </a:solidFill>
              <a:latin typeface="JetBrains Mono"/>
              <a:ea typeface="JetBrains Mono"/>
            </a:endParaRPr>
          </a:p>
        </p:txBody>
      </p:sp>
      <p:sp>
        <p:nvSpPr>
          <p:cNvPr id="1379" name="任意多边形 1378"/>
          <p:cNvSpPr/>
          <p:nvPr/>
        </p:nvSpPr>
        <p:spPr>
          <a:xfrm>
            <a:off x="609600" y="6286500"/>
            <a:ext cx="10972800" cy="381000"/>
          </a:xfrm>
          <a:custGeom>
            <a:avLst/>
            <a:gdLst/>
            <a:ahLst/>
            <a:cxnLst/>
            <a:pathLst>
              <a:path w="1152" h="40">
                <a:moveTo>
                  <a:pt x="0" y="0"/>
                </a:moveTo>
                <a:lnTo>
                  <a:pt x="1152" y="0"/>
                </a:lnTo>
                <a:lnTo>
                  <a:pt x="1152" y="1"/>
                </a:lnTo>
                <a:lnTo>
                  <a:pt x="0" y="1"/>
                </a:lnTo>
                <a:close/>
              </a:path>
            </a:pathLst>
          </a:custGeom>
          <a:solidFill>
            <a:srgbClr val="1E293B"/>
          </a:solidFill>
        </p:spPr>
        <p:txBody>
          <a:bodyPr/>
          <a:p/>
        </p:txBody>
      </p:sp>
      <p:sp>
        <p:nvSpPr>
          <p:cNvPr id="1380" name="文本框 1379" descr="{&quot;isTemplate&quot;:true,&quot;type&quot;:&quot;text&quot;}"/>
          <p:cNvSpPr txBox="1"/>
          <p:nvPr/>
        </p:nvSpPr>
        <p:spPr>
          <a:xfrm>
            <a:off x="609600" y="6410325"/>
            <a:ext cx="2219325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fountain · 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一站式服务器应用开发工具库</a:t>
            </a:r>
            <a:endParaRPr lang="zh-CN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81" name="文本框 1380" descr="{&quot;isTemplate&quot;:true,&quot;type&quot;:&quot;text&quot;}"/>
          <p:cNvSpPr txBox="1"/>
          <p:nvPr/>
        </p:nvSpPr>
        <p:spPr>
          <a:xfrm>
            <a:off x="11087100" y="6410325"/>
            <a:ext cx="495300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40 / 116</a:t>
            </a:r>
            <a:endParaRPr lang="en-US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38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3" name="矩形 138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220"/>
          </a:solidFill>
        </p:spPr>
        <p:txBody>
          <a:bodyPr/>
          <a:p/>
        </p:txBody>
      </p:sp>
      <p:sp>
        <p:nvSpPr>
          <p:cNvPr id="1384" name="矩形 1383"/>
          <p:cNvSpPr/>
          <p:nvPr/>
        </p:nvSpPr>
        <p:spPr>
          <a:xfrm>
            <a:off x="609600" y="476250"/>
            <a:ext cx="38100" cy="381000"/>
          </a:xfrm>
          <a:prstGeom prst="rect">
            <a:avLst/>
          </a:prstGeom>
          <a:solidFill>
            <a:srgbClr val="38BDF8"/>
          </a:solidFill>
        </p:spPr>
        <p:txBody>
          <a:bodyPr/>
          <a:p/>
        </p:txBody>
      </p:sp>
      <p:sp>
        <p:nvSpPr>
          <p:cNvPr id="1385" name="文本框 1384" descr="{&quot;isTemplate&quot;:true,&quot;type&quot;:&quot;text&quot;}"/>
          <p:cNvSpPr txBox="1"/>
          <p:nvPr/>
        </p:nvSpPr>
        <p:spPr>
          <a:xfrm>
            <a:off x="819150" y="304800"/>
            <a:ext cx="8858250" cy="2095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第</a:t>
            </a: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 6 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章</a:t>
            </a: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 · IOC f_bean · 6.5 / 6.6</a:t>
            </a:r>
            <a:endParaRPr lang="en-US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86" name="文本框 1385" descr="{&quot;isTemplate&quot;:true,&quot;type&quot;:&quot;text&quot;}"/>
          <p:cNvSpPr txBox="1"/>
          <p:nvPr/>
        </p:nvSpPr>
        <p:spPr>
          <a:xfrm>
            <a:off x="819150" y="514350"/>
            <a:ext cx="8858250" cy="5143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2550" b="1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在</a:t>
            </a:r>
            <a:r>
              <a:rPr lang="en-US" sz="2550" b="1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 fdemo </a:t>
            </a:r>
            <a:r>
              <a:rPr lang="zh-CN" sz="2550" b="1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里看</a:t>
            </a:r>
            <a:r>
              <a:rPr lang="en-US" sz="2550" b="1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 IOC</a:t>
            </a:r>
            <a:endParaRPr lang="en-US" sz="2550" b="1">
              <a:solidFill>
                <a:srgbClr val="E2E8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87" name="文本框 1386" descr="{&quot;isTemplate&quot;:true,&quot;type&quot;:&quot;text&quot;}"/>
          <p:cNvSpPr txBox="1"/>
          <p:nvPr/>
        </p:nvSpPr>
        <p:spPr>
          <a:xfrm>
            <a:off x="9848850" y="590550"/>
            <a:ext cx="1733550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@Configuration + @BeanInit</a:t>
            </a:r>
            <a:endParaRPr lang="en-US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88" name="圆角矩形 1387"/>
          <p:cNvSpPr/>
          <p:nvPr/>
        </p:nvSpPr>
        <p:spPr>
          <a:xfrm>
            <a:off x="609600" y="1143000"/>
            <a:ext cx="6972300" cy="3105150"/>
          </a:xfrm>
          <a:prstGeom prst="roundRect">
            <a:avLst>
              <a:gd name="adj" fmla="val 3681"/>
            </a:avLst>
          </a:prstGeom>
          <a:solidFill>
            <a:srgbClr val="0B1220"/>
          </a:solidFill>
          <a:ln w="12700">
            <a:solidFill>
              <a:srgbClr val="1E293B"/>
            </a:solidFill>
            <a:prstDash val="solid"/>
          </a:ln>
        </p:spPr>
        <p:txBody>
          <a:bodyPr/>
          <a:p/>
        </p:txBody>
      </p:sp>
      <p:sp>
        <p:nvSpPr>
          <p:cNvPr id="1389" name="文本框 1388" descr="{&quot;isTemplate&quot;:true,&quot;type&quot;:&quot;text&quot;}"/>
          <p:cNvSpPr txBox="1"/>
          <p:nvPr/>
        </p:nvSpPr>
        <p:spPr>
          <a:xfrm>
            <a:off x="800100" y="1333500"/>
            <a:ext cx="6591300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user/src/controller/UserController.cj</a:t>
            </a:r>
            <a:endParaRPr lang="en-US" sz="105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90" name="文本框 1389" descr="{&quot;isTemplate&quot;:true,&quot;type&quot;:&quot;text&quot;}"/>
          <p:cNvSpPr txBox="1"/>
          <p:nvPr/>
        </p:nvSpPr>
        <p:spPr>
          <a:xfrm>
            <a:off x="800100" y="1590675"/>
            <a:ext cx="6591300" cy="2571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en-US" sz="1050">
                <a:solidFill>
                  <a:srgbClr val="E2E8F0"/>
                </a:solidFill>
                <a:latin typeface="JetBrains Mono"/>
                <a:ea typeface="JetBrains Mono"/>
              </a:rPr>
              <a:t>@Controller</a:t>
            </a:r>
            <a:endParaRPr lang="en-US" sz="1050">
              <a:solidFill>
                <a:srgbClr val="E2E8F0"/>
              </a:solidFill>
              <a:latin typeface="JetBrains Mono"/>
              <a:ea typeface="JetBrains Mono"/>
            </a:endParaRPr>
          </a:p>
        </p:txBody>
      </p:sp>
      <p:sp>
        <p:nvSpPr>
          <p:cNvPr id="1391" name="文本框 1390" descr="{&quot;isTemplate&quot;:true,&quot;type&quot;:&quot;text&quot;}"/>
          <p:cNvSpPr txBox="1"/>
          <p:nvPr/>
        </p:nvSpPr>
        <p:spPr>
          <a:xfrm>
            <a:off x="800100" y="1847850"/>
            <a:ext cx="6591300" cy="2571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en-US" sz="1050">
                <a:solidFill>
                  <a:srgbClr val="E2E8F0"/>
                </a:solidFill>
                <a:latin typeface="JetBrains Mono"/>
                <a:ea typeface="JetBrains Mono"/>
              </a:rPr>
              <a:t>public class UserController </a:t>
            </a:r>
            <a:r>
              <a:rPr lang="en-US" sz="1050">
                <a:solidFill>
                  <a:srgbClr val="E2E8F0"/>
                </a:solidFill>
                <a:latin typeface="JetBrains Mono"/>
                <a:ea typeface="JetBrains Mono"/>
              </a:rPr>
              <a:t>{</a:t>
            </a:r>
            <a:endParaRPr lang="en-US" sz="1050">
              <a:solidFill>
                <a:srgbClr val="E2E8F0"/>
              </a:solidFill>
              <a:latin typeface="JetBrains Mono"/>
              <a:ea typeface="JetBrains Mono"/>
            </a:endParaRPr>
          </a:p>
        </p:txBody>
      </p:sp>
      <p:sp>
        <p:nvSpPr>
          <p:cNvPr id="1392" name="文本框 1391" descr="{&quot;isTemplate&quot;:true,&quot;type&quot;:&quot;text&quot;}"/>
          <p:cNvSpPr txBox="1"/>
          <p:nvPr/>
        </p:nvSpPr>
        <p:spPr>
          <a:xfrm>
            <a:off x="800100" y="2105025"/>
            <a:ext cx="6591300" cy="2571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en-US" sz="1050">
                <a:solidFill>
                  <a:srgbClr val="38BDF8"/>
                </a:solidFill>
                <a:latin typeface="JetBrains Mono"/>
                <a:ea typeface="JetBrains Mono"/>
              </a:rPr>
              <a:t>    private let userService = lookup&lt;UserService&gt;()</a:t>
            </a:r>
            <a:endParaRPr lang="en-US" sz="1050">
              <a:solidFill>
                <a:srgbClr val="38BDF8"/>
              </a:solidFill>
              <a:latin typeface="JetBrains Mono"/>
              <a:ea typeface="JetBrains Mono"/>
            </a:endParaRPr>
          </a:p>
        </p:txBody>
      </p:sp>
      <p:sp>
        <p:nvSpPr>
          <p:cNvPr id="1393" name="文本框 1392" descr="{&quot;isTemplate&quot;:true,&quot;type&quot;:&quot;text&quot;}"/>
          <p:cNvSpPr txBox="1"/>
          <p:nvPr/>
        </p:nvSpPr>
        <p:spPr>
          <a:xfrm>
            <a:off x="800100" y="2362200"/>
            <a:ext cx="6591300" cy="2952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80000"/>
              </a:lnSpc>
            </a:pPr>
            <a:r>
              <a:rPr lang="en-US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   // </a:t>
            </a:r>
            <a:r>
              <a:rPr lang="zh-CN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拿到的是接口类型的</a:t>
            </a:r>
            <a:r>
              <a:rPr lang="en-US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bean</a:t>
            </a:r>
            <a:r>
              <a:rPr lang="zh-CN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，实现类是</a:t>
            </a:r>
            <a:r>
              <a:rPr lang="en-US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UserServiceImpl</a:t>
            </a:r>
            <a:endParaRPr lang="en-US" sz="1050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94" name="文本框 1393" descr="{&quot;isTemplate&quot;:true,&quot;type&quot;:&quot;text&quot;}"/>
          <p:cNvSpPr txBox="1"/>
          <p:nvPr/>
        </p:nvSpPr>
        <p:spPr>
          <a:xfrm>
            <a:off x="800100" y="2657475"/>
            <a:ext cx="6591300" cy="2571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en-US" sz="1050">
                <a:solidFill>
                  <a:srgbClr val="E2E8F0"/>
                </a:solidFill>
                <a:latin typeface="JetBrains Mono"/>
                <a:ea typeface="JetBrains Mono"/>
              </a:rPr>
              <a:t>}</a:t>
            </a:r>
            <a:endParaRPr lang="en-US" sz="1050">
              <a:solidFill>
                <a:srgbClr val="E2E8F0"/>
              </a:solidFill>
              <a:latin typeface="JetBrains Mono"/>
              <a:ea typeface="JetBrains Mono"/>
            </a:endParaRPr>
          </a:p>
        </p:txBody>
      </p:sp>
      <p:sp>
        <p:nvSpPr>
          <p:cNvPr id="1395" name="矩形 1394"/>
          <p:cNvSpPr/>
          <p:nvPr/>
        </p:nvSpPr>
        <p:spPr>
          <a:xfrm>
            <a:off x="800100" y="3009900"/>
            <a:ext cx="6591300" cy="9525"/>
          </a:xfrm>
          <a:prstGeom prst="rect">
            <a:avLst/>
          </a:prstGeom>
          <a:solidFill>
            <a:srgbClr val="1E293B"/>
          </a:solidFill>
        </p:spPr>
        <p:txBody>
          <a:bodyPr/>
          <a:p/>
        </p:txBody>
      </p:sp>
      <p:sp>
        <p:nvSpPr>
          <p:cNvPr id="1396" name="文本框 1395" descr="{&quot;isTemplate&quot;:true,&quot;type&quot;:&quot;text&quot;}"/>
          <p:cNvSpPr txBox="1"/>
          <p:nvPr/>
        </p:nvSpPr>
        <p:spPr>
          <a:xfrm>
            <a:off x="800100" y="3114675"/>
            <a:ext cx="6591300" cy="2571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en-US" sz="1050">
                <a:solidFill>
                  <a:srgbClr val="E2E8F0"/>
                </a:solidFill>
                <a:latin typeface="JetBrains Mono"/>
                <a:ea typeface="JetBrains Mono"/>
              </a:rPr>
              <a:t>@WeavedController</a:t>
            </a:r>
            <a:endParaRPr lang="en-US" sz="1050">
              <a:solidFill>
                <a:srgbClr val="E2E8F0"/>
              </a:solidFill>
              <a:latin typeface="JetBrains Mono"/>
              <a:ea typeface="JetBrains Mono"/>
            </a:endParaRPr>
          </a:p>
        </p:txBody>
      </p:sp>
      <p:sp>
        <p:nvSpPr>
          <p:cNvPr id="1397" name="文本框 1396" descr="{&quot;isTemplate&quot;:true,&quot;type&quot;:&quot;text&quot;}"/>
          <p:cNvSpPr txBox="1"/>
          <p:nvPr/>
        </p:nvSpPr>
        <p:spPr>
          <a:xfrm>
            <a:off x="800100" y="3371850"/>
            <a:ext cx="6591300" cy="2571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en-US" sz="1050">
                <a:solidFill>
                  <a:srgbClr val="F59E0B"/>
                </a:solidFill>
                <a:latin typeface="JetBrains Mono"/>
                <a:ea typeface="JetBrains Mono"/>
              </a:rPr>
              <a:t>@BeanMeta[scope: BeanScope.prototype]   // </a:t>
            </a:r>
            <a:r>
              <a:rPr lang="zh-CN" sz="1050">
                <a:solidFill>
                  <a:srgbClr val="F59E0B"/>
                </a:solidFill>
                <a:latin typeface="JetBrains Mono"/>
                <a:ea typeface="JetBrains Mono"/>
              </a:rPr>
              <a:t>必须写在</a:t>
            </a:r>
            <a:r>
              <a:rPr lang="en-US" sz="1050">
                <a:solidFill>
                  <a:srgbClr val="F59E0B"/>
                </a:solidFill>
                <a:latin typeface="JetBrains Mono"/>
                <a:ea typeface="JetBrains Mono"/>
              </a:rPr>
              <a:t> @WeavedController </a:t>
            </a:r>
            <a:r>
              <a:rPr lang="zh-CN" sz="1050">
                <a:solidFill>
                  <a:srgbClr val="F59E0B"/>
                </a:solidFill>
                <a:latin typeface="JetBrains Mono"/>
                <a:ea typeface="JetBrains Mono"/>
              </a:rPr>
              <a:t>下面</a:t>
            </a:r>
            <a:endParaRPr lang="zh-CN" sz="1050">
              <a:solidFill>
                <a:srgbClr val="F59E0B"/>
              </a:solidFill>
              <a:latin typeface="JetBrains Mono"/>
              <a:ea typeface="JetBrains Mono"/>
            </a:endParaRPr>
          </a:p>
        </p:txBody>
      </p:sp>
      <p:sp>
        <p:nvSpPr>
          <p:cNvPr id="1398" name="文本框 1397" descr="{&quot;isTemplate&quot;:true,&quot;type&quot;:&quot;text&quot;}"/>
          <p:cNvSpPr txBox="1"/>
          <p:nvPr/>
        </p:nvSpPr>
        <p:spPr>
          <a:xfrm>
            <a:off x="800100" y="3629025"/>
            <a:ext cx="6591300" cy="2571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en-US" sz="1050">
                <a:solidFill>
                  <a:srgbClr val="E2E8F0"/>
                </a:solidFill>
                <a:latin typeface="JetBrains Mono"/>
                <a:ea typeface="JetBrains Mono"/>
              </a:rPr>
              <a:t>public class CurrentUserController </a:t>
            </a:r>
            <a:r>
              <a:rPr lang="en-US" sz="1050">
                <a:solidFill>
                  <a:srgbClr val="E2E8F0"/>
                </a:solidFill>
                <a:latin typeface="JetBrains Mono"/>
                <a:ea typeface="JetBrains Mono"/>
              </a:rPr>
              <a:t>{</a:t>
            </a:r>
            <a:r>
              <a:rPr lang="en-US" sz="1050">
                <a:solidFill>
                  <a:srgbClr val="E2E8F0"/>
                </a:solidFill>
                <a:latin typeface="JetBrains Mono"/>
                <a:ea typeface="JetBrains Mono"/>
              </a:rPr>
              <a:t> ... </a:t>
            </a:r>
            <a:r>
              <a:rPr lang="en-US" sz="1050">
                <a:solidFill>
                  <a:srgbClr val="E2E8F0"/>
                </a:solidFill>
                <a:latin typeface="JetBrains Mono"/>
                <a:ea typeface="JetBrains Mono"/>
              </a:rPr>
              <a:t>}</a:t>
            </a:r>
            <a:endParaRPr lang="en-US" sz="1050">
              <a:solidFill>
                <a:srgbClr val="E2E8F0"/>
              </a:solidFill>
              <a:latin typeface="JetBrains Mono"/>
              <a:ea typeface="JetBrains Mono"/>
            </a:endParaRPr>
          </a:p>
        </p:txBody>
      </p:sp>
      <p:sp>
        <p:nvSpPr>
          <p:cNvPr id="1399" name="圆角矩形 1398"/>
          <p:cNvSpPr/>
          <p:nvPr/>
        </p:nvSpPr>
        <p:spPr>
          <a:xfrm>
            <a:off x="609600" y="4381500"/>
            <a:ext cx="6972300" cy="1905000"/>
          </a:xfrm>
          <a:prstGeom prst="roundRect">
            <a:avLst>
              <a:gd name="adj" fmla="val 6000"/>
            </a:avLst>
          </a:prstGeom>
          <a:solidFill>
            <a:srgbClr val="111C2E"/>
          </a:solidFill>
          <a:ln w="12700">
            <a:solidFill>
              <a:srgbClr val="1E293B"/>
            </a:solidFill>
            <a:prstDash val="solid"/>
          </a:ln>
        </p:spPr>
        <p:txBody>
          <a:bodyPr/>
          <a:p/>
        </p:txBody>
      </p:sp>
      <p:sp>
        <p:nvSpPr>
          <p:cNvPr id="1400" name="文本框 1399" descr="{&quot;isTemplate&quot;:true,&quot;type&quot;:&quot;text&quot;}"/>
          <p:cNvSpPr txBox="1"/>
          <p:nvPr/>
        </p:nvSpPr>
        <p:spPr>
          <a:xfrm>
            <a:off x="800100" y="4572000"/>
            <a:ext cx="6591300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@Configuration + @BeanInit</a:t>
            </a:r>
            <a:endParaRPr lang="en-US" sz="105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01" name="文本框 1400" descr="{&quot;isTemplate&quot;:true,&quot;type&quot;:&quot;text&quot;}"/>
          <p:cNvSpPr txBox="1"/>
          <p:nvPr/>
        </p:nvSpPr>
        <p:spPr>
          <a:xfrm>
            <a:off x="800100" y="4810125"/>
            <a:ext cx="6591300" cy="2571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en-US" sz="1050">
                <a:solidFill>
                  <a:srgbClr val="E2E8F0"/>
                </a:solidFill>
                <a:latin typeface="JetBrains Mono"/>
                <a:ea typeface="JetBrains Mono"/>
              </a:rPr>
              <a:t>@Configuration        // </a:t>
            </a:r>
            <a:r>
              <a:rPr lang="zh-CN" sz="1050">
                <a:solidFill>
                  <a:srgbClr val="E2E8F0"/>
                </a:solidFill>
                <a:latin typeface="JetBrains Mono"/>
                <a:ea typeface="JetBrains Mono"/>
              </a:rPr>
              <a:t>这个类本身不被</a:t>
            </a:r>
            <a:r>
              <a:rPr lang="en-US" sz="1050">
                <a:solidFill>
                  <a:srgbClr val="E2E8F0"/>
                </a:solidFill>
                <a:latin typeface="JetBrains Mono"/>
                <a:ea typeface="JetBrains Mono"/>
              </a:rPr>
              <a:t> IOC </a:t>
            </a:r>
            <a:r>
              <a:rPr lang="zh-CN" sz="1050">
                <a:solidFill>
                  <a:srgbClr val="E2E8F0"/>
                </a:solidFill>
                <a:latin typeface="JetBrains Mono"/>
                <a:ea typeface="JetBrains Mono"/>
              </a:rPr>
              <a:t>管理</a:t>
            </a:r>
            <a:endParaRPr lang="zh-CN" sz="1050">
              <a:solidFill>
                <a:srgbClr val="E2E8F0"/>
              </a:solidFill>
              <a:latin typeface="JetBrains Mono"/>
              <a:ea typeface="JetBrains Mono"/>
            </a:endParaRPr>
          </a:p>
        </p:txBody>
      </p:sp>
      <p:sp>
        <p:nvSpPr>
          <p:cNvPr id="1402" name="文本框 1401" descr="{&quot;isTemplate&quot;:true,&quot;type&quot;:&quot;text&quot;}"/>
          <p:cNvSpPr txBox="1"/>
          <p:nvPr/>
        </p:nvSpPr>
        <p:spPr>
          <a:xfrm>
            <a:off x="800100" y="5067300"/>
            <a:ext cx="6591300" cy="2571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en-US" sz="1050">
                <a:solidFill>
                  <a:srgbClr val="E2E8F0"/>
                </a:solidFill>
                <a:latin typeface="JetBrains Mono"/>
                <a:ea typeface="JetBrains Mono"/>
              </a:rPr>
              <a:t>public class AppConfig </a:t>
            </a:r>
            <a:r>
              <a:rPr lang="en-US" sz="1050">
                <a:solidFill>
                  <a:srgbClr val="E2E8F0"/>
                </a:solidFill>
                <a:latin typeface="JetBrains Mono"/>
                <a:ea typeface="JetBrains Mono"/>
              </a:rPr>
              <a:t>{</a:t>
            </a:r>
            <a:endParaRPr lang="en-US" sz="1050">
              <a:solidFill>
                <a:srgbClr val="E2E8F0"/>
              </a:solidFill>
              <a:latin typeface="JetBrains Mono"/>
              <a:ea typeface="JetBrains Mono"/>
            </a:endParaRPr>
          </a:p>
        </p:txBody>
      </p:sp>
      <p:sp>
        <p:nvSpPr>
          <p:cNvPr id="1403" name="文本框 1402" descr="{&quot;isTemplate&quot;:true,&quot;type&quot;:&quot;text&quot;}"/>
          <p:cNvSpPr txBox="1"/>
          <p:nvPr/>
        </p:nvSpPr>
        <p:spPr>
          <a:xfrm>
            <a:off x="800100" y="5324475"/>
            <a:ext cx="6591300" cy="2571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en-US" sz="1050">
                <a:solidFill>
                  <a:srgbClr val="38BDF8"/>
                </a:solidFill>
                <a:latin typeface="JetBrains Mono"/>
                <a:ea typeface="JetBrains Mono"/>
              </a:rPr>
              <a:t>    @BeanInit</a:t>
            </a:r>
            <a:endParaRPr lang="en-US" sz="1050">
              <a:solidFill>
                <a:srgbClr val="38BDF8"/>
              </a:solidFill>
              <a:latin typeface="JetBrains Mono"/>
              <a:ea typeface="JetBrains Mono"/>
            </a:endParaRPr>
          </a:p>
        </p:txBody>
      </p:sp>
      <p:sp>
        <p:nvSpPr>
          <p:cNvPr id="1404" name="文本框 1403" descr="{&quot;isTemplate&quot;:true,&quot;type&quot;:&quot;text&quot;}"/>
          <p:cNvSpPr txBox="1"/>
          <p:nvPr/>
        </p:nvSpPr>
        <p:spPr>
          <a:xfrm>
            <a:off x="800100" y="5581650"/>
            <a:ext cx="6591300" cy="2571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en-US" sz="1050">
                <a:solidFill>
                  <a:srgbClr val="38BDF8"/>
                </a:solidFill>
                <a:latin typeface="JetBrains Mono"/>
                <a:ea typeface="JetBrains Mono"/>
              </a:rPr>
              <a:t>    public func initSomething(): Unit { ... }</a:t>
            </a:r>
            <a:endParaRPr lang="en-US" sz="1050">
              <a:solidFill>
                <a:srgbClr val="38BDF8"/>
              </a:solidFill>
              <a:latin typeface="JetBrains Mono"/>
              <a:ea typeface="JetBrains Mono"/>
            </a:endParaRPr>
          </a:p>
        </p:txBody>
      </p:sp>
      <p:sp>
        <p:nvSpPr>
          <p:cNvPr id="1405" name="文本框 1404" descr="{&quot;isTemplate&quot;:true,&quot;type&quot;:&quot;text&quot;}"/>
          <p:cNvSpPr txBox="1"/>
          <p:nvPr/>
        </p:nvSpPr>
        <p:spPr>
          <a:xfrm>
            <a:off x="800100" y="5838825"/>
            <a:ext cx="6591300" cy="2571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en-US" sz="1050">
                <a:solidFill>
                  <a:srgbClr val="E2E8F0"/>
                </a:solidFill>
                <a:latin typeface="JetBrains Mono"/>
                <a:ea typeface="JetBrains Mono"/>
              </a:rPr>
              <a:t>}</a:t>
            </a:r>
            <a:endParaRPr lang="en-US" sz="1050">
              <a:solidFill>
                <a:srgbClr val="E2E8F0"/>
              </a:solidFill>
              <a:latin typeface="JetBrains Mono"/>
              <a:ea typeface="JetBrains Mono"/>
            </a:endParaRPr>
          </a:p>
        </p:txBody>
      </p:sp>
      <p:sp>
        <p:nvSpPr>
          <p:cNvPr id="1406" name="圆角矩形 1405"/>
          <p:cNvSpPr/>
          <p:nvPr/>
        </p:nvSpPr>
        <p:spPr>
          <a:xfrm>
            <a:off x="7772400" y="1143000"/>
            <a:ext cx="3810000" cy="2647950"/>
          </a:xfrm>
          <a:prstGeom prst="roundRect">
            <a:avLst>
              <a:gd name="adj" fmla="val 4317"/>
            </a:avLst>
          </a:prstGeom>
          <a:solidFill>
            <a:srgbClr val="111C2E"/>
          </a:solidFill>
          <a:ln w="12700">
            <a:solidFill>
              <a:srgbClr val="38BDF8"/>
            </a:solidFill>
            <a:prstDash val="solid"/>
          </a:ln>
        </p:spPr>
        <p:txBody>
          <a:bodyPr/>
          <a:p/>
        </p:txBody>
      </p:sp>
      <p:sp>
        <p:nvSpPr>
          <p:cNvPr id="1407" name="文本框 1406" descr="{&quot;isTemplate&quot;:true,&quot;type&quot;:&quot;text&quot;}"/>
          <p:cNvSpPr txBox="1"/>
          <p:nvPr/>
        </p:nvSpPr>
        <p:spPr>
          <a:xfrm>
            <a:off x="7962900" y="1333500"/>
            <a:ext cx="3429000" cy="2000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38BDF8"/>
                </a:solidFill>
                <a:latin typeface="微软雅黑" panose="020B0503020204020204" charset="-122"/>
                <a:ea typeface="微软雅黑" panose="020B0503020204020204" charset="-122"/>
              </a:rPr>
              <a:t>按接口取，天然支持</a:t>
            </a:r>
            <a:endParaRPr lang="zh-CN" sz="1275" b="1">
              <a:solidFill>
                <a:srgbClr val="38BDF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08" name="文本框 1407" descr="{&quot;isTemplate&quot;:true,&quot;type&quot;:&quot;text&quot;}"/>
          <p:cNvSpPr txBox="1"/>
          <p:nvPr/>
        </p:nvSpPr>
        <p:spPr>
          <a:xfrm>
            <a:off x="7962900" y="1628775"/>
            <a:ext cx="3429000" cy="581025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80000"/>
              </a:lnSpc>
            </a:pPr>
            <a:r>
              <a:rPr lang="en-US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IOC </a:t>
            </a:r>
            <a:r>
              <a:rPr lang="zh-CN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用「实现的接口」建了索引，所以</a:t>
            </a:r>
            <a:r>
              <a:rPr lang="en-US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lookup </a:t>
            </a:r>
            <a:r>
              <a:rPr lang="zh-CN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泛型</a:t>
            </a:r>
            <a:r>
              <a:rPr lang="en-US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UserService </a:t>
            </a:r>
            <a:r>
              <a:rPr lang="zh-CN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能拿到</a:t>
            </a:r>
            <a:r>
              <a:rPr lang="en-US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UserServiceImpl</a:t>
            </a:r>
            <a:r>
              <a:rPr lang="zh-CN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。</a:t>
            </a:r>
            <a:endParaRPr lang="zh-CN" sz="1050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09" name="文本框 1408" descr="{&quot;isTemplate&quot;:true,&quot;type&quot;:&quot;text&quot;}"/>
          <p:cNvSpPr txBox="1"/>
          <p:nvPr/>
        </p:nvSpPr>
        <p:spPr>
          <a:xfrm>
            <a:off x="7962900" y="2305050"/>
            <a:ext cx="3429000" cy="581025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80000"/>
              </a:lnSpc>
            </a:pPr>
            <a:r>
              <a:rPr lang="zh-CN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同一个接口有多个实现时，用</a:t>
            </a:r>
            <a:r>
              <a:rPr lang="en-US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BeanMeta </a:t>
            </a:r>
            <a:r>
              <a:rPr lang="zh-CN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的</a:t>
            </a:r>
            <a:r>
              <a:rPr lang="en-US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primary </a:t>
            </a:r>
            <a:r>
              <a:rPr lang="zh-CN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和</a:t>
            </a:r>
            <a:r>
              <a:rPr lang="en-US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order </a:t>
            </a:r>
            <a:r>
              <a:rPr lang="zh-CN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决定取哪一个。</a:t>
            </a:r>
            <a:endParaRPr lang="zh-CN" sz="1050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10" name="圆角矩形 1409"/>
          <p:cNvSpPr/>
          <p:nvPr/>
        </p:nvSpPr>
        <p:spPr>
          <a:xfrm>
            <a:off x="7772400" y="3924300"/>
            <a:ext cx="3810000" cy="2362200"/>
          </a:xfrm>
          <a:prstGeom prst="roundRect">
            <a:avLst>
              <a:gd name="adj" fmla="val 4839"/>
            </a:avLst>
          </a:prstGeom>
          <a:solidFill>
            <a:srgbClr val="111C2E"/>
          </a:solidFill>
          <a:ln w="12700">
            <a:solidFill>
              <a:srgbClr val="F59E0B"/>
            </a:solidFill>
            <a:prstDash val="solid"/>
          </a:ln>
        </p:spPr>
        <p:txBody>
          <a:bodyPr/>
          <a:p/>
        </p:txBody>
      </p:sp>
      <p:sp>
        <p:nvSpPr>
          <p:cNvPr id="1411" name="文本框 1410" descr="{&quot;isTemplate&quot;:true,&quot;type&quot;:&quot;text&quot;}"/>
          <p:cNvSpPr txBox="1"/>
          <p:nvPr/>
        </p:nvSpPr>
        <p:spPr>
          <a:xfrm>
            <a:off x="7962900" y="4114800"/>
            <a:ext cx="3429000" cy="2000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证明</a:t>
            </a:r>
            <a:r>
              <a:rPr lang="en-US" sz="1275" b="1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 prototype </a:t>
            </a:r>
            <a:r>
              <a:rPr lang="zh-CN" sz="1275" b="1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生效</a:t>
            </a:r>
            <a:endParaRPr lang="zh-CN" sz="1275" b="1">
              <a:solidFill>
                <a:srgbClr val="F59E0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12" name="文本框 1411" descr="{&quot;isTemplate&quot;:true,&quot;type&quot;:&quot;text&quot;}"/>
          <p:cNvSpPr txBox="1"/>
          <p:nvPr/>
        </p:nvSpPr>
        <p:spPr>
          <a:xfrm>
            <a:off x="7962900" y="4410075"/>
            <a:ext cx="3429000" cy="2952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80000"/>
              </a:lnSpc>
            </a:pPr>
            <a:r>
              <a:rPr lang="en-US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CurrentUserController </a:t>
            </a:r>
            <a:r>
              <a:rPr lang="zh-CN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的</a:t>
            </a:r>
            <a:r>
              <a:rPr lang="en-US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init </a:t>
            </a:r>
            <a:r>
              <a:rPr lang="zh-CN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里有一行</a:t>
            </a:r>
            <a:r>
              <a:rPr lang="en-US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println</a:t>
            </a:r>
            <a:r>
              <a:rPr lang="zh-CN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。</a:t>
            </a:r>
            <a:endParaRPr lang="zh-CN" sz="1050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13" name="文本框 1412" descr="{&quot;isTemplate&quot;:true,&quot;type&quot;:&quot;text&quot;}"/>
          <p:cNvSpPr txBox="1"/>
          <p:nvPr/>
        </p:nvSpPr>
        <p:spPr>
          <a:xfrm>
            <a:off x="7962900" y="4800600"/>
            <a:ext cx="3429000" cy="581025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80000"/>
              </a:lnSpc>
            </a:pPr>
            <a:r>
              <a:rPr lang="zh-CN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每访问一次这个接口，控制台就会多打一行</a:t>
            </a:r>
            <a:r>
              <a:rPr lang="en-US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—— </a:t>
            </a:r>
            <a:r>
              <a:rPr lang="zh-CN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这是最直观的证明方式。</a:t>
            </a:r>
            <a:endParaRPr lang="zh-CN" sz="1050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14" name="任意多边形 1413"/>
          <p:cNvSpPr/>
          <p:nvPr/>
        </p:nvSpPr>
        <p:spPr>
          <a:xfrm>
            <a:off x="609600" y="6286500"/>
            <a:ext cx="10972800" cy="381000"/>
          </a:xfrm>
          <a:custGeom>
            <a:avLst/>
            <a:gdLst/>
            <a:ahLst/>
            <a:cxnLst/>
            <a:pathLst>
              <a:path w="1152" h="40">
                <a:moveTo>
                  <a:pt x="0" y="0"/>
                </a:moveTo>
                <a:lnTo>
                  <a:pt x="1152" y="0"/>
                </a:lnTo>
                <a:lnTo>
                  <a:pt x="1152" y="1"/>
                </a:lnTo>
                <a:lnTo>
                  <a:pt x="0" y="1"/>
                </a:lnTo>
                <a:close/>
              </a:path>
            </a:pathLst>
          </a:custGeom>
          <a:solidFill>
            <a:srgbClr val="1E293B"/>
          </a:solidFill>
        </p:spPr>
        <p:txBody>
          <a:bodyPr/>
          <a:p/>
        </p:txBody>
      </p:sp>
      <p:sp>
        <p:nvSpPr>
          <p:cNvPr id="1415" name="文本框 1414" descr="{&quot;isTemplate&quot;:true,&quot;type&quot;:&quot;text&quot;}"/>
          <p:cNvSpPr txBox="1"/>
          <p:nvPr/>
        </p:nvSpPr>
        <p:spPr>
          <a:xfrm>
            <a:off x="609600" y="6410325"/>
            <a:ext cx="2219325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fountain · 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一站式服务器应用开发工具库</a:t>
            </a:r>
            <a:endParaRPr lang="zh-CN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16" name="文本框 1415" descr="{&quot;isTemplate&quot;:true,&quot;type&quot;:&quot;text&quot;}"/>
          <p:cNvSpPr txBox="1"/>
          <p:nvPr/>
        </p:nvSpPr>
        <p:spPr>
          <a:xfrm>
            <a:off x="11087100" y="6410325"/>
            <a:ext cx="495300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41 / 116</a:t>
            </a:r>
            <a:endParaRPr lang="en-US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41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8" name="矩形 1417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220"/>
          </a:solidFill>
        </p:spPr>
        <p:txBody>
          <a:bodyPr/>
          <a:p/>
        </p:txBody>
      </p:sp>
      <p:sp>
        <p:nvSpPr>
          <p:cNvPr id="1419" name="矩形 1418"/>
          <p:cNvSpPr/>
          <p:nvPr/>
        </p:nvSpPr>
        <p:spPr>
          <a:xfrm>
            <a:off x="609600" y="476250"/>
            <a:ext cx="38100" cy="381000"/>
          </a:xfrm>
          <a:prstGeom prst="rect">
            <a:avLst/>
          </a:prstGeom>
          <a:solidFill>
            <a:srgbClr val="38BDF8"/>
          </a:solidFill>
        </p:spPr>
        <p:txBody>
          <a:bodyPr/>
          <a:p/>
        </p:txBody>
      </p:sp>
      <p:sp>
        <p:nvSpPr>
          <p:cNvPr id="1420" name="文本框 1419" descr="{&quot;isTemplate&quot;:true,&quot;type&quot;:&quot;text&quot;}"/>
          <p:cNvSpPr txBox="1"/>
          <p:nvPr/>
        </p:nvSpPr>
        <p:spPr>
          <a:xfrm>
            <a:off x="819150" y="304800"/>
            <a:ext cx="9601200" cy="2095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第</a:t>
            </a: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 7 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章</a:t>
            </a: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 · AOP f_aspect · 7.1</a:t>
            </a:r>
            <a:endParaRPr lang="en-US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21" name="文本框 1420" descr="{&quot;isTemplate&quot;:true,&quot;type&quot;:&quot;text&quot;}"/>
          <p:cNvSpPr txBox="1"/>
          <p:nvPr/>
        </p:nvSpPr>
        <p:spPr>
          <a:xfrm>
            <a:off x="819150" y="514350"/>
            <a:ext cx="9601200" cy="5143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2550" b="1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切面</a:t>
            </a:r>
            <a:r>
              <a:rPr lang="en-US" sz="2550" b="1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 = </a:t>
            </a:r>
            <a:r>
              <a:rPr lang="zh-CN" sz="2550" b="1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实现了</a:t>
            </a:r>
            <a:r>
              <a:rPr lang="en-US" sz="2550" b="1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 Aspect </a:t>
            </a:r>
            <a:r>
              <a:rPr lang="zh-CN" sz="2550" b="1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的</a:t>
            </a:r>
            <a:r>
              <a:rPr lang="en-US" sz="2550" b="1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 @Bean</a:t>
            </a:r>
            <a:endParaRPr lang="en-US" sz="2550" b="1">
              <a:solidFill>
                <a:srgbClr val="E2E8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22" name="文本框 1421" descr="{&quot;isTemplate&quot;:true,&quot;type&quot;:&quot;text&quot;}"/>
          <p:cNvSpPr txBox="1"/>
          <p:nvPr/>
        </p:nvSpPr>
        <p:spPr>
          <a:xfrm>
            <a:off x="10591800" y="590550"/>
            <a:ext cx="990600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面试与实战都爱问</a:t>
            </a:r>
            <a:endParaRPr lang="zh-CN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23" name="圆角矩形 1422"/>
          <p:cNvSpPr/>
          <p:nvPr/>
        </p:nvSpPr>
        <p:spPr>
          <a:xfrm>
            <a:off x="609600" y="1143000"/>
            <a:ext cx="10972800" cy="2533650"/>
          </a:xfrm>
          <a:prstGeom prst="roundRect">
            <a:avLst>
              <a:gd name="adj" fmla="val 4511"/>
            </a:avLst>
          </a:prstGeom>
          <a:solidFill>
            <a:srgbClr val="0B1220"/>
          </a:solidFill>
          <a:ln w="12700">
            <a:solidFill>
              <a:srgbClr val="1E293B"/>
            </a:solidFill>
            <a:prstDash val="solid"/>
          </a:ln>
        </p:spPr>
        <p:txBody>
          <a:bodyPr/>
          <a:p/>
        </p:txBody>
      </p:sp>
      <p:sp>
        <p:nvSpPr>
          <p:cNvPr id="1424" name="文本框 1423" descr="{&quot;isTemplate&quot;:true,&quot;type&quot;:&quot;text&quot;}"/>
          <p:cNvSpPr txBox="1"/>
          <p:nvPr/>
        </p:nvSpPr>
        <p:spPr>
          <a:xfrm>
            <a:off x="800100" y="1333500"/>
            <a:ext cx="10591800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public interface Aspect</a:t>
            </a:r>
            <a:endParaRPr lang="en-US" sz="105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25" name="文本框 1424" descr="{&quot;isTemplate&quot;:true,&quot;type&quot;:&quot;text&quot;}"/>
          <p:cNvSpPr txBox="1"/>
          <p:nvPr/>
        </p:nvSpPr>
        <p:spPr>
          <a:xfrm>
            <a:off x="800100" y="1590675"/>
            <a:ext cx="10591800" cy="3048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85000"/>
              </a:lnSpc>
            </a:pPr>
            <a:r>
              <a:rPr lang="en-US" sz="1050">
                <a:solidFill>
                  <a:srgbClr val="E2E8F0"/>
                </a:solidFill>
                <a:latin typeface="JetBrains Mono"/>
                <a:ea typeface="JetBrains Mono"/>
              </a:rPr>
              <a:t>    func before(funcInfo: InvocationFuncInfo): Unit              // </a:t>
            </a:r>
            <a:r>
              <a:rPr lang="zh-CN" sz="1050">
                <a:solidFill>
                  <a:srgbClr val="E2E8F0"/>
                </a:solidFill>
                <a:latin typeface="JetBrains Mono"/>
                <a:ea typeface="JetBrains Mono"/>
              </a:rPr>
              <a:t>最先</a:t>
            </a:r>
            <a:endParaRPr lang="zh-CN" sz="1050">
              <a:solidFill>
                <a:srgbClr val="E2E8F0"/>
              </a:solidFill>
              <a:latin typeface="JetBrains Mono"/>
              <a:ea typeface="JetBrains Mono"/>
            </a:endParaRPr>
          </a:p>
        </p:txBody>
      </p:sp>
      <p:sp>
        <p:nvSpPr>
          <p:cNvPr id="1426" name="文本框 1425" descr="{&quot;isTemplate&quot;:true,&quot;type&quot;:&quot;text&quot;}"/>
          <p:cNvSpPr txBox="1"/>
          <p:nvPr/>
        </p:nvSpPr>
        <p:spPr>
          <a:xfrm>
            <a:off x="800100" y="1895475"/>
            <a:ext cx="10591800" cy="3048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85000"/>
              </a:lnSpc>
            </a:pPr>
            <a:r>
              <a:rPr lang="en-US" sz="1050">
                <a:solidFill>
                  <a:srgbClr val="38BDF8"/>
                </a:solidFill>
                <a:latin typeface="JetBrains Mono"/>
                <a:ea typeface="JetBrains Mono"/>
              </a:rPr>
              <a:t>    func around(funcInfo: InvocationFuncInfo, point: (Array&lt;Any&gt;) -&gt; Any): Any</a:t>
            </a:r>
            <a:endParaRPr lang="en-US" sz="1050">
              <a:solidFill>
                <a:srgbClr val="38BDF8"/>
              </a:solidFill>
              <a:latin typeface="JetBrains Mono"/>
              <a:ea typeface="JetBrains Mono"/>
            </a:endParaRPr>
          </a:p>
        </p:txBody>
      </p:sp>
      <p:sp>
        <p:nvSpPr>
          <p:cNvPr id="1427" name="文本框 1426" descr="{&quot;isTemplate&quot;:true,&quot;type&quot;:&quot;text&quot;}"/>
          <p:cNvSpPr txBox="1"/>
          <p:nvPr/>
        </p:nvSpPr>
        <p:spPr>
          <a:xfrm>
            <a:off x="800100" y="2200275"/>
            <a:ext cx="10591800" cy="3048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85000"/>
              </a:lnSpc>
            </a:pPr>
            <a:r>
              <a:rPr lang="en-US" sz="1050">
                <a:solidFill>
                  <a:srgbClr val="38BDF8"/>
                </a:solidFill>
                <a:latin typeface="JetBrains Mono"/>
                <a:ea typeface="JetBrains Mono"/>
              </a:rPr>
              <a:t>    func after(funcInfo: InvocationFuncInfo, result: Any): Any   // around </a:t>
            </a:r>
            <a:r>
              <a:rPr lang="zh-CN" sz="1050">
                <a:solidFill>
                  <a:srgbClr val="38BDF8"/>
                </a:solidFill>
                <a:latin typeface="JetBrains Mono"/>
                <a:ea typeface="JetBrains Mono"/>
              </a:rPr>
              <a:t>之后</a:t>
            </a:r>
            <a:endParaRPr lang="zh-CN" sz="1050">
              <a:solidFill>
                <a:srgbClr val="38BDF8"/>
              </a:solidFill>
              <a:latin typeface="JetBrains Mono"/>
              <a:ea typeface="JetBrains Mono"/>
            </a:endParaRPr>
          </a:p>
        </p:txBody>
      </p:sp>
      <p:sp>
        <p:nvSpPr>
          <p:cNvPr id="1428" name="文本框 1427" descr="{&quot;isTemplate&quot;:true,&quot;type&quot;:&quot;text&quot;}"/>
          <p:cNvSpPr txBox="1"/>
          <p:nvPr/>
        </p:nvSpPr>
        <p:spPr>
          <a:xfrm>
            <a:off x="800100" y="2505075"/>
            <a:ext cx="10591800" cy="3048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85000"/>
              </a:lnSpc>
            </a:pPr>
            <a:r>
              <a:rPr lang="en-US" sz="1050">
                <a:solidFill>
                  <a:srgbClr val="E2E8F0"/>
                </a:solidFill>
                <a:latin typeface="JetBrains Mono"/>
                <a:ea typeface="JetBrains Mono"/>
              </a:rPr>
              <a:t>    func throwing(funcInfo: InvocationFuncInfo, e: Exception): Exception</a:t>
            </a:r>
            <a:endParaRPr lang="en-US" sz="1050">
              <a:solidFill>
                <a:srgbClr val="E2E8F0"/>
              </a:solidFill>
              <a:latin typeface="JetBrains Mono"/>
              <a:ea typeface="JetBrains Mono"/>
            </a:endParaRPr>
          </a:p>
        </p:txBody>
      </p:sp>
      <p:sp>
        <p:nvSpPr>
          <p:cNvPr id="1429" name="文本框 1428" descr="{&quot;isTemplate&quot;:true,&quot;type&quot;:&quot;text&quot;}"/>
          <p:cNvSpPr txBox="1"/>
          <p:nvPr/>
        </p:nvSpPr>
        <p:spPr>
          <a:xfrm>
            <a:off x="800100" y="2809875"/>
            <a:ext cx="10591800" cy="3048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85000"/>
              </a:lnSpc>
            </a:pPr>
            <a:r>
              <a:rPr lang="en-US" sz="1050">
                <a:solidFill>
                  <a:srgbClr val="F59E0B"/>
                </a:solidFill>
                <a:latin typeface="JetBrains Mono"/>
                <a:ea typeface="JetBrains Mono"/>
              </a:rPr>
              <a:t>    func final(funcInfo: InvocationFuncInfo): Unit               // </a:t>
            </a:r>
            <a:r>
              <a:rPr lang="zh-CN" sz="1050">
                <a:solidFill>
                  <a:srgbClr val="F59E0B"/>
                </a:solidFill>
                <a:latin typeface="JetBrains Mono"/>
                <a:ea typeface="JetBrains Mono"/>
              </a:rPr>
              <a:t>最后</a:t>
            </a:r>
            <a:endParaRPr lang="zh-CN" sz="1050">
              <a:solidFill>
                <a:srgbClr val="F59E0B"/>
              </a:solidFill>
              <a:latin typeface="JetBrains Mono"/>
              <a:ea typeface="JetBrains Mono"/>
            </a:endParaRPr>
          </a:p>
        </p:txBody>
      </p:sp>
      <p:sp>
        <p:nvSpPr>
          <p:cNvPr id="1430" name="文本框 1429" descr="{&quot;isTemplate&quot;:true,&quot;type&quot;:&quot;text&quot;}"/>
          <p:cNvSpPr txBox="1"/>
          <p:nvPr/>
        </p:nvSpPr>
        <p:spPr>
          <a:xfrm>
            <a:off x="800100" y="3114675"/>
            <a:ext cx="10591800" cy="3048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85000"/>
              </a:lnSpc>
            </a:pPr>
            <a:r>
              <a:rPr lang="en-US" sz="1050">
                <a:solidFill>
                  <a:srgbClr val="94A3B8"/>
                </a:solidFill>
                <a:latin typeface="JetBrains Mono"/>
                <a:ea typeface="JetBrains Mono"/>
              </a:rPr>
              <a:t>    func proceed(funcInfo: InvocationFuncInfo, point: (Array&lt;Any&gt;) -&gt; Any): Any</a:t>
            </a:r>
            <a:endParaRPr lang="en-US" sz="1050">
              <a:solidFill>
                <a:srgbClr val="94A3B8"/>
              </a:solidFill>
              <a:latin typeface="JetBrains Mono"/>
              <a:ea typeface="JetBrains Mono"/>
            </a:endParaRPr>
          </a:p>
        </p:txBody>
      </p:sp>
      <p:sp>
        <p:nvSpPr>
          <p:cNvPr id="1431" name="圆角矩形 1430"/>
          <p:cNvSpPr/>
          <p:nvPr/>
        </p:nvSpPr>
        <p:spPr>
          <a:xfrm>
            <a:off x="609600" y="3829050"/>
            <a:ext cx="10972800" cy="2457450"/>
          </a:xfrm>
          <a:prstGeom prst="roundRect">
            <a:avLst>
              <a:gd name="adj" fmla="val 4651"/>
            </a:avLst>
          </a:prstGeom>
          <a:solidFill>
            <a:srgbClr val="111C2E"/>
          </a:solidFill>
          <a:ln w="12700">
            <a:solidFill>
              <a:srgbClr val="38BDF8"/>
            </a:solidFill>
            <a:prstDash val="solid"/>
          </a:ln>
        </p:spPr>
        <p:txBody>
          <a:bodyPr/>
          <a:p/>
        </p:txBody>
      </p:sp>
      <p:sp>
        <p:nvSpPr>
          <p:cNvPr id="1432" name="文本框 1431" descr="{&quot;isTemplate&quot;:true,&quot;type&quot;:&quot;text&quot;}"/>
          <p:cNvSpPr txBox="1"/>
          <p:nvPr/>
        </p:nvSpPr>
        <p:spPr>
          <a:xfrm>
            <a:off x="819150" y="4038600"/>
            <a:ext cx="10553700" cy="1905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38BDF8"/>
                </a:solidFill>
                <a:latin typeface="微软雅黑" panose="020B0503020204020204" charset="-122"/>
                <a:ea typeface="微软雅黑" panose="020B0503020204020204" charset="-122"/>
              </a:rPr>
              <a:t>默认</a:t>
            </a:r>
            <a:r>
              <a:rPr lang="en-US" sz="1200" b="1">
                <a:solidFill>
                  <a:srgbClr val="38BDF8"/>
                </a:solidFill>
                <a:latin typeface="微软雅黑" panose="020B0503020204020204" charset="-122"/>
                <a:ea typeface="微软雅黑" panose="020B0503020204020204" charset="-122"/>
              </a:rPr>
              <a:t> proceed </a:t>
            </a:r>
            <a:r>
              <a:rPr lang="zh-CN" sz="1200" b="1">
                <a:solidFill>
                  <a:srgbClr val="38BDF8"/>
                </a:solidFill>
                <a:latin typeface="微软雅黑" panose="020B0503020204020204" charset="-122"/>
                <a:ea typeface="微软雅黑" panose="020B0503020204020204" charset="-122"/>
              </a:rPr>
              <a:t>的顺序</a:t>
            </a:r>
            <a:endParaRPr lang="zh-CN" sz="1200" b="1">
              <a:solidFill>
                <a:srgbClr val="38BDF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33" name="圆角矩形 1432"/>
          <p:cNvSpPr/>
          <p:nvPr/>
        </p:nvSpPr>
        <p:spPr>
          <a:xfrm>
            <a:off x="819150" y="4381500"/>
            <a:ext cx="647700" cy="390525"/>
          </a:xfrm>
          <a:prstGeom prst="roundRect">
            <a:avLst>
              <a:gd name="adj" fmla="val 19512"/>
            </a:avLst>
          </a:prstGeom>
          <a:solidFill>
            <a:srgbClr val="0B1220"/>
          </a:solidFill>
          <a:ln w="12700">
            <a:solidFill>
              <a:srgbClr val="1E293B"/>
            </a:solidFill>
            <a:prstDash val="solid"/>
          </a:ln>
        </p:spPr>
        <p:txBody>
          <a:bodyPr/>
          <a:p/>
        </p:txBody>
      </p:sp>
      <p:sp>
        <p:nvSpPr>
          <p:cNvPr id="1434" name="文本框 1433" descr="{&quot;isTemplate&quot;:true,&quot;type&quot;:&quot;text&quot;}"/>
          <p:cNvSpPr txBox="1"/>
          <p:nvPr/>
        </p:nvSpPr>
        <p:spPr>
          <a:xfrm>
            <a:off x="933450" y="4495800"/>
            <a:ext cx="419100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before</a:t>
            </a:r>
            <a:endParaRPr lang="en-US" sz="1050">
              <a:solidFill>
                <a:srgbClr val="E2E8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35" name="文本框 1434" descr="{&quot;isTemplate&quot;:true,&quot;type&quot;:&quot;text&quot;}"/>
          <p:cNvSpPr txBox="1"/>
          <p:nvPr/>
        </p:nvSpPr>
        <p:spPr>
          <a:xfrm>
            <a:off x="1581150" y="4486275"/>
            <a:ext cx="152400" cy="1905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200">
                <a:solidFill>
                  <a:srgbClr val="38BDF8"/>
                </a:solidFill>
                <a:latin typeface="微软雅黑" panose="020B0503020204020204" charset="-122"/>
                <a:ea typeface="微软雅黑" panose="020B0503020204020204" charset="-122"/>
              </a:rPr>
              <a:t>→</a:t>
            </a:r>
            <a:endParaRPr sz="1200">
              <a:solidFill>
                <a:srgbClr val="38BDF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36" name="圆角矩形 1435"/>
          <p:cNvSpPr/>
          <p:nvPr/>
        </p:nvSpPr>
        <p:spPr>
          <a:xfrm>
            <a:off x="1847850" y="4381500"/>
            <a:ext cx="685800" cy="390525"/>
          </a:xfrm>
          <a:prstGeom prst="roundRect">
            <a:avLst>
              <a:gd name="adj" fmla="val 19512"/>
            </a:avLst>
          </a:prstGeom>
          <a:solidFill>
            <a:srgbClr val="0B1220"/>
          </a:solidFill>
          <a:ln w="12700">
            <a:solidFill>
              <a:srgbClr val="38BDF8"/>
            </a:solidFill>
            <a:prstDash val="solid"/>
          </a:ln>
        </p:spPr>
        <p:txBody>
          <a:bodyPr/>
          <a:p/>
        </p:txBody>
      </p:sp>
      <p:sp>
        <p:nvSpPr>
          <p:cNvPr id="1437" name="文本框 1436" descr="{&quot;isTemplate&quot;:true,&quot;type&quot;:&quot;text&quot;}"/>
          <p:cNvSpPr txBox="1"/>
          <p:nvPr/>
        </p:nvSpPr>
        <p:spPr>
          <a:xfrm>
            <a:off x="1962150" y="4495800"/>
            <a:ext cx="457200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38BDF8"/>
                </a:solidFill>
                <a:latin typeface="微软雅黑" panose="020B0503020204020204" charset="-122"/>
                <a:ea typeface="微软雅黑" panose="020B0503020204020204" charset="-122"/>
              </a:rPr>
              <a:t>around</a:t>
            </a:r>
            <a:endParaRPr lang="en-US" sz="1050">
              <a:solidFill>
                <a:srgbClr val="38BDF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38" name="文本框 1437" descr="{&quot;isTemplate&quot;:true,&quot;type&quot;:&quot;text&quot;}"/>
          <p:cNvSpPr txBox="1"/>
          <p:nvPr/>
        </p:nvSpPr>
        <p:spPr>
          <a:xfrm>
            <a:off x="2647950" y="4486275"/>
            <a:ext cx="152400" cy="1905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200">
                <a:solidFill>
                  <a:srgbClr val="38BDF8"/>
                </a:solidFill>
                <a:latin typeface="微软雅黑" panose="020B0503020204020204" charset="-122"/>
                <a:ea typeface="微软雅黑" panose="020B0503020204020204" charset="-122"/>
              </a:rPr>
              <a:t>→</a:t>
            </a:r>
            <a:endParaRPr sz="1200">
              <a:solidFill>
                <a:srgbClr val="38BDF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39" name="圆角矩形 1438"/>
          <p:cNvSpPr/>
          <p:nvPr/>
        </p:nvSpPr>
        <p:spPr>
          <a:xfrm>
            <a:off x="2914650" y="4381500"/>
            <a:ext cx="1552575" cy="390525"/>
          </a:xfrm>
          <a:prstGeom prst="roundRect">
            <a:avLst>
              <a:gd name="adj" fmla="val 19512"/>
            </a:avLst>
          </a:prstGeom>
          <a:solidFill>
            <a:srgbClr val="0B1220"/>
          </a:solidFill>
          <a:ln w="12700">
            <a:solidFill>
              <a:srgbClr val="1E293B"/>
            </a:solidFill>
            <a:prstDash val="solid"/>
          </a:ln>
        </p:spPr>
        <p:txBody>
          <a:bodyPr/>
          <a:p/>
        </p:txBody>
      </p:sp>
      <p:sp>
        <p:nvSpPr>
          <p:cNvPr id="1440" name="文本框 1439" descr="{&quot;isTemplate&quot;:true,&quot;type&quot;:&quot;text&quot;}"/>
          <p:cNvSpPr txBox="1"/>
          <p:nvPr/>
        </p:nvSpPr>
        <p:spPr>
          <a:xfrm>
            <a:off x="3028950" y="4495800"/>
            <a:ext cx="1323975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原函数体（</a:t>
            </a:r>
            <a:r>
              <a:rPr lang="en-US" sz="105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point(...)</a:t>
            </a:r>
            <a:r>
              <a:rPr lang="zh-CN" sz="105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）</a:t>
            </a:r>
            <a:endParaRPr lang="zh-CN" sz="1050">
              <a:solidFill>
                <a:srgbClr val="E2E8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41" name="文本框 1440" descr="{&quot;isTemplate&quot;:true,&quot;type&quot;:&quot;text&quot;}"/>
          <p:cNvSpPr txBox="1"/>
          <p:nvPr/>
        </p:nvSpPr>
        <p:spPr>
          <a:xfrm>
            <a:off x="4581525" y="4486275"/>
            <a:ext cx="152400" cy="1905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200">
                <a:solidFill>
                  <a:srgbClr val="38BDF8"/>
                </a:solidFill>
                <a:latin typeface="微软雅黑" panose="020B0503020204020204" charset="-122"/>
                <a:ea typeface="微软雅黑" panose="020B0503020204020204" charset="-122"/>
              </a:rPr>
              <a:t>→</a:t>
            </a:r>
            <a:endParaRPr sz="1200">
              <a:solidFill>
                <a:srgbClr val="38BDF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42" name="圆角矩形 1441"/>
          <p:cNvSpPr/>
          <p:nvPr/>
        </p:nvSpPr>
        <p:spPr>
          <a:xfrm>
            <a:off x="4848225" y="4381500"/>
            <a:ext cx="533400" cy="390525"/>
          </a:xfrm>
          <a:prstGeom prst="roundRect">
            <a:avLst>
              <a:gd name="adj" fmla="val 19512"/>
            </a:avLst>
          </a:prstGeom>
          <a:solidFill>
            <a:srgbClr val="0B1220"/>
          </a:solidFill>
          <a:ln w="12700">
            <a:solidFill>
              <a:srgbClr val="1E293B"/>
            </a:solidFill>
            <a:prstDash val="solid"/>
          </a:ln>
        </p:spPr>
        <p:txBody>
          <a:bodyPr/>
          <a:p/>
        </p:txBody>
      </p:sp>
      <p:sp>
        <p:nvSpPr>
          <p:cNvPr id="1443" name="文本框 1442" descr="{&quot;isTemplate&quot;:true,&quot;type&quot;:&quot;text&quot;}"/>
          <p:cNvSpPr txBox="1"/>
          <p:nvPr/>
        </p:nvSpPr>
        <p:spPr>
          <a:xfrm>
            <a:off x="4962525" y="4495800"/>
            <a:ext cx="304800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after</a:t>
            </a:r>
            <a:endParaRPr lang="en-US" sz="1050">
              <a:solidFill>
                <a:srgbClr val="E2E8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44" name="文本框 1443" descr="{&quot;isTemplate&quot;:true,&quot;type&quot;:&quot;text&quot;}"/>
          <p:cNvSpPr txBox="1"/>
          <p:nvPr/>
        </p:nvSpPr>
        <p:spPr>
          <a:xfrm>
            <a:off x="5495925" y="4486275"/>
            <a:ext cx="152400" cy="1905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200">
                <a:solidFill>
                  <a:srgbClr val="38BDF8"/>
                </a:solidFill>
                <a:latin typeface="微软雅黑" panose="020B0503020204020204" charset="-122"/>
                <a:ea typeface="微软雅黑" panose="020B0503020204020204" charset="-122"/>
              </a:rPr>
              <a:t>→</a:t>
            </a:r>
            <a:endParaRPr sz="1200">
              <a:solidFill>
                <a:srgbClr val="38BDF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45" name="圆角矩形 1444"/>
          <p:cNvSpPr/>
          <p:nvPr/>
        </p:nvSpPr>
        <p:spPr>
          <a:xfrm>
            <a:off x="5762625" y="4381500"/>
            <a:ext cx="504825" cy="390525"/>
          </a:xfrm>
          <a:prstGeom prst="roundRect">
            <a:avLst>
              <a:gd name="adj" fmla="val 19512"/>
            </a:avLst>
          </a:prstGeom>
          <a:solidFill>
            <a:srgbClr val="0B1220"/>
          </a:solidFill>
          <a:ln w="12700">
            <a:solidFill>
              <a:srgbClr val="F59E0B"/>
            </a:solidFill>
            <a:prstDash val="solid"/>
          </a:ln>
        </p:spPr>
        <p:txBody>
          <a:bodyPr/>
          <a:p/>
        </p:txBody>
      </p:sp>
      <p:sp>
        <p:nvSpPr>
          <p:cNvPr id="1446" name="文本框 1445" descr="{&quot;isTemplate&quot;:true,&quot;type&quot;:&quot;text&quot;}"/>
          <p:cNvSpPr txBox="1"/>
          <p:nvPr/>
        </p:nvSpPr>
        <p:spPr>
          <a:xfrm>
            <a:off x="5876925" y="4495800"/>
            <a:ext cx="276225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final</a:t>
            </a:r>
            <a:endParaRPr lang="en-US" sz="1050">
              <a:solidFill>
                <a:srgbClr val="F59E0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47" name="文本框 1446" descr="{&quot;isTemplate&quot;:true,&quot;type&quot;:&quot;text&quot;}"/>
          <p:cNvSpPr txBox="1"/>
          <p:nvPr/>
        </p:nvSpPr>
        <p:spPr>
          <a:xfrm>
            <a:off x="819150" y="4924425"/>
            <a:ext cx="10553700" cy="3143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80000"/>
              </a:lnSpc>
            </a:pPr>
            <a:r>
              <a:rPr lang="zh-CN" sz="112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前面四步任意一步抛异常</a:t>
            </a:r>
            <a:r>
              <a:rPr lang="en-US" sz="112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→ </a:t>
            </a:r>
            <a:r>
              <a:rPr lang="zh-CN" sz="112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进</a:t>
            </a:r>
            <a:r>
              <a:rPr lang="en-US" sz="112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catch </a:t>
            </a:r>
            <a:r>
              <a:rPr lang="zh-CN" sz="112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走</a:t>
            </a:r>
            <a:r>
              <a:rPr lang="en-US" sz="112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throwing</a:t>
            </a:r>
            <a:r>
              <a:rPr lang="zh-CN" sz="112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；</a:t>
            </a:r>
            <a:r>
              <a:rPr lang="en-US" sz="112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finally </a:t>
            </a:r>
            <a:r>
              <a:rPr lang="zh-CN" sz="112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里的</a:t>
            </a:r>
            <a:r>
              <a:rPr lang="en-US" sz="112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final </a:t>
            </a:r>
            <a:r>
              <a:rPr lang="zh-CN" sz="112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一定会执行。</a:t>
            </a:r>
            <a:endParaRPr lang="zh-CN" sz="1125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48" name="文本框 1447" descr="{&quot;isTemplate&quot;:true,&quot;type&quot;:&quot;text&quot;}"/>
          <p:cNvSpPr txBox="1"/>
          <p:nvPr/>
        </p:nvSpPr>
        <p:spPr>
          <a:xfrm>
            <a:off x="819150" y="5295900"/>
            <a:ext cx="10553700" cy="3143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80000"/>
              </a:lnSpc>
            </a:pPr>
            <a:r>
              <a:rPr lang="zh-CN" sz="112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有更特别的编排需求，直接覆盖</a:t>
            </a:r>
            <a:r>
              <a:rPr lang="en-US" sz="112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proceed </a:t>
            </a:r>
            <a:r>
              <a:rPr lang="zh-CN" sz="112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自己排。</a:t>
            </a:r>
            <a:endParaRPr lang="zh-CN" sz="1125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49" name="任意多边形 1448"/>
          <p:cNvSpPr/>
          <p:nvPr/>
        </p:nvSpPr>
        <p:spPr>
          <a:xfrm>
            <a:off x="609600" y="6286500"/>
            <a:ext cx="10972800" cy="381000"/>
          </a:xfrm>
          <a:custGeom>
            <a:avLst/>
            <a:gdLst/>
            <a:ahLst/>
            <a:cxnLst/>
            <a:pathLst>
              <a:path w="1152" h="40">
                <a:moveTo>
                  <a:pt x="0" y="0"/>
                </a:moveTo>
                <a:lnTo>
                  <a:pt x="1152" y="0"/>
                </a:lnTo>
                <a:lnTo>
                  <a:pt x="1152" y="1"/>
                </a:lnTo>
                <a:lnTo>
                  <a:pt x="0" y="1"/>
                </a:lnTo>
                <a:close/>
              </a:path>
            </a:pathLst>
          </a:custGeom>
          <a:solidFill>
            <a:srgbClr val="1E293B"/>
          </a:solidFill>
        </p:spPr>
        <p:txBody>
          <a:bodyPr/>
          <a:p/>
        </p:txBody>
      </p:sp>
      <p:sp>
        <p:nvSpPr>
          <p:cNvPr id="1450" name="文本框 1449" descr="{&quot;isTemplate&quot;:true,&quot;type&quot;:&quot;text&quot;}"/>
          <p:cNvSpPr txBox="1"/>
          <p:nvPr/>
        </p:nvSpPr>
        <p:spPr>
          <a:xfrm>
            <a:off x="609600" y="6410325"/>
            <a:ext cx="2219325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fountain · 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一站式服务器应用开发工具库</a:t>
            </a:r>
            <a:endParaRPr lang="zh-CN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51" name="文本框 1450" descr="{&quot;isTemplate&quot;:true,&quot;type&quot;:&quot;text&quot;}"/>
          <p:cNvSpPr txBox="1"/>
          <p:nvPr/>
        </p:nvSpPr>
        <p:spPr>
          <a:xfrm>
            <a:off x="11087100" y="6410325"/>
            <a:ext cx="495300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42 / 116</a:t>
            </a:r>
            <a:endParaRPr lang="en-US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45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3" name="矩形 145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220"/>
          </a:solidFill>
        </p:spPr>
        <p:txBody>
          <a:bodyPr/>
          <a:p/>
        </p:txBody>
      </p:sp>
      <p:sp>
        <p:nvSpPr>
          <p:cNvPr id="1454" name="矩形 1453"/>
          <p:cNvSpPr/>
          <p:nvPr/>
        </p:nvSpPr>
        <p:spPr>
          <a:xfrm>
            <a:off x="609600" y="476250"/>
            <a:ext cx="38100" cy="381000"/>
          </a:xfrm>
          <a:prstGeom prst="rect">
            <a:avLst/>
          </a:prstGeom>
          <a:solidFill>
            <a:srgbClr val="38BDF8"/>
          </a:solidFill>
        </p:spPr>
        <p:txBody>
          <a:bodyPr/>
          <a:p/>
        </p:txBody>
      </p:sp>
      <p:sp>
        <p:nvSpPr>
          <p:cNvPr id="1455" name="文本框 1454" descr="{&quot;isTemplate&quot;:true,&quot;type&quot;:&quot;text&quot;}"/>
          <p:cNvSpPr txBox="1"/>
          <p:nvPr/>
        </p:nvSpPr>
        <p:spPr>
          <a:xfrm>
            <a:off x="819150" y="304800"/>
            <a:ext cx="9925050" cy="2095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第</a:t>
            </a: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 7 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章</a:t>
            </a: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 · AOP f_aspect · 7.2</a:t>
            </a:r>
            <a:endParaRPr lang="en-US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56" name="文本框 1455" descr="{&quot;isTemplate&quot;:true,&quot;type&quot;:&quot;text&quot;}"/>
          <p:cNvSpPr txBox="1"/>
          <p:nvPr/>
        </p:nvSpPr>
        <p:spPr>
          <a:xfrm>
            <a:off x="819150" y="514350"/>
            <a:ext cx="9925050" cy="5143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2550" b="1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织入规则：</a:t>
            </a:r>
            <a:r>
              <a:rPr lang="en-US" sz="2550" b="1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RouteRule</a:t>
            </a:r>
            <a:endParaRPr lang="en-US" sz="2550" b="1">
              <a:solidFill>
                <a:srgbClr val="E2E8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57" name="文本框 1456" descr="{&quot;isTemplate&quot;:true,&quot;type&quot;:&quot;text&quot;}"/>
          <p:cNvSpPr txBox="1"/>
          <p:nvPr/>
        </p:nvSpPr>
        <p:spPr>
          <a:xfrm>
            <a:off x="10915650" y="590550"/>
            <a:ext cx="666750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&amp; | ! 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可组合</a:t>
            </a:r>
            <a:endParaRPr lang="zh-CN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58" name="文本框 1457" descr="{&quot;isTemplate&quot;:true,&quot;type&quot;:&quot;text&quot;}"/>
          <p:cNvSpPr txBox="1"/>
          <p:nvPr/>
        </p:nvSpPr>
        <p:spPr>
          <a:xfrm>
            <a:off x="609600" y="1143000"/>
            <a:ext cx="10972800" cy="2571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全部支持</a:t>
            </a:r>
            <a:r>
              <a:rPr lang="en-US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* ? </a:t>
            </a:r>
            <a:r>
              <a:rPr lang="zh-CN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通配符；包名支持</a:t>
            </a:r>
            <a:r>
              <a:rPr lang="en-US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.. </a:t>
            </a:r>
            <a:r>
              <a:rPr lang="zh-CN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（任意层级）与</a:t>
            </a:r>
            <a:r>
              <a:rPr lang="en-US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.* / *. / .*. </a:t>
            </a:r>
            <a:r>
              <a:rPr lang="zh-CN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（任意包名）；组织名用</a:t>
            </a:r>
            <a:r>
              <a:rPr lang="en-US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:: </a:t>
            </a:r>
            <a:r>
              <a:rPr lang="zh-CN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分隔。</a:t>
            </a:r>
            <a:endParaRPr lang="zh-CN" sz="1050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graphicFrame>
        <p:nvGraphicFramePr>
          <p:cNvPr id="1459" name="表格 1458"/>
          <p:cNvGraphicFramePr/>
          <p:nvPr/>
        </p:nvGraphicFramePr>
        <p:xfrm>
          <a:off x="609600" y="1514475"/>
          <a:ext cx="5410200" cy="4648200"/>
        </p:xfrm>
        <a:graphic>
          <a:graphicData uri="http://schemas.openxmlformats.org/drawingml/2006/table">
            <a:tbl>
              <a:tblPr/>
              <a:tblGrid>
                <a:gridCol w="1884188"/>
                <a:gridCol w="3526012"/>
              </a:tblGrid>
              <a:tr h="581025"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 b="1">
                          <a:solidFill>
                            <a:srgbClr val="22D3EE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规则</a:t>
                      </a:r>
                      <a:endParaRPr sz="975" b="1">
                        <a:solidFill>
                          <a:srgbClr val="22D3EE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6233A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 b="1">
                          <a:solidFill>
                            <a:srgbClr val="22D3EE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匹配依据</a:t>
                      </a:r>
                      <a:endParaRPr sz="975" b="1">
                        <a:solidFill>
                          <a:srgbClr val="22D3EE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6233A"/>
                    </a:solidFill>
                  </a:tcPr>
                </a:tc>
              </a:tr>
              <a:tr h="581025"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ExecutionRouteRule</a:t>
                      </a:r>
                      <a:endParaRPr sz="975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类全限定名 + 函数名 + 参数类型 + 返回类型</a:t>
                      </a:r>
                      <a:endParaRPr sz="975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581025"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WithinRouteRule</a:t>
                      </a:r>
                      <a:endParaRPr sz="975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类型名匹配 → 该类全部公共实例函数</a:t>
                      </a:r>
                      <a:endParaRPr sz="975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581025"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FuncNameRouteRule</a:t>
                      </a:r>
                      <a:endParaRPr sz="975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函数名</a:t>
                      </a:r>
                      <a:endParaRPr sz="975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581025"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FuncTypeRouteRule</a:t>
                      </a:r>
                      <a:endParaRPr sz="975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参数 + 返回类型</a:t>
                      </a:r>
                      <a:endParaRPr sz="975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581025"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ArgsRouteRule</a:t>
                      </a:r>
                      <a:endParaRPr sz="975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参数类型（** 任意数量；*, 与 ,* 忽略首尾）</a:t>
                      </a:r>
                      <a:endParaRPr sz="975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581025"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ReturnTypeRouteRule</a:t>
                      </a:r>
                      <a:endParaRPr sz="975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返回类型</a:t>
                      </a:r>
                      <a:endParaRPr sz="975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581025"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TargetRouteRule</a:t>
                      </a:r>
                      <a:endParaRPr sz="975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该类及其子类</a:t>
                      </a:r>
                      <a:endParaRPr sz="975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</a:tbl>
          </a:graphicData>
        </a:graphic>
      </p:graphicFrame>
      <p:graphicFrame>
        <p:nvGraphicFramePr>
          <p:cNvPr id="1460" name="表格 1459"/>
          <p:cNvGraphicFramePr/>
          <p:nvPr/>
        </p:nvGraphicFramePr>
        <p:xfrm>
          <a:off x="6172200" y="1514475"/>
          <a:ext cx="5410200" cy="4648200"/>
        </p:xfrm>
        <a:graphic>
          <a:graphicData uri="http://schemas.openxmlformats.org/drawingml/2006/table">
            <a:tbl>
              <a:tblPr/>
              <a:tblGrid>
                <a:gridCol w="4190459"/>
                <a:gridCol w="1219741"/>
              </a:tblGrid>
              <a:tr h="516868"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 b="1">
                          <a:solidFill>
                            <a:srgbClr val="22D3EE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规则</a:t>
                      </a:r>
                      <a:endParaRPr sz="975" b="1">
                        <a:solidFill>
                          <a:srgbClr val="22D3EE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6233A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 b="1">
                          <a:solidFill>
                            <a:srgbClr val="22D3EE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匹配依据</a:t>
                      </a:r>
                      <a:endParaRPr sz="975" b="1">
                        <a:solidFill>
                          <a:srgbClr val="22D3EE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6233A"/>
                    </a:solidFill>
                  </a:tcPr>
                </a:tc>
              </a:tr>
              <a:tr h="860242"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TargetAnnotationRouteRule</a:t>
                      </a:r>
                      <a:endParaRPr sz="975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目标类型上有指定注解</a:t>
                      </a:r>
                      <a:endParaRPr sz="975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860242"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FuncAnnotationRouteRule</a:t>
                      </a:r>
                      <a:endParaRPr sz="975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目标函数上有指定注解</a:t>
                      </a:r>
                      <a:endParaRPr sz="975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860242"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ArgAnnotationsRouteRule / AnyArg / ArgPrefix / ArgSuffix （参数注解一族）</a:t>
                      </a:r>
                      <a:endParaRPr sz="975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参数上的注解</a:t>
                      </a:r>
                      <a:endParaRPr sz="975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516868"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BeanNameRouteRule</a:t>
                      </a:r>
                      <a:endParaRPr sz="975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目标对象的 bean 名</a:t>
                      </a:r>
                      <a:endParaRPr sz="975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516868"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 b="1">
                          <a:solidFill>
                            <a:srgbClr val="F59E0B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ConfigExecutionRouteRule</a:t>
                      </a:r>
                      <a:endParaRPr sz="975" b="1">
                        <a:solidFill>
                          <a:srgbClr val="F59E0B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F59E0B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从环境变量读规则</a:t>
                      </a:r>
                      <a:endParaRPr sz="975">
                        <a:solidFill>
                          <a:srgbClr val="F59E0B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516868"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AndRouteRule / OrRouteRule / NotRouteRule</a:t>
                      </a:r>
                      <a:endParaRPr sz="975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组合</a:t>
                      </a:r>
                      <a:endParaRPr sz="975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</a:tbl>
          </a:graphicData>
        </a:graphic>
      </p:graphicFrame>
      <p:sp>
        <p:nvSpPr>
          <p:cNvPr id="1461" name="任意多边形 1460"/>
          <p:cNvSpPr/>
          <p:nvPr/>
        </p:nvSpPr>
        <p:spPr>
          <a:xfrm>
            <a:off x="609600" y="6286500"/>
            <a:ext cx="10972800" cy="381000"/>
          </a:xfrm>
          <a:custGeom>
            <a:avLst/>
            <a:gdLst/>
            <a:ahLst/>
            <a:cxnLst/>
            <a:pathLst>
              <a:path w="1152" h="40">
                <a:moveTo>
                  <a:pt x="0" y="0"/>
                </a:moveTo>
                <a:lnTo>
                  <a:pt x="1152" y="0"/>
                </a:lnTo>
                <a:lnTo>
                  <a:pt x="1152" y="1"/>
                </a:lnTo>
                <a:lnTo>
                  <a:pt x="0" y="1"/>
                </a:lnTo>
                <a:close/>
              </a:path>
            </a:pathLst>
          </a:custGeom>
          <a:solidFill>
            <a:srgbClr val="1E293B"/>
          </a:solidFill>
        </p:spPr>
        <p:txBody>
          <a:bodyPr/>
          <a:p/>
        </p:txBody>
      </p:sp>
      <p:sp>
        <p:nvSpPr>
          <p:cNvPr id="1462" name="文本框 1461" descr="{&quot;isTemplate&quot;:true,&quot;type&quot;:&quot;text&quot;}"/>
          <p:cNvSpPr txBox="1"/>
          <p:nvPr/>
        </p:nvSpPr>
        <p:spPr>
          <a:xfrm>
            <a:off x="609600" y="6410325"/>
            <a:ext cx="2219325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fountain · 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一站式服务器应用开发工具库</a:t>
            </a:r>
            <a:endParaRPr lang="zh-CN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63" name="文本框 1462" descr="{&quot;isTemplate&quot;:true,&quot;type&quot;:&quot;text&quot;}"/>
          <p:cNvSpPr txBox="1"/>
          <p:nvPr/>
        </p:nvSpPr>
        <p:spPr>
          <a:xfrm>
            <a:off x="11087100" y="6410325"/>
            <a:ext cx="495300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43 / 116</a:t>
            </a:r>
            <a:endParaRPr lang="en-US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46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5" name="矩形 1464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220"/>
          </a:solidFill>
        </p:spPr>
        <p:txBody>
          <a:bodyPr/>
          <a:p/>
        </p:txBody>
      </p:sp>
      <p:sp>
        <p:nvSpPr>
          <p:cNvPr id="1466" name="矩形 1465"/>
          <p:cNvSpPr/>
          <p:nvPr/>
        </p:nvSpPr>
        <p:spPr>
          <a:xfrm>
            <a:off x="609600" y="476250"/>
            <a:ext cx="38100" cy="381000"/>
          </a:xfrm>
          <a:prstGeom prst="rect">
            <a:avLst/>
          </a:prstGeom>
          <a:solidFill>
            <a:srgbClr val="38BDF8"/>
          </a:solidFill>
        </p:spPr>
        <p:txBody>
          <a:bodyPr/>
          <a:p/>
        </p:txBody>
      </p:sp>
      <p:sp>
        <p:nvSpPr>
          <p:cNvPr id="1467" name="文本框 1466" descr="{&quot;isTemplate&quot;:true,&quot;type&quot;:&quot;text&quot;}"/>
          <p:cNvSpPr txBox="1"/>
          <p:nvPr/>
        </p:nvSpPr>
        <p:spPr>
          <a:xfrm>
            <a:off x="819150" y="304800"/>
            <a:ext cx="9725025" cy="2095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第</a:t>
            </a: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 7 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章</a:t>
            </a: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 · AOP f_aspect · 7.3 / 7.4</a:t>
            </a:r>
            <a:endParaRPr lang="en-US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68" name="文本框 1467" descr="{&quot;isTemplate&quot;:true,&quot;type&quot;:&quot;text&quot;}"/>
          <p:cNvSpPr txBox="1"/>
          <p:nvPr/>
        </p:nvSpPr>
        <p:spPr>
          <a:xfrm>
            <a:off x="819150" y="514350"/>
            <a:ext cx="9725025" cy="5143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2550" b="1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织入宏与</a:t>
            </a:r>
            <a:r>
              <a:rPr lang="en-US" sz="2550" b="1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 ControllerAspect</a:t>
            </a:r>
            <a:endParaRPr lang="en-US" sz="2550" b="1">
              <a:solidFill>
                <a:srgbClr val="E2E8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69" name="文本框 1468" descr="{&quot;isTemplate&quot;:true,&quot;type&quot;:&quot;text&quot;}"/>
          <p:cNvSpPr txBox="1"/>
          <p:nvPr/>
        </p:nvSpPr>
        <p:spPr>
          <a:xfrm>
            <a:off x="10715625" y="590550"/>
            <a:ext cx="866775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首次调用才织入</a:t>
            </a:r>
            <a:endParaRPr lang="zh-CN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70" name="圆角矩形 1469"/>
          <p:cNvSpPr/>
          <p:nvPr/>
        </p:nvSpPr>
        <p:spPr>
          <a:xfrm>
            <a:off x="609600" y="1143000"/>
            <a:ext cx="4095750" cy="2609850"/>
          </a:xfrm>
          <a:prstGeom prst="roundRect">
            <a:avLst>
              <a:gd name="adj" fmla="val 4380"/>
            </a:avLst>
          </a:prstGeom>
          <a:solidFill>
            <a:srgbClr val="0B1220"/>
          </a:solidFill>
          <a:ln w="12700">
            <a:solidFill>
              <a:srgbClr val="1E293B"/>
            </a:solidFill>
            <a:prstDash val="solid"/>
          </a:ln>
        </p:spPr>
        <p:txBody>
          <a:bodyPr/>
          <a:p/>
        </p:txBody>
      </p:sp>
      <p:sp>
        <p:nvSpPr>
          <p:cNvPr id="1471" name="文本框 1470" descr="{&quot;isTemplate&quot;:true,&quot;type&quot;:&quot;text&quot;}"/>
          <p:cNvSpPr txBox="1"/>
          <p:nvPr/>
        </p:nvSpPr>
        <p:spPr>
          <a:xfrm>
            <a:off x="800100" y="1333500"/>
            <a:ext cx="3714750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四个织入宏</a:t>
            </a:r>
            <a:endParaRPr lang="zh-CN" sz="105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72" name="文本框 1471" descr="{&quot;isTemplate&quot;:true,&quot;type&quot;:&quot;text&quot;}"/>
          <p:cNvSpPr txBox="1"/>
          <p:nvPr/>
        </p:nvSpPr>
        <p:spPr>
          <a:xfrm>
            <a:off x="800100" y="1590675"/>
            <a:ext cx="3714750" cy="2571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en-US" sz="97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@Pointcut        // </a:t>
            </a:r>
            <a:r>
              <a:rPr lang="zh-CN" sz="97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修饰函数：只有这个函数织入</a:t>
            </a:r>
            <a:endParaRPr lang="zh-CN" sz="975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73" name="文本框 1472" descr="{&quot;isTemplate&quot;:true,&quot;type&quot;:&quot;text&quot;}"/>
          <p:cNvSpPr txBox="1"/>
          <p:nvPr/>
        </p:nvSpPr>
        <p:spPr>
          <a:xfrm>
            <a:off x="800100" y="1847850"/>
            <a:ext cx="3714750" cy="2571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en-US" sz="97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                // </a:t>
            </a:r>
            <a:r>
              <a:rPr lang="zh-CN" sz="97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修饰类：全部公共函数织入</a:t>
            </a:r>
            <a:endParaRPr lang="zh-CN" sz="975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74" name="文本框 1473" descr="{&quot;isTemplate&quot;:true,&quot;type&quot;:&quot;text&quot;}"/>
          <p:cNvSpPr txBox="1"/>
          <p:nvPr/>
        </p:nvSpPr>
        <p:spPr>
          <a:xfrm>
            <a:off x="800100" y="2162175"/>
            <a:ext cx="3714750" cy="2571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en-US" sz="975">
                <a:solidFill>
                  <a:srgbClr val="38BDF8"/>
                </a:solidFill>
                <a:latin typeface="微软雅黑" panose="020B0503020204020204" charset="-122"/>
                <a:ea typeface="微软雅黑" panose="020B0503020204020204" charset="-122"/>
              </a:rPr>
              <a:t>@WeavedBean     // </a:t>
            </a:r>
            <a:r>
              <a:rPr lang="zh-CN" sz="975">
                <a:solidFill>
                  <a:srgbClr val="38BDF8"/>
                </a:solidFill>
                <a:latin typeface="微软雅黑" panose="020B0503020204020204" charset="-122"/>
                <a:ea typeface="微软雅黑" panose="020B0503020204020204" charset="-122"/>
              </a:rPr>
              <a:t>注册进</a:t>
            </a:r>
            <a:r>
              <a:rPr lang="en-US" sz="975">
                <a:solidFill>
                  <a:srgbClr val="38BDF8"/>
                </a:solidFill>
                <a:latin typeface="微软雅黑" panose="020B0503020204020204" charset="-122"/>
                <a:ea typeface="微软雅黑" panose="020B0503020204020204" charset="-122"/>
              </a:rPr>
              <a:t> IOC + </a:t>
            </a:r>
            <a:r>
              <a:rPr lang="zh-CN" sz="975">
                <a:solidFill>
                  <a:srgbClr val="38BDF8"/>
                </a:solidFill>
                <a:latin typeface="微软雅黑" panose="020B0503020204020204" charset="-122"/>
                <a:ea typeface="微软雅黑" panose="020B0503020204020204" charset="-122"/>
              </a:rPr>
              <a:t>全部公共成员函数织入</a:t>
            </a:r>
            <a:endParaRPr lang="zh-CN" sz="975">
              <a:solidFill>
                <a:srgbClr val="38BDF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75" name="文本框 1474" descr="{&quot;isTemplate&quot;:true,&quot;type&quot;:&quot;text&quot;}"/>
          <p:cNvSpPr txBox="1"/>
          <p:nvPr/>
        </p:nvSpPr>
        <p:spPr>
          <a:xfrm>
            <a:off x="800100" y="2476500"/>
            <a:ext cx="3714750" cy="2571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en-US" sz="975">
                <a:solidFill>
                  <a:srgbClr val="38BDF8"/>
                </a:solidFill>
                <a:latin typeface="微软雅黑" panose="020B0503020204020204" charset="-122"/>
                <a:ea typeface="微软雅黑" panose="020B0503020204020204" charset="-122"/>
              </a:rPr>
              <a:t>@WeavedController // mvc </a:t>
            </a:r>
            <a:r>
              <a:rPr lang="zh-CN" sz="975">
                <a:solidFill>
                  <a:srgbClr val="38BDF8"/>
                </a:solidFill>
                <a:latin typeface="微软雅黑" panose="020B0503020204020204" charset="-122"/>
                <a:ea typeface="微软雅黑" panose="020B0503020204020204" charset="-122"/>
              </a:rPr>
              <a:t>模块声明的专用宏</a:t>
            </a:r>
            <a:endParaRPr lang="zh-CN" sz="975">
              <a:solidFill>
                <a:srgbClr val="38BDF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76" name="文本框 1475" descr="{&quot;isTemplate&quot;:true,&quot;type&quot;:&quot;text&quot;}"/>
          <p:cNvSpPr txBox="1"/>
          <p:nvPr/>
        </p:nvSpPr>
        <p:spPr>
          <a:xfrm>
            <a:off x="800100" y="2733675"/>
            <a:ext cx="3714750" cy="2571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en-US" sz="97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                // </a:t>
            </a:r>
            <a:r>
              <a:rPr lang="zh-CN" sz="97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包含</a:t>
            </a:r>
            <a:r>
              <a:rPr lang="en-US" sz="97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@Controller </a:t>
            </a:r>
            <a:r>
              <a:rPr lang="zh-CN" sz="97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的全部功能</a:t>
            </a:r>
            <a:r>
              <a:rPr lang="en-US" sz="97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+ </a:t>
            </a:r>
            <a:r>
              <a:rPr lang="zh-CN" sz="97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织入</a:t>
            </a:r>
            <a:endParaRPr lang="zh-CN" sz="975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77" name="文本框 1476" descr="{&quot;isTemplate&quot;:true,&quot;type&quot;:&quot;text&quot;}"/>
          <p:cNvSpPr txBox="1"/>
          <p:nvPr/>
        </p:nvSpPr>
        <p:spPr>
          <a:xfrm>
            <a:off x="800100" y="3048000"/>
            <a:ext cx="3714750" cy="2571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en-US" sz="975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@TransactionalService // orm </a:t>
            </a:r>
            <a:r>
              <a:rPr lang="zh-CN" sz="975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模块声明的专用宏</a:t>
            </a:r>
            <a:endParaRPr lang="zh-CN" sz="975">
              <a:solidFill>
                <a:srgbClr val="F59E0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78" name="文本框 1477" descr="{&quot;isTemplate&quot;:true,&quot;type&quot;:&quot;text&quot;}"/>
          <p:cNvSpPr txBox="1"/>
          <p:nvPr/>
        </p:nvSpPr>
        <p:spPr>
          <a:xfrm>
            <a:off x="800100" y="3305175"/>
            <a:ext cx="3714750" cy="2571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en-US" sz="97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                // </a:t>
            </a:r>
            <a:r>
              <a:rPr lang="zh-CN" sz="97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是</a:t>
            </a:r>
            <a:r>
              <a:rPr lang="en-US" sz="97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WeavedBean </a:t>
            </a:r>
            <a:r>
              <a:rPr lang="zh-CN" sz="97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的别名</a:t>
            </a:r>
            <a:endParaRPr lang="zh-CN" sz="975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79" name="圆角矩形 1478"/>
          <p:cNvSpPr/>
          <p:nvPr/>
        </p:nvSpPr>
        <p:spPr>
          <a:xfrm>
            <a:off x="609600" y="3886200"/>
            <a:ext cx="4095750" cy="2400300"/>
          </a:xfrm>
          <a:prstGeom prst="roundRect">
            <a:avLst>
              <a:gd name="adj" fmla="val 4762"/>
            </a:avLst>
          </a:prstGeom>
          <a:solidFill>
            <a:srgbClr val="111C2E"/>
          </a:solidFill>
          <a:ln w="12700">
            <a:solidFill>
              <a:srgbClr val="38BDF8"/>
            </a:solidFill>
            <a:prstDash val="solid"/>
          </a:ln>
        </p:spPr>
        <p:txBody>
          <a:bodyPr/>
          <a:p/>
        </p:txBody>
      </p:sp>
      <p:sp>
        <p:nvSpPr>
          <p:cNvPr id="1480" name="文本框 1479" descr="{&quot;isTemplate&quot;:true,&quot;type&quot;:&quot;text&quot;}"/>
          <p:cNvSpPr txBox="1"/>
          <p:nvPr/>
        </p:nvSpPr>
        <p:spPr>
          <a:xfrm>
            <a:off x="800100" y="4076700"/>
            <a:ext cx="3714750" cy="2000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38BDF8"/>
                </a:solidFill>
                <a:latin typeface="微软雅黑" panose="020B0503020204020204" charset="-122"/>
                <a:ea typeface="微软雅黑" panose="020B0503020204020204" charset="-122"/>
              </a:rPr>
              <a:t>织入发生在首次调用</a:t>
            </a:r>
            <a:endParaRPr lang="zh-CN" sz="1275" b="1">
              <a:solidFill>
                <a:srgbClr val="38BDF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81" name="文本框 1480" descr="{&quot;isTemplate&quot;:true,&quot;type&quot;:&quot;text&quot;}"/>
          <p:cNvSpPr txBox="1"/>
          <p:nvPr/>
        </p:nvSpPr>
        <p:spPr>
          <a:xfrm>
            <a:off x="800100" y="4391025"/>
            <a:ext cx="3714750" cy="581025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80000"/>
              </a:lnSpc>
            </a:pPr>
            <a:r>
              <a:rPr lang="zh-CN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不是启动期，而是这些函数第一次被调用时算出切面链，之后缓存。</a:t>
            </a:r>
            <a:endParaRPr lang="zh-CN" sz="1050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82" name="文本框 1481" descr="{&quot;isTemplate&quot;:true,&quot;type&quot;:&quot;text&quot;}"/>
          <p:cNvSpPr txBox="1"/>
          <p:nvPr/>
        </p:nvSpPr>
        <p:spPr>
          <a:xfrm>
            <a:off x="800100" y="5067300"/>
            <a:ext cx="3714750" cy="2952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80000"/>
              </a:lnSpc>
            </a:pPr>
            <a:r>
              <a:rPr lang="zh-CN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好处是启动很快——不需要在启动时扫描所有类。</a:t>
            </a:r>
            <a:endParaRPr lang="zh-CN" sz="1050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83" name="圆角矩形 1482"/>
          <p:cNvSpPr/>
          <p:nvPr/>
        </p:nvSpPr>
        <p:spPr>
          <a:xfrm>
            <a:off x="4895850" y="1143000"/>
            <a:ext cx="6686550" cy="3581400"/>
          </a:xfrm>
          <a:prstGeom prst="roundRect">
            <a:avLst>
              <a:gd name="adj" fmla="val 3191"/>
            </a:avLst>
          </a:prstGeom>
          <a:solidFill>
            <a:srgbClr val="0B1220"/>
          </a:solidFill>
          <a:ln w="12700">
            <a:solidFill>
              <a:srgbClr val="1E293B"/>
            </a:solidFill>
            <a:prstDash val="solid"/>
          </a:ln>
        </p:spPr>
        <p:txBody>
          <a:bodyPr/>
          <a:p/>
        </p:txBody>
      </p:sp>
      <p:sp>
        <p:nvSpPr>
          <p:cNvPr id="1484" name="文本框 1483" descr="{&quot;isTemplate&quot;:true,&quot;type&quot;:&quot;text&quot;}"/>
          <p:cNvSpPr txBox="1"/>
          <p:nvPr/>
        </p:nvSpPr>
        <p:spPr>
          <a:xfrm>
            <a:off x="5086350" y="1333500"/>
            <a:ext cx="6305550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fdemo/boot/src/ControllerAspect.cj</a:t>
            </a:r>
            <a:endParaRPr lang="en-US" sz="105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85" name="文本框 1484" descr="{&quot;isTemplate&quot;:true,&quot;type&quot;:&quot;text&quot;}"/>
          <p:cNvSpPr txBox="1"/>
          <p:nvPr/>
        </p:nvSpPr>
        <p:spPr>
          <a:xfrm>
            <a:off x="5086350" y="1590675"/>
            <a:ext cx="6305550" cy="2571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en-US" sz="975">
                <a:solidFill>
                  <a:srgbClr val="22D3EE"/>
                </a:solidFill>
                <a:latin typeface="JetBrains Mono"/>
                <a:ea typeface="JetBrains Mono"/>
              </a:rPr>
              <a:t>@AspectRoute[ConfigExecutionRouteRule('controllerPointcut')]</a:t>
            </a:r>
            <a:endParaRPr lang="en-US" sz="975">
              <a:solidFill>
                <a:srgbClr val="22D3EE"/>
              </a:solidFill>
              <a:latin typeface="JetBrains Mono"/>
              <a:ea typeface="JetBrains Mono"/>
            </a:endParaRPr>
          </a:p>
        </p:txBody>
      </p:sp>
      <p:sp>
        <p:nvSpPr>
          <p:cNvPr id="1486" name="文本框 1485" descr="{&quot;isTemplate&quot;:true,&quot;type&quot;:&quot;text&quot;}"/>
          <p:cNvSpPr txBox="1"/>
          <p:nvPr/>
        </p:nvSpPr>
        <p:spPr>
          <a:xfrm>
            <a:off x="5086350" y="1847850"/>
            <a:ext cx="6305550" cy="2571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en-US" sz="975">
                <a:solidFill>
                  <a:srgbClr val="E2E8F0"/>
                </a:solidFill>
                <a:latin typeface="JetBrains Mono"/>
                <a:ea typeface="JetBrains Mono"/>
              </a:rPr>
              <a:t>@Bean</a:t>
            </a:r>
            <a:endParaRPr lang="en-US" sz="975">
              <a:solidFill>
                <a:srgbClr val="E2E8F0"/>
              </a:solidFill>
              <a:latin typeface="JetBrains Mono"/>
              <a:ea typeface="JetBrains Mono"/>
            </a:endParaRPr>
          </a:p>
        </p:txBody>
      </p:sp>
      <p:sp>
        <p:nvSpPr>
          <p:cNvPr id="1487" name="文本框 1486" descr="{&quot;isTemplate&quot;:true,&quot;type&quot;:&quot;text&quot;}"/>
          <p:cNvSpPr txBox="1"/>
          <p:nvPr/>
        </p:nvSpPr>
        <p:spPr>
          <a:xfrm>
            <a:off x="5086350" y="2105025"/>
            <a:ext cx="6305550" cy="2571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en-US" sz="975">
                <a:solidFill>
                  <a:srgbClr val="E2E8F0"/>
                </a:solidFill>
                <a:latin typeface="JetBrains Mono"/>
                <a:ea typeface="JetBrains Mono"/>
              </a:rPr>
              <a:t>public class ControllerAspect &lt;: Aspect {</a:t>
            </a:r>
            <a:endParaRPr lang="en-US" sz="975">
              <a:solidFill>
                <a:srgbClr val="E2E8F0"/>
              </a:solidFill>
              <a:latin typeface="JetBrains Mono"/>
              <a:ea typeface="JetBrains Mono"/>
            </a:endParaRPr>
          </a:p>
        </p:txBody>
      </p:sp>
      <p:sp>
        <p:nvSpPr>
          <p:cNvPr id="1488" name="文本框 1487" descr="{&quot;isTemplate&quot;:true,&quot;type&quot;:&quot;text&quot;}"/>
          <p:cNvSpPr txBox="1"/>
          <p:nvPr/>
        </p:nvSpPr>
        <p:spPr>
          <a:xfrm>
            <a:off x="5086350" y="2362200"/>
            <a:ext cx="6305550" cy="2571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en-US" sz="975">
                <a:solidFill>
                  <a:srgbClr val="E2E8F0"/>
                </a:solidFill>
                <a:latin typeface="JetBrains Mono"/>
                <a:ea typeface="JetBrains Mono"/>
              </a:rPr>
              <a:t>    private let log = LoggerFactory.getLogger&lt;ControllerAspect&gt;()</a:t>
            </a:r>
            <a:endParaRPr lang="en-US" sz="975">
              <a:solidFill>
                <a:srgbClr val="E2E8F0"/>
              </a:solidFill>
              <a:latin typeface="JetBrains Mono"/>
              <a:ea typeface="JetBrains Mono"/>
            </a:endParaRPr>
          </a:p>
        </p:txBody>
      </p:sp>
      <p:sp>
        <p:nvSpPr>
          <p:cNvPr id="1489" name="文本框 1488" descr="{&quot;isTemplate&quot;:true,&quot;type&quot;:&quot;text&quot;}"/>
          <p:cNvSpPr txBox="1"/>
          <p:nvPr/>
        </p:nvSpPr>
        <p:spPr>
          <a:xfrm>
            <a:off x="5086350" y="2619375"/>
            <a:ext cx="6305550" cy="514350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en-US" sz="975">
                <a:solidFill>
                  <a:srgbClr val="38BDF8"/>
                </a:solidFill>
                <a:latin typeface="JetBrains Mono"/>
                <a:ea typeface="JetBrains Mono"/>
              </a:rPr>
              <a:t>    public func around(funcInfo: InvocationFuncInfo, point: (Array&lt;Any&gt;) -&gt; Any): Any {</a:t>
            </a:r>
            <a:endParaRPr lang="en-US" sz="975">
              <a:solidFill>
                <a:srgbClr val="38BDF8"/>
              </a:solidFill>
              <a:latin typeface="JetBrains Mono"/>
              <a:ea typeface="JetBrains Mono"/>
            </a:endParaRPr>
          </a:p>
        </p:txBody>
      </p:sp>
      <p:sp>
        <p:nvSpPr>
          <p:cNvPr id="1490" name="文本框 1489" descr="{&quot;isTemplate&quot;:true,&quot;type&quot;:&quot;text&quot;}"/>
          <p:cNvSpPr txBox="1"/>
          <p:nvPr/>
        </p:nvSpPr>
        <p:spPr>
          <a:xfrm>
            <a:off x="5086350" y="3133725"/>
            <a:ext cx="6305550" cy="2571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en-US" sz="975">
                <a:solidFill>
                  <a:srgbClr val="38BDF8"/>
                </a:solidFill>
                <a:latin typeface="JetBrains Mono"/>
                <a:ea typeface="JetBrains Mono"/>
              </a:rPr>
              <a:t>        log.info('ControllerAspect around')</a:t>
            </a:r>
            <a:endParaRPr lang="en-US" sz="975">
              <a:solidFill>
                <a:srgbClr val="38BDF8"/>
              </a:solidFill>
              <a:latin typeface="JetBrains Mono"/>
              <a:ea typeface="JetBrains Mono"/>
            </a:endParaRPr>
          </a:p>
        </p:txBody>
      </p:sp>
      <p:sp>
        <p:nvSpPr>
          <p:cNvPr id="1491" name="文本框 1490" descr="{&quot;isTemplate&quot;:true,&quot;type&quot;:&quot;text&quot;}"/>
          <p:cNvSpPr txBox="1"/>
          <p:nvPr/>
        </p:nvSpPr>
        <p:spPr>
          <a:xfrm>
            <a:off x="5086350" y="3390900"/>
            <a:ext cx="6305550" cy="2571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en-US" sz="975">
                <a:solidFill>
                  <a:srgbClr val="38BDF8"/>
                </a:solidFill>
                <a:latin typeface="JetBrains Mono"/>
                <a:ea typeface="JetBrains Mono"/>
              </a:rPr>
              <a:t>        point(funcInfo.args)</a:t>
            </a:r>
            <a:endParaRPr lang="en-US" sz="975">
              <a:solidFill>
                <a:srgbClr val="38BDF8"/>
              </a:solidFill>
              <a:latin typeface="JetBrains Mono"/>
              <a:ea typeface="JetBrains Mono"/>
            </a:endParaRPr>
          </a:p>
        </p:txBody>
      </p:sp>
      <p:sp>
        <p:nvSpPr>
          <p:cNvPr id="1492" name="文本框 1491" descr="{&quot;isTemplate&quot;:true,&quot;type&quot;:&quot;text&quot;}"/>
          <p:cNvSpPr txBox="1"/>
          <p:nvPr/>
        </p:nvSpPr>
        <p:spPr>
          <a:xfrm>
            <a:off x="5086350" y="3648075"/>
            <a:ext cx="6305550" cy="2571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en-US" sz="975">
                <a:solidFill>
                  <a:srgbClr val="E2E8F0"/>
                </a:solidFill>
                <a:latin typeface="JetBrains Mono"/>
                <a:ea typeface="JetBrains Mono"/>
              </a:rPr>
              <a:t>    }</a:t>
            </a:r>
            <a:endParaRPr lang="en-US" sz="975">
              <a:solidFill>
                <a:srgbClr val="E2E8F0"/>
              </a:solidFill>
              <a:latin typeface="JetBrains Mono"/>
              <a:ea typeface="JetBrains Mono"/>
            </a:endParaRPr>
          </a:p>
        </p:txBody>
      </p:sp>
      <p:sp>
        <p:nvSpPr>
          <p:cNvPr id="1493" name="文本框 1492" descr="{&quot;isTemplate&quot;:true,&quot;type&quot;:&quot;text&quot;}"/>
          <p:cNvSpPr txBox="1"/>
          <p:nvPr/>
        </p:nvSpPr>
        <p:spPr>
          <a:xfrm>
            <a:off x="5086350" y="3905250"/>
            <a:ext cx="6305550" cy="2571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en-US" sz="975">
                <a:solidFill>
                  <a:srgbClr val="E2E8F0"/>
                </a:solidFill>
                <a:latin typeface="JetBrains Mono"/>
                <a:ea typeface="JetBrains Mono"/>
              </a:rPr>
              <a:t>}</a:t>
            </a:r>
            <a:endParaRPr lang="en-US" sz="975">
              <a:solidFill>
                <a:srgbClr val="E2E8F0"/>
              </a:solidFill>
              <a:latin typeface="JetBrains Mono"/>
              <a:ea typeface="JetBrains Mono"/>
            </a:endParaRPr>
          </a:p>
        </p:txBody>
      </p:sp>
      <p:sp>
        <p:nvSpPr>
          <p:cNvPr id="1494" name="文本框 1493" descr="{&quot;isTemplate&quot;:true,&quot;type&quot;:&quot;text&quot;}"/>
          <p:cNvSpPr txBox="1"/>
          <p:nvPr/>
        </p:nvSpPr>
        <p:spPr>
          <a:xfrm>
            <a:off x="5086350" y="4276725"/>
            <a:ext cx="6305550" cy="2571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en-US" sz="975">
                <a:solidFill>
                  <a:srgbClr val="F59E0B"/>
                </a:solidFill>
                <a:latin typeface="JetBrains Mono"/>
                <a:ea typeface="JetBrains Mono"/>
              </a:rPr>
              <a:t>export controllerPointcut='*::*..*Controller.*(**): *'</a:t>
            </a:r>
            <a:endParaRPr lang="en-US" sz="975">
              <a:solidFill>
                <a:srgbClr val="F59E0B"/>
              </a:solidFill>
              <a:latin typeface="JetBrains Mono"/>
              <a:ea typeface="JetBrains Mono"/>
            </a:endParaRPr>
          </a:p>
        </p:txBody>
      </p:sp>
      <p:sp>
        <p:nvSpPr>
          <p:cNvPr id="1495" name="圆角矩形 1494"/>
          <p:cNvSpPr/>
          <p:nvPr/>
        </p:nvSpPr>
        <p:spPr>
          <a:xfrm>
            <a:off x="4895850" y="4857750"/>
            <a:ext cx="6686550" cy="1428750"/>
          </a:xfrm>
          <a:prstGeom prst="roundRect">
            <a:avLst>
              <a:gd name="adj" fmla="val 8000"/>
            </a:avLst>
          </a:prstGeom>
          <a:solidFill>
            <a:srgbClr val="38BDF8">
              <a:alpha val="6000"/>
            </a:srgbClr>
          </a:solidFill>
          <a:ln w="12700">
            <a:solidFill>
              <a:srgbClr val="38BDF8"/>
            </a:solidFill>
            <a:prstDash val="solid"/>
          </a:ln>
        </p:spPr>
        <p:txBody>
          <a:bodyPr/>
          <a:p/>
        </p:txBody>
      </p:sp>
      <p:sp>
        <p:nvSpPr>
          <p:cNvPr id="1496" name="文本框 1495" descr="{&quot;isTemplate&quot;:true,&quot;type&quot;:&quot;text&quot;}"/>
          <p:cNvSpPr txBox="1"/>
          <p:nvPr/>
        </p:nvSpPr>
        <p:spPr>
          <a:xfrm>
            <a:off x="5067300" y="5029200"/>
            <a:ext cx="6343650" cy="1714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38BDF8"/>
                </a:solidFill>
                <a:latin typeface="微软雅黑" panose="020B0503020204020204" charset="-122"/>
                <a:ea typeface="微软雅黑" panose="020B0503020204020204" charset="-122"/>
              </a:rPr>
              <a:t>controllerPointcut </a:t>
            </a:r>
            <a:r>
              <a:rPr lang="zh-CN" sz="1125" b="1">
                <a:solidFill>
                  <a:srgbClr val="38BDF8"/>
                </a:solidFill>
                <a:latin typeface="微软雅黑" panose="020B0503020204020204" charset="-122"/>
                <a:ea typeface="微软雅黑" panose="020B0503020204020204" charset="-122"/>
              </a:rPr>
              <a:t>不是</a:t>
            </a:r>
            <a:r>
              <a:rPr lang="en-US" sz="1125" b="1">
                <a:solidFill>
                  <a:srgbClr val="38BDF8"/>
                </a:solidFill>
                <a:latin typeface="微软雅黑" panose="020B0503020204020204" charset="-122"/>
                <a:ea typeface="微软雅黑" panose="020B0503020204020204" charset="-122"/>
              </a:rPr>
              <a:t> MVC </a:t>
            </a:r>
            <a:r>
              <a:rPr lang="zh-CN" sz="1125" b="1">
                <a:solidFill>
                  <a:srgbClr val="38BDF8"/>
                </a:solidFill>
                <a:latin typeface="微软雅黑" panose="020B0503020204020204" charset="-122"/>
                <a:ea typeface="微软雅黑" panose="020B0503020204020204" charset="-122"/>
              </a:rPr>
              <a:t>的配置项</a:t>
            </a:r>
            <a:endParaRPr lang="zh-CN" sz="1125" b="1">
              <a:solidFill>
                <a:srgbClr val="38BDF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97" name="文本框 1496" descr="{&quot;isTemplate&quot;:true,&quot;type&quot;:&quot;text&quot;}"/>
          <p:cNvSpPr txBox="1"/>
          <p:nvPr/>
        </p:nvSpPr>
        <p:spPr>
          <a:xfrm>
            <a:off x="5067300" y="5257800"/>
            <a:ext cx="6343650" cy="2762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zh-CN" sz="105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它是为这个切面专门起的名字：去配置项里读</a:t>
            </a:r>
            <a:r>
              <a:rPr lang="en-US" sz="105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 controllerPointcut</a:t>
            </a:r>
            <a:r>
              <a:rPr lang="zh-CN" sz="105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，把它当作</a:t>
            </a:r>
            <a:r>
              <a:rPr lang="en-US" sz="105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 ExecutionRouteRule </a:t>
            </a:r>
            <a:r>
              <a:rPr lang="zh-CN" sz="105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规则。</a:t>
            </a:r>
            <a:endParaRPr lang="zh-CN" sz="1050">
              <a:solidFill>
                <a:srgbClr val="E2E8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98" name="文本框 1497" descr="{&quot;isTemplate&quot;:true,&quot;type&quot;:&quot;text&quot;}"/>
          <p:cNvSpPr txBox="1"/>
          <p:nvPr/>
        </p:nvSpPr>
        <p:spPr>
          <a:xfrm>
            <a:off x="5067300" y="5572125"/>
            <a:ext cx="6343650" cy="552450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zh-CN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表达式读作：任意组织下、任意多级包名下、以</a:t>
            </a:r>
            <a:r>
              <a:rPr lang="en-US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Controller </a:t>
            </a:r>
            <a:r>
              <a:rPr lang="zh-CN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结尾的类的、任意参数、任意返回类型的全部公共实例函数。</a:t>
            </a:r>
            <a:endParaRPr lang="zh-CN" sz="1050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99" name="任意多边形 1498"/>
          <p:cNvSpPr/>
          <p:nvPr/>
        </p:nvSpPr>
        <p:spPr>
          <a:xfrm>
            <a:off x="609600" y="6286500"/>
            <a:ext cx="10972800" cy="381000"/>
          </a:xfrm>
          <a:custGeom>
            <a:avLst/>
            <a:gdLst/>
            <a:ahLst/>
            <a:cxnLst/>
            <a:pathLst>
              <a:path w="1152" h="40">
                <a:moveTo>
                  <a:pt x="0" y="0"/>
                </a:moveTo>
                <a:lnTo>
                  <a:pt x="1152" y="0"/>
                </a:lnTo>
                <a:lnTo>
                  <a:pt x="1152" y="1"/>
                </a:lnTo>
                <a:lnTo>
                  <a:pt x="0" y="1"/>
                </a:lnTo>
                <a:close/>
              </a:path>
            </a:pathLst>
          </a:custGeom>
          <a:solidFill>
            <a:srgbClr val="1E293B"/>
          </a:solidFill>
        </p:spPr>
        <p:txBody>
          <a:bodyPr/>
          <a:p/>
        </p:txBody>
      </p:sp>
      <p:sp>
        <p:nvSpPr>
          <p:cNvPr id="1500" name="文本框 1499" descr="{&quot;isTemplate&quot;:true,&quot;type&quot;:&quot;text&quot;}"/>
          <p:cNvSpPr txBox="1"/>
          <p:nvPr/>
        </p:nvSpPr>
        <p:spPr>
          <a:xfrm>
            <a:off x="609600" y="6410325"/>
            <a:ext cx="2219325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fountain · 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一站式服务器应用开发工具库</a:t>
            </a:r>
            <a:endParaRPr lang="zh-CN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01" name="文本框 1500" descr="{&quot;isTemplate&quot;:true,&quot;type&quot;:&quot;text&quot;}"/>
          <p:cNvSpPr txBox="1"/>
          <p:nvPr/>
        </p:nvSpPr>
        <p:spPr>
          <a:xfrm>
            <a:off x="11087100" y="6410325"/>
            <a:ext cx="495300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44 / 116</a:t>
            </a:r>
            <a:endParaRPr lang="en-US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50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3" name="矩形 150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220"/>
          </a:solidFill>
        </p:spPr>
        <p:txBody>
          <a:bodyPr/>
          <a:p/>
        </p:txBody>
      </p:sp>
      <p:sp>
        <p:nvSpPr>
          <p:cNvPr id="1504" name="矩形 1503"/>
          <p:cNvSpPr/>
          <p:nvPr/>
        </p:nvSpPr>
        <p:spPr>
          <a:xfrm>
            <a:off x="609600" y="476250"/>
            <a:ext cx="38100" cy="381000"/>
          </a:xfrm>
          <a:prstGeom prst="rect">
            <a:avLst/>
          </a:prstGeom>
          <a:solidFill>
            <a:srgbClr val="38BDF8"/>
          </a:solidFill>
        </p:spPr>
        <p:txBody>
          <a:bodyPr/>
          <a:p/>
        </p:txBody>
      </p:sp>
      <p:sp>
        <p:nvSpPr>
          <p:cNvPr id="1505" name="文本框 1504" descr="{&quot;isTemplate&quot;:true,&quot;type&quot;:&quot;text&quot;}"/>
          <p:cNvSpPr txBox="1"/>
          <p:nvPr/>
        </p:nvSpPr>
        <p:spPr>
          <a:xfrm>
            <a:off x="819150" y="304800"/>
            <a:ext cx="9020175" cy="2095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第</a:t>
            </a: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 7 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章</a:t>
            </a: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 · AOP f_aspect · 7.5</a:t>
            </a:r>
            <a:endParaRPr lang="en-US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06" name="文本框 1505" descr="{&quot;isTemplate&quot;:true,&quot;type&quot;:&quot;text&quot;}"/>
          <p:cNvSpPr txBox="1"/>
          <p:nvPr/>
        </p:nvSpPr>
        <p:spPr>
          <a:xfrm>
            <a:off x="819150" y="514350"/>
            <a:ext cx="9020175" cy="5143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en-US" sz="2550" b="1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AOP </a:t>
            </a:r>
            <a:r>
              <a:rPr lang="zh-CN" sz="2550" b="1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的两个杀手级用法</a:t>
            </a:r>
            <a:endParaRPr lang="zh-CN" sz="2550" b="1">
              <a:solidFill>
                <a:srgbClr val="E2E8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07" name="文本框 1506" descr="{&quot;isTemplate&quot;:true,&quot;type&quot;:&quot;text&quot;}"/>
          <p:cNvSpPr txBox="1"/>
          <p:nvPr/>
        </p:nvSpPr>
        <p:spPr>
          <a:xfrm>
            <a:off x="10010775" y="590550"/>
            <a:ext cx="1571625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事务</a:t>
            </a: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 · 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统一日志</a:t>
            </a: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 · 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部署期可配</a:t>
            </a:r>
            <a:endParaRPr lang="zh-CN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08" name="圆角矩形 1507"/>
          <p:cNvSpPr/>
          <p:nvPr/>
        </p:nvSpPr>
        <p:spPr>
          <a:xfrm>
            <a:off x="609600" y="1143000"/>
            <a:ext cx="3552825" cy="5143500"/>
          </a:xfrm>
          <a:prstGeom prst="roundRect">
            <a:avLst>
              <a:gd name="adj" fmla="val 3217"/>
            </a:avLst>
          </a:prstGeom>
          <a:solidFill>
            <a:srgbClr val="111C2E"/>
          </a:solidFill>
          <a:ln w="12700">
            <a:solidFill>
              <a:srgbClr val="38BDF8"/>
            </a:solidFill>
            <a:prstDash val="solid"/>
          </a:ln>
        </p:spPr>
        <p:txBody>
          <a:bodyPr/>
          <a:p/>
        </p:txBody>
      </p:sp>
      <p:sp>
        <p:nvSpPr>
          <p:cNvPr id="1509" name="文本框 1508" descr="{&quot;isTemplate&quot;:true,&quot;type&quot;:&quot;text&quot;}"/>
          <p:cNvSpPr txBox="1"/>
          <p:nvPr/>
        </p:nvSpPr>
        <p:spPr>
          <a:xfrm>
            <a:off x="838200" y="1371600"/>
            <a:ext cx="3095625" cy="5048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3300" b="1">
                <a:solidFill>
                  <a:srgbClr val="38BDF8"/>
                </a:solidFill>
                <a:latin typeface="JetBrains Mono"/>
                <a:ea typeface="JetBrains Mono"/>
              </a:rPr>
              <a:t>01</a:t>
            </a:r>
            <a:endParaRPr lang="en-US" sz="3300" b="1">
              <a:solidFill>
                <a:srgbClr val="38BDF8"/>
              </a:solidFill>
              <a:latin typeface="JetBrains Mono"/>
              <a:ea typeface="JetBrains Mono"/>
            </a:endParaRPr>
          </a:p>
        </p:txBody>
      </p:sp>
      <p:sp>
        <p:nvSpPr>
          <p:cNvPr id="1510" name="文本框 1509" descr="{&quot;isTemplate&quot;:true,&quot;type&quot;:&quot;text&quot;}"/>
          <p:cNvSpPr txBox="1"/>
          <p:nvPr/>
        </p:nvSpPr>
        <p:spPr>
          <a:xfrm>
            <a:off x="838200" y="2028825"/>
            <a:ext cx="3095625" cy="2286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事务</a:t>
            </a:r>
            <a:endParaRPr lang="zh-CN" sz="1500" b="1">
              <a:solidFill>
                <a:srgbClr val="E2E8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11" name="文本框 1510" descr="{&quot;isTemplate&quot;:true,&quot;type&quot;:&quot;text&quot;}"/>
          <p:cNvSpPr txBox="1"/>
          <p:nvPr/>
        </p:nvSpPr>
        <p:spPr>
          <a:xfrm>
            <a:off x="838200" y="2390775"/>
            <a:ext cx="3095625" cy="619125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80000"/>
              </a:lnSpc>
            </a:pPr>
            <a:r>
              <a:rPr lang="en-US" sz="112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f_orm </a:t>
            </a:r>
            <a:r>
              <a:rPr lang="zh-CN" sz="112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的</a:t>
            </a:r>
            <a:r>
              <a:rPr lang="en-US" sz="112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TransactionAspect </a:t>
            </a:r>
            <a:r>
              <a:rPr lang="zh-CN" sz="112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就是这样一个切面：</a:t>
            </a:r>
            <a:endParaRPr lang="zh-CN" sz="1125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12" name="圆角矩形 1511"/>
          <p:cNvSpPr/>
          <p:nvPr/>
        </p:nvSpPr>
        <p:spPr>
          <a:xfrm>
            <a:off x="838200" y="3124200"/>
            <a:ext cx="3095625" cy="1533525"/>
          </a:xfrm>
          <a:prstGeom prst="roundRect">
            <a:avLst>
              <a:gd name="adj" fmla="val 4969"/>
            </a:avLst>
          </a:prstGeom>
          <a:solidFill>
            <a:srgbClr val="0B1220"/>
          </a:solidFill>
          <a:ln w="12700">
            <a:solidFill>
              <a:srgbClr val="1E293B"/>
            </a:solidFill>
            <a:prstDash val="solid"/>
          </a:ln>
        </p:spPr>
        <p:txBody>
          <a:bodyPr/>
          <a:p/>
        </p:txBody>
      </p:sp>
      <p:sp>
        <p:nvSpPr>
          <p:cNvPr id="1513" name="文本框 1512" descr="{&quot;isTemplate&quot;:true,&quot;type&quot;:&quot;text&quot;}"/>
          <p:cNvSpPr txBox="1"/>
          <p:nvPr/>
        </p:nvSpPr>
        <p:spPr>
          <a:xfrm>
            <a:off x="971550" y="3257550"/>
            <a:ext cx="2828925" cy="1266825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en-US" sz="975">
                <a:solidFill>
                  <a:srgbClr val="22D3EE"/>
                </a:solidFill>
                <a:latin typeface="JetBrains Mono"/>
                <a:ea typeface="JetBrains Mono"/>
              </a:rPr>
              <a:t>@AspectRoute[</a:t>
            </a:r>
            <a:endParaRPr lang="en-US" sz="975">
              <a:solidFill>
                <a:srgbClr val="22D3EE"/>
              </a:solidFill>
              <a:latin typeface="JetBrains Mono"/>
              <a:ea typeface="JetBrains Mono"/>
            </a:endParaRPr>
          </a:p>
          <a:p>
            <a:pPr>
              <a:lnSpc>
                <a:spcPct val="170000"/>
              </a:lnSpc>
            </a:pPr>
            <a:r>
              <a:rPr lang="zh-CN" sz="975">
                <a:solidFill>
                  <a:srgbClr val="22D3EE"/>
                </a:solidFill>
                <a:latin typeface="JetBrains Mono"/>
                <a:ea typeface="JetBrains Mono"/>
              </a:rPr>
              <a:t>　</a:t>
            </a:r>
            <a:r>
              <a:rPr lang="en-US" sz="975">
                <a:solidFill>
                  <a:srgbClr val="22D3EE"/>
                </a:solidFill>
                <a:latin typeface="JetBrains Mono"/>
                <a:ea typeface="JetBrains Mono"/>
              </a:rPr>
              <a:t>FuncAnnotationRouteRule("…Transactional")</a:t>
            </a:r>
            <a:endParaRPr lang="en-US" sz="975">
              <a:solidFill>
                <a:srgbClr val="22D3EE"/>
              </a:solidFill>
              <a:latin typeface="JetBrains Mono"/>
              <a:ea typeface="JetBrains Mono"/>
            </a:endParaRPr>
          </a:p>
          <a:p>
            <a:pPr>
              <a:lnSpc>
                <a:spcPct val="170000"/>
              </a:lnSpc>
            </a:pPr>
            <a:r>
              <a:rPr lang="zh-CN" sz="975">
                <a:solidFill>
                  <a:srgbClr val="22D3EE"/>
                </a:solidFill>
                <a:latin typeface="JetBrains Mono"/>
                <a:ea typeface="JetBrains Mono"/>
              </a:rPr>
              <a:t>　</a:t>
            </a:r>
            <a:r>
              <a:rPr lang="en-US" sz="975">
                <a:solidFill>
                  <a:srgbClr val="22D3EE"/>
                </a:solidFill>
                <a:latin typeface="JetBrains Mono"/>
                <a:ea typeface="JetBrains Mono"/>
              </a:rPr>
              <a:t>| ConfigExecutionRouteRule(ORMConfig.…)]</a:t>
            </a:r>
            <a:endParaRPr lang="en-US" sz="975">
              <a:solidFill>
                <a:srgbClr val="22D3EE"/>
              </a:solidFill>
              <a:latin typeface="JetBrains Mono"/>
              <a:ea typeface="JetBrains Mono"/>
            </a:endParaRPr>
          </a:p>
        </p:txBody>
      </p:sp>
      <p:sp>
        <p:nvSpPr>
          <p:cNvPr id="1514" name="文本框 1513" descr="{&quot;isTemplate&quot;:true,&quot;type&quot;:&quot;text&quot;}"/>
          <p:cNvSpPr txBox="1"/>
          <p:nvPr/>
        </p:nvSpPr>
        <p:spPr>
          <a:xfrm>
            <a:off x="838200" y="4791075"/>
            <a:ext cx="3095625" cy="619125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80000"/>
              </a:lnSpc>
            </a:pPr>
            <a:r>
              <a:rPr lang="zh-CN" sz="112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注解命中，或者配置命中函数签名，事务切面就织入。</a:t>
            </a:r>
            <a:endParaRPr lang="zh-CN" sz="1125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15" name="文本框 1514" descr="{&quot;isTemplate&quot;:true,&quot;type&quot;:&quot;text&quot;}"/>
          <p:cNvSpPr txBox="1"/>
          <p:nvPr/>
        </p:nvSpPr>
        <p:spPr>
          <a:xfrm>
            <a:off x="838200" y="5743575"/>
            <a:ext cx="3095625" cy="3143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80000"/>
              </a:lnSpc>
            </a:pPr>
            <a:r>
              <a:rPr lang="zh-CN" sz="1125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两条路是</a:t>
            </a:r>
            <a:r>
              <a:rPr lang="en-US" sz="1125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 OR </a:t>
            </a:r>
            <a:r>
              <a:rPr lang="zh-CN" sz="1125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关系</a:t>
            </a:r>
            <a:r>
              <a:rPr lang="en-US" sz="1125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 —— </a:t>
            </a:r>
            <a:r>
              <a:rPr lang="zh-CN" sz="1125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见第十二章。</a:t>
            </a:r>
            <a:endParaRPr lang="zh-CN" sz="1125">
              <a:solidFill>
                <a:srgbClr val="F59E0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16" name="圆角矩形 1515"/>
          <p:cNvSpPr/>
          <p:nvPr/>
        </p:nvSpPr>
        <p:spPr>
          <a:xfrm>
            <a:off x="4314825" y="1143000"/>
            <a:ext cx="3562350" cy="5143500"/>
          </a:xfrm>
          <a:prstGeom prst="roundRect">
            <a:avLst>
              <a:gd name="adj" fmla="val 3209"/>
            </a:avLst>
          </a:prstGeom>
          <a:solidFill>
            <a:srgbClr val="111C2E"/>
          </a:solidFill>
          <a:ln w="12700">
            <a:solidFill>
              <a:srgbClr val="1E293B"/>
            </a:solidFill>
            <a:prstDash val="solid"/>
          </a:ln>
        </p:spPr>
        <p:txBody>
          <a:bodyPr/>
          <a:p/>
        </p:txBody>
      </p:sp>
      <p:sp>
        <p:nvSpPr>
          <p:cNvPr id="1517" name="文本框 1516" descr="{&quot;isTemplate&quot;:true,&quot;type&quot;:&quot;text&quot;}"/>
          <p:cNvSpPr txBox="1"/>
          <p:nvPr/>
        </p:nvSpPr>
        <p:spPr>
          <a:xfrm>
            <a:off x="4543425" y="1371600"/>
            <a:ext cx="3105150" cy="5048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3300" b="1">
                <a:solidFill>
                  <a:srgbClr val="22D3EE"/>
                </a:solidFill>
                <a:latin typeface="JetBrains Mono"/>
                <a:ea typeface="JetBrains Mono"/>
              </a:rPr>
              <a:t>02</a:t>
            </a:r>
            <a:endParaRPr lang="en-US" sz="3300" b="1">
              <a:solidFill>
                <a:srgbClr val="22D3EE"/>
              </a:solidFill>
              <a:latin typeface="JetBrains Mono"/>
              <a:ea typeface="JetBrains Mono"/>
            </a:endParaRPr>
          </a:p>
        </p:txBody>
      </p:sp>
      <p:sp>
        <p:nvSpPr>
          <p:cNvPr id="1518" name="文本框 1517" descr="{&quot;isTemplate&quot;:true,&quot;type&quot;:&quot;text&quot;}"/>
          <p:cNvSpPr txBox="1"/>
          <p:nvPr/>
        </p:nvSpPr>
        <p:spPr>
          <a:xfrm>
            <a:off x="4543425" y="2028825"/>
            <a:ext cx="3105150" cy="2286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统一日志</a:t>
            </a:r>
            <a:r>
              <a:rPr lang="en-US" sz="1500" b="1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 / </a:t>
            </a:r>
            <a:r>
              <a:rPr lang="zh-CN" sz="1500" b="1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耗时</a:t>
            </a:r>
            <a:r>
              <a:rPr lang="en-US" sz="1500" b="1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 / </a:t>
            </a:r>
            <a:r>
              <a:rPr lang="zh-CN" sz="1500" b="1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审计</a:t>
            </a:r>
            <a:endParaRPr lang="zh-CN" sz="1500" b="1">
              <a:solidFill>
                <a:srgbClr val="E2E8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19" name="文本框 1518" descr="{&quot;isTemplate&quot;:true,&quot;type&quot;:&quot;text&quot;}"/>
          <p:cNvSpPr txBox="1"/>
          <p:nvPr/>
        </p:nvSpPr>
        <p:spPr>
          <a:xfrm>
            <a:off x="4543425" y="2390775"/>
            <a:ext cx="3105150" cy="619125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80000"/>
              </a:lnSpc>
            </a:pPr>
            <a:r>
              <a:rPr lang="zh-CN" sz="112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就像</a:t>
            </a:r>
            <a:r>
              <a:rPr lang="en-US" sz="112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ControllerAspect</a:t>
            </a:r>
            <a:r>
              <a:rPr lang="zh-CN" sz="112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：一处改动覆盖全部</a:t>
            </a:r>
            <a:r>
              <a:rPr lang="en-US" sz="112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controller</a:t>
            </a:r>
            <a:r>
              <a:rPr lang="zh-CN" sz="112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。</a:t>
            </a:r>
            <a:endParaRPr lang="zh-CN" sz="1125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20" name="文本框 1519" descr="{&quot;isTemplate&quot;:true,&quot;type&quot;:&quot;text&quot;}"/>
          <p:cNvSpPr txBox="1"/>
          <p:nvPr/>
        </p:nvSpPr>
        <p:spPr>
          <a:xfrm>
            <a:off x="4543425" y="3124200"/>
            <a:ext cx="3105150" cy="619125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80000"/>
              </a:lnSpc>
            </a:pPr>
            <a:r>
              <a:rPr lang="zh-CN" sz="112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接口开头的「耗时统计</a:t>
            </a:r>
            <a:r>
              <a:rPr lang="en-US" sz="112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+ </a:t>
            </a:r>
            <a:r>
              <a:rPr lang="zh-CN" sz="112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出入参日志」这十几行，从此写在切面里一次就够。</a:t>
            </a:r>
            <a:endParaRPr lang="zh-CN" sz="1125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21" name="文本框 1520" descr="{&quot;isTemplate&quot;:true,&quot;type&quot;:&quot;text&quot;}"/>
          <p:cNvSpPr txBox="1"/>
          <p:nvPr/>
        </p:nvSpPr>
        <p:spPr>
          <a:xfrm>
            <a:off x="4543425" y="3857625"/>
            <a:ext cx="3105150" cy="619125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80000"/>
              </a:lnSpc>
            </a:pPr>
            <a:r>
              <a:rPr lang="zh-CN" sz="112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需要审计时，同样是在</a:t>
            </a:r>
            <a:r>
              <a:rPr lang="en-US" sz="112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around </a:t>
            </a:r>
            <a:r>
              <a:rPr lang="zh-CN" sz="112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里加一段，而不是改</a:t>
            </a:r>
            <a:r>
              <a:rPr lang="en-US" sz="112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N </a:t>
            </a:r>
            <a:r>
              <a:rPr lang="zh-CN" sz="112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个</a:t>
            </a:r>
            <a:r>
              <a:rPr lang="en-US" sz="112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controller</a:t>
            </a:r>
            <a:r>
              <a:rPr lang="zh-CN" sz="112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。</a:t>
            </a:r>
            <a:endParaRPr lang="zh-CN" sz="1125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22" name="文本框 1521" descr="{&quot;isTemplate&quot;:true,&quot;type&quot;:&quot;text&quot;}"/>
          <p:cNvSpPr txBox="1"/>
          <p:nvPr/>
        </p:nvSpPr>
        <p:spPr>
          <a:xfrm>
            <a:off x="4543425" y="5743575"/>
            <a:ext cx="3105150" cy="3143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80000"/>
              </a:lnSpc>
            </a:pPr>
            <a:r>
              <a:rPr lang="zh-CN" sz="112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这就是「横切逻辑集中一处」的实际收益。</a:t>
            </a:r>
            <a:endParaRPr lang="zh-CN" sz="112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23" name="圆角矩形 1522"/>
          <p:cNvSpPr/>
          <p:nvPr/>
        </p:nvSpPr>
        <p:spPr>
          <a:xfrm>
            <a:off x="8029575" y="1143000"/>
            <a:ext cx="3552825" cy="5143500"/>
          </a:xfrm>
          <a:prstGeom prst="roundRect">
            <a:avLst>
              <a:gd name="adj" fmla="val 3217"/>
            </a:avLst>
          </a:prstGeom>
          <a:solidFill>
            <a:srgbClr val="F59E0B">
              <a:alpha val="7000"/>
            </a:srgbClr>
          </a:solidFill>
          <a:ln w="12700">
            <a:solidFill>
              <a:srgbClr val="F59E0B"/>
            </a:solidFill>
            <a:prstDash val="solid"/>
          </a:ln>
        </p:spPr>
        <p:txBody>
          <a:bodyPr/>
          <a:p/>
        </p:txBody>
      </p:sp>
      <p:sp>
        <p:nvSpPr>
          <p:cNvPr id="1524" name="文本框 1523" descr="{&quot;isTemplate&quot;:true,&quot;type&quot;:&quot;text&quot;}"/>
          <p:cNvSpPr txBox="1"/>
          <p:nvPr/>
        </p:nvSpPr>
        <p:spPr>
          <a:xfrm>
            <a:off x="8258175" y="1371600"/>
            <a:ext cx="3095625" cy="5048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3300" b="1">
                <a:solidFill>
                  <a:srgbClr val="F59E0B"/>
                </a:solidFill>
                <a:latin typeface="JetBrains Mono"/>
                <a:ea typeface="JetBrains Mono"/>
              </a:rPr>
              <a:t>03</a:t>
            </a:r>
            <a:endParaRPr lang="en-US" sz="3300" b="1">
              <a:solidFill>
                <a:srgbClr val="F59E0B"/>
              </a:solidFill>
              <a:latin typeface="JetBrains Mono"/>
              <a:ea typeface="JetBrains Mono"/>
            </a:endParaRPr>
          </a:p>
        </p:txBody>
      </p:sp>
      <p:sp>
        <p:nvSpPr>
          <p:cNvPr id="1525" name="文本框 1524" descr="{&quot;isTemplate&quot;:true,&quot;type&quot;:&quot;text&quot;}"/>
          <p:cNvSpPr txBox="1"/>
          <p:nvPr/>
        </p:nvSpPr>
        <p:spPr>
          <a:xfrm>
            <a:off x="8258175" y="2028825"/>
            <a:ext cx="3095625" cy="2286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切点是部署期可配的</a:t>
            </a:r>
            <a:endParaRPr lang="zh-CN" sz="1500" b="1">
              <a:solidFill>
                <a:srgbClr val="E2E8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26" name="文本框 1525" descr="{&quot;isTemplate&quot;:true,&quot;type&quot;:&quot;text&quot;}"/>
          <p:cNvSpPr txBox="1"/>
          <p:nvPr/>
        </p:nvSpPr>
        <p:spPr>
          <a:xfrm>
            <a:off x="8258175" y="2390775"/>
            <a:ext cx="3095625" cy="619125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80000"/>
              </a:lnSpc>
            </a:pPr>
            <a:r>
              <a:rPr lang="en-US" sz="112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ConfigExecutionRouteRule </a:t>
            </a:r>
            <a:r>
              <a:rPr lang="zh-CN" sz="112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让切点表达式从环境变量读。</a:t>
            </a:r>
            <a:endParaRPr lang="zh-CN" sz="1125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27" name="文本框 1526" descr="{&quot;isTemplate&quot;:true,&quot;type&quot;:&quot;text&quot;}"/>
          <p:cNvSpPr txBox="1"/>
          <p:nvPr/>
        </p:nvSpPr>
        <p:spPr>
          <a:xfrm>
            <a:off x="8258175" y="3124200"/>
            <a:ext cx="3095625" cy="3143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80000"/>
              </a:lnSpc>
            </a:pPr>
            <a:r>
              <a:rPr lang="zh-CN" sz="112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开发环境织上；生产环境改窄，甚至直接关掉。</a:t>
            </a:r>
            <a:endParaRPr lang="zh-CN" sz="1125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28" name="文本框 1527" descr="{&quot;isTemplate&quot;:true,&quot;type&quot;:&quot;text&quot;}"/>
          <p:cNvSpPr txBox="1"/>
          <p:nvPr/>
        </p:nvSpPr>
        <p:spPr>
          <a:xfrm>
            <a:off x="8258175" y="5743575"/>
            <a:ext cx="3095625" cy="3143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80000"/>
              </a:lnSpc>
            </a:pPr>
            <a:r>
              <a:rPr lang="zh-CN" sz="1125" b="1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都不用改代码，改环境变量就够了。</a:t>
            </a:r>
            <a:endParaRPr lang="zh-CN" sz="1125" b="1">
              <a:solidFill>
                <a:srgbClr val="F59E0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29" name="任意多边形 1528"/>
          <p:cNvSpPr/>
          <p:nvPr/>
        </p:nvSpPr>
        <p:spPr>
          <a:xfrm>
            <a:off x="609600" y="6286500"/>
            <a:ext cx="10972800" cy="381000"/>
          </a:xfrm>
          <a:custGeom>
            <a:avLst/>
            <a:gdLst/>
            <a:ahLst/>
            <a:cxnLst/>
            <a:pathLst>
              <a:path w="1152" h="40">
                <a:moveTo>
                  <a:pt x="0" y="0"/>
                </a:moveTo>
                <a:lnTo>
                  <a:pt x="1152" y="0"/>
                </a:lnTo>
                <a:lnTo>
                  <a:pt x="1152" y="1"/>
                </a:lnTo>
                <a:lnTo>
                  <a:pt x="0" y="1"/>
                </a:lnTo>
                <a:close/>
              </a:path>
            </a:pathLst>
          </a:custGeom>
          <a:solidFill>
            <a:srgbClr val="1E293B"/>
          </a:solidFill>
        </p:spPr>
        <p:txBody>
          <a:bodyPr/>
          <a:p/>
        </p:txBody>
      </p:sp>
      <p:sp>
        <p:nvSpPr>
          <p:cNvPr id="1530" name="文本框 1529" descr="{&quot;isTemplate&quot;:true,&quot;type&quot;:&quot;text&quot;}"/>
          <p:cNvSpPr txBox="1"/>
          <p:nvPr/>
        </p:nvSpPr>
        <p:spPr>
          <a:xfrm>
            <a:off x="609600" y="6410325"/>
            <a:ext cx="2219325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fountain · 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一站式服务器应用开发工具库</a:t>
            </a:r>
            <a:endParaRPr lang="zh-CN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31" name="文本框 1530" descr="{&quot;isTemplate&quot;:true,&quot;type&quot;:&quot;text&quot;}"/>
          <p:cNvSpPr txBox="1"/>
          <p:nvPr/>
        </p:nvSpPr>
        <p:spPr>
          <a:xfrm>
            <a:off x="11087100" y="6410325"/>
            <a:ext cx="495300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45 / 116</a:t>
            </a:r>
            <a:endParaRPr lang="en-US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53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3" name="矩形 153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220"/>
          </a:solidFill>
        </p:spPr>
        <p:txBody>
          <a:bodyPr/>
          <a:p/>
        </p:txBody>
      </p:sp>
      <p:sp>
        <p:nvSpPr>
          <p:cNvPr id="1534" name="矩形 1533"/>
          <p:cNvSpPr/>
          <p:nvPr/>
        </p:nvSpPr>
        <p:spPr>
          <a:xfrm>
            <a:off x="609600" y="476250"/>
            <a:ext cx="38100" cy="381000"/>
          </a:xfrm>
          <a:prstGeom prst="rect">
            <a:avLst/>
          </a:prstGeom>
          <a:solidFill>
            <a:srgbClr val="38BDF8"/>
          </a:solidFill>
        </p:spPr>
        <p:txBody>
          <a:bodyPr/>
          <a:p/>
        </p:txBody>
      </p:sp>
      <p:sp>
        <p:nvSpPr>
          <p:cNvPr id="1535" name="文本框 1534" descr="{&quot;isTemplate&quot;:true,&quot;type&quot;:&quot;text&quot;}"/>
          <p:cNvSpPr txBox="1"/>
          <p:nvPr/>
        </p:nvSpPr>
        <p:spPr>
          <a:xfrm>
            <a:off x="819150" y="304800"/>
            <a:ext cx="8839200" cy="2095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第</a:t>
            </a: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 8 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章</a:t>
            </a: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 · 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数据</a:t>
            </a: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 f_data · 8.1 / 8.2</a:t>
            </a:r>
            <a:endParaRPr lang="en-US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36" name="文本框 1535" descr="{&quot;isTemplate&quot;:true,&quot;type&quot;:&quot;text&quot;}"/>
          <p:cNvSpPr txBox="1"/>
          <p:nvPr/>
        </p:nvSpPr>
        <p:spPr>
          <a:xfrm>
            <a:off x="819150" y="514350"/>
            <a:ext cx="8839200" cy="5143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2550" b="1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为什么先讲</a:t>
            </a:r>
            <a:r>
              <a:rPr lang="en-US" sz="2550" b="1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 f_data</a:t>
            </a:r>
            <a:r>
              <a:rPr lang="zh-CN" sz="2550" b="1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，以及那把钥匙</a:t>
            </a:r>
            <a:endParaRPr lang="zh-CN" sz="2550" b="1">
              <a:solidFill>
                <a:srgbClr val="E2E8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37" name="文本框 1536" descr="{&quot;isTemplate&quot;:true,&quot;type&quot;:&quot;text&quot;}"/>
          <p:cNvSpPr txBox="1"/>
          <p:nvPr/>
        </p:nvSpPr>
        <p:spPr>
          <a:xfrm>
            <a:off x="9829800" y="590550"/>
            <a:ext cx="1752600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MVC / ORM / JWT 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的共同底座</a:t>
            </a:r>
            <a:endParaRPr lang="zh-CN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38" name="圆角矩形 1537"/>
          <p:cNvSpPr/>
          <p:nvPr/>
        </p:nvSpPr>
        <p:spPr>
          <a:xfrm>
            <a:off x="609600" y="1143000"/>
            <a:ext cx="3571875" cy="2133600"/>
          </a:xfrm>
          <a:prstGeom prst="roundRect">
            <a:avLst>
              <a:gd name="adj" fmla="val 5357"/>
            </a:avLst>
          </a:prstGeom>
          <a:solidFill>
            <a:srgbClr val="111C2E"/>
          </a:solidFill>
          <a:ln w="12700">
            <a:solidFill>
              <a:srgbClr val="1E293B"/>
            </a:solidFill>
            <a:prstDash val="solid"/>
          </a:ln>
        </p:spPr>
        <p:txBody>
          <a:bodyPr/>
          <a:p/>
        </p:txBody>
      </p:sp>
      <p:sp>
        <p:nvSpPr>
          <p:cNvPr id="1539" name="文本框 1538" descr="{&quot;isTemplate&quot;:true,&quot;type&quot;:&quot;text&quot;}"/>
          <p:cNvSpPr txBox="1"/>
          <p:nvPr/>
        </p:nvSpPr>
        <p:spPr>
          <a:xfrm>
            <a:off x="800100" y="1333500"/>
            <a:ext cx="3190875" cy="3714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400" b="1">
                <a:solidFill>
                  <a:srgbClr val="38BDF8"/>
                </a:solidFill>
                <a:latin typeface="JetBrains Mono"/>
                <a:ea typeface="JetBrains Mono"/>
              </a:rPr>
              <a:t>1</a:t>
            </a:r>
            <a:endParaRPr lang="en-US" sz="2400" b="1">
              <a:solidFill>
                <a:srgbClr val="38BDF8"/>
              </a:solidFill>
              <a:latin typeface="JetBrains Mono"/>
              <a:ea typeface="JetBrains Mono"/>
            </a:endParaRPr>
          </a:p>
        </p:txBody>
      </p:sp>
      <p:sp>
        <p:nvSpPr>
          <p:cNvPr id="1540" name="文本框 1539" descr="{&quot;isTemplate&quot;:true,&quot;type&quot;:&quot;text&quot;}"/>
          <p:cNvSpPr txBox="1"/>
          <p:nvPr/>
        </p:nvSpPr>
        <p:spPr>
          <a:xfrm>
            <a:off x="800100" y="1819275"/>
            <a:ext cx="3190875" cy="1905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进来：变成对象</a:t>
            </a:r>
            <a:endParaRPr lang="zh-CN" sz="1200" b="1">
              <a:solidFill>
                <a:srgbClr val="E2E8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41" name="文本框 1540" descr="{&quot;isTemplate&quot;:true,&quot;type&quot;:&quot;text&quot;}"/>
          <p:cNvSpPr txBox="1"/>
          <p:nvPr/>
        </p:nvSpPr>
        <p:spPr>
          <a:xfrm>
            <a:off x="800100" y="2085975"/>
            <a:ext cx="3190875" cy="2762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en-US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HTTP </a:t>
            </a:r>
            <a:r>
              <a:rPr lang="zh-CN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请求</a:t>
            </a:r>
            <a:r>
              <a:rPr lang="en-US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/ </a:t>
            </a:r>
            <a:r>
              <a:rPr lang="zh-CN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数据库行</a:t>
            </a:r>
            <a:r>
              <a:rPr lang="en-US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/ </a:t>
            </a:r>
            <a:r>
              <a:rPr lang="zh-CN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配置</a:t>
            </a:r>
            <a:r>
              <a:rPr lang="en-US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→ </a:t>
            </a:r>
            <a:r>
              <a:rPr lang="zh-CN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对象</a:t>
            </a:r>
            <a:endParaRPr lang="zh-CN" sz="1050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42" name="圆角矩形 1541"/>
          <p:cNvSpPr/>
          <p:nvPr/>
        </p:nvSpPr>
        <p:spPr>
          <a:xfrm>
            <a:off x="4314825" y="1143000"/>
            <a:ext cx="3562350" cy="2133600"/>
          </a:xfrm>
          <a:prstGeom prst="roundRect">
            <a:avLst>
              <a:gd name="adj" fmla="val 5357"/>
            </a:avLst>
          </a:prstGeom>
          <a:solidFill>
            <a:srgbClr val="111C2E"/>
          </a:solidFill>
          <a:ln w="12700">
            <a:solidFill>
              <a:srgbClr val="1E293B"/>
            </a:solidFill>
            <a:prstDash val="solid"/>
          </a:ln>
        </p:spPr>
        <p:txBody>
          <a:bodyPr/>
          <a:p/>
        </p:txBody>
      </p:sp>
      <p:sp>
        <p:nvSpPr>
          <p:cNvPr id="1543" name="文本框 1542" descr="{&quot;isTemplate&quot;:true,&quot;type&quot;:&quot;text&quot;}"/>
          <p:cNvSpPr txBox="1"/>
          <p:nvPr/>
        </p:nvSpPr>
        <p:spPr>
          <a:xfrm>
            <a:off x="4505325" y="1333500"/>
            <a:ext cx="3181350" cy="3714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400" b="1">
                <a:solidFill>
                  <a:srgbClr val="22D3EE"/>
                </a:solidFill>
                <a:latin typeface="JetBrains Mono"/>
                <a:ea typeface="JetBrains Mono"/>
              </a:rPr>
              <a:t>2</a:t>
            </a:r>
            <a:endParaRPr lang="en-US" sz="2400" b="1">
              <a:solidFill>
                <a:srgbClr val="22D3EE"/>
              </a:solidFill>
              <a:latin typeface="JetBrains Mono"/>
              <a:ea typeface="JetBrains Mono"/>
            </a:endParaRPr>
          </a:p>
        </p:txBody>
      </p:sp>
      <p:sp>
        <p:nvSpPr>
          <p:cNvPr id="1544" name="文本框 1543" descr="{&quot;isTemplate&quot;:true,&quot;type&quot;:&quot;text&quot;}"/>
          <p:cNvSpPr txBox="1"/>
          <p:nvPr/>
        </p:nvSpPr>
        <p:spPr>
          <a:xfrm>
            <a:off x="4505325" y="1819275"/>
            <a:ext cx="3181350" cy="1905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搬运：对象到对象</a:t>
            </a:r>
            <a:endParaRPr lang="zh-CN" sz="1200" b="1">
              <a:solidFill>
                <a:srgbClr val="E2E8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45" name="文本框 1544" descr="{&quot;isTemplate&quot;:true,&quot;type&quot;:&quot;text&quot;}"/>
          <p:cNvSpPr txBox="1"/>
          <p:nvPr/>
        </p:nvSpPr>
        <p:spPr>
          <a:xfrm>
            <a:off x="4505325" y="2085975"/>
            <a:ext cx="3181350" cy="2762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en-US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PO → DTO</a:t>
            </a:r>
            <a:r>
              <a:rPr lang="zh-CN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、</a:t>
            </a:r>
            <a:r>
              <a:rPr lang="en-US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DTO → Entity</a:t>
            </a:r>
            <a:endParaRPr lang="en-US" sz="1050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46" name="圆角矩形 1545"/>
          <p:cNvSpPr/>
          <p:nvPr/>
        </p:nvSpPr>
        <p:spPr>
          <a:xfrm>
            <a:off x="8010525" y="1143000"/>
            <a:ext cx="3571875" cy="2133600"/>
          </a:xfrm>
          <a:prstGeom prst="roundRect">
            <a:avLst>
              <a:gd name="adj" fmla="val 5357"/>
            </a:avLst>
          </a:prstGeom>
          <a:solidFill>
            <a:srgbClr val="111C2E"/>
          </a:solidFill>
          <a:ln w="12700">
            <a:solidFill>
              <a:srgbClr val="1E293B"/>
            </a:solidFill>
            <a:prstDash val="solid"/>
          </a:ln>
        </p:spPr>
        <p:txBody>
          <a:bodyPr/>
          <a:p/>
        </p:txBody>
      </p:sp>
      <p:sp>
        <p:nvSpPr>
          <p:cNvPr id="1547" name="文本框 1546" descr="{&quot;isTemplate&quot;:true,&quot;type&quot;:&quot;text&quot;}"/>
          <p:cNvSpPr txBox="1"/>
          <p:nvPr/>
        </p:nvSpPr>
        <p:spPr>
          <a:xfrm>
            <a:off x="8201025" y="1333500"/>
            <a:ext cx="3190875" cy="3714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400" b="1">
                <a:solidFill>
                  <a:srgbClr val="F59E0B"/>
                </a:solidFill>
                <a:latin typeface="JetBrains Mono"/>
                <a:ea typeface="JetBrains Mono"/>
              </a:rPr>
              <a:t>3</a:t>
            </a:r>
            <a:endParaRPr lang="en-US" sz="2400" b="1">
              <a:solidFill>
                <a:srgbClr val="F59E0B"/>
              </a:solidFill>
              <a:latin typeface="JetBrains Mono"/>
              <a:ea typeface="JetBrains Mono"/>
            </a:endParaRPr>
          </a:p>
        </p:txBody>
      </p:sp>
      <p:sp>
        <p:nvSpPr>
          <p:cNvPr id="1548" name="文本框 1547" descr="{&quot;isTemplate&quot;:true,&quot;type&quot;:&quot;text&quot;}"/>
          <p:cNvSpPr txBox="1"/>
          <p:nvPr/>
        </p:nvSpPr>
        <p:spPr>
          <a:xfrm>
            <a:off x="8201025" y="1819275"/>
            <a:ext cx="3190875" cy="1905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出去：变成响应</a:t>
            </a:r>
            <a:endParaRPr lang="zh-CN" sz="1200" b="1">
              <a:solidFill>
                <a:srgbClr val="E2E8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49" name="文本框 1548" descr="{&quot;isTemplate&quot;:true,&quot;type&quot;:&quot;text&quot;}"/>
          <p:cNvSpPr txBox="1"/>
          <p:nvPr/>
        </p:nvSpPr>
        <p:spPr>
          <a:xfrm>
            <a:off x="8201025" y="2085975"/>
            <a:ext cx="3190875" cy="2762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zh-CN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对象</a:t>
            </a:r>
            <a:r>
              <a:rPr lang="en-US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→ JSON / </a:t>
            </a:r>
            <a:r>
              <a:rPr lang="zh-CN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其它格式</a:t>
            </a:r>
            <a:endParaRPr lang="zh-CN" sz="1050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50" name="圆角矩形 1549"/>
          <p:cNvSpPr/>
          <p:nvPr/>
        </p:nvSpPr>
        <p:spPr>
          <a:xfrm>
            <a:off x="609600" y="3429000"/>
            <a:ext cx="4381500" cy="2857500"/>
          </a:xfrm>
          <a:prstGeom prst="roundRect">
            <a:avLst>
              <a:gd name="adj" fmla="val 4000"/>
            </a:avLst>
          </a:prstGeom>
          <a:solidFill>
            <a:srgbClr val="0B1220"/>
          </a:solidFill>
          <a:ln w="12700">
            <a:solidFill>
              <a:srgbClr val="1E293B"/>
            </a:solidFill>
            <a:prstDash val="solid"/>
          </a:ln>
        </p:spPr>
        <p:txBody>
          <a:bodyPr/>
          <a:p/>
        </p:txBody>
      </p:sp>
      <p:sp>
        <p:nvSpPr>
          <p:cNvPr id="1551" name="文本框 1550" descr="{&quot;isTemplate&quot;:true,&quot;type&quot;:&quot;text&quot;}"/>
          <p:cNvSpPr txBox="1"/>
          <p:nvPr/>
        </p:nvSpPr>
        <p:spPr>
          <a:xfrm>
            <a:off x="800100" y="3619500"/>
            <a:ext cx="4000500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一把钥匙</a:t>
            </a:r>
            <a:endParaRPr lang="zh-CN" sz="105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52" name="文本框 1551" descr="{&quot;isTemplate&quot;:true,&quot;type&quot;:&quot;text&quot;}"/>
          <p:cNvSpPr txBox="1"/>
          <p:nvPr/>
        </p:nvSpPr>
        <p:spPr>
          <a:xfrm>
            <a:off x="800100" y="3876675"/>
            <a:ext cx="4000500" cy="3333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90000"/>
              </a:lnSpc>
            </a:pPr>
            <a:r>
              <a:rPr lang="en-US" sz="1125">
                <a:solidFill>
                  <a:srgbClr val="22D3EE"/>
                </a:solidFill>
                <a:latin typeface="JetBrains Mono"/>
                <a:ea typeface="JetBrains Mono"/>
              </a:rPr>
              <a:t>@DataAssist[equal hash tostring props fields]</a:t>
            </a:r>
            <a:endParaRPr lang="en-US" sz="1125">
              <a:solidFill>
                <a:srgbClr val="22D3EE"/>
              </a:solidFill>
              <a:latin typeface="JetBrains Mono"/>
              <a:ea typeface="JetBrains Mono"/>
            </a:endParaRPr>
          </a:p>
        </p:txBody>
      </p:sp>
      <p:sp>
        <p:nvSpPr>
          <p:cNvPr id="1553" name="文本框 1552" descr="{&quot;isTemplate&quot;:true,&quot;type&quot;:&quot;text&quot;}"/>
          <p:cNvSpPr txBox="1"/>
          <p:nvPr/>
        </p:nvSpPr>
        <p:spPr>
          <a:xfrm>
            <a:off x="800100" y="4324350"/>
            <a:ext cx="4000500" cy="2952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80000"/>
              </a:lnSpc>
            </a:pPr>
            <a:r>
              <a:rPr lang="en-US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public open class TestData1 </a:t>
            </a:r>
            <a:r>
              <a:rPr lang="en-US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{</a:t>
            </a:r>
            <a:r>
              <a:rPr lang="en-US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... </a:t>
            </a:r>
            <a:r>
              <a:rPr lang="en-US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}</a:t>
            </a:r>
            <a:endParaRPr lang="en-US" sz="1050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54" name="文本框 1553" descr="{&quot;isTemplate&quot;:true,&quot;type&quot;:&quot;text&quot;}"/>
          <p:cNvSpPr txBox="1"/>
          <p:nvPr/>
        </p:nvSpPr>
        <p:spPr>
          <a:xfrm>
            <a:off x="800100" y="4733925"/>
            <a:ext cx="4000500" cy="581025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80000"/>
              </a:lnSpc>
            </a:pPr>
            <a:r>
              <a:rPr lang="zh-CN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一个宏，把「属性、相等、哈希、</a:t>
            </a:r>
            <a:r>
              <a:rPr lang="en-US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ToString</a:t>
            </a:r>
            <a:r>
              <a:rPr lang="zh-CN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、复制与</a:t>
            </a:r>
            <a:r>
              <a:rPr lang="en-US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JSON </a:t>
            </a:r>
            <a:r>
              <a:rPr lang="zh-CN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互转」全部生成好。</a:t>
            </a:r>
            <a:endParaRPr lang="zh-CN" sz="1050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55" name="文本框 1554" descr="{&quot;isTemplate&quot;:true,&quot;type&quot;:&quot;text&quot;}"/>
          <p:cNvSpPr txBox="1"/>
          <p:nvPr/>
        </p:nvSpPr>
        <p:spPr>
          <a:xfrm>
            <a:off x="800100" y="5800725"/>
            <a:ext cx="4000500" cy="2952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80000"/>
              </a:lnSpc>
            </a:pPr>
            <a:r>
              <a:rPr lang="zh-CN" sz="105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它是</a:t>
            </a:r>
            <a:r>
              <a:rPr lang="en-US" sz="105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 MVC </a:t>
            </a:r>
            <a:r>
              <a:rPr lang="zh-CN" sz="105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参数绑定、</a:t>
            </a:r>
            <a:r>
              <a:rPr lang="en-US" sz="105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ORM </a:t>
            </a:r>
            <a:r>
              <a:rPr lang="zh-CN" sz="105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结果映射、</a:t>
            </a:r>
            <a:r>
              <a:rPr lang="en-US" sz="105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JWT </a:t>
            </a:r>
            <a:r>
              <a:rPr lang="zh-CN" sz="105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负载填充的共同底座。</a:t>
            </a:r>
            <a:endParaRPr lang="zh-CN" sz="105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graphicFrame>
        <p:nvGraphicFramePr>
          <p:cNvPr id="1556" name="表格 1555"/>
          <p:cNvGraphicFramePr/>
          <p:nvPr/>
        </p:nvGraphicFramePr>
        <p:xfrm>
          <a:off x="5143500" y="3429000"/>
          <a:ext cx="6438900" cy="2857500"/>
        </p:xfrm>
        <a:graphic>
          <a:graphicData uri="http://schemas.openxmlformats.org/drawingml/2006/table">
            <a:tbl>
              <a:tblPr/>
              <a:tblGrid>
                <a:gridCol w="873685"/>
                <a:gridCol w="5565215"/>
              </a:tblGrid>
              <a:tr h="476250"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 b="1">
                          <a:solidFill>
                            <a:srgbClr val="22D3EE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属性</a:t>
                      </a:r>
                      <a:endParaRPr sz="975" b="1">
                        <a:solidFill>
                          <a:srgbClr val="22D3EE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6233A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 b="1">
                          <a:solidFill>
                            <a:srgbClr val="22D3EE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生成什么</a:t>
                      </a:r>
                      <a:endParaRPr sz="975" b="1">
                        <a:solidFill>
                          <a:srgbClr val="22D3EE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6233A"/>
                    </a:solidFill>
                  </a:tcPr>
                </a:tc>
              </a:tr>
              <a:tr h="476250"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38BDF8"/>
                          </a:solidFill>
                          <a:latin typeface="JetBrains Mono"/>
                          <a:ea typeface="JetBrains Mono"/>
                        </a:rPr>
                        <a:t>equal</a:t>
                      </a:r>
                      <a:endParaRPr sz="975">
                        <a:solidFill>
                          <a:srgbClr val="38BDF8"/>
                        </a:solidFill>
                        <a:latin typeface="JetBrains Mono"/>
                        <a:ea typeface="JetBrains Mono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实现 Equatable</a:t>
                      </a:r>
                      <a:endParaRPr sz="975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476250"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38BDF8"/>
                          </a:solidFill>
                          <a:latin typeface="JetBrains Mono"/>
                          <a:ea typeface="JetBrains Mono"/>
                        </a:rPr>
                        <a:t>hash</a:t>
                      </a:r>
                      <a:endParaRPr sz="975">
                        <a:solidFill>
                          <a:srgbClr val="38BDF8"/>
                        </a:solidFill>
                        <a:latin typeface="JetBrains Mono"/>
                        <a:ea typeface="JetBrains Mono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实现 Hashable</a:t>
                      </a:r>
                      <a:endParaRPr sz="975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476250"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38BDF8"/>
                          </a:solidFill>
                          <a:latin typeface="JetBrains Mono"/>
                          <a:ea typeface="JetBrains Mono"/>
                        </a:rPr>
                        <a:t>tostring</a:t>
                      </a:r>
                      <a:endParaRPr sz="975">
                        <a:solidFill>
                          <a:srgbClr val="38BDF8"/>
                        </a:solidFill>
                        <a:latin typeface="JetBrains Mono"/>
                        <a:ea typeface="JetBrains Mono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实现 ToString</a:t>
                      </a:r>
                      <a:endParaRPr sz="975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476250"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38BDF8"/>
                          </a:solidFill>
                          <a:latin typeface="JetBrains Mono"/>
                          <a:ea typeface="JetBrains Mono"/>
                        </a:rPr>
                        <a:t>props</a:t>
                      </a:r>
                      <a:endParaRPr sz="975">
                        <a:solidFill>
                          <a:srgbClr val="38BDF8"/>
                        </a:solidFill>
                        <a:latin typeface="JetBrains Mono"/>
                        <a:ea typeface="JetBrains Mono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把非公共实例成员变量改写成公共成员属性</a:t>
                      </a:r>
                      <a:endParaRPr sz="975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476250"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38BDF8"/>
                          </a:solidFill>
                          <a:latin typeface="JetBrains Mono"/>
                          <a:ea typeface="JetBrains Mono"/>
                        </a:rPr>
                        <a:t>fields</a:t>
                      </a:r>
                      <a:endParaRPr sz="975">
                        <a:solidFill>
                          <a:srgbClr val="38BDF8"/>
                        </a:solidFill>
                        <a:latin typeface="JetBrains Mono"/>
                        <a:ea typeface="JetBrains Mono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实例间复制、实例与 JSON 互转（dataFields / toData / tryFromData）</a:t>
                      </a:r>
                      <a:endParaRPr sz="975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</a:tbl>
          </a:graphicData>
        </a:graphic>
      </p:graphicFrame>
      <p:sp>
        <p:nvSpPr>
          <p:cNvPr id="1557" name="任意多边形 1556"/>
          <p:cNvSpPr/>
          <p:nvPr/>
        </p:nvSpPr>
        <p:spPr>
          <a:xfrm>
            <a:off x="609600" y="6286500"/>
            <a:ext cx="10972800" cy="381000"/>
          </a:xfrm>
          <a:custGeom>
            <a:avLst/>
            <a:gdLst/>
            <a:ahLst/>
            <a:cxnLst/>
            <a:pathLst>
              <a:path w="1152" h="40">
                <a:moveTo>
                  <a:pt x="0" y="0"/>
                </a:moveTo>
                <a:lnTo>
                  <a:pt x="1152" y="0"/>
                </a:lnTo>
                <a:lnTo>
                  <a:pt x="1152" y="1"/>
                </a:lnTo>
                <a:lnTo>
                  <a:pt x="0" y="1"/>
                </a:lnTo>
                <a:close/>
              </a:path>
            </a:pathLst>
          </a:custGeom>
          <a:solidFill>
            <a:srgbClr val="1E293B"/>
          </a:solidFill>
        </p:spPr>
        <p:txBody>
          <a:bodyPr/>
          <a:p/>
        </p:txBody>
      </p:sp>
      <p:sp>
        <p:nvSpPr>
          <p:cNvPr id="1558" name="文本框 1557" descr="{&quot;isTemplate&quot;:true,&quot;type&quot;:&quot;text&quot;}"/>
          <p:cNvSpPr txBox="1"/>
          <p:nvPr/>
        </p:nvSpPr>
        <p:spPr>
          <a:xfrm>
            <a:off x="609600" y="6410325"/>
            <a:ext cx="2219325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fountain · 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一站式服务器应用开发工具库</a:t>
            </a:r>
            <a:endParaRPr lang="zh-CN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59" name="文本框 1558" descr="{&quot;isTemplate&quot;:true,&quot;type&quot;:&quot;text&quot;}"/>
          <p:cNvSpPr txBox="1"/>
          <p:nvPr/>
        </p:nvSpPr>
        <p:spPr>
          <a:xfrm>
            <a:off x="11087100" y="6410325"/>
            <a:ext cx="495300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46 / 116</a:t>
            </a:r>
            <a:endParaRPr lang="en-US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56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1" name="矩形 156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220"/>
          </a:solidFill>
        </p:spPr>
        <p:txBody>
          <a:bodyPr/>
          <a:p/>
        </p:txBody>
      </p:sp>
      <p:sp>
        <p:nvSpPr>
          <p:cNvPr id="1562" name="矩形 1561"/>
          <p:cNvSpPr/>
          <p:nvPr/>
        </p:nvSpPr>
        <p:spPr>
          <a:xfrm>
            <a:off x="609600" y="476250"/>
            <a:ext cx="38100" cy="381000"/>
          </a:xfrm>
          <a:prstGeom prst="rect">
            <a:avLst/>
          </a:prstGeom>
          <a:solidFill>
            <a:srgbClr val="38BDF8"/>
          </a:solidFill>
        </p:spPr>
        <p:txBody>
          <a:bodyPr/>
          <a:p/>
        </p:txBody>
      </p:sp>
      <p:sp>
        <p:nvSpPr>
          <p:cNvPr id="1563" name="文本框 1562" descr="{&quot;isTemplate&quot;:true,&quot;type&quot;:&quot;text&quot;}"/>
          <p:cNvSpPr txBox="1"/>
          <p:nvPr/>
        </p:nvSpPr>
        <p:spPr>
          <a:xfrm>
            <a:off x="819150" y="304800"/>
            <a:ext cx="9601200" cy="2095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第</a:t>
            </a: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 8 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章</a:t>
            </a: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 · 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数据</a:t>
            </a: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 f_data · 8.2 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续</a:t>
            </a:r>
            <a:endParaRPr lang="zh-CN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64" name="文本框 1563" descr="{&quot;isTemplate&quot;:true,&quot;type&quot;:&quot;text&quot;}"/>
          <p:cNvSpPr txBox="1"/>
          <p:nvPr/>
        </p:nvSpPr>
        <p:spPr>
          <a:xfrm>
            <a:off x="819150" y="514350"/>
            <a:ext cx="9601200" cy="5143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en-US" sz="2550" b="1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props </a:t>
            </a:r>
            <a:r>
              <a:rPr lang="zh-CN" sz="2550" b="1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展开：不破坏封装的「反射」</a:t>
            </a:r>
            <a:endParaRPr lang="zh-CN" sz="2550" b="1">
              <a:solidFill>
                <a:srgbClr val="E2E8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65" name="文本框 1564" descr="{&quot;isTemplate&quot;:true,&quot;type&quot;:&quot;text&quot;}"/>
          <p:cNvSpPr txBox="1"/>
          <p:nvPr/>
        </p:nvSpPr>
        <p:spPr>
          <a:xfrm>
            <a:off x="10591800" y="590550"/>
            <a:ext cx="990600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最有说服力的一屏</a:t>
            </a:r>
            <a:endParaRPr lang="zh-CN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66" name="圆角矩形 1565"/>
          <p:cNvSpPr/>
          <p:nvPr/>
        </p:nvSpPr>
        <p:spPr>
          <a:xfrm>
            <a:off x="609600" y="1143000"/>
            <a:ext cx="5410200" cy="3733800"/>
          </a:xfrm>
          <a:prstGeom prst="roundRect">
            <a:avLst>
              <a:gd name="adj" fmla="val 3061"/>
            </a:avLst>
          </a:prstGeom>
          <a:solidFill>
            <a:srgbClr val="0B1220"/>
          </a:solidFill>
          <a:ln w="12700">
            <a:solidFill>
              <a:srgbClr val="1E293B"/>
            </a:solidFill>
            <a:prstDash val="solid"/>
          </a:ln>
        </p:spPr>
        <p:txBody>
          <a:bodyPr/>
          <a:p/>
        </p:txBody>
      </p:sp>
      <p:sp>
        <p:nvSpPr>
          <p:cNvPr id="1567" name="文本框 1566" descr="{&quot;isTemplate&quot;:true,&quot;type&quot;:&quot;text&quot;}"/>
          <p:cNvSpPr txBox="1"/>
          <p:nvPr/>
        </p:nvSpPr>
        <p:spPr>
          <a:xfrm>
            <a:off x="800100" y="1333500"/>
            <a:ext cx="5029200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你写的</a:t>
            </a:r>
            <a:endParaRPr lang="zh-CN" sz="105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68" name="文本框 1567" descr="{&quot;isTemplate&quot;:true,&quot;type&quot;:&quot;text&quot;}"/>
          <p:cNvSpPr txBox="1"/>
          <p:nvPr/>
        </p:nvSpPr>
        <p:spPr>
          <a:xfrm>
            <a:off x="800100" y="1590675"/>
            <a:ext cx="5029200" cy="3048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85000"/>
              </a:lnSpc>
            </a:pPr>
            <a:r>
              <a:rPr lang="en-US" sz="1050">
                <a:solidFill>
                  <a:srgbClr val="E2E8F0"/>
                </a:solidFill>
                <a:latin typeface="JetBrains Mono"/>
                <a:ea typeface="JetBrains Mono"/>
              </a:rPr>
              <a:t>@DataAssist[props]</a:t>
            </a:r>
            <a:endParaRPr lang="en-US" sz="1050">
              <a:solidFill>
                <a:srgbClr val="E2E8F0"/>
              </a:solidFill>
              <a:latin typeface="JetBrains Mono"/>
              <a:ea typeface="JetBrains Mono"/>
            </a:endParaRPr>
          </a:p>
        </p:txBody>
      </p:sp>
      <p:sp>
        <p:nvSpPr>
          <p:cNvPr id="1569" name="文本框 1568" descr="{&quot;isTemplate&quot;:true,&quot;type&quot;:&quot;text&quot;}"/>
          <p:cNvSpPr txBox="1"/>
          <p:nvPr/>
        </p:nvSpPr>
        <p:spPr>
          <a:xfrm>
            <a:off x="800100" y="1895475"/>
            <a:ext cx="5029200" cy="3048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85000"/>
              </a:lnSpc>
            </a:pPr>
            <a:r>
              <a:rPr lang="en-US" sz="1050">
                <a:solidFill>
                  <a:srgbClr val="E2E8F0"/>
                </a:solidFill>
                <a:latin typeface="JetBrains Mono"/>
                <a:ea typeface="JetBrains Mono"/>
              </a:rPr>
              <a:t>public class A </a:t>
            </a:r>
            <a:r>
              <a:rPr lang="en-US" sz="1050">
                <a:solidFill>
                  <a:srgbClr val="E2E8F0"/>
                </a:solidFill>
                <a:latin typeface="JetBrains Mono"/>
                <a:ea typeface="JetBrains Mono"/>
              </a:rPr>
              <a:t>{</a:t>
            </a:r>
            <a:endParaRPr lang="en-US" sz="1050">
              <a:solidFill>
                <a:srgbClr val="E2E8F0"/>
              </a:solidFill>
              <a:latin typeface="JetBrains Mono"/>
              <a:ea typeface="JetBrains Mono"/>
            </a:endParaRPr>
          </a:p>
        </p:txBody>
      </p:sp>
      <p:sp>
        <p:nvSpPr>
          <p:cNvPr id="1570" name="文本框 1569" descr="{&quot;isTemplate&quot;:true,&quot;type&quot;:&quot;text&quot;}"/>
          <p:cNvSpPr txBox="1"/>
          <p:nvPr/>
        </p:nvSpPr>
        <p:spPr>
          <a:xfrm>
            <a:off x="800100" y="2200275"/>
            <a:ext cx="5029200" cy="3048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85000"/>
              </a:lnSpc>
            </a:pPr>
            <a:r>
              <a:rPr lang="en-US" sz="1050">
                <a:solidFill>
                  <a:srgbClr val="22D3EE"/>
                </a:solidFill>
                <a:latin typeface="JetBrains Mono"/>
                <a:ea typeface="JetBrains Mono"/>
              </a:rPr>
              <a:t>    private var a: String = ''</a:t>
            </a:r>
            <a:endParaRPr lang="en-US" sz="1050">
              <a:solidFill>
                <a:srgbClr val="22D3EE"/>
              </a:solidFill>
              <a:latin typeface="JetBrains Mono"/>
              <a:ea typeface="JetBrains Mono"/>
            </a:endParaRPr>
          </a:p>
        </p:txBody>
      </p:sp>
      <p:sp>
        <p:nvSpPr>
          <p:cNvPr id="1571" name="文本框 1570" descr="{&quot;isTemplate&quot;:true,&quot;type&quot;:&quot;text&quot;}"/>
          <p:cNvSpPr txBox="1"/>
          <p:nvPr/>
        </p:nvSpPr>
        <p:spPr>
          <a:xfrm>
            <a:off x="800100" y="2505075"/>
            <a:ext cx="5029200" cy="3048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85000"/>
              </a:lnSpc>
            </a:pPr>
            <a:r>
              <a:rPr lang="en-US" sz="1050">
                <a:solidFill>
                  <a:srgbClr val="22D3EE"/>
                </a:solidFill>
                <a:latin typeface="JetBrains Mono"/>
                <a:ea typeface="JetBrains Mono"/>
              </a:rPr>
              <a:t>    private let b: Int64 = 0</a:t>
            </a:r>
            <a:endParaRPr lang="en-US" sz="1050">
              <a:solidFill>
                <a:srgbClr val="22D3EE"/>
              </a:solidFill>
              <a:latin typeface="JetBrains Mono"/>
              <a:ea typeface="JetBrains Mono"/>
            </a:endParaRPr>
          </a:p>
        </p:txBody>
      </p:sp>
      <p:sp>
        <p:nvSpPr>
          <p:cNvPr id="1572" name="文本框 1571" descr="{&quot;isTemplate&quot;:true,&quot;type&quot;:&quot;text&quot;}"/>
          <p:cNvSpPr txBox="1"/>
          <p:nvPr/>
        </p:nvSpPr>
        <p:spPr>
          <a:xfrm>
            <a:off x="800100" y="2809875"/>
            <a:ext cx="5029200" cy="3048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85000"/>
              </a:lnSpc>
            </a:pPr>
            <a:r>
              <a:rPr lang="en-US" sz="1050">
                <a:solidFill>
                  <a:srgbClr val="E2E8F0"/>
                </a:solidFill>
                <a:latin typeface="JetBrains Mono"/>
                <a:ea typeface="JetBrains Mono"/>
              </a:rPr>
              <a:t>}</a:t>
            </a:r>
            <a:endParaRPr lang="en-US" sz="1050">
              <a:solidFill>
                <a:srgbClr val="E2E8F0"/>
              </a:solidFill>
              <a:latin typeface="JetBrains Mono"/>
              <a:ea typeface="JetBrains Mono"/>
            </a:endParaRPr>
          </a:p>
        </p:txBody>
      </p:sp>
      <p:sp>
        <p:nvSpPr>
          <p:cNvPr id="1573" name="文本框 1572" descr="{&quot;isTemplate&quot;:true,&quot;type&quot;:&quot;text&quot;}"/>
          <p:cNvSpPr txBox="1"/>
          <p:nvPr/>
        </p:nvSpPr>
        <p:spPr>
          <a:xfrm>
            <a:off x="800100" y="4391025"/>
            <a:ext cx="5029200" cy="2952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80000"/>
              </a:lnSpc>
            </a:pPr>
            <a:r>
              <a:rPr lang="zh-CN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字段还是私有的，封装没有被破坏。</a:t>
            </a:r>
            <a:endParaRPr lang="zh-CN" sz="1050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74" name="圆角矩形 1573"/>
          <p:cNvSpPr/>
          <p:nvPr/>
        </p:nvSpPr>
        <p:spPr>
          <a:xfrm>
            <a:off x="6172200" y="1143000"/>
            <a:ext cx="5410200" cy="3733800"/>
          </a:xfrm>
          <a:prstGeom prst="roundRect">
            <a:avLst>
              <a:gd name="adj" fmla="val 3061"/>
            </a:avLst>
          </a:prstGeom>
          <a:solidFill>
            <a:srgbClr val="0B1220"/>
          </a:solidFill>
          <a:ln w="12700">
            <a:solidFill>
              <a:srgbClr val="38BDF8"/>
            </a:solidFill>
            <a:prstDash val="solid"/>
          </a:ln>
        </p:spPr>
        <p:txBody>
          <a:bodyPr/>
          <a:p/>
        </p:txBody>
      </p:sp>
      <p:sp>
        <p:nvSpPr>
          <p:cNvPr id="1575" name="文本框 1574" descr="{&quot;isTemplate&quot;:true,&quot;type&quot;:&quot;text&quot;}"/>
          <p:cNvSpPr txBox="1"/>
          <p:nvPr/>
        </p:nvSpPr>
        <p:spPr>
          <a:xfrm>
            <a:off x="6362700" y="1333500"/>
            <a:ext cx="5029200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38BDF8"/>
                </a:solidFill>
                <a:latin typeface="微软雅黑" panose="020B0503020204020204" charset="-122"/>
                <a:ea typeface="微软雅黑" panose="020B0503020204020204" charset="-122"/>
              </a:rPr>
              <a:t>宏展开后（等价）</a:t>
            </a:r>
            <a:endParaRPr lang="zh-CN" sz="1050">
              <a:solidFill>
                <a:srgbClr val="38BDF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76" name="文本框 1575" descr="{&quot;isTemplate&quot;:true,&quot;type&quot;:&quot;text&quot;}"/>
          <p:cNvSpPr txBox="1"/>
          <p:nvPr/>
        </p:nvSpPr>
        <p:spPr>
          <a:xfrm>
            <a:off x="6362700" y="1590675"/>
            <a:ext cx="5029200" cy="3048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85000"/>
              </a:lnSpc>
            </a:pPr>
            <a:r>
              <a:rPr lang="en-US" sz="1050">
                <a:solidFill>
                  <a:srgbClr val="E2E8F0"/>
                </a:solidFill>
                <a:latin typeface="JetBrains Mono"/>
                <a:ea typeface="JetBrains Mono"/>
              </a:rPr>
              <a:t>public class A </a:t>
            </a:r>
            <a:r>
              <a:rPr lang="en-US" sz="1050">
                <a:solidFill>
                  <a:srgbClr val="E2E8F0"/>
                </a:solidFill>
                <a:latin typeface="JetBrains Mono"/>
                <a:ea typeface="JetBrains Mono"/>
              </a:rPr>
              <a:t>{</a:t>
            </a:r>
            <a:endParaRPr lang="en-US" sz="1050">
              <a:solidFill>
                <a:srgbClr val="E2E8F0"/>
              </a:solidFill>
              <a:latin typeface="JetBrains Mono"/>
              <a:ea typeface="JetBrains Mono"/>
            </a:endParaRPr>
          </a:p>
        </p:txBody>
      </p:sp>
      <p:sp>
        <p:nvSpPr>
          <p:cNvPr id="1577" name="文本框 1576" descr="{&quot;isTemplate&quot;:true,&quot;type&quot;:&quot;text&quot;}"/>
          <p:cNvSpPr txBox="1"/>
          <p:nvPr/>
        </p:nvSpPr>
        <p:spPr>
          <a:xfrm>
            <a:off x="6362700" y="1895475"/>
            <a:ext cx="5029200" cy="3048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85000"/>
              </a:lnSpc>
            </a:pPr>
            <a:r>
              <a:rPr lang="en-US" sz="1050">
                <a:solidFill>
                  <a:srgbClr val="94A3B8"/>
                </a:solidFill>
                <a:latin typeface="JetBrains Mono"/>
                <a:ea typeface="JetBrains Mono"/>
              </a:rPr>
              <a:t>    private var a_: String = ''</a:t>
            </a:r>
            <a:endParaRPr lang="en-US" sz="1050">
              <a:solidFill>
                <a:srgbClr val="94A3B8"/>
              </a:solidFill>
              <a:latin typeface="JetBrains Mono"/>
              <a:ea typeface="JetBrains Mono"/>
            </a:endParaRPr>
          </a:p>
        </p:txBody>
      </p:sp>
      <p:sp>
        <p:nvSpPr>
          <p:cNvPr id="1578" name="文本框 1577" descr="{&quot;isTemplate&quot;:true,&quot;type&quot;:&quot;text&quot;}"/>
          <p:cNvSpPr txBox="1"/>
          <p:nvPr/>
        </p:nvSpPr>
        <p:spPr>
          <a:xfrm>
            <a:off x="6362700" y="2200275"/>
            <a:ext cx="5029200" cy="3048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85000"/>
              </a:lnSpc>
            </a:pPr>
            <a:r>
              <a:rPr lang="en-US" sz="1050">
                <a:solidFill>
                  <a:srgbClr val="94A3B8"/>
                </a:solidFill>
                <a:latin typeface="JetBrains Mono"/>
                <a:ea typeface="JetBrains Mono"/>
              </a:rPr>
              <a:t>    private let b_: Int64 = 0</a:t>
            </a:r>
            <a:endParaRPr lang="en-US" sz="1050">
              <a:solidFill>
                <a:srgbClr val="94A3B8"/>
              </a:solidFill>
              <a:latin typeface="JetBrains Mono"/>
              <a:ea typeface="JetBrains Mono"/>
            </a:endParaRPr>
          </a:p>
        </p:txBody>
      </p:sp>
      <p:sp>
        <p:nvSpPr>
          <p:cNvPr id="1579" name="文本框 1578" descr="{&quot;isTemplate&quot;:true,&quot;type&quot;:&quot;text&quot;}"/>
          <p:cNvSpPr txBox="1"/>
          <p:nvPr/>
        </p:nvSpPr>
        <p:spPr>
          <a:xfrm>
            <a:off x="6362700" y="2505075"/>
            <a:ext cx="5029200" cy="3048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85000"/>
              </a:lnSpc>
            </a:pPr>
            <a:r>
              <a:rPr lang="en-US" sz="1050">
                <a:solidFill>
                  <a:srgbClr val="38BDF8"/>
                </a:solidFill>
                <a:latin typeface="JetBrains Mono"/>
                <a:ea typeface="JetBrains Mono"/>
              </a:rPr>
              <a:t>    public mut prop a: String {</a:t>
            </a:r>
            <a:endParaRPr lang="en-US" sz="1050">
              <a:solidFill>
                <a:srgbClr val="38BDF8"/>
              </a:solidFill>
              <a:latin typeface="JetBrains Mono"/>
              <a:ea typeface="JetBrains Mono"/>
            </a:endParaRPr>
          </a:p>
        </p:txBody>
      </p:sp>
      <p:sp>
        <p:nvSpPr>
          <p:cNvPr id="1580" name="文本框 1579" descr="{&quot;isTemplate&quot;:true,&quot;type&quot;:&quot;text&quot;}"/>
          <p:cNvSpPr txBox="1"/>
          <p:nvPr/>
        </p:nvSpPr>
        <p:spPr>
          <a:xfrm>
            <a:off x="6362700" y="2809875"/>
            <a:ext cx="5029200" cy="3048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85000"/>
              </a:lnSpc>
            </a:pPr>
            <a:r>
              <a:rPr lang="en-US" sz="1050">
                <a:solidFill>
                  <a:srgbClr val="38BDF8"/>
                </a:solidFill>
                <a:latin typeface="JetBrains Mono"/>
                <a:ea typeface="JetBrains Mono"/>
              </a:rPr>
              <a:t>        get() { a_ }</a:t>
            </a:r>
            <a:endParaRPr lang="en-US" sz="1050">
              <a:solidFill>
                <a:srgbClr val="38BDF8"/>
              </a:solidFill>
              <a:latin typeface="JetBrains Mono"/>
              <a:ea typeface="JetBrains Mono"/>
            </a:endParaRPr>
          </a:p>
        </p:txBody>
      </p:sp>
      <p:sp>
        <p:nvSpPr>
          <p:cNvPr id="1581" name="文本框 1580" descr="{&quot;isTemplate&quot;:true,&quot;type&quot;:&quot;text&quot;}"/>
          <p:cNvSpPr txBox="1"/>
          <p:nvPr/>
        </p:nvSpPr>
        <p:spPr>
          <a:xfrm>
            <a:off x="6362700" y="3114675"/>
            <a:ext cx="5029200" cy="3048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85000"/>
              </a:lnSpc>
            </a:pPr>
            <a:r>
              <a:rPr lang="en-US" sz="1050">
                <a:solidFill>
                  <a:srgbClr val="38BDF8"/>
                </a:solidFill>
                <a:latin typeface="JetBrains Mono"/>
                <a:ea typeface="JetBrains Mono"/>
              </a:rPr>
              <a:t>        set(value) { a_ = value }</a:t>
            </a:r>
            <a:endParaRPr lang="en-US" sz="1050">
              <a:solidFill>
                <a:srgbClr val="38BDF8"/>
              </a:solidFill>
              <a:latin typeface="JetBrains Mono"/>
              <a:ea typeface="JetBrains Mono"/>
            </a:endParaRPr>
          </a:p>
        </p:txBody>
      </p:sp>
      <p:sp>
        <p:nvSpPr>
          <p:cNvPr id="1582" name="文本框 1581" descr="{&quot;isTemplate&quot;:true,&quot;type&quot;:&quot;text&quot;}"/>
          <p:cNvSpPr txBox="1"/>
          <p:nvPr/>
        </p:nvSpPr>
        <p:spPr>
          <a:xfrm>
            <a:off x="6362700" y="3419475"/>
            <a:ext cx="5029200" cy="3048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85000"/>
              </a:lnSpc>
            </a:pPr>
            <a:r>
              <a:rPr lang="en-US" sz="1050">
                <a:solidFill>
                  <a:srgbClr val="38BDF8"/>
                </a:solidFill>
                <a:latin typeface="JetBrains Mono"/>
                <a:ea typeface="JetBrains Mono"/>
              </a:rPr>
              <a:t>    }</a:t>
            </a:r>
            <a:endParaRPr lang="en-US" sz="1050">
              <a:solidFill>
                <a:srgbClr val="38BDF8"/>
              </a:solidFill>
              <a:latin typeface="JetBrains Mono"/>
              <a:ea typeface="JetBrains Mono"/>
            </a:endParaRPr>
          </a:p>
        </p:txBody>
      </p:sp>
      <p:sp>
        <p:nvSpPr>
          <p:cNvPr id="1583" name="文本框 1582" descr="{&quot;isTemplate&quot;:true,&quot;type&quot;:&quot;text&quot;}"/>
          <p:cNvSpPr txBox="1"/>
          <p:nvPr/>
        </p:nvSpPr>
        <p:spPr>
          <a:xfrm>
            <a:off x="6362700" y="3724275"/>
            <a:ext cx="5029200" cy="3048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85000"/>
              </a:lnSpc>
            </a:pPr>
            <a:r>
              <a:rPr lang="en-US" sz="1050">
                <a:solidFill>
                  <a:srgbClr val="38BDF8"/>
                </a:solidFill>
                <a:latin typeface="JetBrains Mono"/>
                <a:ea typeface="JetBrains Mono"/>
              </a:rPr>
              <a:t>    public prop b: Int64 { get() { b_ } }</a:t>
            </a:r>
            <a:endParaRPr lang="en-US" sz="1050">
              <a:solidFill>
                <a:srgbClr val="38BDF8"/>
              </a:solidFill>
              <a:latin typeface="JetBrains Mono"/>
              <a:ea typeface="JetBrains Mono"/>
            </a:endParaRPr>
          </a:p>
        </p:txBody>
      </p:sp>
      <p:sp>
        <p:nvSpPr>
          <p:cNvPr id="1584" name="文本框 1583" descr="{&quot;isTemplate&quot;:true,&quot;type&quot;:&quot;text&quot;}"/>
          <p:cNvSpPr txBox="1"/>
          <p:nvPr/>
        </p:nvSpPr>
        <p:spPr>
          <a:xfrm>
            <a:off x="6362700" y="4029075"/>
            <a:ext cx="5029200" cy="3048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85000"/>
              </a:lnSpc>
            </a:pPr>
            <a:r>
              <a:rPr lang="en-US" sz="1050">
                <a:solidFill>
                  <a:srgbClr val="E2E8F0"/>
                </a:solidFill>
                <a:latin typeface="JetBrains Mono"/>
                <a:ea typeface="JetBrains Mono"/>
              </a:rPr>
              <a:t>}</a:t>
            </a:r>
            <a:endParaRPr lang="en-US" sz="1050">
              <a:solidFill>
                <a:srgbClr val="E2E8F0"/>
              </a:solidFill>
              <a:latin typeface="JetBrains Mono"/>
              <a:ea typeface="JetBrains Mono"/>
            </a:endParaRPr>
          </a:p>
        </p:txBody>
      </p:sp>
      <p:sp>
        <p:nvSpPr>
          <p:cNvPr id="1585" name="圆角矩形 1584"/>
          <p:cNvSpPr/>
          <p:nvPr/>
        </p:nvSpPr>
        <p:spPr>
          <a:xfrm>
            <a:off x="609600" y="5029200"/>
            <a:ext cx="10972800" cy="1257300"/>
          </a:xfrm>
          <a:prstGeom prst="roundRect">
            <a:avLst>
              <a:gd name="adj" fmla="val 9091"/>
            </a:avLst>
          </a:prstGeom>
          <a:solidFill>
            <a:srgbClr val="F59E0B">
              <a:alpha val="7000"/>
            </a:srgbClr>
          </a:solidFill>
          <a:ln w="12700">
            <a:solidFill>
              <a:srgbClr val="F59E0B"/>
            </a:solidFill>
            <a:prstDash val="solid"/>
          </a:ln>
        </p:spPr>
        <p:txBody>
          <a:bodyPr/>
          <a:p/>
        </p:txBody>
      </p:sp>
      <p:sp>
        <p:nvSpPr>
          <p:cNvPr id="1586" name="文本框 1585" descr="{&quot;isTemplate&quot;:true,&quot;type&quot;:&quot;text&quot;}"/>
          <p:cNvSpPr txBox="1"/>
          <p:nvPr/>
        </p:nvSpPr>
        <p:spPr>
          <a:xfrm>
            <a:off x="781050" y="5200650"/>
            <a:ext cx="10629900" cy="1714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顺序约束</a:t>
            </a:r>
            <a:endParaRPr lang="zh-CN" sz="1125" b="1">
              <a:solidFill>
                <a:srgbClr val="F59E0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87" name="文本框 1586" descr="{&quot;isTemplate&quot;:true,&quot;type&quot;:&quot;text&quot;}"/>
          <p:cNvSpPr txBox="1"/>
          <p:nvPr/>
        </p:nvSpPr>
        <p:spPr>
          <a:xfrm>
            <a:off x="781050" y="5429250"/>
            <a:ext cx="10629900" cy="2762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zh-CN" sz="105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在</a:t>
            </a:r>
            <a:r>
              <a:rPr lang="en-US" sz="105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 PO </a:t>
            </a:r>
            <a:r>
              <a:rPr lang="zh-CN" sz="105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上，</a:t>
            </a:r>
            <a:r>
              <a:rPr lang="en-US" sz="105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@DataAssist </a:t>
            </a:r>
            <a:r>
              <a:rPr lang="zh-CN" sz="105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必须写在</a:t>
            </a:r>
            <a:r>
              <a:rPr lang="en-US" sz="105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 @QueryMappersGenerator </a:t>
            </a:r>
            <a:r>
              <a:rPr lang="zh-CN" sz="105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之前（先展开）。见第十二章。</a:t>
            </a:r>
            <a:endParaRPr lang="zh-CN" sz="1050">
              <a:solidFill>
                <a:srgbClr val="E2E8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88" name="文本框 1587" descr="{&quot;isTemplate&quot;:true,&quot;type&quot;:&quot;text&quot;}"/>
          <p:cNvSpPr txBox="1"/>
          <p:nvPr/>
        </p:nvSpPr>
        <p:spPr>
          <a:xfrm>
            <a:off x="781050" y="5743575"/>
            <a:ext cx="10629900" cy="2762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zh-CN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只写</a:t>
            </a:r>
            <a:r>
              <a:rPr lang="en-US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props </a:t>
            </a:r>
            <a:r>
              <a:rPr lang="zh-CN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保护了封装（字段还是私有的），同时又能被框架读写</a:t>
            </a:r>
            <a:r>
              <a:rPr lang="en-US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—— </a:t>
            </a:r>
            <a:r>
              <a:rPr lang="zh-CN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靠的是宏生成的属性访问器，而不是反射。</a:t>
            </a:r>
            <a:endParaRPr lang="zh-CN" sz="1050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89" name="任意多边形 1588"/>
          <p:cNvSpPr/>
          <p:nvPr/>
        </p:nvSpPr>
        <p:spPr>
          <a:xfrm>
            <a:off x="609600" y="6286500"/>
            <a:ext cx="10972800" cy="381000"/>
          </a:xfrm>
          <a:custGeom>
            <a:avLst/>
            <a:gdLst/>
            <a:ahLst/>
            <a:cxnLst/>
            <a:pathLst>
              <a:path w="1152" h="40">
                <a:moveTo>
                  <a:pt x="0" y="0"/>
                </a:moveTo>
                <a:lnTo>
                  <a:pt x="1152" y="0"/>
                </a:lnTo>
                <a:lnTo>
                  <a:pt x="1152" y="1"/>
                </a:lnTo>
                <a:lnTo>
                  <a:pt x="0" y="1"/>
                </a:lnTo>
                <a:close/>
              </a:path>
            </a:pathLst>
          </a:custGeom>
          <a:solidFill>
            <a:srgbClr val="1E293B"/>
          </a:solidFill>
        </p:spPr>
        <p:txBody>
          <a:bodyPr/>
          <a:p/>
        </p:txBody>
      </p:sp>
      <p:sp>
        <p:nvSpPr>
          <p:cNvPr id="1590" name="文本框 1589" descr="{&quot;isTemplate&quot;:true,&quot;type&quot;:&quot;text&quot;}"/>
          <p:cNvSpPr txBox="1"/>
          <p:nvPr/>
        </p:nvSpPr>
        <p:spPr>
          <a:xfrm>
            <a:off x="609600" y="6410325"/>
            <a:ext cx="2219325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fountain · 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一站式服务器应用开发工具库</a:t>
            </a:r>
            <a:endParaRPr lang="zh-CN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91" name="文本框 1590" descr="{&quot;isTemplate&quot;:true,&quot;type&quot;:&quot;text&quot;}"/>
          <p:cNvSpPr txBox="1"/>
          <p:nvPr/>
        </p:nvSpPr>
        <p:spPr>
          <a:xfrm>
            <a:off x="11087100" y="6410325"/>
            <a:ext cx="495300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47 / 116</a:t>
            </a:r>
            <a:endParaRPr lang="en-US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59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3" name="矩形 159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220"/>
          </a:solidFill>
        </p:spPr>
        <p:txBody>
          <a:bodyPr/>
          <a:p/>
        </p:txBody>
      </p:sp>
      <p:sp>
        <p:nvSpPr>
          <p:cNvPr id="1594" name="矩形 1593"/>
          <p:cNvSpPr/>
          <p:nvPr/>
        </p:nvSpPr>
        <p:spPr>
          <a:xfrm>
            <a:off x="609600" y="476250"/>
            <a:ext cx="38100" cy="381000"/>
          </a:xfrm>
          <a:prstGeom prst="rect">
            <a:avLst/>
          </a:prstGeom>
          <a:solidFill>
            <a:srgbClr val="38BDF8"/>
          </a:solidFill>
        </p:spPr>
        <p:txBody>
          <a:bodyPr/>
          <a:p/>
        </p:txBody>
      </p:sp>
      <p:sp>
        <p:nvSpPr>
          <p:cNvPr id="1595" name="文本框 1594" descr="{&quot;isTemplate&quot;:true,&quot;type&quot;:&quot;text&quot;}"/>
          <p:cNvSpPr txBox="1"/>
          <p:nvPr/>
        </p:nvSpPr>
        <p:spPr>
          <a:xfrm>
            <a:off x="819150" y="304800"/>
            <a:ext cx="9229725" cy="2095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第</a:t>
            </a: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 8 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章</a:t>
            </a: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 · 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数据</a:t>
            </a: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 f_data · 8.3</a:t>
            </a:r>
            <a:endParaRPr lang="en-US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96" name="文本框 1595" descr="{&quot;isTemplate&quot;:true,&quot;type&quot;:&quot;text&quot;}"/>
          <p:cNvSpPr txBox="1"/>
          <p:nvPr/>
        </p:nvSpPr>
        <p:spPr>
          <a:xfrm>
            <a:off x="819150" y="514350"/>
            <a:ext cx="9229725" cy="5143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2550" b="1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统一数据模型：</a:t>
            </a:r>
            <a:r>
              <a:rPr lang="en-US" sz="2550" b="1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Data</a:t>
            </a:r>
            <a:endParaRPr lang="en-US" sz="2550" b="1">
              <a:solidFill>
                <a:srgbClr val="E2E8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97" name="文本框 1596" descr="{&quot;isTemplate&quot;:true,&quot;type&quot;:&quot;text&quot;}"/>
          <p:cNvSpPr txBox="1"/>
          <p:nvPr/>
        </p:nvSpPr>
        <p:spPr>
          <a:xfrm>
            <a:off x="10220325" y="590550"/>
            <a:ext cx="1362075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一切转换先落到这棵树上</a:t>
            </a:r>
            <a:endParaRPr lang="zh-CN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98" name="圆角矩形 1597"/>
          <p:cNvSpPr/>
          <p:nvPr/>
        </p:nvSpPr>
        <p:spPr>
          <a:xfrm>
            <a:off x="609600" y="1143000"/>
            <a:ext cx="4953000" cy="3219450"/>
          </a:xfrm>
          <a:prstGeom prst="roundRect">
            <a:avLst>
              <a:gd name="adj" fmla="val 3550"/>
            </a:avLst>
          </a:prstGeom>
          <a:solidFill>
            <a:srgbClr val="111C2E"/>
          </a:solidFill>
          <a:ln w="12700">
            <a:solidFill>
              <a:srgbClr val="1E293B"/>
            </a:solidFill>
            <a:prstDash val="solid"/>
          </a:ln>
        </p:spPr>
        <p:txBody>
          <a:bodyPr/>
          <a:p/>
        </p:txBody>
      </p:sp>
      <p:sp>
        <p:nvSpPr>
          <p:cNvPr id="1599" name="文本框 1598" descr="{&quot;isTemplate&quot;:true,&quot;type&quot;:&quot;text&quot;}"/>
          <p:cNvSpPr txBox="1"/>
          <p:nvPr/>
        </p:nvSpPr>
        <p:spPr>
          <a:xfrm>
            <a:off x="800100" y="1333500"/>
            <a:ext cx="4572000" cy="1905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数据树的节点</a:t>
            </a:r>
            <a:endParaRPr lang="zh-CN" sz="1200" b="1">
              <a:solidFill>
                <a:srgbClr val="E2E8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00" name="文本框 1599" descr="{&quot;isTemplate&quot;:true,&quot;type&quot;:&quot;text&quot;}"/>
          <p:cNvSpPr txBox="1"/>
          <p:nvPr/>
        </p:nvSpPr>
        <p:spPr>
          <a:xfrm>
            <a:off x="800100" y="1619250"/>
            <a:ext cx="4572000" cy="25431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90000"/>
              </a:lnSpc>
            </a:pPr>
            <a:r>
              <a:rPr lang="en-US" sz="97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Data</a:t>
            </a:r>
            <a:r>
              <a:rPr lang="zh-CN" sz="97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　　　　　　所有数据值的根接口</a:t>
            </a:r>
            <a:endParaRPr lang="zh-CN" sz="975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190000"/>
              </a:lnSpc>
            </a:pPr>
            <a:r>
              <a:rPr lang="en-US" sz="97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DataReal(Decimal)</a:t>
            </a:r>
            <a:r>
              <a:rPr lang="zh-CN" sz="97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　数值</a:t>
            </a:r>
            <a:endParaRPr lang="zh-CN" sz="975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190000"/>
              </a:lnSpc>
            </a:pPr>
            <a:r>
              <a:rPr lang="en-US" sz="97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DataString(String)</a:t>
            </a:r>
            <a:r>
              <a:rPr lang="zh-CN" sz="97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　字符串</a:t>
            </a:r>
            <a:endParaRPr lang="zh-CN" sz="975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190000"/>
              </a:lnSpc>
            </a:pPr>
            <a:r>
              <a:rPr lang="en-US" sz="97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DataBool</a:t>
            </a:r>
            <a:r>
              <a:rPr lang="zh-CN" sz="97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　　　　</a:t>
            </a:r>
            <a:r>
              <a:rPr lang="en-US" sz="97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</a:t>
            </a:r>
            <a:r>
              <a:rPr lang="zh-CN" sz="97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布尔（</a:t>
            </a:r>
            <a:r>
              <a:rPr lang="en-US" sz="97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TRUE / FALSE</a:t>
            </a:r>
            <a:r>
              <a:rPr lang="zh-CN" sz="97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）</a:t>
            </a:r>
            <a:endParaRPr lang="zh-CN" sz="975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190000"/>
              </a:lnSpc>
            </a:pPr>
            <a:r>
              <a:rPr lang="en-US" sz="97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DataNone</a:t>
            </a:r>
            <a:r>
              <a:rPr lang="zh-CN" sz="97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　　　　</a:t>
            </a:r>
            <a:r>
              <a:rPr lang="en-US" sz="97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</a:t>
            </a:r>
            <a:r>
              <a:rPr lang="zh-CN" sz="97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空值（</a:t>
            </a:r>
            <a:r>
              <a:rPr lang="en-US" sz="97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INSTANCE</a:t>
            </a:r>
            <a:r>
              <a:rPr lang="zh-CN" sz="97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）</a:t>
            </a:r>
            <a:endParaRPr lang="zh-CN" sz="975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190000"/>
              </a:lnSpc>
            </a:pPr>
            <a:r>
              <a:rPr lang="en-US" sz="97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DataList</a:t>
            </a:r>
            <a:r>
              <a:rPr lang="zh-CN" sz="97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　　　　</a:t>
            </a:r>
            <a:r>
              <a:rPr lang="en-US" sz="97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</a:t>
            </a:r>
            <a:r>
              <a:rPr lang="zh-CN" sz="97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有序列表</a:t>
            </a:r>
            <a:endParaRPr lang="zh-CN" sz="975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190000"/>
              </a:lnSpc>
            </a:pPr>
            <a:r>
              <a:rPr lang="en-US" sz="97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DataDict</a:t>
            </a:r>
            <a:r>
              <a:rPr lang="zh-CN" sz="97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　　　　</a:t>
            </a:r>
            <a:r>
              <a:rPr lang="en-US" sz="97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</a:t>
            </a:r>
            <a:r>
              <a:rPr lang="zh-CN" sz="97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键值映射</a:t>
            </a:r>
            <a:endParaRPr lang="zh-CN" sz="975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190000"/>
              </a:lnSpc>
            </a:pPr>
            <a:r>
              <a:rPr lang="en-US" sz="97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DataDateTime / DataDuration</a:t>
            </a:r>
            <a:r>
              <a:rPr lang="zh-CN" sz="97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　时间</a:t>
            </a:r>
            <a:r>
              <a:rPr lang="en-US" sz="97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/ </a:t>
            </a:r>
            <a:r>
              <a:rPr lang="zh-CN" sz="97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时间间隔</a:t>
            </a:r>
            <a:endParaRPr lang="zh-CN" sz="975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190000"/>
              </a:lnSpc>
            </a:pPr>
            <a:r>
              <a:rPr lang="en-US" sz="97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DataAny</a:t>
            </a:r>
            <a:r>
              <a:rPr lang="zh-CN" sz="97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　　　　　任意值的包装</a:t>
            </a:r>
            <a:endParaRPr lang="zh-CN" sz="975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01" name="圆角矩形 1600"/>
          <p:cNvSpPr/>
          <p:nvPr/>
        </p:nvSpPr>
        <p:spPr>
          <a:xfrm>
            <a:off x="5715000" y="1143000"/>
            <a:ext cx="5867400" cy="2162175"/>
          </a:xfrm>
          <a:prstGeom prst="roundRect">
            <a:avLst>
              <a:gd name="adj" fmla="val 5286"/>
            </a:avLst>
          </a:prstGeom>
          <a:solidFill>
            <a:srgbClr val="0B1220"/>
          </a:solidFill>
          <a:ln w="12700">
            <a:solidFill>
              <a:srgbClr val="1E293B"/>
            </a:solidFill>
            <a:prstDash val="solid"/>
          </a:ln>
        </p:spPr>
        <p:txBody>
          <a:bodyPr/>
          <a:p/>
        </p:txBody>
      </p:sp>
      <p:sp>
        <p:nvSpPr>
          <p:cNvPr id="1602" name="文本框 1601" descr="{&quot;isTemplate&quot;:true,&quot;type&quot;:&quot;text&quot;}"/>
          <p:cNvSpPr txBox="1"/>
          <p:nvPr/>
        </p:nvSpPr>
        <p:spPr>
          <a:xfrm>
            <a:off x="5886450" y="1314450"/>
            <a:ext cx="5524500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转换接口</a:t>
            </a:r>
            <a:endParaRPr lang="zh-CN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03" name="文本框 1602" descr="{&quot;isTemplate&quot;:true,&quot;type&quot;:&quot;text&quot;}"/>
          <p:cNvSpPr txBox="1"/>
          <p:nvPr/>
        </p:nvSpPr>
        <p:spPr>
          <a:xfrm>
            <a:off x="5886450" y="1543050"/>
            <a:ext cx="5524500" cy="2571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en-US" sz="975">
                <a:solidFill>
                  <a:srgbClr val="38BDF8"/>
                </a:solidFill>
                <a:latin typeface="JetBrains Mono"/>
                <a:ea typeface="JetBrains Mono"/>
              </a:rPr>
              <a:t>public interface ToData   { func toData(): Data }</a:t>
            </a:r>
            <a:endParaRPr lang="en-US" sz="975">
              <a:solidFill>
                <a:srgbClr val="38BDF8"/>
              </a:solidFill>
              <a:latin typeface="JetBrains Mono"/>
              <a:ea typeface="JetBrains Mono"/>
            </a:endParaRPr>
          </a:p>
        </p:txBody>
      </p:sp>
      <p:sp>
        <p:nvSpPr>
          <p:cNvPr id="1604" name="文本框 1603" descr="{&quot;isTemplate&quot;:true,&quot;type&quot;:&quot;text&quot;}"/>
          <p:cNvSpPr txBox="1"/>
          <p:nvPr/>
        </p:nvSpPr>
        <p:spPr>
          <a:xfrm>
            <a:off x="5886450" y="1800225"/>
            <a:ext cx="5524500" cy="2571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en-US" sz="975">
                <a:solidFill>
                  <a:srgbClr val="38BDF8"/>
                </a:solidFill>
                <a:latin typeface="JetBrains Mono"/>
                <a:ea typeface="JetBrains Mono"/>
              </a:rPr>
              <a:t>public interface FromData {</a:t>
            </a:r>
            <a:endParaRPr lang="en-US" sz="975">
              <a:solidFill>
                <a:srgbClr val="38BDF8"/>
              </a:solidFill>
              <a:latin typeface="JetBrains Mono"/>
              <a:ea typeface="JetBrains Mono"/>
            </a:endParaRPr>
          </a:p>
        </p:txBody>
      </p:sp>
      <p:sp>
        <p:nvSpPr>
          <p:cNvPr id="1605" name="文本框 1604" descr="{&quot;isTemplate&quot;:true,&quot;type&quot;:&quot;text&quot;}"/>
          <p:cNvSpPr txBox="1"/>
          <p:nvPr/>
        </p:nvSpPr>
        <p:spPr>
          <a:xfrm>
            <a:off x="5886450" y="2057400"/>
            <a:ext cx="5524500" cy="2571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en-US" sz="975">
                <a:solidFill>
                  <a:srgbClr val="94A3B8"/>
                </a:solidFill>
                <a:latin typeface="JetBrains Mono"/>
                <a:ea typeface="JetBrains Mono"/>
              </a:rPr>
              <a:t>    static func fromData(data: Data, flag: DataConversionFlag): Any</a:t>
            </a:r>
            <a:endParaRPr lang="en-US" sz="975">
              <a:solidFill>
                <a:srgbClr val="94A3B8"/>
              </a:solidFill>
              <a:latin typeface="JetBrains Mono"/>
              <a:ea typeface="JetBrains Mono"/>
            </a:endParaRPr>
          </a:p>
        </p:txBody>
      </p:sp>
      <p:sp>
        <p:nvSpPr>
          <p:cNvPr id="1606" name="文本框 1605" descr="{&quot;isTemplate&quot;:true,&quot;type&quot;:&quot;text&quot;}"/>
          <p:cNvSpPr txBox="1"/>
          <p:nvPr/>
        </p:nvSpPr>
        <p:spPr>
          <a:xfrm>
            <a:off x="5886450" y="2314575"/>
            <a:ext cx="5524500" cy="2571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en-US" sz="975">
                <a:solidFill>
                  <a:srgbClr val="94A3B8"/>
                </a:solidFill>
                <a:latin typeface="JetBrains Mono"/>
                <a:ea typeface="JetBrains Mono"/>
              </a:rPr>
              <a:t>    static func tryFromData(data: Data, flag: DataConversionFlag): Any</a:t>
            </a:r>
            <a:endParaRPr lang="en-US" sz="975">
              <a:solidFill>
                <a:srgbClr val="94A3B8"/>
              </a:solidFill>
              <a:latin typeface="JetBrains Mono"/>
              <a:ea typeface="JetBrains Mono"/>
            </a:endParaRPr>
          </a:p>
        </p:txBody>
      </p:sp>
      <p:sp>
        <p:nvSpPr>
          <p:cNvPr id="1607" name="文本框 1606" descr="{&quot;isTemplate&quot;:true,&quot;type&quot;:&quot;text&quot;}"/>
          <p:cNvSpPr txBox="1"/>
          <p:nvPr/>
        </p:nvSpPr>
        <p:spPr>
          <a:xfrm>
            <a:off x="5886450" y="2571750"/>
            <a:ext cx="5524500" cy="2571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en-US" sz="975">
                <a:solidFill>
                  <a:srgbClr val="38BDF8"/>
                </a:solidFill>
                <a:latin typeface="JetBrains Mono"/>
                <a:ea typeface="JetBrains Mono"/>
              </a:rPr>
              <a:t>}</a:t>
            </a:r>
            <a:endParaRPr lang="en-US" sz="975">
              <a:solidFill>
                <a:srgbClr val="38BDF8"/>
              </a:solidFill>
              <a:latin typeface="JetBrains Mono"/>
              <a:ea typeface="JetBrains Mono"/>
            </a:endParaRPr>
          </a:p>
        </p:txBody>
      </p:sp>
      <p:sp>
        <p:nvSpPr>
          <p:cNvPr id="1608" name="文本框 1607" descr="{&quot;isTemplate&quot;:true,&quot;type&quot;:&quot;text&quot;}"/>
          <p:cNvSpPr txBox="1"/>
          <p:nvPr/>
        </p:nvSpPr>
        <p:spPr>
          <a:xfrm>
            <a:off x="5886450" y="2828925"/>
            <a:ext cx="5524500" cy="2571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en-US" sz="975">
                <a:solidFill>
                  <a:srgbClr val="38BDF8"/>
                </a:solidFill>
                <a:latin typeface="JetBrains Mono"/>
                <a:ea typeface="JetBrains Mono"/>
              </a:rPr>
              <a:t>public interface FromToData &lt;: FromData &amp; ToData {}</a:t>
            </a:r>
            <a:endParaRPr lang="en-US" sz="975">
              <a:solidFill>
                <a:srgbClr val="38BDF8"/>
              </a:solidFill>
              <a:latin typeface="JetBrains Mono"/>
              <a:ea typeface="JetBrains Mono"/>
            </a:endParaRPr>
          </a:p>
        </p:txBody>
      </p:sp>
      <p:sp>
        <p:nvSpPr>
          <p:cNvPr id="1609" name="圆角矩形 1608"/>
          <p:cNvSpPr/>
          <p:nvPr/>
        </p:nvSpPr>
        <p:spPr>
          <a:xfrm>
            <a:off x="5715000" y="3438525"/>
            <a:ext cx="5867400" cy="923925"/>
          </a:xfrm>
          <a:prstGeom prst="roundRect">
            <a:avLst>
              <a:gd name="adj" fmla="val 12371"/>
            </a:avLst>
          </a:prstGeom>
          <a:solidFill>
            <a:srgbClr val="38BDF8">
              <a:alpha val="6000"/>
            </a:srgbClr>
          </a:solidFill>
          <a:ln w="12700">
            <a:solidFill>
              <a:srgbClr val="38BDF8"/>
            </a:solidFill>
            <a:prstDash val="solid"/>
          </a:ln>
        </p:spPr>
        <p:txBody>
          <a:bodyPr/>
          <a:p/>
        </p:txBody>
      </p:sp>
      <p:sp>
        <p:nvSpPr>
          <p:cNvPr id="1610" name="文本框 1609" descr="{&quot;isTemplate&quot;:true,&quot;type&quot;:&quot;text&quot;}"/>
          <p:cNvSpPr txBox="1"/>
          <p:nvPr/>
        </p:nvSpPr>
        <p:spPr>
          <a:xfrm>
            <a:off x="5886450" y="3609975"/>
            <a:ext cx="5524500" cy="1714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38BDF8"/>
                </a:solidFill>
                <a:latin typeface="微软雅黑" panose="020B0503020204020204" charset="-122"/>
                <a:ea typeface="微软雅黑" panose="020B0503020204020204" charset="-122"/>
              </a:rPr>
              <a:t>所以任意两个类都能互转</a:t>
            </a:r>
            <a:endParaRPr lang="zh-CN" sz="1125" b="1">
              <a:solidFill>
                <a:srgbClr val="38BDF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11" name="文本框 1610" descr="{&quot;isTemplate&quot;:true,&quot;type&quot;:&quot;text&quot;}"/>
          <p:cNvSpPr txBox="1"/>
          <p:nvPr/>
        </p:nvSpPr>
        <p:spPr>
          <a:xfrm>
            <a:off x="5886450" y="3857625"/>
            <a:ext cx="5524500" cy="2952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80000"/>
              </a:lnSpc>
            </a:pPr>
            <a:r>
              <a:rPr lang="zh-CN" sz="105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它们都先变成</a:t>
            </a:r>
            <a:r>
              <a:rPr lang="en-US" sz="105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 Data</a:t>
            </a:r>
            <a:r>
              <a:rPr lang="zh-CN" sz="105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，再从</a:t>
            </a:r>
            <a:r>
              <a:rPr lang="en-US" sz="105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 Data </a:t>
            </a:r>
            <a:r>
              <a:rPr lang="zh-CN" sz="105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变回去</a:t>
            </a:r>
            <a:r>
              <a:rPr lang="en-US" sz="105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 —— </a:t>
            </a:r>
            <a:r>
              <a:rPr lang="zh-CN" sz="105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中间那棵树是共通的。</a:t>
            </a:r>
            <a:endParaRPr lang="zh-CN" sz="1050">
              <a:solidFill>
                <a:srgbClr val="E2E8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12" name="圆角矩形 1611"/>
          <p:cNvSpPr/>
          <p:nvPr/>
        </p:nvSpPr>
        <p:spPr>
          <a:xfrm>
            <a:off x="609600" y="4514850"/>
            <a:ext cx="10972800" cy="1771650"/>
          </a:xfrm>
          <a:prstGeom prst="roundRect">
            <a:avLst>
              <a:gd name="adj" fmla="val 6452"/>
            </a:avLst>
          </a:prstGeom>
          <a:solidFill>
            <a:srgbClr val="0B1220"/>
          </a:solidFill>
          <a:ln w="12700">
            <a:solidFill>
              <a:srgbClr val="1E293B"/>
            </a:solidFill>
            <a:prstDash val="solid"/>
          </a:ln>
        </p:spPr>
        <p:txBody>
          <a:bodyPr/>
          <a:p/>
        </p:txBody>
      </p:sp>
      <p:sp>
        <p:nvSpPr>
          <p:cNvPr id="1613" name="文本框 1612" descr="{&quot;isTemplate&quot;:true,&quot;type&quot;:&quot;text&quot;}"/>
          <p:cNvSpPr txBox="1"/>
          <p:nvPr/>
        </p:nvSpPr>
        <p:spPr>
          <a:xfrm>
            <a:off x="781050" y="4686300"/>
            <a:ext cx="10629900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DataObject&lt;T&gt; —— 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操作入口，把任意对象包成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「可读写字段的容器」</a:t>
            </a:r>
            <a:endParaRPr lang="zh-CN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14" name="文本框 1613" descr="{&quot;isTemplate&quot;:true,&quot;type&quot;:&quot;text&quot;}"/>
          <p:cNvSpPr txBox="1"/>
          <p:nvPr/>
        </p:nvSpPr>
        <p:spPr>
          <a:xfrm>
            <a:off x="781050" y="4914900"/>
            <a:ext cx="10629900" cy="2667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5000"/>
              </a:lnSpc>
            </a:pPr>
            <a:r>
              <a:rPr lang="en-US" sz="975">
                <a:solidFill>
                  <a:srgbClr val="E2E8F0"/>
                </a:solidFill>
                <a:latin typeface="JetBrains Mono"/>
                <a:ea typeface="JetBrains Mono"/>
              </a:rPr>
              <a:t>let dobj = DataObject&lt;TestData2&gt;(data2)</a:t>
            </a:r>
            <a:endParaRPr lang="en-US" sz="975">
              <a:solidFill>
                <a:srgbClr val="E2E8F0"/>
              </a:solidFill>
              <a:latin typeface="JetBrains Mono"/>
              <a:ea typeface="JetBrains Mono"/>
            </a:endParaRPr>
          </a:p>
        </p:txBody>
      </p:sp>
      <p:sp>
        <p:nvSpPr>
          <p:cNvPr id="1615" name="文本框 1614" descr="{&quot;isTemplate&quot;:true,&quot;type&quot;:&quot;text&quot;}"/>
          <p:cNvSpPr txBox="1"/>
          <p:nvPr/>
        </p:nvSpPr>
        <p:spPr>
          <a:xfrm>
            <a:off x="781050" y="5181600"/>
            <a:ext cx="10629900" cy="2667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5000"/>
              </a:lnSpc>
            </a:pPr>
            <a:r>
              <a:rPr lang="en-US" sz="975">
                <a:solidFill>
                  <a:srgbClr val="38BDF8"/>
                </a:solidFill>
                <a:latin typeface="JetBrains Mono"/>
                <a:ea typeface="JetBrains Mono"/>
              </a:rPr>
              <a:t>dobj['b']                              // </a:t>
            </a:r>
            <a:r>
              <a:rPr lang="zh-CN" sz="975">
                <a:solidFill>
                  <a:srgbClr val="38BDF8"/>
                </a:solidFill>
                <a:latin typeface="JetBrains Mono"/>
                <a:ea typeface="JetBrains Mono"/>
              </a:rPr>
              <a:t>按名字读（返回</a:t>
            </a:r>
            <a:r>
              <a:rPr lang="en-US" sz="975">
                <a:solidFill>
                  <a:srgbClr val="38BDF8"/>
                </a:solidFill>
                <a:latin typeface="JetBrains Mono"/>
                <a:ea typeface="JetBrains Mono"/>
              </a:rPr>
              <a:t> Data</a:t>
            </a:r>
            <a:r>
              <a:rPr lang="zh-CN" sz="975">
                <a:solidFill>
                  <a:srgbClr val="38BDF8"/>
                </a:solidFill>
                <a:latin typeface="JetBrains Mono"/>
                <a:ea typeface="JetBrains Mono"/>
              </a:rPr>
              <a:t>）</a:t>
            </a:r>
            <a:endParaRPr lang="zh-CN" sz="975">
              <a:solidFill>
                <a:srgbClr val="38BDF8"/>
              </a:solidFill>
              <a:latin typeface="JetBrains Mono"/>
              <a:ea typeface="JetBrains Mono"/>
            </a:endParaRPr>
          </a:p>
        </p:txBody>
      </p:sp>
      <p:sp>
        <p:nvSpPr>
          <p:cNvPr id="1616" name="文本框 1615" descr="{&quot;isTemplate&quot;:true,&quot;type&quot;:&quot;text&quot;}"/>
          <p:cNvSpPr txBox="1"/>
          <p:nvPr/>
        </p:nvSpPr>
        <p:spPr>
          <a:xfrm>
            <a:off x="781050" y="5448300"/>
            <a:ext cx="10629900" cy="2667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5000"/>
              </a:lnSpc>
            </a:pPr>
            <a:r>
              <a:rPr lang="en-US" sz="975">
                <a:solidFill>
                  <a:srgbClr val="38BDF8"/>
                </a:solidFill>
                <a:latin typeface="JetBrains Mono"/>
                <a:ea typeface="JetBrains Mono"/>
              </a:rPr>
              <a:t>dobj['b'] = 'x'.toData()               // </a:t>
            </a:r>
            <a:r>
              <a:rPr lang="zh-CN" sz="975">
                <a:solidFill>
                  <a:srgbClr val="38BDF8"/>
                </a:solidFill>
                <a:latin typeface="JetBrains Mono"/>
                <a:ea typeface="JetBrains Mono"/>
              </a:rPr>
              <a:t>按名字写</a:t>
            </a:r>
            <a:endParaRPr lang="zh-CN" sz="975">
              <a:solidFill>
                <a:srgbClr val="38BDF8"/>
              </a:solidFill>
              <a:latin typeface="JetBrains Mono"/>
              <a:ea typeface="JetBrains Mono"/>
            </a:endParaRPr>
          </a:p>
        </p:txBody>
      </p:sp>
      <p:sp>
        <p:nvSpPr>
          <p:cNvPr id="1617" name="文本框 1616" descr="{&quot;isTemplate&quot;:true,&quot;type&quot;:&quot;text&quot;}"/>
          <p:cNvSpPr txBox="1"/>
          <p:nvPr/>
        </p:nvSpPr>
        <p:spPr>
          <a:xfrm>
            <a:off x="781050" y="5715000"/>
            <a:ext cx="10629900" cy="2667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5000"/>
              </a:lnSpc>
            </a:pPr>
            <a:r>
              <a:rPr lang="en-US" sz="975">
                <a:solidFill>
                  <a:srgbClr val="38BDF8"/>
                </a:solidFill>
                <a:latin typeface="JetBrains Mono"/>
                <a:ea typeface="JetBrains Mono"/>
              </a:rPr>
              <a:t>dobj.get&lt;Int64&gt;('a', DEFAULT_DATA_FLAG) // </a:t>
            </a:r>
            <a:r>
              <a:rPr lang="zh-CN" sz="975">
                <a:solidFill>
                  <a:srgbClr val="38BDF8"/>
                </a:solidFill>
                <a:latin typeface="JetBrains Mono"/>
                <a:ea typeface="JetBrains Mono"/>
              </a:rPr>
              <a:t>按名字读并转成指定类型</a:t>
            </a:r>
            <a:endParaRPr lang="zh-CN" sz="975">
              <a:solidFill>
                <a:srgbClr val="38BDF8"/>
              </a:solidFill>
              <a:latin typeface="JetBrains Mono"/>
              <a:ea typeface="JetBrains Mono"/>
            </a:endParaRPr>
          </a:p>
        </p:txBody>
      </p:sp>
      <p:sp>
        <p:nvSpPr>
          <p:cNvPr id="1618" name="文本框 1617" descr="{&quot;isTemplate&quot;:true,&quot;type&quot;:&quot;text&quot;}"/>
          <p:cNvSpPr txBox="1"/>
          <p:nvPr/>
        </p:nvSpPr>
        <p:spPr>
          <a:xfrm>
            <a:off x="781050" y="5981700"/>
            <a:ext cx="10629900" cy="2667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5000"/>
              </a:lnSpc>
            </a:pPr>
            <a:r>
              <a:rPr lang="en-US" sz="975">
                <a:solidFill>
                  <a:srgbClr val="94A3B8"/>
                </a:solidFill>
                <a:latin typeface="JetBrains Mono"/>
                <a:ea typeface="JetBrains Mono"/>
              </a:rPr>
              <a:t>dobj.annotations('b')                   // </a:t>
            </a:r>
            <a:r>
              <a:rPr lang="zh-CN" sz="975">
                <a:solidFill>
                  <a:srgbClr val="94A3B8"/>
                </a:solidFill>
                <a:latin typeface="JetBrains Mono"/>
                <a:ea typeface="JetBrains Mono"/>
              </a:rPr>
              <a:t>取字段上的全部注解（校验就靠它）</a:t>
            </a:r>
            <a:endParaRPr lang="zh-CN" sz="975">
              <a:solidFill>
                <a:srgbClr val="94A3B8"/>
              </a:solidFill>
              <a:latin typeface="JetBrains Mono"/>
              <a:ea typeface="JetBrains Mono"/>
            </a:endParaRPr>
          </a:p>
        </p:txBody>
      </p:sp>
      <p:sp>
        <p:nvSpPr>
          <p:cNvPr id="1619" name="任意多边形 1618"/>
          <p:cNvSpPr/>
          <p:nvPr/>
        </p:nvSpPr>
        <p:spPr>
          <a:xfrm>
            <a:off x="609600" y="6286500"/>
            <a:ext cx="10972800" cy="381000"/>
          </a:xfrm>
          <a:custGeom>
            <a:avLst/>
            <a:gdLst/>
            <a:ahLst/>
            <a:cxnLst/>
            <a:pathLst>
              <a:path w="1152" h="40">
                <a:moveTo>
                  <a:pt x="0" y="0"/>
                </a:moveTo>
                <a:lnTo>
                  <a:pt x="1152" y="0"/>
                </a:lnTo>
                <a:lnTo>
                  <a:pt x="1152" y="1"/>
                </a:lnTo>
                <a:lnTo>
                  <a:pt x="0" y="1"/>
                </a:lnTo>
                <a:close/>
              </a:path>
            </a:pathLst>
          </a:custGeom>
          <a:solidFill>
            <a:srgbClr val="1E293B"/>
          </a:solidFill>
        </p:spPr>
        <p:txBody>
          <a:bodyPr/>
          <a:p/>
        </p:txBody>
      </p:sp>
      <p:sp>
        <p:nvSpPr>
          <p:cNvPr id="1620" name="文本框 1619" descr="{&quot;isTemplate&quot;:true,&quot;type&quot;:&quot;text&quot;}"/>
          <p:cNvSpPr txBox="1"/>
          <p:nvPr/>
        </p:nvSpPr>
        <p:spPr>
          <a:xfrm>
            <a:off x="609600" y="6410325"/>
            <a:ext cx="2219325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fountain · 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一站式服务器应用开发工具库</a:t>
            </a:r>
            <a:endParaRPr lang="zh-CN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21" name="文本框 1620" descr="{&quot;isTemplate&quot;:true,&quot;type&quot;:&quot;text&quot;}"/>
          <p:cNvSpPr txBox="1"/>
          <p:nvPr/>
        </p:nvSpPr>
        <p:spPr>
          <a:xfrm>
            <a:off x="11087100" y="6410325"/>
            <a:ext cx="495300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48 / 116</a:t>
            </a:r>
            <a:endParaRPr lang="en-US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62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3" name="矩形 162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220"/>
          </a:solidFill>
        </p:spPr>
        <p:txBody>
          <a:bodyPr/>
          <a:p/>
        </p:txBody>
      </p:sp>
      <p:sp>
        <p:nvSpPr>
          <p:cNvPr id="1624" name="矩形 1623"/>
          <p:cNvSpPr/>
          <p:nvPr/>
        </p:nvSpPr>
        <p:spPr>
          <a:xfrm>
            <a:off x="609600" y="476250"/>
            <a:ext cx="38100" cy="381000"/>
          </a:xfrm>
          <a:prstGeom prst="rect">
            <a:avLst/>
          </a:prstGeom>
          <a:solidFill>
            <a:srgbClr val="38BDF8"/>
          </a:solidFill>
        </p:spPr>
        <p:txBody>
          <a:bodyPr/>
          <a:p/>
        </p:txBody>
      </p:sp>
      <p:sp>
        <p:nvSpPr>
          <p:cNvPr id="1625" name="文本框 1624" descr="{&quot;isTemplate&quot;:true,&quot;type&quot;:&quot;text&quot;}"/>
          <p:cNvSpPr txBox="1"/>
          <p:nvPr/>
        </p:nvSpPr>
        <p:spPr>
          <a:xfrm>
            <a:off x="819150" y="304800"/>
            <a:ext cx="9229725" cy="2095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第</a:t>
            </a: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 8 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章</a:t>
            </a: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 · 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数据</a:t>
            </a: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 f_data · 8.4</a:t>
            </a:r>
            <a:endParaRPr lang="en-US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26" name="文本框 1625" descr="{&quot;isTemplate&quot;:true,&quot;type&quot;:&quot;text&quot;}"/>
          <p:cNvSpPr txBox="1"/>
          <p:nvPr/>
        </p:nvSpPr>
        <p:spPr>
          <a:xfrm>
            <a:off x="819150" y="514350"/>
            <a:ext cx="9229725" cy="5143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2550" b="1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实例复制：</a:t>
            </a:r>
            <a:r>
              <a:rPr lang="en-US" sz="2550" b="1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DataObject.populate</a:t>
            </a:r>
            <a:endParaRPr lang="en-US" sz="2550" b="1">
              <a:solidFill>
                <a:srgbClr val="E2E8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27" name="文本框 1626" descr="{&quot;isTemplate&quot;:true,&quot;type&quot;:&quot;text&quot;}"/>
          <p:cNvSpPr txBox="1"/>
          <p:nvPr/>
        </p:nvSpPr>
        <p:spPr>
          <a:xfrm>
            <a:off x="10220325" y="590550"/>
            <a:ext cx="1362075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仓库里现成的可运行演示</a:t>
            </a:r>
            <a:endParaRPr lang="zh-CN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28" name="圆角矩形 1627"/>
          <p:cNvSpPr/>
          <p:nvPr/>
        </p:nvSpPr>
        <p:spPr>
          <a:xfrm>
            <a:off x="609600" y="1143000"/>
            <a:ext cx="7353300" cy="5143500"/>
          </a:xfrm>
          <a:prstGeom prst="roundRect">
            <a:avLst>
              <a:gd name="adj" fmla="val 2222"/>
            </a:avLst>
          </a:prstGeom>
          <a:solidFill>
            <a:srgbClr val="0B1220"/>
          </a:solidFill>
          <a:ln w="12700">
            <a:solidFill>
              <a:srgbClr val="1E293B"/>
            </a:solidFill>
            <a:prstDash val="solid"/>
          </a:ln>
        </p:spPr>
        <p:txBody>
          <a:bodyPr/>
          <a:p/>
        </p:txBody>
      </p:sp>
      <p:sp>
        <p:nvSpPr>
          <p:cNvPr id="1629" name="文本框 1628" descr="{&quot;isTemplate&quot;:true,&quot;type&quot;:&quot;text&quot;}"/>
          <p:cNvSpPr txBox="1"/>
          <p:nvPr/>
        </p:nvSpPr>
        <p:spPr>
          <a:xfrm>
            <a:off x="800100" y="1333500"/>
            <a:ext cx="6972300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fdemo/boot/src/boot.cj</a:t>
            </a:r>
            <a:endParaRPr lang="en-US" sz="105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30" name="文本框 1629" descr="{&quot;isTemplate&quot;:true,&quot;type&quot;:&quot;text&quot;}"/>
          <p:cNvSpPr txBox="1"/>
          <p:nvPr/>
        </p:nvSpPr>
        <p:spPr>
          <a:xfrm>
            <a:off x="800100" y="1590675"/>
            <a:ext cx="6972300" cy="2286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en-US" sz="975">
                <a:solidFill>
                  <a:srgbClr val="94A3B8"/>
                </a:solidFill>
                <a:latin typeface="JetBrains Mono"/>
                <a:ea typeface="JetBrains Mono"/>
              </a:rPr>
              <a:t>@DataAssist[equal hash tostring props fields]</a:t>
            </a:r>
            <a:endParaRPr lang="en-US" sz="975">
              <a:solidFill>
                <a:srgbClr val="94A3B8"/>
              </a:solidFill>
              <a:latin typeface="JetBrains Mono"/>
              <a:ea typeface="JetBrains Mono"/>
            </a:endParaRPr>
          </a:p>
        </p:txBody>
      </p:sp>
      <p:sp>
        <p:nvSpPr>
          <p:cNvPr id="1631" name="文本框 1630" descr="{&quot;isTemplate&quot;:true,&quot;type&quot;:&quot;text&quot;}"/>
          <p:cNvSpPr txBox="1"/>
          <p:nvPr/>
        </p:nvSpPr>
        <p:spPr>
          <a:xfrm>
            <a:off x="800100" y="1819275"/>
            <a:ext cx="6972300" cy="2286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en-US" sz="975">
                <a:solidFill>
                  <a:srgbClr val="94A3B8"/>
                </a:solidFill>
                <a:latin typeface="JetBrains Mono"/>
                <a:ea typeface="JetBrains Mono"/>
              </a:rPr>
              <a:t>public class TestData2 &lt;: TestData1 { ... }</a:t>
            </a:r>
            <a:endParaRPr lang="en-US" sz="975">
              <a:solidFill>
                <a:srgbClr val="94A3B8"/>
              </a:solidFill>
              <a:latin typeface="JetBrains Mono"/>
              <a:ea typeface="JetBrains Mono"/>
            </a:endParaRPr>
          </a:p>
        </p:txBody>
      </p:sp>
      <p:sp>
        <p:nvSpPr>
          <p:cNvPr id="1632" name="矩形 1631"/>
          <p:cNvSpPr/>
          <p:nvPr/>
        </p:nvSpPr>
        <p:spPr>
          <a:xfrm>
            <a:off x="800100" y="2143125"/>
            <a:ext cx="6972300" cy="9525"/>
          </a:xfrm>
          <a:prstGeom prst="rect">
            <a:avLst/>
          </a:prstGeom>
          <a:solidFill>
            <a:srgbClr val="1E293B"/>
          </a:solidFill>
        </p:spPr>
        <p:txBody>
          <a:bodyPr/>
          <a:p/>
        </p:txBody>
      </p:sp>
      <p:sp>
        <p:nvSpPr>
          <p:cNvPr id="1633" name="文本框 1632" descr="{&quot;isTemplate&quot;:true,&quot;type&quot;:&quot;text&quot;}"/>
          <p:cNvSpPr txBox="1"/>
          <p:nvPr/>
        </p:nvSpPr>
        <p:spPr>
          <a:xfrm>
            <a:off x="800100" y="2247900"/>
            <a:ext cx="6972300" cy="2286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① 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不同类之间复制（只复制同名字段）</a:t>
            </a:r>
            <a:endParaRPr lang="zh-CN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34" name="文本框 1633" descr="{&quot;isTemplate&quot;:true,&quot;type&quot;:&quot;text&quot;}"/>
          <p:cNvSpPr txBox="1"/>
          <p:nvPr/>
        </p:nvSpPr>
        <p:spPr>
          <a:xfrm>
            <a:off x="800100" y="2476500"/>
            <a:ext cx="6972300" cy="2286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en-US" sz="975">
                <a:solidFill>
                  <a:srgbClr val="38BDF8"/>
                </a:solidFill>
                <a:latin typeface="JetBrains Mono"/>
                <a:ea typeface="JetBrains Mono"/>
              </a:rPr>
              <a:t>var data3 = DataObject&lt;TestData3&gt;.populate(data2).getOrThrow()</a:t>
            </a:r>
            <a:endParaRPr lang="en-US" sz="975">
              <a:solidFill>
                <a:srgbClr val="38BDF8"/>
              </a:solidFill>
              <a:latin typeface="JetBrains Mono"/>
              <a:ea typeface="JetBrains Mono"/>
            </a:endParaRPr>
          </a:p>
        </p:txBody>
      </p:sp>
      <p:sp>
        <p:nvSpPr>
          <p:cNvPr id="1635" name="文本框 1634" descr="{&quot;isTemplate&quot;:true,&quot;type&quot;:&quot;text&quot;}"/>
          <p:cNvSpPr txBox="1"/>
          <p:nvPr/>
        </p:nvSpPr>
        <p:spPr>
          <a:xfrm>
            <a:off x="800100" y="2781300"/>
            <a:ext cx="6972300" cy="2286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② 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忽略验证</a:t>
            </a: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 / 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忽略验证失败</a:t>
            </a:r>
            <a:endParaRPr lang="zh-CN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36" name="文本框 1635" descr="{&quot;isTemplate&quot;:true,&quot;type&quot;:&quot;text&quot;}"/>
          <p:cNvSpPr txBox="1"/>
          <p:nvPr/>
        </p:nvSpPr>
        <p:spPr>
          <a:xfrm>
            <a:off x="800100" y="3009900"/>
            <a:ext cx="6972300" cy="2286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en-US" sz="975">
                <a:solidFill>
                  <a:srgbClr val="38BDF8"/>
                </a:solidFill>
                <a:latin typeface="JetBrains Mono"/>
                <a:ea typeface="JetBrains Mono"/>
              </a:rPr>
              <a:t>data3 = DataObject&lt;TestData3&gt;.populate(data2,</a:t>
            </a:r>
            <a:endParaRPr lang="en-US" sz="975">
              <a:solidFill>
                <a:srgbClr val="38BDF8"/>
              </a:solidFill>
              <a:latin typeface="JetBrains Mono"/>
              <a:ea typeface="JetBrains Mono"/>
            </a:endParaRPr>
          </a:p>
        </p:txBody>
      </p:sp>
      <p:sp>
        <p:nvSpPr>
          <p:cNvPr id="1637" name="文本框 1636" descr="{&quot;isTemplate&quot;:true,&quot;type&quot;:&quot;text&quot;}"/>
          <p:cNvSpPr txBox="1"/>
          <p:nvPr/>
        </p:nvSpPr>
        <p:spPr>
          <a:xfrm>
            <a:off x="800100" y="3238500"/>
            <a:ext cx="6972300" cy="2286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en-US" sz="975">
                <a:solidFill>
                  <a:srgbClr val="38BDF8"/>
                </a:solidFill>
                <a:latin typeface="JetBrains Mono"/>
                <a:ea typeface="JetBrains Mono"/>
              </a:rPr>
              <a:t>            flag: DEFAULT_DATA_FLAG | IGNORE_VALIDATION).getOrThrow()</a:t>
            </a:r>
            <a:endParaRPr lang="en-US" sz="975">
              <a:solidFill>
                <a:srgbClr val="38BDF8"/>
              </a:solidFill>
              <a:latin typeface="JetBrains Mono"/>
              <a:ea typeface="JetBrains Mono"/>
            </a:endParaRPr>
          </a:p>
        </p:txBody>
      </p:sp>
      <p:sp>
        <p:nvSpPr>
          <p:cNvPr id="1638" name="文本框 1637" descr="{&quot;isTemplate&quot;:true,&quot;type&quot;:&quot;text&quot;}"/>
          <p:cNvSpPr txBox="1"/>
          <p:nvPr/>
        </p:nvSpPr>
        <p:spPr>
          <a:xfrm>
            <a:off x="800100" y="3467100"/>
            <a:ext cx="6972300" cy="2286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en-US" sz="975">
                <a:solidFill>
                  <a:srgbClr val="38BDF8"/>
                </a:solidFill>
                <a:latin typeface="JetBrains Mono"/>
                <a:ea typeface="JetBrains Mono"/>
              </a:rPr>
              <a:t>// </a:t>
            </a:r>
            <a:r>
              <a:rPr lang="zh-CN" sz="975">
                <a:solidFill>
                  <a:srgbClr val="38BDF8"/>
                </a:solidFill>
                <a:latin typeface="JetBrains Mono"/>
                <a:ea typeface="JetBrains Mono"/>
              </a:rPr>
              <a:t>或</a:t>
            </a:r>
            <a:r>
              <a:rPr lang="en-US" sz="975">
                <a:solidFill>
                  <a:srgbClr val="38BDF8"/>
                </a:solidFill>
                <a:latin typeface="JetBrains Mono"/>
                <a:ea typeface="JetBrains Mono"/>
              </a:rPr>
              <a:t> | IGNORE_NOT_MATCHED_VALIDATION</a:t>
            </a:r>
            <a:endParaRPr lang="en-US" sz="975">
              <a:solidFill>
                <a:srgbClr val="38BDF8"/>
              </a:solidFill>
              <a:latin typeface="JetBrains Mono"/>
              <a:ea typeface="JetBrains Mono"/>
            </a:endParaRPr>
          </a:p>
        </p:txBody>
      </p:sp>
      <p:sp>
        <p:nvSpPr>
          <p:cNvPr id="1639" name="文本框 1638" descr="{&quot;isTemplate&quot;:true,&quot;type&quot;:&quot;text&quot;}"/>
          <p:cNvSpPr txBox="1"/>
          <p:nvPr/>
        </p:nvSpPr>
        <p:spPr>
          <a:xfrm>
            <a:off x="800100" y="3771900"/>
            <a:ext cx="6972300" cy="2286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③ 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对象</a:t>
            </a: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 ↔ JSON</a:t>
            </a:r>
            <a:endParaRPr lang="en-US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40" name="文本框 1639" descr="{&quot;isTemplate&quot;:true,&quot;type&quot;:&quot;text&quot;}"/>
          <p:cNvSpPr txBox="1"/>
          <p:nvPr/>
        </p:nvSpPr>
        <p:spPr>
          <a:xfrm>
            <a:off x="800100" y="4000500"/>
            <a:ext cx="6972300" cy="2286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en-US" sz="975">
                <a:solidFill>
                  <a:srgbClr val="38BDF8"/>
                </a:solidFill>
                <a:latin typeface="JetBrains Mono"/>
                <a:ea typeface="JetBrains Mono"/>
              </a:rPr>
              <a:t>let json = JsonValue.from(DataObject&lt;TestData2&gt;(data2))</a:t>
            </a:r>
            <a:endParaRPr lang="en-US" sz="975">
              <a:solidFill>
                <a:srgbClr val="38BDF8"/>
              </a:solidFill>
              <a:latin typeface="JetBrains Mono"/>
              <a:ea typeface="JetBrains Mono"/>
            </a:endParaRPr>
          </a:p>
        </p:txBody>
      </p:sp>
      <p:sp>
        <p:nvSpPr>
          <p:cNvPr id="1641" name="文本框 1640" descr="{&quot;isTemplate&quot;:true,&quot;type&quot;:&quot;text&quot;}"/>
          <p:cNvSpPr txBox="1"/>
          <p:nvPr/>
        </p:nvSpPr>
        <p:spPr>
          <a:xfrm>
            <a:off x="800100" y="4229100"/>
            <a:ext cx="6972300" cy="2286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en-US" sz="975">
                <a:solidFill>
                  <a:srgbClr val="38BDF8"/>
                </a:solidFill>
                <a:latin typeface="JetBrains Mono"/>
                <a:ea typeface="JetBrains Mono"/>
              </a:rPr>
              <a:t>let back = json.toData()</a:t>
            </a:r>
            <a:endParaRPr lang="en-US" sz="975">
              <a:solidFill>
                <a:srgbClr val="38BDF8"/>
              </a:solidFill>
              <a:latin typeface="JetBrains Mono"/>
              <a:ea typeface="JetBrains Mono"/>
            </a:endParaRPr>
          </a:p>
        </p:txBody>
      </p:sp>
      <p:sp>
        <p:nvSpPr>
          <p:cNvPr id="1642" name="文本框 1641" descr="{&quot;isTemplate&quot;:true,&quot;type&quot;:&quot;text&quot;}"/>
          <p:cNvSpPr txBox="1"/>
          <p:nvPr/>
        </p:nvSpPr>
        <p:spPr>
          <a:xfrm>
            <a:off x="800100" y="4457700"/>
            <a:ext cx="6972300" cy="2286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en-US" sz="975">
                <a:solidFill>
                  <a:srgbClr val="38BDF8"/>
                </a:solidFill>
                <a:latin typeface="JetBrains Mono"/>
                <a:ea typeface="JetBrains Mono"/>
              </a:rPr>
              <a:t>let s = toJson(data2)      // </a:t>
            </a:r>
            <a:r>
              <a:rPr lang="zh-CN" sz="975">
                <a:solidFill>
                  <a:srgbClr val="38BDF8"/>
                </a:solidFill>
                <a:latin typeface="JetBrains Mono"/>
                <a:ea typeface="JetBrains Mono"/>
              </a:rPr>
              <a:t>对象</a:t>
            </a:r>
            <a:r>
              <a:rPr lang="en-US" sz="975">
                <a:solidFill>
                  <a:srgbClr val="38BDF8"/>
                </a:solidFill>
                <a:latin typeface="JetBrains Mono"/>
                <a:ea typeface="JetBrains Mono"/>
              </a:rPr>
              <a:t> → JSON </a:t>
            </a:r>
            <a:r>
              <a:rPr lang="zh-CN" sz="975">
                <a:solidFill>
                  <a:srgbClr val="38BDF8"/>
                </a:solidFill>
                <a:latin typeface="JetBrains Mono"/>
                <a:ea typeface="JetBrains Mono"/>
              </a:rPr>
              <a:t>串</a:t>
            </a:r>
            <a:endParaRPr lang="zh-CN" sz="975">
              <a:solidFill>
                <a:srgbClr val="38BDF8"/>
              </a:solidFill>
              <a:latin typeface="JetBrains Mono"/>
              <a:ea typeface="JetBrains Mono"/>
            </a:endParaRPr>
          </a:p>
        </p:txBody>
      </p:sp>
      <p:sp>
        <p:nvSpPr>
          <p:cNvPr id="1643" name="文本框 1642" descr="{&quot;isTemplate&quot;:true,&quot;type&quot;:&quot;text&quot;}"/>
          <p:cNvSpPr txBox="1"/>
          <p:nvPr/>
        </p:nvSpPr>
        <p:spPr>
          <a:xfrm>
            <a:off x="800100" y="4686300"/>
            <a:ext cx="6972300" cy="2286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en-US" sz="975">
                <a:solidFill>
                  <a:srgbClr val="38BDF8"/>
                </a:solidFill>
                <a:latin typeface="JetBrains Mono"/>
                <a:ea typeface="JetBrains Mono"/>
              </a:rPr>
              <a:t>let d = fromJson&lt;TestData2&gt;(s)   // JSON </a:t>
            </a:r>
            <a:r>
              <a:rPr lang="zh-CN" sz="975">
                <a:solidFill>
                  <a:srgbClr val="38BDF8"/>
                </a:solidFill>
                <a:latin typeface="JetBrains Mono"/>
                <a:ea typeface="JetBrains Mono"/>
              </a:rPr>
              <a:t>串</a:t>
            </a:r>
            <a:r>
              <a:rPr lang="en-US" sz="975">
                <a:solidFill>
                  <a:srgbClr val="38BDF8"/>
                </a:solidFill>
                <a:latin typeface="JetBrains Mono"/>
                <a:ea typeface="JetBrains Mono"/>
              </a:rPr>
              <a:t> → </a:t>
            </a:r>
            <a:r>
              <a:rPr lang="zh-CN" sz="975">
                <a:solidFill>
                  <a:srgbClr val="38BDF8"/>
                </a:solidFill>
                <a:latin typeface="JetBrains Mono"/>
                <a:ea typeface="JetBrains Mono"/>
              </a:rPr>
              <a:t>对象</a:t>
            </a:r>
            <a:endParaRPr lang="zh-CN" sz="975">
              <a:solidFill>
                <a:srgbClr val="38BDF8"/>
              </a:solidFill>
              <a:latin typeface="JetBrains Mono"/>
              <a:ea typeface="JetBrains Mono"/>
            </a:endParaRPr>
          </a:p>
        </p:txBody>
      </p:sp>
      <p:sp>
        <p:nvSpPr>
          <p:cNvPr id="1644" name="文本框 1643" descr="{&quot;isTemplate&quot;:true,&quot;type&quot;:&quot;text&quot;}"/>
          <p:cNvSpPr txBox="1"/>
          <p:nvPr/>
        </p:nvSpPr>
        <p:spPr>
          <a:xfrm>
            <a:off x="800100" y="4991100"/>
            <a:ext cx="6972300" cy="2286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④ Map 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也能当数据源（先转</a:t>
            </a: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 Data 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再复制）</a:t>
            </a:r>
            <a:endParaRPr lang="zh-CN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45" name="文本框 1644" descr="{&quot;isTemplate&quot;:true,&quot;type&quot;:&quot;text&quot;}"/>
          <p:cNvSpPr txBox="1"/>
          <p:nvPr/>
        </p:nvSpPr>
        <p:spPr>
          <a:xfrm>
            <a:off x="800100" y="5219700"/>
            <a:ext cx="6972300" cy="2286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en-US" sz="975">
                <a:solidFill>
                  <a:srgbClr val="94A3B8"/>
                </a:solidFill>
                <a:latin typeface="JetBrains Mono"/>
                <a:ea typeface="JetBrains Mono"/>
              </a:rPr>
              <a:t>let data4 = map.toData()</a:t>
            </a:r>
            <a:endParaRPr lang="en-US" sz="975">
              <a:solidFill>
                <a:srgbClr val="94A3B8"/>
              </a:solidFill>
              <a:latin typeface="JetBrains Mono"/>
              <a:ea typeface="JetBrains Mono"/>
            </a:endParaRPr>
          </a:p>
        </p:txBody>
      </p:sp>
      <p:sp>
        <p:nvSpPr>
          <p:cNvPr id="1646" name="文本框 1645" descr="{&quot;isTemplate&quot;:true,&quot;type&quot;:&quot;text&quot;}"/>
          <p:cNvSpPr txBox="1"/>
          <p:nvPr/>
        </p:nvSpPr>
        <p:spPr>
          <a:xfrm>
            <a:off x="800100" y="5448300"/>
            <a:ext cx="6972300" cy="2286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en-US" sz="975">
                <a:solidFill>
                  <a:srgbClr val="94A3B8"/>
                </a:solidFill>
                <a:latin typeface="JetBrains Mono"/>
                <a:ea typeface="JetBrains Mono"/>
              </a:rPr>
              <a:t>data2 = DataObject&lt;TestData2&gt;.populate(data4).getOrThrow()</a:t>
            </a:r>
            <a:endParaRPr lang="en-US" sz="975">
              <a:solidFill>
                <a:srgbClr val="94A3B8"/>
              </a:solidFill>
              <a:latin typeface="JetBrains Mono"/>
              <a:ea typeface="JetBrains Mono"/>
            </a:endParaRPr>
          </a:p>
        </p:txBody>
      </p:sp>
      <p:sp>
        <p:nvSpPr>
          <p:cNvPr id="1647" name="圆角矩形 1646"/>
          <p:cNvSpPr/>
          <p:nvPr/>
        </p:nvSpPr>
        <p:spPr>
          <a:xfrm>
            <a:off x="8153400" y="1143000"/>
            <a:ext cx="3429000" cy="4048125"/>
          </a:xfrm>
          <a:prstGeom prst="roundRect">
            <a:avLst>
              <a:gd name="adj" fmla="val 3333"/>
            </a:avLst>
          </a:prstGeom>
          <a:solidFill>
            <a:srgbClr val="111C2E"/>
          </a:solidFill>
          <a:ln w="12700">
            <a:solidFill>
              <a:srgbClr val="38BDF8"/>
            </a:solidFill>
            <a:prstDash val="solid"/>
          </a:ln>
        </p:spPr>
        <p:txBody>
          <a:bodyPr/>
          <a:p/>
        </p:txBody>
      </p:sp>
      <p:sp>
        <p:nvSpPr>
          <p:cNvPr id="1648" name="文本框 1647" descr="{&quot;isTemplate&quot;:true,&quot;type&quot;:&quot;text&quot;}"/>
          <p:cNvSpPr txBox="1"/>
          <p:nvPr/>
        </p:nvSpPr>
        <p:spPr>
          <a:xfrm>
            <a:off x="8343900" y="1333500"/>
            <a:ext cx="3048000" cy="2000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38BDF8"/>
                </a:solidFill>
                <a:latin typeface="微软雅黑" panose="020B0503020204020204" charset="-122"/>
                <a:ea typeface="微软雅黑" panose="020B0503020204020204" charset="-122"/>
              </a:rPr>
              <a:t>四条路</a:t>
            </a:r>
            <a:endParaRPr lang="zh-CN" sz="1275" b="1">
              <a:solidFill>
                <a:srgbClr val="38BDF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49" name="文本框 1648" descr="{&quot;isTemplate&quot;:true,&quot;type&quot;:&quot;text&quot;}"/>
          <p:cNvSpPr txBox="1"/>
          <p:nvPr/>
        </p:nvSpPr>
        <p:spPr>
          <a:xfrm>
            <a:off x="8343900" y="1647825"/>
            <a:ext cx="3048000" cy="2952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80000"/>
              </a:lnSpc>
            </a:pPr>
            <a:r>
              <a:rPr lang="zh-CN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对象</a:t>
            </a:r>
            <a:r>
              <a:rPr lang="en-US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→ </a:t>
            </a:r>
            <a:r>
              <a:rPr lang="zh-CN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对象：按同名字段复制</a:t>
            </a:r>
            <a:endParaRPr lang="zh-CN" sz="1050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50" name="文本框 1649" descr="{&quot;isTemplate&quot;:true,&quot;type&quot;:&quot;text&quot;}"/>
          <p:cNvSpPr txBox="1"/>
          <p:nvPr/>
        </p:nvSpPr>
        <p:spPr>
          <a:xfrm>
            <a:off x="8343900" y="2019300"/>
            <a:ext cx="3048000" cy="2952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80000"/>
              </a:lnSpc>
            </a:pPr>
            <a:r>
              <a:rPr lang="zh-CN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对象</a:t>
            </a:r>
            <a:r>
              <a:rPr lang="en-US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→ JSON → </a:t>
            </a:r>
            <a:r>
              <a:rPr lang="zh-CN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对象</a:t>
            </a:r>
            <a:endParaRPr lang="zh-CN" sz="1050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51" name="文本框 1650" descr="{&quot;isTemplate&quot;:true,&quot;type&quot;:&quot;text&quot;}"/>
          <p:cNvSpPr txBox="1"/>
          <p:nvPr/>
        </p:nvSpPr>
        <p:spPr>
          <a:xfrm>
            <a:off x="8343900" y="2390775"/>
            <a:ext cx="3048000" cy="2952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80000"/>
              </a:lnSpc>
            </a:pPr>
            <a:r>
              <a:rPr lang="en-US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JSON </a:t>
            </a:r>
            <a:r>
              <a:rPr lang="zh-CN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串</a:t>
            </a:r>
            <a:r>
              <a:rPr lang="en-US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→ </a:t>
            </a:r>
            <a:r>
              <a:rPr lang="zh-CN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对象</a:t>
            </a:r>
            <a:endParaRPr lang="zh-CN" sz="1050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52" name="文本框 1651" descr="{&quot;isTemplate&quot;:true,&quot;type&quot;:&quot;text&quot;}"/>
          <p:cNvSpPr txBox="1"/>
          <p:nvPr/>
        </p:nvSpPr>
        <p:spPr>
          <a:xfrm>
            <a:off x="8343900" y="2762250"/>
            <a:ext cx="3048000" cy="2952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80000"/>
              </a:lnSpc>
            </a:pPr>
            <a:r>
              <a:rPr lang="en-US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Map → Data → </a:t>
            </a:r>
            <a:r>
              <a:rPr lang="zh-CN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对象</a:t>
            </a:r>
            <a:endParaRPr lang="zh-CN" sz="1050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53" name="文本框 1652" descr="{&quot;isTemplate&quot;:true,&quot;type&quot;:&quot;text&quot;}"/>
          <p:cNvSpPr txBox="1"/>
          <p:nvPr/>
        </p:nvSpPr>
        <p:spPr>
          <a:xfrm>
            <a:off x="8343900" y="4419600"/>
            <a:ext cx="3048000" cy="581025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80000"/>
              </a:lnSpc>
            </a:pPr>
            <a:r>
              <a:rPr lang="en-US" sz="1050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DTO </a:t>
            </a:r>
            <a:r>
              <a:rPr lang="zh-CN" sz="1050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少几个字段、多几个字段都不会炸</a:t>
            </a:r>
            <a:r>
              <a:rPr lang="en-US" sz="1050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 —— </a:t>
            </a:r>
            <a:r>
              <a:rPr lang="zh-CN" sz="1050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默认</a:t>
            </a:r>
            <a:r>
              <a:rPr lang="en-US" sz="1050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 SILENCE</a:t>
            </a:r>
            <a:r>
              <a:rPr lang="zh-CN" sz="1050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。</a:t>
            </a:r>
            <a:endParaRPr lang="zh-CN" sz="1050">
              <a:solidFill>
                <a:srgbClr val="F59E0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54" name="圆角矩形 1653"/>
          <p:cNvSpPr/>
          <p:nvPr/>
        </p:nvSpPr>
        <p:spPr>
          <a:xfrm>
            <a:off x="8153400" y="5324475"/>
            <a:ext cx="3429000" cy="962025"/>
          </a:xfrm>
          <a:prstGeom prst="roundRect">
            <a:avLst>
              <a:gd name="adj" fmla="val 11881"/>
            </a:avLst>
          </a:prstGeom>
          <a:solidFill>
            <a:srgbClr val="111C2E"/>
          </a:solidFill>
          <a:ln w="12700">
            <a:solidFill>
              <a:srgbClr val="1E293B"/>
            </a:solidFill>
            <a:prstDash val="solid"/>
          </a:ln>
        </p:spPr>
        <p:txBody>
          <a:bodyPr/>
          <a:p/>
        </p:txBody>
      </p:sp>
      <p:sp>
        <p:nvSpPr>
          <p:cNvPr id="1655" name="文本框 1654" descr="{&quot;isTemplate&quot;:true,&quot;type&quot;:&quot;text&quot;}"/>
          <p:cNvSpPr txBox="1"/>
          <p:nvPr/>
        </p:nvSpPr>
        <p:spPr>
          <a:xfrm>
            <a:off x="8343900" y="5514975"/>
            <a:ext cx="3048000" cy="1905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这些代码不用你写</a:t>
            </a:r>
            <a:endParaRPr lang="zh-CN" sz="1200" b="1">
              <a:solidFill>
                <a:srgbClr val="E2E8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56" name="文本框 1655" descr="{&quot;isTemplate&quot;:true,&quot;type&quot;:&quot;text&quot;}"/>
          <p:cNvSpPr txBox="1"/>
          <p:nvPr/>
        </p:nvSpPr>
        <p:spPr>
          <a:xfrm>
            <a:off x="8343900" y="5800725"/>
            <a:ext cx="3048000" cy="2952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80000"/>
              </a:lnSpc>
            </a:pPr>
            <a:r>
              <a:rPr lang="zh-CN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全部是</a:t>
            </a:r>
            <a:r>
              <a:rPr lang="en-US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@DataAssist </a:t>
            </a:r>
            <a:r>
              <a:rPr lang="zh-CN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的</a:t>
            </a:r>
            <a:r>
              <a:rPr lang="en-US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fields </a:t>
            </a:r>
            <a:r>
              <a:rPr lang="zh-CN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属性生成的。</a:t>
            </a:r>
            <a:endParaRPr lang="zh-CN" sz="1050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57" name="任意多边形 1656"/>
          <p:cNvSpPr/>
          <p:nvPr/>
        </p:nvSpPr>
        <p:spPr>
          <a:xfrm>
            <a:off x="609600" y="6286500"/>
            <a:ext cx="10972800" cy="381000"/>
          </a:xfrm>
          <a:custGeom>
            <a:avLst/>
            <a:gdLst/>
            <a:ahLst/>
            <a:cxnLst/>
            <a:pathLst>
              <a:path w="1152" h="40">
                <a:moveTo>
                  <a:pt x="0" y="0"/>
                </a:moveTo>
                <a:lnTo>
                  <a:pt x="1152" y="0"/>
                </a:lnTo>
                <a:lnTo>
                  <a:pt x="1152" y="1"/>
                </a:lnTo>
                <a:lnTo>
                  <a:pt x="0" y="1"/>
                </a:lnTo>
                <a:close/>
              </a:path>
            </a:pathLst>
          </a:custGeom>
          <a:solidFill>
            <a:srgbClr val="1E293B"/>
          </a:solidFill>
        </p:spPr>
        <p:txBody>
          <a:bodyPr/>
          <a:p/>
        </p:txBody>
      </p:sp>
      <p:sp>
        <p:nvSpPr>
          <p:cNvPr id="1658" name="文本框 1657" descr="{&quot;isTemplate&quot;:true,&quot;type&quot;:&quot;text&quot;}"/>
          <p:cNvSpPr txBox="1"/>
          <p:nvPr/>
        </p:nvSpPr>
        <p:spPr>
          <a:xfrm>
            <a:off x="609600" y="6410325"/>
            <a:ext cx="2219325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fountain · 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一站式服务器应用开发工具库</a:t>
            </a:r>
            <a:endParaRPr lang="zh-CN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59" name="文本框 1658" descr="{&quot;isTemplate&quot;:true,&quot;type&quot;:&quot;text&quot;}"/>
          <p:cNvSpPr txBox="1"/>
          <p:nvPr/>
        </p:nvSpPr>
        <p:spPr>
          <a:xfrm>
            <a:off x="11087100" y="6410325"/>
            <a:ext cx="495300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49 / 116</a:t>
            </a:r>
            <a:endParaRPr lang="en-US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67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5" name="矩形 1674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220"/>
          </a:solidFill>
        </p:spPr>
        <p:txBody>
          <a:bodyPr/>
          <a:p/>
        </p:txBody>
      </p:sp>
      <p:sp>
        <p:nvSpPr>
          <p:cNvPr id="1676" name="矩形 1675"/>
          <p:cNvSpPr/>
          <p:nvPr/>
        </p:nvSpPr>
        <p:spPr>
          <a:xfrm>
            <a:off x="609600" y="476250"/>
            <a:ext cx="38100" cy="381000"/>
          </a:xfrm>
          <a:prstGeom prst="rect">
            <a:avLst/>
          </a:prstGeom>
          <a:solidFill>
            <a:srgbClr val="38BDF8"/>
          </a:solidFill>
        </p:spPr>
        <p:txBody>
          <a:bodyPr/>
          <a:p/>
        </p:txBody>
      </p:sp>
      <p:sp>
        <p:nvSpPr>
          <p:cNvPr id="1677" name="文本框 1676" descr="{&quot;isTemplate&quot;:true,&quot;type&quot;:&quot;text&quot;}"/>
          <p:cNvSpPr txBox="1"/>
          <p:nvPr/>
        </p:nvSpPr>
        <p:spPr>
          <a:xfrm>
            <a:off x="819150" y="304800"/>
            <a:ext cx="10096500" cy="2095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第</a:t>
            </a: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 8 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章</a:t>
            </a: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 · 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数据</a:t>
            </a: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 f_data · 8.4 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续</a:t>
            </a:r>
            <a:endParaRPr lang="zh-CN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78" name="文本框 1677" descr="{&quot;isTemplate&quot;:true,&quot;type&quot;:&quot;text&quot;}"/>
          <p:cNvSpPr txBox="1"/>
          <p:nvPr/>
        </p:nvSpPr>
        <p:spPr>
          <a:xfrm>
            <a:off x="819150" y="514350"/>
            <a:ext cx="10096500" cy="5143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en-US" sz="2550" b="1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DataConversionFlag</a:t>
            </a:r>
            <a:r>
              <a:rPr lang="zh-CN" sz="2550" b="1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：复制行为的开关</a:t>
            </a:r>
            <a:endParaRPr lang="zh-CN" sz="2550" b="1">
              <a:solidFill>
                <a:srgbClr val="E2E8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79" name="文本框 1678" descr="{&quot;isTemplate&quot;:true,&quot;type&quot;:&quot;text&quot;}"/>
          <p:cNvSpPr txBox="1"/>
          <p:nvPr/>
        </p:nvSpPr>
        <p:spPr>
          <a:xfrm>
            <a:off x="11087100" y="590550"/>
            <a:ext cx="495300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容错旋钮</a:t>
            </a:r>
            <a:endParaRPr lang="zh-CN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graphicFrame>
        <p:nvGraphicFramePr>
          <p:cNvPr id="1680" name="表格 1679"/>
          <p:cNvGraphicFramePr/>
          <p:nvPr/>
        </p:nvGraphicFramePr>
        <p:xfrm>
          <a:off x="609600" y="1143000"/>
          <a:ext cx="10972800" cy="3924302"/>
        </p:xfrm>
        <a:graphic>
          <a:graphicData uri="http://schemas.openxmlformats.org/drawingml/2006/table">
            <a:tbl>
              <a:tblPr/>
              <a:tblGrid>
                <a:gridCol w="3159687"/>
                <a:gridCol w="7813113"/>
              </a:tblGrid>
              <a:tr h="369194"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 b="1">
                          <a:solidFill>
                            <a:srgbClr val="22D3EE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常量</a:t>
                      </a:r>
                      <a:endParaRPr sz="975" b="1">
                        <a:solidFill>
                          <a:srgbClr val="22D3EE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6233A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 b="1">
                          <a:solidFill>
                            <a:srgbClr val="22D3EE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含义</a:t>
                      </a:r>
                      <a:endParaRPr sz="975" b="1">
                        <a:solidFill>
                          <a:srgbClr val="22D3EE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6233A"/>
                    </a:solidFill>
                  </a:tcPr>
                </a:tc>
              </a:tr>
              <a:tr h="395012"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50">
                          <a:solidFill>
                            <a:srgbClr val="38BDF8"/>
                          </a:solidFill>
                          <a:latin typeface="JetBrains Mono"/>
                          <a:ea typeface="JetBrains Mono"/>
                        </a:rPr>
                        <a:t>DEFAULT_DATA_FLAG</a:t>
                      </a:r>
                      <a:endParaRPr sz="1050">
                        <a:solidFill>
                          <a:srgbClr val="38BDF8"/>
                        </a:solidFill>
                        <a:latin typeface="JetBrains Mono"/>
                        <a:ea typeface="JetBrains Mono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50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WRAPPING_ON_INT_OVERFLOW | SILENCE</a:t>
                      </a:r>
                      <a:endParaRPr sz="1050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395012"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50">
                          <a:solidFill>
                            <a:srgbClr val="38BDF8"/>
                          </a:solidFill>
                          <a:latin typeface="JetBrains Mono"/>
                          <a:ea typeface="JetBrains Mono"/>
                        </a:rPr>
                        <a:t>SILENCE</a:t>
                      </a:r>
                      <a:endParaRPr sz="1050">
                        <a:solidFill>
                          <a:srgbClr val="38BDF8"/>
                        </a:solidFill>
                        <a:latin typeface="JetBrains Mono"/>
                        <a:ea typeface="JetBrains Mono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50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IGNORE_FIELD_NOT_FOUND | IGNORE_FIELD_TYPE_NOT_MATCH | IGNORE_FIELD_NOT_CONVERTABLE | IGNORE_NONE</a:t>
                      </a:r>
                      <a:endParaRPr sz="1050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395012"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50">
                          <a:solidFill>
                            <a:srgbClr val="E2E8F0"/>
                          </a:solidFill>
                          <a:latin typeface="JetBrains Mono"/>
                          <a:ea typeface="JetBrains Mono"/>
                        </a:rPr>
                        <a:t>IGNORE_FIELD_NOT_FOUND</a:t>
                      </a:r>
                      <a:endParaRPr sz="1050">
                        <a:solidFill>
                          <a:srgbClr val="E2E8F0"/>
                        </a:solidFill>
                        <a:latin typeface="JetBrains Mono"/>
                        <a:ea typeface="JetBrains Mono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50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目标没有这个字段时忽略</a:t>
                      </a:r>
                      <a:endParaRPr sz="1050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395012"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50">
                          <a:solidFill>
                            <a:srgbClr val="E2E8F0"/>
                          </a:solidFill>
                          <a:latin typeface="JetBrains Mono"/>
                          <a:ea typeface="JetBrains Mono"/>
                        </a:rPr>
                        <a:t>IGNORE_FIELD_TYPE_NOT_MATCH</a:t>
                      </a:r>
                      <a:endParaRPr sz="1050">
                        <a:solidFill>
                          <a:srgbClr val="E2E8F0"/>
                        </a:solidFill>
                        <a:latin typeface="JetBrains Mono"/>
                        <a:ea typeface="JetBrains Mono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50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类型不匹配时忽略</a:t>
                      </a:r>
                      <a:endParaRPr sz="1050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395012"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50">
                          <a:solidFill>
                            <a:srgbClr val="E2E8F0"/>
                          </a:solidFill>
                          <a:latin typeface="JetBrains Mono"/>
                          <a:ea typeface="JetBrains Mono"/>
                        </a:rPr>
                        <a:t>IGNORE_FIELD_NOT_CONVERTABLE</a:t>
                      </a:r>
                      <a:endParaRPr sz="1050">
                        <a:solidFill>
                          <a:srgbClr val="E2E8F0"/>
                        </a:solidFill>
                        <a:latin typeface="JetBrains Mono"/>
                        <a:ea typeface="JetBrains Mono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50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无法转换时忽略</a:t>
                      </a:r>
                      <a:endParaRPr sz="1050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395012"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50">
                          <a:solidFill>
                            <a:srgbClr val="38BDF8"/>
                          </a:solidFill>
                          <a:latin typeface="JetBrains Mono"/>
                          <a:ea typeface="JetBrains Mono"/>
                        </a:rPr>
                        <a:t>DEEP</a:t>
                      </a:r>
                      <a:endParaRPr sz="1050">
                        <a:solidFill>
                          <a:srgbClr val="38BDF8"/>
                        </a:solidFill>
                        <a:latin typeface="JetBrains Mono"/>
                        <a:ea typeface="JetBrains Mono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50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深拷贝</a:t>
                      </a:r>
                      <a:endParaRPr sz="1050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395012"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50">
                          <a:solidFill>
                            <a:srgbClr val="F59E0B"/>
                          </a:solidFill>
                          <a:latin typeface="JetBrains Mono"/>
                          <a:ea typeface="JetBrains Mono"/>
                        </a:rPr>
                        <a:t>IGNORE_VALIDATION</a:t>
                      </a:r>
                      <a:endParaRPr sz="1050">
                        <a:solidFill>
                          <a:srgbClr val="F59E0B"/>
                        </a:solidFill>
                        <a:latin typeface="JetBrains Mono"/>
                        <a:ea typeface="JetBrains Mono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50">
                          <a:solidFill>
                            <a:srgbClr val="F59E0B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跳过校验</a:t>
                      </a:r>
                      <a:endParaRPr sz="1050">
                        <a:solidFill>
                          <a:srgbClr val="F59E0B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395012"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50">
                          <a:solidFill>
                            <a:srgbClr val="F59E0B"/>
                          </a:solidFill>
                          <a:latin typeface="JetBrains Mono"/>
                          <a:ea typeface="JetBrains Mono"/>
                        </a:rPr>
                        <a:t>IGNORE_NOT_MATCHED_VALIDATION</a:t>
                      </a:r>
                      <a:endParaRPr sz="1050">
                        <a:solidFill>
                          <a:srgbClr val="F59E0B"/>
                        </a:solidFill>
                        <a:latin typeface="JetBrains Mono"/>
                        <a:ea typeface="JetBrains Mono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50">
                          <a:solidFill>
                            <a:srgbClr val="F59E0B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校验不通过也继续</a:t>
                      </a:r>
                      <a:endParaRPr sz="1050">
                        <a:solidFill>
                          <a:srgbClr val="F59E0B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395012"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00">
                          <a:solidFill>
                            <a:srgbClr val="E2E8F0"/>
                          </a:solidFill>
                          <a:latin typeface="JetBrains Mono"/>
                          <a:ea typeface="JetBrains Mono"/>
                        </a:rPr>
                        <a:t>WRAPPING / THROWING / SATURATING_ON_INT_OVERFLOW</a:t>
                      </a:r>
                      <a:endParaRPr sz="900">
                        <a:solidFill>
                          <a:srgbClr val="E2E8F0"/>
                        </a:solidFill>
                        <a:latin typeface="JetBrains Mono"/>
                        <a:ea typeface="JetBrains Mono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50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整数溢出的三种策略（优先级 WRAPPING 大于 THROWING 大于 SATURATING）</a:t>
                      </a:r>
                      <a:endParaRPr sz="1050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</a:tbl>
          </a:graphicData>
        </a:graphic>
      </p:graphicFrame>
      <p:sp>
        <p:nvSpPr>
          <p:cNvPr id="1681" name="圆角矩形 1680"/>
          <p:cNvSpPr/>
          <p:nvPr/>
        </p:nvSpPr>
        <p:spPr>
          <a:xfrm>
            <a:off x="609600" y="5200650"/>
            <a:ext cx="10972800" cy="1085850"/>
          </a:xfrm>
          <a:prstGeom prst="roundRect">
            <a:avLst>
              <a:gd name="adj" fmla="val 10526"/>
            </a:avLst>
          </a:prstGeom>
          <a:solidFill>
            <a:srgbClr val="38BDF8">
              <a:alpha val="6000"/>
            </a:srgbClr>
          </a:solidFill>
          <a:ln w="12700">
            <a:solidFill>
              <a:srgbClr val="38BDF8"/>
            </a:solidFill>
            <a:prstDash val="solid"/>
          </a:ln>
        </p:spPr>
        <p:txBody>
          <a:bodyPr/>
          <a:p/>
        </p:txBody>
      </p:sp>
      <p:sp>
        <p:nvSpPr>
          <p:cNvPr id="1682" name="文本框 1681" descr="{&quot;isTemplate&quot;:true,&quot;type&quot;:&quot;text&quot;}"/>
          <p:cNvSpPr txBox="1"/>
          <p:nvPr/>
        </p:nvSpPr>
        <p:spPr>
          <a:xfrm>
            <a:off x="781050" y="5372100"/>
            <a:ext cx="10629900" cy="1714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38BDF8"/>
                </a:solidFill>
                <a:latin typeface="微软雅黑" panose="020B0503020204020204" charset="-122"/>
                <a:ea typeface="微软雅黑" panose="020B0503020204020204" charset="-122"/>
              </a:rPr>
              <a:t>默认</a:t>
            </a:r>
            <a:r>
              <a:rPr lang="en-US" sz="1125" b="1">
                <a:solidFill>
                  <a:srgbClr val="38BDF8"/>
                </a:solidFill>
                <a:latin typeface="微软雅黑" panose="020B0503020204020204" charset="-122"/>
                <a:ea typeface="微软雅黑" panose="020B0503020204020204" charset="-122"/>
              </a:rPr>
              <a:t> SILENCE </a:t>
            </a:r>
            <a:r>
              <a:rPr lang="zh-CN" sz="1125" b="1">
                <a:solidFill>
                  <a:srgbClr val="38BDF8"/>
                </a:solidFill>
                <a:latin typeface="微软雅黑" panose="020B0503020204020204" charset="-122"/>
                <a:ea typeface="微软雅黑" panose="020B0503020204020204" charset="-122"/>
              </a:rPr>
              <a:t>意味着什么</a:t>
            </a:r>
            <a:endParaRPr lang="zh-CN" sz="1125" b="1">
              <a:solidFill>
                <a:srgbClr val="38BDF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83" name="文本框 1682" descr="{&quot;isTemplate&quot;:true,&quot;type&quot;:&quot;text&quot;}"/>
          <p:cNvSpPr txBox="1"/>
          <p:nvPr/>
        </p:nvSpPr>
        <p:spPr>
          <a:xfrm>
            <a:off x="781050" y="5600700"/>
            <a:ext cx="10629900" cy="2762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zh-CN" sz="105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同名字段就复制，尽量完成数据类型转换（包括字符串跟其他类型之间的转换），对不上的静默跳过。需要严格模式时，把</a:t>
            </a:r>
            <a:r>
              <a:rPr lang="en-US" sz="105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 SILENCE </a:t>
            </a:r>
            <a:r>
              <a:rPr lang="zh-CN" sz="105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去掉，自己组合</a:t>
            </a:r>
            <a:r>
              <a:rPr lang="en-US" sz="105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 flag</a:t>
            </a:r>
            <a:r>
              <a:rPr lang="zh-CN" sz="105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。</a:t>
            </a:r>
            <a:endParaRPr lang="zh-CN" sz="1050">
              <a:solidFill>
                <a:srgbClr val="E2E8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84" name="任意多边形 1683"/>
          <p:cNvSpPr/>
          <p:nvPr/>
        </p:nvSpPr>
        <p:spPr>
          <a:xfrm>
            <a:off x="609600" y="6286500"/>
            <a:ext cx="10972800" cy="381000"/>
          </a:xfrm>
          <a:custGeom>
            <a:avLst/>
            <a:gdLst/>
            <a:ahLst/>
            <a:cxnLst/>
            <a:pathLst>
              <a:path w="1152" h="40">
                <a:moveTo>
                  <a:pt x="0" y="0"/>
                </a:moveTo>
                <a:lnTo>
                  <a:pt x="1152" y="0"/>
                </a:lnTo>
                <a:lnTo>
                  <a:pt x="1152" y="1"/>
                </a:lnTo>
                <a:lnTo>
                  <a:pt x="0" y="1"/>
                </a:lnTo>
                <a:close/>
              </a:path>
            </a:pathLst>
          </a:custGeom>
          <a:solidFill>
            <a:srgbClr val="1E293B"/>
          </a:solidFill>
        </p:spPr>
        <p:txBody>
          <a:bodyPr/>
          <a:p/>
        </p:txBody>
      </p:sp>
      <p:sp>
        <p:nvSpPr>
          <p:cNvPr id="1685" name="文本框 1684" descr="{&quot;isTemplate&quot;:true,&quot;type&quot;:&quot;text&quot;}"/>
          <p:cNvSpPr txBox="1"/>
          <p:nvPr/>
        </p:nvSpPr>
        <p:spPr>
          <a:xfrm>
            <a:off x="609600" y="6410325"/>
            <a:ext cx="2219325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fountain · 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一站式服务器应用开发工具库</a:t>
            </a:r>
            <a:endParaRPr lang="zh-CN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86" name="文本框 1685" descr="{&quot;isTemplate&quot;:true,&quot;type&quot;:&quot;text&quot;}"/>
          <p:cNvSpPr txBox="1"/>
          <p:nvPr/>
        </p:nvSpPr>
        <p:spPr>
          <a:xfrm>
            <a:off x="11087100" y="6410325"/>
            <a:ext cx="495300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50 / 116</a:t>
            </a:r>
            <a:endParaRPr lang="en-US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68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8" name="矩形 1687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220"/>
          </a:solidFill>
        </p:spPr>
        <p:txBody>
          <a:bodyPr/>
          <a:p/>
        </p:txBody>
      </p:sp>
      <p:sp>
        <p:nvSpPr>
          <p:cNvPr id="1689" name="矩形 1688"/>
          <p:cNvSpPr/>
          <p:nvPr/>
        </p:nvSpPr>
        <p:spPr>
          <a:xfrm>
            <a:off x="609600" y="476250"/>
            <a:ext cx="38100" cy="381000"/>
          </a:xfrm>
          <a:prstGeom prst="rect">
            <a:avLst/>
          </a:prstGeom>
          <a:solidFill>
            <a:srgbClr val="38BDF8"/>
          </a:solidFill>
        </p:spPr>
        <p:txBody>
          <a:bodyPr/>
          <a:p/>
        </p:txBody>
      </p:sp>
      <p:sp>
        <p:nvSpPr>
          <p:cNvPr id="1690" name="文本框 1689" descr="{&quot;isTemplate&quot;:true,&quot;type&quot;:&quot;text&quot;}"/>
          <p:cNvSpPr txBox="1"/>
          <p:nvPr/>
        </p:nvSpPr>
        <p:spPr>
          <a:xfrm>
            <a:off x="819150" y="304800"/>
            <a:ext cx="9258300" cy="2095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第</a:t>
            </a: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 8 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章</a:t>
            </a: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 · 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数据</a:t>
            </a: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 f_data · 8.5</a:t>
            </a:r>
            <a:endParaRPr lang="en-US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91" name="文本框 1690" descr="{&quot;isTemplate&quot;:true,&quot;type&quot;:&quot;text&quot;}"/>
          <p:cNvSpPr txBox="1"/>
          <p:nvPr/>
        </p:nvSpPr>
        <p:spPr>
          <a:xfrm>
            <a:off x="819150" y="514350"/>
            <a:ext cx="9258300" cy="5143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2550" b="1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数据校验：一个注解</a:t>
            </a:r>
            <a:r>
              <a:rPr lang="en-US" sz="2550" b="1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 + </a:t>
            </a:r>
            <a:r>
              <a:rPr lang="zh-CN" sz="2550" b="1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可组合的规则</a:t>
            </a:r>
            <a:endParaRPr lang="zh-CN" sz="2550" b="1">
              <a:solidFill>
                <a:srgbClr val="E2E8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92" name="文本框 1691" descr="{&quot;isTemplate&quot;:true,&quot;type&quot;:&quot;text&quot;}"/>
          <p:cNvSpPr txBox="1"/>
          <p:nvPr/>
        </p:nvSpPr>
        <p:spPr>
          <a:xfrm>
            <a:off x="10248900" y="590550"/>
            <a:ext cx="1333500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fdemo 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的</a:t>
            </a: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 UserRequest</a:t>
            </a:r>
            <a:endParaRPr lang="en-US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93" name="圆角矩形 1692"/>
          <p:cNvSpPr/>
          <p:nvPr/>
        </p:nvSpPr>
        <p:spPr>
          <a:xfrm>
            <a:off x="609600" y="1143000"/>
            <a:ext cx="10972800" cy="2114550"/>
          </a:xfrm>
          <a:prstGeom prst="roundRect">
            <a:avLst>
              <a:gd name="adj" fmla="val 5405"/>
            </a:avLst>
          </a:prstGeom>
          <a:solidFill>
            <a:srgbClr val="0B1220"/>
          </a:solidFill>
          <a:ln w="12700">
            <a:solidFill>
              <a:srgbClr val="1E293B"/>
            </a:solidFill>
            <a:prstDash val="solid"/>
          </a:ln>
        </p:spPr>
        <p:txBody>
          <a:bodyPr/>
          <a:p/>
        </p:txBody>
      </p:sp>
      <p:sp>
        <p:nvSpPr>
          <p:cNvPr id="1694" name="文本框 1693" descr="{&quot;isTemplate&quot;:true,&quot;type&quot;:&quot;text&quot;}"/>
          <p:cNvSpPr txBox="1"/>
          <p:nvPr/>
        </p:nvSpPr>
        <p:spPr>
          <a:xfrm>
            <a:off x="781050" y="1314450"/>
            <a:ext cx="10629900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fdemo/user/src/model/mvc/UserReqResp.cj</a:t>
            </a:r>
            <a:endParaRPr lang="en-US" sz="105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95" name="文本框 1694" descr="{&quot;isTemplate&quot;:true,&quot;type&quot;:&quot;text&quot;}"/>
          <p:cNvSpPr txBox="1"/>
          <p:nvPr/>
        </p:nvSpPr>
        <p:spPr>
          <a:xfrm>
            <a:off x="781050" y="1552575"/>
            <a:ext cx="10629900" cy="2667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5000"/>
              </a:lnSpc>
            </a:pPr>
            <a:r>
              <a:rPr lang="en-US" sz="975">
                <a:solidFill>
                  <a:srgbClr val="E2E8F0"/>
                </a:solidFill>
                <a:latin typeface="JetBrains Mono"/>
                <a:ea typeface="JetBrains Mono"/>
              </a:rPr>
              <a:t>@DataAssist[props fields]</a:t>
            </a:r>
            <a:endParaRPr lang="en-US" sz="975">
              <a:solidFill>
                <a:srgbClr val="E2E8F0"/>
              </a:solidFill>
              <a:latin typeface="JetBrains Mono"/>
              <a:ea typeface="JetBrains Mono"/>
            </a:endParaRPr>
          </a:p>
        </p:txBody>
      </p:sp>
      <p:sp>
        <p:nvSpPr>
          <p:cNvPr id="1696" name="文本框 1695" descr="{&quot;isTemplate&quot;:true,&quot;type&quot;:&quot;text&quot;}"/>
          <p:cNvSpPr txBox="1"/>
          <p:nvPr/>
        </p:nvSpPr>
        <p:spPr>
          <a:xfrm>
            <a:off x="781050" y="1819275"/>
            <a:ext cx="10629900" cy="2667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5000"/>
              </a:lnSpc>
            </a:pPr>
            <a:r>
              <a:rPr lang="en-US" sz="975">
                <a:solidFill>
                  <a:srgbClr val="E2E8F0"/>
                </a:solidFill>
                <a:latin typeface="JetBrains Mono"/>
                <a:ea typeface="JetBrains Mono"/>
              </a:rPr>
              <a:t>public class UserRequest {</a:t>
            </a:r>
            <a:endParaRPr lang="en-US" sz="975">
              <a:solidFill>
                <a:srgbClr val="E2E8F0"/>
              </a:solidFill>
              <a:latin typeface="JetBrains Mono"/>
              <a:ea typeface="JetBrains Mono"/>
            </a:endParaRPr>
          </a:p>
        </p:txBody>
      </p:sp>
      <p:sp>
        <p:nvSpPr>
          <p:cNvPr id="1697" name="文本框 1696" descr="{&quot;isTemplate&quot;:true,&quot;type&quot;:&quot;text&quot;}"/>
          <p:cNvSpPr txBox="1"/>
          <p:nvPr/>
        </p:nvSpPr>
        <p:spPr>
          <a:xfrm>
            <a:off x="781050" y="2085975"/>
            <a:ext cx="10629900" cy="2667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5000"/>
              </a:lnSpc>
            </a:pPr>
            <a:r>
              <a:rPr lang="en-US" sz="975">
                <a:solidFill>
                  <a:srgbClr val="F59E0B"/>
                </a:solidFill>
                <a:latin typeface="JetBrains Mono"/>
                <a:ea typeface="JetBrains Mono"/>
              </a:rPr>
              <a:t>    @CombinedValidator[IsNotBlank(messageIfNotMatch: '</a:t>
            </a:r>
            <a:r>
              <a:rPr lang="zh-CN" sz="975">
                <a:solidFill>
                  <a:srgbClr val="F59E0B"/>
                </a:solidFill>
                <a:latin typeface="JetBrains Mono"/>
                <a:ea typeface="JetBrains Mono"/>
              </a:rPr>
              <a:t>请输入用户名</a:t>
            </a:r>
            <a:r>
              <a:rPr lang="en-US" sz="975">
                <a:solidFill>
                  <a:srgbClr val="F59E0B"/>
                </a:solidFill>
                <a:latin typeface="JetBrains Mono"/>
                <a:ea typeface="JetBrains Mono"/>
              </a:rPr>
              <a:t>') &amp; StringSize(min: 6, max: 50)]</a:t>
            </a:r>
            <a:endParaRPr lang="en-US" sz="975">
              <a:solidFill>
                <a:srgbClr val="F59E0B"/>
              </a:solidFill>
              <a:latin typeface="JetBrains Mono"/>
              <a:ea typeface="JetBrains Mono"/>
            </a:endParaRPr>
          </a:p>
        </p:txBody>
      </p:sp>
      <p:sp>
        <p:nvSpPr>
          <p:cNvPr id="1698" name="文本框 1697" descr="{&quot;isTemplate&quot;:true,&quot;type&quot;:&quot;text&quot;}"/>
          <p:cNvSpPr txBox="1"/>
          <p:nvPr/>
        </p:nvSpPr>
        <p:spPr>
          <a:xfrm>
            <a:off x="781050" y="2352675"/>
            <a:ext cx="10629900" cy="2667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5000"/>
              </a:lnSpc>
            </a:pPr>
            <a:r>
              <a:rPr lang="en-US" sz="975">
                <a:solidFill>
                  <a:srgbClr val="E2E8F0"/>
                </a:solidFill>
                <a:latin typeface="JetBrains Mono"/>
                <a:ea typeface="JetBrains Mono"/>
              </a:rPr>
              <a:t>    private var username: String = ''</a:t>
            </a:r>
            <a:endParaRPr lang="en-US" sz="975">
              <a:solidFill>
                <a:srgbClr val="E2E8F0"/>
              </a:solidFill>
              <a:latin typeface="JetBrains Mono"/>
              <a:ea typeface="JetBrains Mono"/>
            </a:endParaRPr>
          </a:p>
        </p:txBody>
      </p:sp>
      <p:sp>
        <p:nvSpPr>
          <p:cNvPr id="1699" name="文本框 1698" descr="{&quot;isTemplate&quot;:true,&quot;type&quot;:&quot;text&quot;}"/>
          <p:cNvSpPr txBox="1"/>
          <p:nvPr/>
        </p:nvSpPr>
        <p:spPr>
          <a:xfrm>
            <a:off x="781050" y="2619375"/>
            <a:ext cx="10629900" cy="2667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5000"/>
              </a:lnSpc>
            </a:pPr>
            <a:r>
              <a:rPr lang="en-US" sz="975">
                <a:solidFill>
                  <a:srgbClr val="F59E0B"/>
                </a:solidFill>
                <a:latin typeface="JetBrains Mono"/>
                <a:ea typeface="JetBrains Mono"/>
              </a:rPr>
              <a:t>    @IsNotBlank[messageIfNotMatch: '</a:t>
            </a:r>
            <a:r>
              <a:rPr lang="zh-CN" sz="975">
                <a:solidFill>
                  <a:srgbClr val="F59E0B"/>
                </a:solidFill>
                <a:latin typeface="JetBrains Mono"/>
                <a:ea typeface="JetBrains Mono"/>
              </a:rPr>
              <a:t>请输入密码</a:t>
            </a:r>
            <a:r>
              <a:rPr lang="en-US" sz="975">
                <a:solidFill>
                  <a:srgbClr val="F59E0B"/>
                </a:solidFill>
                <a:latin typeface="JetBrains Mono"/>
                <a:ea typeface="JetBrains Mono"/>
              </a:rPr>
              <a:t>']</a:t>
            </a:r>
            <a:endParaRPr lang="en-US" sz="975">
              <a:solidFill>
                <a:srgbClr val="F59E0B"/>
              </a:solidFill>
              <a:latin typeface="JetBrains Mono"/>
              <a:ea typeface="JetBrains Mono"/>
            </a:endParaRPr>
          </a:p>
        </p:txBody>
      </p:sp>
      <p:sp>
        <p:nvSpPr>
          <p:cNvPr id="1700" name="文本框 1699" descr="{&quot;isTemplate&quot;:true,&quot;type&quot;:&quot;text&quot;}"/>
          <p:cNvSpPr txBox="1"/>
          <p:nvPr/>
        </p:nvSpPr>
        <p:spPr>
          <a:xfrm>
            <a:off x="781050" y="2886075"/>
            <a:ext cx="10629900" cy="2667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5000"/>
              </a:lnSpc>
            </a:pPr>
            <a:r>
              <a:rPr lang="en-US" sz="975">
                <a:solidFill>
                  <a:srgbClr val="E2E8F0"/>
                </a:solidFill>
                <a:latin typeface="JetBrains Mono"/>
                <a:ea typeface="JetBrains Mono"/>
              </a:rPr>
              <a:t>    private var password: String = ''</a:t>
            </a:r>
            <a:endParaRPr lang="en-US" sz="975">
              <a:solidFill>
                <a:srgbClr val="E2E8F0"/>
              </a:solidFill>
              <a:latin typeface="JetBrains Mono"/>
              <a:ea typeface="JetBrains Mono"/>
            </a:endParaRPr>
          </a:p>
        </p:txBody>
      </p:sp>
      <p:sp>
        <p:nvSpPr>
          <p:cNvPr id="1701" name="文本框 1700" descr="{&quot;isTemplate&quot;:true,&quot;type&quot;:&quot;text&quot;}"/>
          <p:cNvSpPr txBox="1"/>
          <p:nvPr/>
        </p:nvSpPr>
        <p:spPr>
          <a:xfrm>
            <a:off x="781050" y="3152775"/>
            <a:ext cx="10629900" cy="2667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5000"/>
              </a:lnSpc>
            </a:pPr>
            <a:r>
              <a:rPr lang="en-US" sz="975">
                <a:solidFill>
                  <a:srgbClr val="E2E8F0"/>
                </a:solidFill>
                <a:latin typeface="JetBrains Mono"/>
                <a:ea typeface="JetBrains Mono"/>
              </a:rPr>
              <a:t>}</a:t>
            </a:r>
            <a:endParaRPr lang="en-US" sz="975">
              <a:solidFill>
                <a:srgbClr val="E2E8F0"/>
              </a:solidFill>
              <a:latin typeface="JetBrains Mono"/>
              <a:ea typeface="JetBrains Mono"/>
            </a:endParaRPr>
          </a:p>
        </p:txBody>
      </p:sp>
      <p:graphicFrame>
        <p:nvGraphicFramePr>
          <p:cNvPr id="1702" name="表格 1701"/>
          <p:cNvGraphicFramePr/>
          <p:nvPr/>
        </p:nvGraphicFramePr>
        <p:xfrm>
          <a:off x="609600" y="3390900"/>
          <a:ext cx="5410200" cy="2895600"/>
        </p:xfrm>
        <a:graphic>
          <a:graphicData uri="http://schemas.openxmlformats.org/drawingml/2006/table">
            <a:tbl>
              <a:tblPr/>
              <a:tblGrid>
                <a:gridCol w="2771262"/>
                <a:gridCol w="2638938"/>
              </a:tblGrid>
              <a:tr h="361950"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 b="1">
                          <a:solidFill>
                            <a:srgbClr val="22D3EE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注解</a:t>
                      </a:r>
                      <a:endParaRPr sz="975" b="1">
                        <a:solidFill>
                          <a:srgbClr val="22D3EE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6233A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 b="1">
                          <a:solidFill>
                            <a:srgbClr val="22D3EE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规则</a:t>
                      </a:r>
                      <a:endParaRPr sz="975" b="1">
                        <a:solidFill>
                          <a:srgbClr val="22D3EE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6233A"/>
                    </a:solidFill>
                  </a:tcPr>
                </a:tc>
              </a:tr>
              <a:tr h="361950"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@IsNotEmpty</a:t>
                      </a:r>
                      <a:endParaRPr sz="975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必须非空</a:t>
                      </a:r>
                      <a:endParaRPr sz="975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361950"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@IsNotBlank</a:t>
                      </a:r>
                      <a:endParaRPr sz="975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非空且不能是空白字符</a:t>
                      </a:r>
                      <a:endParaRPr sz="975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361950"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@StringSize[min max]</a:t>
                      </a:r>
                      <a:endParaRPr sz="975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字符串长度区间</a:t>
                      </a:r>
                      <a:endParaRPr sz="975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361950"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@IsInteger</a:t>
                      </a:r>
                      <a:endParaRPr sz="975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必须是整数</a:t>
                      </a:r>
                      <a:endParaRPr sz="975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361950"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@IsDecimal</a:t>
                      </a:r>
                      <a:endParaRPr sz="975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必须是实数</a:t>
                      </a:r>
                      <a:endParaRPr sz="975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361950"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@IsEmail</a:t>
                      </a:r>
                      <a:endParaRPr sz="975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邮箱格式</a:t>
                      </a:r>
                      <a:endParaRPr sz="975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361950"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@IsChineseCellPhone</a:t>
                      </a:r>
                      <a:endParaRPr sz="975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中国手机号</a:t>
                      </a:r>
                      <a:endParaRPr sz="975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</a:tbl>
          </a:graphicData>
        </a:graphic>
      </p:graphicFrame>
      <p:graphicFrame>
        <p:nvGraphicFramePr>
          <p:cNvPr id="1703" name="表格 1702"/>
          <p:cNvGraphicFramePr/>
          <p:nvPr/>
        </p:nvGraphicFramePr>
        <p:xfrm>
          <a:off x="6172200" y="3390900"/>
          <a:ext cx="5410200" cy="2895600"/>
        </p:xfrm>
        <a:graphic>
          <a:graphicData uri="http://schemas.openxmlformats.org/drawingml/2006/table">
            <a:tbl>
              <a:tblPr/>
              <a:tblGrid>
                <a:gridCol w="2650341"/>
                <a:gridCol w="2759859"/>
              </a:tblGrid>
              <a:tr h="361950"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 b="1">
                          <a:solidFill>
                            <a:srgbClr val="22D3EE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注解</a:t>
                      </a:r>
                      <a:endParaRPr sz="975" b="1">
                        <a:solidFill>
                          <a:srgbClr val="22D3EE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6233A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 b="1">
                          <a:solidFill>
                            <a:srgbClr val="22D3EE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规则</a:t>
                      </a:r>
                      <a:endParaRPr sz="975" b="1">
                        <a:solidFill>
                          <a:srgbClr val="22D3EE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6233A"/>
                    </a:solidFill>
                  </a:tcPr>
                </a:tc>
              </a:tr>
              <a:tr h="361950"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@IsIntegerRange[min max …]</a:t>
                      </a:r>
                      <a:endParaRPr sz="975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整数区间（可配开闭）</a:t>
                      </a:r>
                      <a:endParaRPr sz="975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361950"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@IsBool</a:t>
                      </a:r>
                      <a:endParaRPr sz="975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true / false</a:t>
                      </a:r>
                      <a:endParaRPr sz="975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361950"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@IsDateTime[format]</a:t>
                      </a:r>
                      <a:endParaRPr sz="975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必须符合指定时间格式</a:t>
                      </a:r>
                      <a:endParaRPr sz="975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361950"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@IsDuration</a:t>
                      </a:r>
                      <a:endParaRPr sz="975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必须是 Duration 字符串</a:t>
                      </a:r>
                      <a:endParaRPr sz="975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361950"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@IsIntegers[separator]</a:t>
                      </a:r>
                      <a:endParaRPr sz="975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按分隔符切开后每部分都是整数</a:t>
                      </a:r>
                      <a:endParaRPr sz="975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361950"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@DoesMatchRegex[regex]</a:t>
                      </a:r>
                      <a:endParaRPr sz="975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必须匹配正则</a:t>
                      </a:r>
                      <a:endParaRPr sz="975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361950"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 b="1">
                          <a:solidFill>
                            <a:srgbClr val="F59E0B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@IsUUID</a:t>
                      </a:r>
                      <a:endParaRPr sz="975" b="1">
                        <a:solidFill>
                          <a:srgbClr val="F59E0B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F59E0B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必须匹配 UUID（在 f_util 定义）</a:t>
                      </a:r>
                      <a:endParaRPr sz="975">
                        <a:solidFill>
                          <a:srgbClr val="F59E0B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</a:tbl>
          </a:graphicData>
        </a:graphic>
      </p:graphicFrame>
      <p:sp>
        <p:nvSpPr>
          <p:cNvPr id="1704" name="任意多边形 1703"/>
          <p:cNvSpPr/>
          <p:nvPr/>
        </p:nvSpPr>
        <p:spPr>
          <a:xfrm>
            <a:off x="609600" y="6286500"/>
            <a:ext cx="10972800" cy="381000"/>
          </a:xfrm>
          <a:custGeom>
            <a:avLst/>
            <a:gdLst/>
            <a:ahLst/>
            <a:cxnLst/>
            <a:pathLst>
              <a:path w="1152" h="40">
                <a:moveTo>
                  <a:pt x="0" y="0"/>
                </a:moveTo>
                <a:lnTo>
                  <a:pt x="1152" y="0"/>
                </a:lnTo>
                <a:lnTo>
                  <a:pt x="1152" y="1"/>
                </a:lnTo>
                <a:lnTo>
                  <a:pt x="0" y="1"/>
                </a:lnTo>
                <a:close/>
              </a:path>
            </a:pathLst>
          </a:custGeom>
          <a:solidFill>
            <a:srgbClr val="1E293B"/>
          </a:solidFill>
        </p:spPr>
        <p:txBody>
          <a:bodyPr/>
          <a:p/>
        </p:txBody>
      </p:sp>
      <p:sp>
        <p:nvSpPr>
          <p:cNvPr id="1705" name="文本框 1704" descr="{&quot;isTemplate&quot;:true,&quot;type&quot;:&quot;text&quot;}"/>
          <p:cNvSpPr txBox="1"/>
          <p:nvPr/>
        </p:nvSpPr>
        <p:spPr>
          <a:xfrm>
            <a:off x="609600" y="6410325"/>
            <a:ext cx="2219325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fountain · 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一站式服务器应用开发工具库</a:t>
            </a:r>
            <a:endParaRPr lang="zh-CN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706" name="文本框 1705" descr="{&quot;isTemplate&quot;:true,&quot;type&quot;:&quot;text&quot;}"/>
          <p:cNvSpPr txBox="1"/>
          <p:nvPr/>
        </p:nvSpPr>
        <p:spPr>
          <a:xfrm>
            <a:off x="11087100" y="6410325"/>
            <a:ext cx="495300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51 / 116</a:t>
            </a:r>
            <a:endParaRPr lang="en-US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70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8" name="矩形 1707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220"/>
          </a:solidFill>
        </p:spPr>
        <p:txBody>
          <a:bodyPr/>
          <a:p/>
        </p:txBody>
      </p:sp>
      <p:sp>
        <p:nvSpPr>
          <p:cNvPr id="1709" name="矩形 1708"/>
          <p:cNvSpPr/>
          <p:nvPr/>
        </p:nvSpPr>
        <p:spPr>
          <a:xfrm>
            <a:off x="609600" y="476250"/>
            <a:ext cx="38100" cy="381000"/>
          </a:xfrm>
          <a:prstGeom prst="rect">
            <a:avLst/>
          </a:prstGeom>
          <a:solidFill>
            <a:srgbClr val="38BDF8"/>
          </a:solidFill>
        </p:spPr>
        <p:txBody>
          <a:bodyPr/>
          <a:p/>
        </p:txBody>
      </p:sp>
      <p:sp>
        <p:nvSpPr>
          <p:cNvPr id="1710" name="文本框 1709" descr="{&quot;isTemplate&quot;:true,&quot;type&quot;:&quot;text&quot;}"/>
          <p:cNvSpPr txBox="1"/>
          <p:nvPr/>
        </p:nvSpPr>
        <p:spPr>
          <a:xfrm>
            <a:off x="819150" y="304800"/>
            <a:ext cx="9848850" cy="2095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第</a:t>
            </a: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 8 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章</a:t>
            </a: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 · 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数据</a:t>
            </a: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 f_data · 8.6 / 8.7</a:t>
            </a:r>
            <a:endParaRPr lang="en-US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711" name="文本框 1710" descr="{&quot;isTemplate&quot;:true,&quot;type&quot;:&quot;text&quot;}"/>
          <p:cNvSpPr txBox="1"/>
          <p:nvPr/>
        </p:nvSpPr>
        <p:spPr>
          <a:xfrm>
            <a:off x="819150" y="514350"/>
            <a:ext cx="9848850" cy="5143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2550" b="1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数据转换扩展与</a:t>
            </a:r>
            <a:r>
              <a:rPr lang="en-US" sz="2550" b="1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 JSON Schema</a:t>
            </a:r>
            <a:endParaRPr lang="en-US" sz="2550" b="1">
              <a:solidFill>
                <a:srgbClr val="E2E8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712" name="文本框 1711" descr="{&quot;isTemplate&quot;:true,&quot;type&quot;:&quot;text&quot;}"/>
          <p:cNvSpPr txBox="1"/>
          <p:nvPr/>
        </p:nvSpPr>
        <p:spPr>
          <a:xfrm>
            <a:off x="10839450" y="590550"/>
            <a:ext cx="742950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两个延伸能力</a:t>
            </a:r>
            <a:endParaRPr lang="zh-CN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713" name="圆角矩形 1712"/>
          <p:cNvSpPr/>
          <p:nvPr/>
        </p:nvSpPr>
        <p:spPr>
          <a:xfrm>
            <a:off x="609600" y="1143000"/>
            <a:ext cx="5410200" cy="5143500"/>
          </a:xfrm>
          <a:prstGeom prst="roundRect">
            <a:avLst>
              <a:gd name="adj" fmla="val 2222"/>
            </a:avLst>
          </a:prstGeom>
          <a:solidFill>
            <a:srgbClr val="111C2E"/>
          </a:solidFill>
          <a:ln w="12700">
            <a:solidFill>
              <a:srgbClr val="38BDF8"/>
            </a:solidFill>
            <a:prstDash val="solid"/>
          </a:ln>
        </p:spPr>
        <p:txBody>
          <a:bodyPr/>
          <a:p/>
        </p:txBody>
      </p:sp>
      <p:sp>
        <p:nvSpPr>
          <p:cNvPr id="1714" name="文本框 1713" descr="{&quot;isTemplate&quot;:true,&quot;type&quot;:&quot;text&quot;}"/>
          <p:cNvSpPr txBox="1"/>
          <p:nvPr/>
        </p:nvSpPr>
        <p:spPr>
          <a:xfrm>
            <a:off x="819150" y="1352550"/>
            <a:ext cx="4991100" cy="2286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b="1">
                <a:solidFill>
                  <a:srgbClr val="38BDF8"/>
                </a:solidFill>
                <a:latin typeface="微软雅黑" panose="020B0503020204020204" charset="-122"/>
                <a:ea typeface="微软雅黑" panose="020B0503020204020204" charset="-122"/>
              </a:rPr>
              <a:t>DataConverter</a:t>
            </a:r>
            <a:endParaRPr lang="en-US" sz="1500" b="1">
              <a:solidFill>
                <a:srgbClr val="38BDF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715" name="文本框 1714" descr="{&quot;isTemplate&quot;:true,&quot;type&quot;:&quot;text&quot;}"/>
          <p:cNvSpPr txBox="1"/>
          <p:nvPr/>
        </p:nvSpPr>
        <p:spPr>
          <a:xfrm>
            <a:off x="819150" y="1638300"/>
            <a:ext cx="4991100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默认转换搞不定时自己实现</a:t>
            </a:r>
            <a:endParaRPr lang="zh-CN" sz="105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716" name="圆角矩形 1715"/>
          <p:cNvSpPr/>
          <p:nvPr/>
        </p:nvSpPr>
        <p:spPr>
          <a:xfrm>
            <a:off x="819150" y="1933575"/>
            <a:ext cx="4991100" cy="2200275"/>
          </a:xfrm>
          <a:prstGeom prst="roundRect">
            <a:avLst>
              <a:gd name="adj" fmla="val 3463"/>
            </a:avLst>
          </a:prstGeom>
          <a:solidFill>
            <a:srgbClr val="0B1220"/>
          </a:solidFill>
          <a:ln w="12700">
            <a:solidFill>
              <a:srgbClr val="1E293B"/>
            </a:solidFill>
            <a:prstDash val="solid"/>
          </a:ln>
        </p:spPr>
        <p:txBody>
          <a:bodyPr/>
          <a:p/>
        </p:txBody>
      </p:sp>
      <p:sp>
        <p:nvSpPr>
          <p:cNvPr id="1717" name="文本框 1716" descr="{&quot;isTemplate&quot;:true,&quot;type&quot;:&quot;text&quot;}"/>
          <p:cNvSpPr txBox="1"/>
          <p:nvPr/>
        </p:nvSpPr>
        <p:spPr>
          <a:xfrm>
            <a:off x="952500" y="2066925"/>
            <a:ext cx="4724400" cy="2667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5000"/>
              </a:lnSpc>
            </a:pPr>
            <a:r>
              <a:rPr lang="en-US" sz="975">
                <a:solidFill>
                  <a:srgbClr val="E2E8F0"/>
                </a:solidFill>
                <a:latin typeface="JetBrains Mono"/>
                <a:ea typeface="JetBrains Mono"/>
              </a:rPr>
              <a:t>public abstract class DataConverter&lt;T&gt; {</a:t>
            </a:r>
            <a:endParaRPr lang="en-US" sz="975">
              <a:solidFill>
                <a:srgbClr val="E2E8F0"/>
              </a:solidFill>
              <a:latin typeface="JetBrains Mono"/>
              <a:ea typeface="JetBrains Mono"/>
            </a:endParaRPr>
          </a:p>
        </p:txBody>
      </p:sp>
      <p:sp>
        <p:nvSpPr>
          <p:cNvPr id="1718" name="文本框 1717" descr="{&quot;isTemplate&quot;:true,&quot;type&quot;:&quot;text&quot;}"/>
          <p:cNvSpPr txBox="1"/>
          <p:nvPr/>
        </p:nvSpPr>
        <p:spPr>
          <a:xfrm>
            <a:off x="952500" y="2333625"/>
            <a:ext cx="4724400" cy="523875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75000"/>
              </a:lnSpc>
            </a:pPr>
            <a:r>
              <a:rPr lang="en-US" sz="975">
                <a:solidFill>
                  <a:srgbClr val="22D3EE"/>
                </a:solidFill>
                <a:latin typeface="JetBrains Mono"/>
                <a:ea typeface="JetBrains Mono"/>
              </a:rPr>
              <a:t>    public func convert(data: Data, flag!: DataConversionFlag): ?T</a:t>
            </a:r>
            <a:endParaRPr lang="en-US" sz="975">
              <a:solidFill>
                <a:srgbClr val="22D3EE"/>
              </a:solidFill>
              <a:latin typeface="JetBrains Mono"/>
              <a:ea typeface="JetBrains Mono"/>
            </a:endParaRPr>
          </a:p>
        </p:txBody>
      </p:sp>
      <p:sp>
        <p:nvSpPr>
          <p:cNvPr id="1719" name="文本框 1718" descr="{&quot;isTemplate&quot;:true,&quot;type&quot;:&quot;text&quot;}"/>
          <p:cNvSpPr txBox="1"/>
          <p:nvPr/>
        </p:nvSpPr>
        <p:spPr>
          <a:xfrm>
            <a:off x="952500" y="2857500"/>
            <a:ext cx="4724400" cy="2667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5000"/>
              </a:lnSpc>
            </a:pPr>
            <a:r>
              <a:rPr lang="en-US" sz="975">
                <a:solidFill>
                  <a:srgbClr val="E2E8F0"/>
                </a:solidFill>
                <a:latin typeface="JetBrains Mono"/>
                <a:ea typeface="JetBrains Mono"/>
              </a:rPr>
              <a:t>}</a:t>
            </a:r>
            <a:endParaRPr lang="en-US" sz="975">
              <a:solidFill>
                <a:srgbClr val="E2E8F0"/>
              </a:solidFill>
              <a:latin typeface="JetBrains Mono"/>
              <a:ea typeface="JetBrains Mono"/>
            </a:endParaRPr>
          </a:p>
        </p:txBody>
      </p:sp>
      <p:sp>
        <p:nvSpPr>
          <p:cNvPr id="1720" name="文本框 1719" descr="{&quot;isTemplate&quot;:true,&quot;type&quot;:&quot;text&quot;}"/>
          <p:cNvSpPr txBox="1"/>
          <p:nvPr/>
        </p:nvSpPr>
        <p:spPr>
          <a:xfrm>
            <a:off x="952500" y="3200400"/>
            <a:ext cx="4724400" cy="2667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5000"/>
              </a:lnSpc>
            </a:pPr>
            <a:r>
              <a:rPr lang="en-US" sz="975">
                <a:solidFill>
                  <a:srgbClr val="94A3B8"/>
                </a:solidFill>
                <a:latin typeface="JetBrains Mono"/>
                <a:ea typeface="JetBrains Mono"/>
              </a:rPr>
              <a:t>public class DateTimeConverter &lt;: AbstractDateTimeConverter {</a:t>
            </a:r>
            <a:endParaRPr lang="en-US" sz="975">
              <a:solidFill>
                <a:srgbClr val="94A3B8"/>
              </a:solidFill>
              <a:latin typeface="JetBrains Mono"/>
              <a:ea typeface="JetBrains Mono"/>
            </a:endParaRPr>
          </a:p>
        </p:txBody>
      </p:sp>
      <p:sp>
        <p:nvSpPr>
          <p:cNvPr id="1721" name="文本框 1720" descr="{&quot;isTemplate&quot;:true,&quot;type&quot;:&quot;text&quot;}"/>
          <p:cNvSpPr txBox="1"/>
          <p:nvPr/>
        </p:nvSpPr>
        <p:spPr>
          <a:xfrm>
            <a:off x="952500" y="3467100"/>
            <a:ext cx="4724400" cy="2667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5000"/>
              </a:lnSpc>
            </a:pPr>
            <a:r>
              <a:rPr lang="en-US" sz="975">
                <a:solidFill>
                  <a:srgbClr val="94A3B8"/>
                </a:solidFill>
                <a:latin typeface="JetBrains Mono"/>
                <a:ea typeface="JetBrains Mono"/>
              </a:rPr>
              <a:t>    // 'yyyy-MM-dd HH:mm:ss'</a:t>
            </a:r>
            <a:endParaRPr lang="en-US" sz="975">
              <a:solidFill>
                <a:srgbClr val="94A3B8"/>
              </a:solidFill>
              <a:latin typeface="JetBrains Mono"/>
              <a:ea typeface="JetBrains Mono"/>
            </a:endParaRPr>
          </a:p>
        </p:txBody>
      </p:sp>
      <p:sp>
        <p:nvSpPr>
          <p:cNvPr id="1722" name="文本框 1721" descr="{&quot;isTemplate&quot;:true,&quot;type&quot;:&quot;text&quot;}"/>
          <p:cNvSpPr txBox="1"/>
          <p:nvPr/>
        </p:nvSpPr>
        <p:spPr>
          <a:xfrm>
            <a:off x="952500" y="3733800"/>
            <a:ext cx="4724400" cy="2667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5000"/>
              </a:lnSpc>
            </a:pPr>
            <a:r>
              <a:rPr lang="en-US" sz="975">
                <a:solidFill>
                  <a:srgbClr val="94A3B8"/>
                </a:solidFill>
                <a:latin typeface="JetBrains Mono"/>
                <a:ea typeface="JetBrains Mono"/>
              </a:rPr>
              <a:t>}</a:t>
            </a:r>
            <a:endParaRPr lang="en-US" sz="975">
              <a:solidFill>
                <a:srgbClr val="94A3B8"/>
              </a:solidFill>
              <a:latin typeface="JetBrains Mono"/>
              <a:ea typeface="JetBrains Mono"/>
            </a:endParaRPr>
          </a:p>
        </p:txBody>
      </p:sp>
      <p:sp>
        <p:nvSpPr>
          <p:cNvPr id="1723" name="文本框 1722" descr="{&quot;isTemplate&quot;:true,&quot;type&quot;:&quot;text&quot;}"/>
          <p:cNvSpPr txBox="1"/>
          <p:nvPr/>
        </p:nvSpPr>
        <p:spPr>
          <a:xfrm>
            <a:off x="819150" y="4286250"/>
            <a:ext cx="4991100" cy="3143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80000"/>
              </a:lnSpc>
            </a:pPr>
            <a:r>
              <a:rPr lang="zh-CN" sz="112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最典型的场景：字符串</a:t>
            </a:r>
            <a:r>
              <a:rPr lang="en-US" sz="112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→ DateTime</a:t>
            </a:r>
            <a:r>
              <a:rPr lang="zh-CN" sz="112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。</a:t>
            </a:r>
            <a:endParaRPr lang="zh-CN" sz="1125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724" name="文本框 1723" descr="{&quot;isTemplate&quot;:true,&quot;type&quot;:&quot;text&quot;}"/>
          <p:cNvSpPr txBox="1"/>
          <p:nvPr/>
        </p:nvSpPr>
        <p:spPr>
          <a:xfrm>
            <a:off x="819150" y="5457825"/>
            <a:ext cx="4991100" cy="619125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80000"/>
              </a:lnSpc>
            </a:pPr>
            <a:r>
              <a:rPr lang="zh-CN" sz="1125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这就是</a:t>
            </a:r>
            <a:r>
              <a:rPr lang="en-US" sz="1125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 @RequestParam </a:t>
            </a:r>
            <a:r>
              <a:rPr lang="zh-CN" sz="1125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能把</a:t>
            </a:r>
            <a:r>
              <a:rPr lang="en-US" sz="1125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 ?createTime=… </a:t>
            </a:r>
            <a:r>
              <a:rPr lang="zh-CN" sz="1125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直接转成</a:t>
            </a:r>
            <a:r>
              <a:rPr lang="en-US" sz="1125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 DateTime </a:t>
            </a:r>
            <a:r>
              <a:rPr lang="zh-CN" sz="1125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的原因</a:t>
            </a:r>
            <a:r>
              <a:rPr lang="en-US" sz="1125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 —— </a:t>
            </a:r>
            <a:r>
              <a:rPr lang="zh-CN" sz="1125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转换器在链路里被自动调用。</a:t>
            </a:r>
            <a:endParaRPr lang="zh-CN" sz="1125">
              <a:solidFill>
                <a:srgbClr val="F59E0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725" name="圆角矩形 1724"/>
          <p:cNvSpPr/>
          <p:nvPr/>
        </p:nvSpPr>
        <p:spPr>
          <a:xfrm>
            <a:off x="6172200" y="1143000"/>
            <a:ext cx="5410200" cy="5143500"/>
          </a:xfrm>
          <a:prstGeom prst="roundRect">
            <a:avLst>
              <a:gd name="adj" fmla="val 2222"/>
            </a:avLst>
          </a:prstGeom>
          <a:solidFill>
            <a:srgbClr val="111C2E"/>
          </a:solidFill>
          <a:ln w="12700">
            <a:solidFill>
              <a:srgbClr val="1E293B"/>
            </a:solidFill>
            <a:prstDash val="solid"/>
          </a:ln>
        </p:spPr>
        <p:txBody>
          <a:bodyPr/>
          <a:p/>
        </p:txBody>
      </p:sp>
      <p:sp>
        <p:nvSpPr>
          <p:cNvPr id="1726" name="文本框 1725" descr="{&quot;isTemplate&quot;:true,&quot;type&quot;:&quot;text&quot;}"/>
          <p:cNvSpPr txBox="1"/>
          <p:nvPr/>
        </p:nvSpPr>
        <p:spPr>
          <a:xfrm>
            <a:off x="6381750" y="1352550"/>
            <a:ext cx="4991100" cy="2286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b="1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JSON Schema</a:t>
            </a:r>
            <a:endParaRPr lang="en-US" sz="1500" b="1">
              <a:solidFill>
                <a:srgbClr val="E2E8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727" name="文本框 1726" descr="{&quot;isTemplate&quot;:true,&quot;type&quot;:&quot;text&quot;}"/>
          <p:cNvSpPr txBox="1"/>
          <p:nvPr/>
        </p:nvSpPr>
        <p:spPr>
          <a:xfrm>
            <a:off x="6381750" y="1638300"/>
            <a:ext cx="4991100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接口契约与低代码表单</a:t>
            </a:r>
            <a:endParaRPr lang="zh-CN" sz="105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728" name="圆角矩形 1727"/>
          <p:cNvSpPr/>
          <p:nvPr/>
        </p:nvSpPr>
        <p:spPr>
          <a:xfrm>
            <a:off x="6381750" y="1933575"/>
            <a:ext cx="4991100" cy="1590675"/>
          </a:xfrm>
          <a:prstGeom prst="roundRect">
            <a:avLst>
              <a:gd name="adj" fmla="val 4790"/>
            </a:avLst>
          </a:prstGeom>
          <a:solidFill>
            <a:srgbClr val="0B1220"/>
          </a:solidFill>
          <a:ln w="12700">
            <a:solidFill>
              <a:srgbClr val="1E293B"/>
            </a:solidFill>
            <a:prstDash val="solid"/>
          </a:ln>
        </p:spPr>
        <p:txBody>
          <a:bodyPr/>
          <a:p/>
        </p:txBody>
      </p:sp>
      <p:sp>
        <p:nvSpPr>
          <p:cNvPr id="1729" name="文本框 1728" descr="{&quot;isTemplate&quot;:true,&quot;type&quot;:&quot;text&quot;}"/>
          <p:cNvSpPr txBox="1"/>
          <p:nvPr/>
        </p:nvSpPr>
        <p:spPr>
          <a:xfrm>
            <a:off x="6515100" y="2066925"/>
            <a:ext cx="4724400" cy="2667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5000"/>
              </a:lnSpc>
            </a:pPr>
            <a:r>
              <a:rPr lang="en-US" sz="975">
                <a:solidFill>
                  <a:srgbClr val="E2E8F0"/>
                </a:solidFill>
                <a:latin typeface="JetBrains Mono"/>
                <a:ea typeface="JetBrains Mono"/>
              </a:rPr>
              <a:t>package fountain::f_data.json</a:t>
            </a:r>
            <a:endParaRPr lang="en-US" sz="975">
              <a:solidFill>
                <a:srgbClr val="E2E8F0"/>
              </a:solidFill>
              <a:latin typeface="JetBrains Mono"/>
              <a:ea typeface="JetBrains Mono"/>
            </a:endParaRPr>
          </a:p>
        </p:txBody>
      </p:sp>
      <p:sp>
        <p:nvSpPr>
          <p:cNvPr id="1730" name="文本框 1729" descr="{&quot;isTemplate&quot;:true,&quot;type&quot;:&quot;text&quot;}"/>
          <p:cNvSpPr txBox="1"/>
          <p:nvPr/>
        </p:nvSpPr>
        <p:spPr>
          <a:xfrm>
            <a:off x="6515100" y="2333625"/>
            <a:ext cx="4724400" cy="2667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5000"/>
              </a:lnSpc>
            </a:pPr>
            <a:r>
              <a:rPr lang="en-US" sz="975">
                <a:solidFill>
                  <a:srgbClr val="22D3EE"/>
                </a:solidFill>
                <a:latin typeface="JetBrains Mono"/>
                <a:ea typeface="JetBrains Mono"/>
              </a:rPr>
              <a:t>public interface ToJsonSchema {</a:t>
            </a:r>
            <a:endParaRPr lang="en-US" sz="975">
              <a:solidFill>
                <a:srgbClr val="22D3EE"/>
              </a:solidFill>
              <a:latin typeface="JetBrains Mono"/>
              <a:ea typeface="JetBrains Mono"/>
            </a:endParaRPr>
          </a:p>
        </p:txBody>
      </p:sp>
      <p:sp>
        <p:nvSpPr>
          <p:cNvPr id="1731" name="文本框 1730" descr="{&quot;isTemplate&quot;:true,&quot;type&quot;:&quot;text&quot;}"/>
          <p:cNvSpPr txBox="1"/>
          <p:nvPr/>
        </p:nvSpPr>
        <p:spPr>
          <a:xfrm>
            <a:off x="6515100" y="2600325"/>
            <a:ext cx="4724400" cy="523875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75000"/>
              </a:lnSpc>
            </a:pPr>
            <a:r>
              <a:rPr lang="en-US" sz="975">
                <a:solidFill>
                  <a:srgbClr val="22D3EE"/>
                </a:solidFill>
                <a:latin typeface="JetBrains Mono"/>
                <a:ea typeface="JetBrains Mono"/>
              </a:rPr>
              <a:t>    static func toJsonSchema&lt;T&gt;(): String where T &lt;: ObjectData&lt;T&gt;</a:t>
            </a:r>
            <a:endParaRPr lang="en-US" sz="975">
              <a:solidFill>
                <a:srgbClr val="22D3EE"/>
              </a:solidFill>
              <a:latin typeface="JetBrains Mono"/>
              <a:ea typeface="JetBrains Mono"/>
            </a:endParaRPr>
          </a:p>
        </p:txBody>
      </p:sp>
      <p:sp>
        <p:nvSpPr>
          <p:cNvPr id="1732" name="文本框 1731" descr="{&quot;isTemplate&quot;:true,&quot;type&quot;:&quot;text&quot;}"/>
          <p:cNvSpPr txBox="1"/>
          <p:nvPr/>
        </p:nvSpPr>
        <p:spPr>
          <a:xfrm>
            <a:off x="6515100" y="3124200"/>
            <a:ext cx="4724400" cy="2667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5000"/>
              </a:lnSpc>
            </a:pPr>
            <a:r>
              <a:rPr lang="en-US" sz="975">
                <a:solidFill>
                  <a:srgbClr val="E2E8F0"/>
                </a:solidFill>
                <a:latin typeface="JetBrains Mono"/>
                <a:ea typeface="JetBrains Mono"/>
              </a:rPr>
              <a:t>}</a:t>
            </a:r>
            <a:endParaRPr lang="en-US" sz="975">
              <a:solidFill>
                <a:srgbClr val="E2E8F0"/>
              </a:solidFill>
              <a:latin typeface="JetBrains Mono"/>
              <a:ea typeface="JetBrains Mono"/>
            </a:endParaRPr>
          </a:p>
        </p:txBody>
      </p:sp>
      <p:sp>
        <p:nvSpPr>
          <p:cNvPr id="1733" name="文本框 1732" descr="{&quot;isTemplate&quot;:true,&quot;type&quot;:&quot;text&quot;}"/>
          <p:cNvSpPr txBox="1"/>
          <p:nvPr/>
        </p:nvSpPr>
        <p:spPr>
          <a:xfrm>
            <a:off x="6381750" y="3676650"/>
            <a:ext cx="4991100" cy="2952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80000"/>
              </a:lnSpc>
            </a:pPr>
            <a:r>
              <a:rPr lang="zh-CN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给字段打注解即可产出</a:t>
            </a:r>
            <a:r>
              <a:rPr lang="en-US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Schema</a:t>
            </a:r>
            <a:r>
              <a:rPr lang="zh-CN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：</a:t>
            </a:r>
            <a:endParaRPr lang="zh-CN" sz="1050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734" name="文本框 1733" descr="{&quot;isTemplate&quot;:true,&quot;type&quot;:&quot;text&quot;}"/>
          <p:cNvSpPr txBox="1"/>
          <p:nvPr/>
        </p:nvSpPr>
        <p:spPr>
          <a:xfrm>
            <a:off x="6381750" y="3971925"/>
            <a:ext cx="4991100" cy="2762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80000"/>
              </a:lnSpc>
            </a:pPr>
            <a:r>
              <a:rPr lang="en-US" sz="975">
                <a:solidFill>
                  <a:srgbClr val="38BDF8"/>
                </a:solidFill>
                <a:latin typeface="JetBrains Mono"/>
                <a:ea typeface="JetBrains Mono"/>
              </a:rPr>
              <a:t>@JsonStringSchema[minLength: 6, maxLength: 50, title: '</a:t>
            </a:r>
            <a:r>
              <a:rPr lang="zh-CN" sz="975">
                <a:solidFill>
                  <a:srgbClr val="38BDF8"/>
                </a:solidFill>
                <a:latin typeface="JetBrains Mono"/>
                <a:ea typeface="JetBrains Mono"/>
              </a:rPr>
              <a:t>用户名</a:t>
            </a:r>
            <a:r>
              <a:rPr lang="en-US" sz="975">
                <a:solidFill>
                  <a:srgbClr val="38BDF8"/>
                </a:solidFill>
                <a:latin typeface="JetBrains Mono"/>
                <a:ea typeface="JetBrains Mono"/>
              </a:rPr>
              <a:t>']</a:t>
            </a:r>
            <a:endParaRPr lang="en-US" sz="975">
              <a:solidFill>
                <a:srgbClr val="38BDF8"/>
              </a:solidFill>
              <a:latin typeface="JetBrains Mono"/>
              <a:ea typeface="JetBrains Mono"/>
            </a:endParaRPr>
          </a:p>
        </p:txBody>
      </p:sp>
      <p:sp>
        <p:nvSpPr>
          <p:cNvPr id="1735" name="文本框 1734" descr="{&quot;isTemplate&quot;:true,&quot;type&quot;:&quot;text&quot;}"/>
          <p:cNvSpPr txBox="1"/>
          <p:nvPr/>
        </p:nvSpPr>
        <p:spPr>
          <a:xfrm>
            <a:off x="6381750" y="4248150"/>
            <a:ext cx="4991100" cy="2762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80000"/>
              </a:lnSpc>
            </a:pPr>
            <a:r>
              <a:rPr lang="en-US" sz="975">
                <a:solidFill>
                  <a:srgbClr val="38BDF8"/>
                </a:solidFill>
                <a:latin typeface="JetBrains Mono"/>
                <a:ea typeface="JetBrains Mono"/>
              </a:rPr>
              <a:t>@JsonIntSchema[minimum: 0, maximum: 150]</a:t>
            </a:r>
            <a:endParaRPr lang="en-US" sz="975">
              <a:solidFill>
                <a:srgbClr val="38BDF8"/>
              </a:solidFill>
              <a:latin typeface="JetBrains Mono"/>
              <a:ea typeface="JetBrains Mono"/>
            </a:endParaRPr>
          </a:p>
        </p:txBody>
      </p:sp>
      <p:sp>
        <p:nvSpPr>
          <p:cNvPr id="1736" name="文本框 1735" descr="{&quot;isTemplate&quot;:true,&quot;type&quot;:&quot;text&quot;}"/>
          <p:cNvSpPr txBox="1"/>
          <p:nvPr/>
        </p:nvSpPr>
        <p:spPr>
          <a:xfrm>
            <a:off x="6381750" y="5495925"/>
            <a:ext cx="4991100" cy="581025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80000"/>
              </a:lnSpc>
            </a:pPr>
            <a:r>
              <a:rPr lang="zh-CN" sz="105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还有</a:t>
            </a:r>
            <a:r>
              <a:rPr lang="en-US" sz="105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 @JsonFloatSchema / @JsonBoolSchema / @JsonArraySchema / @JsonObjectSchema</a:t>
            </a:r>
            <a:r>
              <a:rPr lang="zh-CN" sz="105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。</a:t>
            </a:r>
            <a:endParaRPr lang="zh-CN" sz="105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737" name="任意多边形 1736"/>
          <p:cNvSpPr/>
          <p:nvPr/>
        </p:nvSpPr>
        <p:spPr>
          <a:xfrm>
            <a:off x="609600" y="6286500"/>
            <a:ext cx="10972800" cy="381000"/>
          </a:xfrm>
          <a:custGeom>
            <a:avLst/>
            <a:gdLst/>
            <a:ahLst/>
            <a:cxnLst/>
            <a:pathLst>
              <a:path w="1152" h="40">
                <a:moveTo>
                  <a:pt x="0" y="0"/>
                </a:moveTo>
                <a:lnTo>
                  <a:pt x="1152" y="0"/>
                </a:lnTo>
                <a:lnTo>
                  <a:pt x="1152" y="1"/>
                </a:lnTo>
                <a:lnTo>
                  <a:pt x="0" y="1"/>
                </a:lnTo>
                <a:close/>
              </a:path>
            </a:pathLst>
          </a:custGeom>
          <a:solidFill>
            <a:srgbClr val="1E293B"/>
          </a:solidFill>
        </p:spPr>
        <p:txBody>
          <a:bodyPr/>
          <a:p/>
        </p:txBody>
      </p:sp>
      <p:sp>
        <p:nvSpPr>
          <p:cNvPr id="1738" name="文本框 1737" descr="{&quot;isTemplate&quot;:true,&quot;type&quot;:&quot;text&quot;}"/>
          <p:cNvSpPr txBox="1"/>
          <p:nvPr/>
        </p:nvSpPr>
        <p:spPr>
          <a:xfrm>
            <a:off x="609600" y="6410325"/>
            <a:ext cx="2219325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fountain · 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一站式服务器应用开发工具库</a:t>
            </a:r>
            <a:endParaRPr lang="zh-CN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739" name="文本框 1738" descr="{&quot;isTemplate&quot;:true,&quot;type&quot;:&quot;text&quot;}"/>
          <p:cNvSpPr txBox="1"/>
          <p:nvPr/>
        </p:nvSpPr>
        <p:spPr>
          <a:xfrm>
            <a:off x="11087100" y="6410325"/>
            <a:ext cx="495300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52 / 116</a:t>
            </a:r>
            <a:endParaRPr lang="en-US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74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" name="矩形 174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220"/>
          </a:solidFill>
        </p:spPr>
        <p:txBody>
          <a:bodyPr/>
          <a:p/>
        </p:txBody>
      </p:sp>
      <p:sp>
        <p:nvSpPr>
          <p:cNvPr id="1742" name="矩形 1741"/>
          <p:cNvSpPr/>
          <p:nvPr/>
        </p:nvSpPr>
        <p:spPr>
          <a:xfrm>
            <a:off x="609600" y="476250"/>
            <a:ext cx="38100" cy="381000"/>
          </a:xfrm>
          <a:prstGeom prst="rect">
            <a:avLst/>
          </a:prstGeom>
          <a:solidFill>
            <a:srgbClr val="38BDF8"/>
          </a:solidFill>
        </p:spPr>
        <p:txBody>
          <a:bodyPr/>
          <a:p/>
        </p:txBody>
      </p:sp>
      <p:sp>
        <p:nvSpPr>
          <p:cNvPr id="1743" name="文本框 1742" descr="{&quot;isTemplate&quot;:true,&quot;type&quot;:&quot;text&quot;}"/>
          <p:cNvSpPr txBox="1"/>
          <p:nvPr/>
        </p:nvSpPr>
        <p:spPr>
          <a:xfrm>
            <a:off x="819150" y="304800"/>
            <a:ext cx="9820275" cy="2095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第</a:t>
            </a: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 8 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章</a:t>
            </a: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 · 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数据</a:t>
            </a: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 f_data · 8.8</a:t>
            </a:r>
            <a:endParaRPr lang="en-US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744" name="文本框 1743" descr="{&quot;isTemplate&quot;:true,&quot;type&quot;:&quot;text&quot;}"/>
          <p:cNvSpPr txBox="1"/>
          <p:nvPr/>
        </p:nvSpPr>
        <p:spPr>
          <a:xfrm>
            <a:off x="819150" y="514350"/>
            <a:ext cx="9820275" cy="5143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en-US" sz="2550" b="1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JSONPath </a:t>
            </a:r>
            <a:r>
              <a:rPr lang="zh-CN" sz="2550" b="1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查询（</a:t>
            </a:r>
            <a:r>
              <a:rPr lang="en-US" sz="2550" b="1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RFC 9535</a:t>
            </a:r>
            <a:r>
              <a:rPr lang="zh-CN" sz="2550" b="1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）</a:t>
            </a:r>
            <a:endParaRPr lang="zh-CN" sz="2550" b="1">
              <a:solidFill>
                <a:srgbClr val="E2E8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745" name="文本框 1744" descr="{&quot;isTemplate&quot;:true,&quot;type&quot;:&quot;text&quot;}"/>
          <p:cNvSpPr txBox="1"/>
          <p:nvPr/>
        </p:nvSpPr>
        <p:spPr>
          <a:xfrm>
            <a:off x="10810875" y="590550"/>
            <a:ext cx="771525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讲</a:t>
            </a: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 1 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分钟就够</a:t>
            </a:r>
            <a:endParaRPr lang="zh-CN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746" name="圆角矩形 1745"/>
          <p:cNvSpPr/>
          <p:nvPr/>
        </p:nvSpPr>
        <p:spPr>
          <a:xfrm>
            <a:off x="609600" y="1143000"/>
            <a:ext cx="4953000" cy="3981450"/>
          </a:xfrm>
          <a:prstGeom prst="roundRect">
            <a:avLst>
              <a:gd name="adj" fmla="val 2871"/>
            </a:avLst>
          </a:prstGeom>
          <a:solidFill>
            <a:srgbClr val="0B1220"/>
          </a:solidFill>
          <a:ln w="12700">
            <a:solidFill>
              <a:srgbClr val="38BDF8"/>
            </a:solidFill>
            <a:prstDash val="solid"/>
          </a:ln>
        </p:spPr>
        <p:txBody>
          <a:bodyPr/>
          <a:p/>
        </p:txBody>
      </p:sp>
      <p:sp>
        <p:nvSpPr>
          <p:cNvPr id="1747" name="文本框 1746" descr="{&quot;isTemplate&quot;:true,&quot;type&quot;:&quot;text&quot;}"/>
          <p:cNvSpPr txBox="1"/>
          <p:nvPr/>
        </p:nvSpPr>
        <p:spPr>
          <a:xfrm>
            <a:off x="781050" y="1314450"/>
            <a:ext cx="4610100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用法</a:t>
            </a:r>
            <a:endParaRPr lang="zh-CN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748" name="文本框 1747" descr="{&quot;isTemplate&quot;:true,&quot;type&quot;:&quot;text&quot;}"/>
          <p:cNvSpPr txBox="1"/>
          <p:nvPr/>
        </p:nvSpPr>
        <p:spPr>
          <a:xfrm>
            <a:off x="781050" y="1543050"/>
            <a:ext cx="4610100" cy="2667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5000"/>
              </a:lnSpc>
            </a:pPr>
            <a:r>
              <a:rPr lang="en-US" sz="975">
                <a:solidFill>
                  <a:srgbClr val="E2E8F0"/>
                </a:solidFill>
                <a:latin typeface="JetBrains Mono"/>
                <a:ea typeface="JetBrains Mono"/>
              </a:rPr>
              <a:t>import fountain::f_data.base.*</a:t>
            </a:r>
            <a:endParaRPr lang="en-US" sz="975">
              <a:solidFill>
                <a:srgbClr val="E2E8F0"/>
              </a:solidFill>
              <a:latin typeface="JetBrains Mono"/>
              <a:ea typeface="JetBrains Mono"/>
            </a:endParaRPr>
          </a:p>
        </p:txBody>
      </p:sp>
      <p:sp>
        <p:nvSpPr>
          <p:cNvPr id="1749" name="文本框 1748" descr="{&quot;isTemplate&quot;:true,&quot;type&quot;:&quot;text&quot;}"/>
          <p:cNvSpPr txBox="1"/>
          <p:nvPr/>
        </p:nvSpPr>
        <p:spPr>
          <a:xfrm>
            <a:off x="781050" y="1809750"/>
            <a:ext cx="4610100" cy="2667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5000"/>
              </a:lnSpc>
            </a:pPr>
            <a:r>
              <a:rPr lang="en-US" sz="975">
                <a:solidFill>
                  <a:srgbClr val="E2E8F0"/>
                </a:solidFill>
                <a:latin typeface="JetBrains Mono"/>
                <a:ea typeface="JetBrains Mono"/>
              </a:rPr>
              <a:t>import fountain::f_data.path.*</a:t>
            </a:r>
            <a:endParaRPr lang="en-US" sz="975">
              <a:solidFill>
                <a:srgbClr val="E2E8F0"/>
              </a:solidFill>
              <a:latin typeface="JetBrains Mono"/>
              <a:ea typeface="JetBrains Mono"/>
            </a:endParaRPr>
          </a:p>
        </p:txBody>
      </p:sp>
      <p:sp>
        <p:nvSpPr>
          <p:cNvPr id="1750" name="文本框 1749" descr="{&quot;isTemplate&quot;:true,&quot;type&quot;:&quot;text&quot;}"/>
          <p:cNvSpPr txBox="1"/>
          <p:nvPr/>
        </p:nvSpPr>
        <p:spPr>
          <a:xfrm>
            <a:off x="781050" y="2171700"/>
            <a:ext cx="4610100" cy="523875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75000"/>
              </a:lnSpc>
            </a:pPr>
            <a:r>
              <a:rPr lang="en-US" sz="975">
                <a:solidFill>
                  <a:srgbClr val="38BDF8"/>
                </a:solidFill>
                <a:latin typeface="JetBrains Mono"/>
                <a:ea typeface="JetBrains Mono"/>
              </a:rPr>
              <a:t>let path = DataPath.cache("$.store.books[?(@.price &gt; 9)].title")</a:t>
            </a:r>
            <a:endParaRPr lang="en-US" sz="975">
              <a:solidFill>
                <a:srgbClr val="38BDF8"/>
              </a:solidFill>
              <a:latin typeface="JetBrains Mono"/>
              <a:ea typeface="JetBrains Mono"/>
            </a:endParaRPr>
          </a:p>
        </p:txBody>
      </p:sp>
      <p:sp>
        <p:nvSpPr>
          <p:cNvPr id="1751" name="文本框 1750" descr="{&quot;isTemplate&quot;:true,&quot;type&quot;:&quot;text&quot;}"/>
          <p:cNvSpPr txBox="1"/>
          <p:nvPr/>
        </p:nvSpPr>
        <p:spPr>
          <a:xfrm>
            <a:off x="781050" y="2695575"/>
            <a:ext cx="4610100" cy="2667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5000"/>
              </a:lnSpc>
            </a:pPr>
            <a:r>
              <a:rPr lang="en-US" sz="975">
                <a:solidFill>
                  <a:srgbClr val="38BDF8"/>
                </a:solidFill>
                <a:latin typeface="JetBrains Mono"/>
                <a:ea typeface="JetBrains Mono"/>
              </a:rPr>
              <a:t>for (title in path.get(data)) </a:t>
            </a:r>
            <a:r>
              <a:rPr lang="en-US" sz="975">
                <a:solidFill>
                  <a:srgbClr val="38BDF8"/>
                </a:solidFill>
                <a:latin typeface="JetBrains Mono"/>
                <a:ea typeface="JetBrains Mono"/>
              </a:rPr>
              <a:t>{</a:t>
            </a:r>
            <a:endParaRPr lang="en-US" sz="975">
              <a:solidFill>
                <a:srgbClr val="38BDF8"/>
              </a:solidFill>
              <a:latin typeface="JetBrains Mono"/>
              <a:ea typeface="JetBrains Mono"/>
            </a:endParaRPr>
          </a:p>
        </p:txBody>
      </p:sp>
      <p:sp>
        <p:nvSpPr>
          <p:cNvPr id="1752" name="文本框 1751" descr="{&quot;isTemplate&quot;:true,&quot;type&quot;:&quot;text&quot;}"/>
          <p:cNvSpPr txBox="1"/>
          <p:nvPr/>
        </p:nvSpPr>
        <p:spPr>
          <a:xfrm>
            <a:off x="781050" y="2962275"/>
            <a:ext cx="4610100" cy="2667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5000"/>
              </a:lnSpc>
            </a:pPr>
            <a:r>
              <a:rPr lang="en-US" sz="975">
                <a:solidFill>
                  <a:srgbClr val="38BDF8"/>
                </a:solidFill>
                <a:latin typeface="JetBrains Mono"/>
                <a:ea typeface="JetBrains Mono"/>
              </a:rPr>
              <a:t>    println(title)</a:t>
            </a:r>
            <a:endParaRPr lang="en-US" sz="975">
              <a:solidFill>
                <a:srgbClr val="38BDF8"/>
              </a:solidFill>
              <a:latin typeface="JetBrains Mono"/>
              <a:ea typeface="JetBrains Mono"/>
            </a:endParaRPr>
          </a:p>
        </p:txBody>
      </p:sp>
      <p:sp>
        <p:nvSpPr>
          <p:cNvPr id="1753" name="文本框 1752" descr="{&quot;isTemplate&quot;:true,&quot;type&quot;:&quot;text&quot;}"/>
          <p:cNvSpPr txBox="1"/>
          <p:nvPr/>
        </p:nvSpPr>
        <p:spPr>
          <a:xfrm>
            <a:off x="781050" y="3228975"/>
            <a:ext cx="4610100" cy="2667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5000"/>
              </a:lnSpc>
            </a:pPr>
            <a:r>
              <a:rPr lang="en-US" sz="975">
                <a:solidFill>
                  <a:srgbClr val="38BDF8"/>
                </a:solidFill>
                <a:latin typeface="JetBrains Mono"/>
                <a:ea typeface="JetBrains Mono"/>
              </a:rPr>
              <a:t>}</a:t>
            </a:r>
            <a:endParaRPr lang="en-US" sz="975">
              <a:solidFill>
                <a:srgbClr val="38BDF8"/>
              </a:solidFill>
              <a:latin typeface="JetBrains Mono"/>
              <a:ea typeface="JetBrains Mono"/>
            </a:endParaRPr>
          </a:p>
        </p:txBody>
      </p:sp>
      <p:sp>
        <p:nvSpPr>
          <p:cNvPr id="1754" name="矩形 1753"/>
          <p:cNvSpPr/>
          <p:nvPr/>
        </p:nvSpPr>
        <p:spPr>
          <a:xfrm>
            <a:off x="781050" y="3629025"/>
            <a:ext cx="4610100" cy="9525"/>
          </a:xfrm>
          <a:prstGeom prst="rect">
            <a:avLst/>
          </a:prstGeom>
          <a:solidFill>
            <a:srgbClr val="1E293B"/>
          </a:solidFill>
        </p:spPr>
        <p:txBody>
          <a:bodyPr/>
          <a:p/>
        </p:txBody>
      </p:sp>
      <p:sp>
        <p:nvSpPr>
          <p:cNvPr id="1755" name="文本框 1754" descr="{&quot;isTemplate&quot;:true,&quot;type&quot;:&quot;text&quot;}"/>
          <p:cNvSpPr txBox="1"/>
          <p:nvPr/>
        </p:nvSpPr>
        <p:spPr>
          <a:xfrm>
            <a:off x="781050" y="3752850"/>
            <a:ext cx="4610100" cy="523875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75000"/>
              </a:lnSpc>
            </a:pPr>
            <a:r>
              <a:rPr lang="en-US" sz="975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DataPath.cache(path) —— </a:t>
            </a:r>
            <a:r>
              <a:rPr lang="zh-CN" sz="975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编译路径，缓存在</a:t>
            </a:r>
            <a:r>
              <a:rPr lang="en-US" sz="975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 HeapCache</a:t>
            </a:r>
            <a:r>
              <a:rPr lang="zh-CN" sz="975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（最多</a:t>
            </a:r>
            <a:r>
              <a:rPr lang="en-US" sz="975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 1 </a:t>
            </a:r>
            <a:r>
              <a:rPr lang="zh-CN" sz="975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万条</a:t>
            </a:r>
            <a:r>
              <a:rPr lang="en-US" sz="975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 / </a:t>
            </a:r>
            <a:r>
              <a:rPr lang="zh-CN" sz="975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寿命</a:t>
            </a:r>
            <a:r>
              <a:rPr lang="en-US" sz="975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 1 </a:t>
            </a:r>
            <a:r>
              <a:rPr lang="zh-CN" sz="975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天）</a:t>
            </a:r>
            <a:endParaRPr lang="zh-CN" sz="975">
              <a:solidFill>
                <a:srgbClr val="E2E8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756" name="文本框 1755" descr="{&quot;isTemplate&quot;:true,&quot;type&quot;:&quot;text&quot;}"/>
          <p:cNvSpPr txBox="1"/>
          <p:nvPr/>
        </p:nvSpPr>
        <p:spPr>
          <a:xfrm>
            <a:off x="781050" y="4333875"/>
            <a:ext cx="4610100" cy="2667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5000"/>
              </a:lnSpc>
            </a:pPr>
            <a:r>
              <a:rPr lang="en-US" sz="975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DataPath.solid(path) —— </a:t>
            </a:r>
            <a:r>
              <a:rPr lang="zh-CN" sz="975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永久缓存（进程内固定路径用这个）</a:t>
            </a:r>
            <a:endParaRPr lang="zh-CN" sz="975">
              <a:solidFill>
                <a:srgbClr val="E2E8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757" name="文本框 1756" descr="{&quot;isTemplate&quot;:true,&quot;type&quot;:&quot;text&quot;}"/>
          <p:cNvSpPr txBox="1"/>
          <p:nvPr/>
        </p:nvSpPr>
        <p:spPr>
          <a:xfrm>
            <a:off x="781050" y="4657725"/>
            <a:ext cx="4610100" cy="2667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5000"/>
              </a:lnSpc>
            </a:pPr>
            <a:r>
              <a:rPr lang="en-US" sz="975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DataPath.get(data) —— </a:t>
            </a:r>
            <a:r>
              <a:rPr lang="zh-CN" sz="975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求值，返回匹配节点的</a:t>
            </a:r>
            <a:r>
              <a:rPr lang="en-US" sz="975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 Iterator</a:t>
            </a:r>
            <a:endParaRPr lang="en-US" sz="975">
              <a:solidFill>
                <a:srgbClr val="E2E8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graphicFrame>
        <p:nvGraphicFramePr>
          <p:cNvPr id="1758" name="表格 1757"/>
          <p:cNvGraphicFramePr/>
          <p:nvPr/>
        </p:nvGraphicFramePr>
        <p:xfrm>
          <a:off x="5715000" y="1143000"/>
          <a:ext cx="5867400" cy="3981450"/>
        </p:xfrm>
        <a:graphic>
          <a:graphicData uri="http://schemas.openxmlformats.org/drawingml/2006/table">
            <a:tbl>
              <a:tblPr/>
              <a:tblGrid>
                <a:gridCol w="814795"/>
                <a:gridCol w="5052605"/>
              </a:tblGrid>
              <a:tr h="442383"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 b="1">
                          <a:solidFill>
                            <a:srgbClr val="22D3EE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类别</a:t>
                      </a:r>
                      <a:endParaRPr sz="975" b="1">
                        <a:solidFill>
                          <a:srgbClr val="22D3EE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6233A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 b="1">
                          <a:solidFill>
                            <a:srgbClr val="22D3EE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语法</a:t>
                      </a:r>
                      <a:endParaRPr sz="975" b="1">
                        <a:solidFill>
                          <a:srgbClr val="22D3EE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6233A"/>
                    </a:solidFill>
                  </a:tcPr>
                </a:tc>
              </a:tr>
              <a:tr h="442383"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标识符</a:t>
                      </a:r>
                      <a:endParaRPr sz="975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$ 根节点　·　@ 当前节点（filter 内）</a:t>
                      </a:r>
                      <a:endParaRPr sz="975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442383"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子段</a:t>
                      </a:r>
                      <a:endParaRPr sz="975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.name　.*　['name']　[*]　[0]　[0,2]　[start:end:step]　[-1:]</a:t>
                      </a:r>
                      <a:endParaRPr sz="975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442383"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递归段</a:t>
                      </a:r>
                      <a:endParaRPr sz="975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..name　..*　..['name']　..[0]　..[?(...)]</a:t>
                      </a:r>
                      <a:endParaRPr sz="975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442383"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路径函数</a:t>
                      </a:r>
                      <a:endParaRPr sz="975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min()　max()　avg()　length()　count()　value()</a:t>
                      </a:r>
                      <a:endParaRPr sz="975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442383"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比较</a:t>
                      </a:r>
                      <a:endParaRPr sz="975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== != &lt; &lt;= &gt; &gt;=　，支持 @.x == @.y 路径间比较</a:t>
                      </a:r>
                      <a:endParaRPr sz="975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442383"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逻辑</a:t>
                      </a:r>
                      <a:endParaRPr sz="975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&amp;&amp;  ||  !  (...)　·　存在性：?(@.name)　?(!(@.name))</a:t>
                      </a:r>
                      <a:endParaRPr sz="975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442383"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函数扩展</a:t>
                      </a:r>
                      <a:endParaRPr sz="975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match(p, re)　search(p, re)　count(p)　value(p)　length(p)，可任意层嵌套</a:t>
                      </a:r>
                      <a:endParaRPr sz="975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442383"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自定义扩展</a:t>
                      </a:r>
                      <a:endParaRPr sz="975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=~ /regex/　in nin anyof subsetof nooneof　size N</a:t>
                      </a:r>
                      <a:endParaRPr sz="975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</a:tbl>
          </a:graphicData>
        </a:graphic>
      </p:graphicFrame>
      <p:sp>
        <p:nvSpPr>
          <p:cNvPr id="1759" name="圆角矩形 1758"/>
          <p:cNvSpPr/>
          <p:nvPr/>
        </p:nvSpPr>
        <p:spPr>
          <a:xfrm>
            <a:off x="609600" y="5257800"/>
            <a:ext cx="10972800" cy="1028700"/>
          </a:xfrm>
          <a:prstGeom prst="roundRect">
            <a:avLst>
              <a:gd name="adj" fmla="val 11111"/>
            </a:avLst>
          </a:prstGeom>
          <a:solidFill>
            <a:srgbClr val="F59E0B">
              <a:alpha val="7000"/>
            </a:srgbClr>
          </a:solidFill>
          <a:ln w="12700">
            <a:solidFill>
              <a:srgbClr val="F59E0B"/>
            </a:solidFill>
            <a:prstDash val="solid"/>
          </a:ln>
        </p:spPr>
        <p:txBody>
          <a:bodyPr/>
          <a:p/>
        </p:txBody>
      </p:sp>
      <p:sp>
        <p:nvSpPr>
          <p:cNvPr id="1760" name="文本框 1759" descr="{&quot;isTemplate&quot;:true,&quot;type&quot;:&quot;text&quot;}"/>
          <p:cNvSpPr txBox="1"/>
          <p:nvPr/>
        </p:nvSpPr>
        <p:spPr>
          <a:xfrm>
            <a:off x="762000" y="5410200"/>
            <a:ext cx="10668000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边界</a:t>
            </a:r>
            <a:endParaRPr lang="zh-CN" sz="1050" b="1">
              <a:solidFill>
                <a:srgbClr val="F59E0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761" name="文本框 1760" descr="{&quot;isTemplate&quot;:true,&quot;type&quot;:&quot;text&quot;}"/>
          <p:cNvSpPr txBox="1"/>
          <p:nvPr/>
        </p:nvSpPr>
        <p:spPr>
          <a:xfrm>
            <a:off x="762000" y="5610225"/>
            <a:ext cx="10668000" cy="2476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65000"/>
              </a:lnSpc>
            </a:pPr>
            <a:r>
              <a:rPr lang="en-US" sz="975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[-1] </a:t>
            </a:r>
            <a:r>
              <a:rPr lang="zh-CN" sz="975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作为索引已被禁用（用切片</a:t>
            </a:r>
            <a:r>
              <a:rPr lang="en-US" sz="975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 [-1:]</a:t>
            </a:r>
            <a:r>
              <a:rPr lang="zh-CN" sz="975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）；裸的</a:t>
            </a:r>
            <a:r>
              <a:rPr lang="en-US" sz="975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 $.. </a:t>
            </a:r>
            <a:r>
              <a:rPr lang="zh-CN" sz="975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后面必须跟选择器；异常统一是</a:t>
            </a:r>
            <a:r>
              <a:rPr lang="en-US" sz="975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 DataException</a:t>
            </a:r>
            <a:r>
              <a:rPr lang="zh-CN" sz="975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。</a:t>
            </a:r>
            <a:endParaRPr lang="zh-CN" sz="975">
              <a:solidFill>
                <a:srgbClr val="E2E8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762" name="任意多边形 1761"/>
          <p:cNvSpPr/>
          <p:nvPr/>
        </p:nvSpPr>
        <p:spPr>
          <a:xfrm>
            <a:off x="609600" y="6286500"/>
            <a:ext cx="10972800" cy="381000"/>
          </a:xfrm>
          <a:custGeom>
            <a:avLst/>
            <a:gdLst/>
            <a:ahLst/>
            <a:cxnLst/>
            <a:pathLst>
              <a:path w="1152" h="40">
                <a:moveTo>
                  <a:pt x="0" y="0"/>
                </a:moveTo>
                <a:lnTo>
                  <a:pt x="1152" y="0"/>
                </a:lnTo>
                <a:lnTo>
                  <a:pt x="1152" y="1"/>
                </a:lnTo>
                <a:lnTo>
                  <a:pt x="0" y="1"/>
                </a:lnTo>
                <a:close/>
              </a:path>
            </a:pathLst>
          </a:custGeom>
          <a:solidFill>
            <a:srgbClr val="1E293B"/>
          </a:solidFill>
        </p:spPr>
        <p:txBody>
          <a:bodyPr/>
          <a:p/>
        </p:txBody>
      </p:sp>
      <p:sp>
        <p:nvSpPr>
          <p:cNvPr id="1763" name="文本框 1762" descr="{&quot;isTemplate&quot;:true,&quot;type&quot;:&quot;text&quot;}"/>
          <p:cNvSpPr txBox="1"/>
          <p:nvPr/>
        </p:nvSpPr>
        <p:spPr>
          <a:xfrm>
            <a:off x="609600" y="6410325"/>
            <a:ext cx="2219325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fountain · 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一站式服务器应用开发工具库</a:t>
            </a:r>
            <a:endParaRPr lang="zh-CN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764" name="文本框 1763" descr="{&quot;isTemplate&quot;:true,&quot;type&quot;:&quot;text&quot;}"/>
          <p:cNvSpPr txBox="1"/>
          <p:nvPr/>
        </p:nvSpPr>
        <p:spPr>
          <a:xfrm>
            <a:off x="11087100" y="6410325"/>
            <a:ext cx="495300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53 / 116</a:t>
            </a:r>
            <a:endParaRPr lang="en-US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76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6" name="矩形 1765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220"/>
          </a:solidFill>
        </p:spPr>
        <p:txBody>
          <a:bodyPr/>
          <a:p/>
        </p:txBody>
      </p:sp>
      <p:sp>
        <p:nvSpPr>
          <p:cNvPr id="1767" name="矩形 1766"/>
          <p:cNvSpPr/>
          <p:nvPr/>
        </p:nvSpPr>
        <p:spPr>
          <a:xfrm>
            <a:off x="609600" y="476250"/>
            <a:ext cx="38100" cy="381000"/>
          </a:xfrm>
          <a:prstGeom prst="rect">
            <a:avLst/>
          </a:prstGeom>
          <a:solidFill>
            <a:srgbClr val="38BDF8"/>
          </a:solidFill>
        </p:spPr>
        <p:txBody>
          <a:bodyPr/>
          <a:p/>
        </p:txBody>
      </p:sp>
      <p:sp>
        <p:nvSpPr>
          <p:cNvPr id="1768" name="文本框 1767" descr="{&quot;isTemplate&quot;:true,&quot;type&quot;:&quot;text&quot;}"/>
          <p:cNvSpPr txBox="1"/>
          <p:nvPr/>
        </p:nvSpPr>
        <p:spPr>
          <a:xfrm>
            <a:off x="819150" y="304800"/>
            <a:ext cx="9858375" cy="2095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第</a:t>
            </a: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 8 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章</a:t>
            </a: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 · 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数据</a:t>
            </a: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 f_data · 8.9 / 8.10</a:t>
            </a:r>
            <a:endParaRPr lang="en-US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769" name="文本框 1768" descr="{&quot;isTemplate&quot;:true,&quot;type&quot;:&quot;text&quot;}"/>
          <p:cNvSpPr txBox="1"/>
          <p:nvPr/>
        </p:nvSpPr>
        <p:spPr>
          <a:xfrm>
            <a:off x="819150" y="514350"/>
            <a:ext cx="9858375" cy="5143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2550" b="1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快速失败与现场演示</a:t>
            </a:r>
            <a:endParaRPr lang="zh-CN" sz="2550" b="1">
              <a:solidFill>
                <a:srgbClr val="E2E8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770" name="文本框 1769" descr="{&quot;isTemplate&quot;:true,&quot;type&quot;:&quot;text&quot;}"/>
          <p:cNvSpPr txBox="1"/>
          <p:nvPr/>
        </p:nvSpPr>
        <p:spPr>
          <a:xfrm>
            <a:off x="10848975" y="590550"/>
            <a:ext cx="733425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8 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行字母标号</a:t>
            </a:r>
            <a:endParaRPr lang="zh-CN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771" name="圆角矩形 1770"/>
          <p:cNvSpPr/>
          <p:nvPr/>
        </p:nvSpPr>
        <p:spPr>
          <a:xfrm>
            <a:off x="609600" y="1143000"/>
            <a:ext cx="4476750" cy="3886200"/>
          </a:xfrm>
          <a:prstGeom prst="roundRect">
            <a:avLst>
              <a:gd name="adj" fmla="val 2941"/>
            </a:avLst>
          </a:prstGeom>
          <a:solidFill>
            <a:srgbClr val="111C2E"/>
          </a:solidFill>
          <a:ln w="12700">
            <a:solidFill>
              <a:srgbClr val="38BDF8"/>
            </a:solidFill>
            <a:prstDash val="solid"/>
          </a:ln>
        </p:spPr>
        <p:txBody>
          <a:bodyPr/>
          <a:p/>
        </p:txBody>
      </p:sp>
      <p:sp>
        <p:nvSpPr>
          <p:cNvPr id="1772" name="文本框 1771" descr="{&quot;isTemplate&quot;:true,&quot;type&quot;:&quot;text&quot;}"/>
          <p:cNvSpPr txBox="1"/>
          <p:nvPr/>
        </p:nvSpPr>
        <p:spPr>
          <a:xfrm>
            <a:off x="800100" y="1333500"/>
            <a:ext cx="4095750" cy="2095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38BDF8"/>
                </a:solidFill>
                <a:latin typeface="微软雅黑" panose="020B0503020204020204" charset="-122"/>
                <a:ea typeface="微软雅黑" panose="020B0503020204020204" charset="-122"/>
              </a:rPr>
              <a:t>快速失败：</a:t>
            </a:r>
            <a:r>
              <a:rPr lang="en-US" sz="1350" b="1">
                <a:solidFill>
                  <a:srgbClr val="38BDF8"/>
                </a:solidFill>
                <a:latin typeface="微软雅黑" panose="020B0503020204020204" charset="-122"/>
                <a:ea typeface="微软雅黑" panose="020B0503020204020204" charset="-122"/>
              </a:rPr>
              <a:t>BreakingCommand</a:t>
            </a:r>
            <a:endParaRPr lang="en-US" sz="1350" b="1">
              <a:solidFill>
                <a:srgbClr val="38BDF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773" name="圆角矩形 1772"/>
          <p:cNvSpPr/>
          <p:nvPr/>
        </p:nvSpPr>
        <p:spPr>
          <a:xfrm>
            <a:off x="800100" y="1657350"/>
            <a:ext cx="4095750" cy="1409700"/>
          </a:xfrm>
          <a:prstGeom prst="roundRect">
            <a:avLst>
              <a:gd name="adj" fmla="val 5405"/>
            </a:avLst>
          </a:prstGeom>
          <a:solidFill>
            <a:srgbClr val="0B1220"/>
          </a:solidFill>
          <a:ln w="12700">
            <a:solidFill>
              <a:srgbClr val="1E293B"/>
            </a:solidFill>
            <a:prstDash val="solid"/>
          </a:ln>
        </p:spPr>
        <p:txBody>
          <a:bodyPr/>
          <a:p/>
        </p:txBody>
      </p:sp>
      <p:sp>
        <p:nvSpPr>
          <p:cNvPr id="1774" name="文本框 1773" descr="{&quot;isTemplate&quot;:true,&quot;type&quot;:&quot;text&quot;}"/>
          <p:cNvSpPr txBox="1"/>
          <p:nvPr/>
        </p:nvSpPr>
        <p:spPr>
          <a:xfrm>
            <a:off x="933450" y="1790700"/>
            <a:ext cx="3829050" cy="2762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80000"/>
              </a:lnSpc>
            </a:pPr>
            <a:r>
              <a:rPr lang="en-US" sz="975">
                <a:solidFill>
                  <a:srgbClr val="E2E8F0"/>
                </a:solidFill>
                <a:latin typeface="JetBrains Mono"/>
                <a:ea typeface="JetBrains Mono"/>
              </a:rPr>
              <a:t>import fountain::f_data.BreakingCommand</a:t>
            </a:r>
            <a:endParaRPr lang="en-US" sz="975">
              <a:solidFill>
                <a:srgbClr val="E2E8F0"/>
              </a:solidFill>
              <a:latin typeface="JetBrains Mono"/>
              <a:ea typeface="JetBrains Mono"/>
            </a:endParaRPr>
          </a:p>
        </p:txBody>
      </p:sp>
      <p:sp>
        <p:nvSpPr>
          <p:cNvPr id="1775" name="文本框 1774" descr="{&quot;isTemplate&quot;:true,&quot;type&quot;:&quot;text&quot;}"/>
          <p:cNvSpPr txBox="1"/>
          <p:nvPr/>
        </p:nvSpPr>
        <p:spPr>
          <a:xfrm>
            <a:off x="933450" y="2143125"/>
            <a:ext cx="3829050" cy="2762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80000"/>
              </a:lnSpc>
            </a:pPr>
            <a:r>
              <a:rPr lang="en-US" sz="975">
                <a:solidFill>
                  <a:srgbClr val="38BDF8"/>
                </a:solidFill>
                <a:latin typeface="JetBrains Mono"/>
                <a:ea typeface="JetBrains Mono"/>
              </a:rPr>
              <a:t>perform BreakingCommand(someValue.toData())</a:t>
            </a:r>
            <a:endParaRPr lang="en-US" sz="975">
              <a:solidFill>
                <a:srgbClr val="38BDF8"/>
              </a:solidFill>
              <a:latin typeface="JetBrains Mono"/>
              <a:ea typeface="JetBrains Mono"/>
            </a:endParaRPr>
          </a:p>
        </p:txBody>
      </p:sp>
      <p:sp>
        <p:nvSpPr>
          <p:cNvPr id="1776" name="文本框 1775" descr="{&quot;isTemplate&quot;:true,&quot;type&quot;:&quot;text&quot;}"/>
          <p:cNvSpPr txBox="1"/>
          <p:nvPr/>
        </p:nvSpPr>
        <p:spPr>
          <a:xfrm>
            <a:off x="933450" y="2419350"/>
            <a:ext cx="3829050" cy="2762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80000"/>
              </a:lnSpc>
            </a:pPr>
            <a:r>
              <a:rPr lang="en-US" sz="975">
                <a:solidFill>
                  <a:srgbClr val="38BDF8"/>
                </a:solidFill>
                <a:latin typeface="JetBrains Mono"/>
                <a:ea typeface="JetBrains Mono"/>
              </a:rPr>
              <a:t>perform BreakingCommand.new(someValue)</a:t>
            </a:r>
            <a:endParaRPr lang="en-US" sz="975">
              <a:solidFill>
                <a:srgbClr val="38BDF8"/>
              </a:solidFill>
              <a:latin typeface="JetBrains Mono"/>
              <a:ea typeface="JetBrains Mono"/>
            </a:endParaRPr>
          </a:p>
        </p:txBody>
      </p:sp>
      <p:sp>
        <p:nvSpPr>
          <p:cNvPr id="1777" name="文本框 1776" descr="{&quot;isTemplate&quot;:true,&quot;type&quot;:&quot;text&quot;}"/>
          <p:cNvSpPr txBox="1"/>
          <p:nvPr/>
        </p:nvSpPr>
        <p:spPr>
          <a:xfrm>
            <a:off x="933450" y="2695575"/>
            <a:ext cx="3829050" cy="2381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en-US" sz="90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// .new(...) </a:t>
            </a:r>
            <a:r>
              <a:rPr lang="zh-CN" sz="90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是</a:t>
            </a:r>
            <a:r>
              <a:rPr lang="en-US" sz="90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 T &lt;: ToData </a:t>
            </a:r>
            <a:r>
              <a:rPr lang="zh-CN" sz="90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的便捷入口</a:t>
            </a:r>
            <a:endParaRPr lang="zh-CN" sz="90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778" name="文本框 1777" descr="{&quot;isTemplate&quot;:true,&quot;type&quot;:&quot;text&quot;}"/>
          <p:cNvSpPr txBox="1"/>
          <p:nvPr/>
        </p:nvSpPr>
        <p:spPr>
          <a:xfrm>
            <a:off x="800100" y="3219450"/>
            <a:ext cx="4095750" cy="619125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80000"/>
              </a:lnSpc>
            </a:pPr>
            <a:r>
              <a:rPr lang="zh-CN" sz="112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在很深的调用栈里需要「立刻返回，别再往下走」时用它，比一层层</a:t>
            </a:r>
            <a:r>
              <a:rPr lang="en-US" sz="112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return </a:t>
            </a:r>
            <a:r>
              <a:rPr lang="zh-CN" sz="112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干净得多。</a:t>
            </a:r>
            <a:endParaRPr lang="zh-CN" sz="1125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779" name="文本框 1778" descr="{&quot;isTemplate&quot;:true,&quot;type&quot;:&quot;text&quot;}"/>
          <p:cNvSpPr txBox="1"/>
          <p:nvPr/>
        </p:nvSpPr>
        <p:spPr>
          <a:xfrm>
            <a:off x="800100" y="4524375"/>
            <a:ext cx="4095750" cy="3143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80000"/>
              </a:lnSpc>
            </a:pPr>
            <a:r>
              <a:rPr lang="en-US" sz="1125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MVC </a:t>
            </a:r>
            <a:r>
              <a:rPr lang="zh-CN" sz="1125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会把它携带的</a:t>
            </a:r>
            <a:r>
              <a:rPr lang="en-US" sz="1125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 Data </a:t>
            </a:r>
            <a:r>
              <a:rPr lang="zh-CN" sz="1125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直接作为响应体返回。</a:t>
            </a:r>
            <a:endParaRPr lang="zh-CN" sz="1125">
              <a:solidFill>
                <a:srgbClr val="F59E0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780" name="圆角矩形 1779"/>
          <p:cNvSpPr/>
          <p:nvPr/>
        </p:nvSpPr>
        <p:spPr>
          <a:xfrm>
            <a:off x="609600" y="5162550"/>
            <a:ext cx="4476750" cy="1123950"/>
          </a:xfrm>
          <a:prstGeom prst="roundRect">
            <a:avLst>
              <a:gd name="adj" fmla="val 10169"/>
            </a:avLst>
          </a:prstGeom>
          <a:solidFill>
            <a:srgbClr val="111C2E"/>
          </a:solidFill>
          <a:ln w="12700">
            <a:solidFill>
              <a:srgbClr val="1E293B"/>
            </a:solidFill>
            <a:prstDash val="solid"/>
          </a:ln>
        </p:spPr>
        <p:txBody>
          <a:bodyPr/>
          <a:p/>
        </p:txBody>
      </p:sp>
      <p:sp>
        <p:nvSpPr>
          <p:cNvPr id="1781" name="文本框 1780" descr="{&quot;isTemplate&quot;:true,&quot;type&quot;:&quot;text&quot;}"/>
          <p:cNvSpPr txBox="1"/>
          <p:nvPr/>
        </p:nvSpPr>
        <p:spPr>
          <a:xfrm>
            <a:off x="781050" y="5334000"/>
            <a:ext cx="4133850" cy="1714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本章小结</a:t>
            </a:r>
            <a:endParaRPr lang="zh-CN" sz="1125" b="1">
              <a:solidFill>
                <a:srgbClr val="E2E8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782" name="文本框 1781" descr="{&quot;isTemplate&quot;:true,&quot;type&quot;:&quot;text&quot;}"/>
          <p:cNvSpPr txBox="1"/>
          <p:nvPr/>
        </p:nvSpPr>
        <p:spPr>
          <a:xfrm>
            <a:off x="781050" y="5562600"/>
            <a:ext cx="4133850" cy="552450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en-US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f_data </a:t>
            </a:r>
            <a:r>
              <a:rPr lang="zh-CN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解决的是「数据怎么流动」——它同时是</a:t>
            </a:r>
            <a:r>
              <a:rPr lang="en-US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MVC</a:t>
            </a:r>
            <a:r>
              <a:rPr lang="zh-CN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、</a:t>
            </a:r>
            <a:r>
              <a:rPr lang="en-US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ORM</a:t>
            </a:r>
            <a:r>
              <a:rPr lang="zh-CN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、</a:t>
            </a:r>
            <a:r>
              <a:rPr lang="en-US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JWT </a:t>
            </a:r>
            <a:r>
              <a:rPr lang="zh-CN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的共同底座。</a:t>
            </a:r>
            <a:endParaRPr lang="zh-CN" sz="1050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783" name="圆角矩形 1782"/>
          <p:cNvSpPr/>
          <p:nvPr/>
        </p:nvSpPr>
        <p:spPr>
          <a:xfrm>
            <a:off x="5276850" y="1143000"/>
            <a:ext cx="6305550" cy="5143500"/>
          </a:xfrm>
          <a:prstGeom prst="roundRect">
            <a:avLst>
              <a:gd name="adj" fmla="val 2222"/>
            </a:avLst>
          </a:prstGeom>
          <a:solidFill>
            <a:srgbClr val="0B1220"/>
          </a:solidFill>
          <a:ln w="12700">
            <a:solidFill>
              <a:srgbClr val="1E293B"/>
            </a:solidFill>
            <a:prstDash val="solid"/>
          </a:ln>
        </p:spPr>
        <p:txBody>
          <a:bodyPr/>
          <a:p/>
        </p:txBody>
      </p:sp>
      <p:sp>
        <p:nvSpPr>
          <p:cNvPr id="1784" name="文本框 1783" descr="{&quot;isTemplate&quot;:true,&quot;type&quot;:&quot;text&quot;}"/>
          <p:cNvSpPr txBox="1"/>
          <p:nvPr/>
        </p:nvSpPr>
        <p:spPr>
          <a:xfrm>
            <a:off x="5467350" y="1333500"/>
            <a:ext cx="5924550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启动日志里会打出这一组输出（</a:t>
            </a:r>
            <a:r>
              <a:rPr lang="en-US" sz="105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boot.cj </a:t>
            </a:r>
            <a:r>
              <a:rPr lang="zh-CN" sz="105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的</a:t>
            </a:r>
            <a:r>
              <a:rPr lang="en-US" sz="105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 static init</a:t>
            </a:r>
            <a:r>
              <a:rPr lang="zh-CN" sz="105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）</a:t>
            </a:r>
            <a:endParaRPr lang="zh-CN" sz="105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785" name="文本框 1784" descr="{&quot;isTemplate&quot;:true,&quot;type&quot;:&quot;text&quot;}"/>
          <p:cNvSpPr txBox="1"/>
          <p:nvPr/>
        </p:nvSpPr>
        <p:spPr>
          <a:xfrm>
            <a:off x="5467350" y="1590675"/>
            <a:ext cx="5924550" cy="22002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85000"/>
              </a:lnSpc>
            </a:pPr>
            <a:r>
              <a:rPr lang="en-US" sz="975">
                <a:solidFill>
                  <a:srgbClr val="94A3B8"/>
                </a:solidFill>
                <a:latin typeface="JetBrains Mono"/>
                <a:ea typeface="JetBrains Mono"/>
              </a:rPr>
              <a:t>AAAAA…</a:t>
            </a:r>
            <a:r>
              <a:rPr lang="zh-CN" sz="975">
                <a:solidFill>
                  <a:srgbClr val="94A3B8"/>
                </a:solidFill>
                <a:latin typeface="JetBrains Mono"/>
                <a:ea typeface="JetBrains Mono"/>
              </a:rPr>
              <a:t>　</a:t>
            </a:r>
            <a:r>
              <a:rPr lang="en-US" sz="975">
                <a:solidFill>
                  <a:srgbClr val="94A3B8"/>
                </a:solidFill>
                <a:latin typeface="JetBrains Mono"/>
                <a:ea typeface="JetBrains Mono"/>
              </a:rPr>
              <a:t>{TestData2 </a:t>
            </a:r>
            <a:r>
              <a:rPr lang="zh-CN" sz="975">
                <a:solidFill>
                  <a:srgbClr val="94A3B8"/>
                </a:solidFill>
                <a:latin typeface="JetBrains Mono"/>
                <a:ea typeface="JetBrains Mono"/>
              </a:rPr>
              <a:t>的</a:t>
            </a:r>
            <a:r>
              <a:rPr lang="en-US" sz="975">
                <a:solidFill>
                  <a:srgbClr val="94A3B8"/>
                </a:solidFill>
                <a:latin typeface="JetBrains Mono"/>
                <a:ea typeface="JetBrains Mono"/>
              </a:rPr>
              <a:t> toString}</a:t>
            </a:r>
            <a:endParaRPr lang="en-US" sz="975">
              <a:solidFill>
                <a:srgbClr val="94A3B8"/>
              </a:solidFill>
              <a:latin typeface="JetBrains Mono"/>
              <a:ea typeface="JetBrains Mono"/>
            </a:endParaRPr>
          </a:p>
          <a:p>
            <a:pPr>
              <a:lnSpc>
                <a:spcPct val="185000"/>
              </a:lnSpc>
            </a:pPr>
            <a:r>
              <a:rPr lang="en-US" sz="975">
                <a:solidFill>
                  <a:srgbClr val="94A3B8"/>
                </a:solidFill>
                <a:latin typeface="JetBrains Mono"/>
                <a:ea typeface="JetBrains Mono"/>
              </a:rPr>
              <a:t>BBBBB…</a:t>
            </a:r>
            <a:r>
              <a:rPr lang="zh-CN" sz="975">
                <a:solidFill>
                  <a:srgbClr val="94A3B8"/>
                </a:solidFill>
                <a:latin typeface="JetBrains Mono"/>
                <a:ea typeface="JetBrains Mono"/>
              </a:rPr>
              <a:t>　</a:t>
            </a:r>
            <a:r>
              <a:rPr lang="en-US" sz="975">
                <a:solidFill>
                  <a:srgbClr val="94A3B8"/>
                </a:solidFill>
                <a:latin typeface="JetBrains Mono"/>
                <a:ea typeface="JetBrains Mono"/>
              </a:rPr>
              <a:t>{TestData3</a:t>
            </a:r>
            <a:r>
              <a:rPr lang="zh-CN" sz="975">
                <a:solidFill>
                  <a:srgbClr val="94A3B8"/>
                </a:solidFill>
                <a:latin typeface="JetBrains Mono"/>
                <a:ea typeface="JetBrains Mono"/>
              </a:rPr>
              <a:t>：从</a:t>
            </a:r>
            <a:r>
              <a:rPr lang="en-US" sz="975">
                <a:solidFill>
                  <a:srgbClr val="94A3B8"/>
                </a:solidFill>
                <a:latin typeface="JetBrains Mono"/>
                <a:ea typeface="JetBrains Mono"/>
              </a:rPr>
              <a:t> TestData2 </a:t>
            </a:r>
            <a:r>
              <a:rPr lang="zh-CN" sz="975">
                <a:solidFill>
                  <a:srgbClr val="94A3B8"/>
                </a:solidFill>
                <a:latin typeface="JetBrains Mono"/>
                <a:ea typeface="JetBrains Mono"/>
              </a:rPr>
              <a:t>复制而来</a:t>
            </a:r>
            <a:r>
              <a:rPr lang="en-US" sz="975">
                <a:solidFill>
                  <a:srgbClr val="94A3B8"/>
                </a:solidFill>
                <a:latin typeface="JetBrains Mono"/>
                <a:ea typeface="JetBrains Mono"/>
              </a:rPr>
              <a:t>}</a:t>
            </a:r>
            <a:endParaRPr lang="en-US" sz="975">
              <a:solidFill>
                <a:srgbClr val="94A3B8"/>
              </a:solidFill>
              <a:latin typeface="JetBrains Mono"/>
              <a:ea typeface="JetBrains Mono"/>
            </a:endParaRPr>
          </a:p>
          <a:p>
            <a:pPr>
              <a:lnSpc>
                <a:spcPct val="185000"/>
              </a:lnSpc>
            </a:pPr>
            <a:r>
              <a:rPr lang="en-US" sz="975">
                <a:solidFill>
                  <a:srgbClr val="94A3B8"/>
                </a:solidFill>
                <a:latin typeface="JetBrains Mono"/>
                <a:ea typeface="JetBrains Mono"/>
              </a:rPr>
              <a:t>CCCCC…</a:t>
            </a:r>
            <a:r>
              <a:rPr lang="zh-CN" sz="975">
                <a:solidFill>
                  <a:srgbClr val="94A3B8"/>
                </a:solidFill>
                <a:latin typeface="JetBrains Mono"/>
                <a:ea typeface="JetBrains Mono"/>
              </a:rPr>
              <a:t>　</a:t>
            </a:r>
            <a:r>
              <a:rPr lang="en-US" sz="975">
                <a:solidFill>
                  <a:srgbClr val="94A3B8"/>
                </a:solidFill>
                <a:latin typeface="JetBrains Mono"/>
                <a:ea typeface="JetBrains Mono"/>
              </a:rPr>
              <a:t>{TestData2 </a:t>
            </a:r>
            <a:r>
              <a:rPr lang="zh-CN" sz="975">
                <a:solidFill>
                  <a:srgbClr val="94A3B8"/>
                </a:solidFill>
                <a:latin typeface="JetBrains Mono"/>
                <a:ea typeface="JetBrains Mono"/>
              </a:rPr>
              <a:t>转成的</a:t>
            </a:r>
            <a:r>
              <a:rPr lang="en-US" sz="975">
                <a:solidFill>
                  <a:srgbClr val="94A3B8"/>
                </a:solidFill>
                <a:latin typeface="JetBrains Mono"/>
                <a:ea typeface="JetBrains Mono"/>
              </a:rPr>
              <a:t> JSON}</a:t>
            </a:r>
            <a:endParaRPr lang="en-US" sz="975">
              <a:solidFill>
                <a:srgbClr val="94A3B8"/>
              </a:solidFill>
              <a:latin typeface="JetBrains Mono"/>
              <a:ea typeface="JetBrains Mono"/>
            </a:endParaRPr>
          </a:p>
          <a:p>
            <a:pPr>
              <a:lnSpc>
                <a:spcPct val="185000"/>
              </a:lnSpc>
            </a:pPr>
            <a:r>
              <a:rPr lang="en-US" sz="975">
                <a:solidFill>
                  <a:srgbClr val="94A3B8"/>
                </a:solidFill>
                <a:latin typeface="JetBrains Mono"/>
                <a:ea typeface="JetBrains Mono"/>
              </a:rPr>
              <a:t>DDDDD…</a:t>
            </a:r>
            <a:r>
              <a:rPr lang="zh-CN" sz="975">
                <a:solidFill>
                  <a:srgbClr val="94A3B8"/>
                </a:solidFill>
                <a:latin typeface="JetBrains Mono"/>
                <a:ea typeface="JetBrains Mono"/>
              </a:rPr>
              <a:t>　</a:t>
            </a:r>
            <a:r>
              <a:rPr lang="en-US" sz="975">
                <a:solidFill>
                  <a:srgbClr val="94A3B8"/>
                </a:solidFill>
                <a:latin typeface="JetBrains Mono"/>
                <a:ea typeface="JetBrains Mono"/>
              </a:rPr>
              <a:t>{JSON → Data → TestData3}</a:t>
            </a:r>
            <a:endParaRPr lang="en-US" sz="975">
              <a:solidFill>
                <a:srgbClr val="94A3B8"/>
              </a:solidFill>
              <a:latin typeface="JetBrains Mono"/>
              <a:ea typeface="JetBrains Mono"/>
            </a:endParaRPr>
          </a:p>
          <a:p>
            <a:pPr>
              <a:lnSpc>
                <a:spcPct val="185000"/>
              </a:lnSpc>
            </a:pPr>
            <a:r>
              <a:rPr lang="en-US" sz="975">
                <a:solidFill>
                  <a:srgbClr val="94A3B8"/>
                </a:solidFill>
                <a:latin typeface="JetBrains Mono"/>
                <a:ea typeface="JetBrains Mono"/>
              </a:rPr>
              <a:t>EEEEE…</a:t>
            </a:r>
            <a:r>
              <a:rPr lang="zh-CN" sz="975">
                <a:solidFill>
                  <a:srgbClr val="94A3B8"/>
                </a:solidFill>
                <a:latin typeface="JetBrains Mono"/>
                <a:ea typeface="JetBrains Mono"/>
              </a:rPr>
              <a:t>　</a:t>
            </a:r>
            <a:r>
              <a:rPr lang="en-US" sz="975">
                <a:solidFill>
                  <a:srgbClr val="94A3B8"/>
                </a:solidFill>
                <a:latin typeface="JetBrains Mono"/>
                <a:ea typeface="JetBrains Mono"/>
              </a:rPr>
              <a:t>{</a:t>
            </a:r>
            <a:r>
              <a:rPr lang="zh-CN" sz="975">
                <a:solidFill>
                  <a:srgbClr val="94A3B8"/>
                </a:solidFill>
                <a:latin typeface="JetBrains Mono"/>
                <a:ea typeface="JetBrains Mono"/>
              </a:rPr>
              <a:t>反向复制回来，</a:t>
            </a:r>
            <a:r>
              <a:rPr lang="en-US" sz="975">
                <a:solidFill>
                  <a:srgbClr val="94A3B8"/>
                </a:solidFill>
                <a:latin typeface="JetBrains Mono"/>
                <a:ea typeface="JetBrains Mono"/>
              </a:rPr>
              <a:t>b </a:t>
            </a:r>
            <a:r>
              <a:rPr lang="zh-CN" sz="975">
                <a:solidFill>
                  <a:srgbClr val="94A3B8"/>
                </a:solidFill>
                <a:latin typeface="JetBrains Mono"/>
                <a:ea typeface="JetBrains Mono"/>
              </a:rPr>
              <a:t>字段被改空</a:t>
            </a:r>
            <a:r>
              <a:rPr lang="en-US" sz="975">
                <a:solidFill>
                  <a:srgbClr val="94A3B8"/>
                </a:solidFill>
                <a:latin typeface="JetBrains Mono"/>
                <a:ea typeface="JetBrains Mono"/>
              </a:rPr>
              <a:t>}</a:t>
            </a:r>
            <a:endParaRPr lang="en-US" sz="975">
              <a:solidFill>
                <a:srgbClr val="94A3B8"/>
              </a:solidFill>
              <a:latin typeface="JetBrains Mono"/>
              <a:ea typeface="JetBrains Mono"/>
            </a:endParaRPr>
          </a:p>
          <a:p>
            <a:pPr>
              <a:lnSpc>
                <a:spcPct val="185000"/>
              </a:lnSpc>
            </a:pPr>
            <a:r>
              <a:rPr lang="en-US" sz="975">
                <a:solidFill>
                  <a:srgbClr val="94A3B8"/>
                </a:solidFill>
                <a:latin typeface="JetBrains Mono"/>
                <a:ea typeface="JetBrains Mono"/>
              </a:rPr>
              <a:t>FFFFF…</a:t>
            </a:r>
            <a:r>
              <a:rPr lang="zh-CN" sz="975">
                <a:solidFill>
                  <a:srgbClr val="94A3B8"/>
                </a:solidFill>
                <a:latin typeface="JetBrains Mono"/>
                <a:ea typeface="JetBrains Mono"/>
              </a:rPr>
              <a:t>　</a:t>
            </a:r>
            <a:r>
              <a:rPr lang="en-US" sz="975">
                <a:solidFill>
                  <a:srgbClr val="94A3B8"/>
                </a:solidFill>
                <a:latin typeface="JetBrains Mono"/>
                <a:ea typeface="JetBrains Mono"/>
              </a:rPr>
              <a:t>{HashMap </a:t>
            </a:r>
            <a:r>
              <a:rPr lang="zh-CN" sz="975">
                <a:solidFill>
                  <a:srgbClr val="94A3B8"/>
                </a:solidFill>
                <a:latin typeface="JetBrains Mono"/>
                <a:ea typeface="JetBrains Mono"/>
              </a:rPr>
              <a:t>转成的</a:t>
            </a:r>
            <a:r>
              <a:rPr lang="en-US" sz="975">
                <a:solidFill>
                  <a:srgbClr val="94A3B8"/>
                </a:solidFill>
                <a:latin typeface="JetBrains Mono"/>
                <a:ea typeface="JetBrains Mono"/>
              </a:rPr>
              <a:t> JSON}</a:t>
            </a:r>
            <a:endParaRPr lang="en-US" sz="975">
              <a:solidFill>
                <a:srgbClr val="94A3B8"/>
              </a:solidFill>
              <a:latin typeface="JetBrains Mono"/>
              <a:ea typeface="JetBrains Mono"/>
            </a:endParaRPr>
          </a:p>
          <a:p>
            <a:pPr>
              <a:lnSpc>
                <a:spcPct val="185000"/>
              </a:lnSpc>
            </a:pPr>
            <a:r>
              <a:rPr lang="en-US" sz="975">
                <a:solidFill>
                  <a:srgbClr val="94A3B8"/>
                </a:solidFill>
                <a:latin typeface="JetBrains Mono"/>
                <a:ea typeface="JetBrains Mono"/>
              </a:rPr>
              <a:t>GGGGG…</a:t>
            </a:r>
            <a:r>
              <a:rPr lang="zh-CN" sz="975">
                <a:solidFill>
                  <a:srgbClr val="94A3B8"/>
                </a:solidFill>
                <a:latin typeface="JetBrains Mono"/>
                <a:ea typeface="JetBrains Mono"/>
              </a:rPr>
              <a:t>　</a:t>
            </a:r>
            <a:r>
              <a:rPr lang="en-US" sz="975">
                <a:solidFill>
                  <a:srgbClr val="94A3B8"/>
                </a:solidFill>
                <a:latin typeface="JetBrains Mono"/>
                <a:ea typeface="JetBrains Mono"/>
              </a:rPr>
              <a:t>{toJson(TestData2)}</a:t>
            </a:r>
            <a:endParaRPr lang="en-US" sz="975">
              <a:solidFill>
                <a:srgbClr val="94A3B8"/>
              </a:solidFill>
              <a:latin typeface="JetBrains Mono"/>
              <a:ea typeface="JetBrains Mono"/>
            </a:endParaRPr>
          </a:p>
          <a:p>
            <a:pPr>
              <a:lnSpc>
                <a:spcPct val="185000"/>
              </a:lnSpc>
            </a:pPr>
            <a:r>
              <a:rPr lang="en-US" sz="975">
                <a:solidFill>
                  <a:srgbClr val="94A3B8"/>
                </a:solidFill>
                <a:latin typeface="JetBrains Mono"/>
                <a:ea typeface="JetBrains Mono"/>
              </a:rPr>
              <a:t>HHHHH…</a:t>
            </a:r>
            <a:r>
              <a:rPr lang="zh-CN" sz="975">
                <a:solidFill>
                  <a:srgbClr val="94A3B8"/>
                </a:solidFill>
                <a:latin typeface="JetBrains Mono"/>
                <a:ea typeface="JetBrains Mono"/>
              </a:rPr>
              <a:t>　</a:t>
            </a:r>
            <a:r>
              <a:rPr lang="en-US" sz="975">
                <a:solidFill>
                  <a:srgbClr val="94A3B8"/>
                </a:solidFill>
                <a:latin typeface="JetBrains Mono"/>
                <a:ea typeface="JetBrains Mono"/>
              </a:rPr>
              <a:t>{fromJson </a:t>
            </a:r>
            <a:r>
              <a:rPr lang="zh-CN" sz="975">
                <a:solidFill>
                  <a:srgbClr val="94A3B8"/>
                </a:solidFill>
                <a:latin typeface="JetBrains Mono"/>
                <a:ea typeface="JetBrains Mono"/>
              </a:rPr>
              <a:t>回来后的</a:t>
            </a:r>
            <a:r>
              <a:rPr lang="en-US" sz="975">
                <a:solidFill>
                  <a:srgbClr val="94A3B8"/>
                </a:solidFill>
                <a:latin typeface="JetBrains Mono"/>
                <a:ea typeface="JetBrains Mono"/>
              </a:rPr>
              <a:t> Data}</a:t>
            </a:r>
            <a:endParaRPr lang="en-US" sz="975">
              <a:solidFill>
                <a:srgbClr val="94A3B8"/>
              </a:solidFill>
              <a:latin typeface="JetBrains Mono"/>
              <a:ea typeface="JetBrains Mono"/>
            </a:endParaRPr>
          </a:p>
        </p:txBody>
      </p:sp>
      <p:sp>
        <p:nvSpPr>
          <p:cNvPr id="1786" name="文本框 1785" descr="{&quot;isTemplate&quot;:true,&quot;type&quot;:&quot;text&quot;}"/>
          <p:cNvSpPr txBox="1"/>
          <p:nvPr/>
        </p:nvSpPr>
        <p:spPr>
          <a:xfrm>
            <a:off x="5467350" y="3886200"/>
            <a:ext cx="5924550" cy="5524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85000"/>
              </a:lnSpc>
            </a:pPr>
            <a:r>
              <a:rPr lang="en-US" sz="975">
                <a:solidFill>
                  <a:srgbClr val="F59E0B"/>
                </a:solidFill>
                <a:latin typeface="JetBrains Mono"/>
                <a:ea typeface="JetBrains Mono"/>
              </a:rPr>
              <a:t>@@@@@…</a:t>
            </a:r>
            <a:r>
              <a:rPr lang="zh-CN" sz="975">
                <a:solidFill>
                  <a:srgbClr val="F59E0B"/>
                </a:solidFill>
                <a:latin typeface="JetBrains Mono"/>
                <a:ea typeface="JetBrains Mono"/>
              </a:rPr>
              <a:t>　</a:t>
            </a:r>
            <a:r>
              <a:rPr lang="en-US" sz="975">
                <a:solidFill>
                  <a:srgbClr val="F59E0B"/>
                </a:solidFill>
                <a:latin typeface="JetBrains Mono"/>
                <a:ea typeface="JetBrains Mono"/>
              </a:rPr>
              <a:t>user_info</a:t>
            </a:r>
            <a:r>
              <a:rPr lang="zh-CN" sz="975">
                <a:solidFill>
                  <a:srgbClr val="F59E0B"/>
                </a:solidFill>
                <a:latin typeface="JetBrains Mono"/>
                <a:ea typeface="JetBrains Mono"/>
              </a:rPr>
              <a:t>　　　←</a:t>
            </a:r>
            <a:r>
              <a:rPr lang="en-US" sz="975">
                <a:solidFill>
                  <a:srgbClr val="F59E0B"/>
                </a:solidFill>
                <a:latin typeface="JetBrains Mono"/>
                <a:ea typeface="JetBrains Mono"/>
              </a:rPr>
              <a:t> UserPO.tableName()</a:t>
            </a:r>
            <a:endParaRPr lang="en-US" sz="975">
              <a:solidFill>
                <a:srgbClr val="F59E0B"/>
              </a:solidFill>
              <a:latin typeface="JetBrains Mono"/>
              <a:ea typeface="JetBrains Mono"/>
            </a:endParaRPr>
          </a:p>
          <a:p>
            <a:pPr>
              <a:lnSpc>
                <a:spcPct val="185000"/>
              </a:lnSpc>
            </a:pPr>
            <a:r>
              <a:rPr lang="en-US" sz="975">
                <a:solidFill>
                  <a:srgbClr val="F59E0B"/>
                </a:solidFill>
                <a:latin typeface="JetBrains Mono"/>
                <a:ea typeface="JetBrains Mono"/>
              </a:rPr>
              <a:t>@@@@@…</a:t>
            </a:r>
            <a:r>
              <a:rPr lang="zh-CN" sz="975">
                <a:solidFill>
                  <a:srgbClr val="F59E0B"/>
                </a:solidFill>
                <a:latin typeface="JetBrains Mono"/>
                <a:ea typeface="JetBrains Mono"/>
              </a:rPr>
              <a:t>　</a:t>
            </a:r>
            <a:r>
              <a:rPr lang="en-US" sz="975">
                <a:solidFill>
                  <a:srgbClr val="F59E0B"/>
                </a:solidFill>
                <a:latin typeface="JetBrains Mono"/>
                <a:ea typeface="JetBrains Mono"/>
              </a:rPr>
              <a:t>t_user_info</a:t>
            </a:r>
            <a:r>
              <a:rPr lang="zh-CN" sz="975">
                <a:solidFill>
                  <a:srgbClr val="F59E0B"/>
                </a:solidFill>
                <a:latin typeface="JetBrains Mono"/>
                <a:ea typeface="JetBrains Mono"/>
              </a:rPr>
              <a:t>　　←</a:t>
            </a:r>
            <a:r>
              <a:rPr lang="en-US" sz="975">
                <a:solidFill>
                  <a:srgbClr val="F59E0B"/>
                </a:solidFill>
                <a:latin typeface="JetBrains Mono"/>
                <a:ea typeface="JetBrains Mono"/>
              </a:rPr>
              <a:t> UserInfoPO.tableName()</a:t>
            </a:r>
            <a:r>
              <a:rPr lang="zh-CN" sz="975">
                <a:solidFill>
                  <a:srgbClr val="F59E0B"/>
                </a:solidFill>
                <a:latin typeface="JetBrains Mono"/>
                <a:ea typeface="JetBrains Mono"/>
              </a:rPr>
              <a:t>（前缀演示）</a:t>
            </a:r>
            <a:endParaRPr lang="zh-CN" sz="975">
              <a:solidFill>
                <a:srgbClr val="F59E0B"/>
              </a:solidFill>
              <a:latin typeface="JetBrains Mono"/>
              <a:ea typeface="JetBrains Mono"/>
            </a:endParaRPr>
          </a:p>
        </p:txBody>
      </p:sp>
      <p:sp>
        <p:nvSpPr>
          <p:cNvPr id="1787" name="文本框 1786" descr="{&quot;isTemplate&quot;:true,&quot;type&quot;:&quot;text&quot;}"/>
          <p:cNvSpPr txBox="1"/>
          <p:nvPr/>
        </p:nvSpPr>
        <p:spPr>
          <a:xfrm>
            <a:off x="5467350" y="5514975"/>
            <a:ext cx="5924550" cy="581025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80000"/>
              </a:lnSpc>
            </a:pPr>
            <a:r>
              <a:rPr lang="en-US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8 </a:t>
            </a:r>
            <a:r>
              <a:rPr lang="zh-CN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行字母标号，走完了「对象→对象」「对象→</a:t>
            </a:r>
            <a:r>
              <a:rPr lang="en-US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JSON</a:t>
            </a:r>
            <a:r>
              <a:rPr lang="zh-CN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」「</a:t>
            </a:r>
            <a:r>
              <a:rPr lang="en-US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JSON→</a:t>
            </a:r>
            <a:r>
              <a:rPr lang="zh-CN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对象」「</a:t>
            </a:r>
            <a:r>
              <a:rPr lang="en-US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Map→</a:t>
            </a:r>
            <a:r>
              <a:rPr lang="zh-CN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对象」四条路。这些代码不需要你写，全部是宏生成的。</a:t>
            </a:r>
            <a:endParaRPr lang="zh-CN" sz="1050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788" name="任意多边形 1787"/>
          <p:cNvSpPr/>
          <p:nvPr/>
        </p:nvSpPr>
        <p:spPr>
          <a:xfrm>
            <a:off x="609600" y="6286500"/>
            <a:ext cx="10972800" cy="381000"/>
          </a:xfrm>
          <a:custGeom>
            <a:avLst/>
            <a:gdLst/>
            <a:ahLst/>
            <a:cxnLst/>
            <a:pathLst>
              <a:path w="1152" h="40">
                <a:moveTo>
                  <a:pt x="0" y="0"/>
                </a:moveTo>
                <a:lnTo>
                  <a:pt x="1152" y="0"/>
                </a:lnTo>
                <a:lnTo>
                  <a:pt x="1152" y="1"/>
                </a:lnTo>
                <a:lnTo>
                  <a:pt x="0" y="1"/>
                </a:lnTo>
                <a:close/>
              </a:path>
            </a:pathLst>
          </a:custGeom>
          <a:solidFill>
            <a:srgbClr val="1E293B"/>
          </a:solidFill>
        </p:spPr>
        <p:txBody>
          <a:bodyPr/>
          <a:p/>
        </p:txBody>
      </p:sp>
      <p:sp>
        <p:nvSpPr>
          <p:cNvPr id="1789" name="文本框 1788" descr="{&quot;isTemplate&quot;:true,&quot;type&quot;:&quot;text&quot;}"/>
          <p:cNvSpPr txBox="1"/>
          <p:nvPr/>
        </p:nvSpPr>
        <p:spPr>
          <a:xfrm>
            <a:off x="609600" y="6410325"/>
            <a:ext cx="2219325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fountain · 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一站式服务器应用开发工具库</a:t>
            </a:r>
            <a:endParaRPr lang="zh-CN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790" name="文本框 1789" descr="{&quot;isTemplate&quot;:true,&quot;type&quot;:&quot;text&quot;}"/>
          <p:cNvSpPr txBox="1"/>
          <p:nvPr/>
        </p:nvSpPr>
        <p:spPr>
          <a:xfrm>
            <a:off x="11087100" y="6410325"/>
            <a:ext cx="495300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54 / 116</a:t>
            </a:r>
            <a:endParaRPr lang="en-US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79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2" name="矩形 179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220"/>
          </a:solidFill>
        </p:spPr>
        <p:txBody>
          <a:bodyPr/>
          <a:p/>
        </p:txBody>
      </p:sp>
      <p:sp>
        <p:nvSpPr>
          <p:cNvPr id="1793" name="矩形 1792"/>
          <p:cNvSpPr/>
          <p:nvPr/>
        </p:nvSpPr>
        <p:spPr>
          <a:xfrm>
            <a:off x="609600" y="476250"/>
            <a:ext cx="38100" cy="381000"/>
          </a:xfrm>
          <a:prstGeom prst="rect">
            <a:avLst/>
          </a:prstGeom>
          <a:solidFill>
            <a:srgbClr val="38BDF8"/>
          </a:solidFill>
        </p:spPr>
        <p:txBody>
          <a:bodyPr/>
          <a:p/>
        </p:txBody>
      </p:sp>
      <p:sp>
        <p:nvSpPr>
          <p:cNvPr id="1794" name="文本框 1793" descr="{&quot;isTemplate&quot;:true,&quot;type&quot;:&quot;text&quot;}"/>
          <p:cNvSpPr txBox="1"/>
          <p:nvPr/>
        </p:nvSpPr>
        <p:spPr>
          <a:xfrm>
            <a:off x="819150" y="304800"/>
            <a:ext cx="10096500" cy="2095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第</a:t>
            </a: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 9 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章</a:t>
            </a: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 · 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工具箱</a:t>
            </a: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 f_util · 9.1 / 9.2</a:t>
            </a:r>
            <a:endParaRPr lang="en-US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795" name="文本框 1794" descr="{&quot;isTemplate&quot;:true,&quot;type&quot;:&quot;text&quot;}"/>
          <p:cNvSpPr txBox="1"/>
          <p:nvPr/>
        </p:nvSpPr>
        <p:spPr>
          <a:xfrm>
            <a:off x="819150" y="514350"/>
            <a:ext cx="10096500" cy="5143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en-US" sz="2550" b="1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f_util </a:t>
            </a:r>
            <a:r>
              <a:rPr lang="zh-CN" sz="2550" b="1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全景与</a:t>
            </a:r>
            <a:r>
              <a:rPr lang="en-US" sz="2550" b="1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 UUID</a:t>
            </a:r>
            <a:endParaRPr lang="en-US" sz="2550" b="1">
              <a:solidFill>
                <a:srgbClr val="E2E8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796" name="文本框 1795" descr="{&quot;isTemplate&quot;:true,&quot;type&quot;:&quot;text&quot;}"/>
          <p:cNvSpPr txBox="1"/>
          <p:nvPr/>
        </p:nvSpPr>
        <p:spPr>
          <a:xfrm>
            <a:off x="11087100" y="590550"/>
            <a:ext cx="495300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瑞士军刀</a:t>
            </a:r>
            <a:endParaRPr lang="zh-CN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797" name="圆角矩形 1796"/>
          <p:cNvSpPr/>
          <p:nvPr/>
        </p:nvSpPr>
        <p:spPr>
          <a:xfrm>
            <a:off x="609600" y="1143000"/>
            <a:ext cx="4572000" cy="5143500"/>
          </a:xfrm>
          <a:prstGeom prst="roundRect">
            <a:avLst>
              <a:gd name="adj" fmla="val 2500"/>
            </a:avLst>
          </a:prstGeom>
          <a:solidFill>
            <a:srgbClr val="111C2E"/>
          </a:solidFill>
          <a:ln w="12700">
            <a:solidFill>
              <a:srgbClr val="1E293B"/>
            </a:solidFill>
            <a:prstDash val="solid"/>
          </a:ln>
        </p:spPr>
        <p:txBody>
          <a:bodyPr/>
          <a:p/>
        </p:txBody>
      </p:sp>
      <p:sp>
        <p:nvSpPr>
          <p:cNvPr id="1798" name="文本框 1797" descr="{&quot;isTemplate&quot;:true,&quot;type&quot;:&quot;text&quot;}"/>
          <p:cNvSpPr txBox="1"/>
          <p:nvPr/>
        </p:nvSpPr>
        <p:spPr>
          <a:xfrm>
            <a:off x="800100" y="1333500"/>
            <a:ext cx="4191000" cy="1905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先给一个全景</a:t>
            </a:r>
            <a:endParaRPr lang="zh-CN" sz="1200" b="1">
              <a:solidFill>
                <a:srgbClr val="E2E8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graphicFrame>
        <p:nvGraphicFramePr>
          <p:cNvPr id="1799" name="表格 1798"/>
          <p:cNvGraphicFramePr/>
          <p:nvPr/>
        </p:nvGraphicFramePr>
        <p:xfrm>
          <a:off x="800100" y="1638300"/>
          <a:ext cx="4191000" cy="4305300"/>
        </p:xfrm>
        <a:graphic>
          <a:graphicData uri="http://schemas.openxmlformats.org/drawingml/2006/table">
            <a:tbl>
              <a:tblPr/>
              <a:tblGrid>
                <a:gridCol w="656530"/>
                <a:gridCol w="3534470"/>
              </a:tblGrid>
              <a:tr h="516925"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 b="1">
                          <a:solidFill>
                            <a:srgbClr val="22D3EE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类别</a:t>
                      </a:r>
                      <a:endParaRPr sz="975" b="1">
                        <a:solidFill>
                          <a:srgbClr val="22D3EE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6233A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 b="1">
                          <a:solidFill>
                            <a:srgbClr val="22D3EE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成员</a:t>
                      </a:r>
                      <a:endParaRPr sz="975" b="1">
                        <a:solidFill>
                          <a:srgbClr val="22D3EE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6233A"/>
                    </a:solidFill>
                  </a:tcPr>
                </a:tc>
              </a:tr>
              <a:tr h="516925"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ID</a:t>
                      </a:r>
                      <a:endParaRPr sz="975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UUID · @IsUUID · IdMaker</a:t>
                      </a:r>
                      <a:endParaRPr sz="975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516925"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文本</a:t>
                      </a:r>
                      <a:endParaRPr sz="975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TextTemplate · CaseFormat</a:t>
                      </a:r>
                      <a:endParaRPr sz="975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516925"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结构</a:t>
                      </a:r>
                      <a:endParaRPr sz="975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PathPattern · TreeTransformer</a:t>
                      </a:r>
                      <a:endParaRPr sz="975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860337"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设计模式骨架</a:t>
                      </a:r>
                      <a:endParaRPr sz="975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Factory · Strategy/Strategies · ResponsibilityChain · Mediator · StatePattern</a:t>
                      </a:r>
                      <a:endParaRPr sz="975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860337"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哈希 / 摘要</a:t>
                      </a:r>
                      <a:endParaRPr sz="975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crc16 · crc32 · crc64 · CityHash · MurmurHash3X128 · wyhash · UInt128</a:t>
                      </a:r>
                      <a:endParaRPr sz="975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516925"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其它</a:t>
                      </a:r>
                      <a:endParaRPr sz="975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geohash · DiffieHellmanKeyExchanger · prime</a:t>
                      </a:r>
                      <a:endParaRPr sz="975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</a:tbl>
          </a:graphicData>
        </a:graphic>
      </p:graphicFrame>
      <p:sp>
        <p:nvSpPr>
          <p:cNvPr id="1800" name="圆角矩形 1799"/>
          <p:cNvSpPr/>
          <p:nvPr/>
        </p:nvSpPr>
        <p:spPr>
          <a:xfrm>
            <a:off x="5372100" y="1143000"/>
            <a:ext cx="6210300" cy="2628900"/>
          </a:xfrm>
          <a:prstGeom prst="roundRect">
            <a:avLst>
              <a:gd name="adj" fmla="val 4348"/>
            </a:avLst>
          </a:prstGeom>
          <a:solidFill>
            <a:srgbClr val="111C2E"/>
          </a:solidFill>
          <a:ln w="12700">
            <a:solidFill>
              <a:srgbClr val="38BDF8"/>
            </a:solidFill>
            <a:prstDash val="solid"/>
          </a:ln>
        </p:spPr>
        <p:txBody>
          <a:bodyPr/>
          <a:p/>
        </p:txBody>
      </p:sp>
      <p:sp>
        <p:nvSpPr>
          <p:cNvPr id="1801" name="文本框 1800" descr="{&quot;isTemplate&quot;:true,&quot;type&quot;:&quot;text&quot;}"/>
          <p:cNvSpPr txBox="1"/>
          <p:nvPr/>
        </p:nvSpPr>
        <p:spPr>
          <a:xfrm>
            <a:off x="5562600" y="1333500"/>
            <a:ext cx="5829300" cy="2095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 b="1">
                <a:solidFill>
                  <a:srgbClr val="38BDF8"/>
                </a:solidFill>
                <a:latin typeface="微软雅黑" panose="020B0503020204020204" charset="-122"/>
                <a:ea typeface="微软雅黑" panose="020B0503020204020204" charset="-122"/>
              </a:rPr>
              <a:t>UUID</a:t>
            </a:r>
            <a:r>
              <a:rPr lang="zh-CN" sz="1350" b="1">
                <a:solidFill>
                  <a:srgbClr val="38BDF8"/>
                </a:solidFill>
                <a:latin typeface="微软雅黑" panose="020B0503020204020204" charset="-122"/>
                <a:ea typeface="微软雅黑" panose="020B0503020204020204" charset="-122"/>
              </a:rPr>
              <a:t>：</a:t>
            </a:r>
            <a:r>
              <a:rPr lang="en-US" sz="1350" b="1">
                <a:solidFill>
                  <a:srgbClr val="38BDF8"/>
                </a:solidFill>
                <a:latin typeface="微软雅黑" panose="020B0503020204020204" charset="-122"/>
                <a:ea typeface="微软雅黑" panose="020B0503020204020204" charset="-122"/>
              </a:rPr>
              <a:t>v1 / v3 / v4 / v5 / v6 / v7 / v8 </a:t>
            </a:r>
            <a:r>
              <a:rPr lang="zh-CN" sz="1350" b="1">
                <a:solidFill>
                  <a:srgbClr val="38BDF8"/>
                </a:solidFill>
                <a:latin typeface="微软雅黑" panose="020B0503020204020204" charset="-122"/>
                <a:ea typeface="微软雅黑" panose="020B0503020204020204" charset="-122"/>
              </a:rPr>
              <a:t>全支持</a:t>
            </a:r>
            <a:endParaRPr lang="zh-CN" sz="1350" b="1">
              <a:solidFill>
                <a:srgbClr val="38BDF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802" name="文本框 1801" descr="{&quot;isTemplate&quot;:true,&quot;type&quot;:&quot;text&quot;}"/>
          <p:cNvSpPr txBox="1"/>
          <p:nvPr/>
        </p:nvSpPr>
        <p:spPr>
          <a:xfrm>
            <a:off x="5562600" y="1638300"/>
            <a:ext cx="5829300" cy="561975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75000"/>
              </a:lnSpc>
            </a:pPr>
            <a:r>
              <a:rPr lang="zh-CN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参照</a:t>
            </a:r>
            <a:r>
              <a:rPr lang="en-US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RFC 4122bis </a:t>
            </a:r>
            <a:r>
              <a:rPr lang="zh-CN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草案实现。它实现了</a:t>
            </a:r>
            <a:r>
              <a:rPr lang="en-US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DataFields </a:t>
            </a:r>
            <a:r>
              <a:rPr lang="zh-CN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与</a:t>
            </a:r>
            <a:r>
              <a:rPr lang="en-US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DataParsable</a:t>
            </a:r>
            <a:r>
              <a:rPr lang="zh-CN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，所以天然能进</a:t>
            </a:r>
            <a:r>
              <a:rPr lang="en-US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f_data </a:t>
            </a:r>
            <a:r>
              <a:rPr lang="zh-CN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体系：可直接作为</a:t>
            </a:r>
            <a:r>
              <a:rPr lang="en-US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PO </a:t>
            </a:r>
            <a:r>
              <a:rPr lang="zh-CN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字段、被</a:t>
            </a:r>
            <a:r>
              <a:rPr lang="en-US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populate </a:t>
            </a:r>
            <a:r>
              <a:rPr lang="zh-CN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复制、与</a:t>
            </a:r>
            <a:r>
              <a:rPr lang="en-US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JSON </a:t>
            </a:r>
            <a:r>
              <a:rPr lang="zh-CN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互转，不需要胶水代码。</a:t>
            </a:r>
            <a:endParaRPr lang="zh-CN" sz="1050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803" name="文本框 1802" descr="{&quot;isTemplate&quot;:true,&quot;type&quot;:&quot;text&quot;}"/>
          <p:cNvSpPr txBox="1"/>
          <p:nvPr/>
        </p:nvSpPr>
        <p:spPr>
          <a:xfrm>
            <a:off x="5562600" y="3067050"/>
            <a:ext cx="5829300" cy="514350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en-US" sz="975">
                <a:solidFill>
                  <a:srgbClr val="64748B"/>
                </a:solidFill>
                <a:latin typeface="JetBrains Mono"/>
                <a:ea typeface="JetBrains Mono"/>
              </a:rPr>
              <a:t>public struct UUID &lt;: Hashable &amp; Comparable&lt;UUID&gt; &amp; ToString &amp; Parsable&lt;UUID&gt; &amp; DataParsable&lt;UUID&gt; &amp; DataFields&lt;UUID&gt;</a:t>
            </a:r>
            <a:endParaRPr lang="en-US" sz="975">
              <a:solidFill>
                <a:srgbClr val="64748B"/>
              </a:solidFill>
              <a:latin typeface="JetBrains Mono"/>
              <a:ea typeface="JetBrains Mono"/>
            </a:endParaRPr>
          </a:p>
        </p:txBody>
      </p:sp>
      <p:sp>
        <p:nvSpPr>
          <p:cNvPr id="1804" name="圆角矩形 1803"/>
          <p:cNvSpPr/>
          <p:nvPr/>
        </p:nvSpPr>
        <p:spPr>
          <a:xfrm>
            <a:off x="5372100" y="3905250"/>
            <a:ext cx="6210300" cy="2381250"/>
          </a:xfrm>
          <a:prstGeom prst="roundRect">
            <a:avLst>
              <a:gd name="adj" fmla="val 4800"/>
            </a:avLst>
          </a:prstGeom>
          <a:solidFill>
            <a:srgbClr val="0B1220"/>
          </a:solidFill>
          <a:ln w="12700">
            <a:solidFill>
              <a:srgbClr val="1E293B"/>
            </a:solidFill>
            <a:prstDash val="solid"/>
          </a:ln>
        </p:spPr>
        <p:txBody>
          <a:bodyPr/>
          <a:p/>
        </p:txBody>
      </p:sp>
      <p:sp>
        <p:nvSpPr>
          <p:cNvPr id="1805" name="文本框 1804" descr="{&quot;isTemplate&quot;:true,&quot;type&quot;:&quot;text&quot;}"/>
          <p:cNvSpPr txBox="1"/>
          <p:nvPr/>
        </p:nvSpPr>
        <p:spPr>
          <a:xfrm>
            <a:off x="5543550" y="4076700"/>
            <a:ext cx="5867400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工厂函数</a:t>
            </a:r>
            <a:endParaRPr lang="zh-CN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806" name="文本框 1805" descr="{&quot;isTemplate&quot;:true,&quot;type&quot;:&quot;text&quot;}"/>
          <p:cNvSpPr txBox="1"/>
          <p:nvPr/>
        </p:nvSpPr>
        <p:spPr>
          <a:xfrm>
            <a:off x="5543550" y="4305300"/>
            <a:ext cx="5867400" cy="2571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en-US" sz="975">
                <a:solidFill>
                  <a:srgbClr val="E2E8F0"/>
                </a:solidFill>
                <a:latin typeface="JetBrains Mono"/>
                <a:ea typeface="JetBrains Mono"/>
              </a:rPr>
              <a:t>UUID.random()</a:t>
            </a:r>
            <a:r>
              <a:rPr lang="zh-CN" sz="975">
                <a:solidFill>
                  <a:srgbClr val="E2E8F0"/>
                </a:solidFill>
                <a:latin typeface="JetBrains Mono"/>
                <a:ea typeface="JetBrains Mono"/>
              </a:rPr>
              <a:t>　　　　　</a:t>
            </a:r>
            <a:r>
              <a:rPr lang="en-US" sz="975">
                <a:solidFill>
                  <a:srgbClr val="E2E8F0"/>
                </a:solidFill>
                <a:latin typeface="JetBrains Mono"/>
                <a:ea typeface="JetBrains Mono"/>
              </a:rPr>
              <a:t>v4 </a:t>
            </a:r>
            <a:r>
              <a:rPr lang="zh-CN" sz="975">
                <a:solidFill>
                  <a:srgbClr val="E2E8F0"/>
                </a:solidFill>
                <a:latin typeface="JetBrains Mono"/>
                <a:ea typeface="JetBrains Mono"/>
              </a:rPr>
              <a:t>随机</a:t>
            </a:r>
            <a:endParaRPr lang="zh-CN" sz="975">
              <a:solidFill>
                <a:srgbClr val="E2E8F0"/>
              </a:solidFill>
              <a:latin typeface="JetBrains Mono"/>
              <a:ea typeface="JetBrains Mono"/>
            </a:endParaRPr>
          </a:p>
        </p:txBody>
      </p:sp>
      <p:sp>
        <p:nvSpPr>
          <p:cNvPr id="1807" name="文本框 1806" descr="{&quot;isTemplate&quot;:true,&quot;type&quot;:&quot;text&quot;}"/>
          <p:cNvSpPr txBox="1"/>
          <p:nvPr/>
        </p:nvSpPr>
        <p:spPr>
          <a:xfrm>
            <a:off x="5543550" y="4562475"/>
            <a:ext cx="5867400" cy="2571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en-US" sz="975">
                <a:solidFill>
                  <a:srgbClr val="F59E0B"/>
                </a:solidFill>
                <a:latin typeface="JetBrains Mono"/>
                <a:ea typeface="JetBrains Mono"/>
              </a:rPr>
              <a:t>UUID.unixTimeBased()</a:t>
            </a:r>
            <a:r>
              <a:rPr lang="zh-CN" sz="975">
                <a:solidFill>
                  <a:srgbClr val="F59E0B"/>
                </a:solidFill>
                <a:latin typeface="JetBrains Mono"/>
                <a:ea typeface="JetBrains Mono"/>
              </a:rPr>
              <a:t>　</a:t>
            </a:r>
            <a:r>
              <a:rPr lang="en-US" sz="975">
                <a:solidFill>
                  <a:srgbClr val="F59E0B"/>
                </a:solidFill>
                <a:latin typeface="JetBrains Mono"/>
                <a:ea typeface="JetBrains Mono"/>
              </a:rPr>
              <a:t>v7 </a:t>
            </a:r>
            <a:r>
              <a:rPr lang="zh-CN" sz="975">
                <a:solidFill>
                  <a:srgbClr val="F59E0B"/>
                </a:solidFill>
                <a:latin typeface="JetBrains Mono"/>
                <a:ea typeface="JetBrains Mono"/>
              </a:rPr>
              <a:t>毫秒时间戳</a:t>
            </a:r>
            <a:r>
              <a:rPr lang="en-US" sz="975">
                <a:solidFill>
                  <a:srgbClr val="F59E0B"/>
                </a:solidFill>
                <a:latin typeface="JetBrains Mono"/>
                <a:ea typeface="JetBrains Mono"/>
              </a:rPr>
              <a:t> + </a:t>
            </a:r>
            <a:r>
              <a:rPr lang="zh-CN" sz="975">
                <a:solidFill>
                  <a:srgbClr val="F59E0B"/>
                </a:solidFill>
                <a:latin typeface="JetBrains Mono"/>
                <a:ea typeface="JetBrains Mono"/>
              </a:rPr>
              <a:t>随机，时间有序，适合做主键</a:t>
            </a:r>
            <a:endParaRPr lang="zh-CN" sz="975">
              <a:solidFill>
                <a:srgbClr val="F59E0B"/>
              </a:solidFill>
              <a:latin typeface="JetBrains Mono"/>
              <a:ea typeface="JetBrains Mono"/>
            </a:endParaRPr>
          </a:p>
        </p:txBody>
      </p:sp>
      <p:sp>
        <p:nvSpPr>
          <p:cNvPr id="1808" name="文本框 1807" descr="{&quot;isTemplate&quot;:true,&quot;type&quot;:&quot;text&quot;}"/>
          <p:cNvSpPr txBox="1"/>
          <p:nvPr/>
        </p:nvSpPr>
        <p:spPr>
          <a:xfrm>
            <a:off x="5543550" y="4819650"/>
            <a:ext cx="5867400" cy="2571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en-US" sz="975">
                <a:solidFill>
                  <a:srgbClr val="E2E8F0"/>
                </a:solidFill>
                <a:latin typeface="JetBrains Mono"/>
                <a:ea typeface="JetBrains Mono"/>
              </a:rPr>
              <a:t>UUID.timeBased()</a:t>
            </a:r>
            <a:r>
              <a:rPr lang="zh-CN" sz="975">
                <a:solidFill>
                  <a:srgbClr val="E2E8F0"/>
                </a:solidFill>
                <a:latin typeface="JetBrains Mono"/>
                <a:ea typeface="JetBrains Mono"/>
              </a:rPr>
              <a:t>　　　</a:t>
            </a:r>
            <a:r>
              <a:rPr lang="en-US" sz="975">
                <a:solidFill>
                  <a:srgbClr val="E2E8F0"/>
                </a:solidFill>
                <a:latin typeface="JetBrains Mono"/>
                <a:ea typeface="JetBrains Mono"/>
              </a:rPr>
              <a:t>v1 / v6</a:t>
            </a:r>
            <a:r>
              <a:rPr lang="zh-CN" sz="975">
                <a:solidFill>
                  <a:srgbClr val="E2E8F0"/>
                </a:solidFill>
                <a:latin typeface="JetBrains Mono"/>
                <a:ea typeface="JetBrains Mono"/>
              </a:rPr>
              <a:t>，返回</a:t>
            </a:r>
            <a:r>
              <a:rPr lang="en-US" sz="975">
                <a:solidFill>
                  <a:srgbClr val="E2E8F0"/>
                </a:solidFill>
                <a:latin typeface="JetBrains Mono"/>
                <a:ea typeface="JetBrains Mono"/>
              </a:rPr>
              <a:t> TimeBasedUUIDBuilder</a:t>
            </a:r>
            <a:endParaRPr lang="en-US" sz="975">
              <a:solidFill>
                <a:srgbClr val="E2E8F0"/>
              </a:solidFill>
              <a:latin typeface="JetBrains Mono"/>
              <a:ea typeface="JetBrains Mono"/>
            </a:endParaRPr>
          </a:p>
        </p:txBody>
      </p:sp>
      <p:sp>
        <p:nvSpPr>
          <p:cNvPr id="1809" name="文本框 1808" descr="{&quot;isTemplate&quot;:true,&quot;type&quot;:&quot;text&quot;}"/>
          <p:cNvSpPr txBox="1"/>
          <p:nvPr/>
        </p:nvSpPr>
        <p:spPr>
          <a:xfrm>
            <a:off x="5543550" y="5076825"/>
            <a:ext cx="5867400" cy="2571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en-US" sz="975">
                <a:solidFill>
                  <a:srgbClr val="E2E8F0"/>
                </a:solidFill>
                <a:latin typeface="JetBrains Mono"/>
                <a:ea typeface="JetBrains Mono"/>
              </a:rPr>
              <a:t>UUID.md5(v) / md5(b)</a:t>
            </a:r>
            <a:r>
              <a:rPr lang="zh-CN" sz="975">
                <a:solidFill>
                  <a:srgbClr val="E2E8F0"/>
                </a:solidFill>
                <a:latin typeface="JetBrains Mono"/>
                <a:ea typeface="JetBrains Mono"/>
              </a:rPr>
              <a:t>　</a:t>
            </a:r>
            <a:r>
              <a:rPr lang="en-US" sz="975">
                <a:solidFill>
                  <a:srgbClr val="E2E8F0"/>
                </a:solidFill>
                <a:latin typeface="JetBrains Mono"/>
                <a:ea typeface="JetBrains Mono"/>
              </a:rPr>
              <a:t>v3 </a:t>
            </a:r>
            <a:r>
              <a:rPr lang="zh-CN" sz="975">
                <a:solidFill>
                  <a:srgbClr val="E2E8F0"/>
                </a:solidFill>
                <a:latin typeface="JetBrains Mono"/>
                <a:ea typeface="JetBrains Mono"/>
              </a:rPr>
              <a:t>命名空间</a:t>
            </a:r>
            <a:r>
              <a:rPr lang="en-US" sz="975">
                <a:solidFill>
                  <a:srgbClr val="E2E8F0"/>
                </a:solidFill>
                <a:latin typeface="JetBrains Mono"/>
                <a:ea typeface="JetBrains Mono"/>
              </a:rPr>
              <a:t> UUID</a:t>
            </a:r>
            <a:r>
              <a:rPr lang="zh-CN" sz="975">
                <a:solidFill>
                  <a:srgbClr val="E2E8F0"/>
                </a:solidFill>
                <a:latin typeface="JetBrains Mono"/>
                <a:ea typeface="JetBrains Mono"/>
              </a:rPr>
              <a:t>（同名输入恒等）</a:t>
            </a:r>
            <a:endParaRPr lang="zh-CN" sz="975">
              <a:solidFill>
                <a:srgbClr val="E2E8F0"/>
              </a:solidFill>
              <a:latin typeface="JetBrains Mono"/>
              <a:ea typeface="JetBrains Mono"/>
            </a:endParaRPr>
          </a:p>
        </p:txBody>
      </p:sp>
      <p:sp>
        <p:nvSpPr>
          <p:cNvPr id="1810" name="文本框 1809" descr="{&quot;isTemplate&quot;:true,&quot;type&quot;:&quot;text&quot;}"/>
          <p:cNvSpPr txBox="1"/>
          <p:nvPr/>
        </p:nvSpPr>
        <p:spPr>
          <a:xfrm>
            <a:off x="5543550" y="5334000"/>
            <a:ext cx="5867400" cy="2571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en-US" sz="975">
                <a:solidFill>
                  <a:srgbClr val="E2E8F0"/>
                </a:solidFill>
                <a:latin typeface="JetBrains Mono"/>
                <a:ea typeface="JetBrains Mono"/>
              </a:rPr>
              <a:t>UUID.sha1(v) / randomMd5 / randomSha1</a:t>
            </a:r>
            <a:r>
              <a:rPr lang="zh-CN" sz="975">
                <a:solidFill>
                  <a:srgbClr val="E2E8F0"/>
                </a:solidFill>
                <a:latin typeface="JetBrains Mono"/>
                <a:ea typeface="JetBrains Mono"/>
              </a:rPr>
              <a:t>　　　</a:t>
            </a:r>
            <a:r>
              <a:rPr lang="en-US" sz="975">
                <a:solidFill>
                  <a:srgbClr val="E2E8F0"/>
                </a:solidFill>
                <a:latin typeface="JetBrains Mono"/>
                <a:ea typeface="JetBrains Mono"/>
              </a:rPr>
              <a:t>v5</a:t>
            </a:r>
            <a:endParaRPr lang="en-US" sz="975">
              <a:solidFill>
                <a:srgbClr val="E2E8F0"/>
              </a:solidFill>
              <a:latin typeface="JetBrains Mono"/>
              <a:ea typeface="JetBrains Mono"/>
            </a:endParaRPr>
          </a:p>
        </p:txBody>
      </p:sp>
      <p:sp>
        <p:nvSpPr>
          <p:cNvPr id="1811" name="文本框 1810" descr="{&quot;isTemplate&quot;:true,&quot;type&quot;:&quot;text&quot;}"/>
          <p:cNvSpPr txBox="1"/>
          <p:nvPr/>
        </p:nvSpPr>
        <p:spPr>
          <a:xfrm>
            <a:off x="5543550" y="5591175"/>
            <a:ext cx="5867400" cy="2571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en-US" sz="975">
                <a:solidFill>
                  <a:srgbClr val="E2E8F0"/>
                </a:solidFill>
                <a:latin typeface="JetBrains Mono"/>
                <a:ea typeface="JetBrains Mono"/>
              </a:rPr>
              <a:t>UUID.custom(values)</a:t>
            </a:r>
            <a:r>
              <a:rPr lang="zh-CN" sz="975">
                <a:solidFill>
                  <a:srgbClr val="E2E8F0"/>
                </a:solidFill>
                <a:latin typeface="JetBrains Mono"/>
                <a:ea typeface="JetBrains Mono"/>
              </a:rPr>
              <a:t>　</a:t>
            </a:r>
            <a:r>
              <a:rPr lang="en-US" sz="975">
                <a:solidFill>
                  <a:srgbClr val="E2E8F0"/>
                </a:solidFill>
                <a:latin typeface="JetBrains Mono"/>
                <a:ea typeface="JetBrains Mono"/>
              </a:rPr>
              <a:t> v8 </a:t>
            </a:r>
            <a:r>
              <a:rPr lang="zh-CN" sz="975">
                <a:solidFill>
                  <a:srgbClr val="E2E8F0"/>
                </a:solidFill>
                <a:latin typeface="JetBrains Mono"/>
                <a:ea typeface="JetBrains Mono"/>
              </a:rPr>
              <a:t>自定义，只取前</a:t>
            </a:r>
            <a:r>
              <a:rPr lang="en-US" sz="975">
                <a:solidFill>
                  <a:srgbClr val="E2E8F0"/>
                </a:solidFill>
                <a:latin typeface="JetBrains Mono"/>
                <a:ea typeface="JetBrains Mono"/>
              </a:rPr>
              <a:t> 16 </a:t>
            </a:r>
            <a:r>
              <a:rPr lang="zh-CN" sz="975">
                <a:solidFill>
                  <a:srgbClr val="E2E8F0"/>
                </a:solidFill>
                <a:latin typeface="JetBrains Mono"/>
                <a:ea typeface="JetBrains Mono"/>
              </a:rPr>
              <a:t>字节</a:t>
            </a:r>
            <a:endParaRPr lang="zh-CN" sz="975">
              <a:solidFill>
                <a:srgbClr val="E2E8F0"/>
              </a:solidFill>
              <a:latin typeface="JetBrains Mono"/>
              <a:ea typeface="JetBrains Mono"/>
            </a:endParaRPr>
          </a:p>
        </p:txBody>
      </p:sp>
      <p:sp>
        <p:nvSpPr>
          <p:cNvPr id="1812" name="文本框 1811" descr="{&quot;isTemplate&quot;:true,&quot;type&quot;:&quot;text&quot;}"/>
          <p:cNvSpPr txBox="1"/>
          <p:nvPr/>
        </p:nvSpPr>
        <p:spPr>
          <a:xfrm>
            <a:off x="5543550" y="5848350"/>
            <a:ext cx="5867400" cy="2571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en-US" sz="975">
                <a:solidFill>
                  <a:srgbClr val="E2E8F0"/>
                </a:solidFill>
                <a:latin typeface="JetBrains Mono"/>
                <a:ea typeface="JetBrains Mono"/>
              </a:rPr>
              <a:t>UUID.parse(s) / tryParse(s)</a:t>
            </a:r>
            <a:r>
              <a:rPr lang="zh-CN" sz="975">
                <a:solidFill>
                  <a:srgbClr val="E2E8F0"/>
                </a:solidFill>
                <a:latin typeface="JetBrains Mono"/>
                <a:ea typeface="JetBrains Mono"/>
              </a:rPr>
              <a:t>　·　</a:t>
            </a:r>
            <a:r>
              <a:rPr lang="en-US" sz="975">
                <a:solidFill>
                  <a:srgbClr val="E2E8F0"/>
                </a:solidFill>
                <a:latin typeface="JetBrains Mono"/>
                <a:ea typeface="JetBrains Mono"/>
              </a:rPr>
              <a:t>id.toHexString() / id.version</a:t>
            </a:r>
            <a:endParaRPr lang="en-US" sz="975">
              <a:solidFill>
                <a:srgbClr val="E2E8F0"/>
              </a:solidFill>
              <a:latin typeface="JetBrains Mono"/>
              <a:ea typeface="JetBrains Mono"/>
            </a:endParaRPr>
          </a:p>
        </p:txBody>
      </p:sp>
      <p:sp>
        <p:nvSpPr>
          <p:cNvPr id="1813" name="任意多边形 1812"/>
          <p:cNvSpPr/>
          <p:nvPr/>
        </p:nvSpPr>
        <p:spPr>
          <a:xfrm>
            <a:off x="609600" y="6286500"/>
            <a:ext cx="10972800" cy="381000"/>
          </a:xfrm>
          <a:custGeom>
            <a:avLst/>
            <a:gdLst/>
            <a:ahLst/>
            <a:cxnLst/>
            <a:pathLst>
              <a:path w="1152" h="40">
                <a:moveTo>
                  <a:pt x="0" y="0"/>
                </a:moveTo>
                <a:lnTo>
                  <a:pt x="1152" y="0"/>
                </a:lnTo>
                <a:lnTo>
                  <a:pt x="1152" y="1"/>
                </a:lnTo>
                <a:lnTo>
                  <a:pt x="0" y="1"/>
                </a:lnTo>
                <a:close/>
              </a:path>
            </a:pathLst>
          </a:custGeom>
          <a:solidFill>
            <a:srgbClr val="1E293B"/>
          </a:solidFill>
        </p:spPr>
        <p:txBody>
          <a:bodyPr/>
          <a:p/>
        </p:txBody>
      </p:sp>
      <p:sp>
        <p:nvSpPr>
          <p:cNvPr id="1814" name="文本框 1813" descr="{&quot;isTemplate&quot;:true,&quot;type&quot;:&quot;text&quot;}"/>
          <p:cNvSpPr txBox="1"/>
          <p:nvPr/>
        </p:nvSpPr>
        <p:spPr>
          <a:xfrm>
            <a:off x="609600" y="6410325"/>
            <a:ext cx="2219325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fountain · 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一站式服务器应用开发工具库</a:t>
            </a:r>
            <a:endParaRPr lang="zh-CN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815" name="文本框 1814" descr="{&quot;isTemplate&quot;:true,&quot;type&quot;:&quot;text&quot;}"/>
          <p:cNvSpPr txBox="1"/>
          <p:nvPr/>
        </p:nvSpPr>
        <p:spPr>
          <a:xfrm>
            <a:off x="11087100" y="6410325"/>
            <a:ext cx="495300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55 / 116</a:t>
            </a:r>
            <a:endParaRPr lang="en-US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81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7" name="矩形 1816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220"/>
          </a:solidFill>
        </p:spPr>
        <p:txBody>
          <a:bodyPr/>
          <a:p/>
        </p:txBody>
      </p:sp>
      <p:sp>
        <p:nvSpPr>
          <p:cNvPr id="1818" name="矩形 1817"/>
          <p:cNvSpPr/>
          <p:nvPr/>
        </p:nvSpPr>
        <p:spPr>
          <a:xfrm>
            <a:off x="609600" y="476250"/>
            <a:ext cx="38100" cy="381000"/>
          </a:xfrm>
          <a:prstGeom prst="rect">
            <a:avLst/>
          </a:prstGeom>
          <a:solidFill>
            <a:srgbClr val="38BDF8"/>
          </a:solidFill>
        </p:spPr>
        <p:txBody>
          <a:bodyPr/>
          <a:p/>
        </p:txBody>
      </p:sp>
      <p:sp>
        <p:nvSpPr>
          <p:cNvPr id="1819" name="文本框 1818" descr="{&quot;isTemplate&quot;:true,&quot;type&quot;:&quot;text&quot;}"/>
          <p:cNvSpPr txBox="1"/>
          <p:nvPr/>
        </p:nvSpPr>
        <p:spPr>
          <a:xfrm>
            <a:off x="819150" y="304800"/>
            <a:ext cx="9439275" cy="2095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第</a:t>
            </a: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 9 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章</a:t>
            </a: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 · 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工具箱</a:t>
            </a: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 f_util · 9.3 / 9.4</a:t>
            </a:r>
            <a:endParaRPr lang="en-US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820" name="文本框 1819" descr="{&quot;isTemplate&quot;:true,&quot;type&quot;:&quot;text&quot;}"/>
          <p:cNvSpPr txBox="1"/>
          <p:nvPr/>
        </p:nvSpPr>
        <p:spPr>
          <a:xfrm>
            <a:off x="819150" y="514350"/>
            <a:ext cx="9439275" cy="5143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en-US" sz="2550" b="1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IsUUID </a:t>
            </a:r>
            <a:r>
              <a:rPr lang="zh-CN" sz="2550" b="1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注解与</a:t>
            </a:r>
            <a:r>
              <a:rPr lang="en-US" sz="2550" b="1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 IdMaker</a:t>
            </a:r>
            <a:endParaRPr lang="en-US" sz="2550" b="1">
              <a:solidFill>
                <a:srgbClr val="E2E8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821" name="文本框 1820" descr="{&quot;isTemplate&quot;:true,&quot;type&quot;:&quot;text&quot;}"/>
          <p:cNvSpPr txBox="1"/>
          <p:nvPr/>
        </p:nvSpPr>
        <p:spPr>
          <a:xfrm>
            <a:off x="10429875" y="590550"/>
            <a:ext cx="1152525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35 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行源码</a:t>
            </a: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 · 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雪花算法</a:t>
            </a:r>
            <a:endParaRPr lang="zh-CN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822" name="圆角矩形 1821"/>
          <p:cNvSpPr/>
          <p:nvPr/>
        </p:nvSpPr>
        <p:spPr>
          <a:xfrm>
            <a:off x="609600" y="1143000"/>
            <a:ext cx="5410200" cy="2886075"/>
          </a:xfrm>
          <a:prstGeom prst="roundRect">
            <a:avLst>
              <a:gd name="adj" fmla="val 3960"/>
            </a:avLst>
          </a:prstGeom>
          <a:solidFill>
            <a:srgbClr val="0B1220"/>
          </a:solidFill>
          <a:ln w="12700">
            <a:solidFill>
              <a:srgbClr val="1E293B"/>
            </a:solidFill>
            <a:prstDash val="solid"/>
          </a:ln>
        </p:spPr>
        <p:txBody>
          <a:bodyPr/>
          <a:p/>
        </p:txBody>
      </p:sp>
      <p:sp>
        <p:nvSpPr>
          <p:cNvPr id="1823" name="文本框 1822" descr="{&quot;isTemplate&quot;:true,&quot;type&quot;:&quot;text&quot;}"/>
          <p:cNvSpPr txBox="1"/>
          <p:nvPr/>
        </p:nvSpPr>
        <p:spPr>
          <a:xfrm>
            <a:off x="781050" y="1314450"/>
            <a:ext cx="5067300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f_util/src/IsUUID.cj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（</a:t>
            </a: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35 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行）</a:t>
            </a:r>
            <a:endParaRPr lang="zh-CN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824" name="文本框 1823" descr="{&quot;isTemplate&quot;:true,&quot;type&quot;:&quot;text&quot;}"/>
          <p:cNvSpPr txBox="1"/>
          <p:nvPr/>
        </p:nvSpPr>
        <p:spPr>
          <a:xfrm>
            <a:off x="781050" y="1543050"/>
            <a:ext cx="5067300" cy="2571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en-US" sz="975">
                <a:solidFill>
                  <a:srgbClr val="E2E8F0"/>
                </a:solidFill>
                <a:latin typeface="JetBrains Mono"/>
                <a:ea typeface="JetBrains Mono"/>
              </a:rPr>
              <a:t>@Annotation[target: [MemberVariable, MemberProperty, Parameter]]</a:t>
            </a:r>
            <a:endParaRPr lang="en-US" sz="975">
              <a:solidFill>
                <a:srgbClr val="E2E8F0"/>
              </a:solidFill>
              <a:latin typeface="JetBrains Mono"/>
              <a:ea typeface="JetBrains Mono"/>
            </a:endParaRPr>
          </a:p>
        </p:txBody>
      </p:sp>
      <p:sp>
        <p:nvSpPr>
          <p:cNvPr id="1825" name="文本框 1824" descr="{&quot;isTemplate&quot;:true,&quot;type&quot;:&quot;text&quot;}"/>
          <p:cNvSpPr txBox="1"/>
          <p:nvPr/>
        </p:nvSpPr>
        <p:spPr>
          <a:xfrm>
            <a:off x="781050" y="1800225"/>
            <a:ext cx="5067300" cy="2571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en-US" sz="975">
                <a:solidFill>
                  <a:srgbClr val="E2E8F0"/>
                </a:solidFill>
                <a:latin typeface="JetBrains Mono"/>
                <a:ea typeface="JetBrains Mono"/>
              </a:rPr>
              <a:t>public class IsUUID &lt;: Validator {</a:t>
            </a:r>
            <a:endParaRPr lang="en-US" sz="975">
              <a:solidFill>
                <a:srgbClr val="E2E8F0"/>
              </a:solidFill>
              <a:latin typeface="JetBrains Mono"/>
              <a:ea typeface="JetBrains Mono"/>
            </a:endParaRPr>
          </a:p>
        </p:txBody>
      </p:sp>
      <p:sp>
        <p:nvSpPr>
          <p:cNvPr id="1826" name="文本框 1825" descr="{&quot;isTemplate&quot;:true,&quot;type&quot;:&quot;text&quot;}"/>
          <p:cNvSpPr txBox="1"/>
          <p:nvPr/>
        </p:nvSpPr>
        <p:spPr>
          <a:xfrm>
            <a:off x="781050" y="2057400"/>
            <a:ext cx="5067300" cy="2571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en-US" sz="975">
                <a:solidFill>
                  <a:srgbClr val="38BDF8"/>
                </a:solidFill>
                <a:latin typeface="JetBrains Mono"/>
                <a:ea typeface="JetBrains Mono"/>
              </a:rPr>
              <a:t>    public func validate(value: ?String): Bool {</a:t>
            </a:r>
            <a:endParaRPr lang="en-US" sz="975">
              <a:solidFill>
                <a:srgbClr val="38BDF8"/>
              </a:solidFill>
              <a:latin typeface="JetBrains Mono"/>
              <a:ea typeface="JetBrains Mono"/>
            </a:endParaRPr>
          </a:p>
        </p:txBody>
      </p:sp>
      <p:sp>
        <p:nvSpPr>
          <p:cNvPr id="1827" name="文本框 1826" descr="{&quot;isTemplate&quot;:true,&quot;type&quot;:&quot;text&quot;}"/>
          <p:cNvSpPr txBox="1"/>
          <p:nvPr/>
        </p:nvSpPr>
        <p:spPr>
          <a:xfrm>
            <a:off x="781050" y="2314575"/>
            <a:ext cx="5067300" cy="514350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en-US" sz="975">
                <a:solidFill>
                  <a:srgbClr val="38BDF8"/>
                </a:solidFill>
                <a:latin typeface="JetBrains Mono"/>
                <a:ea typeface="JetBrains Mono"/>
              </a:rPr>
              <a:t>        if(let Some(x) &lt;- value){ UUID.tryParse(x).isSome() } else { false }</a:t>
            </a:r>
            <a:endParaRPr lang="en-US" sz="975">
              <a:solidFill>
                <a:srgbClr val="38BDF8"/>
              </a:solidFill>
              <a:latin typeface="JetBrains Mono"/>
              <a:ea typeface="JetBrains Mono"/>
            </a:endParaRPr>
          </a:p>
        </p:txBody>
      </p:sp>
      <p:sp>
        <p:nvSpPr>
          <p:cNvPr id="1828" name="文本框 1827" descr="{&quot;isTemplate&quot;:true,&quot;type&quot;:&quot;text&quot;}"/>
          <p:cNvSpPr txBox="1"/>
          <p:nvPr/>
        </p:nvSpPr>
        <p:spPr>
          <a:xfrm>
            <a:off x="781050" y="2828925"/>
            <a:ext cx="5067300" cy="2571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en-US" sz="975">
                <a:solidFill>
                  <a:srgbClr val="38BDF8"/>
                </a:solidFill>
                <a:latin typeface="JetBrains Mono"/>
                <a:ea typeface="JetBrains Mono"/>
              </a:rPr>
              <a:t>    }</a:t>
            </a:r>
            <a:endParaRPr lang="en-US" sz="975">
              <a:solidFill>
                <a:srgbClr val="38BDF8"/>
              </a:solidFill>
              <a:latin typeface="JetBrains Mono"/>
              <a:ea typeface="JetBrains Mono"/>
            </a:endParaRPr>
          </a:p>
        </p:txBody>
      </p:sp>
      <p:sp>
        <p:nvSpPr>
          <p:cNvPr id="1829" name="文本框 1828" descr="{&quot;isTemplate&quot;:true,&quot;type&quot;:&quot;text&quot;}"/>
          <p:cNvSpPr txBox="1"/>
          <p:nvPr/>
        </p:nvSpPr>
        <p:spPr>
          <a:xfrm>
            <a:off x="781050" y="3086100"/>
            <a:ext cx="5067300" cy="514350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en-US" sz="975">
                <a:solidFill>
                  <a:srgbClr val="E2E8F0"/>
                </a:solidFill>
                <a:latin typeface="JetBrains Mono"/>
                <a:ea typeface="JetBrains Mono"/>
              </a:rPr>
              <a:t>    public prop description: String { get(){ '</a:t>
            </a:r>
            <a:r>
              <a:rPr lang="zh-CN" sz="975">
                <a:solidFill>
                  <a:srgbClr val="E2E8F0"/>
                </a:solidFill>
                <a:latin typeface="JetBrains Mono"/>
                <a:ea typeface="JetBrains Mono"/>
              </a:rPr>
              <a:t>必须是</a:t>
            </a:r>
            <a:r>
              <a:rPr lang="en-US" sz="975">
                <a:solidFill>
                  <a:srgbClr val="E2E8F0"/>
                </a:solidFill>
                <a:latin typeface="JetBrains Mono"/>
                <a:ea typeface="JetBrains Mono"/>
              </a:rPr>
              <a:t>UUID</a:t>
            </a:r>
            <a:r>
              <a:rPr lang="zh-CN" sz="975">
                <a:solidFill>
                  <a:srgbClr val="E2E8F0"/>
                </a:solidFill>
                <a:latin typeface="JetBrains Mono"/>
                <a:ea typeface="JetBrains Mono"/>
              </a:rPr>
              <a:t>格式的字符串</a:t>
            </a:r>
            <a:r>
              <a:rPr lang="en-US" sz="975">
                <a:solidFill>
                  <a:srgbClr val="E2E8F0"/>
                </a:solidFill>
                <a:latin typeface="JetBrains Mono"/>
                <a:ea typeface="JetBrains Mono"/>
              </a:rPr>
              <a:t>' } }</a:t>
            </a:r>
            <a:endParaRPr lang="en-US" sz="975">
              <a:solidFill>
                <a:srgbClr val="E2E8F0"/>
              </a:solidFill>
              <a:latin typeface="JetBrains Mono"/>
              <a:ea typeface="JetBrains Mono"/>
            </a:endParaRPr>
          </a:p>
        </p:txBody>
      </p:sp>
      <p:sp>
        <p:nvSpPr>
          <p:cNvPr id="1830" name="文本框 1829" descr="{&quot;isTemplate&quot;:true,&quot;type&quot;:&quot;text&quot;}"/>
          <p:cNvSpPr txBox="1"/>
          <p:nvPr/>
        </p:nvSpPr>
        <p:spPr>
          <a:xfrm>
            <a:off x="781050" y="3600450"/>
            <a:ext cx="5067300" cy="2571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en-US" sz="975">
                <a:solidFill>
                  <a:srgbClr val="E2E8F0"/>
                </a:solidFill>
                <a:latin typeface="JetBrains Mono"/>
                <a:ea typeface="JetBrains Mono"/>
              </a:rPr>
              <a:t>}</a:t>
            </a:r>
            <a:endParaRPr lang="en-US" sz="975">
              <a:solidFill>
                <a:srgbClr val="E2E8F0"/>
              </a:solidFill>
              <a:latin typeface="JetBrains Mono"/>
              <a:ea typeface="JetBrains Mono"/>
            </a:endParaRPr>
          </a:p>
        </p:txBody>
      </p:sp>
      <p:sp>
        <p:nvSpPr>
          <p:cNvPr id="1831" name="圆角矩形 1830"/>
          <p:cNvSpPr/>
          <p:nvPr/>
        </p:nvSpPr>
        <p:spPr>
          <a:xfrm>
            <a:off x="6172200" y="1143000"/>
            <a:ext cx="5410200" cy="2533650"/>
          </a:xfrm>
          <a:prstGeom prst="roundRect">
            <a:avLst>
              <a:gd name="adj" fmla="val 4511"/>
            </a:avLst>
          </a:prstGeom>
          <a:solidFill>
            <a:srgbClr val="111C2E"/>
          </a:solidFill>
          <a:ln w="12700">
            <a:solidFill>
              <a:srgbClr val="38BDF8"/>
            </a:solidFill>
            <a:prstDash val="solid"/>
          </a:ln>
        </p:spPr>
        <p:txBody>
          <a:bodyPr/>
          <a:p/>
        </p:txBody>
      </p:sp>
      <p:sp>
        <p:nvSpPr>
          <p:cNvPr id="1832" name="文本框 1831" descr="{&quot;isTemplate&quot;:true,&quot;type&quot;:&quot;text&quot;}"/>
          <p:cNvSpPr txBox="1"/>
          <p:nvPr/>
        </p:nvSpPr>
        <p:spPr>
          <a:xfrm>
            <a:off x="6343650" y="1314450"/>
            <a:ext cx="5067300" cy="1714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38BDF8"/>
                </a:solidFill>
                <a:latin typeface="微软雅黑" panose="020B0503020204020204" charset="-122"/>
                <a:ea typeface="微软雅黑" panose="020B0503020204020204" charset="-122"/>
              </a:rPr>
              <a:t>和</a:t>
            </a:r>
            <a:r>
              <a:rPr lang="en-US" sz="1125" b="1">
                <a:solidFill>
                  <a:srgbClr val="38BDF8"/>
                </a:solidFill>
                <a:latin typeface="微软雅黑" panose="020B0503020204020204" charset="-122"/>
                <a:ea typeface="微软雅黑" panose="020B0503020204020204" charset="-122"/>
              </a:rPr>
              <a:t> f_data </a:t>
            </a:r>
            <a:r>
              <a:rPr lang="zh-CN" sz="1125" b="1">
                <a:solidFill>
                  <a:srgbClr val="38BDF8"/>
                </a:solidFill>
                <a:latin typeface="微软雅黑" panose="020B0503020204020204" charset="-122"/>
                <a:ea typeface="微软雅黑" panose="020B0503020204020204" charset="-122"/>
              </a:rPr>
              <a:t>是同一套体系</a:t>
            </a:r>
            <a:endParaRPr lang="zh-CN" sz="1125" b="1">
              <a:solidFill>
                <a:srgbClr val="38BDF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833" name="文本框 1832" descr="{&quot;isTemplate&quot;:true,&quot;type&quot;:&quot;text&quot;}"/>
          <p:cNvSpPr txBox="1"/>
          <p:nvPr/>
        </p:nvSpPr>
        <p:spPr>
          <a:xfrm>
            <a:off x="6343650" y="1581150"/>
            <a:ext cx="5067300" cy="2571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zh-CN" sz="97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父类是</a:t>
            </a:r>
            <a:r>
              <a:rPr lang="en-US" sz="97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fountain::f_data.validation.Validator</a:t>
            </a:r>
            <a:r>
              <a:rPr lang="zh-CN" sz="97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，所以可以和其他校验器一起用</a:t>
            </a:r>
            <a:r>
              <a:rPr lang="en-US" sz="97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&amp; | ! </a:t>
            </a:r>
            <a:r>
              <a:rPr lang="zh-CN" sz="97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组合：</a:t>
            </a:r>
            <a:endParaRPr lang="zh-CN" sz="975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834" name="文本框 1833" descr="{&quot;isTemplate&quot;:true,&quot;type&quot;:&quot;text&quot;}"/>
          <p:cNvSpPr txBox="1"/>
          <p:nvPr/>
        </p:nvSpPr>
        <p:spPr>
          <a:xfrm>
            <a:off x="6343650" y="1933575"/>
            <a:ext cx="5067300" cy="2667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5000"/>
              </a:lnSpc>
            </a:pPr>
            <a:r>
              <a:rPr lang="en-US" sz="975">
                <a:solidFill>
                  <a:srgbClr val="94A3B8"/>
                </a:solidFill>
                <a:latin typeface="JetBrains Mono"/>
                <a:ea typeface="JetBrains Mono"/>
              </a:rPr>
              <a:t>@IsUUID            // </a:t>
            </a:r>
            <a:r>
              <a:rPr lang="zh-CN" sz="975">
                <a:solidFill>
                  <a:srgbClr val="94A3B8"/>
                </a:solidFill>
                <a:latin typeface="JetBrains Mono"/>
                <a:ea typeface="JetBrains Mono"/>
              </a:rPr>
              <a:t>必须是</a:t>
            </a:r>
            <a:r>
              <a:rPr lang="en-US" sz="975">
                <a:solidFill>
                  <a:srgbClr val="94A3B8"/>
                </a:solidFill>
                <a:latin typeface="JetBrains Mono"/>
                <a:ea typeface="JetBrains Mono"/>
              </a:rPr>
              <a:t> UUID</a:t>
            </a:r>
            <a:endParaRPr lang="en-US" sz="975">
              <a:solidFill>
                <a:srgbClr val="94A3B8"/>
              </a:solidFill>
              <a:latin typeface="JetBrains Mono"/>
              <a:ea typeface="JetBrains Mono"/>
            </a:endParaRPr>
          </a:p>
        </p:txBody>
      </p:sp>
      <p:sp>
        <p:nvSpPr>
          <p:cNvPr id="1835" name="文本框 1834" descr="{&quot;isTemplate&quot;:true,&quot;type&quot;:&quot;text&quot;}"/>
          <p:cNvSpPr txBox="1"/>
          <p:nvPr/>
        </p:nvSpPr>
        <p:spPr>
          <a:xfrm>
            <a:off x="6343650" y="2200275"/>
            <a:ext cx="5067300" cy="2667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5000"/>
              </a:lnSpc>
            </a:pPr>
            <a:r>
              <a:rPr lang="en-US" sz="975">
                <a:solidFill>
                  <a:srgbClr val="94A3B8"/>
                </a:solidFill>
                <a:latin typeface="JetBrains Mono"/>
                <a:ea typeface="JetBrains Mono"/>
              </a:rPr>
              <a:t>private var orderId: String = ''</a:t>
            </a:r>
            <a:endParaRPr lang="en-US" sz="975">
              <a:solidFill>
                <a:srgbClr val="94A3B8"/>
              </a:solidFill>
              <a:latin typeface="JetBrains Mono"/>
              <a:ea typeface="JetBrains Mono"/>
            </a:endParaRPr>
          </a:p>
        </p:txBody>
      </p:sp>
      <p:sp>
        <p:nvSpPr>
          <p:cNvPr id="1836" name="文本框 1835" descr="{&quot;isTemplate&quot;:true,&quot;type&quot;:&quot;text&quot;}"/>
          <p:cNvSpPr txBox="1"/>
          <p:nvPr/>
        </p:nvSpPr>
        <p:spPr>
          <a:xfrm>
            <a:off x="6343650" y="3238500"/>
            <a:ext cx="5067300" cy="2667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5000"/>
              </a:lnSpc>
            </a:pPr>
            <a:r>
              <a:rPr lang="en-US" sz="975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target </a:t>
            </a:r>
            <a:r>
              <a:rPr lang="zh-CN" sz="975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里有</a:t>
            </a:r>
            <a:r>
              <a:rPr lang="en-US" sz="975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 Parameter —— </a:t>
            </a:r>
            <a:r>
              <a:rPr lang="zh-CN" sz="975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函数参数上也能用，</a:t>
            </a:r>
            <a:r>
              <a:rPr lang="en-US" sz="975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f_mvc </a:t>
            </a:r>
            <a:r>
              <a:rPr lang="zh-CN" sz="975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绑定时会自动触发。</a:t>
            </a:r>
            <a:endParaRPr lang="zh-CN" sz="975">
              <a:solidFill>
                <a:srgbClr val="F59E0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837" name="圆角矩形 1836"/>
          <p:cNvSpPr/>
          <p:nvPr/>
        </p:nvSpPr>
        <p:spPr>
          <a:xfrm>
            <a:off x="609600" y="3829050"/>
            <a:ext cx="10972800" cy="2457450"/>
          </a:xfrm>
          <a:prstGeom prst="roundRect">
            <a:avLst>
              <a:gd name="adj" fmla="val 4651"/>
            </a:avLst>
          </a:prstGeom>
          <a:solidFill>
            <a:srgbClr val="111C2E"/>
          </a:solidFill>
          <a:ln w="12700">
            <a:solidFill>
              <a:srgbClr val="1E293B"/>
            </a:solidFill>
            <a:prstDash val="solid"/>
          </a:ln>
        </p:spPr>
        <p:txBody>
          <a:bodyPr/>
          <a:p/>
        </p:txBody>
      </p:sp>
      <p:sp>
        <p:nvSpPr>
          <p:cNvPr id="1838" name="文本框 1837" descr="{&quot;isTemplate&quot;:true,&quot;type&quot;:&quot;text&quot;}"/>
          <p:cNvSpPr txBox="1"/>
          <p:nvPr/>
        </p:nvSpPr>
        <p:spPr>
          <a:xfrm>
            <a:off x="800100" y="4019550"/>
            <a:ext cx="10591800" cy="1905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IdMaker</a:t>
            </a:r>
            <a:r>
              <a:rPr lang="zh-CN" sz="1200" b="1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：趋势递增的分布式</a:t>
            </a:r>
            <a:r>
              <a:rPr lang="en-US" sz="1200" b="1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 ID</a:t>
            </a:r>
            <a:r>
              <a:rPr lang="zh-CN" sz="1200" b="1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（雪花算法）</a:t>
            </a:r>
            <a:endParaRPr lang="zh-CN" sz="1200" b="1">
              <a:solidFill>
                <a:srgbClr val="E2E8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839" name="圆角矩形 1838"/>
          <p:cNvSpPr/>
          <p:nvPr/>
        </p:nvSpPr>
        <p:spPr>
          <a:xfrm>
            <a:off x="800100" y="4343400"/>
            <a:ext cx="2095500" cy="419100"/>
          </a:xfrm>
          <a:prstGeom prst="roundRect">
            <a:avLst>
              <a:gd name="adj" fmla="val 18182"/>
            </a:avLst>
          </a:prstGeom>
          <a:solidFill>
            <a:srgbClr val="0B1220"/>
          </a:solidFill>
          <a:ln w="12700">
            <a:solidFill>
              <a:srgbClr val="38BDF8"/>
            </a:solidFill>
            <a:prstDash val="solid"/>
          </a:ln>
        </p:spPr>
        <p:txBody>
          <a:bodyPr/>
          <a:p/>
        </p:txBody>
      </p:sp>
      <p:sp>
        <p:nvSpPr>
          <p:cNvPr id="1840" name="文本框 1839" descr="{&quot;isTemplate&quot;:true,&quot;type&quot;:&quot;text&quot;}"/>
          <p:cNvSpPr txBox="1"/>
          <p:nvPr/>
        </p:nvSpPr>
        <p:spPr>
          <a:xfrm>
            <a:off x="1314450" y="4476750"/>
            <a:ext cx="1076325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38BDF8"/>
                </a:solidFill>
                <a:latin typeface="微软雅黑" panose="020B0503020204020204" charset="-122"/>
                <a:ea typeface="微软雅黑" panose="020B0503020204020204" charset="-122"/>
              </a:rPr>
              <a:t>10 bit </a:t>
            </a:r>
            <a:r>
              <a:rPr lang="zh-CN" sz="1050">
                <a:solidFill>
                  <a:srgbClr val="38BDF8"/>
                </a:solidFill>
                <a:latin typeface="微软雅黑" panose="020B0503020204020204" charset="-122"/>
                <a:ea typeface="微软雅黑" panose="020B0503020204020204" charset="-122"/>
              </a:rPr>
              <a:t>主机序列号</a:t>
            </a:r>
            <a:endParaRPr lang="zh-CN" sz="1050">
              <a:solidFill>
                <a:srgbClr val="38BDF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841" name="圆角矩形 1840"/>
          <p:cNvSpPr/>
          <p:nvPr/>
        </p:nvSpPr>
        <p:spPr>
          <a:xfrm>
            <a:off x="2971800" y="4343400"/>
            <a:ext cx="6057900" cy="419100"/>
          </a:xfrm>
          <a:prstGeom prst="roundRect">
            <a:avLst>
              <a:gd name="adj" fmla="val 18182"/>
            </a:avLst>
          </a:prstGeom>
          <a:solidFill>
            <a:srgbClr val="0B1220"/>
          </a:solidFill>
          <a:ln w="12700">
            <a:solidFill>
              <a:srgbClr val="1E293B"/>
            </a:solidFill>
            <a:prstDash val="solid"/>
          </a:ln>
        </p:spPr>
        <p:txBody>
          <a:bodyPr/>
          <a:p/>
        </p:txBody>
      </p:sp>
      <p:sp>
        <p:nvSpPr>
          <p:cNvPr id="1842" name="文本框 1841" descr="{&quot;isTemplate&quot;:true,&quot;type&quot;:&quot;text&quot;}"/>
          <p:cNvSpPr txBox="1"/>
          <p:nvPr/>
        </p:nvSpPr>
        <p:spPr>
          <a:xfrm>
            <a:off x="5467350" y="4476750"/>
            <a:ext cx="1076325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41 bit </a:t>
            </a:r>
            <a:r>
              <a:rPr lang="zh-CN" sz="105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毫秒时间戳</a:t>
            </a:r>
            <a:endParaRPr lang="zh-CN" sz="1050">
              <a:solidFill>
                <a:srgbClr val="E2E8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843" name="圆角矩形 1842"/>
          <p:cNvSpPr/>
          <p:nvPr/>
        </p:nvSpPr>
        <p:spPr>
          <a:xfrm>
            <a:off x="9105900" y="4343400"/>
            <a:ext cx="2286000" cy="419100"/>
          </a:xfrm>
          <a:prstGeom prst="roundRect">
            <a:avLst>
              <a:gd name="adj" fmla="val 18182"/>
            </a:avLst>
          </a:prstGeom>
          <a:solidFill>
            <a:srgbClr val="0B1220"/>
          </a:solidFill>
          <a:ln w="12700">
            <a:solidFill>
              <a:srgbClr val="1E293B"/>
            </a:solidFill>
            <a:prstDash val="solid"/>
          </a:ln>
        </p:spPr>
        <p:txBody>
          <a:bodyPr/>
          <a:p/>
        </p:txBody>
      </p:sp>
      <p:sp>
        <p:nvSpPr>
          <p:cNvPr id="1844" name="文本框 1843" descr="{&quot;isTemplate&quot;:true,&quot;type&quot;:&quot;text&quot;}"/>
          <p:cNvSpPr txBox="1"/>
          <p:nvPr/>
        </p:nvSpPr>
        <p:spPr>
          <a:xfrm>
            <a:off x="9582150" y="4476750"/>
            <a:ext cx="1343025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12 bit </a:t>
            </a:r>
            <a:r>
              <a:rPr lang="zh-CN" sz="105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毫秒内自增序号</a:t>
            </a:r>
            <a:endParaRPr lang="zh-CN" sz="1050">
              <a:solidFill>
                <a:srgbClr val="E2E8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845" name="文本框 1844" descr="{&quot;isTemplate&quot;:true,&quot;type&quot;:&quot;text&quot;}"/>
          <p:cNvSpPr txBox="1"/>
          <p:nvPr/>
        </p:nvSpPr>
        <p:spPr>
          <a:xfrm>
            <a:off x="800100" y="4876800"/>
            <a:ext cx="10591800" cy="2571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主机序列号</a:t>
            </a:r>
            <a:r>
              <a:rPr lang="en-US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0–1023</a:t>
            </a:r>
            <a:r>
              <a:rPr lang="zh-CN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，来自配置项</a:t>
            </a:r>
            <a:r>
              <a:rPr lang="en-US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idMakerHostSerial</a:t>
            </a:r>
            <a:r>
              <a:rPr lang="zh-CN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；</a:t>
            </a:r>
            <a:r>
              <a:rPr lang="en-US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nextInt64() </a:t>
            </a:r>
            <a:r>
              <a:rPr lang="zh-CN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是原子自增，无锁、线程安全。</a:t>
            </a:r>
            <a:endParaRPr lang="zh-CN" sz="1050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846" name="文本框 1845" descr="{&quot;isTemplate&quot;:true,&quot;type&quot;:&quot;text&quot;}"/>
          <p:cNvSpPr txBox="1"/>
          <p:nvPr/>
        </p:nvSpPr>
        <p:spPr>
          <a:xfrm>
            <a:off x="800100" y="5210175"/>
            <a:ext cx="10591800" cy="2762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zh-CN" sz="1050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注意三点：①</a:t>
            </a:r>
            <a:r>
              <a:rPr lang="en-US" sz="1050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 </a:t>
            </a:r>
            <a:r>
              <a:rPr lang="zh-CN" sz="1050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主机号必须全局唯一；②</a:t>
            </a:r>
            <a:r>
              <a:rPr lang="en-US" sz="1050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 </a:t>
            </a:r>
            <a:r>
              <a:rPr lang="zh-CN" sz="1050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每毫秒</a:t>
            </a:r>
            <a:r>
              <a:rPr lang="en-US" sz="1050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 4096 </a:t>
            </a:r>
            <a:r>
              <a:rPr lang="zh-CN" sz="1050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个，超出会向时间戳位进位（</a:t>
            </a:r>
            <a:r>
              <a:rPr lang="en-US" sz="1050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ID </a:t>
            </a:r>
            <a:r>
              <a:rPr lang="zh-CN" sz="1050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仍递增，时间戳含义漂移）；③</a:t>
            </a:r>
            <a:r>
              <a:rPr lang="en-US" sz="1050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 </a:t>
            </a:r>
            <a:r>
              <a:rPr lang="zh-CN" sz="1050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跨进程重启不冲突（有主机号兜底）。</a:t>
            </a:r>
            <a:endParaRPr lang="zh-CN" sz="1050">
              <a:solidFill>
                <a:srgbClr val="F59E0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847" name="任意多边形 1846"/>
          <p:cNvSpPr/>
          <p:nvPr/>
        </p:nvSpPr>
        <p:spPr>
          <a:xfrm>
            <a:off x="609600" y="6286500"/>
            <a:ext cx="10972800" cy="381000"/>
          </a:xfrm>
          <a:custGeom>
            <a:avLst/>
            <a:gdLst/>
            <a:ahLst/>
            <a:cxnLst/>
            <a:pathLst>
              <a:path w="1152" h="40">
                <a:moveTo>
                  <a:pt x="0" y="0"/>
                </a:moveTo>
                <a:lnTo>
                  <a:pt x="1152" y="0"/>
                </a:lnTo>
                <a:lnTo>
                  <a:pt x="1152" y="1"/>
                </a:lnTo>
                <a:lnTo>
                  <a:pt x="0" y="1"/>
                </a:lnTo>
                <a:close/>
              </a:path>
            </a:pathLst>
          </a:custGeom>
          <a:solidFill>
            <a:srgbClr val="1E293B"/>
          </a:solidFill>
        </p:spPr>
        <p:txBody>
          <a:bodyPr/>
          <a:p/>
        </p:txBody>
      </p:sp>
      <p:sp>
        <p:nvSpPr>
          <p:cNvPr id="1848" name="文本框 1847" descr="{&quot;isTemplate&quot;:true,&quot;type&quot;:&quot;text&quot;}"/>
          <p:cNvSpPr txBox="1"/>
          <p:nvPr/>
        </p:nvSpPr>
        <p:spPr>
          <a:xfrm>
            <a:off x="609600" y="6410325"/>
            <a:ext cx="2219325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fountain · 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一站式服务器应用开发工具库</a:t>
            </a:r>
            <a:endParaRPr lang="zh-CN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849" name="文本框 1848" descr="{&quot;isTemplate&quot;:true,&quot;type&quot;:&quot;text&quot;}"/>
          <p:cNvSpPr txBox="1"/>
          <p:nvPr/>
        </p:nvSpPr>
        <p:spPr>
          <a:xfrm>
            <a:off x="11087100" y="6410325"/>
            <a:ext cx="495300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56 / 116</a:t>
            </a:r>
            <a:endParaRPr lang="en-US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85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1" name="矩形 185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220"/>
          </a:solidFill>
        </p:spPr>
        <p:txBody>
          <a:bodyPr/>
          <a:p/>
        </p:txBody>
      </p:sp>
      <p:sp>
        <p:nvSpPr>
          <p:cNvPr id="1852" name="矩形 1851"/>
          <p:cNvSpPr/>
          <p:nvPr/>
        </p:nvSpPr>
        <p:spPr>
          <a:xfrm>
            <a:off x="609600" y="476250"/>
            <a:ext cx="38100" cy="381000"/>
          </a:xfrm>
          <a:prstGeom prst="rect">
            <a:avLst/>
          </a:prstGeom>
          <a:solidFill>
            <a:srgbClr val="38BDF8"/>
          </a:solidFill>
        </p:spPr>
        <p:txBody>
          <a:bodyPr/>
          <a:p/>
        </p:txBody>
      </p:sp>
      <p:sp>
        <p:nvSpPr>
          <p:cNvPr id="1853" name="文本框 1852" descr="{&quot;isTemplate&quot;:true,&quot;type&quot;:&quot;text&quot;}"/>
          <p:cNvSpPr txBox="1"/>
          <p:nvPr/>
        </p:nvSpPr>
        <p:spPr>
          <a:xfrm>
            <a:off x="819150" y="304800"/>
            <a:ext cx="9496425" cy="2095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第</a:t>
            </a: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 9 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章</a:t>
            </a: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 · 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工具箱</a:t>
            </a: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 f_util · 9.5 / 9.6</a:t>
            </a:r>
            <a:endParaRPr lang="en-US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854" name="文本框 1853" descr="{&quot;isTemplate&quot;:true,&quot;type&quot;:&quot;text&quot;}"/>
          <p:cNvSpPr txBox="1"/>
          <p:nvPr/>
        </p:nvSpPr>
        <p:spPr>
          <a:xfrm>
            <a:off x="819150" y="514350"/>
            <a:ext cx="9496425" cy="5143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en-US" sz="2550" b="1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CaseFormat </a:t>
            </a:r>
            <a:r>
              <a:rPr lang="zh-CN" sz="2550" b="1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与</a:t>
            </a:r>
            <a:r>
              <a:rPr lang="en-US" sz="2550" b="1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 TextTemplate</a:t>
            </a:r>
            <a:endParaRPr lang="en-US" sz="2550" b="1">
              <a:solidFill>
                <a:srgbClr val="E2E8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855" name="文本框 1854" descr="{&quot;isTemplate&quot;:true,&quot;type&quot;:&quot;text&quot;}"/>
          <p:cNvSpPr txBox="1"/>
          <p:nvPr/>
        </p:nvSpPr>
        <p:spPr>
          <a:xfrm>
            <a:off x="10487025" y="590550"/>
            <a:ext cx="1095375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命名风格</a:t>
            </a: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 · 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文本模板</a:t>
            </a:r>
            <a:endParaRPr lang="zh-CN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856" name="圆角矩形 1855"/>
          <p:cNvSpPr/>
          <p:nvPr/>
        </p:nvSpPr>
        <p:spPr>
          <a:xfrm>
            <a:off x="609600" y="1143000"/>
            <a:ext cx="5334000" cy="3571875"/>
          </a:xfrm>
          <a:prstGeom prst="roundRect">
            <a:avLst>
              <a:gd name="adj" fmla="val 3200"/>
            </a:avLst>
          </a:prstGeom>
          <a:solidFill>
            <a:srgbClr val="0B1220"/>
          </a:solidFill>
          <a:ln w="12700">
            <a:solidFill>
              <a:srgbClr val="1E293B"/>
            </a:solidFill>
            <a:prstDash val="solid"/>
          </a:ln>
        </p:spPr>
        <p:txBody>
          <a:bodyPr/>
          <a:p/>
        </p:txBody>
      </p:sp>
      <p:sp>
        <p:nvSpPr>
          <p:cNvPr id="1857" name="文本框 1856" descr="{&quot;isTemplate&quot;:true,&quot;type&quot;:&quot;text&quot;}"/>
          <p:cNvSpPr txBox="1"/>
          <p:nvPr/>
        </p:nvSpPr>
        <p:spPr>
          <a:xfrm>
            <a:off x="781050" y="1314450"/>
            <a:ext cx="4991100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CaseFormat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：六种风格两两互转</a:t>
            </a:r>
            <a:endParaRPr lang="zh-CN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858" name="文本框 1857" descr="{&quot;isTemplate&quot;:true,&quot;type&quot;:&quot;text&quot;}"/>
          <p:cNvSpPr txBox="1"/>
          <p:nvPr/>
        </p:nvSpPr>
        <p:spPr>
          <a:xfrm>
            <a:off x="781050" y="1543050"/>
            <a:ext cx="4991100" cy="447675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en-US" sz="975">
                <a:solidFill>
                  <a:srgbClr val="38BDF8"/>
                </a:solidFill>
                <a:latin typeface="JetBrains Mono"/>
                <a:ea typeface="JetBrains Mono"/>
              </a:rPr>
              <a:t>Pascal.convert("CaseFormat", to: CaseFormat.Camel)           // "caseFormat"</a:t>
            </a:r>
            <a:endParaRPr lang="en-US" sz="975">
              <a:solidFill>
                <a:srgbClr val="38BDF8"/>
              </a:solidFill>
              <a:latin typeface="JetBrains Mono"/>
              <a:ea typeface="JetBrains Mono"/>
            </a:endParaRPr>
          </a:p>
        </p:txBody>
      </p:sp>
      <p:sp>
        <p:nvSpPr>
          <p:cNvPr id="1859" name="文本框 1858" descr="{&quot;isTemplate&quot;:true,&quot;type&quot;:&quot;text&quot;}"/>
          <p:cNvSpPr txBox="1"/>
          <p:nvPr/>
        </p:nvSpPr>
        <p:spPr>
          <a:xfrm>
            <a:off x="781050" y="1990725"/>
            <a:ext cx="4991100" cy="447675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en-US" sz="975">
                <a:solidFill>
                  <a:srgbClr val="38BDF8"/>
                </a:solidFill>
                <a:latin typeface="JetBrains Mono"/>
                <a:ea typeface="JetBrains Mono"/>
              </a:rPr>
              <a:t>Pascal.convert("CaseFormat", to: CaseFormat.LowerUnderScore) // "case_format"</a:t>
            </a:r>
            <a:endParaRPr lang="en-US" sz="975">
              <a:solidFill>
                <a:srgbClr val="38BDF8"/>
              </a:solidFill>
              <a:latin typeface="JetBrains Mono"/>
              <a:ea typeface="JetBrains Mono"/>
            </a:endParaRPr>
          </a:p>
        </p:txBody>
      </p:sp>
      <p:sp>
        <p:nvSpPr>
          <p:cNvPr id="1860" name="文本框 1859" descr="{&quot;isTemplate&quot;:true,&quot;type&quot;:&quot;text&quot;}"/>
          <p:cNvSpPr txBox="1"/>
          <p:nvPr/>
        </p:nvSpPr>
        <p:spPr>
          <a:xfrm>
            <a:off x="781050" y="2438400"/>
            <a:ext cx="4991100" cy="447675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en-US" sz="975">
                <a:solidFill>
                  <a:srgbClr val="38BDF8"/>
                </a:solidFill>
                <a:latin typeface="JetBrains Mono"/>
                <a:ea typeface="JetBrains Mono"/>
              </a:rPr>
              <a:t>Pascal.convert("CaseFormat", to: CaseFormat.UpperUnderScore) // "CASE_FORMAT"</a:t>
            </a:r>
            <a:endParaRPr lang="en-US" sz="975">
              <a:solidFill>
                <a:srgbClr val="38BDF8"/>
              </a:solidFill>
              <a:latin typeface="JetBrains Mono"/>
              <a:ea typeface="JetBrains Mono"/>
            </a:endParaRPr>
          </a:p>
        </p:txBody>
      </p:sp>
      <p:sp>
        <p:nvSpPr>
          <p:cNvPr id="1861" name="文本框 1860" descr="{&quot;isTemplate&quot;:true,&quot;type&quot;:&quot;text&quot;}"/>
          <p:cNvSpPr txBox="1"/>
          <p:nvPr/>
        </p:nvSpPr>
        <p:spPr>
          <a:xfrm>
            <a:off x="781050" y="2886075"/>
            <a:ext cx="4991100" cy="447675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en-US" sz="975">
                <a:solidFill>
                  <a:srgbClr val="38BDF8"/>
                </a:solidFill>
                <a:latin typeface="JetBrains Mono"/>
                <a:ea typeface="JetBrains Mono"/>
              </a:rPr>
              <a:t>Pascal.convert("CaseFormat", to: CaseFormat.LowerHyphen)     // "case-format"</a:t>
            </a:r>
            <a:endParaRPr lang="en-US" sz="975">
              <a:solidFill>
                <a:srgbClr val="38BDF8"/>
              </a:solidFill>
              <a:latin typeface="JetBrains Mono"/>
              <a:ea typeface="JetBrains Mono"/>
            </a:endParaRPr>
          </a:p>
        </p:txBody>
      </p:sp>
      <p:sp>
        <p:nvSpPr>
          <p:cNvPr id="1862" name="文本框 1861" descr="{&quot;isTemplate&quot;:true,&quot;type&quot;:&quot;text&quot;}"/>
          <p:cNvSpPr txBox="1"/>
          <p:nvPr/>
        </p:nvSpPr>
        <p:spPr>
          <a:xfrm>
            <a:off x="781050" y="3333750"/>
            <a:ext cx="4991100" cy="447675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en-US" sz="975">
                <a:solidFill>
                  <a:srgbClr val="38BDF8"/>
                </a:solidFill>
                <a:latin typeface="JetBrains Mono"/>
                <a:ea typeface="JetBrains Mono"/>
              </a:rPr>
              <a:t>Pascal.convert("CaseFormat", to: CaseFormat.UpperHyphen)     // "CASE-FORMAT"</a:t>
            </a:r>
            <a:endParaRPr lang="en-US" sz="975">
              <a:solidFill>
                <a:srgbClr val="38BDF8"/>
              </a:solidFill>
              <a:latin typeface="JetBrains Mono"/>
              <a:ea typeface="JetBrains Mono"/>
            </a:endParaRPr>
          </a:p>
        </p:txBody>
      </p:sp>
      <p:sp>
        <p:nvSpPr>
          <p:cNvPr id="1863" name="文本框 1862" descr="{&quot;isTemplate&quot;:true,&quot;type&quot;:&quot;text&quot;}"/>
          <p:cNvSpPr txBox="1"/>
          <p:nvPr/>
        </p:nvSpPr>
        <p:spPr>
          <a:xfrm>
            <a:off x="781050" y="3781425"/>
            <a:ext cx="4991100" cy="762000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en-US" sz="975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ORM </a:t>
            </a:r>
            <a:r>
              <a:rPr lang="zh-CN" sz="975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的</a:t>
            </a:r>
            <a:r>
              <a:rPr lang="en-US" sz="975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 @ORMField[LowerUnderScore] </a:t>
            </a:r>
            <a:r>
              <a:rPr lang="zh-CN" sz="975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与</a:t>
            </a:r>
            <a:r>
              <a:rPr lang="en-US" sz="975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 @QueryMappersGenerator[table: LowerUnderScore] </a:t>
            </a:r>
            <a:r>
              <a:rPr lang="zh-CN" sz="975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底层用的就是它</a:t>
            </a:r>
            <a:r>
              <a:rPr lang="en-US" sz="975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 —— </a:t>
            </a:r>
            <a:r>
              <a:rPr lang="zh-CN" sz="975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自己写代码生成器时用同一个枚举，风格就和框架一致。</a:t>
            </a:r>
            <a:endParaRPr lang="zh-CN" sz="975">
              <a:solidFill>
                <a:srgbClr val="F59E0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864" name="圆角矩形 1863"/>
          <p:cNvSpPr/>
          <p:nvPr/>
        </p:nvSpPr>
        <p:spPr>
          <a:xfrm>
            <a:off x="6096000" y="1143000"/>
            <a:ext cx="5486400" cy="2857500"/>
          </a:xfrm>
          <a:prstGeom prst="roundRect">
            <a:avLst>
              <a:gd name="adj" fmla="val 4000"/>
            </a:avLst>
          </a:prstGeom>
          <a:solidFill>
            <a:srgbClr val="111C2E"/>
          </a:solidFill>
          <a:ln w="12700">
            <a:solidFill>
              <a:srgbClr val="38BDF8"/>
            </a:solidFill>
            <a:prstDash val="solid"/>
          </a:ln>
        </p:spPr>
        <p:txBody>
          <a:bodyPr/>
          <a:p/>
        </p:txBody>
      </p:sp>
      <p:sp>
        <p:nvSpPr>
          <p:cNvPr id="1865" name="文本框 1864" descr="{&quot;isTemplate&quot;:true,&quot;type&quot;:&quot;text&quot;}"/>
          <p:cNvSpPr txBox="1"/>
          <p:nvPr/>
        </p:nvSpPr>
        <p:spPr>
          <a:xfrm>
            <a:off x="6267450" y="1314450"/>
            <a:ext cx="5143500" cy="1714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38BDF8"/>
                </a:solidFill>
                <a:latin typeface="微软雅黑" panose="020B0503020204020204" charset="-122"/>
                <a:ea typeface="微软雅黑" panose="020B0503020204020204" charset="-122"/>
              </a:rPr>
              <a:t>占位符的三种高级形态</a:t>
            </a:r>
            <a:endParaRPr lang="zh-CN" sz="1125" b="1">
              <a:solidFill>
                <a:srgbClr val="38BDF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866" name="文本框 1865" descr="{&quot;isTemplate&quot;:true,&quot;type&quot;:&quot;text&quot;}"/>
          <p:cNvSpPr txBox="1"/>
          <p:nvPr/>
        </p:nvSpPr>
        <p:spPr>
          <a:xfrm>
            <a:off x="6267450" y="1581150"/>
            <a:ext cx="5143500" cy="2667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5000"/>
              </a:lnSpc>
            </a:pPr>
            <a:r>
              <a:rPr lang="zh-CN" sz="975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时间　</a:t>
            </a:r>
            <a:r>
              <a:rPr lang="en-US" sz="975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${time:yyyy/MM/dd}</a:t>
            </a:r>
            <a:r>
              <a:rPr lang="zh-CN" sz="975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　按指定格式格式化日期</a:t>
            </a:r>
            <a:endParaRPr lang="zh-CN" sz="975">
              <a:solidFill>
                <a:srgbClr val="E2E8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867" name="文本框 1866" descr="{&quot;isTemplate&quot;:true,&quot;type&quot;:&quot;text&quot;}"/>
          <p:cNvSpPr txBox="1"/>
          <p:nvPr/>
        </p:nvSpPr>
        <p:spPr>
          <a:xfrm>
            <a:off x="6267450" y="1905000"/>
            <a:ext cx="5143500" cy="523875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75000"/>
              </a:lnSpc>
            </a:pPr>
            <a:r>
              <a:rPr lang="zh-CN" sz="975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数字　</a:t>
            </a:r>
            <a:r>
              <a:rPr lang="en-US" sz="975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${number:##.##,HALF_UP}</a:t>
            </a:r>
            <a:r>
              <a:rPr lang="zh-CN" sz="975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　支持</a:t>
            </a:r>
            <a:r>
              <a:rPr lang="en-US" sz="975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 o/O </a:t>
            </a:r>
            <a:r>
              <a:rPr lang="zh-CN" sz="975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八进制、</a:t>
            </a:r>
            <a:r>
              <a:rPr lang="en-US" sz="975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x/X </a:t>
            </a:r>
            <a:r>
              <a:rPr lang="zh-CN" sz="975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十六进制、</a:t>
            </a:r>
            <a:r>
              <a:rPr lang="en-US" sz="975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e/E </a:t>
            </a:r>
            <a:r>
              <a:rPr lang="zh-CN" sz="975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科学计数、</a:t>
            </a:r>
            <a:r>
              <a:rPr lang="en-US" sz="975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+ </a:t>
            </a:r>
            <a:r>
              <a:rPr lang="zh-CN" sz="975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前置加号、</a:t>
            </a:r>
            <a:r>
              <a:rPr lang="en-US" sz="975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( </a:t>
            </a:r>
            <a:r>
              <a:rPr lang="zh-CN" sz="975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负数括号</a:t>
            </a:r>
            <a:endParaRPr lang="zh-CN" sz="975">
              <a:solidFill>
                <a:srgbClr val="E2E8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868" name="文本框 1867" descr="{&quot;isTemplate&quot;:true,&quot;type&quot;:&quot;text&quot;}"/>
          <p:cNvSpPr txBox="1"/>
          <p:nvPr/>
        </p:nvSpPr>
        <p:spPr>
          <a:xfrm>
            <a:off x="6267450" y="2486025"/>
            <a:ext cx="5143500" cy="2667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5000"/>
              </a:lnSpc>
            </a:pPr>
            <a:r>
              <a:rPr lang="zh-CN" sz="975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正则　</a:t>
            </a:r>
            <a:r>
              <a:rPr lang="en-US" sz="975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${regex:.*_name}</a:t>
            </a:r>
            <a:r>
              <a:rPr lang="zh-CN" sz="975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　只接受</a:t>
            </a:r>
            <a:r>
              <a:rPr lang="en-US" sz="975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 Map </a:t>
            </a:r>
            <a:r>
              <a:rPr lang="zh-CN" sz="975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作为数据源</a:t>
            </a:r>
            <a:endParaRPr lang="zh-CN" sz="975">
              <a:solidFill>
                <a:srgbClr val="E2E8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869" name="文本框 1868" descr="{&quot;isTemplate&quot;:true,&quot;type&quot;:&quot;text&quot;}"/>
          <p:cNvSpPr txBox="1"/>
          <p:nvPr/>
        </p:nvSpPr>
        <p:spPr>
          <a:xfrm>
            <a:off x="6267450" y="3571875"/>
            <a:ext cx="5143500" cy="2571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zh-CN" sz="97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路径占位符</a:t>
            </a:r>
            <a:r>
              <a:rPr lang="en-US" sz="97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a.0.b.c </a:t>
            </a:r>
            <a:r>
              <a:rPr lang="zh-CN" sz="97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可以逐层取值；</a:t>
            </a:r>
            <a:r>
              <a:rPr lang="en-US" sz="97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noneConverter </a:t>
            </a:r>
            <a:r>
              <a:rPr lang="zh-CN" sz="97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用于占位符找不到时的兜底。</a:t>
            </a:r>
            <a:endParaRPr lang="zh-CN" sz="975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870" name="圆角矩形 1869"/>
          <p:cNvSpPr/>
          <p:nvPr/>
        </p:nvSpPr>
        <p:spPr>
          <a:xfrm>
            <a:off x="609600" y="4152900"/>
            <a:ext cx="10972800" cy="2133600"/>
          </a:xfrm>
          <a:prstGeom prst="roundRect">
            <a:avLst>
              <a:gd name="adj" fmla="val 5357"/>
            </a:avLst>
          </a:prstGeom>
          <a:solidFill>
            <a:srgbClr val="0B1220"/>
          </a:solidFill>
          <a:ln w="12700">
            <a:solidFill>
              <a:srgbClr val="1E293B"/>
            </a:solidFill>
            <a:prstDash val="solid"/>
          </a:ln>
        </p:spPr>
        <p:txBody>
          <a:bodyPr/>
          <a:p/>
        </p:txBody>
      </p:sp>
      <p:sp>
        <p:nvSpPr>
          <p:cNvPr id="1871" name="文本框 1870" descr="{&quot;isTemplate&quot;:true,&quot;type&quot;:&quot;text&quot;}"/>
          <p:cNvSpPr txBox="1"/>
          <p:nvPr/>
        </p:nvSpPr>
        <p:spPr>
          <a:xfrm>
            <a:off x="781050" y="4324350"/>
            <a:ext cx="10629900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TextTemplate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：别再拼字符串了</a:t>
            </a:r>
            <a:endParaRPr lang="zh-CN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872" name="文本框 1871" descr="{&quot;isTemplate&quot;:true,&quot;type&quot;:&quot;text&quot;}"/>
          <p:cNvSpPr txBox="1"/>
          <p:nvPr/>
        </p:nvSpPr>
        <p:spPr>
          <a:xfrm>
            <a:off x="781050" y="4552950"/>
            <a:ext cx="10629900" cy="2286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en-US" sz="975">
                <a:solidFill>
                  <a:srgbClr val="E2E8F0"/>
                </a:solidFill>
                <a:latin typeface="JetBrains Mono"/>
                <a:ea typeface="JetBrains Mono"/>
              </a:rPr>
              <a:t>TextTemplate.compile(template, placeholder! = '#')</a:t>
            </a:r>
            <a:r>
              <a:rPr lang="zh-CN" sz="975">
                <a:solidFill>
                  <a:srgbClr val="E2E8F0"/>
                </a:solidFill>
                <a:latin typeface="JetBrains Mono"/>
                <a:ea typeface="JetBrains Mono"/>
              </a:rPr>
              <a:t>　</a:t>
            </a:r>
            <a:r>
              <a:rPr lang="en-US" sz="975">
                <a:solidFill>
                  <a:srgbClr val="E2E8F0"/>
                </a:solidFill>
                <a:latin typeface="JetBrains Mono"/>
                <a:ea typeface="JetBrains Mono"/>
              </a:rPr>
              <a:t>// </a:t>
            </a:r>
            <a:r>
              <a:rPr lang="zh-CN" sz="975">
                <a:solidFill>
                  <a:srgbClr val="E2E8F0"/>
                </a:solidFill>
                <a:latin typeface="JetBrains Mono"/>
                <a:ea typeface="JetBrains Mono"/>
              </a:rPr>
              <a:t>一对</a:t>
            </a:r>
            <a:r>
              <a:rPr lang="en-US" sz="975">
                <a:solidFill>
                  <a:srgbClr val="E2E8F0"/>
                </a:solidFill>
                <a:latin typeface="JetBrains Mono"/>
                <a:ea typeface="JetBrains Mono"/>
              </a:rPr>
              <a:t> # </a:t>
            </a:r>
            <a:r>
              <a:rPr lang="zh-CN" sz="975">
                <a:solidFill>
                  <a:srgbClr val="E2E8F0"/>
                </a:solidFill>
                <a:latin typeface="JetBrains Mono"/>
                <a:ea typeface="JetBrains Mono"/>
              </a:rPr>
              <a:t>包含变量</a:t>
            </a:r>
            <a:endParaRPr lang="zh-CN" sz="975">
              <a:solidFill>
                <a:srgbClr val="E2E8F0"/>
              </a:solidFill>
              <a:latin typeface="JetBrains Mono"/>
              <a:ea typeface="JetBrains Mono"/>
            </a:endParaRPr>
          </a:p>
        </p:txBody>
      </p:sp>
      <p:sp>
        <p:nvSpPr>
          <p:cNvPr id="1873" name="文本框 1872" descr="{&quot;isTemplate&quot;:true,&quot;type&quot;:&quot;text&quot;}"/>
          <p:cNvSpPr txBox="1"/>
          <p:nvPr/>
        </p:nvSpPr>
        <p:spPr>
          <a:xfrm>
            <a:off x="781050" y="4781550"/>
            <a:ext cx="10629900" cy="2286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en-US" sz="975">
                <a:solidFill>
                  <a:srgbClr val="E2E8F0"/>
                </a:solidFill>
                <a:latin typeface="JetBrains Mono"/>
                <a:ea typeface="JetBrains Mono"/>
              </a:rPr>
              <a:t>TextTemplate.compile(template: String, prefix!: String = "${", suffix!: String = "}")  // prefix/suffix </a:t>
            </a:r>
            <a:r>
              <a:rPr lang="zh-CN" sz="975">
                <a:solidFill>
                  <a:srgbClr val="E2E8F0"/>
                </a:solidFill>
                <a:latin typeface="JetBrains Mono"/>
                <a:ea typeface="JetBrains Mono"/>
              </a:rPr>
              <a:t>包含变量</a:t>
            </a:r>
            <a:endParaRPr lang="zh-CN" sz="975">
              <a:solidFill>
                <a:srgbClr val="E2E8F0"/>
              </a:solidFill>
              <a:latin typeface="JetBrains Mono"/>
              <a:ea typeface="JetBrains Mono"/>
            </a:endParaRPr>
          </a:p>
        </p:txBody>
      </p:sp>
      <p:sp>
        <p:nvSpPr>
          <p:cNvPr id="1874" name="文本框 1873" descr="{&quot;isTemplate&quot;:true,&quot;type&quot;:&quot;text&quot;}"/>
          <p:cNvSpPr txBox="1"/>
          <p:nvPr/>
        </p:nvSpPr>
        <p:spPr>
          <a:xfrm>
            <a:off x="781050" y="5010150"/>
            <a:ext cx="10629900" cy="2286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en-US" sz="975">
                <a:solidFill>
                  <a:srgbClr val="94A3B8"/>
                </a:solidFill>
                <a:latin typeface="JetBrains Mono"/>
                <a:ea typeface="JetBrains Mono"/>
              </a:rPr>
              <a:t>format&lt;T&gt;(data: Array | ArrayList | HashMap | TreeMap | LinkedHashMap | </a:t>
            </a:r>
            <a:r>
              <a:rPr lang="zh-CN" sz="975">
                <a:solidFill>
                  <a:srgbClr val="94A3B8"/>
                </a:solidFill>
                <a:latin typeface="JetBrains Mono"/>
                <a:ea typeface="JetBrains Mono"/>
              </a:rPr>
              <a:t>并发</a:t>
            </a:r>
            <a:r>
              <a:rPr lang="en-US" sz="975">
                <a:solidFill>
                  <a:srgbClr val="94A3B8"/>
                </a:solidFill>
                <a:latin typeface="JetBrains Mono"/>
                <a:ea typeface="JetBrains Mono"/>
              </a:rPr>
              <a:t> Map) : String</a:t>
            </a:r>
            <a:endParaRPr lang="en-US" sz="975">
              <a:solidFill>
                <a:srgbClr val="94A3B8"/>
              </a:solidFill>
              <a:latin typeface="JetBrains Mono"/>
              <a:ea typeface="JetBrains Mono"/>
            </a:endParaRPr>
          </a:p>
        </p:txBody>
      </p:sp>
      <p:sp>
        <p:nvSpPr>
          <p:cNvPr id="1875" name="文本框 1874" descr="{&quot;isTemplate&quot;:true,&quot;type&quot;:&quot;text&quot;}"/>
          <p:cNvSpPr txBox="1"/>
          <p:nvPr/>
        </p:nvSpPr>
        <p:spPr>
          <a:xfrm>
            <a:off x="781050" y="5238750"/>
            <a:ext cx="10629900" cy="2286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en-US" sz="975">
                <a:solidFill>
                  <a:srgbClr val="38BDF8"/>
                </a:solidFill>
                <a:latin typeface="JetBrains Mono"/>
                <a:ea typeface="JetBrains Mono"/>
              </a:rPr>
              <a:t>compile("</a:t>
            </a:r>
            <a:r>
              <a:rPr lang="zh-CN" sz="975">
                <a:solidFill>
                  <a:srgbClr val="38BDF8"/>
                </a:solidFill>
                <a:latin typeface="JetBrains Mono"/>
                <a:ea typeface="JetBrains Mono"/>
              </a:rPr>
              <a:t>亲爱的</a:t>
            </a:r>
            <a:r>
              <a:rPr lang="en-US" sz="975">
                <a:solidFill>
                  <a:srgbClr val="38BDF8"/>
                </a:solidFill>
                <a:latin typeface="JetBrains Mono"/>
                <a:ea typeface="JetBrains Mono"/>
              </a:rPr>
              <a:t> ${name}</a:t>
            </a:r>
            <a:r>
              <a:rPr lang="zh-CN" sz="975">
                <a:solidFill>
                  <a:srgbClr val="38BDF8"/>
                </a:solidFill>
                <a:latin typeface="JetBrains Mono"/>
                <a:ea typeface="JetBrains Mono"/>
              </a:rPr>
              <a:t>，您于</a:t>
            </a:r>
            <a:r>
              <a:rPr lang="en-US" sz="975">
                <a:solidFill>
                  <a:srgbClr val="38BDF8"/>
                </a:solidFill>
                <a:latin typeface="JetBrains Mono"/>
                <a:ea typeface="JetBrains Mono"/>
              </a:rPr>
              <a:t> ${time:yyyy/MM/dd} </a:t>
            </a:r>
            <a:r>
              <a:rPr lang="zh-CN" sz="975">
                <a:solidFill>
                  <a:srgbClr val="38BDF8"/>
                </a:solidFill>
                <a:latin typeface="JetBrains Mono"/>
                <a:ea typeface="JetBrains Mono"/>
              </a:rPr>
              <a:t>消费</a:t>
            </a:r>
            <a:r>
              <a:rPr lang="en-US" sz="975">
                <a:solidFill>
                  <a:srgbClr val="38BDF8"/>
                </a:solidFill>
                <a:latin typeface="JetBrains Mono"/>
                <a:ea typeface="JetBrains Mono"/>
              </a:rPr>
              <a:t> ${number:##.##} </a:t>
            </a:r>
            <a:r>
              <a:rPr lang="zh-CN" sz="975">
                <a:solidFill>
                  <a:srgbClr val="38BDF8"/>
                </a:solidFill>
                <a:latin typeface="JetBrains Mono"/>
                <a:ea typeface="JetBrains Mono"/>
              </a:rPr>
              <a:t>元</a:t>
            </a:r>
            <a:r>
              <a:rPr lang="en-US" sz="975">
                <a:solidFill>
                  <a:srgbClr val="38BDF8"/>
                </a:solidFill>
                <a:latin typeface="JetBrains Mono"/>
                <a:ea typeface="JetBrains Mono"/>
              </a:rPr>
              <a:t>")</a:t>
            </a:r>
            <a:endParaRPr lang="en-US" sz="975">
              <a:solidFill>
                <a:srgbClr val="38BDF8"/>
              </a:solidFill>
              <a:latin typeface="JetBrains Mono"/>
              <a:ea typeface="JetBrains Mono"/>
            </a:endParaRPr>
          </a:p>
        </p:txBody>
      </p:sp>
      <p:sp>
        <p:nvSpPr>
          <p:cNvPr id="1876" name="文本框 1875" descr="{&quot;isTemplate&quot;:true,&quot;type&quot;:&quot;text&quot;}"/>
          <p:cNvSpPr txBox="1"/>
          <p:nvPr/>
        </p:nvSpPr>
        <p:spPr>
          <a:xfrm>
            <a:off x="781050" y="5857875"/>
            <a:ext cx="10629900" cy="2571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en-US" sz="975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⚠ </a:t>
            </a:r>
            <a:r>
              <a:rPr lang="zh-CN" sz="975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实现上依赖</a:t>
            </a:r>
            <a:r>
              <a:rPr lang="en-US" sz="975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 ThreadLocalStringBuilder</a:t>
            </a:r>
            <a:r>
              <a:rPr lang="zh-CN" sz="975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：方法内不要嵌套调用</a:t>
            </a:r>
            <a:r>
              <a:rPr lang="en-US" sz="975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 TextTemplate</a:t>
            </a:r>
            <a:r>
              <a:rPr lang="zh-CN" sz="975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。</a:t>
            </a:r>
            <a:endParaRPr lang="zh-CN" sz="975">
              <a:solidFill>
                <a:srgbClr val="F59E0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877" name="任意多边形 1876"/>
          <p:cNvSpPr/>
          <p:nvPr/>
        </p:nvSpPr>
        <p:spPr>
          <a:xfrm>
            <a:off x="609600" y="6286500"/>
            <a:ext cx="10972800" cy="381000"/>
          </a:xfrm>
          <a:custGeom>
            <a:avLst/>
            <a:gdLst/>
            <a:ahLst/>
            <a:cxnLst/>
            <a:pathLst>
              <a:path w="1152" h="40">
                <a:moveTo>
                  <a:pt x="0" y="0"/>
                </a:moveTo>
                <a:lnTo>
                  <a:pt x="1152" y="0"/>
                </a:lnTo>
                <a:lnTo>
                  <a:pt x="1152" y="1"/>
                </a:lnTo>
                <a:lnTo>
                  <a:pt x="0" y="1"/>
                </a:lnTo>
                <a:close/>
              </a:path>
            </a:pathLst>
          </a:custGeom>
          <a:solidFill>
            <a:srgbClr val="1E293B"/>
          </a:solidFill>
        </p:spPr>
        <p:txBody>
          <a:bodyPr/>
          <a:p/>
        </p:txBody>
      </p:sp>
      <p:sp>
        <p:nvSpPr>
          <p:cNvPr id="1878" name="文本框 1877" descr="{&quot;isTemplate&quot;:true,&quot;type&quot;:&quot;text&quot;}"/>
          <p:cNvSpPr txBox="1"/>
          <p:nvPr/>
        </p:nvSpPr>
        <p:spPr>
          <a:xfrm>
            <a:off x="609600" y="6410325"/>
            <a:ext cx="2219325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fountain · 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一站式服务器应用开发工具库</a:t>
            </a:r>
            <a:endParaRPr lang="zh-CN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879" name="文本框 1878" descr="{&quot;isTemplate&quot;:true,&quot;type&quot;:&quot;text&quot;}"/>
          <p:cNvSpPr txBox="1"/>
          <p:nvPr/>
        </p:nvSpPr>
        <p:spPr>
          <a:xfrm>
            <a:off x="11087100" y="6410325"/>
            <a:ext cx="495300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57 / 116</a:t>
            </a:r>
            <a:endParaRPr lang="en-US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88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1" name="矩形 188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220"/>
          </a:solidFill>
        </p:spPr>
        <p:txBody>
          <a:bodyPr/>
          <a:p/>
        </p:txBody>
      </p:sp>
      <p:sp>
        <p:nvSpPr>
          <p:cNvPr id="1882" name="矩形 1881"/>
          <p:cNvSpPr/>
          <p:nvPr/>
        </p:nvSpPr>
        <p:spPr>
          <a:xfrm>
            <a:off x="609600" y="476250"/>
            <a:ext cx="38100" cy="381000"/>
          </a:xfrm>
          <a:prstGeom prst="rect">
            <a:avLst/>
          </a:prstGeom>
          <a:solidFill>
            <a:srgbClr val="38BDF8"/>
          </a:solidFill>
        </p:spPr>
        <p:txBody>
          <a:bodyPr/>
          <a:p/>
        </p:txBody>
      </p:sp>
      <p:sp>
        <p:nvSpPr>
          <p:cNvPr id="1883" name="文本框 1882" descr="{&quot;isTemplate&quot;:true,&quot;type&quot;:&quot;text&quot;}"/>
          <p:cNvSpPr txBox="1"/>
          <p:nvPr/>
        </p:nvSpPr>
        <p:spPr>
          <a:xfrm>
            <a:off x="819150" y="304800"/>
            <a:ext cx="9029700" cy="2095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第</a:t>
            </a: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 9 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章</a:t>
            </a: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 · 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工具箱</a:t>
            </a: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 f_util · 9.7</a:t>
            </a:r>
            <a:endParaRPr lang="en-US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884" name="文本框 1883" descr="{&quot;isTemplate&quot;:true,&quot;type&quot;:&quot;text&quot;}"/>
          <p:cNvSpPr txBox="1"/>
          <p:nvPr/>
        </p:nvSpPr>
        <p:spPr>
          <a:xfrm>
            <a:off x="819150" y="514350"/>
            <a:ext cx="9029700" cy="5143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en-US" sz="2550" b="1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PathPattern</a:t>
            </a:r>
            <a:r>
              <a:rPr lang="zh-CN" sz="2550" b="1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：</a:t>
            </a:r>
            <a:r>
              <a:rPr lang="en-US" sz="2550" b="1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MVC </a:t>
            </a:r>
            <a:r>
              <a:rPr lang="zh-CN" sz="2550" b="1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路由的引擎</a:t>
            </a:r>
            <a:endParaRPr lang="zh-CN" sz="2550" b="1">
              <a:solidFill>
                <a:srgbClr val="E2E8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885" name="文本框 1884" descr="{&quot;isTemplate&quot;:true,&quot;type&quot;:&quot;text&quot;}"/>
          <p:cNvSpPr txBox="1"/>
          <p:nvPr/>
        </p:nvSpPr>
        <p:spPr>
          <a:xfrm>
            <a:off x="10020300" y="590550"/>
            <a:ext cx="1562100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从生产环境的</a:t>
            </a: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 Java 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实现移植</a:t>
            </a:r>
            <a:endParaRPr lang="zh-CN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886" name="圆角矩形 1885"/>
          <p:cNvSpPr/>
          <p:nvPr/>
        </p:nvSpPr>
        <p:spPr>
          <a:xfrm>
            <a:off x="609600" y="1143000"/>
            <a:ext cx="5334000" cy="1295400"/>
          </a:xfrm>
          <a:prstGeom prst="roundRect">
            <a:avLst>
              <a:gd name="adj" fmla="val 8824"/>
            </a:avLst>
          </a:prstGeom>
          <a:solidFill>
            <a:srgbClr val="0B1220"/>
          </a:solidFill>
          <a:ln w="12700">
            <a:solidFill>
              <a:srgbClr val="1E293B"/>
            </a:solidFill>
            <a:prstDash val="solid"/>
          </a:ln>
        </p:spPr>
        <p:txBody>
          <a:bodyPr/>
          <a:p/>
        </p:txBody>
      </p:sp>
      <p:sp>
        <p:nvSpPr>
          <p:cNvPr id="1887" name="文本框 1886" descr="{&quot;isTemplate&quot;:true,&quot;type&quot;:&quot;text&quot;}"/>
          <p:cNvSpPr txBox="1"/>
          <p:nvPr/>
        </p:nvSpPr>
        <p:spPr>
          <a:xfrm>
            <a:off x="781050" y="1314450"/>
            <a:ext cx="4991100" cy="2381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en-US" sz="975">
                <a:solidFill>
                  <a:srgbClr val="38BDF8"/>
                </a:solidFill>
                <a:latin typeface="JetBrains Mono"/>
                <a:ea typeface="JetBrains Mono"/>
              </a:rPr>
              <a:t>let patterns = PathPattern()</a:t>
            </a:r>
            <a:endParaRPr lang="en-US" sz="975">
              <a:solidFill>
                <a:srgbClr val="38BDF8"/>
              </a:solidFill>
              <a:latin typeface="JetBrains Mono"/>
              <a:ea typeface="JetBrains Mono"/>
            </a:endParaRPr>
          </a:p>
        </p:txBody>
      </p:sp>
      <p:sp>
        <p:nvSpPr>
          <p:cNvPr id="1888" name="文本框 1887" descr="{&quot;isTemplate&quot;:true,&quot;type&quot;:&quot;text&quot;}"/>
          <p:cNvSpPr txBox="1"/>
          <p:nvPr/>
        </p:nvSpPr>
        <p:spPr>
          <a:xfrm>
            <a:off x="781050" y="1552575"/>
            <a:ext cx="4991100" cy="2381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en-US" sz="975">
                <a:solidFill>
                  <a:srgbClr val="E2E8F0"/>
                </a:solidFill>
                <a:latin typeface="JetBrains Mono"/>
                <a:ea typeface="JetBrains Mono"/>
              </a:rPr>
              <a:t>patterns.compileIfAbsent('/api/user/{id}'){ handler }</a:t>
            </a:r>
            <a:endParaRPr lang="en-US" sz="975">
              <a:solidFill>
                <a:srgbClr val="E2E8F0"/>
              </a:solidFill>
              <a:latin typeface="JetBrains Mono"/>
              <a:ea typeface="JetBrains Mono"/>
            </a:endParaRPr>
          </a:p>
        </p:txBody>
      </p:sp>
      <p:sp>
        <p:nvSpPr>
          <p:cNvPr id="1889" name="文本框 1888" descr="{&quot;isTemplate&quot;:true,&quot;type&quot;:&quot;text&quot;}"/>
          <p:cNvSpPr txBox="1"/>
          <p:nvPr/>
        </p:nvSpPr>
        <p:spPr>
          <a:xfrm>
            <a:off x="781050" y="1790700"/>
            <a:ext cx="4991100" cy="2381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en-US" sz="975">
                <a:solidFill>
                  <a:srgbClr val="E2E8F0"/>
                </a:solidFill>
                <a:latin typeface="JetBrains Mono"/>
                <a:ea typeface="JetBrains Mono"/>
              </a:rPr>
              <a:t>patterns.data&lt;Handler&gt;('/api/user/1')</a:t>
            </a:r>
            <a:endParaRPr lang="en-US" sz="975">
              <a:solidFill>
                <a:srgbClr val="E2E8F0"/>
              </a:solidFill>
              <a:latin typeface="JetBrains Mono"/>
              <a:ea typeface="JetBrains Mono"/>
            </a:endParaRPr>
          </a:p>
        </p:txBody>
      </p:sp>
      <p:sp>
        <p:nvSpPr>
          <p:cNvPr id="1890" name="文本框 1889" descr="{&quot;isTemplate&quot;:true,&quot;type&quot;:&quot;text&quot;}"/>
          <p:cNvSpPr txBox="1"/>
          <p:nvPr/>
        </p:nvSpPr>
        <p:spPr>
          <a:xfrm>
            <a:off x="781050" y="2028825"/>
            <a:ext cx="4991100" cy="2381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en-US" sz="975">
                <a:solidFill>
                  <a:srgbClr val="E2E8F0"/>
                </a:solidFill>
                <a:latin typeface="JetBrains Mono"/>
                <a:ea typeface="JetBrains Mono"/>
              </a:rPr>
              <a:t>patterns.extractVariableInPath('/api/user/1', 'id')</a:t>
            </a:r>
            <a:endParaRPr lang="en-US" sz="975">
              <a:solidFill>
                <a:srgbClr val="E2E8F0"/>
              </a:solidFill>
              <a:latin typeface="JetBrains Mono"/>
              <a:ea typeface="JetBrains Mono"/>
            </a:endParaRPr>
          </a:p>
        </p:txBody>
      </p:sp>
      <p:graphicFrame>
        <p:nvGraphicFramePr>
          <p:cNvPr id="1891" name="表格 1890"/>
          <p:cNvGraphicFramePr/>
          <p:nvPr/>
        </p:nvGraphicFramePr>
        <p:xfrm>
          <a:off x="609600" y="2571750"/>
          <a:ext cx="5334000" cy="3714750"/>
        </p:xfrm>
        <a:graphic>
          <a:graphicData uri="http://schemas.openxmlformats.org/drawingml/2006/table">
            <a:tbl>
              <a:tblPr/>
              <a:tblGrid>
                <a:gridCol w="2589220"/>
                <a:gridCol w="2744780"/>
              </a:tblGrid>
              <a:tr h="359654"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 b="1">
                          <a:solidFill>
                            <a:srgbClr val="22D3EE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函数</a:t>
                      </a:r>
                      <a:endParaRPr sz="975" b="1">
                        <a:solidFill>
                          <a:srgbClr val="22D3EE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6233A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 b="1">
                          <a:solidFill>
                            <a:srgbClr val="22D3EE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作用</a:t>
                      </a:r>
                      <a:endParaRPr sz="975" b="1">
                        <a:solidFill>
                          <a:srgbClr val="22D3EE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6233A"/>
                    </a:solidFill>
                  </a:tcPr>
                </a:tc>
              </a:tr>
              <a:tr h="598585"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compile(path) / compile(path, data)</a:t>
                      </a:r>
                      <a:endParaRPr sz="975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注册路径（可挂任意数据：handler / 配置 / 元数据）</a:t>
                      </a:r>
                      <a:endParaRPr sz="975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359654"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compileIfAbsent(path, supplier)</a:t>
                      </a:r>
                      <a:endParaRPr sz="975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不存在才注册，返回已存在 / 新建的数据</a:t>
                      </a:r>
                      <a:endParaRPr sz="975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359654"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data&lt;T&gt;(path) / dataByPrefix&lt;T&gt;(path)</a:t>
                      </a:r>
                      <a:endParaRPr sz="975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按路径取出挂的数据</a:t>
                      </a:r>
                      <a:endParaRPr sz="975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359654"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matches(path) / matchesPrefix(path)</a:t>
                      </a:r>
                      <a:endParaRPr sz="975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是否匹配 / 是否前缀匹配</a:t>
                      </a:r>
                      <a:endParaRPr sz="975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359654"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extractVariableInPath(path, name)</a:t>
                      </a:r>
                      <a:endParaRPr sz="975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取单个路径变量</a:t>
                      </a:r>
                      <a:endParaRPr sz="975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359654"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extractVariablesInPath(path)</a:t>
                      </a:r>
                      <a:endParaRPr sz="975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取全部路径变量（Map）</a:t>
                      </a:r>
                      <a:endParaRPr sz="975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598585"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extractTimeVariableInPath(path, name, format)</a:t>
                      </a:r>
                      <a:endParaRPr sz="975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把路径变量直接解析成 DateTime</a:t>
                      </a:r>
                      <a:endParaRPr sz="975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359654"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extractParsable / extractDataParsable…</a:t>
                      </a:r>
                      <a:endParaRPr sz="975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解析成 Parsable / DataParsable 类型</a:t>
                      </a:r>
                      <a:endParaRPr sz="975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</a:tbl>
          </a:graphicData>
        </a:graphic>
      </p:graphicFrame>
      <p:graphicFrame>
        <p:nvGraphicFramePr>
          <p:cNvPr id="1892" name="表格 1891"/>
          <p:cNvGraphicFramePr/>
          <p:nvPr/>
        </p:nvGraphicFramePr>
        <p:xfrm>
          <a:off x="6096000" y="1143000"/>
          <a:ext cx="5486400" cy="3028950"/>
        </p:xfrm>
        <a:graphic>
          <a:graphicData uri="http://schemas.openxmlformats.org/drawingml/2006/table">
            <a:tbl>
              <a:tblPr/>
              <a:tblGrid>
                <a:gridCol w="660088"/>
                <a:gridCol w="2230837"/>
                <a:gridCol w="2595475"/>
              </a:tblGrid>
              <a:tr h="413301"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 b="1">
                          <a:solidFill>
                            <a:srgbClr val="22D3EE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优先级</a:t>
                      </a:r>
                      <a:endParaRPr sz="975" b="1">
                        <a:solidFill>
                          <a:srgbClr val="22D3EE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6233A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 b="1">
                          <a:solidFill>
                            <a:srgbClr val="22D3EE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模式</a:t>
                      </a:r>
                      <a:endParaRPr sz="975" b="1">
                        <a:solidFill>
                          <a:srgbClr val="22D3EE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6233A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 b="1">
                          <a:solidFill>
                            <a:srgbClr val="22D3EE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例子</a:t>
                      </a:r>
                      <a:endParaRPr sz="975" b="1">
                        <a:solidFill>
                          <a:srgbClr val="22D3EE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6233A"/>
                    </a:solidFill>
                  </a:tcPr>
                </a:tc>
              </a:tr>
              <a:tr h="413301"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F59E0B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a（最高）</a:t>
                      </a:r>
                      <a:endParaRPr sz="975">
                        <a:solidFill>
                          <a:srgbClr val="F59E0B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字符串相等</a:t>
                      </a:r>
                      <a:endParaRPr sz="975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/api/user/list</a:t>
                      </a:r>
                      <a:endParaRPr sz="975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687872"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b = c = d</a:t>
                      </a:r>
                      <a:endParaRPr sz="975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单级多字符 * / 单级单字符 ? / 单级正则</a:t>
                      </a:r>
                      <a:endParaRPr sz="975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/api/*.json　/api/user/?　/api/{#regex:\d+}</a:t>
                      </a:r>
                      <a:endParaRPr sz="975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413301"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e</a:t>
                      </a:r>
                      <a:endParaRPr sz="975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单 * （独占一整级）</a:t>
                      </a:r>
                      <a:endParaRPr sz="975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/api/*/detail</a:t>
                      </a:r>
                      <a:endParaRPr sz="975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413301"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f = g</a:t>
                      </a:r>
                      <a:endParaRPr sz="975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{name} 占位符 / {*name}</a:t>
                      </a:r>
                      <a:endParaRPr sz="975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/api/user/{id}</a:t>
                      </a:r>
                      <a:endParaRPr sz="975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687872"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64748B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h（最低）</a:t>
                      </a:r>
                      <a:endParaRPr sz="975">
                        <a:solidFill>
                          <a:srgbClr val="64748B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** （跨多级）</a:t>
                      </a:r>
                      <a:endParaRPr sz="975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/static/**</a:t>
                      </a:r>
                      <a:endParaRPr sz="975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</a:tbl>
          </a:graphicData>
        </a:graphic>
      </p:graphicFrame>
      <p:sp>
        <p:nvSpPr>
          <p:cNvPr id="1893" name="圆角矩形 1892"/>
          <p:cNvSpPr/>
          <p:nvPr/>
        </p:nvSpPr>
        <p:spPr>
          <a:xfrm>
            <a:off x="6096000" y="4305300"/>
            <a:ext cx="5486400" cy="1981200"/>
          </a:xfrm>
          <a:prstGeom prst="roundRect">
            <a:avLst>
              <a:gd name="adj" fmla="val 5769"/>
            </a:avLst>
          </a:prstGeom>
          <a:solidFill>
            <a:srgbClr val="38BDF8">
              <a:alpha val="6000"/>
            </a:srgbClr>
          </a:solidFill>
          <a:ln w="12700">
            <a:solidFill>
              <a:srgbClr val="38BDF8"/>
            </a:solidFill>
            <a:prstDash val="solid"/>
          </a:ln>
        </p:spPr>
        <p:txBody>
          <a:bodyPr/>
          <a:p/>
        </p:txBody>
      </p:sp>
      <p:sp>
        <p:nvSpPr>
          <p:cNvPr id="1894" name="文本框 1893" descr="{&quot;isTemplate&quot;:true,&quot;type&quot;:&quot;text&quot;}"/>
          <p:cNvSpPr txBox="1"/>
          <p:nvPr/>
        </p:nvSpPr>
        <p:spPr>
          <a:xfrm>
            <a:off x="6267450" y="4476750"/>
            <a:ext cx="5143500" cy="1714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38BDF8"/>
                </a:solidFill>
                <a:latin typeface="微软雅黑" panose="020B0503020204020204" charset="-122"/>
                <a:ea typeface="微软雅黑" panose="020B0503020204020204" charset="-122"/>
              </a:rPr>
              <a:t>规则补充</a:t>
            </a:r>
            <a:endParaRPr lang="zh-CN" sz="1125" b="1">
              <a:solidFill>
                <a:srgbClr val="38BDF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895" name="文本框 1894" descr="{&quot;isTemplate&quot;:true,&quot;type&quot;:&quot;text&quot;}"/>
          <p:cNvSpPr txBox="1"/>
          <p:nvPr/>
        </p:nvSpPr>
        <p:spPr>
          <a:xfrm>
            <a:off x="6267450" y="4724400"/>
            <a:ext cx="5143500" cy="2571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en-US" sz="975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· </a:t>
            </a:r>
            <a:r>
              <a:rPr lang="zh-CN" sz="975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只能匹配绝对路径（不以</a:t>
            </a:r>
            <a:r>
              <a:rPr lang="en-US" sz="975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 / </a:t>
            </a:r>
            <a:r>
              <a:rPr lang="zh-CN" sz="975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开头也按</a:t>
            </a:r>
            <a:r>
              <a:rPr lang="en-US" sz="975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 / </a:t>
            </a:r>
            <a:r>
              <a:rPr lang="zh-CN" sz="975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开头处理）</a:t>
            </a:r>
            <a:endParaRPr lang="zh-CN" sz="975">
              <a:solidFill>
                <a:srgbClr val="E2E8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896" name="文本框 1895" descr="{&quot;isTemplate&quot;:true,&quot;type&quot;:&quot;text&quot;}"/>
          <p:cNvSpPr txBox="1"/>
          <p:nvPr/>
        </p:nvSpPr>
        <p:spPr>
          <a:xfrm>
            <a:off x="6267450" y="5038725"/>
            <a:ext cx="5143500" cy="2571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en-US" sz="975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· </a:t>
            </a:r>
            <a:r>
              <a:rPr lang="zh-CN" sz="975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连续多个</a:t>
            </a:r>
            <a:r>
              <a:rPr lang="en-US" sz="975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 / </a:t>
            </a:r>
            <a:r>
              <a:rPr lang="zh-CN" sz="975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会合并成一个</a:t>
            </a:r>
            <a:endParaRPr lang="zh-CN" sz="975">
              <a:solidFill>
                <a:srgbClr val="E2E8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897" name="文本框 1896" descr="{&quot;isTemplate&quot;:true,&quot;type&quot;:&quot;text&quot;}"/>
          <p:cNvSpPr txBox="1"/>
          <p:nvPr/>
        </p:nvSpPr>
        <p:spPr>
          <a:xfrm>
            <a:off x="6267450" y="5353050"/>
            <a:ext cx="5143500" cy="2571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en-US" sz="975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· {name:regex} </a:t>
            </a:r>
            <a:r>
              <a:rPr lang="zh-CN" sz="975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形式的占位符自带正则约束</a:t>
            </a:r>
            <a:endParaRPr lang="zh-CN" sz="975">
              <a:solidFill>
                <a:srgbClr val="E2E8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898" name="文本框 1897" descr="{&quot;isTemplate&quot;:true,&quot;type&quot;:&quot;text&quot;}"/>
          <p:cNvSpPr txBox="1"/>
          <p:nvPr/>
        </p:nvSpPr>
        <p:spPr>
          <a:xfrm>
            <a:off x="6267450" y="5667375"/>
            <a:ext cx="5143500" cy="2571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en-US" sz="975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· #regex: </a:t>
            </a:r>
            <a:r>
              <a:rPr lang="zh-CN" sz="975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形式的那一节不作为路径变量</a:t>
            </a:r>
            <a:endParaRPr lang="zh-CN" sz="975">
              <a:solidFill>
                <a:srgbClr val="E2E8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899" name="文本框 1898" descr="{&quot;isTemplate&quot;:true,&quot;type&quot;:&quot;text&quot;}"/>
          <p:cNvSpPr txBox="1"/>
          <p:nvPr/>
        </p:nvSpPr>
        <p:spPr>
          <a:xfrm>
            <a:off x="6267450" y="5857875"/>
            <a:ext cx="5143500" cy="2571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zh-CN" sz="97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各函数都有</a:t>
            </a:r>
            <a:r>
              <a:rPr lang="en-US" sz="97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withExtName </a:t>
            </a:r>
            <a:r>
              <a:rPr lang="zh-CN" sz="97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重载：是否把扩展名当作路径的一部分。</a:t>
            </a:r>
            <a:endParaRPr lang="zh-CN" sz="975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900" name="任意多边形 1899"/>
          <p:cNvSpPr/>
          <p:nvPr/>
        </p:nvSpPr>
        <p:spPr>
          <a:xfrm>
            <a:off x="609600" y="6286500"/>
            <a:ext cx="10972800" cy="381000"/>
          </a:xfrm>
          <a:custGeom>
            <a:avLst/>
            <a:gdLst/>
            <a:ahLst/>
            <a:cxnLst/>
            <a:pathLst>
              <a:path w="1152" h="40">
                <a:moveTo>
                  <a:pt x="0" y="0"/>
                </a:moveTo>
                <a:lnTo>
                  <a:pt x="1152" y="0"/>
                </a:lnTo>
                <a:lnTo>
                  <a:pt x="1152" y="1"/>
                </a:lnTo>
                <a:lnTo>
                  <a:pt x="0" y="1"/>
                </a:lnTo>
                <a:close/>
              </a:path>
            </a:pathLst>
          </a:custGeom>
          <a:solidFill>
            <a:srgbClr val="1E293B"/>
          </a:solidFill>
        </p:spPr>
        <p:txBody>
          <a:bodyPr/>
          <a:p/>
        </p:txBody>
      </p:sp>
      <p:sp>
        <p:nvSpPr>
          <p:cNvPr id="1901" name="文本框 1900" descr="{&quot;isTemplate&quot;:true,&quot;type&quot;:&quot;text&quot;}"/>
          <p:cNvSpPr txBox="1"/>
          <p:nvPr/>
        </p:nvSpPr>
        <p:spPr>
          <a:xfrm>
            <a:off x="609600" y="6410325"/>
            <a:ext cx="2219325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fountain · 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一站式服务器应用开发工具库</a:t>
            </a:r>
            <a:endParaRPr lang="zh-CN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902" name="文本框 1901" descr="{&quot;isTemplate&quot;:true,&quot;type&quot;:&quot;text&quot;}"/>
          <p:cNvSpPr txBox="1"/>
          <p:nvPr/>
        </p:nvSpPr>
        <p:spPr>
          <a:xfrm>
            <a:off x="11087100" y="6410325"/>
            <a:ext cx="495300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58 / 116</a:t>
            </a:r>
            <a:endParaRPr lang="en-US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90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4" name="矩形 190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220"/>
          </a:solidFill>
        </p:spPr>
        <p:txBody>
          <a:bodyPr/>
          <a:p/>
        </p:txBody>
      </p:sp>
      <p:sp>
        <p:nvSpPr>
          <p:cNvPr id="1905" name="矩形 1904"/>
          <p:cNvSpPr/>
          <p:nvPr/>
        </p:nvSpPr>
        <p:spPr>
          <a:xfrm>
            <a:off x="609600" y="476250"/>
            <a:ext cx="38100" cy="381000"/>
          </a:xfrm>
          <a:prstGeom prst="rect">
            <a:avLst/>
          </a:prstGeom>
          <a:solidFill>
            <a:srgbClr val="38BDF8"/>
          </a:solidFill>
        </p:spPr>
        <p:txBody>
          <a:bodyPr/>
          <a:p/>
        </p:txBody>
      </p:sp>
      <p:sp>
        <p:nvSpPr>
          <p:cNvPr id="1906" name="文本框 1905" descr="{&quot;isTemplate&quot;:true,&quot;type&quot;:&quot;text&quot;}"/>
          <p:cNvSpPr txBox="1"/>
          <p:nvPr/>
        </p:nvSpPr>
        <p:spPr>
          <a:xfrm>
            <a:off x="819150" y="304800"/>
            <a:ext cx="9477375" cy="2095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第</a:t>
            </a: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 9 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章</a:t>
            </a: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 · 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工具箱</a:t>
            </a: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 f_util · 9.8</a:t>
            </a:r>
            <a:endParaRPr lang="en-US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907" name="文本框 1906" descr="{&quot;isTemplate&quot;:true,&quot;type&quot;:&quot;text&quot;}"/>
          <p:cNvSpPr txBox="1"/>
          <p:nvPr/>
        </p:nvSpPr>
        <p:spPr>
          <a:xfrm>
            <a:off x="819150" y="514350"/>
            <a:ext cx="9477375" cy="5143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en-US" sz="2550" b="1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TreeTransformer</a:t>
            </a:r>
            <a:r>
              <a:rPr lang="zh-CN" sz="2550" b="1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：平铺列表</a:t>
            </a:r>
            <a:r>
              <a:rPr lang="en-US" sz="2550" b="1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 → </a:t>
            </a:r>
            <a:r>
              <a:rPr lang="zh-CN" sz="2550" b="1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树</a:t>
            </a:r>
            <a:endParaRPr lang="zh-CN" sz="2550" b="1">
              <a:solidFill>
                <a:srgbClr val="E2E8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908" name="文本框 1907" descr="{&quot;isTemplate&quot;:true,&quot;type&quot;:&quot;text&quot;}"/>
          <p:cNvSpPr txBox="1"/>
          <p:nvPr/>
        </p:nvSpPr>
        <p:spPr>
          <a:xfrm>
            <a:off x="10467975" y="590550"/>
            <a:ext cx="1114425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这段代码你写过十遍</a:t>
            </a:r>
            <a:endParaRPr lang="zh-CN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909" name="圆角矩形 1908"/>
          <p:cNvSpPr/>
          <p:nvPr/>
        </p:nvSpPr>
        <p:spPr>
          <a:xfrm>
            <a:off x="609600" y="1143000"/>
            <a:ext cx="4953000" cy="3429000"/>
          </a:xfrm>
          <a:prstGeom prst="roundRect">
            <a:avLst>
              <a:gd name="adj" fmla="val 3333"/>
            </a:avLst>
          </a:prstGeom>
          <a:solidFill>
            <a:srgbClr val="0B1220"/>
          </a:solidFill>
          <a:ln w="12700">
            <a:solidFill>
              <a:srgbClr val="1E293B"/>
            </a:solidFill>
            <a:prstDash val="solid"/>
          </a:ln>
        </p:spPr>
        <p:txBody>
          <a:bodyPr/>
          <a:p/>
        </p:txBody>
      </p:sp>
      <p:sp>
        <p:nvSpPr>
          <p:cNvPr id="1910" name="文本框 1909" descr="{&quot;isTemplate&quot;:true,&quot;type&quot;:&quot;text&quot;}"/>
          <p:cNvSpPr txBox="1"/>
          <p:nvPr/>
        </p:nvSpPr>
        <p:spPr>
          <a:xfrm>
            <a:off x="781050" y="1314450"/>
            <a:ext cx="4610100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接口关键签名</a:t>
            </a:r>
            <a:endParaRPr lang="zh-CN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911" name="文本框 1910" descr="{&quot;isTemplate&quot;:true,&quot;type&quot;:&quot;text&quot;}"/>
          <p:cNvSpPr txBox="1"/>
          <p:nvPr/>
        </p:nvSpPr>
        <p:spPr>
          <a:xfrm>
            <a:off x="781050" y="1543050"/>
            <a:ext cx="4610100" cy="476250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en-US" sz="975">
                <a:solidFill>
                  <a:srgbClr val="E2E8F0"/>
                </a:solidFill>
                <a:latin typeface="JetBrains Mono"/>
                <a:ea typeface="JetBrains Mono"/>
              </a:rPr>
              <a:t>public interface TreeNode&lt;ID, T&gt; where ID &lt;: Hashable &amp; Equatable&lt;ID&gt;,</a:t>
            </a:r>
            <a:endParaRPr lang="en-US" sz="975">
              <a:solidFill>
                <a:srgbClr val="E2E8F0"/>
              </a:solidFill>
              <a:latin typeface="JetBrains Mono"/>
              <a:ea typeface="JetBrains Mono"/>
            </a:endParaRPr>
          </a:p>
        </p:txBody>
      </p:sp>
      <p:sp>
        <p:nvSpPr>
          <p:cNvPr id="1912" name="文本框 1911" descr="{&quot;isTemplate&quot;:true,&quot;type&quot;:&quot;text&quot;}"/>
          <p:cNvSpPr txBox="1"/>
          <p:nvPr/>
        </p:nvSpPr>
        <p:spPr>
          <a:xfrm>
            <a:off x="781050" y="2019300"/>
            <a:ext cx="4610100" cy="476250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en-US" sz="975">
                <a:solidFill>
                  <a:srgbClr val="E2E8F0"/>
                </a:solidFill>
                <a:latin typeface="JetBrains Mono"/>
                <a:ea typeface="JetBrains Mono"/>
              </a:rPr>
              <a:t>                                            T &lt;: Object &amp; TreeNode&lt;ID, T&gt; {</a:t>
            </a:r>
            <a:endParaRPr lang="en-US" sz="975">
              <a:solidFill>
                <a:srgbClr val="E2E8F0"/>
              </a:solidFill>
              <a:latin typeface="JetBrains Mono"/>
              <a:ea typeface="JetBrains Mono"/>
            </a:endParaRPr>
          </a:p>
        </p:txBody>
      </p:sp>
      <p:sp>
        <p:nvSpPr>
          <p:cNvPr id="1913" name="文本框 1912" descr="{&quot;isTemplate&quot;:true,&quot;type&quot;:&quot;text&quot;}"/>
          <p:cNvSpPr txBox="1"/>
          <p:nvPr/>
        </p:nvSpPr>
        <p:spPr>
          <a:xfrm>
            <a:off x="781050" y="2495550"/>
            <a:ext cx="4610100" cy="2381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en-US" sz="975">
                <a:solidFill>
                  <a:srgbClr val="38BDF8"/>
                </a:solidFill>
                <a:latin typeface="JetBrains Mono"/>
                <a:ea typeface="JetBrains Mono"/>
              </a:rPr>
              <a:t>    prop children: ArrayList&lt;T&gt;</a:t>
            </a:r>
            <a:endParaRPr lang="en-US" sz="975">
              <a:solidFill>
                <a:srgbClr val="38BDF8"/>
              </a:solidFill>
              <a:latin typeface="JetBrains Mono"/>
              <a:ea typeface="JetBrains Mono"/>
            </a:endParaRPr>
          </a:p>
        </p:txBody>
      </p:sp>
      <p:sp>
        <p:nvSpPr>
          <p:cNvPr id="1914" name="文本框 1913" descr="{&quot;isTemplate&quot;:true,&quot;type&quot;:&quot;text&quot;}"/>
          <p:cNvSpPr txBox="1"/>
          <p:nvPr/>
        </p:nvSpPr>
        <p:spPr>
          <a:xfrm>
            <a:off x="781050" y="2733675"/>
            <a:ext cx="4610100" cy="2381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en-US" sz="975">
                <a:solidFill>
                  <a:srgbClr val="38BDF8"/>
                </a:solidFill>
                <a:latin typeface="JetBrains Mono"/>
                <a:ea typeface="JetBrains Mono"/>
              </a:rPr>
              <a:t>    prop id: ID</a:t>
            </a:r>
            <a:r>
              <a:rPr lang="zh-CN" sz="975">
                <a:solidFill>
                  <a:srgbClr val="38BDF8"/>
                </a:solidFill>
                <a:latin typeface="JetBrains Mono"/>
                <a:ea typeface="JetBrains Mono"/>
              </a:rPr>
              <a:t>　·　</a:t>
            </a:r>
            <a:r>
              <a:rPr lang="en-US" sz="975">
                <a:solidFill>
                  <a:srgbClr val="38BDF8"/>
                </a:solidFill>
                <a:latin typeface="JetBrains Mono"/>
                <a:ea typeface="JetBrains Mono"/>
              </a:rPr>
              <a:t>prop parentId: ID</a:t>
            </a:r>
            <a:endParaRPr lang="en-US" sz="975">
              <a:solidFill>
                <a:srgbClr val="38BDF8"/>
              </a:solidFill>
              <a:latin typeface="JetBrains Mono"/>
              <a:ea typeface="JetBrains Mono"/>
            </a:endParaRPr>
          </a:p>
        </p:txBody>
      </p:sp>
      <p:sp>
        <p:nvSpPr>
          <p:cNvPr id="1915" name="文本框 1914" descr="{&quot;isTemplate&quot;:true,&quot;type&quot;:&quot;text&quot;}"/>
          <p:cNvSpPr txBox="1"/>
          <p:nvPr/>
        </p:nvSpPr>
        <p:spPr>
          <a:xfrm>
            <a:off x="781050" y="2971800"/>
            <a:ext cx="4610100" cy="2381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en-US" sz="975">
                <a:solidFill>
                  <a:srgbClr val="38BDF8"/>
                </a:solidFill>
                <a:latin typeface="JetBrains Mono"/>
                <a:ea typeface="JetBrains Mono"/>
              </a:rPr>
              <a:t>    func addChild(child: T): Unit { children.add(child) }</a:t>
            </a:r>
            <a:endParaRPr lang="en-US" sz="975">
              <a:solidFill>
                <a:srgbClr val="38BDF8"/>
              </a:solidFill>
              <a:latin typeface="JetBrains Mono"/>
              <a:ea typeface="JetBrains Mono"/>
            </a:endParaRPr>
          </a:p>
        </p:txBody>
      </p:sp>
      <p:sp>
        <p:nvSpPr>
          <p:cNvPr id="1916" name="文本框 1915" descr="{&quot;isTemplate&quot;:true,&quot;type&quot;:&quot;text&quot;}"/>
          <p:cNvSpPr txBox="1"/>
          <p:nvPr/>
        </p:nvSpPr>
        <p:spPr>
          <a:xfrm>
            <a:off x="781050" y="3209925"/>
            <a:ext cx="4610100" cy="476250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en-US" sz="975">
                <a:solidFill>
                  <a:srgbClr val="E2E8F0"/>
                </a:solidFill>
                <a:latin typeface="JetBrains Mono"/>
                <a:ea typeface="JetBrains Mono"/>
              </a:rPr>
              <a:t>    static func transform&lt;S&gt;(iterable: Iterable&lt;S&gt;, emptyId: ID,</a:t>
            </a:r>
            <a:endParaRPr lang="en-US" sz="975">
              <a:solidFill>
                <a:srgbClr val="E2E8F0"/>
              </a:solidFill>
              <a:latin typeface="JetBrains Mono"/>
              <a:ea typeface="JetBrains Mono"/>
            </a:endParaRPr>
          </a:p>
        </p:txBody>
      </p:sp>
      <p:sp>
        <p:nvSpPr>
          <p:cNvPr id="1917" name="文本框 1916" descr="{&quot;isTemplate&quot;:true,&quot;type&quot;:&quot;text&quot;}"/>
          <p:cNvSpPr txBox="1"/>
          <p:nvPr/>
        </p:nvSpPr>
        <p:spPr>
          <a:xfrm>
            <a:off x="781050" y="3686175"/>
            <a:ext cx="4610100" cy="476250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en-US" sz="975">
                <a:solidFill>
                  <a:srgbClr val="E2E8F0"/>
                </a:solidFill>
                <a:latin typeface="JetBrains Mono"/>
                <a:ea typeface="JetBrains Mono"/>
              </a:rPr>
              <a:t>                             ignoreDuplicate: Bool, transferFn: (S) -&gt; ?T): ArrayList&lt;T&gt;</a:t>
            </a:r>
            <a:endParaRPr lang="en-US" sz="975">
              <a:solidFill>
                <a:srgbClr val="E2E8F0"/>
              </a:solidFill>
              <a:latin typeface="JetBrains Mono"/>
              <a:ea typeface="JetBrains Mono"/>
            </a:endParaRPr>
          </a:p>
        </p:txBody>
      </p:sp>
      <p:sp>
        <p:nvSpPr>
          <p:cNvPr id="1918" name="文本框 1917" descr="{&quot;isTemplate&quot;:true,&quot;type&quot;:&quot;text&quot;}"/>
          <p:cNvSpPr txBox="1"/>
          <p:nvPr/>
        </p:nvSpPr>
        <p:spPr>
          <a:xfrm>
            <a:off x="781050" y="4162425"/>
            <a:ext cx="4610100" cy="2381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en-US" sz="975">
                <a:solidFill>
                  <a:srgbClr val="E2E8F0"/>
                </a:solidFill>
                <a:latin typeface="JetBrains Mono"/>
                <a:ea typeface="JetBrains Mono"/>
              </a:rPr>
              <a:t>}</a:t>
            </a:r>
            <a:endParaRPr lang="en-US" sz="975">
              <a:solidFill>
                <a:srgbClr val="E2E8F0"/>
              </a:solidFill>
              <a:latin typeface="JetBrains Mono"/>
              <a:ea typeface="JetBrains Mono"/>
            </a:endParaRPr>
          </a:p>
        </p:txBody>
      </p:sp>
      <p:sp>
        <p:nvSpPr>
          <p:cNvPr id="1919" name="圆角矩形 1918"/>
          <p:cNvSpPr/>
          <p:nvPr/>
        </p:nvSpPr>
        <p:spPr>
          <a:xfrm>
            <a:off x="5715000" y="1143000"/>
            <a:ext cx="5867400" cy="2343150"/>
          </a:xfrm>
          <a:prstGeom prst="roundRect">
            <a:avLst>
              <a:gd name="adj" fmla="val 4878"/>
            </a:avLst>
          </a:prstGeom>
          <a:solidFill>
            <a:srgbClr val="111C2E"/>
          </a:solidFill>
          <a:ln w="12700">
            <a:solidFill>
              <a:srgbClr val="38BDF8"/>
            </a:solidFill>
            <a:prstDash val="solid"/>
          </a:ln>
        </p:spPr>
        <p:txBody>
          <a:bodyPr/>
          <a:p/>
        </p:txBody>
      </p:sp>
      <p:sp>
        <p:nvSpPr>
          <p:cNvPr id="1920" name="文本框 1919" descr="{&quot;isTemplate&quot;:true,&quot;type&quot;:&quot;text&quot;}"/>
          <p:cNvSpPr txBox="1"/>
          <p:nvPr/>
        </p:nvSpPr>
        <p:spPr>
          <a:xfrm>
            <a:off x="5886450" y="1314450"/>
            <a:ext cx="5524500" cy="1714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38BDF8"/>
                </a:solidFill>
                <a:latin typeface="微软雅黑" panose="020B0503020204020204" charset="-122"/>
                <a:ea typeface="微软雅黑" panose="020B0503020204020204" charset="-122"/>
              </a:rPr>
              <a:t>用法就两步</a:t>
            </a:r>
            <a:endParaRPr lang="zh-CN" sz="1125" b="1">
              <a:solidFill>
                <a:srgbClr val="38BDF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921" name="文本框 1920" descr="{&quot;isTemplate&quot;:true,&quot;type&quot;:&quot;text&quot;}"/>
          <p:cNvSpPr txBox="1"/>
          <p:nvPr/>
        </p:nvSpPr>
        <p:spPr>
          <a:xfrm>
            <a:off x="5886450" y="1581150"/>
            <a:ext cx="5524500" cy="2762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en-US" sz="105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① </a:t>
            </a:r>
            <a:r>
              <a:rPr lang="zh-CN" sz="105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让你的树节点类实现</a:t>
            </a:r>
            <a:r>
              <a:rPr lang="en-US" sz="105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 TreeNode&lt;ID, T&gt;</a:t>
            </a:r>
            <a:r>
              <a:rPr lang="zh-CN" sz="105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，提供</a:t>
            </a:r>
            <a:r>
              <a:rPr lang="en-US" sz="105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 id / parentId / children</a:t>
            </a:r>
            <a:r>
              <a:rPr lang="zh-CN" sz="105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。</a:t>
            </a:r>
            <a:endParaRPr lang="zh-CN" sz="1050">
              <a:solidFill>
                <a:srgbClr val="E2E8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922" name="文本框 1921" descr="{&quot;isTemplate&quot;:true,&quot;type&quot;:&quot;text&quot;}"/>
          <p:cNvSpPr txBox="1"/>
          <p:nvPr/>
        </p:nvSpPr>
        <p:spPr>
          <a:xfrm>
            <a:off x="5886450" y="1933575"/>
            <a:ext cx="5524500" cy="2762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en-US" sz="105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② </a:t>
            </a:r>
            <a:r>
              <a:rPr lang="zh-CN" sz="105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一行把</a:t>
            </a:r>
            <a:r>
              <a:rPr lang="en-US" sz="105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 DAO </a:t>
            </a:r>
            <a:r>
              <a:rPr lang="zh-CN" sz="105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查出来的平铺列表变成森林。</a:t>
            </a:r>
            <a:endParaRPr lang="zh-CN" sz="1050">
              <a:solidFill>
                <a:srgbClr val="E2E8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923" name="文本框 1922" descr="{&quot;isTemplate&quot;:true,&quot;type&quot;:&quot;text&quot;}"/>
          <p:cNvSpPr txBox="1"/>
          <p:nvPr/>
        </p:nvSpPr>
        <p:spPr>
          <a:xfrm>
            <a:off x="5886450" y="3038475"/>
            <a:ext cx="5524500" cy="2762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zh-CN" sz="105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菜单树、组织树、分类树、评论楼层</a:t>
            </a:r>
            <a:r>
              <a:rPr lang="en-US" sz="105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 —— </a:t>
            </a:r>
            <a:r>
              <a:rPr lang="zh-CN" sz="105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都是这个场景。</a:t>
            </a:r>
            <a:endParaRPr lang="zh-CN" sz="105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924" name="圆角矩形 1923"/>
          <p:cNvSpPr/>
          <p:nvPr/>
        </p:nvSpPr>
        <p:spPr>
          <a:xfrm>
            <a:off x="609600" y="3638550"/>
            <a:ext cx="10972800" cy="2647950"/>
          </a:xfrm>
          <a:prstGeom prst="roundRect">
            <a:avLst>
              <a:gd name="adj" fmla="val 4317"/>
            </a:avLst>
          </a:prstGeom>
          <a:solidFill>
            <a:srgbClr val="0B1220"/>
          </a:solidFill>
          <a:ln w="12700">
            <a:solidFill>
              <a:srgbClr val="1E293B"/>
            </a:solidFill>
            <a:prstDash val="solid"/>
          </a:ln>
        </p:spPr>
        <p:txBody>
          <a:bodyPr/>
          <a:p/>
        </p:txBody>
      </p:sp>
      <p:sp>
        <p:nvSpPr>
          <p:cNvPr id="1925" name="文本框 1924" descr="{&quot;isTemplate&quot;:true,&quot;type&quot;:&quot;text&quot;}"/>
          <p:cNvSpPr txBox="1"/>
          <p:nvPr/>
        </p:nvSpPr>
        <p:spPr>
          <a:xfrm>
            <a:off x="781050" y="3810000"/>
            <a:ext cx="10629900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示例</a:t>
            </a:r>
            <a:endParaRPr lang="zh-CN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926" name="文本框 1925" descr="{&quot;isTemplate&quot;:true,&quot;type&quot;:&quot;text&quot;}"/>
          <p:cNvSpPr txBox="1"/>
          <p:nvPr/>
        </p:nvSpPr>
        <p:spPr>
          <a:xfrm>
            <a:off x="781050" y="4038600"/>
            <a:ext cx="10629900" cy="2476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65000"/>
              </a:lnSpc>
            </a:pPr>
            <a:r>
              <a:rPr lang="en-US" sz="975">
                <a:solidFill>
                  <a:srgbClr val="E2E8F0"/>
                </a:solidFill>
                <a:latin typeface="JetBrains Mono"/>
                <a:ea typeface="JetBrains Mono"/>
              </a:rPr>
              <a:t>public class MenuNode &lt;: TreeNode&lt;Int64, MenuNode&gt; {</a:t>
            </a:r>
            <a:endParaRPr lang="en-US" sz="975">
              <a:solidFill>
                <a:srgbClr val="E2E8F0"/>
              </a:solidFill>
              <a:latin typeface="JetBrains Mono"/>
              <a:ea typeface="JetBrains Mono"/>
            </a:endParaRPr>
          </a:p>
        </p:txBody>
      </p:sp>
      <p:sp>
        <p:nvSpPr>
          <p:cNvPr id="1927" name="文本框 1926" descr="{&quot;isTemplate&quot;:true,&quot;type&quot;:&quot;text&quot;}"/>
          <p:cNvSpPr txBox="1"/>
          <p:nvPr/>
        </p:nvSpPr>
        <p:spPr>
          <a:xfrm>
            <a:off x="781050" y="4286250"/>
            <a:ext cx="10629900" cy="2476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65000"/>
              </a:lnSpc>
            </a:pPr>
            <a:r>
              <a:rPr lang="en-US" sz="975">
                <a:solidFill>
                  <a:srgbClr val="94A3B8"/>
                </a:solidFill>
                <a:latin typeface="JetBrains Mono"/>
                <a:ea typeface="JetBrains Mono"/>
              </a:rPr>
              <a:t>    public let id: Int64</a:t>
            </a:r>
            <a:r>
              <a:rPr lang="zh-CN" sz="975">
                <a:solidFill>
                  <a:srgbClr val="94A3B8"/>
                </a:solidFill>
                <a:latin typeface="JetBrains Mono"/>
                <a:ea typeface="JetBrains Mono"/>
              </a:rPr>
              <a:t>　·　</a:t>
            </a:r>
            <a:r>
              <a:rPr lang="en-US" sz="975">
                <a:solidFill>
                  <a:srgbClr val="94A3B8"/>
                </a:solidFill>
                <a:latin typeface="JetBrains Mono"/>
                <a:ea typeface="JetBrains Mono"/>
              </a:rPr>
              <a:t>public let parentId: Int64</a:t>
            </a:r>
            <a:r>
              <a:rPr lang="zh-CN" sz="975">
                <a:solidFill>
                  <a:srgbClr val="94A3B8"/>
                </a:solidFill>
                <a:latin typeface="JetBrains Mono"/>
                <a:ea typeface="JetBrains Mono"/>
              </a:rPr>
              <a:t>　·　</a:t>
            </a:r>
            <a:r>
              <a:rPr lang="en-US" sz="975">
                <a:solidFill>
                  <a:srgbClr val="94A3B8"/>
                </a:solidFill>
                <a:latin typeface="JetBrains Mono"/>
                <a:ea typeface="JetBrains Mono"/>
              </a:rPr>
              <a:t>public let children = ArrayList&lt;MenuNode&gt;()</a:t>
            </a:r>
            <a:endParaRPr lang="en-US" sz="975">
              <a:solidFill>
                <a:srgbClr val="94A3B8"/>
              </a:solidFill>
              <a:latin typeface="JetBrains Mono"/>
              <a:ea typeface="JetBrains Mono"/>
            </a:endParaRPr>
          </a:p>
        </p:txBody>
      </p:sp>
      <p:sp>
        <p:nvSpPr>
          <p:cNvPr id="1928" name="文本框 1927" descr="{&quot;isTemplate&quot;:true,&quot;type&quot;:&quot;text&quot;}"/>
          <p:cNvSpPr txBox="1"/>
          <p:nvPr/>
        </p:nvSpPr>
        <p:spPr>
          <a:xfrm>
            <a:off x="781050" y="4533900"/>
            <a:ext cx="10629900" cy="2476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65000"/>
              </a:lnSpc>
            </a:pPr>
            <a:r>
              <a:rPr lang="en-US" sz="975">
                <a:solidFill>
                  <a:srgbClr val="E2E8F0"/>
                </a:solidFill>
                <a:latin typeface="JetBrains Mono"/>
                <a:ea typeface="JetBrains Mono"/>
              </a:rPr>
              <a:t>}</a:t>
            </a:r>
            <a:endParaRPr lang="en-US" sz="975">
              <a:solidFill>
                <a:srgbClr val="E2E8F0"/>
              </a:solidFill>
              <a:latin typeface="JetBrains Mono"/>
              <a:ea typeface="JetBrains Mono"/>
            </a:endParaRPr>
          </a:p>
        </p:txBody>
      </p:sp>
      <p:sp>
        <p:nvSpPr>
          <p:cNvPr id="1929" name="文本框 1928" descr="{&quot;isTemplate&quot;:true,&quot;type&quot;:&quot;text&quot;}"/>
          <p:cNvSpPr txBox="1"/>
          <p:nvPr/>
        </p:nvSpPr>
        <p:spPr>
          <a:xfrm>
            <a:off x="781050" y="4857750"/>
            <a:ext cx="10629900" cy="2476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65000"/>
              </a:lnSpc>
            </a:pPr>
            <a:r>
              <a:rPr lang="en-US" sz="975">
                <a:solidFill>
                  <a:srgbClr val="38BDF8"/>
                </a:solidFill>
                <a:latin typeface="JetBrains Mono"/>
                <a:ea typeface="JetBrains Mono"/>
              </a:rPr>
              <a:t>let roots = MenuNode.transform&lt;MenuPO&gt;(poList, emptyId: 0){ po =&gt; MenuNode(po) }</a:t>
            </a:r>
            <a:endParaRPr lang="en-US" sz="975">
              <a:solidFill>
                <a:srgbClr val="38BDF8"/>
              </a:solidFill>
              <a:latin typeface="JetBrains Mono"/>
              <a:ea typeface="JetBrains Mono"/>
            </a:endParaRPr>
          </a:p>
        </p:txBody>
      </p:sp>
      <p:sp>
        <p:nvSpPr>
          <p:cNvPr id="1930" name="文本框 1929" descr="{&quot;isTemplate&quot;:true,&quot;type&quot;:&quot;text&quot;}"/>
          <p:cNvSpPr txBox="1"/>
          <p:nvPr/>
        </p:nvSpPr>
        <p:spPr>
          <a:xfrm>
            <a:off x="781050" y="5181600"/>
            <a:ext cx="10629900" cy="2476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65000"/>
              </a:lnSpc>
            </a:pPr>
            <a:r>
              <a:rPr lang="en-US" sz="975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emptyId </a:t>
            </a:r>
            <a:r>
              <a:rPr lang="zh-CN" sz="975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是「根节点的</a:t>
            </a:r>
            <a:r>
              <a:rPr lang="en-US" sz="975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 parentId </a:t>
            </a:r>
            <a:r>
              <a:rPr lang="zh-CN" sz="975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值」（通常</a:t>
            </a:r>
            <a:r>
              <a:rPr lang="en-US" sz="975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 0 </a:t>
            </a:r>
            <a:r>
              <a:rPr lang="zh-CN" sz="975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或</a:t>
            </a:r>
            <a:r>
              <a:rPr lang="en-US" sz="975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 -1</a:t>
            </a:r>
            <a:r>
              <a:rPr lang="zh-CN" sz="975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）；</a:t>
            </a:r>
            <a:r>
              <a:rPr lang="en-US" sz="975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ignoreDuplicate </a:t>
            </a:r>
            <a:r>
              <a:rPr lang="zh-CN" sz="975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为</a:t>
            </a:r>
            <a:r>
              <a:rPr lang="en-US" sz="975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 true </a:t>
            </a:r>
            <a:r>
              <a:rPr lang="zh-CN" sz="975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时遇到重复</a:t>
            </a:r>
            <a:r>
              <a:rPr lang="en-US" sz="975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 id </a:t>
            </a:r>
            <a:r>
              <a:rPr lang="zh-CN" sz="975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跳过而不是抛异常；</a:t>
            </a:r>
            <a:r>
              <a:rPr lang="en-US" sz="975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transferFn </a:t>
            </a:r>
            <a:r>
              <a:rPr lang="zh-CN" sz="975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返回</a:t>
            </a:r>
            <a:r>
              <a:rPr lang="en-US" sz="975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 None </a:t>
            </a:r>
            <a:r>
              <a:rPr lang="zh-CN" sz="975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会抛</a:t>
            </a:r>
            <a:r>
              <a:rPr lang="en-US" sz="975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 IllegalArgumentException</a:t>
            </a:r>
            <a:r>
              <a:rPr lang="zh-CN" sz="975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。</a:t>
            </a:r>
            <a:endParaRPr lang="zh-CN" sz="975">
              <a:solidFill>
                <a:srgbClr val="F59E0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931" name="文本框 1930" descr="{&quot;isTemplate&quot;:true,&quot;type&quot;:&quot;text&quot;}"/>
          <p:cNvSpPr txBox="1"/>
          <p:nvPr/>
        </p:nvSpPr>
        <p:spPr>
          <a:xfrm>
            <a:off x="781050" y="5867400"/>
            <a:ext cx="10629900" cy="2476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65000"/>
              </a:lnSpc>
            </a:pPr>
            <a:r>
              <a:rPr lang="zh-CN" sz="97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不带</a:t>
            </a:r>
            <a:r>
              <a:rPr lang="en-US" sz="97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transferFn </a:t>
            </a:r>
            <a:r>
              <a:rPr lang="zh-CN" sz="97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的重载等价于直接把源元素当作树节点。</a:t>
            </a:r>
            <a:endParaRPr lang="zh-CN" sz="975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932" name="任意多边形 1931"/>
          <p:cNvSpPr/>
          <p:nvPr/>
        </p:nvSpPr>
        <p:spPr>
          <a:xfrm>
            <a:off x="609600" y="6286500"/>
            <a:ext cx="10972800" cy="381000"/>
          </a:xfrm>
          <a:custGeom>
            <a:avLst/>
            <a:gdLst/>
            <a:ahLst/>
            <a:cxnLst/>
            <a:pathLst>
              <a:path w="1152" h="40">
                <a:moveTo>
                  <a:pt x="0" y="0"/>
                </a:moveTo>
                <a:lnTo>
                  <a:pt x="1152" y="0"/>
                </a:lnTo>
                <a:lnTo>
                  <a:pt x="1152" y="1"/>
                </a:lnTo>
                <a:lnTo>
                  <a:pt x="0" y="1"/>
                </a:lnTo>
                <a:close/>
              </a:path>
            </a:pathLst>
          </a:custGeom>
          <a:solidFill>
            <a:srgbClr val="1E293B"/>
          </a:solidFill>
        </p:spPr>
        <p:txBody>
          <a:bodyPr/>
          <a:p/>
        </p:txBody>
      </p:sp>
      <p:sp>
        <p:nvSpPr>
          <p:cNvPr id="1933" name="文本框 1932" descr="{&quot;isTemplate&quot;:true,&quot;type&quot;:&quot;text&quot;}"/>
          <p:cNvSpPr txBox="1"/>
          <p:nvPr/>
        </p:nvSpPr>
        <p:spPr>
          <a:xfrm>
            <a:off x="609600" y="6410325"/>
            <a:ext cx="2219325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fountain · 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一站式服务器应用开发工具库</a:t>
            </a:r>
            <a:endParaRPr lang="zh-CN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934" name="文本框 1933" descr="{&quot;isTemplate&quot;:true,&quot;type&quot;:&quot;text&quot;}"/>
          <p:cNvSpPr txBox="1"/>
          <p:nvPr/>
        </p:nvSpPr>
        <p:spPr>
          <a:xfrm>
            <a:off x="11087100" y="6410325"/>
            <a:ext cx="495300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59 / 116</a:t>
            </a:r>
            <a:endParaRPr lang="en-US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97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1" name="矩形 197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220"/>
          </a:solidFill>
        </p:spPr>
        <p:txBody>
          <a:bodyPr/>
          <a:p/>
        </p:txBody>
      </p:sp>
      <p:sp>
        <p:nvSpPr>
          <p:cNvPr id="1972" name="矩形 1971"/>
          <p:cNvSpPr/>
          <p:nvPr/>
        </p:nvSpPr>
        <p:spPr>
          <a:xfrm>
            <a:off x="609600" y="476250"/>
            <a:ext cx="38100" cy="381000"/>
          </a:xfrm>
          <a:prstGeom prst="rect">
            <a:avLst/>
          </a:prstGeom>
          <a:solidFill>
            <a:srgbClr val="38BDF8"/>
          </a:solidFill>
        </p:spPr>
        <p:txBody>
          <a:bodyPr/>
          <a:p/>
        </p:txBody>
      </p:sp>
      <p:sp>
        <p:nvSpPr>
          <p:cNvPr id="1973" name="文本框 1972" descr="{&quot;isTemplate&quot;:true,&quot;type&quot;:&quot;text&quot;}"/>
          <p:cNvSpPr txBox="1"/>
          <p:nvPr/>
        </p:nvSpPr>
        <p:spPr>
          <a:xfrm>
            <a:off x="819150" y="304800"/>
            <a:ext cx="9182100" cy="2095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第</a:t>
            </a: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 9 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章</a:t>
            </a: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 · 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工具箱</a:t>
            </a: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 f_util · 9.9</a:t>
            </a:r>
            <a:endParaRPr lang="en-US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974" name="文本框 1973" descr="{&quot;isTemplate&quot;:true,&quot;type&quot;:&quot;text&quot;}"/>
          <p:cNvSpPr txBox="1"/>
          <p:nvPr/>
        </p:nvSpPr>
        <p:spPr>
          <a:xfrm>
            <a:off x="819150" y="514350"/>
            <a:ext cx="9182100" cy="5143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2550" b="1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三个现成的设计模式骨架</a:t>
            </a:r>
            <a:endParaRPr lang="zh-CN" sz="2550" b="1">
              <a:solidFill>
                <a:srgbClr val="E2E8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975" name="文本框 1974" descr="{&quot;isTemplate&quot;:true,&quot;type&quot;:&quot;text&quot;}"/>
          <p:cNvSpPr txBox="1"/>
          <p:nvPr/>
        </p:nvSpPr>
        <p:spPr>
          <a:xfrm>
            <a:off x="10172700" y="590550"/>
            <a:ext cx="1409700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接口</a:t>
            </a: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 + 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注册表，一次到位</a:t>
            </a:r>
            <a:endParaRPr lang="zh-CN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976" name="圆角矩形 1975"/>
          <p:cNvSpPr/>
          <p:nvPr/>
        </p:nvSpPr>
        <p:spPr>
          <a:xfrm>
            <a:off x="609600" y="1143000"/>
            <a:ext cx="3552825" cy="5143500"/>
          </a:xfrm>
          <a:prstGeom prst="roundRect">
            <a:avLst>
              <a:gd name="adj" fmla="val 3217"/>
            </a:avLst>
          </a:prstGeom>
          <a:solidFill>
            <a:srgbClr val="111C2E"/>
          </a:solidFill>
          <a:ln w="12700">
            <a:solidFill>
              <a:srgbClr val="38BDF8"/>
            </a:solidFill>
            <a:prstDash val="solid"/>
          </a:ln>
        </p:spPr>
        <p:txBody>
          <a:bodyPr/>
          <a:p/>
        </p:txBody>
      </p:sp>
      <p:sp>
        <p:nvSpPr>
          <p:cNvPr id="1977" name="文本框 1976" descr="{&quot;isTemplate&quot;:true,&quot;type&quot;:&quot;text&quot;}"/>
          <p:cNvSpPr txBox="1"/>
          <p:nvPr/>
        </p:nvSpPr>
        <p:spPr>
          <a:xfrm>
            <a:off x="819150" y="1352550"/>
            <a:ext cx="3133725" cy="2286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38BDF8"/>
                </a:solidFill>
                <a:latin typeface="微软雅黑" panose="020B0503020204020204" charset="-122"/>
                <a:ea typeface="微软雅黑" panose="020B0503020204020204" charset="-122"/>
              </a:rPr>
              <a:t>工厂模式</a:t>
            </a:r>
            <a:endParaRPr lang="zh-CN" sz="1500" b="1">
              <a:solidFill>
                <a:srgbClr val="38BDF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978" name="文本框 1977" descr="{&quot;isTemplate&quot;:true,&quot;type&quot;:&quot;text&quot;}"/>
          <p:cNvSpPr txBox="1"/>
          <p:nvPr/>
        </p:nvSpPr>
        <p:spPr>
          <a:xfrm>
            <a:off x="819150" y="1638300"/>
            <a:ext cx="3133725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按类型分派</a:t>
            </a:r>
            <a:endParaRPr lang="zh-CN" sz="105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979" name="圆角矩形 1978"/>
          <p:cNvSpPr/>
          <p:nvPr/>
        </p:nvSpPr>
        <p:spPr>
          <a:xfrm>
            <a:off x="819150" y="1933575"/>
            <a:ext cx="3133725" cy="1828800"/>
          </a:xfrm>
          <a:prstGeom prst="roundRect">
            <a:avLst>
              <a:gd name="adj" fmla="val 4167"/>
            </a:avLst>
          </a:prstGeom>
          <a:solidFill>
            <a:srgbClr val="0B1220"/>
          </a:solidFill>
          <a:ln w="12700">
            <a:solidFill>
              <a:srgbClr val="1E293B"/>
            </a:solidFill>
            <a:prstDash val="solid"/>
          </a:ln>
        </p:spPr>
        <p:txBody>
          <a:bodyPr/>
          <a:p/>
        </p:txBody>
      </p:sp>
      <p:sp>
        <p:nvSpPr>
          <p:cNvPr id="1980" name="文本框 1979" descr="{&quot;isTemplate&quot;:true,&quot;type&quot;:&quot;text&quot;}"/>
          <p:cNvSpPr txBox="1"/>
          <p:nvPr/>
        </p:nvSpPr>
        <p:spPr>
          <a:xfrm>
            <a:off x="952500" y="2066925"/>
            <a:ext cx="2867025" cy="2476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65000"/>
              </a:lnSpc>
            </a:pPr>
            <a:r>
              <a:rPr lang="en-US" sz="975">
                <a:solidFill>
                  <a:srgbClr val="E2E8F0"/>
                </a:solidFill>
                <a:latin typeface="JetBrains Mono"/>
                <a:ea typeface="JetBrains Mono"/>
              </a:rPr>
              <a:t>public interface Producer&lt;A, O&gt; {</a:t>
            </a:r>
            <a:endParaRPr lang="en-US" sz="975">
              <a:solidFill>
                <a:srgbClr val="E2E8F0"/>
              </a:solidFill>
              <a:latin typeface="JetBrains Mono"/>
              <a:ea typeface="JetBrains Mono"/>
            </a:endParaRPr>
          </a:p>
        </p:txBody>
      </p:sp>
      <p:sp>
        <p:nvSpPr>
          <p:cNvPr id="1981" name="文本框 1980" descr="{&quot;isTemplate&quot;:true,&quot;type&quot;:&quot;text&quot;}"/>
          <p:cNvSpPr txBox="1"/>
          <p:nvPr/>
        </p:nvSpPr>
        <p:spPr>
          <a:xfrm>
            <a:off x="952500" y="2314575"/>
            <a:ext cx="2867025" cy="2476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65000"/>
              </a:lnSpc>
            </a:pPr>
            <a:r>
              <a:rPr lang="en-US" sz="975">
                <a:solidFill>
                  <a:srgbClr val="94A3B8"/>
                </a:solidFill>
                <a:latin typeface="JetBrains Mono"/>
                <a:ea typeface="JetBrains Mono"/>
              </a:rPr>
              <a:t>    func produce(): O      // </a:t>
            </a:r>
            <a:r>
              <a:rPr lang="zh-CN" sz="975">
                <a:solidFill>
                  <a:srgbClr val="94A3B8"/>
                </a:solidFill>
                <a:latin typeface="JetBrains Mono"/>
                <a:ea typeface="JetBrains Mono"/>
              </a:rPr>
              <a:t>默认抛异常</a:t>
            </a:r>
            <a:endParaRPr lang="zh-CN" sz="975">
              <a:solidFill>
                <a:srgbClr val="94A3B8"/>
              </a:solidFill>
              <a:latin typeface="JetBrains Mono"/>
              <a:ea typeface="JetBrains Mono"/>
            </a:endParaRPr>
          </a:p>
        </p:txBody>
      </p:sp>
      <p:sp>
        <p:nvSpPr>
          <p:cNvPr id="1982" name="文本框 1981" descr="{&quot;isTemplate&quot;:true,&quot;type&quot;:&quot;text&quot;}"/>
          <p:cNvSpPr txBox="1"/>
          <p:nvPr/>
        </p:nvSpPr>
        <p:spPr>
          <a:xfrm>
            <a:off x="952500" y="2562225"/>
            <a:ext cx="2867025" cy="2476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65000"/>
              </a:lnSpc>
            </a:pPr>
            <a:r>
              <a:rPr lang="en-US" sz="975">
                <a:solidFill>
                  <a:srgbClr val="94A3B8"/>
                </a:solidFill>
                <a:latin typeface="JetBrains Mono"/>
                <a:ea typeface="JetBrains Mono"/>
              </a:rPr>
              <a:t>    func produce(arg: A): O</a:t>
            </a:r>
            <a:endParaRPr lang="en-US" sz="975">
              <a:solidFill>
                <a:srgbClr val="94A3B8"/>
              </a:solidFill>
              <a:latin typeface="JetBrains Mono"/>
              <a:ea typeface="JetBrains Mono"/>
            </a:endParaRPr>
          </a:p>
        </p:txBody>
      </p:sp>
      <p:sp>
        <p:nvSpPr>
          <p:cNvPr id="1983" name="文本框 1982" descr="{&quot;isTemplate&quot;:true,&quot;type&quot;:&quot;text&quot;}"/>
          <p:cNvSpPr txBox="1"/>
          <p:nvPr/>
        </p:nvSpPr>
        <p:spPr>
          <a:xfrm>
            <a:off x="952500" y="2809875"/>
            <a:ext cx="2867025" cy="2476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65000"/>
              </a:lnSpc>
            </a:pPr>
            <a:r>
              <a:rPr lang="en-US" sz="975">
                <a:solidFill>
                  <a:srgbClr val="E2E8F0"/>
                </a:solidFill>
                <a:latin typeface="JetBrains Mono"/>
                <a:ea typeface="JetBrains Mono"/>
              </a:rPr>
              <a:t>}</a:t>
            </a:r>
            <a:endParaRPr lang="en-US" sz="975">
              <a:solidFill>
                <a:srgbClr val="E2E8F0"/>
              </a:solidFill>
              <a:latin typeface="JetBrains Mono"/>
              <a:ea typeface="JetBrains Mono"/>
            </a:endParaRPr>
          </a:p>
        </p:txBody>
      </p:sp>
      <p:sp>
        <p:nvSpPr>
          <p:cNvPr id="1984" name="文本框 1983" descr="{&quot;isTemplate&quot;:true,&quot;type&quot;:&quot;text&quot;}"/>
          <p:cNvSpPr txBox="1"/>
          <p:nvPr/>
        </p:nvSpPr>
        <p:spPr>
          <a:xfrm>
            <a:off x="952500" y="3133725"/>
            <a:ext cx="2867025" cy="2476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65000"/>
              </a:lnSpc>
            </a:pPr>
            <a:r>
              <a:rPr lang="en-US" sz="975">
                <a:solidFill>
                  <a:srgbClr val="38BDF8"/>
                </a:solidFill>
                <a:latin typeface="JetBrains Mono"/>
                <a:ea typeface="JetBrains Mono"/>
              </a:rPr>
              <a:t>Factory&lt;A, O&gt;.assemble&lt;T&gt;(producer)</a:t>
            </a:r>
            <a:endParaRPr lang="en-US" sz="975">
              <a:solidFill>
                <a:srgbClr val="38BDF8"/>
              </a:solidFill>
              <a:latin typeface="JetBrains Mono"/>
              <a:ea typeface="JetBrains Mono"/>
            </a:endParaRPr>
          </a:p>
        </p:txBody>
      </p:sp>
      <p:sp>
        <p:nvSpPr>
          <p:cNvPr id="1985" name="文本框 1984" descr="{&quot;isTemplate&quot;:true,&quot;type&quot;:&quot;text&quot;}"/>
          <p:cNvSpPr txBox="1"/>
          <p:nvPr/>
        </p:nvSpPr>
        <p:spPr>
          <a:xfrm>
            <a:off x="952500" y="3381375"/>
            <a:ext cx="2867025" cy="2476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65000"/>
              </a:lnSpc>
            </a:pPr>
            <a:r>
              <a:rPr lang="en-US" sz="975">
                <a:solidFill>
                  <a:srgbClr val="38BDF8"/>
                </a:solidFill>
                <a:latin typeface="JetBrains Mono"/>
                <a:ea typeface="JetBrains Mono"/>
              </a:rPr>
              <a:t>Factory&lt;A, O&gt;.produce&lt;T&gt;(arg)</a:t>
            </a:r>
            <a:endParaRPr lang="en-US" sz="975">
              <a:solidFill>
                <a:srgbClr val="38BDF8"/>
              </a:solidFill>
              <a:latin typeface="JetBrains Mono"/>
              <a:ea typeface="JetBrains Mono"/>
            </a:endParaRPr>
          </a:p>
        </p:txBody>
      </p:sp>
      <p:sp>
        <p:nvSpPr>
          <p:cNvPr id="1986" name="文本框 1985" descr="{&quot;isTemplate&quot;:true,&quot;type&quot;:&quot;text&quot;}"/>
          <p:cNvSpPr txBox="1"/>
          <p:nvPr/>
        </p:nvSpPr>
        <p:spPr>
          <a:xfrm>
            <a:off x="819150" y="3895725"/>
            <a:ext cx="3133725" cy="552450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en-US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assemble </a:t>
            </a:r>
            <a:r>
              <a:rPr lang="zh-CN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用</a:t>
            </a:r>
            <a:r>
              <a:rPr lang="en-US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TypeInfo.of </a:t>
            </a:r>
            <a:r>
              <a:rPr lang="zh-CN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当</a:t>
            </a:r>
            <a:r>
              <a:rPr lang="en-US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KEY </a:t>
            </a:r>
            <a:r>
              <a:rPr lang="zh-CN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注册生产者，</a:t>
            </a:r>
            <a:r>
              <a:rPr lang="en-US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produce </a:t>
            </a:r>
            <a:r>
              <a:rPr lang="zh-CN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按目标类型取。</a:t>
            </a:r>
            <a:endParaRPr lang="zh-CN" sz="1050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987" name="文本框 1986" descr="{&quot;isTemplate&quot;:true,&quot;type&quot;:&quot;text&quot;}"/>
          <p:cNvSpPr txBox="1"/>
          <p:nvPr/>
        </p:nvSpPr>
        <p:spPr>
          <a:xfrm>
            <a:off x="819150" y="5800725"/>
            <a:ext cx="3133725" cy="2762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zh-CN" sz="1050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取不到会抛</a:t>
            </a:r>
            <a:r>
              <a:rPr lang="en-US" sz="1050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 TypeNotMatchException</a:t>
            </a:r>
            <a:r>
              <a:rPr lang="zh-CN" sz="1050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。</a:t>
            </a:r>
            <a:endParaRPr lang="zh-CN" sz="1050">
              <a:solidFill>
                <a:srgbClr val="F59E0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988" name="圆角矩形 1987"/>
          <p:cNvSpPr/>
          <p:nvPr/>
        </p:nvSpPr>
        <p:spPr>
          <a:xfrm>
            <a:off x="4314825" y="1143000"/>
            <a:ext cx="3562350" cy="5143500"/>
          </a:xfrm>
          <a:prstGeom prst="roundRect">
            <a:avLst>
              <a:gd name="adj" fmla="val 3209"/>
            </a:avLst>
          </a:prstGeom>
          <a:solidFill>
            <a:srgbClr val="111C2E"/>
          </a:solidFill>
          <a:ln w="12700">
            <a:solidFill>
              <a:srgbClr val="1E293B"/>
            </a:solidFill>
            <a:prstDash val="solid"/>
          </a:ln>
        </p:spPr>
        <p:txBody>
          <a:bodyPr/>
          <a:p/>
        </p:txBody>
      </p:sp>
      <p:sp>
        <p:nvSpPr>
          <p:cNvPr id="1989" name="文本框 1988" descr="{&quot;isTemplate&quot;:true,&quot;type&quot;:&quot;text&quot;}"/>
          <p:cNvSpPr txBox="1"/>
          <p:nvPr/>
        </p:nvSpPr>
        <p:spPr>
          <a:xfrm>
            <a:off x="4524375" y="1352550"/>
            <a:ext cx="3143250" cy="2286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策略模式</a:t>
            </a:r>
            <a:endParaRPr lang="zh-CN" sz="1500" b="1">
              <a:solidFill>
                <a:srgbClr val="E2E8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990" name="文本框 1989" descr="{&quot;isTemplate&quot;:true,&quot;type&quot;:&quot;text&quot;}"/>
          <p:cNvSpPr txBox="1"/>
          <p:nvPr/>
        </p:nvSpPr>
        <p:spPr>
          <a:xfrm>
            <a:off x="4524375" y="1638300"/>
            <a:ext cx="3143250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按</a:t>
            </a:r>
            <a:r>
              <a:rPr lang="en-US" sz="105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 key </a:t>
            </a:r>
            <a:r>
              <a:rPr lang="zh-CN" sz="105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分派逻辑</a:t>
            </a:r>
            <a:endParaRPr lang="zh-CN" sz="105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991" name="圆角矩形 1990"/>
          <p:cNvSpPr/>
          <p:nvPr/>
        </p:nvSpPr>
        <p:spPr>
          <a:xfrm>
            <a:off x="4524375" y="1933575"/>
            <a:ext cx="3143250" cy="2076450"/>
          </a:xfrm>
          <a:prstGeom prst="roundRect">
            <a:avLst>
              <a:gd name="adj" fmla="val 3670"/>
            </a:avLst>
          </a:prstGeom>
          <a:solidFill>
            <a:srgbClr val="0B1220"/>
          </a:solidFill>
          <a:ln w="12700">
            <a:solidFill>
              <a:srgbClr val="1E293B"/>
            </a:solidFill>
            <a:prstDash val="solid"/>
          </a:ln>
        </p:spPr>
        <p:txBody>
          <a:bodyPr/>
          <a:p/>
        </p:txBody>
      </p:sp>
      <p:sp>
        <p:nvSpPr>
          <p:cNvPr id="1992" name="文本框 1991" descr="{&quot;isTemplate&quot;:true,&quot;type&quot;:&quot;text&quot;}"/>
          <p:cNvSpPr txBox="1"/>
          <p:nvPr/>
        </p:nvSpPr>
        <p:spPr>
          <a:xfrm>
            <a:off x="4657725" y="2066925"/>
            <a:ext cx="2876550" cy="495300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65000"/>
              </a:lnSpc>
            </a:pPr>
            <a:r>
              <a:rPr lang="en-US" sz="975">
                <a:solidFill>
                  <a:srgbClr val="E2E8F0"/>
                </a:solidFill>
                <a:latin typeface="JetBrains Mono"/>
                <a:ea typeface="JetBrains Mono"/>
              </a:rPr>
              <a:t>public interface Strategy&lt;N, A, R&gt; where N &lt;: Hashable &amp; Equatable&lt;N&gt; {</a:t>
            </a:r>
            <a:endParaRPr lang="en-US" sz="975">
              <a:solidFill>
                <a:srgbClr val="E2E8F0"/>
              </a:solidFill>
              <a:latin typeface="JetBrains Mono"/>
              <a:ea typeface="JetBrains Mono"/>
            </a:endParaRPr>
          </a:p>
        </p:txBody>
      </p:sp>
      <p:sp>
        <p:nvSpPr>
          <p:cNvPr id="1993" name="文本框 1992" descr="{&quot;isTemplate&quot;:true,&quot;type&quot;:&quot;text&quot;}"/>
          <p:cNvSpPr txBox="1"/>
          <p:nvPr/>
        </p:nvSpPr>
        <p:spPr>
          <a:xfrm>
            <a:off x="4657725" y="2562225"/>
            <a:ext cx="2876550" cy="2476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65000"/>
              </a:lnSpc>
            </a:pPr>
            <a:r>
              <a:rPr lang="en-US" sz="975">
                <a:solidFill>
                  <a:srgbClr val="94A3B8"/>
                </a:solidFill>
                <a:latin typeface="JetBrains Mono"/>
                <a:ea typeface="JetBrains Mono"/>
              </a:rPr>
              <a:t>    prop name: N          // </a:t>
            </a:r>
            <a:r>
              <a:rPr lang="zh-CN" sz="975">
                <a:solidFill>
                  <a:srgbClr val="94A3B8"/>
                </a:solidFill>
                <a:latin typeface="JetBrains Mono"/>
                <a:ea typeface="JetBrains Mono"/>
              </a:rPr>
              <a:t>策略标识</a:t>
            </a:r>
            <a:endParaRPr lang="zh-CN" sz="975">
              <a:solidFill>
                <a:srgbClr val="94A3B8"/>
              </a:solidFill>
              <a:latin typeface="JetBrains Mono"/>
              <a:ea typeface="JetBrains Mono"/>
            </a:endParaRPr>
          </a:p>
        </p:txBody>
      </p:sp>
      <p:sp>
        <p:nvSpPr>
          <p:cNvPr id="1994" name="文本框 1993" descr="{&quot;isTemplate&quot;:true,&quot;type&quot;:&quot;text&quot;}"/>
          <p:cNvSpPr txBox="1"/>
          <p:nvPr/>
        </p:nvSpPr>
        <p:spPr>
          <a:xfrm>
            <a:off x="4657725" y="2809875"/>
            <a:ext cx="2876550" cy="2476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65000"/>
              </a:lnSpc>
            </a:pPr>
            <a:r>
              <a:rPr lang="en-US" sz="975">
                <a:solidFill>
                  <a:srgbClr val="94A3B8"/>
                </a:solidFill>
                <a:latin typeface="JetBrains Mono"/>
                <a:ea typeface="JetBrains Mono"/>
              </a:rPr>
              <a:t>    func execute(arg: A): R</a:t>
            </a:r>
            <a:endParaRPr lang="en-US" sz="975">
              <a:solidFill>
                <a:srgbClr val="94A3B8"/>
              </a:solidFill>
              <a:latin typeface="JetBrains Mono"/>
              <a:ea typeface="JetBrains Mono"/>
            </a:endParaRPr>
          </a:p>
        </p:txBody>
      </p:sp>
      <p:sp>
        <p:nvSpPr>
          <p:cNvPr id="1995" name="文本框 1994" descr="{&quot;isTemplate&quot;:true,&quot;type&quot;:&quot;text&quot;}"/>
          <p:cNvSpPr txBox="1"/>
          <p:nvPr/>
        </p:nvSpPr>
        <p:spPr>
          <a:xfrm>
            <a:off x="4657725" y="3057525"/>
            <a:ext cx="2876550" cy="2476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65000"/>
              </a:lnSpc>
            </a:pPr>
            <a:r>
              <a:rPr lang="en-US" sz="975">
                <a:solidFill>
                  <a:srgbClr val="E2E8F0"/>
                </a:solidFill>
                <a:latin typeface="JetBrains Mono"/>
                <a:ea typeface="JetBrains Mono"/>
              </a:rPr>
              <a:t>}</a:t>
            </a:r>
            <a:endParaRPr lang="en-US" sz="975">
              <a:solidFill>
                <a:srgbClr val="E2E8F0"/>
              </a:solidFill>
              <a:latin typeface="JetBrains Mono"/>
              <a:ea typeface="JetBrains Mono"/>
            </a:endParaRPr>
          </a:p>
        </p:txBody>
      </p:sp>
      <p:sp>
        <p:nvSpPr>
          <p:cNvPr id="1996" name="文本框 1995" descr="{&quot;isTemplate&quot;:true,&quot;type&quot;:&quot;text&quot;}"/>
          <p:cNvSpPr txBox="1"/>
          <p:nvPr/>
        </p:nvSpPr>
        <p:spPr>
          <a:xfrm>
            <a:off x="4657725" y="3381375"/>
            <a:ext cx="2876550" cy="2476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65000"/>
              </a:lnSpc>
            </a:pPr>
            <a:r>
              <a:rPr lang="en-US" sz="975">
                <a:solidFill>
                  <a:srgbClr val="38BDF8"/>
                </a:solidFill>
                <a:latin typeface="JetBrains Mono"/>
                <a:ea typeface="JetBrains Mono"/>
              </a:rPr>
              <a:t>Strategies&lt;N, A, R&gt;.register(strategy)</a:t>
            </a:r>
            <a:endParaRPr lang="en-US" sz="975">
              <a:solidFill>
                <a:srgbClr val="38BDF8"/>
              </a:solidFill>
              <a:latin typeface="JetBrains Mono"/>
              <a:ea typeface="JetBrains Mono"/>
            </a:endParaRPr>
          </a:p>
        </p:txBody>
      </p:sp>
      <p:sp>
        <p:nvSpPr>
          <p:cNvPr id="1997" name="文本框 1996" descr="{&quot;isTemplate&quot;:true,&quot;type&quot;:&quot;text&quot;}"/>
          <p:cNvSpPr txBox="1"/>
          <p:nvPr/>
        </p:nvSpPr>
        <p:spPr>
          <a:xfrm>
            <a:off x="4657725" y="3629025"/>
            <a:ext cx="2876550" cy="2476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65000"/>
              </a:lnSpc>
            </a:pPr>
            <a:r>
              <a:rPr lang="en-US" sz="975">
                <a:solidFill>
                  <a:srgbClr val="38BDF8"/>
                </a:solidFill>
                <a:latin typeface="JetBrains Mono"/>
                <a:ea typeface="JetBrains Mono"/>
              </a:rPr>
              <a:t>Strategies&lt;N, A, R&gt;.execute(name, arg)</a:t>
            </a:r>
            <a:endParaRPr lang="en-US" sz="975">
              <a:solidFill>
                <a:srgbClr val="38BDF8"/>
              </a:solidFill>
              <a:latin typeface="JetBrains Mono"/>
              <a:ea typeface="JetBrains Mono"/>
            </a:endParaRPr>
          </a:p>
        </p:txBody>
      </p:sp>
      <p:sp>
        <p:nvSpPr>
          <p:cNvPr id="1998" name="文本框 1997" descr="{&quot;isTemplate&quot;:true,&quot;type&quot;:&quot;text&quot;}"/>
          <p:cNvSpPr txBox="1"/>
          <p:nvPr/>
        </p:nvSpPr>
        <p:spPr>
          <a:xfrm>
            <a:off x="4524375" y="4143375"/>
            <a:ext cx="3143250" cy="819150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zh-CN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和</a:t>
            </a:r>
            <a:r>
              <a:rPr lang="en-US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IOC </a:t>
            </a:r>
            <a:r>
              <a:rPr lang="zh-CN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的</a:t>
            </a:r>
            <a:r>
              <a:rPr lang="en-US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lookupLables </a:t>
            </a:r>
            <a:r>
              <a:rPr lang="zh-CN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互补：要</a:t>
            </a:r>
            <a:r>
              <a:rPr lang="en-US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bean </a:t>
            </a:r>
            <a:r>
              <a:rPr lang="zh-CN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的完整生命周期用</a:t>
            </a:r>
            <a:r>
              <a:rPr lang="en-US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IOC</a:t>
            </a:r>
            <a:r>
              <a:rPr lang="zh-CN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，只按</a:t>
            </a:r>
            <a:r>
              <a:rPr lang="en-US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key </a:t>
            </a:r>
            <a:r>
              <a:rPr lang="zh-CN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分派逻辑用</a:t>
            </a:r>
            <a:r>
              <a:rPr lang="en-US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Strategies </a:t>
            </a:r>
            <a:r>
              <a:rPr lang="zh-CN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更轻。</a:t>
            </a:r>
            <a:endParaRPr lang="zh-CN" sz="1050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999" name="文本框 1998" descr="{&quot;isTemplate&quot;:true,&quot;type&quot;:&quot;text&quot;}"/>
          <p:cNvSpPr txBox="1"/>
          <p:nvPr/>
        </p:nvSpPr>
        <p:spPr>
          <a:xfrm>
            <a:off x="4524375" y="5800725"/>
            <a:ext cx="3143250" cy="2762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zh-CN" sz="1050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找不到策略抛</a:t>
            </a:r>
            <a:r>
              <a:rPr lang="en-US" sz="1050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 IllegalAccessException</a:t>
            </a:r>
            <a:r>
              <a:rPr lang="zh-CN" sz="1050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。</a:t>
            </a:r>
            <a:endParaRPr lang="zh-CN" sz="1050">
              <a:solidFill>
                <a:srgbClr val="F59E0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000" name="圆角矩形 1999"/>
          <p:cNvSpPr/>
          <p:nvPr/>
        </p:nvSpPr>
        <p:spPr>
          <a:xfrm>
            <a:off x="8029575" y="1143000"/>
            <a:ext cx="3552825" cy="5143500"/>
          </a:xfrm>
          <a:prstGeom prst="roundRect">
            <a:avLst>
              <a:gd name="adj" fmla="val 3217"/>
            </a:avLst>
          </a:prstGeom>
          <a:solidFill>
            <a:srgbClr val="111C2E"/>
          </a:solidFill>
          <a:ln w="12700">
            <a:solidFill>
              <a:srgbClr val="1E293B"/>
            </a:solidFill>
            <a:prstDash val="solid"/>
          </a:ln>
        </p:spPr>
        <p:txBody>
          <a:bodyPr/>
          <a:p/>
        </p:txBody>
      </p:sp>
      <p:sp>
        <p:nvSpPr>
          <p:cNvPr id="2001" name="文本框 2000" descr="{&quot;isTemplate&quot;:true,&quot;type&quot;:&quot;text&quot;}"/>
          <p:cNvSpPr txBox="1"/>
          <p:nvPr/>
        </p:nvSpPr>
        <p:spPr>
          <a:xfrm>
            <a:off x="8239125" y="1352550"/>
            <a:ext cx="3133725" cy="2286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责任链模式</a:t>
            </a:r>
            <a:endParaRPr lang="zh-CN" sz="1500" b="1">
              <a:solidFill>
                <a:srgbClr val="E2E8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002" name="文本框 2001" descr="{&quot;isTemplate&quot;:true,&quot;type&quot;:&quot;text&quot;}"/>
          <p:cNvSpPr txBox="1"/>
          <p:nvPr/>
        </p:nvSpPr>
        <p:spPr>
          <a:xfrm>
            <a:off x="8239125" y="1638300"/>
            <a:ext cx="3133725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注意拼写</a:t>
            </a:r>
            <a:r>
              <a:rPr lang="en-US" sz="105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 Responsibility</a:t>
            </a:r>
            <a:endParaRPr lang="en-US" sz="105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003" name="圆角矩形 2002"/>
          <p:cNvSpPr/>
          <p:nvPr/>
        </p:nvSpPr>
        <p:spPr>
          <a:xfrm>
            <a:off x="8239125" y="1933575"/>
            <a:ext cx="3133725" cy="3067050"/>
          </a:xfrm>
          <a:prstGeom prst="roundRect">
            <a:avLst>
              <a:gd name="adj" fmla="val 2484"/>
            </a:avLst>
          </a:prstGeom>
          <a:solidFill>
            <a:srgbClr val="0B1220"/>
          </a:solidFill>
          <a:ln w="12700">
            <a:solidFill>
              <a:srgbClr val="1E293B"/>
            </a:solidFill>
            <a:prstDash val="solid"/>
          </a:ln>
        </p:spPr>
        <p:txBody>
          <a:bodyPr/>
          <a:p/>
        </p:txBody>
      </p:sp>
      <p:sp>
        <p:nvSpPr>
          <p:cNvPr id="2004" name="文本框 2003" descr="{&quot;isTemplate&quot;:true,&quot;type&quot;:&quot;text&quot;}"/>
          <p:cNvSpPr txBox="1"/>
          <p:nvPr/>
        </p:nvSpPr>
        <p:spPr>
          <a:xfrm>
            <a:off x="8372475" y="2066925"/>
            <a:ext cx="2867025" cy="495300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65000"/>
              </a:lnSpc>
            </a:pPr>
            <a:r>
              <a:rPr lang="en-US" sz="975">
                <a:solidFill>
                  <a:srgbClr val="E2E8F0"/>
                </a:solidFill>
                <a:latin typeface="JetBrains Mono"/>
                <a:ea typeface="JetBrains Mono"/>
              </a:rPr>
              <a:t>public interface Responsibility&lt;C, A, R&gt; {</a:t>
            </a:r>
            <a:endParaRPr lang="en-US" sz="975">
              <a:solidFill>
                <a:srgbClr val="E2E8F0"/>
              </a:solidFill>
              <a:latin typeface="JetBrains Mono"/>
              <a:ea typeface="JetBrains Mono"/>
            </a:endParaRPr>
          </a:p>
        </p:txBody>
      </p:sp>
      <p:sp>
        <p:nvSpPr>
          <p:cNvPr id="2005" name="文本框 2004" descr="{&quot;isTemplate&quot;:true,&quot;type&quot;:&quot;text&quot;}"/>
          <p:cNvSpPr txBox="1"/>
          <p:nvPr/>
        </p:nvSpPr>
        <p:spPr>
          <a:xfrm>
            <a:off x="8372475" y="2562225"/>
            <a:ext cx="2867025" cy="495300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65000"/>
              </a:lnSpc>
            </a:pPr>
            <a:r>
              <a:rPr lang="en-US" sz="975">
                <a:solidFill>
                  <a:srgbClr val="94A3B8"/>
                </a:solidFill>
                <a:latin typeface="JetBrains Mono"/>
                <a:ea typeface="JetBrains Mono"/>
              </a:rPr>
              <a:t>    func check(condition: C): Bool  // </a:t>
            </a:r>
            <a:r>
              <a:rPr lang="zh-CN" sz="975">
                <a:solidFill>
                  <a:srgbClr val="94A3B8"/>
                </a:solidFill>
                <a:latin typeface="JetBrains Mono"/>
                <a:ea typeface="JetBrains Mono"/>
              </a:rPr>
              <a:t>是否由本策略处理</a:t>
            </a:r>
            <a:endParaRPr lang="zh-CN" sz="975">
              <a:solidFill>
                <a:srgbClr val="94A3B8"/>
              </a:solidFill>
              <a:latin typeface="JetBrains Mono"/>
              <a:ea typeface="JetBrains Mono"/>
            </a:endParaRPr>
          </a:p>
        </p:txBody>
      </p:sp>
      <p:sp>
        <p:nvSpPr>
          <p:cNvPr id="2006" name="文本框 2005" descr="{&quot;isTemplate&quot;:true,&quot;type&quot;:&quot;text&quot;}"/>
          <p:cNvSpPr txBox="1"/>
          <p:nvPr/>
        </p:nvSpPr>
        <p:spPr>
          <a:xfrm>
            <a:off x="8372475" y="3057525"/>
            <a:ext cx="2867025" cy="2476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65000"/>
              </a:lnSpc>
            </a:pPr>
            <a:r>
              <a:rPr lang="en-US" sz="975">
                <a:solidFill>
                  <a:srgbClr val="94A3B8"/>
                </a:solidFill>
                <a:latin typeface="JetBrains Mono"/>
                <a:ea typeface="JetBrains Mono"/>
              </a:rPr>
              <a:t>    func execute(arg: A): R</a:t>
            </a:r>
            <a:endParaRPr lang="en-US" sz="975">
              <a:solidFill>
                <a:srgbClr val="94A3B8"/>
              </a:solidFill>
              <a:latin typeface="JetBrains Mono"/>
              <a:ea typeface="JetBrains Mono"/>
            </a:endParaRPr>
          </a:p>
        </p:txBody>
      </p:sp>
      <p:sp>
        <p:nvSpPr>
          <p:cNvPr id="2007" name="文本框 2006" descr="{&quot;isTemplate&quot;:true,&quot;type&quot;:&quot;text&quot;}"/>
          <p:cNvSpPr txBox="1"/>
          <p:nvPr/>
        </p:nvSpPr>
        <p:spPr>
          <a:xfrm>
            <a:off x="8372475" y="3305175"/>
            <a:ext cx="2867025" cy="2476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65000"/>
              </a:lnSpc>
            </a:pPr>
            <a:r>
              <a:rPr lang="en-US" sz="975">
                <a:solidFill>
                  <a:srgbClr val="E2E8F0"/>
                </a:solidFill>
                <a:latin typeface="JetBrains Mono"/>
                <a:ea typeface="JetBrains Mono"/>
              </a:rPr>
              <a:t>}</a:t>
            </a:r>
            <a:endParaRPr lang="en-US" sz="975">
              <a:solidFill>
                <a:srgbClr val="E2E8F0"/>
              </a:solidFill>
              <a:latin typeface="JetBrains Mono"/>
              <a:ea typeface="JetBrains Mono"/>
            </a:endParaRPr>
          </a:p>
        </p:txBody>
      </p:sp>
      <p:sp>
        <p:nvSpPr>
          <p:cNvPr id="2008" name="文本框 2007" descr="{&quot;isTemplate&quot;:true,&quot;type&quot;:&quot;text&quot;}"/>
          <p:cNvSpPr txBox="1"/>
          <p:nvPr/>
        </p:nvSpPr>
        <p:spPr>
          <a:xfrm>
            <a:off x="8372475" y="3629025"/>
            <a:ext cx="2867025" cy="2476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65000"/>
              </a:lnSpc>
            </a:pPr>
            <a:r>
              <a:rPr lang="en-US" sz="975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</a:rPr>
              <a:t> </a:t>
            </a:r>
            <a:endParaRPr lang="en-US" sz="975">
              <a:solidFill>
                <a:srgbClr val="0F172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009" name="文本框 2008" descr="{&quot;isTemplate&quot;:true,&quot;type&quot;:&quot;text&quot;}"/>
          <p:cNvSpPr txBox="1"/>
          <p:nvPr/>
        </p:nvSpPr>
        <p:spPr>
          <a:xfrm>
            <a:off x="8372475" y="3876675"/>
            <a:ext cx="2867025" cy="495300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65000"/>
              </a:lnSpc>
            </a:pPr>
            <a:r>
              <a:rPr lang="en-US" sz="975">
                <a:solidFill>
                  <a:srgbClr val="38BDF8"/>
                </a:solidFill>
                <a:latin typeface="JetBrains Mono"/>
                <a:ea typeface="JetBrains Mono"/>
              </a:rPr>
              <a:t>chain.execute(condition, arg)     // </a:t>
            </a:r>
            <a:r>
              <a:rPr lang="zh-CN" sz="975">
                <a:solidFill>
                  <a:srgbClr val="38BDF8"/>
                </a:solidFill>
                <a:latin typeface="JetBrains Mono"/>
                <a:ea typeface="JetBrains Mono"/>
              </a:rPr>
              <a:t>第一个</a:t>
            </a:r>
            <a:r>
              <a:rPr lang="en-US" sz="975">
                <a:solidFill>
                  <a:srgbClr val="38BDF8"/>
                </a:solidFill>
                <a:latin typeface="JetBrains Mono"/>
                <a:ea typeface="JetBrains Mono"/>
              </a:rPr>
              <a:t> check </a:t>
            </a:r>
            <a:r>
              <a:rPr lang="zh-CN" sz="975">
                <a:solidFill>
                  <a:srgbClr val="38BDF8"/>
                </a:solidFill>
                <a:latin typeface="JetBrains Mono"/>
                <a:ea typeface="JetBrains Mono"/>
              </a:rPr>
              <a:t>通过的</a:t>
            </a:r>
            <a:endParaRPr lang="zh-CN" sz="975">
              <a:solidFill>
                <a:srgbClr val="38BDF8"/>
              </a:solidFill>
              <a:latin typeface="JetBrains Mono"/>
              <a:ea typeface="JetBrains Mono"/>
            </a:endParaRPr>
          </a:p>
        </p:txBody>
      </p:sp>
      <p:sp>
        <p:nvSpPr>
          <p:cNvPr id="2010" name="文本框 2009" descr="{&quot;isTemplate&quot;:true,&quot;type&quot;:&quot;text&quot;}"/>
          <p:cNvSpPr txBox="1"/>
          <p:nvPr/>
        </p:nvSpPr>
        <p:spPr>
          <a:xfrm>
            <a:off x="8372475" y="4371975"/>
            <a:ext cx="2867025" cy="495300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65000"/>
              </a:lnSpc>
            </a:pPr>
            <a:r>
              <a:rPr lang="en-US" sz="975">
                <a:solidFill>
                  <a:srgbClr val="38BDF8"/>
                </a:solidFill>
                <a:latin typeface="JetBrains Mono"/>
                <a:ea typeface="JetBrains Mono"/>
              </a:rPr>
              <a:t>chain.executeAll(condition, arg)  // </a:t>
            </a:r>
            <a:r>
              <a:rPr lang="zh-CN" sz="975">
                <a:solidFill>
                  <a:srgbClr val="38BDF8"/>
                </a:solidFill>
                <a:latin typeface="JetBrains Mono"/>
                <a:ea typeface="JetBrains Mono"/>
              </a:rPr>
              <a:t>所有满足条件的</a:t>
            </a:r>
            <a:endParaRPr lang="zh-CN" sz="975">
              <a:solidFill>
                <a:srgbClr val="38BDF8"/>
              </a:solidFill>
              <a:latin typeface="JetBrains Mono"/>
              <a:ea typeface="JetBrains Mono"/>
            </a:endParaRPr>
          </a:p>
        </p:txBody>
      </p:sp>
      <p:sp>
        <p:nvSpPr>
          <p:cNvPr id="2011" name="文本框 2010" descr="{&quot;isTemplate&quot;:true,&quot;type&quot;:&quot;text&quot;}"/>
          <p:cNvSpPr txBox="1"/>
          <p:nvPr/>
        </p:nvSpPr>
        <p:spPr>
          <a:xfrm>
            <a:off x="8239125" y="5133975"/>
            <a:ext cx="3133725" cy="2762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en-US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executeAll </a:t>
            </a:r>
            <a:r>
              <a:rPr lang="zh-CN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特别适合多级校验、多环节加工。</a:t>
            </a:r>
            <a:endParaRPr lang="zh-CN" sz="1050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013" name="任意多边形 2012"/>
          <p:cNvSpPr/>
          <p:nvPr/>
        </p:nvSpPr>
        <p:spPr>
          <a:xfrm>
            <a:off x="609600" y="6286500"/>
            <a:ext cx="10972800" cy="381000"/>
          </a:xfrm>
          <a:custGeom>
            <a:avLst/>
            <a:gdLst/>
            <a:ahLst/>
            <a:cxnLst/>
            <a:pathLst>
              <a:path w="1152" h="40">
                <a:moveTo>
                  <a:pt x="0" y="0"/>
                </a:moveTo>
                <a:lnTo>
                  <a:pt x="1152" y="0"/>
                </a:lnTo>
                <a:lnTo>
                  <a:pt x="1152" y="1"/>
                </a:lnTo>
                <a:lnTo>
                  <a:pt x="0" y="1"/>
                </a:lnTo>
                <a:close/>
              </a:path>
            </a:pathLst>
          </a:custGeom>
          <a:solidFill>
            <a:srgbClr val="1E293B"/>
          </a:solidFill>
        </p:spPr>
        <p:txBody>
          <a:bodyPr/>
          <a:p/>
        </p:txBody>
      </p:sp>
      <p:sp>
        <p:nvSpPr>
          <p:cNvPr id="2014" name="文本框 2013" descr="{&quot;isTemplate&quot;:true,&quot;type&quot;:&quot;text&quot;}"/>
          <p:cNvSpPr txBox="1"/>
          <p:nvPr/>
        </p:nvSpPr>
        <p:spPr>
          <a:xfrm>
            <a:off x="609600" y="6410325"/>
            <a:ext cx="2219325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fountain · 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一站式服务器应用开发工具库</a:t>
            </a:r>
            <a:endParaRPr lang="zh-CN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015" name="文本框 2014" descr="{&quot;isTemplate&quot;:true,&quot;type&quot;:&quot;text&quot;}"/>
          <p:cNvSpPr txBox="1"/>
          <p:nvPr/>
        </p:nvSpPr>
        <p:spPr>
          <a:xfrm>
            <a:off x="11087100" y="6410325"/>
            <a:ext cx="495300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60 / 116</a:t>
            </a:r>
            <a:endParaRPr lang="en-US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01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7" name="矩形 2016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220"/>
          </a:solidFill>
        </p:spPr>
        <p:txBody>
          <a:bodyPr/>
          <a:p/>
        </p:txBody>
      </p:sp>
      <p:sp>
        <p:nvSpPr>
          <p:cNvPr id="2018" name="矩形 2017"/>
          <p:cNvSpPr/>
          <p:nvPr/>
        </p:nvSpPr>
        <p:spPr>
          <a:xfrm>
            <a:off x="609600" y="476250"/>
            <a:ext cx="38100" cy="381000"/>
          </a:xfrm>
          <a:prstGeom prst="rect">
            <a:avLst/>
          </a:prstGeom>
          <a:solidFill>
            <a:srgbClr val="38BDF8"/>
          </a:solidFill>
        </p:spPr>
        <p:txBody>
          <a:bodyPr/>
          <a:p/>
        </p:txBody>
      </p:sp>
      <p:sp>
        <p:nvSpPr>
          <p:cNvPr id="2019" name="文本框 2018" descr="{&quot;isTemplate&quot;:true,&quot;type&quot;:&quot;text&quot;}"/>
          <p:cNvSpPr txBox="1"/>
          <p:nvPr/>
        </p:nvSpPr>
        <p:spPr>
          <a:xfrm>
            <a:off x="819150" y="304800"/>
            <a:ext cx="9744075" cy="2095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第</a:t>
            </a: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 9 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章</a:t>
            </a: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 · 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工具箱</a:t>
            </a: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 f_util · 9.10 / 9.11</a:t>
            </a:r>
            <a:endParaRPr lang="en-US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020" name="文本框 2019" descr="{&quot;isTemplate&quot;:true,&quot;type&quot;:&quot;text&quot;}"/>
          <p:cNvSpPr txBox="1"/>
          <p:nvPr/>
        </p:nvSpPr>
        <p:spPr>
          <a:xfrm>
            <a:off x="819150" y="514350"/>
            <a:ext cx="9744075" cy="5143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2550" b="1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其余工具与现场演示</a:t>
            </a:r>
            <a:endParaRPr lang="zh-CN" sz="2550" b="1">
              <a:solidFill>
                <a:srgbClr val="E2E8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021" name="文本框 2020" descr="{&quot;isTemplate&quot;:true,&quot;type&quot;:&quot;text&quot;}"/>
          <p:cNvSpPr txBox="1"/>
          <p:nvPr/>
        </p:nvSpPr>
        <p:spPr>
          <a:xfrm>
            <a:off x="10734675" y="590550"/>
            <a:ext cx="847725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零依赖</a:t>
            </a: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 · 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零配置</a:t>
            </a:r>
            <a:endParaRPr lang="zh-CN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graphicFrame>
        <p:nvGraphicFramePr>
          <p:cNvPr id="2022" name="表格 2021"/>
          <p:cNvGraphicFramePr/>
          <p:nvPr/>
        </p:nvGraphicFramePr>
        <p:xfrm>
          <a:off x="609600" y="1143000"/>
          <a:ext cx="10972800" cy="1905001"/>
        </p:xfrm>
        <a:graphic>
          <a:graphicData uri="http://schemas.openxmlformats.org/drawingml/2006/table">
            <a:tbl>
              <a:tblPr/>
              <a:tblGrid>
                <a:gridCol w="4711999"/>
                <a:gridCol w="6260801"/>
              </a:tblGrid>
              <a:tr h="272143"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 b="1">
                          <a:solidFill>
                            <a:srgbClr val="22D3EE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工具</a:t>
                      </a:r>
                      <a:endParaRPr sz="975" b="1">
                        <a:solidFill>
                          <a:srgbClr val="22D3EE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6233A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 b="1">
                          <a:solidFill>
                            <a:srgbClr val="22D3EE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一句话</a:t>
                      </a:r>
                      <a:endParaRPr sz="975" b="1">
                        <a:solidFill>
                          <a:srgbClr val="22D3EE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6233A"/>
                    </a:solidFill>
                  </a:tcPr>
                </a:tc>
              </a:tr>
              <a:tr h="272143"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crc16 / crc32 / crc64</a:t>
                      </a:r>
                      <a:endParaRPr sz="975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循环冗余校验，做数据完整性校验、短摘要</a:t>
                      </a:r>
                      <a:endParaRPr sz="975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72143"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CityHash / MurmurHash3X128 / wyhash</a:t>
                      </a:r>
                      <a:endParaRPr sz="975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高性能非加密哈希，做分库分表路由、布隆过滤器</a:t>
                      </a:r>
                      <a:endParaRPr sz="975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72143"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UInt128</a:t>
                      </a:r>
                      <a:endParaRPr sz="975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128 位无符号整数（MurmurHash3X128 的返回值类型）</a:t>
                      </a:r>
                      <a:endParaRPr sz="975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72143"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geohash</a:t>
                      </a:r>
                      <a:endParaRPr sz="975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经纬度编码，做「附近的人」、网格聚合</a:t>
                      </a:r>
                      <a:endParaRPr sz="975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72143"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DiffieHellmanKeyExchanger</a:t>
                      </a:r>
                      <a:endParaRPr sz="975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密钥交换协议（详见 f_util/doc/密钥交换协议.md）</a:t>
                      </a:r>
                      <a:endParaRPr sz="975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72143"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prime</a:t>
                      </a:r>
                      <a:endParaRPr sz="975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素数判定与生成</a:t>
                      </a:r>
                      <a:endParaRPr sz="975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</a:tbl>
          </a:graphicData>
        </a:graphic>
      </p:graphicFrame>
      <p:sp>
        <p:nvSpPr>
          <p:cNvPr id="2023" name="圆角矩形 2022"/>
          <p:cNvSpPr/>
          <p:nvPr/>
        </p:nvSpPr>
        <p:spPr>
          <a:xfrm>
            <a:off x="609600" y="3181350"/>
            <a:ext cx="10972800" cy="3105150"/>
          </a:xfrm>
          <a:prstGeom prst="roundRect">
            <a:avLst>
              <a:gd name="adj" fmla="val 3681"/>
            </a:avLst>
          </a:prstGeom>
          <a:solidFill>
            <a:srgbClr val="0B1220"/>
          </a:solidFill>
          <a:ln w="12700">
            <a:solidFill>
              <a:srgbClr val="38BDF8"/>
            </a:solidFill>
            <a:prstDash val="solid"/>
          </a:ln>
        </p:spPr>
        <p:txBody>
          <a:bodyPr/>
          <a:p/>
        </p:txBody>
      </p:sp>
      <p:sp>
        <p:nvSpPr>
          <p:cNvPr id="2024" name="文本框 2023" descr="{&quot;isTemplate&quot;:true,&quot;type&quot;:&quot;text&quot;}"/>
          <p:cNvSpPr txBox="1"/>
          <p:nvPr/>
        </p:nvSpPr>
        <p:spPr>
          <a:xfrm>
            <a:off x="781050" y="3352800"/>
            <a:ext cx="10629900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现场演示：一条链路串起</a:t>
            </a: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 4 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个工具</a:t>
            </a:r>
            <a:endParaRPr lang="zh-CN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025" name="文本框 2024" descr="{&quot;isTemplate&quot;:true,&quot;type&quot;:&quot;text&quot;}"/>
          <p:cNvSpPr txBox="1"/>
          <p:nvPr/>
        </p:nvSpPr>
        <p:spPr>
          <a:xfrm>
            <a:off x="781050" y="3581400"/>
            <a:ext cx="10629900" cy="2381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en-US" sz="975">
                <a:solidFill>
                  <a:srgbClr val="E2E8F0"/>
                </a:solidFill>
                <a:latin typeface="JetBrains Mono"/>
                <a:ea typeface="JetBrains Mono"/>
              </a:rPr>
              <a:t>let orderId = UUID.unixTimeBased().toHexString()    // ① ID</a:t>
            </a:r>
            <a:r>
              <a:rPr lang="zh-CN" sz="975">
                <a:solidFill>
                  <a:srgbClr val="E2E8F0"/>
                </a:solidFill>
                <a:latin typeface="JetBrains Mono"/>
                <a:ea typeface="JetBrains Mono"/>
              </a:rPr>
              <a:t>：时间有序</a:t>
            </a:r>
            <a:endParaRPr lang="zh-CN" sz="975">
              <a:solidFill>
                <a:srgbClr val="E2E8F0"/>
              </a:solidFill>
              <a:latin typeface="JetBrains Mono"/>
              <a:ea typeface="JetBrains Mono"/>
            </a:endParaRPr>
          </a:p>
        </p:txBody>
      </p:sp>
      <p:sp>
        <p:nvSpPr>
          <p:cNvPr id="2026" name="文本框 2025" descr="{&quot;isTemplate&quot;:true,&quot;type&quot;:&quot;text&quot;}"/>
          <p:cNvSpPr txBox="1"/>
          <p:nvPr/>
        </p:nvSpPr>
        <p:spPr>
          <a:xfrm>
            <a:off x="781050" y="3819525"/>
            <a:ext cx="10629900" cy="2381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en-US" sz="975">
                <a:solidFill>
                  <a:srgbClr val="E2E8F0"/>
                </a:solidFill>
                <a:latin typeface="JetBrains Mono"/>
                <a:ea typeface="JetBrains Mono"/>
              </a:rPr>
              <a:t>let seqId   = IdMaker().nextInt64()                 // ② </a:t>
            </a:r>
            <a:r>
              <a:rPr lang="zh-CN" sz="975">
                <a:solidFill>
                  <a:srgbClr val="E2E8F0"/>
                </a:solidFill>
                <a:latin typeface="JetBrains Mono"/>
                <a:ea typeface="JetBrains Mono"/>
              </a:rPr>
              <a:t>趋势递增</a:t>
            </a:r>
            <a:endParaRPr lang="zh-CN" sz="975">
              <a:solidFill>
                <a:srgbClr val="E2E8F0"/>
              </a:solidFill>
              <a:latin typeface="JetBrains Mono"/>
              <a:ea typeface="JetBrains Mono"/>
            </a:endParaRPr>
          </a:p>
        </p:txBody>
      </p:sp>
      <p:sp>
        <p:nvSpPr>
          <p:cNvPr id="2027" name="文本框 2026" descr="{&quot;isTemplate&quot;:true,&quot;type&quot;:&quot;text&quot;}"/>
          <p:cNvSpPr txBox="1"/>
          <p:nvPr/>
        </p:nvSpPr>
        <p:spPr>
          <a:xfrm>
            <a:off x="781050" y="4057650"/>
            <a:ext cx="10629900" cy="2381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en-US" sz="975">
                <a:solidFill>
                  <a:srgbClr val="E2E8F0"/>
                </a:solidFill>
                <a:latin typeface="JetBrains Mono"/>
                <a:ea typeface="JetBrains Mono"/>
              </a:rPr>
              <a:t>let column  = CaseFormat.Camel.convert("userName", to: CaseFormat.LowerUnderScore)   // ③ user_name</a:t>
            </a:r>
            <a:endParaRPr lang="en-US" sz="975">
              <a:solidFill>
                <a:srgbClr val="E2E8F0"/>
              </a:solidFill>
              <a:latin typeface="JetBrains Mono"/>
              <a:ea typeface="JetBrains Mono"/>
            </a:endParaRPr>
          </a:p>
        </p:txBody>
      </p:sp>
      <p:sp>
        <p:nvSpPr>
          <p:cNvPr id="2028" name="文本框 2027" descr="{&quot;isTemplate&quot;:true,&quot;type&quot;:&quot;text&quot;}"/>
          <p:cNvSpPr txBox="1"/>
          <p:nvPr/>
        </p:nvSpPr>
        <p:spPr>
          <a:xfrm>
            <a:off x="781050" y="4295775"/>
            <a:ext cx="10629900" cy="2381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en-US" sz="975">
                <a:solidFill>
                  <a:srgbClr val="E2E8F0"/>
                </a:solidFill>
                <a:latin typeface="JetBrains Mono"/>
                <a:ea typeface="JetBrains Mono"/>
              </a:rPr>
              <a:t>rules.compileIfAbsent("/api/{version}/user/{id}"){"user-service"}</a:t>
            </a:r>
            <a:endParaRPr lang="en-US" sz="975">
              <a:solidFill>
                <a:srgbClr val="E2E8F0"/>
              </a:solidFill>
              <a:latin typeface="JetBrains Mono"/>
              <a:ea typeface="JetBrains Mono"/>
            </a:endParaRPr>
          </a:p>
        </p:txBody>
      </p:sp>
      <p:sp>
        <p:nvSpPr>
          <p:cNvPr id="2029" name="文本框 2028" descr="{&quot;isTemplate&quot;:true,&quot;type&quot;:&quot;text&quot;}"/>
          <p:cNvSpPr txBox="1"/>
          <p:nvPr/>
        </p:nvSpPr>
        <p:spPr>
          <a:xfrm>
            <a:off x="781050" y="4533900"/>
            <a:ext cx="10629900" cy="2381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en-US" sz="975">
                <a:solidFill>
                  <a:srgbClr val="22D3EE"/>
                </a:solidFill>
                <a:latin typeface="JetBrains Mono"/>
                <a:ea typeface="JetBrains Mono"/>
              </a:rPr>
              <a:t>TextTemplate.compile("</a:t>
            </a:r>
            <a:r>
              <a:rPr lang="zh-CN" sz="975">
                <a:solidFill>
                  <a:srgbClr val="22D3EE"/>
                </a:solidFill>
                <a:latin typeface="JetBrains Mono"/>
                <a:ea typeface="JetBrains Mono"/>
              </a:rPr>
              <a:t>订单</a:t>
            </a:r>
            <a:r>
              <a:rPr lang="en-US" sz="975">
                <a:solidFill>
                  <a:srgbClr val="22D3EE"/>
                </a:solidFill>
                <a:latin typeface="JetBrains Mono"/>
                <a:ea typeface="JetBrains Mono"/>
              </a:rPr>
              <a:t> ${orderId} </a:t>
            </a:r>
            <a:r>
              <a:rPr lang="zh-CN" sz="975">
                <a:solidFill>
                  <a:srgbClr val="22D3EE"/>
                </a:solidFill>
                <a:latin typeface="JetBrains Mono"/>
                <a:ea typeface="JetBrains Mono"/>
              </a:rPr>
              <a:t>已创建</a:t>
            </a:r>
            <a:r>
              <a:rPr lang="en-US" sz="975">
                <a:solidFill>
                  <a:srgbClr val="22D3EE"/>
                </a:solidFill>
                <a:latin typeface="JetBrains Mono"/>
                <a:ea typeface="JetBrains Mono"/>
              </a:rPr>
              <a:t>").format(["orderId": orderId])   // ④ </a:t>
            </a:r>
            <a:r>
              <a:rPr lang="zh-CN" sz="975">
                <a:solidFill>
                  <a:srgbClr val="22D3EE"/>
                </a:solidFill>
                <a:latin typeface="JetBrains Mono"/>
                <a:ea typeface="JetBrains Mono"/>
              </a:rPr>
              <a:t>通知文案</a:t>
            </a:r>
            <a:endParaRPr lang="zh-CN" sz="975">
              <a:solidFill>
                <a:srgbClr val="22D3EE"/>
              </a:solidFill>
              <a:latin typeface="JetBrains Mono"/>
              <a:ea typeface="JetBrains Mono"/>
            </a:endParaRPr>
          </a:p>
        </p:txBody>
      </p:sp>
      <p:sp>
        <p:nvSpPr>
          <p:cNvPr id="2030" name="文本框 2029" descr="{&quot;isTemplate&quot;:true,&quot;type&quot;:&quot;text&quot;}"/>
          <p:cNvSpPr txBox="1"/>
          <p:nvPr/>
        </p:nvSpPr>
        <p:spPr>
          <a:xfrm>
            <a:off x="781050" y="5867400"/>
            <a:ext cx="10629900" cy="2476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65000"/>
              </a:lnSpc>
            </a:pPr>
            <a:r>
              <a:rPr lang="zh-CN" sz="97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它们的共同点：零依赖、零配置、拿来即用</a:t>
            </a:r>
            <a:r>
              <a:rPr lang="en-US" sz="97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—— f_util </a:t>
            </a:r>
            <a:r>
              <a:rPr lang="zh-CN" sz="97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不绑架你的架构，只消灭重复劳动。</a:t>
            </a:r>
            <a:endParaRPr lang="zh-CN" sz="975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031" name="任意多边形 2030"/>
          <p:cNvSpPr/>
          <p:nvPr/>
        </p:nvSpPr>
        <p:spPr>
          <a:xfrm>
            <a:off x="609600" y="6286500"/>
            <a:ext cx="10972800" cy="381000"/>
          </a:xfrm>
          <a:custGeom>
            <a:avLst/>
            <a:gdLst/>
            <a:ahLst/>
            <a:cxnLst/>
            <a:pathLst>
              <a:path w="1152" h="40">
                <a:moveTo>
                  <a:pt x="0" y="0"/>
                </a:moveTo>
                <a:lnTo>
                  <a:pt x="1152" y="0"/>
                </a:lnTo>
                <a:lnTo>
                  <a:pt x="1152" y="1"/>
                </a:lnTo>
                <a:lnTo>
                  <a:pt x="0" y="1"/>
                </a:lnTo>
                <a:close/>
              </a:path>
            </a:pathLst>
          </a:custGeom>
          <a:solidFill>
            <a:srgbClr val="1E293B"/>
          </a:solidFill>
        </p:spPr>
        <p:txBody>
          <a:bodyPr/>
          <a:p/>
        </p:txBody>
      </p:sp>
      <p:sp>
        <p:nvSpPr>
          <p:cNvPr id="2032" name="文本框 2031" descr="{&quot;isTemplate&quot;:true,&quot;type&quot;:&quot;text&quot;}"/>
          <p:cNvSpPr txBox="1"/>
          <p:nvPr/>
        </p:nvSpPr>
        <p:spPr>
          <a:xfrm>
            <a:off x="609600" y="6410325"/>
            <a:ext cx="2219325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fountain · 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一站式服务器应用开发工具库</a:t>
            </a:r>
            <a:endParaRPr lang="zh-CN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033" name="文本框 2032" descr="{&quot;isTemplate&quot;:true,&quot;type&quot;:&quot;text&quot;}"/>
          <p:cNvSpPr txBox="1"/>
          <p:nvPr/>
        </p:nvSpPr>
        <p:spPr>
          <a:xfrm>
            <a:off x="11087100" y="6410325"/>
            <a:ext cx="495300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61 / 116</a:t>
            </a:r>
            <a:endParaRPr lang="en-US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03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5" name="矩形 2034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220"/>
          </a:solidFill>
        </p:spPr>
        <p:txBody>
          <a:bodyPr/>
          <a:p/>
        </p:txBody>
      </p:sp>
      <p:sp>
        <p:nvSpPr>
          <p:cNvPr id="2036" name="矩形 2035"/>
          <p:cNvSpPr/>
          <p:nvPr/>
        </p:nvSpPr>
        <p:spPr>
          <a:xfrm>
            <a:off x="609600" y="476250"/>
            <a:ext cx="38100" cy="381000"/>
          </a:xfrm>
          <a:prstGeom prst="rect">
            <a:avLst/>
          </a:prstGeom>
          <a:solidFill>
            <a:srgbClr val="38BDF8"/>
          </a:solidFill>
        </p:spPr>
        <p:txBody>
          <a:bodyPr/>
          <a:p/>
        </p:txBody>
      </p:sp>
      <p:sp>
        <p:nvSpPr>
          <p:cNvPr id="2037" name="文本框 2036" descr="{&quot;isTemplate&quot;:true,&quot;type&quot;:&quot;text&quot;}"/>
          <p:cNvSpPr txBox="1"/>
          <p:nvPr/>
        </p:nvSpPr>
        <p:spPr>
          <a:xfrm>
            <a:off x="819150" y="304800"/>
            <a:ext cx="8334375" cy="2095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第</a:t>
            </a: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 10 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章</a:t>
            </a: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 · MVC f_mvc · 10.1</a:t>
            </a:r>
            <a:endParaRPr lang="en-US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038" name="文本框 2037" descr="{&quot;isTemplate&quot;:true,&quot;type&quot;:&quot;text&quot;}"/>
          <p:cNvSpPr txBox="1"/>
          <p:nvPr/>
        </p:nvSpPr>
        <p:spPr>
          <a:xfrm>
            <a:off x="819150" y="514350"/>
            <a:ext cx="8334375" cy="5143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2550" b="1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声明</a:t>
            </a:r>
            <a:r>
              <a:rPr lang="en-US" sz="2550" b="1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 Controller </a:t>
            </a:r>
            <a:r>
              <a:rPr lang="zh-CN" sz="2550" b="1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与</a:t>
            </a:r>
            <a:r>
              <a:rPr lang="en-US" sz="2550" b="1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 Mapping </a:t>
            </a:r>
            <a:r>
              <a:rPr lang="zh-CN" sz="2550" b="1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家族</a:t>
            </a:r>
            <a:endParaRPr lang="zh-CN" sz="2550" b="1">
              <a:solidFill>
                <a:srgbClr val="E2E8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039" name="文本框 2038" descr="{&quot;isTemplate&quot;:true,&quot;type&quot;:&quot;text&quot;}"/>
          <p:cNvSpPr txBox="1"/>
          <p:nvPr/>
        </p:nvSpPr>
        <p:spPr>
          <a:xfrm>
            <a:off x="9324975" y="590550"/>
            <a:ext cx="2257425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@Controller = 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路由注册</a:t>
            </a: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 + @Bean 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展开</a:t>
            </a:r>
            <a:endParaRPr lang="zh-CN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040" name="圆角矩形 2039"/>
          <p:cNvSpPr/>
          <p:nvPr/>
        </p:nvSpPr>
        <p:spPr>
          <a:xfrm>
            <a:off x="609600" y="1143000"/>
            <a:ext cx="5391150" cy="5143500"/>
          </a:xfrm>
          <a:prstGeom prst="roundRect">
            <a:avLst>
              <a:gd name="adj" fmla="val 2222"/>
            </a:avLst>
          </a:prstGeom>
          <a:solidFill>
            <a:srgbClr val="0B1220"/>
          </a:solidFill>
          <a:ln w="12700">
            <a:solidFill>
              <a:srgbClr val="1E293B"/>
            </a:solidFill>
            <a:prstDash val="solid"/>
          </a:ln>
        </p:spPr>
        <p:txBody>
          <a:bodyPr/>
          <a:p/>
        </p:txBody>
      </p:sp>
      <p:sp>
        <p:nvSpPr>
          <p:cNvPr id="2041" name="文本框 2040" descr="{&quot;isTemplate&quot;:true,&quot;type&quot;:&quot;text&quot;}"/>
          <p:cNvSpPr txBox="1"/>
          <p:nvPr/>
        </p:nvSpPr>
        <p:spPr>
          <a:xfrm>
            <a:off x="800100" y="1333500"/>
            <a:ext cx="5010150" cy="2571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en-US" sz="975">
                <a:solidFill>
                  <a:srgbClr val="E2E8F0"/>
                </a:solidFill>
                <a:latin typeface="JetBrains Mono"/>
                <a:ea typeface="JetBrains Mono"/>
              </a:rPr>
              <a:t>import fountain::f_mvc.*</a:t>
            </a:r>
            <a:endParaRPr lang="en-US" sz="975">
              <a:solidFill>
                <a:srgbClr val="E2E8F0"/>
              </a:solidFill>
              <a:latin typeface="JetBrains Mono"/>
              <a:ea typeface="JetBrains Mono"/>
            </a:endParaRPr>
          </a:p>
        </p:txBody>
      </p:sp>
      <p:sp>
        <p:nvSpPr>
          <p:cNvPr id="2042" name="文本框 2041" descr="{&quot;isTemplate&quot;:true,&quot;type&quot;:&quot;text&quot;}"/>
          <p:cNvSpPr txBox="1"/>
          <p:nvPr/>
        </p:nvSpPr>
        <p:spPr>
          <a:xfrm>
            <a:off x="800100" y="1590675"/>
            <a:ext cx="5010150" cy="2571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en-US" sz="975">
                <a:solidFill>
                  <a:srgbClr val="E2E8F0"/>
                </a:solidFill>
                <a:latin typeface="JetBrains Mono"/>
                <a:ea typeface="JetBrains Mono"/>
              </a:rPr>
              <a:t>import fountain::f_mvc.macros.*</a:t>
            </a:r>
            <a:endParaRPr lang="en-US" sz="975">
              <a:solidFill>
                <a:srgbClr val="E2E8F0"/>
              </a:solidFill>
              <a:latin typeface="JetBrains Mono"/>
              <a:ea typeface="JetBrains Mono"/>
            </a:endParaRPr>
          </a:p>
        </p:txBody>
      </p:sp>
      <p:sp>
        <p:nvSpPr>
          <p:cNvPr id="2043" name="文本框 2042" descr="{&quot;isTemplate&quot;:true,&quot;type&quot;:&quot;text&quot;}"/>
          <p:cNvSpPr txBox="1"/>
          <p:nvPr/>
        </p:nvSpPr>
        <p:spPr>
          <a:xfrm>
            <a:off x="800100" y="1943100"/>
            <a:ext cx="5010150" cy="2571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en-US" sz="975">
                <a:solidFill>
                  <a:srgbClr val="38BDF8"/>
                </a:solidFill>
                <a:latin typeface="JetBrains Mono"/>
                <a:ea typeface="JetBrains Mono"/>
              </a:rPr>
              <a:t>@Controller          // = </a:t>
            </a:r>
            <a:r>
              <a:rPr lang="zh-CN" sz="975">
                <a:solidFill>
                  <a:srgbClr val="38BDF8"/>
                </a:solidFill>
                <a:latin typeface="JetBrains Mono"/>
                <a:ea typeface="JetBrains Mono"/>
              </a:rPr>
              <a:t>路由注册</a:t>
            </a:r>
            <a:r>
              <a:rPr lang="en-US" sz="975">
                <a:solidFill>
                  <a:srgbClr val="38BDF8"/>
                </a:solidFill>
                <a:latin typeface="JetBrains Mono"/>
                <a:ea typeface="JetBrains Mono"/>
              </a:rPr>
              <a:t> + @Bean </a:t>
            </a:r>
            <a:r>
              <a:rPr lang="zh-CN" sz="975">
                <a:solidFill>
                  <a:srgbClr val="38BDF8"/>
                </a:solidFill>
                <a:latin typeface="JetBrains Mono"/>
                <a:ea typeface="JetBrains Mono"/>
              </a:rPr>
              <a:t>展开</a:t>
            </a:r>
            <a:endParaRPr lang="zh-CN" sz="975">
              <a:solidFill>
                <a:srgbClr val="38BDF8"/>
              </a:solidFill>
              <a:latin typeface="JetBrains Mono"/>
              <a:ea typeface="JetBrains Mono"/>
            </a:endParaRPr>
          </a:p>
        </p:txBody>
      </p:sp>
      <p:sp>
        <p:nvSpPr>
          <p:cNvPr id="2044" name="文本框 2043" descr="{&quot;isTemplate&quot;:true,&quot;type&quot;:&quot;text&quot;}"/>
          <p:cNvSpPr txBox="1"/>
          <p:nvPr/>
        </p:nvSpPr>
        <p:spPr>
          <a:xfrm>
            <a:off x="800100" y="2200275"/>
            <a:ext cx="5010150" cy="2571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en-US" sz="975">
                <a:solidFill>
                  <a:srgbClr val="E2E8F0"/>
                </a:solidFill>
                <a:latin typeface="JetBrains Mono"/>
                <a:ea typeface="JetBrains Mono"/>
              </a:rPr>
              <a:t>public class HellowordController {</a:t>
            </a:r>
            <a:endParaRPr lang="en-US" sz="975">
              <a:solidFill>
                <a:srgbClr val="E2E8F0"/>
              </a:solidFill>
              <a:latin typeface="JetBrains Mono"/>
              <a:ea typeface="JetBrains Mono"/>
            </a:endParaRPr>
          </a:p>
        </p:txBody>
      </p:sp>
      <p:sp>
        <p:nvSpPr>
          <p:cNvPr id="2045" name="文本框 2044" descr="{&quot;isTemplate&quot;:true,&quot;type&quot;:&quot;text&quot;}"/>
          <p:cNvSpPr txBox="1"/>
          <p:nvPr/>
        </p:nvSpPr>
        <p:spPr>
          <a:xfrm>
            <a:off x="800100" y="2457450"/>
            <a:ext cx="5010150" cy="2571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en-US" sz="975">
                <a:solidFill>
                  <a:srgbClr val="E2E8F0"/>
                </a:solidFill>
                <a:latin typeface="JetBrains Mono"/>
                <a:ea typeface="JetBrains Mono"/>
              </a:rPr>
              <a:t>    private let helloworldService = lookup&lt;HelloworldService&gt;()</a:t>
            </a:r>
            <a:endParaRPr lang="en-US" sz="975">
              <a:solidFill>
                <a:srgbClr val="E2E8F0"/>
              </a:solidFill>
              <a:latin typeface="JetBrains Mono"/>
              <a:ea typeface="JetBrains Mono"/>
            </a:endParaRPr>
          </a:p>
        </p:txBody>
      </p:sp>
      <p:sp>
        <p:nvSpPr>
          <p:cNvPr id="2046" name="文本框 2045" descr="{&quot;isTemplate&quot;:true,&quot;type&quot;:&quot;text&quot;}"/>
          <p:cNvSpPr txBox="1"/>
          <p:nvPr/>
        </p:nvSpPr>
        <p:spPr>
          <a:xfrm>
            <a:off x="800100" y="2714625"/>
            <a:ext cx="5010150" cy="2571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en-US" sz="975">
                <a:solidFill>
                  <a:srgbClr val="F59E0B"/>
                </a:solidFill>
                <a:latin typeface="JetBrains Mono"/>
                <a:ea typeface="JetBrains Mono"/>
              </a:rPr>
              <a:t>    @GetMapping[path:"/helloworld", produces:'text/plain',</a:t>
            </a:r>
            <a:endParaRPr lang="en-US" sz="975">
              <a:solidFill>
                <a:srgbClr val="F59E0B"/>
              </a:solidFill>
              <a:latin typeface="JetBrains Mono"/>
              <a:ea typeface="JetBrains Mono"/>
            </a:endParaRPr>
          </a:p>
        </p:txBody>
      </p:sp>
      <p:sp>
        <p:nvSpPr>
          <p:cNvPr id="2047" name="文本框 2046" descr="{&quot;isTemplate&quot;:true,&quot;type&quot;:&quot;text&quot;}"/>
          <p:cNvSpPr txBox="1"/>
          <p:nvPr/>
        </p:nvSpPr>
        <p:spPr>
          <a:xfrm>
            <a:off x="800100" y="2971800"/>
            <a:ext cx="5010150" cy="2571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en-US" sz="975">
                <a:solidFill>
                  <a:srgbClr val="F59E0B"/>
                </a:solidFill>
                <a:latin typeface="JetBrains Mono"/>
                <a:ea typeface="JetBrains Mono"/>
              </a:rPr>
              <a:t>               consumes:'application/x-www-form-urlencoded']</a:t>
            </a:r>
            <a:endParaRPr lang="en-US" sz="975">
              <a:solidFill>
                <a:srgbClr val="F59E0B"/>
              </a:solidFill>
              <a:latin typeface="JetBrains Mono"/>
              <a:ea typeface="JetBrains Mono"/>
            </a:endParaRPr>
          </a:p>
        </p:txBody>
      </p:sp>
      <p:sp>
        <p:nvSpPr>
          <p:cNvPr id="2048" name="文本框 2047" descr="{&quot;isTemplate&quot;:true,&quot;type&quot;:&quot;text&quot;}"/>
          <p:cNvSpPr txBox="1"/>
          <p:nvPr/>
        </p:nvSpPr>
        <p:spPr>
          <a:xfrm>
            <a:off x="800100" y="3228975"/>
            <a:ext cx="5010150" cy="2571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en-US" sz="975">
                <a:solidFill>
                  <a:srgbClr val="38BDF8"/>
                </a:solidFill>
                <a:latin typeface="JetBrains Mono"/>
                <a:ea typeface="JetBrains Mono"/>
              </a:rPr>
              <a:t>    @IgnoreSecurity   // = @IgnoreAuth + @IgnorePrivilege</a:t>
            </a:r>
            <a:endParaRPr lang="en-US" sz="975">
              <a:solidFill>
                <a:srgbClr val="38BDF8"/>
              </a:solidFill>
              <a:latin typeface="JetBrains Mono"/>
              <a:ea typeface="JetBrains Mono"/>
            </a:endParaRPr>
          </a:p>
        </p:txBody>
      </p:sp>
      <p:sp>
        <p:nvSpPr>
          <p:cNvPr id="2049" name="文本框 2048" descr="{&quot;isTemplate&quot;:true,&quot;type&quot;:&quot;text&quot;}"/>
          <p:cNvSpPr txBox="1"/>
          <p:nvPr/>
        </p:nvSpPr>
        <p:spPr>
          <a:xfrm>
            <a:off x="800100" y="3486150"/>
            <a:ext cx="5010150" cy="2571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en-US" sz="975">
                <a:solidFill>
                  <a:srgbClr val="E2E8F0"/>
                </a:solidFill>
                <a:latin typeface="JetBrains Mono"/>
                <a:ea typeface="JetBrains Mono"/>
              </a:rPr>
              <a:t>    public func helloworld(): String {</a:t>
            </a:r>
            <a:endParaRPr lang="en-US" sz="975">
              <a:solidFill>
                <a:srgbClr val="E2E8F0"/>
              </a:solidFill>
              <a:latin typeface="JetBrains Mono"/>
              <a:ea typeface="JetBrains Mono"/>
            </a:endParaRPr>
          </a:p>
        </p:txBody>
      </p:sp>
      <p:sp>
        <p:nvSpPr>
          <p:cNvPr id="2050" name="文本框 2049" descr="{&quot;isTemplate&quot;:true,&quot;type&quot;:&quot;text&quot;}"/>
          <p:cNvSpPr txBox="1"/>
          <p:nvPr/>
        </p:nvSpPr>
        <p:spPr>
          <a:xfrm>
            <a:off x="800100" y="3743325"/>
            <a:ext cx="5010150" cy="2571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en-US" sz="975">
                <a:solidFill>
                  <a:srgbClr val="94A3B8"/>
                </a:solidFill>
                <a:latin typeface="JetBrains Mono"/>
                <a:ea typeface="JetBrains Mono"/>
              </a:rPr>
              <a:t>        helloworldService.sayHello('haha')</a:t>
            </a:r>
            <a:endParaRPr lang="en-US" sz="975">
              <a:solidFill>
                <a:srgbClr val="94A3B8"/>
              </a:solidFill>
              <a:latin typeface="JetBrains Mono"/>
              <a:ea typeface="JetBrains Mono"/>
            </a:endParaRPr>
          </a:p>
        </p:txBody>
      </p:sp>
      <p:sp>
        <p:nvSpPr>
          <p:cNvPr id="2051" name="文本框 2050" descr="{&quot;isTemplate&quot;:true,&quot;type&quot;:&quot;text&quot;}"/>
          <p:cNvSpPr txBox="1"/>
          <p:nvPr/>
        </p:nvSpPr>
        <p:spPr>
          <a:xfrm>
            <a:off x="800100" y="4000500"/>
            <a:ext cx="5010150" cy="2571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en-US" sz="975">
                <a:solidFill>
                  <a:srgbClr val="94A3B8"/>
                </a:solidFill>
                <a:latin typeface="JetBrains Mono"/>
                <a:ea typeface="JetBrains Mono"/>
              </a:rPr>
              <a:t>        return "helloworld"</a:t>
            </a:r>
            <a:endParaRPr lang="en-US" sz="975">
              <a:solidFill>
                <a:srgbClr val="94A3B8"/>
              </a:solidFill>
              <a:latin typeface="JetBrains Mono"/>
              <a:ea typeface="JetBrains Mono"/>
            </a:endParaRPr>
          </a:p>
        </p:txBody>
      </p:sp>
      <p:sp>
        <p:nvSpPr>
          <p:cNvPr id="2052" name="文本框 2051" descr="{&quot;isTemplate&quot;:true,&quot;type&quot;:&quot;text&quot;}"/>
          <p:cNvSpPr txBox="1"/>
          <p:nvPr/>
        </p:nvSpPr>
        <p:spPr>
          <a:xfrm>
            <a:off x="800100" y="4257675"/>
            <a:ext cx="5010150" cy="2571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en-US" sz="975">
                <a:solidFill>
                  <a:srgbClr val="E2E8F0"/>
                </a:solidFill>
                <a:latin typeface="JetBrains Mono"/>
                <a:ea typeface="JetBrains Mono"/>
              </a:rPr>
              <a:t>    }</a:t>
            </a:r>
            <a:endParaRPr lang="en-US" sz="975">
              <a:solidFill>
                <a:srgbClr val="E2E8F0"/>
              </a:solidFill>
              <a:latin typeface="JetBrains Mono"/>
              <a:ea typeface="JetBrains Mono"/>
            </a:endParaRPr>
          </a:p>
        </p:txBody>
      </p:sp>
      <p:sp>
        <p:nvSpPr>
          <p:cNvPr id="2053" name="文本框 2052" descr="{&quot;isTemplate&quot;:true,&quot;type&quot;:&quot;text&quot;}"/>
          <p:cNvSpPr txBox="1"/>
          <p:nvPr/>
        </p:nvSpPr>
        <p:spPr>
          <a:xfrm>
            <a:off x="800100" y="4514850"/>
            <a:ext cx="5010150" cy="2571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en-US" sz="975">
                <a:solidFill>
                  <a:srgbClr val="E2E8F0"/>
                </a:solidFill>
                <a:latin typeface="JetBrains Mono"/>
                <a:ea typeface="JetBrains Mono"/>
              </a:rPr>
              <a:t>}</a:t>
            </a:r>
            <a:endParaRPr lang="en-US" sz="975">
              <a:solidFill>
                <a:srgbClr val="E2E8F0"/>
              </a:solidFill>
              <a:latin typeface="JetBrains Mono"/>
              <a:ea typeface="JetBrains Mono"/>
            </a:endParaRPr>
          </a:p>
        </p:txBody>
      </p:sp>
      <p:sp>
        <p:nvSpPr>
          <p:cNvPr id="2054" name="圆角矩形 2053"/>
          <p:cNvSpPr/>
          <p:nvPr/>
        </p:nvSpPr>
        <p:spPr>
          <a:xfrm>
            <a:off x="6191250" y="1143000"/>
            <a:ext cx="5391150" cy="2228850"/>
          </a:xfrm>
          <a:prstGeom prst="roundRect">
            <a:avLst>
              <a:gd name="adj" fmla="val 5128"/>
            </a:avLst>
          </a:prstGeom>
          <a:solidFill>
            <a:srgbClr val="111C2E"/>
          </a:solidFill>
          <a:ln w="12700">
            <a:solidFill>
              <a:srgbClr val="38BDF8"/>
            </a:solidFill>
            <a:prstDash val="solid"/>
          </a:ln>
        </p:spPr>
        <p:txBody>
          <a:bodyPr/>
          <a:p/>
        </p:txBody>
      </p:sp>
      <p:sp>
        <p:nvSpPr>
          <p:cNvPr id="2055" name="文本框 2054" descr="{&quot;isTemplate&quot;:true,&quot;type&quot;:&quot;text&quot;}"/>
          <p:cNvSpPr txBox="1"/>
          <p:nvPr/>
        </p:nvSpPr>
        <p:spPr>
          <a:xfrm>
            <a:off x="6381750" y="1333500"/>
            <a:ext cx="5010150" cy="2000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38BDF8"/>
                </a:solidFill>
                <a:latin typeface="微软雅黑" panose="020B0503020204020204" charset="-122"/>
                <a:ea typeface="微软雅黑" panose="020B0503020204020204" charset="-122"/>
              </a:rPr>
              <a:t>三条规则</a:t>
            </a:r>
            <a:endParaRPr lang="zh-CN" sz="1275" b="1">
              <a:solidFill>
                <a:srgbClr val="38BDF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056" name="文本框 2055" descr="{&quot;isTemplate&quot;:true,&quot;type&quot;:&quot;text&quot;}"/>
          <p:cNvSpPr txBox="1"/>
          <p:nvPr/>
        </p:nvSpPr>
        <p:spPr>
          <a:xfrm>
            <a:off x="6381750" y="1628775"/>
            <a:ext cx="5010150" cy="2762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en-US" sz="105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1</a:t>
            </a:r>
            <a:r>
              <a:rPr lang="zh-CN" sz="105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　只有被</a:t>
            </a:r>
            <a:r>
              <a:rPr lang="en-US" sz="105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 *Mapping </a:t>
            </a:r>
            <a:r>
              <a:rPr lang="zh-CN" sz="105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注解修饰的公共实例函数才会注册到</a:t>
            </a:r>
            <a:r>
              <a:rPr lang="en-US" sz="105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 MVC</a:t>
            </a:r>
            <a:endParaRPr lang="en-US" sz="1050">
              <a:solidFill>
                <a:srgbClr val="E2E8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057" name="文本框 2056" descr="{&quot;isTemplate&quot;:true,&quot;type&quot;:&quot;text&quot;}"/>
          <p:cNvSpPr txBox="1"/>
          <p:nvPr/>
        </p:nvSpPr>
        <p:spPr>
          <a:xfrm>
            <a:off x="6381750" y="1981200"/>
            <a:ext cx="5010150" cy="552450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en-US" sz="105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2</a:t>
            </a:r>
            <a:r>
              <a:rPr lang="zh-CN" sz="105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　</a:t>
            </a:r>
            <a:r>
              <a:rPr lang="en-US" sz="105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@Controller </a:t>
            </a:r>
            <a:r>
              <a:rPr lang="zh-CN" sz="105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同时展开</a:t>
            </a:r>
            <a:r>
              <a:rPr lang="en-US" sz="105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 @Bean —— controller </a:t>
            </a:r>
            <a:r>
              <a:rPr lang="zh-CN" sz="105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天然是</a:t>
            </a:r>
            <a:r>
              <a:rPr lang="en-US" sz="105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 IOC bean</a:t>
            </a:r>
            <a:r>
              <a:rPr lang="zh-CN" sz="105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，可直接</a:t>
            </a:r>
            <a:r>
              <a:rPr lang="en-US" sz="105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 lookup</a:t>
            </a:r>
            <a:endParaRPr lang="en-US" sz="1050">
              <a:solidFill>
                <a:srgbClr val="E2E8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058" name="文本框 2057" descr="{&quot;isTemplate&quot;:true,&quot;type&quot;:&quot;text&quot;}"/>
          <p:cNvSpPr txBox="1"/>
          <p:nvPr/>
        </p:nvSpPr>
        <p:spPr>
          <a:xfrm>
            <a:off x="6381750" y="2609850"/>
            <a:ext cx="5010150" cy="2762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en-US" sz="105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3</a:t>
            </a:r>
            <a:r>
              <a:rPr lang="zh-CN" sz="105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　需要织入切面时改用</a:t>
            </a:r>
            <a:r>
              <a:rPr lang="en-US" sz="105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 @WeavedController</a:t>
            </a:r>
            <a:r>
              <a:rPr lang="zh-CN" sz="105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（</a:t>
            </a:r>
            <a:r>
              <a:rPr lang="en-US" sz="105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CurrentUserController </a:t>
            </a:r>
            <a:r>
              <a:rPr lang="zh-CN" sz="105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就是例子）</a:t>
            </a:r>
            <a:endParaRPr lang="zh-CN" sz="1050">
              <a:solidFill>
                <a:srgbClr val="E2E8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059" name="圆角矩形 2058"/>
          <p:cNvSpPr/>
          <p:nvPr/>
        </p:nvSpPr>
        <p:spPr>
          <a:xfrm>
            <a:off x="6191250" y="3505200"/>
            <a:ext cx="5391150" cy="2781300"/>
          </a:xfrm>
          <a:prstGeom prst="roundRect">
            <a:avLst>
              <a:gd name="adj" fmla="val 4110"/>
            </a:avLst>
          </a:prstGeom>
          <a:solidFill>
            <a:srgbClr val="111C2E"/>
          </a:solidFill>
          <a:ln w="12700">
            <a:solidFill>
              <a:srgbClr val="1E293B"/>
            </a:solidFill>
            <a:prstDash val="solid"/>
          </a:ln>
        </p:spPr>
        <p:txBody>
          <a:bodyPr/>
          <a:p/>
        </p:txBody>
      </p:sp>
      <p:sp>
        <p:nvSpPr>
          <p:cNvPr id="2060" name="文本框 2059" descr="{&quot;isTemplate&quot;:true,&quot;type&quot;:&quot;text&quot;}"/>
          <p:cNvSpPr txBox="1"/>
          <p:nvPr/>
        </p:nvSpPr>
        <p:spPr>
          <a:xfrm>
            <a:off x="6381750" y="3695700"/>
            <a:ext cx="5010150" cy="2000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 b="1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Mapping </a:t>
            </a:r>
            <a:r>
              <a:rPr lang="zh-CN" sz="1275" b="1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家族与公共参数</a:t>
            </a:r>
            <a:endParaRPr lang="zh-CN" sz="1275" b="1">
              <a:solidFill>
                <a:srgbClr val="E2E8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061" name="文本框 2060" descr="{&quot;isTemplate&quot;:true,&quot;type&quot;:&quot;text&quot;}"/>
          <p:cNvSpPr txBox="1"/>
          <p:nvPr/>
        </p:nvSpPr>
        <p:spPr>
          <a:xfrm>
            <a:off x="6381750" y="3990975"/>
            <a:ext cx="5010150" cy="552450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en-US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@GetMapping</a:t>
            </a:r>
            <a:r>
              <a:rPr lang="zh-CN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　</a:t>
            </a:r>
            <a:r>
              <a:rPr lang="en-US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@PostMapping</a:t>
            </a:r>
            <a:r>
              <a:rPr lang="zh-CN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　</a:t>
            </a:r>
            <a:r>
              <a:rPr lang="en-US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@PutMapping</a:t>
            </a:r>
            <a:r>
              <a:rPr lang="zh-CN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　</a:t>
            </a:r>
            <a:r>
              <a:rPr lang="en-US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@DeleteMapping</a:t>
            </a:r>
            <a:r>
              <a:rPr lang="zh-CN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　</a:t>
            </a:r>
            <a:r>
              <a:rPr lang="en-US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@PatchMapping</a:t>
            </a:r>
            <a:endParaRPr lang="en-US" sz="1050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062" name="文本框 2061" descr="{&quot;isTemplate&quot;:true,&quot;type&quot;:&quot;text&quot;}"/>
          <p:cNvSpPr txBox="1"/>
          <p:nvPr/>
        </p:nvSpPr>
        <p:spPr>
          <a:xfrm>
            <a:off x="6381750" y="4638675"/>
            <a:ext cx="5010150" cy="2762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zh-CN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公共参数：</a:t>
            </a:r>
            <a:r>
              <a:rPr lang="en-US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path</a:t>
            </a:r>
            <a:r>
              <a:rPr lang="zh-CN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　</a:t>
            </a:r>
            <a:r>
              <a:rPr lang="en-US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produces</a:t>
            </a:r>
            <a:r>
              <a:rPr lang="zh-CN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　</a:t>
            </a:r>
            <a:r>
              <a:rPr lang="en-US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consumes</a:t>
            </a:r>
            <a:r>
              <a:rPr lang="zh-CN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　</a:t>
            </a:r>
            <a:r>
              <a:rPr lang="en-US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params</a:t>
            </a:r>
            <a:r>
              <a:rPr lang="zh-CN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　</a:t>
            </a:r>
            <a:r>
              <a:rPr lang="en-US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headers</a:t>
            </a:r>
            <a:endParaRPr lang="en-US" sz="1050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063" name="文本框 2062" descr="{&quot;isTemplate&quot;:true,&quot;type&quot;:&quot;text&quot;}"/>
          <p:cNvSpPr txBox="1"/>
          <p:nvPr/>
        </p:nvSpPr>
        <p:spPr>
          <a:xfrm>
            <a:off x="6381750" y="4972050"/>
            <a:ext cx="5010150" cy="2762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zh-CN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另有</a:t>
            </a:r>
            <a:r>
              <a:rPr lang="en-US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ignoreAuth</a:t>
            </a:r>
            <a:r>
              <a:rPr lang="zh-CN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　</a:t>
            </a:r>
            <a:r>
              <a:rPr lang="en-US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ignorePrivilege</a:t>
            </a:r>
            <a:endParaRPr lang="en-US" sz="1050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064" name="文本框 2063" descr="{&quot;isTemplate&quot;:true,&quot;type&quot;:&quot;text&quot;}"/>
          <p:cNvSpPr txBox="1"/>
          <p:nvPr/>
        </p:nvSpPr>
        <p:spPr>
          <a:xfrm>
            <a:off x="6381750" y="5543550"/>
            <a:ext cx="5010150" cy="552450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en-US" sz="105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path </a:t>
            </a:r>
            <a:r>
              <a:rPr lang="zh-CN" sz="105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支持大括号路径参数：</a:t>
            </a:r>
            <a:r>
              <a:rPr lang="en-US" sz="105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/api/user/</a:t>
            </a:r>
            <a:r>
              <a:rPr lang="en-US" sz="105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{id}</a:t>
            </a:r>
            <a:r>
              <a:rPr lang="zh-CN" sz="105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；</a:t>
            </a:r>
            <a:r>
              <a:rPr lang="en-US" sz="105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produces / consumes </a:t>
            </a:r>
            <a:r>
              <a:rPr lang="zh-CN" sz="105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可用</a:t>
            </a:r>
            <a:r>
              <a:rPr lang="en-US" sz="105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 | </a:t>
            </a:r>
            <a:r>
              <a:rPr lang="zh-CN" sz="105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分隔多种格式，默认</a:t>
            </a:r>
            <a:r>
              <a:rPr lang="en-US" sz="105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 application/json</a:t>
            </a:r>
            <a:r>
              <a:rPr lang="zh-CN" sz="105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。</a:t>
            </a:r>
            <a:endParaRPr lang="zh-CN" sz="105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065" name="任意多边形 2064"/>
          <p:cNvSpPr/>
          <p:nvPr/>
        </p:nvSpPr>
        <p:spPr>
          <a:xfrm>
            <a:off x="609600" y="6286500"/>
            <a:ext cx="10972800" cy="381000"/>
          </a:xfrm>
          <a:custGeom>
            <a:avLst/>
            <a:gdLst/>
            <a:ahLst/>
            <a:cxnLst/>
            <a:pathLst>
              <a:path w="1152" h="40">
                <a:moveTo>
                  <a:pt x="0" y="0"/>
                </a:moveTo>
                <a:lnTo>
                  <a:pt x="1152" y="0"/>
                </a:lnTo>
                <a:lnTo>
                  <a:pt x="1152" y="1"/>
                </a:lnTo>
                <a:lnTo>
                  <a:pt x="0" y="1"/>
                </a:lnTo>
                <a:close/>
              </a:path>
            </a:pathLst>
          </a:custGeom>
          <a:solidFill>
            <a:srgbClr val="1E293B"/>
          </a:solidFill>
        </p:spPr>
        <p:txBody>
          <a:bodyPr/>
          <a:p/>
        </p:txBody>
      </p:sp>
      <p:sp>
        <p:nvSpPr>
          <p:cNvPr id="2066" name="文本框 2065" descr="{&quot;isTemplate&quot;:true,&quot;type&quot;:&quot;text&quot;}"/>
          <p:cNvSpPr txBox="1"/>
          <p:nvPr/>
        </p:nvSpPr>
        <p:spPr>
          <a:xfrm>
            <a:off x="609600" y="6410325"/>
            <a:ext cx="2219325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fountain · 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一站式服务器应用开发工具库</a:t>
            </a:r>
            <a:endParaRPr lang="zh-CN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067" name="文本框 2066" descr="{&quot;isTemplate&quot;:true,&quot;type&quot;:&quot;text&quot;}"/>
          <p:cNvSpPr txBox="1"/>
          <p:nvPr/>
        </p:nvSpPr>
        <p:spPr>
          <a:xfrm>
            <a:off x="11087100" y="6410325"/>
            <a:ext cx="495300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62 / 116</a:t>
            </a:r>
            <a:endParaRPr lang="en-US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06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9" name="矩形 2068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220"/>
          </a:solidFill>
        </p:spPr>
        <p:txBody>
          <a:bodyPr/>
          <a:p/>
        </p:txBody>
      </p:sp>
      <p:sp>
        <p:nvSpPr>
          <p:cNvPr id="2070" name="矩形 2069"/>
          <p:cNvSpPr/>
          <p:nvPr/>
        </p:nvSpPr>
        <p:spPr>
          <a:xfrm>
            <a:off x="609600" y="476250"/>
            <a:ext cx="38100" cy="381000"/>
          </a:xfrm>
          <a:prstGeom prst="rect">
            <a:avLst/>
          </a:prstGeom>
          <a:solidFill>
            <a:srgbClr val="38BDF8"/>
          </a:solidFill>
        </p:spPr>
        <p:txBody>
          <a:bodyPr/>
          <a:p/>
        </p:txBody>
      </p:sp>
      <p:sp>
        <p:nvSpPr>
          <p:cNvPr id="2071" name="文本框 2070" descr="{&quot;isTemplate&quot;:true,&quot;type&quot;:&quot;text&quot;}"/>
          <p:cNvSpPr txBox="1"/>
          <p:nvPr/>
        </p:nvSpPr>
        <p:spPr>
          <a:xfrm>
            <a:off x="819150" y="304800"/>
            <a:ext cx="9629775" cy="2095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第</a:t>
            </a: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 10 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章</a:t>
            </a: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 · MVC f_mvc · 10.1 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续</a:t>
            </a:r>
            <a:endParaRPr lang="zh-CN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072" name="文本框 2071" descr="{&quot;isTemplate&quot;:true,&quot;type&quot;:&quot;text&quot;}"/>
          <p:cNvSpPr txBox="1"/>
          <p:nvPr/>
        </p:nvSpPr>
        <p:spPr>
          <a:xfrm>
            <a:off x="819150" y="514350"/>
            <a:ext cx="9629775" cy="5143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en-US" sz="2550" b="1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params / headers </a:t>
            </a:r>
            <a:r>
              <a:rPr lang="zh-CN" sz="2550" b="1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的规则</a:t>
            </a:r>
            <a:r>
              <a:rPr lang="en-US" sz="2550" b="1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 DSL</a:t>
            </a:r>
            <a:endParaRPr lang="en-US" sz="2550" b="1">
              <a:solidFill>
                <a:srgbClr val="E2E8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073" name="文本框 2072" descr="{&quot;isTemplate&quot;:true,&quot;type&quot;:&quot;text&quot;}"/>
          <p:cNvSpPr txBox="1"/>
          <p:nvPr/>
        </p:nvSpPr>
        <p:spPr>
          <a:xfrm>
            <a:off x="10620375" y="590550"/>
            <a:ext cx="962025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值得单独讲</a:t>
            </a: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 30 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秒</a:t>
            </a:r>
            <a:endParaRPr lang="zh-CN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074" name="圆角矩形 2073"/>
          <p:cNvSpPr/>
          <p:nvPr/>
        </p:nvSpPr>
        <p:spPr>
          <a:xfrm>
            <a:off x="609600" y="1143000"/>
            <a:ext cx="4762500" cy="5143500"/>
          </a:xfrm>
          <a:prstGeom prst="roundRect">
            <a:avLst>
              <a:gd name="adj" fmla="val 2400"/>
            </a:avLst>
          </a:prstGeom>
          <a:solidFill>
            <a:srgbClr val="111C2E"/>
          </a:solidFill>
          <a:ln w="12700">
            <a:solidFill>
              <a:srgbClr val="38BDF8"/>
            </a:solidFill>
            <a:prstDash val="solid"/>
          </a:ln>
        </p:spPr>
        <p:txBody>
          <a:bodyPr/>
          <a:p/>
        </p:txBody>
      </p:sp>
      <p:sp>
        <p:nvSpPr>
          <p:cNvPr id="2075" name="文本框 2074" descr="{&quot;isTemplate&quot;:true,&quot;type&quot;:&quot;text&quot;}"/>
          <p:cNvSpPr txBox="1"/>
          <p:nvPr/>
        </p:nvSpPr>
        <p:spPr>
          <a:xfrm>
            <a:off x="819150" y="1352550"/>
            <a:ext cx="4343400" cy="2095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38BDF8"/>
                </a:solidFill>
                <a:latin typeface="微软雅黑" panose="020B0503020204020204" charset="-122"/>
                <a:ea typeface="微软雅黑" panose="020B0503020204020204" charset="-122"/>
              </a:rPr>
              <a:t>六种写法</a:t>
            </a:r>
            <a:endParaRPr lang="zh-CN" sz="1350" b="1">
              <a:solidFill>
                <a:srgbClr val="38BDF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076" name="文本框 2075" descr="{&quot;isTemplate&quot;:true,&quot;type&quot;:&quot;text&quot;}"/>
          <p:cNvSpPr txBox="1"/>
          <p:nvPr/>
        </p:nvSpPr>
        <p:spPr>
          <a:xfrm>
            <a:off x="819150" y="1714500"/>
            <a:ext cx="4343400" cy="2762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en-US" sz="1125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rule1 &amp; rule2</a:t>
            </a:r>
            <a:r>
              <a:rPr lang="zh-CN" sz="1125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　两边都满足</a:t>
            </a:r>
            <a:endParaRPr lang="zh-CN" sz="1125">
              <a:solidFill>
                <a:srgbClr val="E2E8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077" name="文本框 2076" descr="{&quot;isTemplate&quot;:true,&quot;type&quot;:&quot;text&quot;}"/>
          <p:cNvSpPr txBox="1"/>
          <p:nvPr/>
        </p:nvSpPr>
        <p:spPr>
          <a:xfrm>
            <a:off x="819150" y="2105025"/>
            <a:ext cx="4343400" cy="2762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en-US" sz="1125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rule1 | rule2</a:t>
            </a:r>
            <a:r>
              <a:rPr lang="zh-CN" sz="1125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　满足一边</a:t>
            </a:r>
            <a:endParaRPr lang="zh-CN" sz="1125">
              <a:solidFill>
                <a:srgbClr val="E2E8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078" name="文本框 2077" descr="{&quot;isTemplate&quot;:true,&quot;type&quot;:&quot;text&quot;}"/>
          <p:cNvSpPr txBox="1"/>
          <p:nvPr/>
        </p:nvSpPr>
        <p:spPr>
          <a:xfrm>
            <a:off x="819150" y="2495550"/>
            <a:ext cx="4343400" cy="2762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en-US" sz="1125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! rule</a:t>
            </a:r>
            <a:r>
              <a:rPr lang="zh-CN" sz="1125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　取反</a:t>
            </a:r>
            <a:endParaRPr lang="zh-CN" sz="1125">
              <a:solidFill>
                <a:srgbClr val="E2E8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079" name="文本框 2078" descr="{&quot;isTemplate&quot;:true,&quot;type&quot;:&quot;text&quot;}"/>
          <p:cNvSpPr txBox="1"/>
          <p:nvPr/>
        </p:nvSpPr>
        <p:spPr>
          <a:xfrm>
            <a:off x="819150" y="2886075"/>
            <a:ext cx="4343400" cy="2762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125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圆括号　改变优先级</a:t>
            </a:r>
            <a:endParaRPr lang="zh-CN" sz="1125">
              <a:solidFill>
                <a:srgbClr val="E2E8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080" name="文本框 2079" descr="{&quot;isTemplate&quot;:true,&quot;type&quot;:&quot;text&quot;}"/>
          <p:cNvSpPr txBox="1"/>
          <p:nvPr/>
        </p:nvSpPr>
        <p:spPr>
          <a:xfrm>
            <a:off x="819150" y="3276600"/>
            <a:ext cx="4343400" cy="2762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en-US" sz="1125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contains </a:t>
            </a:r>
            <a:r>
              <a:rPr lang="zh-CN" sz="1125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括号　参数</a:t>
            </a:r>
            <a:r>
              <a:rPr lang="en-US" sz="1125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 / </a:t>
            </a:r>
            <a:r>
              <a:rPr lang="zh-CN" sz="1125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请求头名需包含这些</a:t>
            </a:r>
            <a:endParaRPr lang="zh-CN" sz="1125">
              <a:solidFill>
                <a:srgbClr val="E2E8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081" name="文本框 2080" descr="{&quot;isTemplate&quot;:true,&quot;type&quot;:&quot;text&quot;}"/>
          <p:cNvSpPr txBox="1"/>
          <p:nvPr/>
        </p:nvSpPr>
        <p:spPr>
          <a:xfrm>
            <a:off x="819150" y="3667125"/>
            <a:ext cx="4343400" cy="2762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en-US" sz="1125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subset </a:t>
            </a:r>
            <a:r>
              <a:rPr lang="zh-CN" sz="1125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括号　参数</a:t>
            </a:r>
            <a:r>
              <a:rPr lang="en-US" sz="1125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 / </a:t>
            </a:r>
            <a:r>
              <a:rPr lang="zh-CN" sz="1125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请求头名是这些的子集</a:t>
            </a:r>
            <a:endParaRPr lang="zh-CN" sz="1125">
              <a:solidFill>
                <a:srgbClr val="E2E8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082" name="文本框 2081" descr="{&quot;isTemplate&quot;:true,&quot;type&quot;:&quot;text&quot;}"/>
          <p:cNvSpPr txBox="1"/>
          <p:nvPr/>
        </p:nvSpPr>
        <p:spPr>
          <a:xfrm>
            <a:off x="819150" y="5524500"/>
            <a:ext cx="4343400" cy="552450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zh-CN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用途：同一个路径，根据请求里带没带某些参数，路由到不同的处理函数。匹配不上的请求根本不会进你的函数。</a:t>
            </a:r>
            <a:endParaRPr lang="zh-CN" sz="1050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083" name="圆角矩形 2082"/>
          <p:cNvSpPr/>
          <p:nvPr/>
        </p:nvSpPr>
        <p:spPr>
          <a:xfrm>
            <a:off x="5562600" y="1143000"/>
            <a:ext cx="6019800" cy="2190750"/>
          </a:xfrm>
          <a:prstGeom prst="roundRect">
            <a:avLst>
              <a:gd name="adj" fmla="val 5217"/>
            </a:avLst>
          </a:prstGeom>
          <a:solidFill>
            <a:srgbClr val="0B1220"/>
          </a:solidFill>
          <a:ln w="12700">
            <a:solidFill>
              <a:srgbClr val="1E293B"/>
            </a:solidFill>
            <a:prstDash val="solid"/>
          </a:ln>
        </p:spPr>
        <p:txBody>
          <a:bodyPr/>
          <a:p/>
        </p:txBody>
      </p:sp>
      <p:sp>
        <p:nvSpPr>
          <p:cNvPr id="2084" name="文本框 2083" descr="{&quot;isTemplate&quot;:true,&quot;type&quot;:&quot;text&quot;}"/>
          <p:cNvSpPr txBox="1"/>
          <p:nvPr/>
        </p:nvSpPr>
        <p:spPr>
          <a:xfrm>
            <a:off x="5753100" y="1333500"/>
            <a:ext cx="5638800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示例</a:t>
            </a:r>
            <a:endParaRPr lang="zh-CN" sz="105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085" name="文本框 2084" descr="{&quot;isTemplate&quot;:true,&quot;type&quot;:&quot;text&quot;}"/>
          <p:cNvSpPr txBox="1"/>
          <p:nvPr/>
        </p:nvSpPr>
        <p:spPr>
          <a:xfrm>
            <a:off x="5753100" y="1590675"/>
            <a:ext cx="5638800" cy="3048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90000"/>
              </a:lnSpc>
            </a:pPr>
            <a:r>
              <a:rPr lang="en-US" sz="1050">
                <a:solidFill>
                  <a:srgbClr val="22D3EE"/>
                </a:solidFill>
                <a:latin typeface="JetBrains Mono"/>
                <a:ea typeface="JetBrains Mono"/>
              </a:rPr>
              <a:t>a.contains('1','2') &amp; (b.subset('s','d') | 'orderTime' | goodsId)</a:t>
            </a:r>
            <a:endParaRPr lang="en-US" sz="1050">
              <a:solidFill>
                <a:srgbClr val="22D3EE"/>
              </a:solidFill>
              <a:latin typeface="JetBrains Mono"/>
              <a:ea typeface="JetBrains Mono"/>
            </a:endParaRPr>
          </a:p>
        </p:txBody>
      </p:sp>
      <p:sp>
        <p:nvSpPr>
          <p:cNvPr id="2086" name="圆角矩形 2085"/>
          <p:cNvSpPr/>
          <p:nvPr/>
        </p:nvSpPr>
        <p:spPr>
          <a:xfrm>
            <a:off x="5562600" y="3467100"/>
            <a:ext cx="6019800" cy="2819400"/>
          </a:xfrm>
          <a:prstGeom prst="roundRect">
            <a:avLst>
              <a:gd name="adj" fmla="val 4054"/>
            </a:avLst>
          </a:prstGeom>
          <a:solidFill>
            <a:srgbClr val="111C2E"/>
          </a:solidFill>
          <a:ln w="12700">
            <a:solidFill>
              <a:srgbClr val="1E293B"/>
            </a:solidFill>
            <a:prstDash val="solid"/>
          </a:ln>
        </p:spPr>
        <p:txBody>
          <a:bodyPr/>
          <a:p/>
        </p:txBody>
      </p:sp>
      <p:sp>
        <p:nvSpPr>
          <p:cNvPr id="2087" name="文本框 2086" descr="{&quot;isTemplate&quot;:true,&quot;type&quot;:&quot;text&quot;}"/>
          <p:cNvSpPr txBox="1"/>
          <p:nvPr/>
        </p:nvSpPr>
        <p:spPr>
          <a:xfrm>
            <a:off x="5753100" y="3657600"/>
            <a:ext cx="5638800" cy="1714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怎么读</a:t>
            </a:r>
            <a:endParaRPr lang="zh-CN" sz="1125" b="1">
              <a:solidFill>
                <a:srgbClr val="E2E8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088" name="文本框 2087" descr="{&quot;isTemplate&quot;:true,&quot;type&quot;:&quot;text&quot;}"/>
          <p:cNvSpPr txBox="1"/>
          <p:nvPr/>
        </p:nvSpPr>
        <p:spPr>
          <a:xfrm>
            <a:off x="5753100" y="3924300"/>
            <a:ext cx="5638800" cy="2857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5000"/>
              </a:lnSpc>
            </a:pPr>
            <a:r>
              <a:rPr lang="en-US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a </a:t>
            </a:r>
            <a:r>
              <a:rPr lang="zh-CN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组里必须包含</a:t>
            </a:r>
            <a:r>
              <a:rPr lang="en-US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1 </a:t>
            </a:r>
            <a:r>
              <a:rPr lang="zh-CN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和</a:t>
            </a:r>
            <a:r>
              <a:rPr lang="en-US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2 </a:t>
            </a:r>
            <a:r>
              <a:rPr lang="zh-CN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这两个参数；</a:t>
            </a:r>
            <a:endParaRPr lang="zh-CN" sz="1050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089" name="文本框 2088" descr="{&quot;isTemplate&quot;:true,&quot;type&quot;:&quot;text&quot;}"/>
          <p:cNvSpPr txBox="1"/>
          <p:nvPr/>
        </p:nvSpPr>
        <p:spPr>
          <a:xfrm>
            <a:off x="5753100" y="4286250"/>
            <a:ext cx="5638800" cy="2857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5000"/>
              </a:lnSpc>
            </a:pPr>
            <a:r>
              <a:rPr lang="zh-CN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同时</a:t>
            </a:r>
            <a:r>
              <a:rPr lang="en-US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b </a:t>
            </a:r>
            <a:r>
              <a:rPr lang="zh-CN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组要么是</a:t>
            </a:r>
            <a:r>
              <a:rPr lang="en-US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s </a:t>
            </a:r>
            <a:r>
              <a:rPr lang="zh-CN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和</a:t>
            </a:r>
            <a:r>
              <a:rPr lang="en-US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d </a:t>
            </a:r>
            <a:r>
              <a:rPr lang="zh-CN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的子集，要么直接写了</a:t>
            </a:r>
            <a:r>
              <a:rPr lang="en-US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orderTime </a:t>
            </a:r>
            <a:r>
              <a:rPr lang="zh-CN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或者</a:t>
            </a:r>
            <a:r>
              <a:rPr lang="en-US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goodsId</a:t>
            </a:r>
            <a:r>
              <a:rPr lang="zh-CN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。</a:t>
            </a:r>
            <a:endParaRPr lang="zh-CN" sz="1050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090" name="文本框 2089" descr="{&quot;isTemplate&quot;:true,&quot;type&quot;:&quot;text&quot;}"/>
          <p:cNvSpPr txBox="1"/>
          <p:nvPr/>
        </p:nvSpPr>
        <p:spPr>
          <a:xfrm>
            <a:off x="5753100" y="5810250"/>
            <a:ext cx="5638800" cy="2857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5000"/>
              </a:lnSpc>
            </a:pPr>
            <a:r>
              <a:rPr lang="zh-CN" sz="1050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它参与路由匹配，匹配不上就不会进函数</a:t>
            </a:r>
            <a:r>
              <a:rPr lang="en-US" sz="1050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 —— </a:t>
            </a:r>
            <a:r>
              <a:rPr lang="zh-CN" sz="1050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比在函数体里写一堆</a:t>
            </a:r>
            <a:r>
              <a:rPr lang="en-US" sz="1050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 if </a:t>
            </a:r>
            <a:r>
              <a:rPr lang="zh-CN" sz="1050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干净得多。</a:t>
            </a:r>
            <a:endParaRPr lang="zh-CN" sz="1050">
              <a:solidFill>
                <a:srgbClr val="F59E0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091" name="任意多边形 2090"/>
          <p:cNvSpPr/>
          <p:nvPr/>
        </p:nvSpPr>
        <p:spPr>
          <a:xfrm>
            <a:off x="609600" y="6286500"/>
            <a:ext cx="10972800" cy="381000"/>
          </a:xfrm>
          <a:custGeom>
            <a:avLst/>
            <a:gdLst/>
            <a:ahLst/>
            <a:cxnLst/>
            <a:pathLst>
              <a:path w="1152" h="40">
                <a:moveTo>
                  <a:pt x="0" y="0"/>
                </a:moveTo>
                <a:lnTo>
                  <a:pt x="1152" y="0"/>
                </a:lnTo>
                <a:lnTo>
                  <a:pt x="1152" y="1"/>
                </a:lnTo>
                <a:lnTo>
                  <a:pt x="0" y="1"/>
                </a:lnTo>
                <a:close/>
              </a:path>
            </a:pathLst>
          </a:custGeom>
          <a:solidFill>
            <a:srgbClr val="1E293B"/>
          </a:solidFill>
        </p:spPr>
        <p:txBody>
          <a:bodyPr/>
          <a:p/>
        </p:txBody>
      </p:sp>
      <p:sp>
        <p:nvSpPr>
          <p:cNvPr id="2092" name="文本框 2091" descr="{&quot;isTemplate&quot;:true,&quot;type&quot;:&quot;text&quot;}"/>
          <p:cNvSpPr txBox="1"/>
          <p:nvPr/>
        </p:nvSpPr>
        <p:spPr>
          <a:xfrm>
            <a:off x="609600" y="6410325"/>
            <a:ext cx="2219325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fountain · 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一站式服务器应用开发工具库</a:t>
            </a:r>
            <a:endParaRPr lang="zh-CN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093" name="文本框 2092" descr="{&quot;isTemplate&quot;:true,&quot;type&quot;:&quot;text&quot;}"/>
          <p:cNvSpPr txBox="1"/>
          <p:nvPr/>
        </p:nvSpPr>
        <p:spPr>
          <a:xfrm>
            <a:off x="11087100" y="6410325"/>
            <a:ext cx="495300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63 / 116</a:t>
            </a:r>
            <a:endParaRPr lang="en-US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09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5" name="矩形 2094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220"/>
          </a:solidFill>
        </p:spPr>
        <p:txBody>
          <a:bodyPr/>
          <a:p/>
        </p:txBody>
      </p:sp>
      <p:sp>
        <p:nvSpPr>
          <p:cNvPr id="2096" name="矩形 2095"/>
          <p:cNvSpPr/>
          <p:nvPr/>
        </p:nvSpPr>
        <p:spPr>
          <a:xfrm>
            <a:off x="609600" y="476250"/>
            <a:ext cx="38100" cy="381000"/>
          </a:xfrm>
          <a:prstGeom prst="rect">
            <a:avLst/>
          </a:prstGeom>
          <a:solidFill>
            <a:srgbClr val="38BDF8"/>
          </a:solidFill>
        </p:spPr>
        <p:txBody>
          <a:bodyPr/>
          <a:p/>
        </p:txBody>
      </p:sp>
      <p:sp>
        <p:nvSpPr>
          <p:cNvPr id="2097" name="文本框 2096" descr="{&quot;isTemplate&quot;:true,&quot;type&quot;:&quot;text&quot;}"/>
          <p:cNvSpPr txBox="1"/>
          <p:nvPr/>
        </p:nvSpPr>
        <p:spPr>
          <a:xfrm>
            <a:off x="819150" y="304800"/>
            <a:ext cx="9601200" cy="2095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第</a:t>
            </a: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 10 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章</a:t>
            </a: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 · MVC f_mvc · 10.2</a:t>
            </a:r>
            <a:endParaRPr lang="en-US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098" name="文本框 2097" descr="{&quot;isTemplate&quot;:true,&quot;type&quot;:&quot;text&quot;}"/>
          <p:cNvSpPr txBox="1"/>
          <p:nvPr/>
        </p:nvSpPr>
        <p:spPr>
          <a:xfrm>
            <a:off x="819150" y="514350"/>
            <a:ext cx="9601200" cy="5143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2550" b="1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参数绑定注解</a:t>
            </a:r>
            <a:endParaRPr lang="zh-CN" sz="2550" b="1">
              <a:solidFill>
                <a:srgbClr val="E2E8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099" name="文本框 2098" descr="{&quot;isTemplate&quot;:true,&quot;type&quot;:&quot;text&quot;}"/>
          <p:cNvSpPr txBox="1"/>
          <p:nvPr/>
        </p:nvSpPr>
        <p:spPr>
          <a:xfrm>
            <a:off x="10591800" y="590550"/>
            <a:ext cx="990600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一次看全四种写法</a:t>
            </a:r>
            <a:endParaRPr lang="zh-CN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graphicFrame>
        <p:nvGraphicFramePr>
          <p:cNvPr id="2100" name="表格 2099"/>
          <p:cNvGraphicFramePr/>
          <p:nvPr/>
        </p:nvGraphicFramePr>
        <p:xfrm>
          <a:off x="609600" y="1143000"/>
          <a:ext cx="10972800" cy="1866901"/>
        </p:xfrm>
        <a:graphic>
          <a:graphicData uri="http://schemas.openxmlformats.org/drawingml/2006/table">
            <a:tbl>
              <a:tblPr/>
              <a:tblGrid>
                <a:gridCol w="3828744"/>
                <a:gridCol w="3462006"/>
                <a:gridCol w="3682049"/>
              </a:tblGrid>
              <a:tr h="294016"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 b="1">
                          <a:solidFill>
                            <a:srgbClr val="22D3EE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注解</a:t>
                      </a:r>
                      <a:endParaRPr sz="975" b="1">
                        <a:solidFill>
                          <a:srgbClr val="22D3EE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6233A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 b="1">
                          <a:solidFill>
                            <a:srgbClr val="22D3EE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来源</a:t>
                      </a:r>
                      <a:endParaRPr sz="975" b="1">
                        <a:solidFill>
                          <a:srgbClr val="22D3EE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6233A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 b="1">
                          <a:solidFill>
                            <a:srgbClr val="22D3EE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备注</a:t>
                      </a:r>
                      <a:endParaRPr sz="975" b="1">
                        <a:solidFill>
                          <a:srgbClr val="22D3EE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6233A"/>
                    </a:solidFill>
                  </a:tcPr>
                </a:tc>
              </a:tr>
              <a:tr h="314577"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50">
                          <a:solidFill>
                            <a:srgbClr val="38BDF8"/>
                          </a:solidFill>
                          <a:latin typeface="JetBrains Mono"/>
                          <a:ea typeface="JetBrains Mono"/>
                        </a:rPr>
                        <a:t>@RequestParam</a:t>
                      </a:r>
                      <a:endParaRPr sz="1050">
                        <a:solidFill>
                          <a:srgbClr val="38BDF8"/>
                        </a:solidFill>
                        <a:latin typeface="JetBrains Mono"/>
                        <a:ea typeface="JetBrains Mono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50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表单 / query string</a:t>
                      </a:r>
                      <a:endParaRPr sz="1050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50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可带 name 与 default</a:t>
                      </a:r>
                      <a:endParaRPr sz="1050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314577"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50">
                          <a:solidFill>
                            <a:srgbClr val="38BDF8"/>
                          </a:solidFill>
                          <a:latin typeface="JetBrains Mono"/>
                          <a:ea typeface="JetBrains Mono"/>
                        </a:rPr>
                        <a:t>@RequestParamObject</a:t>
                      </a:r>
                      <a:endParaRPr sz="1050">
                        <a:solidFill>
                          <a:srgbClr val="38BDF8"/>
                        </a:solidFill>
                        <a:latin typeface="JetBrains Mono"/>
                        <a:ea typeface="JetBrains Mono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50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表单 / query → 对象</a:t>
                      </a:r>
                      <a:endParaRPr sz="1050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50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按字段名逐个取值</a:t>
                      </a:r>
                      <a:endParaRPr sz="1050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314577"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50">
                          <a:solidFill>
                            <a:srgbClr val="38BDF8"/>
                          </a:solidFill>
                          <a:latin typeface="JetBrains Mono"/>
                          <a:ea typeface="JetBrains Mono"/>
                        </a:rPr>
                        <a:t>@PathVariable</a:t>
                      </a:r>
                      <a:endParaRPr sz="1050">
                        <a:solidFill>
                          <a:srgbClr val="38BDF8"/>
                        </a:solidFill>
                        <a:latin typeface="JetBrains Mono"/>
                        <a:ea typeface="JetBrains Mono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50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路径参数</a:t>
                      </a:r>
                      <a:endParaRPr sz="1050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50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可带 name / default</a:t>
                      </a:r>
                      <a:endParaRPr sz="1050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314577"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50">
                          <a:solidFill>
                            <a:srgbClr val="38BDF8"/>
                          </a:solidFill>
                          <a:latin typeface="JetBrains Mono"/>
                          <a:ea typeface="JetBrains Mono"/>
                        </a:rPr>
                        <a:t>@RequestHeader</a:t>
                      </a:r>
                      <a:endParaRPr sz="1050">
                        <a:solidFill>
                          <a:srgbClr val="38BDF8"/>
                        </a:solidFill>
                        <a:latin typeface="JetBrains Mono"/>
                        <a:ea typeface="JetBrains Mono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50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请求头</a:t>
                      </a:r>
                      <a:endParaRPr sz="1050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50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可带 name / default</a:t>
                      </a:r>
                      <a:endParaRPr sz="1050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314577"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50">
                          <a:solidFill>
                            <a:srgbClr val="38BDF8"/>
                          </a:solidFill>
                          <a:latin typeface="JetBrains Mono"/>
                          <a:ea typeface="JetBrains Mono"/>
                        </a:rPr>
                        <a:t>@RequestBody</a:t>
                      </a:r>
                      <a:endParaRPr sz="1050">
                        <a:solidFill>
                          <a:srgbClr val="38BDF8"/>
                        </a:solidFill>
                        <a:latin typeface="JetBrains Mono"/>
                        <a:ea typeface="JetBrains Mono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50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请求体</a:t>
                      </a:r>
                      <a:endParaRPr sz="1050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50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按 Content-Type 解析</a:t>
                      </a:r>
                      <a:endParaRPr sz="1050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</a:tbl>
          </a:graphicData>
        </a:graphic>
      </p:graphicFrame>
      <p:sp>
        <p:nvSpPr>
          <p:cNvPr id="2101" name="圆角矩形 2100"/>
          <p:cNvSpPr/>
          <p:nvPr/>
        </p:nvSpPr>
        <p:spPr>
          <a:xfrm>
            <a:off x="609600" y="3143250"/>
            <a:ext cx="10972800" cy="3143250"/>
          </a:xfrm>
          <a:prstGeom prst="roundRect">
            <a:avLst>
              <a:gd name="adj" fmla="val 3636"/>
            </a:avLst>
          </a:prstGeom>
          <a:solidFill>
            <a:srgbClr val="0B1220"/>
          </a:solidFill>
          <a:ln w="12700">
            <a:solidFill>
              <a:srgbClr val="38BDF8"/>
            </a:solidFill>
            <a:prstDash val="solid"/>
          </a:ln>
        </p:spPr>
        <p:txBody>
          <a:bodyPr/>
          <a:p/>
        </p:txBody>
      </p:sp>
      <p:sp>
        <p:nvSpPr>
          <p:cNvPr id="2102" name="文本框 2101" descr="{&quot;isTemplate&quot;:true,&quot;type&quot;:&quot;text&quot;}"/>
          <p:cNvSpPr txBox="1"/>
          <p:nvPr/>
        </p:nvSpPr>
        <p:spPr>
          <a:xfrm>
            <a:off x="762000" y="3295650"/>
            <a:ext cx="10668000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CurrentUserController.cj</a:t>
            </a:r>
            <a:endParaRPr lang="en-US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103" name="文本框 2102" descr="{&quot;isTemplate&quot;:true,&quot;type&quot;:&quot;text&quot;}"/>
          <p:cNvSpPr txBox="1"/>
          <p:nvPr/>
        </p:nvSpPr>
        <p:spPr>
          <a:xfrm>
            <a:off x="762000" y="3505200"/>
            <a:ext cx="10668000" cy="2286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en-US" sz="900">
                <a:solidFill>
                  <a:srgbClr val="E2E8F0"/>
                </a:solidFill>
                <a:latin typeface="JetBrains Mono"/>
                <a:ea typeface="JetBrains Mono"/>
              </a:rPr>
              <a:t>@PostMapping[path:'/api/user/register', consumes:'application/x-www-form-urlencoded',</a:t>
            </a:r>
            <a:endParaRPr lang="en-US" sz="900">
              <a:solidFill>
                <a:srgbClr val="E2E8F0"/>
              </a:solidFill>
              <a:latin typeface="JetBrains Mono"/>
              <a:ea typeface="JetBrains Mono"/>
            </a:endParaRPr>
          </a:p>
        </p:txBody>
      </p:sp>
      <p:sp>
        <p:nvSpPr>
          <p:cNvPr id="2104" name="文本框 2103" descr="{&quot;isTemplate&quot;:true,&quot;type&quot;:&quot;text&quot;}"/>
          <p:cNvSpPr txBox="1"/>
          <p:nvPr/>
        </p:nvSpPr>
        <p:spPr>
          <a:xfrm>
            <a:off x="762000" y="3733800"/>
            <a:ext cx="10668000" cy="2286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en-US" sz="900">
                <a:solidFill>
                  <a:srgbClr val="E2E8F0"/>
                </a:solidFill>
                <a:latin typeface="JetBrains Mono"/>
                <a:ea typeface="JetBrains Mono"/>
              </a:rPr>
              <a:t>             produces:'text/plain', ignoreAuth: true, ignorePrivilege: true]</a:t>
            </a:r>
            <a:endParaRPr lang="en-US" sz="900">
              <a:solidFill>
                <a:srgbClr val="E2E8F0"/>
              </a:solidFill>
              <a:latin typeface="JetBrains Mono"/>
              <a:ea typeface="JetBrains Mono"/>
            </a:endParaRPr>
          </a:p>
        </p:txBody>
      </p:sp>
      <p:sp>
        <p:nvSpPr>
          <p:cNvPr id="2105" name="文本框 2104" descr="{&quot;isTemplate&quot;:true,&quot;type&quot;:&quot;text&quot;}"/>
          <p:cNvSpPr txBox="1"/>
          <p:nvPr/>
        </p:nvSpPr>
        <p:spPr>
          <a:xfrm>
            <a:off x="762000" y="3962400"/>
            <a:ext cx="10668000" cy="2286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en-US" sz="900">
                <a:solidFill>
                  <a:srgbClr val="38BDF8"/>
                </a:solidFill>
                <a:latin typeface="JetBrains Mono"/>
                <a:ea typeface="JetBrains Mono"/>
              </a:rPr>
              <a:t>public func register(@RequestParam username: String, @RequestParam password: String): String</a:t>
            </a:r>
            <a:endParaRPr lang="en-US" sz="900">
              <a:solidFill>
                <a:srgbClr val="38BDF8"/>
              </a:solidFill>
              <a:latin typeface="JetBrains Mono"/>
              <a:ea typeface="JetBrains Mono"/>
            </a:endParaRPr>
          </a:p>
        </p:txBody>
      </p:sp>
      <p:sp>
        <p:nvSpPr>
          <p:cNvPr id="2106" name="文本框 2105" descr="{&quot;isTemplate&quot;:true,&quot;type&quot;:&quot;text&quot;}"/>
          <p:cNvSpPr txBox="1"/>
          <p:nvPr/>
        </p:nvSpPr>
        <p:spPr>
          <a:xfrm>
            <a:off x="762000" y="4248150"/>
            <a:ext cx="10668000" cy="2286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en-US" sz="900">
                <a:solidFill>
                  <a:srgbClr val="E2E8F0"/>
                </a:solidFill>
                <a:latin typeface="JetBrains Mono"/>
                <a:ea typeface="JetBrains Mono"/>
              </a:rPr>
              <a:t>@PostMapping[path:'/api/user/session', consumes:'application/json', produces:'application/json']</a:t>
            </a:r>
            <a:endParaRPr lang="en-US" sz="900">
              <a:solidFill>
                <a:srgbClr val="E2E8F0"/>
              </a:solidFill>
              <a:latin typeface="JetBrains Mono"/>
              <a:ea typeface="JetBrains Mono"/>
            </a:endParaRPr>
          </a:p>
        </p:txBody>
      </p:sp>
      <p:sp>
        <p:nvSpPr>
          <p:cNvPr id="2107" name="文本框 2106" descr="{&quot;isTemplate&quot;:true,&quot;type&quot;:&quot;text&quot;}"/>
          <p:cNvSpPr txBox="1"/>
          <p:nvPr/>
        </p:nvSpPr>
        <p:spPr>
          <a:xfrm>
            <a:off x="762000" y="4476750"/>
            <a:ext cx="10668000" cy="2286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en-US" sz="900">
                <a:solidFill>
                  <a:srgbClr val="F59E0B"/>
                </a:solidFill>
                <a:latin typeface="JetBrains Mono"/>
                <a:ea typeface="JetBrains Mono"/>
              </a:rPr>
              <a:t>public func login(@RequestBody user: UserRequest): UserResponse</a:t>
            </a:r>
            <a:endParaRPr lang="en-US" sz="900">
              <a:solidFill>
                <a:srgbClr val="F59E0B"/>
              </a:solidFill>
              <a:latin typeface="JetBrains Mono"/>
              <a:ea typeface="JetBrains Mono"/>
            </a:endParaRPr>
          </a:p>
        </p:txBody>
      </p:sp>
      <p:sp>
        <p:nvSpPr>
          <p:cNvPr id="2108" name="文本框 2107" descr="{&quot;isTemplate&quot;:true,&quot;type&quot;:&quot;text&quot;}"/>
          <p:cNvSpPr txBox="1"/>
          <p:nvPr/>
        </p:nvSpPr>
        <p:spPr>
          <a:xfrm>
            <a:off x="762000" y="4705350"/>
            <a:ext cx="10668000" cy="2286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en-US" sz="900">
                <a:solidFill>
                  <a:srgbClr val="E2E8F0"/>
                </a:solidFill>
                <a:latin typeface="JetBrains Mono"/>
                <a:ea typeface="JetBrains Mono"/>
              </a:rPr>
              <a:t>@PostMapping[path:'/api/user/echo', consumes:'application/x-www-form-urlencoded']</a:t>
            </a:r>
            <a:endParaRPr lang="en-US" sz="900">
              <a:solidFill>
                <a:srgbClr val="E2E8F0"/>
              </a:solidFill>
              <a:latin typeface="JetBrains Mono"/>
              <a:ea typeface="JetBrains Mono"/>
            </a:endParaRPr>
          </a:p>
        </p:txBody>
      </p:sp>
      <p:sp>
        <p:nvSpPr>
          <p:cNvPr id="2109" name="文本框 2108" descr="{&quot;isTemplate&quot;:true,&quot;type&quot;:&quot;text&quot;}"/>
          <p:cNvSpPr txBox="1"/>
          <p:nvPr/>
        </p:nvSpPr>
        <p:spPr>
          <a:xfrm>
            <a:off x="762000" y="4933950"/>
            <a:ext cx="10668000" cy="2286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en-US" sz="900">
                <a:solidFill>
                  <a:srgbClr val="F59E0B"/>
                </a:solidFill>
                <a:latin typeface="JetBrains Mono"/>
                <a:ea typeface="JetBrains Mono"/>
              </a:rPr>
              <a:t>public func echo(@RequestParamObject user: UserRequest): UserRequest</a:t>
            </a:r>
            <a:endParaRPr lang="en-US" sz="900">
              <a:solidFill>
                <a:srgbClr val="F59E0B"/>
              </a:solidFill>
              <a:latin typeface="JetBrains Mono"/>
              <a:ea typeface="JetBrains Mono"/>
            </a:endParaRPr>
          </a:p>
        </p:txBody>
      </p:sp>
      <p:sp>
        <p:nvSpPr>
          <p:cNvPr id="2110" name="文本框 2109" descr="{&quot;isTemplate&quot;:true,&quot;type&quot;:&quot;text&quot;}"/>
          <p:cNvSpPr txBox="1"/>
          <p:nvPr/>
        </p:nvSpPr>
        <p:spPr>
          <a:xfrm>
            <a:off x="762000" y="5162550"/>
            <a:ext cx="10668000" cy="2286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en-US" sz="900">
                <a:solidFill>
                  <a:srgbClr val="E2E8F0"/>
                </a:solidFill>
                <a:latin typeface="JetBrains Mono"/>
                <a:ea typeface="JetBrains Mono"/>
              </a:rPr>
              <a:t>@DeleteMapping[path:'/api/user/session']</a:t>
            </a:r>
            <a:endParaRPr lang="en-US" sz="900">
              <a:solidFill>
                <a:srgbClr val="E2E8F0"/>
              </a:solidFill>
              <a:latin typeface="JetBrains Mono"/>
              <a:ea typeface="JetBrains Mono"/>
            </a:endParaRPr>
          </a:p>
        </p:txBody>
      </p:sp>
      <p:sp>
        <p:nvSpPr>
          <p:cNvPr id="2111" name="文本框 2110" descr="{&quot;isTemplate&quot;:true,&quot;type&quot;:&quot;text&quot;}"/>
          <p:cNvSpPr txBox="1"/>
          <p:nvPr/>
        </p:nvSpPr>
        <p:spPr>
          <a:xfrm>
            <a:off x="762000" y="5391150"/>
            <a:ext cx="10668000" cy="2286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en-US" sz="900">
                <a:solidFill>
                  <a:srgbClr val="F59E0B"/>
                </a:solidFill>
                <a:latin typeface="JetBrains Mono"/>
                <a:ea typeface="JetBrains Mono"/>
              </a:rPr>
              <a:t>public func echoSession(@RequestHeader userId: Int64, @RequestHeader token: String): JsonValue</a:t>
            </a:r>
            <a:endParaRPr lang="en-US" sz="900">
              <a:solidFill>
                <a:srgbClr val="F59E0B"/>
              </a:solidFill>
              <a:latin typeface="JetBrains Mono"/>
              <a:ea typeface="JetBrains Mono"/>
            </a:endParaRPr>
          </a:p>
        </p:txBody>
      </p:sp>
      <p:sp>
        <p:nvSpPr>
          <p:cNvPr id="2112" name="文本框 2111" descr="{&quot;isTemplate&quot;:true,&quot;type&quot;:&quot;text&quot;}"/>
          <p:cNvSpPr txBox="1"/>
          <p:nvPr/>
        </p:nvSpPr>
        <p:spPr>
          <a:xfrm>
            <a:off x="762000" y="5676900"/>
            <a:ext cx="10668000" cy="2286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en-US" sz="900">
                <a:solidFill>
                  <a:srgbClr val="E2E8F0"/>
                </a:solidFill>
                <a:latin typeface="JetBrains Mono"/>
                <a:ea typeface="JetBrains Mono"/>
              </a:rPr>
              <a:t>public func queryUser(@PathVariable id: Int64): JsonValue</a:t>
            </a:r>
            <a:endParaRPr lang="en-US" sz="900">
              <a:solidFill>
                <a:srgbClr val="E2E8F0"/>
              </a:solidFill>
              <a:latin typeface="JetBrains Mono"/>
              <a:ea typeface="JetBrains Mono"/>
            </a:endParaRPr>
          </a:p>
        </p:txBody>
      </p:sp>
      <p:sp>
        <p:nvSpPr>
          <p:cNvPr id="2113" name="文本框 2112" descr="{&quot;isTemplate&quot;:true,&quot;type&quot;:&quot;text&quot;}"/>
          <p:cNvSpPr txBox="1"/>
          <p:nvPr/>
        </p:nvSpPr>
        <p:spPr>
          <a:xfrm>
            <a:off x="762000" y="5905500"/>
            <a:ext cx="10668000" cy="2286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en-US" sz="900">
                <a:solidFill>
                  <a:srgbClr val="94A3B8"/>
                </a:solidFill>
                <a:latin typeface="JetBrains Mono"/>
                <a:ea typeface="JetBrains Mono"/>
              </a:rPr>
              <a:t>public func echo2(@RequestParam[default: ''] username: String)</a:t>
            </a:r>
            <a:endParaRPr lang="en-US" sz="900">
              <a:solidFill>
                <a:srgbClr val="94A3B8"/>
              </a:solidFill>
              <a:latin typeface="JetBrains Mono"/>
              <a:ea typeface="JetBrains Mono"/>
            </a:endParaRPr>
          </a:p>
        </p:txBody>
      </p:sp>
      <p:sp>
        <p:nvSpPr>
          <p:cNvPr id="2114" name="任意多边形 2113"/>
          <p:cNvSpPr/>
          <p:nvPr/>
        </p:nvSpPr>
        <p:spPr>
          <a:xfrm>
            <a:off x="609600" y="6286500"/>
            <a:ext cx="10972800" cy="381000"/>
          </a:xfrm>
          <a:custGeom>
            <a:avLst/>
            <a:gdLst/>
            <a:ahLst/>
            <a:cxnLst/>
            <a:pathLst>
              <a:path w="1152" h="40">
                <a:moveTo>
                  <a:pt x="0" y="0"/>
                </a:moveTo>
                <a:lnTo>
                  <a:pt x="1152" y="0"/>
                </a:lnTo>
                <a:lnTo>
                  <a:pt x="1152" y="1"/>
                </a:lnTo>
                <a:lnTo>
                  <a:pt x="0" y="1"/>
                </a:lnTo>
                <a:close/>
              </a:path>
            </a:pathLst>
          </a:custGeom>
          <a:solidFill>
            <a:srgbClr val="1E293B"/>
          </a:solidFill>
        </p:spPr>
        <p:txBody>
          <a:bodyPr/>
          <a:p/>
        </p:txBody>
      </p:sp>
      <p:sp>
        <p:nvSpPr>
          <p:cNvPr id="2115" name="文本框 2114" descr="{&quot;isTemplate&quot;:true,&quot;type&quot;:&quot;text&quot;}"/>
          <p:cNvSpPr txBox="1"/>
          <p:nvPr/>
        </p:nvSpPr>
        <p:spPr>
          <a:xfrm>
            <a:off x="609600" y="6410325"/>
            <a:ext cx="2219325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fountain · 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一站式服务器应用开发工具库</a:t>
            </a:r>
            <a:endParaRPr lang="zh-CN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116" name="文本框 2115" descr="{&quot;isTemplate&quot;:true,&quot;type&quot;:&quot;text&quot;}"/>
          <p:cNvSpPr txBox="1"/>
          <p:nvPr/>
        </p:nvSpPr>
        <p:spPr>
          <a:xfrm>
            <a:off x="11087100" y="6410325"/>
            <a:ext cx="495300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64 / 116</a:t>
            </a:r>
            <a:endParaRPr lang="en-US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11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8" name="矩形 2117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220"/>
          </a:solidFill>
        </p:spPr>
        <p:txBody>
          <a:bodyPr/>
          <a:p/>
        </p:txBody>
      </p:sp>
      <p:sp>
        <p:nvSpPr>
          <p:cNvPr id="2119" name="矩形 2118"/>
          <p:cNvSpPr/>
          <p:nvPr/>
        </p:nvSpPr>
        <p:spPr>
          <a:xfrm>
            <a:off x="609600" y="476250"/>
            <a:ext cx="38100" cy="381000"/>
          </a:xfrm>
          <a:prstGeom prst="rect">
            <a:avLst/>
          </a:prstGeom>
          <a:solidFill>
            <a:srgbClr val="38BDF8"/>
          </a:solidFill>
        </p:spPr>
        <p:txBody>
          <a:bodyPr/>
          <a:p/>
        </p:txBody>
      </p:sp>
      <p:sp>
        <p:nvSpPr>
          <p:cNvPr id="2120" name="文本框 2119" descr="{&quot;isTemplate&quot;:true,&quot;type&quot;:&quot;text&quot;}"/>
          <p:cNvSpPr txBox="1"/>
          <p:nvPr/>
        </p:nvSpPr>
        <p:spPr>
          <a:xfrm>
            <a:off x="819150" y="304800"/>
            <a:ext cx="9601200" cy="2095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第</a:t>
            </a: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 10 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章</a:t>
            </a: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 · MVC f_mvc · 10.3 / 10.4</a:t>
            </a:r>
            <a:endParaRPr lang="en-US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121" name="文本框 2120" descr="{&quot;isTemplate&quot;:true,&quot;type&quot;:&quot;text&quot;}"/>
          <p:cNvSpPr txBox="1"/>
          <p:nvPr/>
        </p:nvSpPr>
        <p:spPr>
          <a:xfrm>
            <a:off x="819150" y="514350"/>
            <a:ext cx="9601200" cy="5143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2550" b="1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参数校验与安全注解</a:t>
            </a:r>
            <a:endParaRPr lang="zh-CN" sz="2550" b="1">
              <a:solidFill>
                <a:srgbClr val="E2E8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122" name="文本框 2121" descr="{&quot;isTemplate&quot;:true,&quot;type&quot;:&quot;text&quot;}"/>
          <p:cNvSpPr txBox="1"/>
          <p:nvPr/>
        </p:nvSpPr>
        <p:spPr>
          <a:xfrm>
            <a:off x="10591800" y="590550"/>
            <a:ext cx="990600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两种放行写法等价</a:t>
            </a:r>
            <a:endParaRPr lang="zh-CN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123" name="圆角矩形 2122"/>
          <p:cNvSpPr/>
          <p:nvPr/>
        </p:nvSpPr>
        <p:spPr>
          <a:xfrm>
            <a:off x="609600" y="1143000"/>
            <a:ext cx="3552825" cy="5143500"/>
          </a:xfrm>
          <a:prstGeom prst="roundRect">
            <a:avLst>
              <a:gd name="adj" fmla="val 3217"/>
            </a:avLst>
          </a:prstGeom>
          <a:solidFill>
            <a:srgbClr val="111C2E"/>
          </a:solidFill>
          <a:ln w="12700">
            <a:solidFill>
              <a:srgbClr val="38BDF8"/>
            </a:solidFill>
            <a:prstDash val="solid"/>
          </a:ln>
        </p:spPr>
        <p:txBody>
          <a:bodyPr/>
          <a:p/>
        </p:txBody>
      </p:sp>
      <p:sp>
        <p:nvSpPr>
          <p:cNvPr id="2124" name="文本框 2123" descr="{&quot;isTemplate&quot;:true,&quot;type&quot;:&quot;text&quot;}"/>
          <p:cNvSpPr txBox="1"/>
          <p:nvPr/>
        </p:nvSpPr>
        <p:spPr>
          <a:xfrm>
            <a:off x="819150" y="1352550"/>
            <a:ext cx="3133725" cy="2286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38BDF8"/>
                </a:solidFill>
                <a:latin typeface="微软雅黑" panose="020B0503020204020204" charset="-122"/>
                <a:ea typeface="微软雅黑" panose="020B0503020204020204" charset="-122"/>
              </a:rPr>
              <a:t>参数校验</a:t>
            </a:r>
            <a:endParaRPr lang="zh-CN" sz="1500" b="1">
              <a:solidFill>
                <a:srgbClr val="38BDF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125" name="文本框 2124" descr="{&quot;isTemplate&quot;:true,&quot;type&quot;:&quot;text&quot;}"/>
          <p:cNvSpPr txBox="1"/>
          <p:nvPr/>
        </p:nvSpPr>
        <p:spPr>
          <a:xfrm>
            <a:off x="819150" y="1638300"/>
            <a:ext cx="3133725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来自</a:t>
            </a:r>
            <a:r>
              <a:rPr lang="en-US" sz="105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 f_data</a:t>
            </a:r>
            <a:r>
              <a:rPr lang="zh-CN" sz="105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（见第八章）</a:t>
            </a:r>
            <a:endParaRPr lang="zh-CN" sz="105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126" name="文本框 2125" descr="{&quot;isTemplate&quot;:true,&quot;type&quot;:&quot;text&quot;}"/>
          <p:cNvSpPr txBox="1"/>
          <p:nvPr/>
        </p:nvSpPr>
        <p:spPr>
          <a:xfrm>
            <a:off x="819150" y="1933575"/>
            <a:ext cx="3133725" cy="561975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75000"/>
              </a:lnSpc>
            </a:pPr>
            <a:r>
              <a:rPr lang="zh-CN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校验注解既可修饰类的成员（</a:t>
            </a:r>
            <a:r>
              <a:rPr lang="en-US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MVC </a:t>
            </a:r>
            <a:r>
              <a:rPr lang="zh-CN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传参对象时生效），也可以直接修饰函数参数。</a:t>
            </a:r>
            <a:endParaRPr lang="zh-CN" sz="1050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127" name="圆角矩形 2126"/>
          <p:cNvSpPr/>
          <p:nvPr/>
        </p:nvSpPr>
        <p:spPr>
          <a:xfrm>
            <a:off x="819150" y="2628900"/>
            <a:ext cx="3133725" cy="1257300"/>
          </a:xfrm>
          <a:prstGeom prst="roundRect">
            <a:avLst>
              <a:gd name="adj" fmla="val 6061"/>
            </a:avLst>
          </a:prstGeom>
          <a:solidFill>
            <a:srgbClr val="0B1220"/>
          </a:solidFill>
          <a:ln w="12700">
            <a:solidFill>
              <a:srgbClr val="1E293B"/>
            </a:solidFill>
            <a:prstDash val="solid"/>
          </a:ln>
        </p:spPr>
        <p:txBody>
          <a:bodyPr/>
          <a:p/>
        </p:txBody>
      </p:sp>
      <p:sp>
        <p:nvSpPr>
          <p:cNvPr id="2128" name="文本框 2127" descr="{&quot;isTemplate&quot;:true,&quot;type&quot;:&quot;text&quot;}"/>
          <p:cNvSpPr txBox="1"/>
          <p:nvPr/>
        </p:nvSpPr>
        <p:spPr>
          <a:xfrm>
            <a:off x="933450" y="2743200"/>
            <a:ext cx="2952750" cy="409575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en-US" sz="825">
                <a:solidFill>
                  <a:srgbClr val="38BDF8"/>
                </a:solidFill>
                <a:latin typeface="JetBrains Mono"/>
                <a:ea typeface="JetBrains Mono"/>
              </a:rPr>
              <a:t>@CombinedValidator[IsNotBlank(messageIfNotMatch: '</a:t>
            </a:r>
            <a:r>
              <a:rPr lang="zh-CN" sz="825">
                <a:solidFill>
                  <a:srgbClr val="38BDF8"/>
                </a:solidFill>
                <a:latin typeface="JetBrains Mono"/>
                <a:ea typeface="JetBrains Mono"/>
              </a:rPr>
              <a:t>请输入用户名</a:t>
            </a:r>
            <a:r>
              <a:rPr lang="en-US" sz="825">
                <a:solidFill>
                  <a:srgbClr val="38BDF8"/>
                </a:solidFill>
                <a:latin typeface="JetBrains Mono"/>
                <a:ea typeface="JetBrains Mono"/>
              </a:rPr>
              <a:t>')</a:t>
            </a:r>
            <a:endParaRPr lang="en-US" sz="825">
              <a:solidFill>
                <a:srgbClr val="38BDF8"/>
              </a:solidFill>
              <a:latin typeface="JetBrains Mono"/>
              <a:ea typeface="JetBrains Mono"/>
            </a:endParaRPr>
          </a:p>
        </p:txBody>
      </p:sp>
      <p:sp>
        <p:nvSpPr>
          <p:cNvPr id="2129" name="文本框 2128" descr="{&quot;isTemplate&quot;:true,&quot;type&quot;:&quot;text&quot;}"/>
          <p:cNvSpPr txBox="1"/>
          <p:nvPr/>
        </p:nvSpPr>
        <p:spPr>
          <a:xfrm>
            <a:off x="933450" y="3152775"/>
            <a:ext cx="2905125" cy="409575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en-US" sz="825">
                <a:solidFill>
                  <a:srgbClr val="38BDF8"/>
                </a:solidFill>
                <a:latin typeface="JetBrains Mono"/>
                <a:ea typeface="JetBrains Mono"/>
              </a:rPr>
              <a:t>                   &amp; StringSize(min: 6, max: 50)]</a:t>
            </a:r>
            <a:endParaRPr lang="en-US" sz="825">
              <a:solidFill>
                <a:srgbClr val="38BDF8"/>
              </a:solidFill>
              <a:latin typeface="JetBrains Mono"/>
              <a:ea typeface="JetBrains Mono"/>
            </a:endParaRPr>
          </a:p>
        </p:txBody>
      </p:sp>
      <p:sp>
        <p:nvSpPr>
          <p:cNvPr id="2130" name="文本框 2129" descr="{&quot;isTemplate&quot;:true,&quot;type&quot;:&quot;text&quot;}"/>
          <p:cNvSpPr txBox="1"/>
          <p:nvPr/>
        </p:nvSpPr>
        <p:spPr>
          <a:xfrm>
            <a:off x="933450" y="3562350"/>
            <a:ext cx="2905125" cy="2095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en-US" sz="825">
                <a:solidFill>
                  <a:srgbClr val="E2E8F0"/>
                </a:solidFill>
                <a:latin typeface="JetBrains Mono"/>
                <a:ea typeface="JetBrains Mono"/>
              </a:rPr>
              <a:t>private var username: String = ''</a:t>
            </a:r>
            <a:endParaRPr lang="en-US" sz="825">
              <a:solidFill>
                <a:srgbClr val="E2E8F0"/>
              </a:solidFill>
              <a:latin typeface="JetBrains Mono"/>
              <a:ea typeface="JetBrains Mono"/>
            </a:endParaRPr>
          </a:p>
        </p:txBody>
      </p:sp>
      <p:sp>
        <p:nvSpPr>
          <p:cNvPr id="2131" name="文本框 2130" descr="{&quot;isTemplate&quot;:true,&quot;type&quot;:&quot;text&quot;}"/>
          <p:cNvSpPr txBox="1"/>
          <p:nvPr/>
        </p:nvSpPr>
        <p:spPr>
          <a:xfrm>
            <a:off x="819150" y="5514975"/>
            <a:ext cx="3133725" cy="561975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75000"/>
              </a:lnSpc>
            </a:pPr>
            <a:r>
              <a:rPr lang="zh-CN" sz="1050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不满足会抛</a:t>
            </a:r>
            <a:r>
              <a:rPr lang="en-US" sz="1050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 ValidationException</a:t>
            </a:r>
            <a:r>
              <a:rPr lang="zh-CN" sz="1050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，由注册的</a:t>
            </a:r>
            <a:r>
              <a:rPr lang="en-US" sz="1050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 500 </a:t>
            </a:r>
            <a:r>
              <a:rPr lang="zh-CN" sz="1050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处理器统一转成响应体（见</a:t>
            </a:r>
            <a:r>
              <a:rPr lang="en-US" sz="1050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 10.6</a:t>
            </a:r>
            <a:r>
              <a:rPr lang="zh-CN" sz="1050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）。</a:t>
            </a:r>
            <a:endParaRPr lang="zh-CN" sz="1050">
              <a:solidFill>
                <a:srgbClr val="F59E0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132" name="圆角矩形 2131"/>
          <p:cNvSpPr/>
          <p:nvPr/>
        </p:nvSpPr>
        <p:spPr>
          <a:xfrm>
            <a:off x="4314825" y="1143000"/>
            <a:ext cx="3562350" cy="5143500"/>
          </a:xfrm>
          <a:prstGeom prst="roundRect">
            <a:avLst>
              <a:gd name="adj" fmla="val 3209"/>
            </a:avLst>
          </a:prstGeom>
          <a:solidFill>
            <a:srgbClr val="111C2E"/>
          </a:solidFill>
          <a:ln w="12700">
            <a:solidFill>
              <a:srgbClr val="1E293B"/>
            </a:solidFill>
            <a:prstDash val="solid"/>
          </a:ln>
        </p:spPr>
        <p:txBody>
          <a:bodyPr/>
          <a:p/>
        </p:txBody>
      </p:sp>
      <p:sp>
        <p:nvSpPr>
          <p:cNvPr id="2133" name="文本框 2132" descr="{&quot;isTemplate&quot;:true,&quot;type&quot;:&quot;text&quot;}"/>
          <p:cNvSpPr txBox="1"/>
          <p:nvPr/>
        </p:nvSpPr>
        <p:spPr>
          <a:xfrm>
            <a:off x="4524375" y="1352550"/>
            <a:ext cx="3143250" cy="2286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安全注解</a:t>
            </a:r>
            <a:endParaRPr lang="zh-CN" sz="1500" b="1">
              <a:solidFill>
                <a:srgbClr val="E2E8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134" name="文本框 2133" descr="{&quot;isTemplate&quot;:true,&quot;type&quot;:&quot;text&quot;}"/>
          <p:cNvSpPr txBox="1"/>
          <p:nvPr/>
        </p:nvSpPr>
        <p:spPr>
          <a:xfrm>
            <a:off x="4524375" y="1638300"/>
            <a:ext cx="3143250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只能修饰</a:t>
            </a:r>
            <a:r>
              <a:rPr lang="en-US" sz="105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 controller </a:t>
            </a:r>
            <a:r>
              <a:rPr lang="zh-CN" sz="105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的公共实例函数</a:t>
            </a:r>
            <a:endParaRPr lang="zh-CN" sz="105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135" name="文本框 2134" descr="{&quot;isTemplate&quot;:true,&quot;type&quot;:&quot;text&quot;}"/>
          <p:cNvSpPr txBox="1"/>
          <p:nvPr/>
        </p:nvSpPr>
        <p:spPr>
          <a:xfrm>
            <a:off x="4524375" y="1952625"/>
            <a:ext cx="3143250" cy="2571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en-US" sz="1050">
                <a:solidFill>
                  <a:srgbClr val="38BDF8"/>
                </a:solidFill>
                <a:latin typeface="JetBrains Mono"/>
                <a:ea typeface="JetBrains Mono"/>
              </a:rPr>
              <a:t>@IgnoreAuth</a:t>
            </a:r>
            <a:r>
              <a:rPr lang="zh-CN" sz="1050">
                <a:solidFill>
                  <a:srgbClr val="38BDF8"/>
                </a:solidFill>
                <a:latin typeface="JetBrains Mono"/>
                <a:ea typeface="JetBrains Mono"/>
              </a:rPr>
              <a:t>　　　忽略登录状态检查</a:t>
            </a:r>
            <a:endParaRPr lang="zh-CN" sz="1050">
              <a:solidFill>
                <a:srgbClr val="38BDF8"/>
              </a:solidFill>
              <a:latin typeface="JetBrains Mono"/>
              <a:ea typeface="JetBrains Mono"/>
            </a:endParaRPr>
          </a:p>
        </p:txBody>
      </p:sp>
      <p:sp>
        <p:nvSpPr>
          <p:cNvPr id="2136" name="文本框 2135" descr="{&quot;isTemplate&quot;:true,&quot;type&quot;:&quot;text&quot;}"/>
          <p:cNvSpPr txBox="1"/>
          <p:nvPr/>
        </p:nvSpPr>
        <p:spPr>
          <a:xfrm>
            <a:off x="4524375" y="2324100"/>
            <a:ext cx="3143250" cy="2571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en-US" sz="1050">
                <a:solidFill>
                  <a:srgbClr val="38BDF8"/>
                </a:solidFill>
                <a:latin typeface="JetBrains Mono"/>
                <a:ea typeface="JetBrains Mono"/>
              </a:rPr>
              <a:t>@IgnorePrivilege</a:t>
            </a:r>
            <a:r>
              <a:rPr lang="zh-CN" sz="1050">
                <a:solidFill>
                  <a:srgbClr val="38BDF8"/>
                </a:solidFill>
                <a:latin typeface="JetBrains Mono"/>
                <a:ea typeface="JetBrains Mono"/>
              </a:rPr>
              <a:t>　忽略权限检查</a:t>
            </a:r>
            <a:endParaRPr lang="zh-CN" sz="1050">
              <a:solidFill>
                <a:srgbClr val="38BDF8"/>
              </a:solidFill>
              <a:latin typeface="JetBrains Mono"/>
              <a:ea typeface="JetBrains Mono"/>
            </a:endParaRPr>
          </a:p>
        </p:txBody>
      </p:sp>
      <p:sp>
        <p:nvSpPr>
          <p:cNvPr id="2137" name="文本框 2136" descr="{&quot;isTemplate&quot;:true,&quot;type&quot;:&quot;text&quot;}"/>
          <p:cNvSpPr txBox="1"/>
          <p:nvPr/>
        </p:nvSpPr>
        <p:spPr>
          <a:xfrm>
            <a:off x="4524375" y="2695575"/>
            <a:ext cx="3143250" cy="2571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en-US" sz="1050">
                <a:solidFill>
                  <a:srgbClr val="F59E0B"/>
                </a:solidFill>
                <a:latin typeface="JetBrains Mono"/>
                <a:ea typeface="JetBrains Mono"/>
              </a:rPr>
              <a:t>@IgnoreSecurity</a:t>
            </a:r>
            <a:r>
              <a:rPr lang="zh-CN" sz="1050">
                <a:solidFill>
                  <a:srgbClr val="F59E0B"/>
                </a:solidFill>
                <a:latin typeface="JetBrains Mono"/>
                <a:ea typeface="JetBrains Mono"/>
              </a:rPr>
              <a:t>　</a:t>
            </a:r>
            <a:r>
              <a:rPr lang="en-US" sz="1050">
                <a:solidFill>
                  <a:srgbClr val="F59E0B"/>
                </a:solidFill>
                <a:latin typeface="JetBrains Mono"/>
                <a:ea typeface="JetBrains Mono"/>
              </a:rPr>
              <a:t> </a:t>
            </a:r>
            <a:r>
              <a:rPr lang="zh-CN" sz="1050">
                <a:solidFill>
                  <a:srgbClr val="F59E0B"/>
                </a:solidFill>
                <a:latin typeface="JetBrains Mono"/>
                <a:ea typeface="JetBrains Mono"/>
              </a:rPr>
              <a:t>两者都忽略</a:t>
            </a:r>
            <a:endParaRPr lang="zh-CN" sz="1050">
              <a:solidFill>
                <a:srgbClr val="F59E0B"/>
              </a:solidFill>
              <a:latin typeface="JetBrains Mono"/>
              <a:ea typeface="JetBrains Mono"/>
            </a:endParaRPr>
          </a:p>
        </p:txBody>
      </p:sp>
      <p:sp>
        <p:nvSpPr>
          <p:cNvPr id="2138" name="文本框 2137" descr="{&quot;isTemplate&quot;:true,&quot;type&quot;:&quot;text&quot;}"/>
          <p:cNvSpPr txBox="1"/>
          <p:nvPr/>
        </p:nvSpPr>
        <p:spPr>
          <a:xfrm>
            <a:off x="4524375" y="5514975"/>
            <a:ext cx="3143250" cy="561975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75000"/>
              </a:lnSpc>
            </a:pPr>
            <a:r>
              <a:rPr lang="zh-CN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放行只影响当前这一个函数，不影响同类的其他函数，也不影响其他</a:t>
            </a:r>
            <a:r>
              <a:rPr lang="en-US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controller</a:t>
            </a:r>
            <a:r>
              <a:rPr lang="zh-CN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。</a:t>
            </a:r>
            <a:endParaRPr lang="zh-CN" sz="1050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139" name="圆角矩形 2138"/>
          <p:cNvSpPr/>
          <p:nvPr/>
        </p:nvSpPr>
        <p:spPr>
          <a:xfrm>
            <a:off x="8029575" y="1143000"/>
            <a:ext cx="3552825" cy="5143500"/>
          </a:xfrm>
          <a:prstGeom prst="roundRect">
            <a:avLst>
              <a:gd name="adj" fmla="val 3217"/>
            </a:avLst>
          </a:prstGeom>
          <a:solidFill>
            <a:srgbClr val="111C2E"/>
          </a:solidFill>
          <a:ln w="12700">
            <a:solidFill>
              <a:srgbClr val="1E293B"/>
            </a:solidFill>
            <a:prstDash val="solid"/>
          </a:ln>
        </p:spPr>
        <p:txBody>
          <a:bodyPr/>
          <a:p/>
        </p:txBody>
      </p:sp>
      <p:sp>
        <p:nvSpPr>
          <p:cNvPr id="2140" name="文本框 2139" descr="{&quot;isTemplate&quot;:true,&quot;type&quot;:&quot;text&quot;}"/>
          <p:cNvSpPr txBox="1"/>
          <p:nvPr/>
        </p:nvSpPr>
        <p:spPr>
          <a:xfrm>
            <a:off x="8239125" y="1352550"/>
            <a:ext cx="3133725" cy="2286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两种放行写法</a:t>
            </a:r>
            <a:endParaRPr lang="zh-CN" sz="1500" b="1">
              <a:solidFill>
                <a:srgbClr val="E2E8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141" name="文本框 2140" descr="{&quot;isTemplate&quot;:true,&quot;type&quot;:&quot;text&quot;}"/>
          <p:cNvSpPr txBox="1"/>
          <p:nvPr/>
        </p:nvSpPr>
        <p:spPr>
          <a:xfrm>
            <a:off x="8239125" y="1638300"/>
            <a:ext cx="3133725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效果完全一样</a:t>
            </a:r>
            <a:endParaRPr lang="zh-CN" sz="105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142" name="圆角矩形 2141"/>
          <p:cNvSpPr/>
          <p:nvPr/>
        </p:nvSpPr>
        <p:spPr>
          <a:xfrm>
            <a:off x="8239125" y="1952625"/>
            <a:ext cx="3133725" cy="485775"/>
          </a:xfrm>
          <a:prstGeom prst="roundRect">
            <a:avLst>
              <a:gd name="adj" fmla="val 15686"/>
            </a:avLst>
          </a:prstGeom>
          <a:solidFill>
            <a:srgbClr val="0B1220"/>
          </a:solidFill>
          <a:ln w="12700">
            <a:solidFill>
              <a:srgbClr val="1E293B"/>
            </a:solidFill>
            <a:prstDash val="solid"/>
          </a:ln>
        </p:spPr>
        <p:txBody>
          <a:bodyPr/>
          <a:p/>
        </p:txBody>
      </p:sp>
      <p:sp>
        <p:nvSpPr>
          <p:cNvPr id="2143" name="文本框 2142" descr="{&quot;isTemplate&quot;:true,&quot;type&quot;:&quot;text&quot;}"/>
          <p:cNvSpPr txBox="1"/>
          <p:nvPr/>
        </p:nvSpPr>
        <p:spPr>
          <a:xfrm>
            <a:off x="8353425" y="2066925"/>
            <a:ext cx="2905125" cy="2571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en-US" sz="975">
                <a:solidFill>
                  <a:srgbClr val="38BDF8"/>
                </a:solidFill>
                <a:latin typeface="JetBrains Mono"/>
                <a:ea typeface="JetBrains Mono"/>
              </a:rPr>
              <a:t>@IgnoreSecurity</a:t>
            </a:r>
            <a:endParaRPr lang="en-US" sz="975">
              <a:solidFill>
                <a:srgbClr val="38BDF8"/>
              </a:solidFill>
              <a:latin typeface="JetBrains Mono"/>
              <a:ea typeface="JetBrains Mono"/>
            </a:endParaRPr>
          </a:p>
        </p:txBody>
      </p:sp>
      <p:sp>
        <p:nvSpPr>
          <p:cNvPr id="2144" name="文本框 2143" descr="{&quot;isTemplate&quot;:true,&quot;type&quot;:&quot;text&quot;}"/>
          <p:cNvSpPr txBox="1"/>
          <p:nvPr/>
        </p:nvSpPr>
        <p:spPr>
          <a:xfrm>
            <a:off x="8239125" y="2533650"/>
            <a:ext cx="3133725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或</a:t>
            </a:r>
            <a:endParaRPr lang="zh-CN" sz="105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145" name="圆角矩形 2144"/>
          <p:cNvSpPr/>
          <p:nvPr/>
        </p:nvSpPr>
        <p:spPr>
          <a:xfrm>
            <a:off x="8239125" y="2790825"/>
            <a:ext cx="3133725" cy="742950"/>
          </a:xfrm>
          <a:prstGeom prst="roundRect">
            <a:avLst>
              <a:gd name="adj" fmla="val 10256"/>
            </a:avLst>
          </a:prstGeom>
          <a:solidFill>
            <a:srgbClr val="0B1220"/>
          </a:solidFill>
          <a:ln w="12700">
            <a:solidFill>
              <a:srgbClr val="1E293B"/>
            </a:solidFill>
            <a:prstDash val="solid"/>
          </a:ln>
        </p:spPr>
        <p:txBody>
          <a:bodyPr/>
          <a:p/>
        </p:txBody>
      </p:sp>
      <p:sp>
        <p:nvSpPr>
          <p:cNvPr id="2146" name="文本框 2145" descr="{&quot;isTemplate&quot;:true,&quot;type&quot;:&quot;text&quot;}"/>
          <p:cNvSpPr txBox="1"/>
          <p:nvPr/>
        </p:nvSpPr>
        <p:spPr>
          <a:xfrm>
            <a:off x="8353425" y="2905125"/>
            <a:ext cx="2905125" cy="2571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en-US" sz="975">
                <a:solidFill>
                  <a:srgbClr val="38BDF8"/>
                </a:solidFill>
                <a:latin typeface="JetBrains Mono"/>
                <a:ea typeface="JetBrains Mono"/>
              </a:rPr>
              <a:t>@PostMapping[..., ignoreAuth: true,</a:t>
            </a:r>
            <a:endParaRPr lang="en-US" sz="975">
              <a:solidFill>
                <a:srgbClr val="38BDF8"/>
              </a:solidFill>
              <a:latin typeface="JetBrains Mono"/>
              <a:ea typeface="JetBrains Mono"/>
            </a:endParaRPr>
          </a:p>
        </p:txBody>
      </p:sp>
      <p:sp>
        <p:nvSpPr>
          <p:cNvPr id="2147" name="文本框 2146" descr="{&quot;isTemplate&quot;:true,&quot;type&quot;:&quot;text&quot;}"/>
          <p:cNvSpPr txBox="1"/>
          <p:nvPr/>
        </p:nvSpPr>
        <p:spPr>
          <a:xfrm>
            <a:off x="8353425" y="3162300"/>
            <a:ext cx="2905125" cy="2571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en-US" sz="975">
                <a:solidFill>
                  <a:srgbClr val="38BDF8"/>
                </a:solidFill>
                <a:latin typeface="JetBrains Mono"/>
                <a:ea typeface="JetBrains Mono"/>
              </a:rPr>
              <a:t>             ignorePrivilege: true]</a:t>
            </a:r>
            <a:endParaRPr lang="en-US" sz="975">
              <a:solidFill>
                <a:srgbClr val="38BDF8"/>
              </a:solidFill>
              <a:latin typeface="JetBrains Mono"/>
              <a:ea typeface="JetBrains Mono"/>
            </a:endParaRPr>
          </a:p>
        </p:txBody>
      </p:sp>
      <p:sp>
        <p:nvSpPr>
          <p:cNvPr id="2148" name="文本框 2147" descr="{&quot;isTemplate&quot;:true,&quot;type&quot;:&quot;text&quot;}"/>
          <p:cNvSpPr txBox="1"/>
          <p:nvPr/>
        </p:nvSpPr>
        <p:spPr>
          <a:xfrm>
            <a:off x="8239125" y="5514975"/>
            <a:ext cx="3133725" cy="561975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75000"/>
              </a:lnSpc>
            </a:pPr>
            <a:r>
              <a:rPr lang="en-US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fdemo </a:t>
            </a:r>
            <a:r>
              <a:rPr lang="zh-CN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两种都用到了：</a:t>
            </a:r>
            <a:r>
              <a:rPr lang="en-US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helloWorld </a:t>
            </a:r>
            <a:r>
              <a:rPr lang="zh-CN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用注解，</a:t>
            </a:r>
            <a:r>
              <a:rPr lang="en-US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register </a:t>
            </a:r>
            <a:r>
              <a:rPr lang="zh-CN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用</a:t>
            </a:r>
            <a:r>
              <a:rPr lang="en-US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Mapping </a:t>
            </a:r>
            <a:r>
              <a:rPr lang="zh-CN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属性。</a:t>
            </a:r>
            <a:endParaRPr lang="zh-CN" sz="1050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149" name="任意多边形 2148"/>
          <p:cNvSpPr/>
          <p:nvPr/>
        </p:nvSpPr>
        <p:spPr>
          <a:xfrm>
            <a:off x="609600" y="6286500"/>
            <a:ext cx="10972800" cy="381000"/>
          </a:xfrm>
          <a:custGeom>
            <a:avLst/>
            <a:gdLst/>
            <a:ahLst/>
            <a:cxnLst/>
            <a:pathLst>
              <a:path w="1152" h="40">
                <a:moveTo>
                  <a:pt x="0" y="0"/>
                </a:moveTo>
                <a:lnTo>
                  <a:pt x="1152" y="0"/>
                </a:lnTo>
                <a:lnTo>
                  <a:pt x="1152" y="1"/>
                </a:lnTo>
                <a:lnTo>
                  <a:pt x="0" y="1"/>
                </a:lnTo>
                <a:close/>
              </a:path>
            </a:pathLst>
          </a:custGeom>
          <a:solidFill>
            <a:srgbClr val="1E293B"/>
          </a:solidFill>
        </p:spPr>
        <p:txBody>
          <a:bodyPr/>
          <a:p/>
        </p:txBody>
      </p:sp>
      <p:sp>
        <p:nvSpPr>
          <p:cNvPr id="2150" name="文本框 2149" descr="{&quot;isTemplate&quot;:true,&quot;type&quot;:&quot;text&quot;}"/>
          <p:cNvSpPr txBox="1"/>
          <p:nvPr/>
        </p:nvSpPr>
        <p:spPr>
          <a:xfrm>
            <a:off x="609600" y="6410325"/>
            <a:ext cx="2219325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fountain · 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一站式服务器应用开发工具库</a:t>
            </a:r>
            <a:endParaRPr lang="zh-CN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151" name="文本框 2150" descr="{&quot;isTemplate&quot;:true,&quot;type&quot;:&quot;text&quot;}"/>
          <p:cNvSpPr txBox="1"/>
          <p:nvPr/>
        </p:nvSpPr>
        <p:spPr>
          <a:xfrm>
            <a:off x="11087100" y="6410325"/>
            <a:ext cx="495300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65 / 116</a:t>
            </a:r>
            <a:endParaRPr lang="en-US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15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3" name="矩形 215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220"/>
          </a:solidFill>
        </p:spPr>
        <p:txBody>
          <a:bodyPr/>
          <a:p/>
        </p:txBody>
      </p:sp>
      <p:sp>
        <p:nvSpPr>
          <p:cNvPr id="2154" name="矩形 2153"/>
          <p:cNvSpPr/>
          <p:nvPr/>
        </p:nvSpPr>
        <p:spPr>
          <a:xfrm>
            <a:off x="609600" y="476250"/>
            <a:ext cx="38100" cy="381000"/>
          </a:xfrm>
          <a:prstGeom prst="rect">
            <a:avLst/>
          </a:prstGeom>
          <a:solidFill>
            <a:srgbClr val="38BDF8"/>
          </a:solidFill>
        </p:spPr>
        <p:txBody>
          <a:bodyPr/>
          <a:p/>
        </p:txBody>
      </p:sp>
      <p:sp>
        <p:nvSpPr>
          <p:cNvPr id="2155" name="文本框 2154" descr="{&quot;isTemplate&quot;:true,&quot;type&quot;:&quot;text&quot;}"/>
          <p:cNvSpPr txBox="1"/>
          <p:nvPr/>
        </p:nvSpPr>
        <p:spPr>
          <a:xfrm>
            <a:off x="819150" y="304800"/>
            <a:ext cx="8848725" cy="2095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第</a:t>
            </a: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 10 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章</a:t>
            </a: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 · MVC f_mvc · 10.5</a:t>
            </a:r>
            <a:endParaRPr lang="en-US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156" name="文本框 2155" descr="{&quot;isTemplate&quot;:true,&quot;type&quot;:&quot;text&quot;}"/>
          <p:cNvSpPr txBox="1"/>
          <p:nvPr/>
        </p:nvSpPr>
        <p:spPr>
          <a:xfrm>
            <a:off x="819150" y="514350"/>
            <a:ext cx="8848725" cy="5143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en-US" sz="2550" b="1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MVC </a:t>
            </a:r>
            <a:r>
              <a:rPr lang="zh-CN" sz="2550" b="1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配置项</a:t>
            </a:r>
            <a:endParaRPr lang="zh-CN" sz="2550" b="1">
              <a:solidFill>
                <a:srgbClr val="E2E8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157" name="文本框 2156" descr="{&quot;isTemplate&quot;:true,&quot;type&quot;:&quot;text&quot;}"/>
          <p:cNvSpPr txBox="1"/>
          <p:nvPr/>
        </p:nvSpPr>
        <p:spPr>
          <a:xfrm>
            <a:off x="9839325" y="590550"/>
            <a:ext cx="1743075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环境变量或等价的</a:t>
            </a: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 --key=value</a:t>
            </a:r>
            <a:endParaRPr lang="en-US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158" name="圆角矩形 2157"/>
          <p:cNvSpPr/>
          <p:nvPr/>
        </p:nvSpPr>
        <p:spPr>
          <a:xfrm>
            <a:off x="609600" y="1143000"/>
            <a:ext cx="4381500" cy="2752725"/>
          </a:xfrm>
          <a:prstGeom prst="roundRect">
            <a:avLst>
              <a:gd name="adj" fmla="val 4152"/>
            </a:avLst>
          </a:prstGeom>
          <a:solidFill>
            <a:srgbClr val="111C2E"/>
          </a:solidFill>
          <a:ln w="12700">
            <a:solidFill>
              <a:srgbClr val="38BDF8"/>
            </a:solidFill>
            <a:prstDash val="solid"/>
          </a:ln>
        </p:spPr>
        <p:txBody>
          <a:bodyPr/>
          <a:p/>
        </p:txBody>
      </p:sp>
      <p:sp>
        <p:nvSpPr>
          <p:cNvPr id="2159" name="文本框 2158" descr="{&quot;isTemplate&quot;:true,&quot;type&quot;:&quot;text&quot;}"/>
          <p:cNvSpPr txBox="1"/>
          <p:nvPr/>
        </p:nvSpPr>
        <p:spPr>
          <a:xfrm>
            <a:off x="800100" y="1333500"/>
            <a:ext cx="4000500" cy="2000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38BDF8"/>
                </a:solidFill>
                <a:latin typeface="微软雅黑" panose="020B0503020204020204" charset="-122"/>
                <a:ea typeface="微软雅黑" panose="020B0503020204020204" charset="-122"/>
              </a:rPr>
              <a:t>三个必须注意的</a:t>
            </a:r>
            <a:endParaRPr lang="zh-CN" sz="1275" b="1">
              <a:solidFill>
                <a:srgbClr val="38BDF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160" name="文本框 2159" descr="{&quot;isTemplate&quot;:true,&quot;type&quot;:&quot;text&quot;}"/>
          <p:cNvSpPr txBox="1"/>
          <p:nvPr/>
        </p:nvSpPr>
        <p:spPr>
          <a:xfrm>
            <a:off x="800100" y="1647825"/>
            <a:ext cx="4000500" cy="2857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5000"/>
              </a:lnSpc>
            </a:pPr>
            <a:r>
              <a:rPr lang="en-US" sz="105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· mvc_port —— </a:t>
            </a:r>
            <a:r>
              <a:rPr lang="zh-CN" sz="105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端口</a:t>
            </a:r>
            <a:endParaRPr lang="zh-CN" sz="1050">
              <a:solidFill>
                <a:srgbClr val="E2E8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161" name="文本框 2160" descr="{&quot;isTemplate&quot;:true,&quot;type&quot;:&quot;text&quot;}"/>
          <p:cNvSpPr txBox="1"/>
          <p:nvPr/>
        </p:nvSpPr>
        <p:spPr>
          <a:xfrm>
            <a:off x="800100" y="2009775"/>
            <a:ext cx="4000500" cy="561975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75000"/>
              </a:lnSpc>
            </a:pPr>
            <a:r>
              <a:rPr lang="en-US" sz="1050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· mvc_maxRequestBodySize —— </a:t>
            </a:r>
            <a:r>
              <a:rPr lang="zh-CN" sz="1050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默认是</a:t>
            </a:r>
            <a:r>
              <a:rPr lang="en-US" sz="1050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 stdx </a:t>
            </a:r>
            <a:r>
              <a:rPr lang="zh-CN" sz="1050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的</a:t>
            </a:r>
            <a:r>
              <a:rPr lang="en-US" sz="1050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 2MB</a:t>
            </a:r>
            <a:r>
              <a:rPr lang="zh-CN" sz="1050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，上传必须调大</a:t>
            </a:r>
            <a:endParaRPr lang="zh-CN" sz="1050">
              <a:solidFill>
                <a:srgbClr val="F59E0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162" name="文本框 2161" descr="{&quot;isTemplate&quot;:true,&quot;type&quot;:&quot;text&quot;}"/>
          <p:cNvSpPr txBox="1"/>
          <p:nvPr/>
        </p:nvSpPr>
        <p:spPr>
          <a:xfrm>
            <a:off x="800100" y="2647950"/>
            <a:ext cx="4000500" cy="2857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5000"/>
              </a:lnSpc>
            </a:pPr>
            <a:r>
              <a:rPr lang="en-US" sz="105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· mvc_overallElapsedSwitch —— </a:t>
            </a:r>
            <a:r>
              <a:rPr lang="zh-CN" sz="105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总耗时统计，生产建议关掉</a:t>
            </a:r>
            <a:endParaRPr lang="zh-CN" sz="1050">
              <a:solidFill>
                <a:srgbClr val="E2E8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163" name="圆角矩形 2162"/>
          <p:cNvSpPr/>
          <p:nvPr/>
        </p:nvSpPr>
        <p:spPr>
          <a:xfrm>
            <a:off x="609600" y="4029075"/>
            <a:ext cx="4381500" cy="2257425"/>
          </a:xfrm>
          <a:prstGeom prst="roundRect">
            <a:avLst>
              <a:gd name="adj" fmla="val 5063"/>
            </a:avLst>
          </a:prstGeom>
          <a:solidFill>
            <a:srgbClr val="111C2E"/>
          </a:solidFill>
          <a:ln w="12700">
            <a:solidFill>
              <a:srgbClr val="1E293B"/>
            </a:solidFill>
            <a:prstDash val="solid"/>
          </a:ln>
        </p:spPr>
        <p:txBody>
          <a:bodyPr/>
          <a:p/>
        </p:txBody>
      </p:sp>
      <p:sp>
        <p:nvSpPr>
          <p:cNvPr id="2164" name="文本框 2163" descr="{&quot;isTemplate&quot;:true,&quot;type&quot;:&quot;text&quot;}"/>
          <p:cNvSpPr txBox="1"/>
          <p:nvPr/>
        </p:nvSpPr>
        <p:spPr>
          <a:xfrm>
            <a:off x="800100" y="4219575"/>
            <a:ext cx="4000500" cy="1714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500 </a:t>
            </a:r>
            <a:r>
              <a:rPr lang="zh-CN" sz="1125" b="1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错误的三种形态</a:t>
            </a:r>
            <a:endParaRPr lang="zh-CN" sz="1125" b="1">
              <a:solidFill>
                <a:srgbClr val="E2E8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165" name="文本框 2164" descr="{&quot;isTemplate&quot;:true,&quot;type&quot;:&quot;text&quot;}"/>
          <p:cNvSpPr txBox="1"/>
          <p:nvPr/>
        </p:nvSpPr>
        <p:spPr>
          <a:xfrm>
            <a:off x="800100" y="4486275"/>
            <a:ext cx="4000500" cy="847725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75000"/>
              </a:lnSpc>
            </a:pPr>
            <a:r>
              <a:rPr lang="en-US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mvc_internalServerErrorMessageKind </a:t>
            </a:r>
            <a:r>
              <a:rPr lang="zh-CN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取</a:t>
            </a:r>
            <a:r>
              <a:rPr lang="en-US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BEAN / TEXT / BASE64BINARY</a:t>
            </a:r>
            <a:r>
              <a:rPr lang="zh-CN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；配套</a:t>
            </a:r>
            <a:r>
              <a:rPr lang="en-US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mvc_internalServerErrorMessage </a:t>
            </a:r>
            <a:r>
              <a:rPr lang="zh-CN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使用，见</a:t>
            </a:r>
            <a:r>
              <a:rPr lang="en-US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10.6</a:t>
            </a:r>
            <a:r>
              <a:rPr lang="zh-CN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。</a:t>
            </a:r>
            <a:endParaRPr lang="zh-CN" sz="1050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166" name="圆角矩形 2165"/>
          <p:cNvSpPr/>
          <p:nvPr/>
        </p:nvSpPr>
        <p:spPr>
          <a:xfrm>
            <a:off x="5181600" y="1143000"/>
            <a:ext cx="6400800" cy="5143500"/>
          </a:xfrm>
          <a:prstGeom prst="roundRect">
            <a:avLst>
              <a:gd name="adj" fmla="val 2222"/>
            </a:avLst>
          </a:prstGeom>
          <a:solidFill>
            <a:srgbClr val="0B1220"/>
          </a:solidFill>
          <a:ln w="12700">
            <a:solidFill>
              <a:srgbClr val="1E293B"/>
            </a:solidFill>
            <a:prstDash val="solid"/>
          </a:ln>
        </p:spPr>
        <p:txBody>
          <a:bodyPr/>
          <a:p/>
        </p:txBody>
      </p:sp>
      <p:sp>
        <p:nvSpPr>
          <p:cNvPr id="2167" name="文本框 2166" descr="{&quot;isTemplate&quot;:true,&quot;type&quot;:&quot;text&quot;}"/>
          <p:cNvSpPr txBox="1"/>
          <p:nvPr/>
        </p:nvSpPr>
        <p:spPr>
          <a:xfrm>
            <a:off x="5372100" y="1333500"/>
            <a:ext cx="6019800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@Bean · 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全部走环境变量或等价的命令行参数</a:t>
            </a:r>
            <a:endParaRPr lang="zh-CN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168" name="文本框 2167" descr="{&quot;isTemplate&quot;:true,&quot;type&quot;:&quot;text&quot;}"/>
          <p:cNvSpPr txBox="1"/>
          <p:nvPr/>
        </p:nvSpPr>
        <p:spPr>
          <a:xfrm>
            <a:off x="5372100" y="1562100"/>
            <a:ext cx="6019800" cy="2571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en-US" sz="975">
                <a:solidFill>
                  <a:srgbClr val="E2E8F0"/>
                </a:solidFill>
                <a:latin typeface="JetBrains Mono"/>
                <a:ea typeface="JetBrains Mono"/>
              </a:rPr>
              <a:t>export mvc_port=8080</a:t>
            </a:r>
            <a:endParaRPr lang="en-US" sz="975">
              <a:solidFill>
                <a:srgbClr val="E2E8F0"/>
              </a:solidFill>
              <a:latin typeface="JetBrains Mono"/>
              <a:ea typeface="JetBrains Mono"/>
            </a:endParaRPr>
          </a:p>
        </p:txBody>
      </p:sp>
      <p:sp>
        <p:nvSpPr>
          <p:cNvPr id="2169" name="文本框 2168" descr="{&quot;isTemplate&quot;:true,&quot;type&quot;:&quot;text&quot;}"/>
          <p:cNvSpPr txBox="1"/>
          <p:nvPr/>
        </p:nvSpPr>
        <p:spPr>
          <a:xfrm>
            <a:off x="5372100" y="1819275"/>
            <a:ext cx="6019800" cy="2571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en-US" sz="975">
                <a:solidFill>
                  <a:srgbClr val="F59E0B"/>
                </a:solidFill>
                <a:latin typeface="JetBrains Mono"/>
                <a:ea typeface="JetBrains Mono"/>
              </a:rPr>
              <a:t>export mvc_maxRequestBodySize=67108864</a:t>
            </a:r>
            <a:r>
              <a:rPr lang="zh-CN" sz="975">
                <a:solidFill>
                  <a:srgbClr val="F59E0B"/>
                </a:solidFill>
                <a:latin typeface="JetBrains Mono"/>
                <a:ea typeface="JetBrains Mono"/>
              </a:rPr>
              <a:t>　</a:t>
            </a:r>
            <a:r>
              <a:rPr lang="en-US" sz="975">
                <a:solidFill>
                  <a:srgbClr val="F59E0B"/>
                </a:solidFill>
                <a:latin typeface="JetBrains Mono"/>
                <a:ea typeface="JetBrains Mono"/>
              </a:rPr>
              <a:t># </a:t>
            </a:r>
            <a:r>
              <a:rPr lang="zh-CN" sz="975">
                <a:solidFill>
                  <a:srgbClr val="F59E0B"/>
                </a:solidFill>
                <a:latin typeface="JetBrains Mono"/>
                <a:ea typeface="JetBrains Mono"/>
              </a:rPr>
              <a:t>默认</a:t>
            </a:r>
            <a:r>
              <a:rPr lang="en-US" sz="975">
                <a:solidFill>
                  <a:srgbClr val="F59E0B"/>
                </a:solidFill>
                <a:latin typeface="JetBrains Mono"/>
                <a:ea typeface="JetBrains Mono"/>
              </a:rPr>
              <a:t> stdx </a:t>
            </a:r>
            <a:r>
              <a:rPr lang="zh-CN" sz="975">
                <a:solidFill>
                  <a:srgbClr val="F59E0B"/>
                </a:solidFill>
                <a:latin typeface="JetBrains Mono"/>
                <a:ea typeface="JetBrains Mono"/>
              </a:rPr>
              <a:t>的</a:t>
            </a:r>
            <a:r>
              <a:rPr lang="en-US" sz="975">
                <a:solidFill>
                  <a:srgbClr val="F59E0B"/>
                </a:solidFill>
                <a:latin typeface="JetBrains Mono"/>
                <a:ea typeface="JetBrains Mono"/>
              </a:rPr>
              <a:t> 2MB</a:t>
            </a:r>
            <a:r>
              <a:rPr lang="zh-CN" sz="975">
                <a:solidFill>
                  <a:srgbClr val="F59E0B"/>
                </a:solidFill>
                <a:latin typeface="JetBrains Mono"/>
                <a:ea typeface="JetBrains Mono"/>
              </a:rPr>
              <a:t>，上传必须调大</a:t>
            </a:r>
            <a:endParaRPr lang="zh-CN" sz="975">
              <a:solidFill>
                <a:srgbClr val="F59E0B"/>
              </a:solidFill>
              <a:latin typeface="JetBrains Mono"/>
              <a:ea typeface="JetBrains Mono"/>
            </a:endParaRPr>
          </a:p>
        </p:txBody>
      </p:sp>
      <p:sp>
        <p:nvSpPr>
          <p:cNvPr id="2170" name="文本框 2169" descr="{&quot;isTemplate&quot;:true,&quot;type&quot;:&quot;text&quot;}"/>
          <p:cNvSpPr txBox="1"/>
          <p:nvPr/>
        </p:nvSpPr>
        <p:spPr>
          <a:xfrm>
            <a:off x="5372100" y="2076450"/>
            <a:ext cx="6019800" cy="2571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en-US" sz="975">
                <a:solidFill>
                  <a:srgbClr val="E2E8F0"/>
                </a:solidFill>
                <a:latin typeface="JetBrains Mono"/>
                <a:ea typeface="JetBrains Mono"/>
              </a:rPr>
              <a:t>export mvc_overallElapsedSwitch=true</a:t>
            </a:r>
            <a:r>
              <a:rPr lang="zh-CN" sz="975">
                <a:solidFill>
                  <a:srgbClr val="E2E8F0"/>
                </a:solidFill>
                <a:latin typeface="JetBrains Mono"/>
                <a:ea typeface="JetBrains Mono"/>
              </a:rPr>
              <a:t>　　</a:t>
            </a:r>
            <a:r>
              <a:rPr lang="en-US" sz="975">
                <a:solidFill>
                  <a:srgbClr val="E2E8F0"/>
                </a:solidFill>
                <a:latin typeface="JetBrains Mono"/>
                <a:ea typeface="JetBrains Mono"/>
              </a:rPr>
              <a:t># </a:t>
            </a:r>
            <a:r>
              <a:rPr lang="zh-CN" sz="975">
                <a:solidFill>
                  <a:srgbClr val="E2E8F0"/>
                </a:solidFill>
                <a:latin typeface="JetBrains Mono"/>
                <a:ea typeface="JetBrains Mono"/>
              </a:rPr>
              <a:t>生产建议</a:t>
            </a:r>
            <a:r>
              <a:rPr lang="en-US" sz="975">
                <a:solidFill>
                  <a:srgbClr val="E2E8F0"/>
                </a:solidFill>
                <a:latin typeface="JetBrains Mono"/>
                <a:ea typeface="JetBrains Mono"/>
              </a:rPr>
              <a:t> false</a:t>
            </a:r>
            <a:endParaRPr lang="en-US" sz="975">
              <a:solidFill>
                <a:srgbClr val="E2E8F0"/>
              </a:solidFill>
              <a:latin typeface="JetBrains Mono"/>
              <a:ea typeface="JetBrains Mono"/>
            </a:endParaRPr>
          </a:p>
        </p:txBody>
      </p:sp>
      <p:sp>
        <p:nvSpPr>
          <p:cNvPr id="2171" name="文本框 2170" descr="{&quot;isTemplate&quot;:true,&quot;type&quot;:&quot;text&quot;}"/>
          <p:cNvSpPr txBox="1"/>
          <p:nvPr/>
        </p:nvSpPr>
        <p:spPr>
          <a:xfrm>
            <a:off x="5372100" y="2333625"/>
            <a:ext cx="6019800" cy="2571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en-US" sz="975">
                <a:solidFill>
                  <a:srgbClr val="E2E8F0"/>
                </a:solidFill>
                <a:latin typeface="JetBrains Mono"/>
                <a:ea typeface="JetBrains Mono"/>
              </a:rPr>
              <a:t>export mvc_internalServerErrorMessageKind=BEAN</a:t>
            </a:r>
            <a:endParaRPr lang="en-US" sz="975">
              <a:solidFill>
                <a:srgbClr val="E2E8F0"/>
              </a:solidFill>
              <a:latin typeface="JetBrains Mono"/>
              <a:ea typeface="JetBrains Mono"/>
            </a:endParaRPr>
          </a:p>
        </p:txBody>
      </p:sp>
      <p:sp>
        <p:nvSpPr>
          <p:cNvPr id="2172" name="文本框 2171" descr="{&quot;isTemplate&quot;:true,&quot;type&quot;:&quot;text&quot;}"/>
          <p:cNvSpPr txBox="1"/>
          <p:nvPr/>
        </p:nvSpPr>
        <p:spPr>
          <a:xfrm>
            <a:off x="5372100" y="2590800"/>
            <a:ext cx="6019800" cy="2571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en-US" sz="975">
                <a:solidFill>
                  <a:srgbClr val="E2E8F0"/>
                </a:solidFill>
                <a:latin typeface="JetBrains Mono"/>
                <a:ea typeface="JetBrains Mono"/>
              </a:rPr>
              <a:t>export mvc_internalServerErrorMessage=NameOf500Handler</a:t>
            </a:r>
            <a:endParaRPr lang="en-US" sz="975">
              <a:solidFill>
                <a:srgbClr val="E2E8F0"/>
              </a:solidFill>
              <a:latin typeface="JetBrains Mono"/>
              <a:ea typeface="JetBrains Mono"/>
            </a:endParaRPr>
          </a:p>
        </p:txBody>
      </p:sp>
      <p:sp>
        <p:nvSpPr>
          <p:cNvPr id="2173" name="文本框 2172" descr="{&quot;isTemplate&quot;:true,&quot;type&quot;:&quot;text&quot;}"/>
          <p:cNvSpPr txBox="1"/>
          <p:nvPr/>
        </p:nvSpPr>
        <p:spPr>
          <a:xfrm>
            <a:off x="5372100" y="2847975"/>
            <a:ext cx="6019800" cy="2571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en-US" sz="975">
                <a:solidFill>
                  <a:srgbClr val="E2E8F0"/>
                </a:solidFill>
                <a:latin typeface="JetBrains Mono"/>
                <a:ea typeface="JetBrains Mono"/>
              </a:rPr>
              <a:t>export mvc_readTimeout=500ms</a:t>
            </a:r>
            <a:endParaRPr lang="en-US" sz="975">
              <a:solidFill>
                <a:srgbClr val="E2E8F0"/>
              </a:solidFill>
              <a:latin typeface="JetBrains Mono"/>
              <a:ea typeface="JetBrains Mono"/>
            </a:endParaRPr>
          </a:p>
        </p:txBody>
      </p:sp>
      <p:sp>
        <p:nvSpPr>
          <p:cNvPr id="2174" name="文本框 2173" descr="{&quot;isTemplate&quot;:true,&quot;type&quot;:&quot;text&quot;}"/>
          <p:cNvSpPr txBox="1"/>
          <p:nvPr/>
        </p:nvSpPr>
        <p:spPr>
          <a:xfrm>
            <a:off x="5372100" y="3105150"/>
            <a:ext cx="6019800" cy="2571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en-US" sz="975">
                <a:solidFill>
                  <a:srgbClr val="E2E8F0"/>
                </a:solidFill>
                <a:latin typeface="JetBrains Mono"/>
                <a:ea typeface="JetBrains Mono"/>
              </a:rPr>
              <a:t>export mvc_readHeaderTimeout=500ms</a:t>
            </a:r>
            <a:endParaRPr lang="en-US" sz="975">
              <a:solidFill>
                <a:srgbClr val="E2E8F0"/>
              </a:solidFill>
              <a:latin typeface="JetBrains Mono"/>
              <a:ea typeface="JetBrains Mono"/>
            </a:endParaRPr>
          </a:p>
        </p:txBody>
      </p:sp>
      <p:sp>
        <p:nvSpPr>
          <p:cNvPr id="2175" name="文本框 2174" descr="{&quot;isTemplate&quot;:true,&quot;type&quot;:&quot;text&quot;}"/>
          <p:cNvSpPr txBox="1"/>
          <p:nvPr/>
        </p:nvSpPr>
        <p:spPr>
          <a:xfrm>
            <a:off x="5372100" y="3362325"/>
            <a:ext cx="6019800" cy="2571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en-US" sz="975">
                <a:solidFill>
                  <a:srgbClr val="E2E8F0"/>
                </a:solidFill>
                <a:latin typeface="JetBrains Mono"/>
                <a:ea typeface="JetBrains Mono"/>
              </a:rPr>
              <a:t>export mvc_writeTimeout=500ms</a:t>
            </a:r>
            <a:endParaRPr lang="en-US" sz="975">
              <a:solidFill>
                <a:srgbClr val="E2E8F0"/>
              </a:solidFill>
              <a:latin typeface="JetBrains Mono"/>
              <a:ea typeface="JetBrains Mono"/>
            </a:endParaRPr>
          </a:p>
        </p:txBody>
      </p:sp>
      <p:sp>
        <p:nvSpPr>
          <p:cNvPr id="2176" name="文本框 2175" descr="{&quot;isTemplate&quot;:true,&quot;type&quot;:&quot;text&quot;}"/>
          <p:cNvSpPr txBox="1"/>
          <p:nvPr/>
        </p:nvSpPr>
        <p:spPr>
          <a:xfrm>
            <a:off x="5372100" y="3619500"/>
            <a:ext cx="6019800" cy="2571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en-US" sz="975">
                <a:solidFill>
                  <a:srgbClr val="E2E8F0"/>
                </a:solidFill>
                <a:latin typeface="JetBrains Mono"/>
                <a:ea typeface="JetBrains Mono"/>
              </a:rPr>
              <a:t>export mvc_keepAliveTimeout=500s</a:t>
            </a:r>
            <a:endParaRPr lang="en-US" sz="975">
              <a:solidFill>
                <a:srgbClr val="E2E8F0"/>
              </a:solidFill>
              <a:latin typeface="JetBrains Mono"/>
              <a:ea typeface="JetBrains Mono"/>
            </a:endParaRPr>
          </a:p>
        </p:txBody>
      </p:sp>
      <p:sp>
        <p:nvSpPr>
          <p:cNvPr id="2177" name="文本框 2176" descr="{&quot;isTemplate&quot;:true,&quot;type&quot;:&quot;text&quot;}"/>
          <p:cNvSpPr txBox="1"/>
          <p:nvPr/>
        </p:nvSpPr>
        <p:spPr>
          <a:xfrm>
            <a:off x="5372100" y="3876675"/>
            <a:ext cx="6019800" cy="2571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en-US" sz="975">
                <a:solidFill>
                  <a:srgbClr val="E2E8F0"/>
                </a:solidFill>
                <a:latin typeface="JetBrains Mono"/>
                <a:ea typeface="JetBrains Mono"/>
              </a:rPr>
              <a:t>export mvc_maxRequestHeaderSize=102400</a:t>
            </a:r>
            <a:endParaRPr lang="en-US" sz="975">
              <a:solidFill>
                <a:srgbClr val="E2E8F0"/>
              </a:solidFill>
              <a:latin typeface="JetBrains Mono"/>
              <a:ea typeface="JetBrains Mono"/>
            </a:endParaRPr>
          </a:p>
        </p:txBody>
      </p:sp>
      <p:sp>
        <p:nvSpPr>
          <p:cNvPr id="2178" name="文本框 2177" descr="{&quot;isTemplate&quot;:true,&quot;type&quot;:&quot;text&quot;}"/>
          <p:cNvSpPr txBox="1"/>
          <p:nvPr/>
        </p:nvSpPr>
        <p:spPr>
          <a:xfrm>
            <a:off x="5372100" y="4133850"/>
            <a:ext cx="6019800" cy="2571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en-US" sz="975">
                <a:solidFill>
                  <a:srgbClr val="E2E8F0"/>
                </a:solidFill>
                <a:latin typeface="JetBrains Mono"/>
                <a:ea typeface="JetBrains Mono"/>
              </a:rPr>
              <a:t>export mvc_downloadBufferSize=4096</a:t>
            </a:r>
            <a:endParaRPr lang="en-US" sz="975">
              <a:solidFill>
                <a:srgbClr val="E2E8F0"/>
              </a:solidFill>
              <a:latin typeface="JetBrains Mono"/>
              <a:ea typeface="JetBrains Mono"/>
            </a:endParaRPr>
          </a:p>
        </p:txBody>
      </p:sp>
      <p:sp>
        <p:nvSpPr>
          <p:cNvPr id="2179" name="文本框 2178" descr="{&quot;isTemplate&quot;:true,&quot;type&quot;:&quot;text&quot;}"/>
          <p:cNvSpPr txBox="1"/>
          <p:nvPr/>
        </p:nvSpPr>
        <p:spPr>
          <a:xfrm>
            <a:off x="5372100" y="4391025"/>
            <a:ext cx="6019800" cy="2571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en-US" sz="975">
                <a:solidFill>
                  <a:srgbClr val="94A3B8"/>
                </a:solidFill>
                <a:latin typeface="JetBrains Mono"/>
                <a:ea typeface="JetBrains Mono"/>
              </a:rPr>
              <a:t>export mvc_accessControlAllowOrigin='*'</a:t>
            </a:r>
            <a:endParaRPr lang="en-US" sz="975">
              <a:solidFill>
                <a:srgbClr val="94A3B8"/>
              </a:solidFill>
              <a:latin typeface="JetBrains Mono"/>
              <a:ea typeface="JetBrains Mono"/>
            </a:endParaRPr>
          </a:p>
        </p:txBody>
      </p:sp>
      <p:sp>
        <p:nvSpPr>
          <p:cNvPr id="2180" name="文本框 2179" descr="{&quot;isTemplate&quot;:true,&quot;type&quot;:&quot;text&quot;}"/>
          <p:cNvSpPr txBox="1"/>
          <p:nvPr/>
        </p:nvSpPr>
        <p:spPr>
          <a:xfrm>
            <a:off x="5372100" y="4648200"/>
            <a:ext cx="6019800" cy="2571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en-US" sz="975">
                <a:solidFill>
                  <a:srgbClr val="94A3B8"/>
                </a:solidFill>
                <a:latin typeface="JetBrains Mono"/>
                <a:ea typeface="JetBrains Mono"/>
              </a:rPr>
              <a:t>export mvc_accessControlAllowHeaders='*'</a:t>
            </a:r>
            <a:endParaRPr lang="en-US" sz="975">
              <a:solidFill>
                <a:srgbClr val="94A3B8"/>
              </a:solidFill>
              <a:latin typeface="JetBrains Mono"/>
              <a:ea typeface="JetBrains Mono"/>
            </a:endParaRPr>
          </a:p>
        </p:txBody>
      </p:sp>
      <p:sp>
        <p:nvSpPr>
          <p:cNvPr id="2181" name="文本框 2180" descr="{&quot;isTemplate&quot;:true,&quot;type&quot;:&quot;text&quot;}"/>
          <p:cNvSpPr txBox="1"/>
          <p:nvPr/>
        </p:nvSpPr>
        <p:spPr>
          <a:xfrm>
            <a:off x="5372100" y="4905375"/>
            <a:ext cx="6019800" cy="2571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en-US" sz="975">
                <a:solidFill>
                  <a:srgbClr val="94A3B8"/>
                </a:solidFill>
                <a:latin typeface="JetBrains Mono"/>
                <a:ea typeface="JetBrains Mono"/>
              </a:rPr>
              <a:t>export mvc_accessControlMaxAge=0</a:t>
            </a:r>
            <a:endParaRPr lang="en-US" sz="975">
              <a:solidFill>
                <a:srgbClr val="94A3B8"/>
              </a:solidFill>
              <a:latin typeface="JetBrains Mono"/>
              <a:ea typeface="JetBrains Mono"/>
            </a:endParaRPr>
          </a:p>
        </p:txBody>
      </p:sp>
      <p:sp>
        <p:nvSpPr>
          <p:cNvPr id="2182" name="文本框 2181" descr="{&quot;isTemplate&quot;:true,&quot;type&quot;:&quot;text&quot;}"/>
          <p:cNvSpPr txBox="1"/>
          <p:nvPr/>
        </p:nvSpPr>
        <p:spPr>
          <a:xfrm>
            <a:off x="5372100" y="5838825"/>
            <a:ext cx="6019800" cy="2571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演示环境</a:t>
            </a: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 CORS 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写星号，生产要收紧。</a:t>
            </a:r>
            <a:endParaRPr lang="zh-CN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183" name="任意多边形 2182"/>
          <p:cNvSpPr/>
          <p:nvPr/>
        </p:nvSpPr>
        <p:spPr>
          <a:xfrm>
            <a:off x="609600" y="6286500"/>
            <a:ext cx="10972800" cy="381000"/>
          </a:xfrm>
          <a:custGeom>
            <a:avLst/>
            <a:gdLst/>
            <a:ahLst/>
            <a:cxnLst/>
            <a:pathLst>
              <a:path w="1152" h="40">
                <a:moveTo>
                  <a:pt x="0" y="0"/>
                </a:moveTo>
                <a:lnTo>
                  <a:pt x="1152" y="0"/>
                </a:lnTo>
                <a:lnTo>
                  <a:pt x="1152" y="1"/>
                </a:lnTo>
                <a:lnTo>
                  <a:pt x="0" y="1"/>
                </a:lnTo>
                <a:close/>
              </a:path>
            </a:pathLst>
          </a:custGeom>
          <a:solidFill>
            <a:srgbClr val="1E293B"/>
          </a:solidFill>
        </p:spPr>
        <p:txBody>
          <a:bodyPr/>
          <a:p/>
        </p:txBody>
      </p:sp>
      <p:sp>
        <p:nvSpPr>
          <p:cNvPr id="2184" name="文本框 2183" descr="{&quot;isTemplate&quot;:true,&quot;type&quot;:&quot;text&quot;}"/>
          <p:cNvSpPr txBox="1"/>
          <p:nvPr/>
        </p:nvSpPr>
        <p:spPr>
          <a:xfrm>
            <a:off x="609600" y="6410325"/>
            <a:ext cx="2219325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fountain · 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一站式服务器应用开发工具库</a:t>
            </a:r>
            <a:endParaRPr lang="zh-CN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185" name="文本框 2184" descr="{&quot;isTemplate&quot;:true,&quot;type&quot;:&quot;text&quot;}"/>
          <p:cNvSpPr txBox="1"/>
          <p:nvPr/>
        </p:nvSpPr>
        <p:spPr>
          <a:xfrm>
            <a:off x="11087100" y="6410325"/>
            <a:ext cx="495300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66 / 116</a:t>
            </a:r>
            <a:endParaRPr lang="en-US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18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7" name="矩形 2186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220"/>
          </a:solidFill>
        </p:spPr>
        <p:txBody>
          <a:bodyPr/>
          <a:p/>
        </p:txBody>
      </p:sp>
      <p:sp>
        <p:nvSpPr>
          <p:cNvPr id="2188" name="矩形 2187"/>
          <p:cNvSpPr/>
          <p:nvPr/>
        </p:nvSpPr>
        <p:spPr>
          <a:xfrm>
            <a:off x="609600" y="476250"/>
            <a:ext cx="38100" cy="381000"/>
          </a:xfrm>
          <a:prstGeom prst="rect">
            <a:avLst/>
          </a:prstGeom>
          <a:solidFill>
            <a:srgbClr val="38BDF8"/>
          </a:solidFill>
        </p:spPr>
        <p:txBody>
          <a:bodyPr/>
          <a:p/>
        </p:txBody>
      </p:sp>
      <p:sp>
        <p:nvSpPr>
          <p:cNvPr id="2189" name="文本框 2188" descr="{&quot;isTemplate&quot;:true,&quot;type&quot;:&quot;text&quot;}"/>
          <p:cNvSpPr txBox="1"/>
          <p:nvPr/>
        </p:nvSpPr>
        <p:spPr>
          <a:xfrm>
            <a:off x="819150" y="304800"/>
            <a:ext cx="8382000" cy="2095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第</a:t>
            </a: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 10 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章</a:t>
            </a: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 · MVC f_mvc · 10.6</a:t>
            </a:r>
            <a:endParaRPr lang="en-US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190" name="文本框 2189" descr="{&quot;isTemplate&quot;:true,&quot;type&quot;:&quot;text&quot;}"/>
          <p:cNvSpPr txBox="1"/>
          <p:nvPr/>
        </p:nvSpPr>
        <p:spPr>
          <a:xfrm>
            <a:off x="819150" y="514350"/>
            <a:ext cx="8382000" cy="5143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2550" b="1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统一异常响应</a:t>
            </a:r>
            <a:endParaRPr lang="zh-CN" sz="2550" b="1">
              <a:solidFill>
                <a:srgbClr val="E2E8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191" name="文本框 2190" descr="{&quot;isTemplate&quot;:true,&quot;type&quot;:&quot;text&quot;}"/>
          <p:cNvSpPr txBox="1"/>
          <p:nvPr/>
        </p:nvSpPr>
        <p:spPr>
          <a:xfrm>
            <a:off x="9372600" y="590550"/>
            <a:ext cx="2209800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fdemo/boot/src/error/ErrorHandler.cj</a:t>
            </a:r>
            <a:endParaRPr lang="en-US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192" name="圆角矩形 2191"/>
          <p:cNvSpPr/>
          <p:nvPr/>
        </p:nvSpPr>
        <p:spPr>
          <a:xfrm>
            <a:off x="609600" y="1143000"/>
            <a:ext cx="4381500" cy="2724150"/>
          </a:xfrm>
          <a:prstGeom prst="roundRect">
            <a:avLst>
              <a:gd name="adj" fmla="val 4196"/>
            </a:avLst>
          </a:prstGeom>
          <a:solidFill>
            <a:srgbClr val="111C2E"/>
          </a:solidFill>
          <a:ln w="12700">
            <a:solidFill>
              <a:srgbClr val="38BDF8"/>
            </a:solidFill>
            <a:prstDash val="solid"/>
          </a:ln>
        </p:spPr>
        <p:txBody>
          <a:bodyPr/>
          <a:p/>
        </p:txBody>
      </p:sp>
      <p:sp>
        <p:nvSpPr>
          <p:cNvPr id="2193" name="文本框 2192" descr="{&quot;isTemplate&quot;:true,&quot;type&quot;:&quot;text&quot;}"/>
          <p:cNvSpPr txBox="1"/>
          <p:nvPr/>
        </p:nvSpPr>
        <p:spPr>
          <a:xfrm>
            <a:off x="800100" y="1333500"/>
            <a:ext cx="4000500" cy="2000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38BDF8"/>
                </a:solidFill>
                <a:latin typeface="微软雅黑" panose="020B0503020204020204" charset="-122"/>
                <a:ea typeface="微软雅黑" panose="020B0503020204020204" charset="-122"/>
              </a:rPr>
              <a:t>三种</a:t>
            </a:r>
            <a:r>
              <a:rPr lang="en-US" sz="1275" b="1">
                <a:solidFill>
                  <a:srgbClr val="38BDF8"/>
                </a:solidFill>
                <a:latin typeface="微软雅黑" panose="020B0503020204020204" charset="-122"/>
                <a:ea typeface="微软雅黑" panose="020B0503020204020204" charset="-122"/>
              </a:rPr>
              <a:t> ErrorMessageKind</a:t>
            </a:r>
            <a:endParaRPr lang="en-US" sz="1275" b="1">
              <a:solidFill>
                <a:srgbClr val="38BDF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194" name="文本框 2193" descr="{&quot;isTemplate&quot;:true,&quot;type&quot;:&quot;text&quot;}"/>
          <p:cNvSpPr txBox="1"/>
          <p:nvPr/>
        </p:nvSpPr>
        <p:spPr>
          <a:xfrm>
            <a:off x="800100" y="1647825"/>
            <a:ext cx="4000500" cy="561975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75000"/>
              </a:lnSpc>
            </a:pPr>
            <a:r>
              <a:rPr lang="en-US" sz="105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BEAN —— </a:t>
            </a:r>
            <a:r>
              <a:rPr lang="zh-CN" sz="105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配置值是</a:t>
            </a:r>
            <a:r>
              <a:rPr lang="en-US" sz="105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 bean </a:t>
            </a:r>
            <a:r>
              <a:rPr lang="zh-CN" sz="105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的名字，该</a:t>
            </a:r>
            <a:r>
              <a:rPr lang="en-US" sz="105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 bean </a:t>
            </a:r>
            <a:r>
              <a:rPr lang="zh-CN" sz="105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必须实现</a:t>
            </a:r>
            <a:r>
              <a:rPr lang="en-US" sz="105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 ErrorHttpRequestHandler</a:t>
            </a:r>
            <a:endParaRPr lang="en-US" sz="1050">
              <a:solidFill>
                <a:srgbClr val="E2E8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195" name="文本框 2194" descr="{&quot;isTemplate&quot;:true,&quot;type&quot;:&quot;text&quot;}"/>
          <p:cNvSpPr txBox="1"/>
          <p:nvPr/>
        </p:nvSpPr>
        <p:spPr>
          <a:xfrm>
            <a:off x="800100" y="2305050"/>
            <a:ext cx="4000500" cy="2857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5000"/>
              </a:lnSpc>
            </a:pPr>
            <a:r>
              <a:rPr lang="en-US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TEXT —— </a:t>
            </a:r>
            <a:r>
              <a:rPr lang="zh-CN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直接把配置值当响应体</a:t>
            </a:r>
            <a:endParaRPr lang="zh-CN" sz="1050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196" name="文本框 2195" descr="{&quot;isTemplate&quot;:true,&quot;type&quot;:&quot;text&quot;}"/>
          <p:cNvSpPr txBox="1"/>
          <p:nvPr/>
        </p:nvSpPr>
        <p:spPr>
          <a:xfrm>
            <a:off x="800100" y="2686050"/>
            <a:ext cx="4000500" cy="2857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5000"/>
              </a:lnSpc>
            </a:pPr>
            <a:r>
              <a:rPr lang="en-US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BASE64BINARY —— </a:t>
            </a:r>
            <a:r>
              <a:rPr lang="zh-CN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配置值按</a:t>
            </a:r>
            <a:r>
              <a:rPr lang="en-US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BASE64 </a:t>
            </a:r>
            <a:r>
              <a:rPr lang="zh-CN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解码后作为响应体</a:t>
            </a:r>
            <a:endParaRPr lang="zh-CN" sz="1050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197" name="圆角矩形 2196"/>
          <p:cNvSpPr/>
          <p:nvPr/>
        </p:nvSpPr>
        <p:spPr>
          <a:xfrm>
            <a:off x="609600" y="4000500"/>
            <a:ext cx="4381500" cy="2286000"/>
          </a:xfrm>
          <a:prstGeom prst="roundRect">
            <a:avLst>
              <a:gd name="adj" fmla="val 5000"/>
            </a:avLst>
          </a:prstGeom>
          <a:solidFill>
            <a:srgbClr val="111C2E"/>
          </a:solidFill>
          <a:ln w="12700">
            <a:solidFill>
              <a:srgbClr val="1E293B"/>
            </a:solidFill>
            <a:prstDash val="solid"/>
          </a:ln>
        </p:spPr>
        <p:txBody>
          <a:bodyPr/>
          <a:p/>
        </p:txBody>
      </p:sp>
      <p:sp>
        <p:nvSpPr>
          <p:cNvPr id="2198" name="文本框 2197" descr="{&quot;isTemplate&quot;:true,&quot;type&quot;:&quot;text&quot;}"/>
          <p:cNvSpPr txBox="1"/>
          <p:nvPr/>
        </p:nvSpPr>
        <p:spPr>
          <a:xfrm>
            <a:off x="800100" y="4191000"/>
            <a:ext cx="4000500" cy="1714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返回值支持的类型</a:t>
            </a:r>
            <a:endParaRPr lang="zh-CN" sz="1125" b="1">
              <a:solidFill>
                <a:srgbClr val="E2E8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199" name="文本框 2198" descr="{&quot;isTemplate&quot;:true,&quot;type&quot;:&quot;text&quot;}"/>
          <p:cNvSpPr txBox="1"/>
          <p:nvPr/>
        </p:nvSpPr>
        <p:spPr>
          <a:xfrm>
            <a:off x="800100" y="4457700"/>
            <a:ext cx="4000500" cy="561975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75000"/>
              </a:lnSpc>
            </a:pPr>
            <a:r>
              <a:rPr lang="en-US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String</a:t>
            </a:r>
            <a:r>
              <a:rPr lang="zh-CN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　·　</a:t>
            </a:r>
            <a:r>
              <a:rPr lang="en-US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ToString</a:t>
            </a:r>
            <a:r>
              <a:rPr lang="zh-CN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　·　</a:t>
            </a:r>
            <a:r>
              <a:rPr lang="en-US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InputStream</a:t>
            </a:r>
            <a:r>
              <a:rPr lang="zh-CN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　·　字节数组　·　</a:t>
            </a:r>
            <a:r>
              <a:rPr lang="en-US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f_data.ToData</a:t>
            </a:r>
            <a:endParaRPr lang="en-US" sz="1050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200" name="文本框 2199" descr="{&quot;isTemplate&quot;:true,&quot;type&quot;:&quot;text&quot;}"/>
          <p:cNvSpPr txBox="1"/>
          <p:nvPr/>
        </p:nvSpPr>
        <p:spPr>
          <a:xfrm>
            <a:off x="800100" y="5114925"/>
            <a:ext cx="4000500" cy="2857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5000"/>
              </a:lnSpc>
            </a:pPr>
            <a:r>
              <a:rPr lang="zh-CN" sz="105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按</a:t>
            </a:r>
            <a:r>
              <a:rPr lang="en-US" sz="105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 Accept </a:t>
            </a:r>
            <a:r>
              <a:rPr lang="zh-CN" sz="105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协商格式</a:t>
            </a:r>
            <a:r>
              <a:rPr lang="en-US" sz="105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 —— </a:t>
            </a:r>
            <a:r>
              <a:rPr lang="zh-CN" sz="105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直接返回</a:t>
            </a:r>
            <a:r>
              <a:rPr lang="en-US" sz="105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 PO </a:t>
            </a:r>
            <a:r>
              <a:rPr lang="zh-CN" sz="105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就能自动序列化成</a:t>
            </a:r>
            <a:r>
              <a:rPr lang="en-US" sz="105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 JSON</a:t>
            </a:r>
            <a:r>
              <a:rPr lang="zh-CN" sz="105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。</a:t>
            </a:r>
            <a:endParaRPr lang="zh-CN" sz="105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201" name="圆角矩形 2200"/>
          <p:cNvSpPr/>
          <p:nvPr/>
        </p:nvSpPr>
        <p:spPr>
          <a:xfrm>
            <a:off x="5181600" y="1143000"/>
            <a:ext cx="6400800" cy="5143500"/>
          </a:xfrm>
          <a:prstGeom prst="roundRect">
            <a:avLst>
              <a:gd name="adj" fmla="val 2222"/>
            </a:avLst>
          </a:prstGeom>
          <a:solidFill>
            <a:srgbClr val="0B1220"/>
          </a:solidFill>
          <a:ln w="12700">
            <a:solidFill>
              <a:srgbClr val="1E293B"/>
            </a:solidFill>
            <a:prstDash val="solid"/>
          </a:ln>
        </p:spPr>
        <p:txBody>
          <a:bodyPr/>
          <a:p/>
        </p:txBody>
      </p:sp>
      <p:sp>
        <p:nvSpPr>
          <p:cNvPr id="2202" name="文本框 2201" descr="{&quot;isTemplate&quot;:true,&quot;type&quot;:&quot;text&quot;}"/>
          <p:cNvSpPr txBox="1"/>
          <p:nvPr/>
        </p:nvSpPr>
        <p:spPr>
          <a:xfrm>
            <a:off x="5372100" y="1333500"/>
            <a:ext cx="6019800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fdemo/boot/src/error/ErrorHandler.cj</a:t>
            </a:r>
            <a:endParaRPr lang="en-US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203" name="文本框 2202" descr="{&quot;isTemplate&quot;:true,&quot;type&quot;:&quot;text&quot;}"/>
          <p:cNvSpPr txBox="1"/>
          <p:nvPr/>
        </p:nvSpPr>
        <p:spPr>
          <a:xfrm>
            <a:off x="5372100" y="1581150"/>
            <a:ext cx="6019800" cy="2571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en-US" sz="975">
                <a:solidFill>
                  <a:srgbClr val="E2E8F0"/>
                </a:solidFill>
                <a:latin typeface="JetBrains Mono"/>
                <a:ea typeface="JetBrains Mono"/>
              </a:rPr>
              <a:t>@Bean</a:t>
            </a:r>
            <a:endParaRPr lang="en-US" sz="975">
              <a:solidFill>
                <a:srgbClr val="E2E8F0"/>
              </a:solidFill>
              <a:latin typeface="JetBrains Mono"/>
              <a:ea typeface="JetBrains Mono"/>
            </a:endParaRPr>
          </a:p>
        </p:txBody>
      </p:sp>
      <p:sp>
        <p:nvSpPr>
          <p:cNvPr id="2204" name="文本框 2203" descr="{&quot;isTemplate&quot;:true,&quot;type&quot;:&quot;text&quot;}"/>
          <p:cNvSpPr txBox="1"/>
          <p:nvPr/>
        </p:nvSpPr>
        <p:spPr>
          <a:xfrm>
            <a:off x="5372100" y="1838325"/>
            <a:ext cx="6019800" cy="2571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en-US" sz="975">
                <a:solidFill>
                  <a:srgbClr val="38BDF8"/>
                </a:solidFill>
                <a:latin typeface="JetBrains Mono"/>
                <a:ea typeface="JetBrains Mono"/>
              </a:rPr>
              <a:t>@BeanMeta[name: 'NameOf500Handler']</a:t>
            </a:r>
            <a:endParaRPr lang="en-US" sz="975">
              <a:solidFill>
                <a:srgbClr val="38BDF8"/>
              </a:solidFill>
              <a:latin typeface="JetBrains Mono"/>
              <a:ea typeface="JetBrains Mono"/>
            </a:endParaRPr>
          </a:p>
        </p:txBody>
      </p:sp>
      <p:sp>
        <p:nvSpPr>
          <p:cNvPr id="2205" name="文本框 2204" descr="{&quot;isTemplate&quot;:true,&quot;type&quot;:&quot;text&quot;}"/>
          <p:cNvSpPr txBox="1"/>
          <p:nvPr/>
        </p:nvSpPr>
        <p:spPr>
          <a:xfrm>
            <a:off x="5372100" y="2095500"/>
            <a:ext cx="6019800" cy="2571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en-US" sz="975">
                <a:solidFill>
                  <a:srgbClr val="E2E8F0"/>
                </a:solidFill>
                <a:latin typeface="JetBrains Mono"/>
                <a:ea typeface="JetBrains Mono"/>
              </a:rPr>
              <a:t>public class Http500Handler &lt;: ErrorHttpRequestHandler {</a:t>
            </a:r>
            <a:endParaRPr lang="en-US" sz="975">
              <a:solidFill>
                <a:srgbClr val="E2E8F0"/>
              </a:solidFill>
              <a:latin typeface="JetBrains Mono"/>
              <a:ea typeface="JetBrains Mono"/>
            </a:endParaRPr>
          </a:p>
        </p:txBody>
      </p:sp>
      <p:sp>
        <p:nvSpPr>
          <p:cNvPr id="2206" name="文本框 2205" descr="{&quot;isTemplate&quot;:true,&quot;type&quot;:&quot;text&quot;}"/>
          <p:cNvSpPr txBox="1"/>
          <p:nvPr/>
        </p:nvSpPr>
        <p:spPr>
          <a:xfrm>
            <a:off x="5372100" y="2352675"/>
            <a:ext cx="6019800" cy="2571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en-US" sz="975">
                <a:solidFill>
                  <a:srgbClr val="38BDF8"/>
                </a:solidFill>
                <a:latin typeface="JetBrains Mono"/>
                <a:ea typeface="JetBrains Mono"/>
              </a:rPr>
              <a:t>    public func handle(_: HttpContext, ex: ?Exception): (HttpStatus, Any) {</a:t>
            </a:r>
            <a:endParaRPr lang="en-US" sz="975">
              <a:solidFill>
                <a:srgbClr val="38BDF8"/>
              </a:solidFill>
              <a:latin typeface="JetBrains Mono"/>
              <a:ea typeface="JetBrains Mono"/>
            </a:endParaRPr>
          </a:p>
        </p:txBody>
      </p:sp>
      <p:sp>
        <p:nvSpPr>
          <p:cNvPr id="2207" name="文本框 2206" descr="{&quot;isTemplate&quot;:true,&quot;type&quot;:&quot;text&quot;}"/>
          <p:cNvSpPr txBox="1"/>
          <p:nvPr/>
        </p:nvSpPr>
        <p:spPr>
          <a:xfrm>
            <a:off x="5372100" y="2609850"/>
            <a:ext cx="6019800" cy="2571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en-US" sz="975">
                <a:solidFill>
                  <a:srgbClr val="E2E8F0"/>
                </a:solidFill>
                <a:latin typeface="JetBrains Mono"/>
                <a:ea typeface="JetBrains Mono"/>
              </a:rPr>
              <a:t>        if (let Some(e: ValidationException) &lt;- ex) {</a:t>
            </a:r>
            <a:endParaRPr lang="en-US" sz="975">
              <a:solidFill>
                <a:srgbClr val="E2E8F0"/>
              </a:solidFill>
              <a:latin typeface="JetBrains Mono"/>
              <a:ea typeface="JetBrains Mono"/>
            </a:endParaRPr>
          </a:p>
        </p:txBody>
      </p:sp>
      <p:sp>
        <p:nvSpPr>
          <p:cNvPr id="2208" name="文本框 2207" descr="{&quot;isTemplate&quot;:true,&quot;type&quot;:&quot;text&quot;}"/>
          <p:cNvSpPr txBox="1"/>
          <p:nvPr/>
        </p:nvSpPr>
        <p:spPr>
          <a:xfrm>
            <a:off x="5372100" y="2867025"/>
            <a:ext cx="6019800" cy="2571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en-US" sz="975">
                <a:solidFill>
                  <a:srgbClr val="F59E0B"/>
                </a:solidFill>
                <a:latin typeface="JetBrains Mono"/>
                <a:ea typeface="JetBrains Mono"/>
              </a:rPr>
              <a:t>            (HttpStatus.INTERNAL_SERVER_ERROR, BaseResponse.error(e.message))</a:t>
            </a:r>
            <a:endParaRPr lang="en-US" sz="975">
              <a:solidFill>
                <a:srgbClr val="F59E0B"/>
              </a:solidFill>
              <a:latin typeface="JetBrains Mono"/>
              <a:ea typeface="JetBrains Mono"/>
            </a:endParaRPr>
          </a:p>
        </p:txBody>
      </p:sp>
      <p:sp>
        <p:nvSpPr>
          <p:cNvPr id="2209" name="文本框 2208" descr="{&quot;isTemplate&quot;:true,&quot;type&quot;:&quot;text&quot;}"/>
          <p:cNvSpPr txBox="1"/>
          <p:nvPr/>
        </p:nvSpPr>
        <p:spPr>
          <a:xfrm>
            <a:off x="5372100" y="3124200"/>
            <a:ext cx="6019800" cy="2571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en-US" sz="975">
                <a:solidFill>
                  <a:srgbClr val="E2E8F0"/>
                </a:solidFill>
                <a:latin typeface="JetBrains Mono"/>
                <a:ea typeface="JetBrains Mono"/>
              </a:rPr>
              <a:t>        } else {</a:t>
            </a:r>
            <a:endParaRPr lang="en-US" sz="975">
              <a:solidFill>
                <a:srgbClr val="E2E8F0"/>
              </a:solidFill>
              <a:latin typeface="JetBrains Mono"/>
              <a:ea typeface="JetBrains Mono"/>
            </a:endParaRPr>
          </a:p>
        </p:txBody>
      </p:sp>
      <p:sp>
        <p:nvSpPr>
          <p:cNvPr id="2210" name="文本框 2209" descr="{&quot;isTemplate&quot;:true,&quot;type&quot;:&quot;text&quot;}"/>
          <p:cNvSpPr txBox="1"/>
          <p:nvPr/>
        </p:nvSpPr>
        <p:spPr>
          <a:xfrm>
            <a:off x="5372100" y="3381375"/>
            <a:ext cx="6019800" cy="2571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en-US" sz="975">
                <a:solidFill>
                  <a:srgbClr val="F59E0B"/>
                </a:solidFill>
                <a:latin typeface="JetBrains Mono"/>
                <a:ea typeface="JetBrains Mono"/>
              </a:rPr>
              <a:t>            (HttpStatus.OK, BaseResponse.error('error'))</a:t>
            </a:r>
            <a:endParaRPr lang="en-US" sz="975">
              <a:solidFill>
                <a:srgbClr val="F59E0B"/>
              </a:solidFill>
              <a:latin typeface="JetBrains Mono"/>
              <a:ea typeface="JetBrains Mono"/>
            </a:endParaRPr>
          </a:p>
        </p:txBody>
      </p:sp>
      <p:sp>
        <p:nvSpPr>
          <p:cNvPr id="2211" name="文本框 2210" descr="{&quot;isTemplate&quot;:true,&quot;type&quot;:&quot;text&quot;}"/>
          <p:cNvSpPr txBox="1"/>
          <p:nvPr/>
        </p:nvSpPr>
        <p:spPr>
          <a:xfrm>
            <a:off x="5372100" y="3638550"/>
            <a:ext cx="6019800" cy="2571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en-US" sz="975">
                <a:solidFill>
                  <a:srgbClr val="E2E8F0"/>
                </a:solidFill>
                <a:latin typeface="JetBrains Mono"/>
                <a:ea typeface="JetBrains Mono"/>
              </a:rPr>
              <a:t>        }</a:t>
            </a:r>
            <a:endParaRPr lang="en-US" sz="975">
              <a:solidFill>
                <a:srgbClr val="E2E8F0"/>
              </a:solidFill>
              <a:latin typeface="JetBrains Mono"/>
              <a:ea typeface="JetBrains Mono"/>
            </a:endParaRPr>
          </a:p>
        </p:txBody>
      </p:sp>
      <p:sp>
        <p:nvSpPr>
          <p:cNvPr id="2212" name="文本框 2211" descr="{&quot;isTemplate&quot;:true,&quot;type&quot;:&quot;text&quot;}"/>
          <p:cNvSpPr txBox="1"/>
          <p:nvPr/>
        </p:nvSpPr>
        <p:spPr>
          <a:xfrm>
            <a:off x="5372100" y="3895725"/>
            <a:ext cx="6019800" cy="2571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en-US" sz="975">
                <a:solidFill>
                  <a:srgbClr val="E2E8F0"/>
                </a:solidFill>
                <a:latin typeface="JetBrains Mono"/>
                <a:ea typeface="JetBrains Mono"/>
              </a:rPr>
              <a:t>    }</a:t>
            </a:r>
            <a:endParaRPr lang="en-US" sz="975">
              <a:solidFill>
                <a:srgbClr val="E2E8F0"/>
              </a:solidFill>
              <a:latin typeface="JetBrains Mono"/>
              <a:ea typeface="JetBrains Mono"/>
            </a:endParaRPr>
          </a:p>
        </p:txBody>
      </p:sp>
      <p:sp>
        <p:nvSpPr>
          <p:cNvPr id="2213" name="文本框 2212" descr="{&quot;isTemplate&quot;:true,&quot;type&quot;:&quot;text&quot;}"/>
          <p:cNvSpPr txBox="1"/>
          <p:nvPr/>
        </p:nvSpPr>
        <p:spPr>
          <a:xfrm>
            <a:off x="5372100" y="4152900"/>
            <a:ext cx="6019800" cy="2571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en-US" sz="975">
                <a:solidFill>
                  <a:srgbClr val="E2E8F0"/>
                </a:solidFill>
                <a:latin typeface="JetBrains Mono"/>
                <a:ea typeface="JetBrains Mono"/>
              </a:rPr>
              <a:t>}</a:t>
            </a:r>
            <a:endParaRPr lang="en-US" sz="975">
              <a:solidFill>
                <a:srgbClr val="E2E8F0"/>
              </a:solidFill>
              <a:latin typeface="JetBrains Mono"/>
              <a:ea typeface="JetBrains Mono"/>
            </a:endParaRPr>
          </a:p>
        </p:txBody>
      </p:sp>
      <p:sp>
        <p:nvSpPr>
          <p:cNvPr id="2214" name="文本框 2213" descr="{&quot;isTemplate&quot;:true,&quot;type&quot;:&quot;text&quot;}"/>
          <p:cNvSpPr txBox="1"/>
          <p:nvPr/>
        </p:nvSpPr>
        <p:spPr>
          <a:xfrm>
            <a:off x="5372100" y="4524375"/>
            <a:ext cx="6019800" cy="514350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zh-CN" sz="97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演示：访问</a:t>
            </a:r>
            <a:r>
              <a:rPr lang="en-US" sz="97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/api/error</a:t>
            </a:r>
            <a:r>
              <a:rPr lang="zh-CN" sz="97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（</a:t>
            </a:r>
            <a:r>
              <a:rPr lang="en-US" sz="97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ErrorController </a:t>
            </a:r>
            <a:r>
              <a:rPr lang="zh-CN" sz="97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里直接</a:t>
            </a:r>
            <a:r>
              <a:rPr lang="en-US" sz="97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throw Exception()</a:t>
            </a:r>
            <a:r>
              <a:rPr lang="zh-CN" sz="97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），看响应是不是</a:t>
            </a:r>
            <a:r>
              <a:rPr lang="en-US" sz="97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BaseResponse.error('error')</a:t>
            </a:r>
            <a:r>
              <a:rPr lang="zh-CN" sz="97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。</a:t>
            </a:r>
            <a:endParaRPr lang="zh-CN" sz="975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215" name="任意多边形 2214"/>
          <p:cNvSpPr/>
          <p:nvPr/>
        </p:nvSpPr>
        <p:spPr>
          <a:xfrm>
            <a:off x="609600" y="6286500"/>
            <a:ext cx="10972800" cy="381000"/>
          </a:xfrm>
          <a:custGeom>
            <a:avLst/>
            <a:gdLst/>
            <a:ahLst/>
            <a:cxnLst/>
            <a:pathLst>
              <a:path w="1152" h="40">
                <a:moveTo>
                  <a:pt x="0" y="0"/>
                </a:moveTo>
                <a:lnTo>
                  <a:pt x="1152" y="0"/>
                </a:lnTo>
                <a:lnTo>
                  <a:pt x="1152" y="1"/>
                </a:lnTo>
                <a:lnTo>
                  <a:pt x="0" y="1"/>
                </a:lnTo>
                <a:close/>
              </a:path>
            </a:pathLst>
          </a:custGeom>
          <a:solidFill>
            <a:srgbClr val="1E293B"/>
          </a:solidFill>
        </p:spPr>
        <p:txBody>
          <a:bodyPr/>
          <a:p/>
        </p:txBody>
      </p:sp>
      <p:sp>
        <p:nvSpPr>
          <p:cNvPr id="2216" name="文本框 2215" descr="{&quot;isTemplate&quot;:true,&quot;type&quot;:&quot;text&quot;}"/>
          <p:cNvSpPr txBox="1"/>
          <p:nvPr/>
        </p:nvSpPr>
        <p:spPr>
          <a:xfrm>
            <a:off x="609600" y="6410325"/>
            <a:ext cx="2219325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fountain · 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一站式服务器应用开发工具库</a:t>
            </a:r>
            <a:endParaRPr lang="zh-CN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217" name="文本框 2216" descr="{&quot;isTemplate&quot;:true,&quot;type&quot;:&quot;text&quot;}"/>
          <p:cNvSpPr txBox="1"/>
          <p:nvPr/>
        </p:nvSpPr>
        <p:spPr>
          <a:xfrm>
            <a:off x="11087100" y="6410325"/>
            <a:ext cx="495300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67 / 116</a:t>
            </a:r>
            <a:endParaRPr lang="en-US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21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9" name="矩形 2218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220"/>
          </a:solidFill>
        </p:spPr>
        <p:txBody>
          <a:bodyPr/>
          <a:p/>
        </p:txBody>
      </p:sp>
      <p:sp>
        <p:nvSpPr>
          <p:cNvPr id="2220" name="矩形 2219"/>
          <p:cNvSpPr/>
          <p:nvPr/>
        </p:nvSpPr>
        <p:spPr>
          <a:xfrm>
            <a:off x="609600" y="476250"/>
            <a:ext cx="38100" cy="381000"/>
          </a:xfrm>
          <a:prstGeom prst="rect">
            <a:avLst/>
          </a:prstGeom>
          <a:solidFill>
            <a:srgbClr val="38BDF8"/>
          </a:solidFill>
        </p:spPr>
        <p:txBody>
          <a:bodyPr/>
          <a:p/>
        </p:txBody>
      </p:sp>
      <p:sp>
        <p:nvSpPr>
          <p:cNvPr id="2221" name="文本框 2220" descr="{&quot;isTemplate&quot;:true,&quot;type&quot;:&quot;text&quot;}"/>
          <p:cNvSpPr txBox="1"/>
          <p:nvPr/>
        </p:nvSpPr>
        <p:spPr>
          <a:xfrm>
            <a:off x="819150" y="304800"/>
            <a:ext cx="9353550" cy="2095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第</a:t>
            </a: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 10 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章</a:t>
            </a: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 · MVC f_mvc · 10.7 / 10.8</a:t>
            </a:r>
            <a:endParaRPr lang="en-US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222" name="文本框 2221" descr="{&quot;isTemplate&quot;:true,&quot;type&quot;:&quot;text&quot;}"/>
          <p:cNvSpPr txBox="1"/>
          <p:nvPr/>
        </p:nvSpPr>
        <p:spPr>
          <a:xfrm>
            <a:off x="819150" y="514350"/>
            <a:ext cx="9353550" cy="5143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2550" b="1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重定向与当前请求上下文</a:t>
            </a:r>
            <a:endParaRPr lang="zh-CN" sz="2550" b="1">
              <a:solidFill>
                <a:srgbClr val="E2E8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223" name="文本框 2222" descr="{&quot;isTemplate&quot;:true,&quot;type&quot;:&quot;text&quot;}"/>
          <p:cNvSpPr txBox="1"/>
          <p:nvPr/>
        </p:nvSpPr>
        <p:spPr>
          <a:xfrm>
            <a:off x="10344150" y="590550"/>
            <a:ext cx="1238250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线程级，不是全局变量</a:t>
            </a:r>
            <a:endParaRPr lang="zh-CN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224" name="圆角矩形 2223"/>
          <p:cNvSpPr/>
          <p:nvPr/>
        </p:nvSpPr>
        <p:spPr>
          <a:xfrm>
            <a:off x="609600" y="1143000"/>
            <a:ext cx="5410200" cy="5143500"/>
          </a:xfrm>
          <a:prstGeom prst="roundRect">
            <a:avLst>
              <a:gd name="adj" fmla="val 2222"/>
            </a:avLst>
          </a:prstGeom>
          <a:solidFill>
            <a:srgbClr val="111C2E"/>
          </a:solidFill>
          <a:ln w="12700">
            <a:solidFill>
              <a:srgbClr val="38BDF8"/>
            </a:solidFill>
            <a:prstDash val="solid"/>
          </a:ln>
        </p:spPr>
        <p:txBody>
          <a:bodyPr/>
          <a:p/>
        </p:txBody>
      </p:sp>
      <p:sp>
        <p:nvSpPr>
          <p:cNvPr id="2225" name="文本框 2224" descr="{&quot;isTemplate&quot;:true,&quot;type&quot;:&quot;text&quot;}"/>
          <p:cNvSpPr txBox="1"/>
          <p:nvPr/>
        </p:nvSpPr>
        <p:spPr>
          <a:xfrm>
            <a:off x="819150" y="1352550"/>
            <a:ext cx="4991100" cy="2286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38BDF8"/>
                </a:solidFill>
                <a:latin typeface="微软雅黑" panose="020B0503020204020204" charset="-122"/>
                <a:ea typeface="微软雅黑" panose="020B0503020204020204" charset="-122"/>
              </a:rPr>
              <a:t>重定向</a:t>
            </a:r>
            <a:endParaRPr lang="zh-CN" sz="1500" b="1">
              <a:solidFill>
                <a:srgbClr val="38BDF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226" name="文本框 2225" descr="{&quot;isTemplate&quot;:true,&quot;type&quot;:&quot;text&quot;}"/>
          <p:cNvSpPr txBox="1"/>
          <p:nvPr/>
        </p:nvSpPr>
        <p:spPr>
          <a:xfrm>
            <a:off x="819150" y="1638300"/>
            <a:ext cx="4991100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三个入口函数</a:t>
            </a:r>
            <a:endParaRPr lang="zh-CN" sz="105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227" name="圆角矩形 2226"/>
          <p:cNvSpPr/>
          <p:nvPr/>
        </p:nvSpPr>
        <p:spPr>
          <a:xfrm>
            <a:off x="819150" y="1952625"/>
            <a:ext cx="4991100" cy="981075"/>
          </a:xfrm>
          <a:prstGeom prst="roundRect">
            <a:avLst>
              <a:gd name="adj" fmla="val 7767"/>
            </a:avLst>
          </a:prstGeom>
          <a:solidFill>
            <a:srgbClr val="0B1220"/>
          </a:solidFill>
          <a:ln w="12700">
            <a:solidFill>
              <a:srgbClr val="1E293B"/>
            </a:solidFill>
            <a:prstDash val="solid"/>
          </a:ln>
        </p:spPr>
        <p:txBody>
          <a:bodyPr/>
          <a:p/>
        </p:txBody>
      </p:sp>
      <p:sp>
        <p:nvSpPr>
          <p:cNvPr id="2228" name="文本框 2227" descr="{&quot;isTemplate&quot;:true,&quot;type&quot;:&quot;text&quot;}"/>
          <p:cNvSpPr txBox="1"/>
          <p:nvPr/>
        </p:nvSpPr>
        <p:spPr>
          <a:xfrm>
            <a:off x="952500" y="2085975"/>
            <a:ext cx="4724400" cy="2381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en-US" sz="900">
                <a:solidFill>
                  <a:srgbClr val="38BDF8"/>
                </a:solidFill>
                <a:latin typeface="JetBrains Mono"/>
                <a:ea typeface="JetBrains Mono"/>
              </a:rPr>
              <a:t>Redirect.found('/helloworld')              // 302</a:t>
            </a:r>
            <a:endParaRPr lang="en-US" sz="900">
              <a:solidFill>
                <a:srgbClr val="38BDF8"/>
              </a:solidFill>
              <a:latin typeface="JetBrains Mono"/>
              <a:ea typeface="JetBrains Mono"/>
            </a:endParaRPr>
          </a:p>
        </p:txBody>
      </p:sp>
      <p:sp>
        <p:nvSpPr>
          <p:cNvPr id="2229" name="文本框 2228" descr="{&quot;isTemplate&quot;:true,&quot;type&quot;:&quot;text&quot;}"/>
          <p:cNvSpPr txBox="1"/>
          <p:nvPr/>
        </p:nvSpPr>
        <p:spPr>
          <a:xfrm>
            <a:off x="952500" y="2324100"/>
            <a:ext cx="4724400" cy="2381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en-US" sz="900">
                <a:solidFill>
                  <a:srgbClr val="E2E8F0"/>
                </a:solidFill>
                <a:latin typeface="JetBrains Mono"/>
                <a:ea typeface="JetBrains Mono"/>
              </a:rPr>
              <a:t>Redirect.permanently('/x', retain: true)   // false→301 / true→308</a:t>
            </a:r>
            <a:endParaRPr lang="en-US" sz="900">
              <a:solidFill>
                <a:srgbClr val="E2E8F0"/>
              </a:solidFill>
              <a:latin typeface="JetBrains Mono"/>
              <a:ea typeface="JetBrains Mono"/>
            </a:endParaRPr>
          </a:p>
        </p:txBody>
      </p:sp>
      <p:sp>
        <p:nvSpPr>
          <p:cNvPr id="2230" name="文本框 2229" descr="{&quot;isTemplate&quot;:true,&quot;type&quot;:&quot;text&quot;}"/>
          <p:cNvSpPr txBox="1"/>
          <p:nvPr/>
        </p:nvSpPr>
        <p:spPr>
          <a:xfrm>
            <a:off x="952500" y="2562225"/>
            <a:ext cx="4724400" cy="2381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en-US" sz="900">
                <a:solidFill>
                  <a:srgbClr val="E2E8F0"/>
                </a:solidFill>
                <a:latin typeface="JetBrains Mono"/>
                <a:ea typeface="JetBrains Mono"/>
              </a:rPr>
              <a:t>Redirect.temporarily('/x', retain: true)   // false→302 / true→307</a:t>
            </a:r>
            <a:endParaRPr lang="en-US" sz="900">
              <a:solidFill>
                <a:srgbClr val="E2E8F0"/>
              </a:solidFill>
              <a:latin typeface="JetBrains Mono"/>
              <a:ea typeface="JetBrains Mono"/>
            </a:endParaRPr>
          </a:p>
        </p:txBody>
      </p:sp>
      <p:sp>
        <p:nvSpPr>
          <p:cNvPr id="2231" name="文本框 2230" descr="{&quot;isTemplate&quot;:true,&quot;type&quot;:&quot;text&quot;}"/>
          <p:cNvSpPr txBox="1"/>
          <p:nvPr/>
        </p:nvSpPr>
        <p:spPr>
          <a:xfrm>
            <a:off x="819150" y="3086100"/>
            <a:ext cx="4991100" cy="561975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75000"/>
              </a:lnSpc>
            </a:pPr>
            <a:r>
              <a:rPr lang="en-US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retain </a:t>
            </a:r>
            <a:r>
              <a:rPr lang="zh-CN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决定是否保留请求方法与请求体：</a:t>
            </a:r>
            <a:r>
              <a:rPr lang="en-US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307 / 308 </a:t>
            </a:r>
            <a:r>
              <a:rPr lang="zh-CN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明确保留，</a:t>
            </a:r>
            <a:r>
              <a:rPr lang="en-US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301 / 302 </a:t>
            </a:r>
            <a:r>
              <a:rPr lang="zh-CN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历史上可能被改成</a:t>
            </a:r>
            <a:r>
              <a:rPr lang="en-US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GET</a:t>
            </a:r>
            <a:r>
              <a:rPr lang="zh-CN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。</a:t>
            </a:r>
            <a:endParaRPr lang="zh-CN" sz="1050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232" name="文本框 2231" descr="{&quot;isTemplate&quot;:true,&quot;type&quot;:&quot;text&quot;}"/>
          <p:cNvSpPr txBox="1"/>
          <p:nvPr/>
        </p:nvSpPr>
        <p:spPr>
          <a:xfrm>
            <a:off x="819150" y="5791200"/>
            <a:ext cx="4991100" cy="2857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5000"/>
              </a:lnSpc>
            </a:pPr>
            <a:r>
              <a:rPr lang="zh-CN" sz="1050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演示：</a:t>
            </a:r>
            <a:r>
              <a:rPr lang="en-US" sz="1050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curl -i .../redirect/helloworld </a:t>
            </a:r>
            <a:r>
              <a:rPr lang="zh-CN" sz="1050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得到</a:t>
            </a:r>
            <a:r>
              <a:rPr lang="en-US" sz="1050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 302 </a:t>
            </a:r>
            <a:r>
              <a:rPr lang="zh-CN" sz="1050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与</a:t>
            </a:r>
            <a:r>
              <a:rPr lang="en-US" sz="1050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 Location</a:t>
            </a:r>
            <a:r>
              <a:rPr lang="zh-CN" sz="1050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。</a:t>
            </a:r>
            <a:endParaRPr lang="zh-CN" sz="1050">
              <a:solidFill>
                <a:srgbClr val="F59E0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233" name="圆角矩形 2232"/>
          <p:cNvSpPr/>
          <p:nvPr/>
        </p:nvSpPr>
        <p:spPr>
          <a:xfrm>
            <a:off x="6172200" y="1143000"/>
            <a:ext cx="5410200" cy="5143500"/>
          </a:xfrm>
          <a:prstGeom prst="roundRect">
            <a:avLst>
              <a:gd name="adj" fmla="val 2222"/>
            </a:avLst>
          </a:prstGeom>
          <a:solidFill>
            <a:srgbClr val="111C2E"/>
          </a:solidFill>
          <a:ln w="12700">
            <a:solidFill>
              <a:srgbClr val="1E293B"/>
            </a:solidFill>
            <a:prstDash val="solid"/>
          </a:ln>
        </p:spPr>
        <p:txBody>
          <a:bodyPr/>
          <a:p/>
        </p:txBody>
      </p:sp>
      <p:sp>
        <p:nvSpPr>
          <p:cNvPr id="2234" name="文本框 2233" descr="{&quot;isTemplate&quot;:true,&quot;type&quot;:&quot;text&quot;}"/>
          <p:cNvSpPr txBox="1"/>
          <p:nvPr/>
        </p:nvSpPr>
        <p:spPr>
          <a:xfrm>
            <a:off x="6381750" y="1352550"/>
            <a:ext cx="4991100" cy="2286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当前请求上下文</a:t>
            </a:r>
            <a:endParaRPr lang="zh-CN" sz="1500" b="1">
              <a:solidFill>
                <a:srgbClr val="E2E8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235" name="文本框 2234" descr="{&quot;isTemplate&quot;:true,&quot;type&quot;:&quot;text&quot;}"/>
          <p:cNvSpPr txBox="1"/>
          <p:nvPr/>
        </p:nvSpPr>
        <p:spPr>
          <a:xfrm>
            <a:off x="6381750" y="1638300"/>
            <a:ext cx="4991100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一行拿到</a:t>
            </a:r>
            <a:r>
              <a:rPr lang="en-US" sz="105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 HttpContext</a:t>
            </a:r>
            <a:endParaRPr lang="en-US" sz="105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236" name="圆角矩形 2235"/>
          <p:cNvSpPr/>
          <p:nvPr/>
        </p:nvSpPr>
        <p:spPr>
          <a:xfrm>
            <a:off x="6381750" y="1952625"/>
            <a:ext cx="4991100" cy="742950"/>
          </a:xfrm>
          <a:prstGeom prst="roundRect">
            <a:avLst>
              <a:gd name="adj" fmla="val 10256"/>
            </a:avLst>
          </a:prstGeom>
          <a:solidFill>
            <a:srgbClr val="0B1220"/>
          </a:solidFill>
          <a:ln w="12700">
            <a:solidFill>
              <a:srgbClr val="1E293B"/>
            </a:solidFill>
            <a:prstDash val="solid"/>
          </a:ln>
        </p:spPr>
        <p:txBody>
          <a:bodyPr/>
          <a:p/>
        </p:txBody>
      </p:sp>
      <p:sp>
        <p:nvSpPr>
          <p:cNvPr id="2237" name="文本框 2236" descr="{&quot;isTemplate&quot;:true,&quot;type&quot;:&quot;text&quot;}"/>
          <p:cNvSpPr txBox="1"/>
          <p:nvPr/>
        </p:nvSpPr>
        <p:spPr>
          <a:xfrm>
            <a:off x="6515100" y="2085975"/>
            <a:ext cx="4724400" cy="2381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en-US" sz="900">
                <a:solidFill>
                  <a:srgbClr val="E2E8F0"/>
                </a:solidFill>
                <a:latin typeface="JetBrains Mono"/>
                <a:ea typeface="JetBrains Mono"/>
              </a:rPr>
              <a:t>import fountain::f_mvc.CurrentHttpContext</a:t>
            </a:r>
            <a:endParaRPr lang="en-US" sz="900">
              <a:solidFill>
                <a:srgbClr val="E2E8F0"/>
              </a:solidFill>
              <a:latin typeface="JetBrains Mono"/>
              <a:ea typeface="JetBrains Mono"/>
            </a:endParaRPr>
          </a:p>
        </p:txBody>
      </p:sp>
      <p:sp>
        <p:nvSpPr>
          <p:cNvPr id="2238" name="文本框 2237" descr="{&quot;isTemplate&quot;:true,&quot;type&quot;:&quot;text&quot;}"/>
          <p:cNvSpPr txBox="1"/>
          <p:nvPr/>
        </p:nvSpPr>
        <p:spPr>
          <a:xfrm>
            <a:off x="6515100" y="2324100"/>
            <a:ext cx="4724400" cy="2381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en-US" sz="900">
                <a:solidFill>
                  <a:srgbClr val="38BDF8"/>
                </a:solidFill>
                <a:latin typeface="JetBrains Mono"/>
                <a:ea typeface="JetBrains Mono"/>
              </a:rPr>
              <a:t>let ctx = CurrentHttpContext.instance</a:t>
            </a:r>
            <a:endParaRPr lang="en-US" sz="900">
              <a:solidFill>
                <a:srgbClr val="38BDF8"/>
              </a:solidFill>
              <a:latin typeface="JetBrains Mono"/>
              <a:ea typeface="JetBrains Mono"/>
            </a:endParaRPr>
          </a:p>
        </p:txBody>
      </p:sp>
      <p:sp>
        <p:nvSpPr>
          <p:cNvPr id="2239" name="文本框 2238" descr="{&quot;isTemplate&quot;:true,&quot;type&quot;:&quot;text&quot;}"/>
          <p:cNvSpPr txBox="1"/>
          <p:nvPr/>
        </p:nvSpPr>
        <p:spPr>
          <a:xfrm>
            <a:off x="6381750" y="2847975"/>
            <a:ext cx="4991100" cy="2857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5000"/>
              </a:lnSpc>
            </a:pPr>
            <a:r>
              <a:rPr lang="zh-CN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返回「当前线程正在处理」的</a:t>
            </a:r>
            <a:r>
              <a:rPr lang="en-US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HttpContext —— </a:t>
            </a:r>
            <a:r>
              <a:rPr lang="zh-CN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是线程级的，不是全局变量。</a:t>
            </a:r>
            <a:endParaRPr lang="zh-CN" sz="1050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240" name="文本框 2239" descr="{&quot;isTemplate&quot;:true,&quot;type&quot;:&quot;text&quot;}"/>
          <p:cNvSpPr txBox="1"/>
          <p:nvPr/>
        </p:nvSpPr>
        <p:spPr>
          <a:xfrm>
            <a:off x="6381750" y="3228975"/>
            <a:ext cx="4991100" cy="2857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5000"/>
              </a:lnSpc>
            </a:pPr>
            <a:r>
              <a:rPr lang="zh-CN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任何深度的调用栈里都能拿到当前请求，不用一层层往下传。</a:t>
            </a:r>
            <a:endParaRPr lang="zh-CN" sz="1050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241" name="文本框 2240" descr="{&quot;isTemplate&quot;:true,&quot;type&quot;:&quot;text&quot;}"/>
          <p:cNvSpPr txBox="1"/>
          <p:nvPr/>
        </p:nvSpPr>
        <p:spPr>
          <a:xfrm>
            <a:off x="6381750" y="5514975"/>
            <a:ext cx="4991100" cy="561975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75000"/>
              </a:lnSpc>
            </a:pPr>
            <a:r>
              <a:rPr lang="zh-CN" sz="1050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这是</a:t>
            </a:r>
            <a:r>
              <a:rPr lang="en-US" sz="1050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 f_security </a:t>
            </a:r>
            <a:r>
              <a:rPr lang="zh-CN" sz="1050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能在</a:t>
            </a:r>
            <a:r>
              <a:rPr lang="en-US" sz="1050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 Service / Util </a:t>
            </a:r>
            <a:r>
              <a:rPr lang="zh-CN" sz="1050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层做鉴权的关键（见第十三章</a:t>
            </a:r>
            <a:r>
              <a:rPr lang="en-US" sz="1050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 UserSessionCache.verify()</a:t>
            </a:r>
            <a:r>
              <a:rPr lang="zh-CN" sz="1050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）。</a:t>
            </a:r>
            <a:endParaRPr lang="zh-CN" sz="1050">
              <a:solidFill>
                <a:srgbClr val="F59E0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242" name="任意多边形 2241"/>
          <p:cNvSpPr/>
          <p:nvPr/>
        </p:nvSpPr>
        <p:spPr>
          <a:xfrm>
            <a:off x="609600" y="6286500"/>
            <a:ext cx="10972800" cy="381000"/>
          </a:xfrm>
          <a:custGeom>
            <a:avLst/>
            <a:gdLst/>
            <a:ahLst/>
            <a:cxnLst/>
            <a:pathLst>
              <a:path w="1152" h="40">
                <a:moveTo>
                  <a:pt x="0" y="0"/>
                </a:moveTo>
                <a:lnTo>
                  <a:pt x="1152" y="0"/>
                </a:lnTo>
                <a:lnTo>
                  <a:pt x="1152" y="1"/>
                </a:lnTo>
                <a:lnTo>
                  <a:pt x="0" y="1"/>
                </a:lnTo>
                <a:close/>
              </a:path>
            </a:pathLst>
          </a:custGeom>
          <a:solidFill>
            <a:srgbClr val="1E293B"/>
          </a:solidFill>
        </p:spPr>
        <p:txBody>
          <a:bodyPr/>
          <a:p/>
        </p:txBody>
      </p:sp>
      <p:sp>
        <p:nvSpPr>
          <p:cNvPr id="2243" name="文本框 2242" descr="{&quot;isTemplate&quot;:true,&quot;type&quot;:&quot;text&quot;}"/>
          <p:cNvSpPr txBox="1"/>
          <p:nvPr/>
        </p:nvSpPr>
        <p:spPr>
          <a:xfrm>
            <a:off x="609600" y="6410325"/>
            <a:ext cx="2219325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fountain · 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一站式服务器应用开发工具库</a:t>
            </a:r>
            <a:endParaRPr lang="zh-CN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244" name="文本框 2243" descr="{&quot;isTemplate&quot;:true,&quot;type&quot;:&quot;text&quot;}"/>
          <p:cNvSpPr txBox="1"/>
          <p:nvPr/>
        </p:nvSpPr>
        <p:spPr>
          <a:xfrm>
            <a:off x="11087100" y="6410325"/>
            <a:ext cx="495300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68 / 116</a:t>
            </a:r>
            <a:endParaRPr lang="en-US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24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6" name="矩形 2245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220"/>
          </a:solidFill>
        </p:spPr>
        <p:txBody>
          <a:bodyPr/>
          <a:p/>
        </p:txBody>
      </p:sp>
      <p:sp>
        <p:nvSpPr>
          <p:cNvPr id="2247" name="矩形 2246"/>
          <p:cNvSpPr/>
          <p:nvPr/>
        </p:nvSpPr>
        <p:spPr>
          <a:xfrm>
            <a:off x="609600" y="476250"/>
            <a:ext cx="38100" cy="381000"/>
          </a:xfrm>
          <a:prstGeom prst="rect">
            <a:avLst/>
          </a:prstGeom>
          <a:solidFill>
            <a:srgbClr val="38BDF8"/>
          </a:solidFill>
        </p:spPr>
        <p:txBody>
          <a:bodyPr/>
          <a:p/>
        </p:txBody>
      </p:sp>
      <p:sp>
        <p:nvSpPr>
          <p:cNvPr id="2248" name="文本框 2247" descr="{&quot;isTemplate&quot;:true,&quot;type&quot;:&quot;text&quot;}"/>
          <p:cNvSpPr txBox="1"/>
          <p:nvPr/>
        </p:nvSpPr>
        <p:spPr>
          <a:xfrm>
            <a:off x="819150" y="304800"/>
            <a:ext cx="8601075" cy="2095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第</a:t>
            </a: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 10 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章</a:t>
            </a: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 · MVC f_mvc · 10.9</a:t>
            </a:r>
            <a:endParaRPr lang="en-US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249" name="文本框 2248" descr="{&quot;isTemplate&quot;:true,&quot;type&quot;:&quot;text&quot;}"/>
          <p:cNvSpPr txBox="1"/>
          <p:nvPr/>
        </p:nvSpPr>
        <p:spPr>
          <a:xfrm>
            <a:off x="819150" y="514350"/>
            <a:ext cx="8601075" cy="5143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2550" b="1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自定义数据格式（</a:t>
            </a:r>
            <a:r>
              <a:rPr lang="en-US" sz="2550" b="1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MediaType</a:t>
            </a:r>
            <a:r>
              <a:rPr lang="zh-CN" sz="2550" b="1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）</a:t>
            </a:r>
            <a:endParaRPr lang="zh-CN" sz="2550" b="1">
              <a:solidFill>
                <a:srgbClr val="E2E8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250" name="文本框 2249" descr="{&quot;isTemplate&quot;:true,&quot;type&quot;:&quot;text&quot;}"/>
          <p:cNvSpPr txBox="1"/>
          <p:nvPr/>
        </p:nvSpPr>
        <p:spPr>
          <a:xfrm>
            <a:off x="9591675" y="590550"/>
            <a:ext cx="1990725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fdemo/boot/src/LogMediaType.cj</a:t>
            </a:r>
            <a:endParaRPr lang="en-US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251" name="圆角矩形 2250"/>
          <p:cNvSpPr/>
          <p:nvPr/>
        </p:nvSpPr>
        <p:spPr>
          <a:xfrm>
            <a:off x="609600" y="1143000"/>
            <a:ext cx="6781800" cy="5143500"/>
          </a:xfrm>
          <a:prstGeom prst="roundRect">
            <a:avLst>
              <a:gd name="adj" fmla="val 2222"/>
            </a:avLst>
          </a:prstGeom>
          <a:solidFill>
            <a:srgbClr val="0B1220"/>
          </a:solidFill>
          <a:ln w="12700">
            <a:solidFill>
              <a:srgbClr val="1E293B"/>
            </a:solidFill>
            <a:prstDash val="solid"/>
          </a:ln>
        </p:spPr>
        <p:txBody>
          <a:bodyPr/>
          <a:p/>
        </p:txBody>
      </p:sp>
      <p:sp>
        <p:nvSpPr>
          <p:cNvPr id="2252" name="文本框 2251" descr="{&quot;isTemplate&quot;:true,&quot;type&quot;:&quot;text&quot;}"/>
          <p:cNvSpPr txBox="1"/>
          <p:nvPr/>
        </p:nvSpPr>
        <p:spPr>
          <a:xfrm>
            <a:off x="781050" y="1314450"/>
            <a:ext cx="6438900" cy="2286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en-US" sz="900">
                <a:solidFill>
                  <a:srgbClr val="E2E8F0"/>
                </a:solidFill>
                <a:latin typeface="JetBrains Mono"/>
                <a:ea typeface="JetBrains Mono"/>
              </a:rPr>
              <a:t>@Bean</a:t>
            </a:r>
            <a:endParaRPr lang="en-US" sz="900">
              <a:solidFill>
                <a:srgbClr val="E2E8F0"/>
              </a:solidFill>
              <a:latin typeface="JetBrains Mono"/>
              <a:ea typeface="JetBrains Mono"/>
            </a:endParaRPr>
          </a:p>
        </p:txBody>
      </p:sp>
      <p:sp>
        <p:nvSpPr>
          <p:cNvPr id="2253" name="文本框 2252" descr="{&quot;isTemplate&quot;:true,&quot;type&quot;:&quot;text&quot;}"/>
          <p:cNvSpPr txBox="1"/>
          <p:nvPr/>
        </p:nvSpPr>
        <p:spPr>
          <a:xfrm>
            <a:off x="781050" y="1543050"/>
            <a:ext cx="6438900" cy="2286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en-US" sz="900">
                <a:solidFill>
                  <a:srgbClr val="E2E8F0"/>
                </a:solidFill>
                <a:latin typeface="JetBrains Mono"/>
                <a:ea typeface="JetBrains Mono"/>
              </a:rPr>
              <a:t>public class LogTextMediaType &lt;: MediaType {</a:t>
            </a:r>
            <a:endParaRPr lang="en-US" sz="900">
              <a:solidFill>
                <a:srgbClr val="E2E8F0"/>
              </a:solidFill>
              <a:latin typeface="JetBrains Mono"/>
              <a:ea typeface="JetBrains Mono"/>
            </a:endParaRPr>
          </a:p>
        </p:txBody>
      </p:sp>
      <p:sp>
        <p:nvSpPr>
          <p:cNvPr id="2254" name="文本框 2253" descr="{&quot;isTemplate&quot;:true,&quot;type&quot;:&quot;text&quot;}"/>
          <p:cNvSpPr txBox="1"/>
          <p:nvPr/>
        </p:nvSpPr>
        <p:spPr>
          <a:xfrm>
            <a:off x="781050" y="1771650"/>
            <a:ext cx="6438900" cy="2286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en-US" sz="900">
                <a:solidFill>
                  <a:srgbClr val="E2E8F0"/>
                </a:solidFill>
                <a:latin typeface="JetBrains Mono"/>
                <a:ea typeface="JetBrains Mono"/>
              </a:rPr>
              <a:t>    public init() { super('application/json+log') }</a:t>
            </a:r>
            <a:endParaRPr lang="en-US" sz="900">
              <a:solidFill>
                <a:srgbClr val="E2E8F0"/>
              </a:solidFill>
              <a:latin typeface="JetBrains Mono"/>
              <a:ea typeface="JetBrains Mono"/>
            </a:endParaRPr>
          </a:p>
        </p:txBody>
      </p:sp>
      <p:sp>
        <p:nvSpPr>
          <p:cNvPr id="2255" name="文本框 2254" descr="{&quot;isTemplate&quot;:true,&quot;type&quot;:&quot;text&quot;}"/>
          <p:cNvSpPr txBox="1"/>
          <p:nvPr/>
        </p:nvSpPr>
        <p:spPr>
          <a:xfrm>
            <a:off x="781050" y="2000250"/>
            <a:ext cx="6438900" cy="2286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en-US" sz="900">
                <a:solidFill>
                  <a:srgbClr val="38BDF8"/>
                </a:solidFill>
                <a:latin typeface="JetBrains Mono"/>
                <a:ea typeface="JetBrains Mono"/>
              </a:rPr>
              <a:t>    public func make(mediaType: String): MediaType { this }</a:t>
            </a:r>
            <a:endParaRPr lang="en-US" sz="900">
              <a:solidFill>
                <a:srgbClr val="38BDF8"/>
              </a:solidFill>
              <a:latin typeface="JetBrains Mono"/>
              <a:ea typeface="JetBrains Mono"/>
            </a:endParaRPr>
          </a:p>
        </p:txBody>
      </p:sp>
      <p:sp>
        <p:nvSpPr>
          <p:cNvPr id="2256" name="文本框 2255" descr="{&quot;isTemplate&quot;:true,&quot;type&quot;:&quot;text&quot;}"/>
          <p:cNvSpPr txBox="1"/>
          <p:nvPr/>
        </p:nvSpPr>
        <p:spPr>
          <a:xfrm>
            <a:off x="781050" y="2228850"/>
            <a:ext cx="6438900" cy="2286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en-US" sz="900">
                <a:solidFill>
                  <a:srgbClr val="38BDF8"/>
                </a:solidFill>
                <a:latin typeface="JetBrains Mono"/>
                <a:ea typeface="JetBrains Mono"/>
              </a:rPr>
              <a:t>    public func toString() { mediaType }</a:t>
            </a:r>
            <a:endParaRPr lang="en-US" sz="900">
              <a:solidFill>
                <a:srgbClr val="38BDF8"/>
              </a:solidFill>
              <a:latin typeface="JetBrains Mono"/>
              <a:ea typeface="JetBrains Mono"/>
            </a:endParaRPr>
          </a:p>
        </p:txBody>
      </p:sp>
      <p:sp>
        <p:nvSpPr>
          <p:cNvPr id="2257" name="文本框 2256" descr="{&quot;isTemplate&quot;:true,&quot;type&quot;:&quot;text&quot;}"/>
          <p:cNvSpPr txBox="1"/>
          <p:nvPr/>
        </p:nvSpPr>
        <p:spPr>
          <a:xfrm>
            <a:off x="781050" y="2457450"/>
            <a:ext cx="6438900" cy="2286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en-US" sz="900">
                <a:solidFill>
                  <a:srgbClr val="E2E8F0"/>
                </a:solidFill>
                <a:latin typeface="JetBrains Mono"/>
                <a:ea typeface="JetBrains Mono"/>
              </a:rPr>
              <a:t>    public operator func ==(other: MediaType) { ... }    // </a:t>
            </a:r>
            <a:r>
              <a:rPr lang="zh-CN" sz="900">
                <a:solidFill>
                  <a:srgbClr val="E2E8F0"/>
                </a:solidFill>
                <a:latin typeface="JetBrains Mono"/>
                <a:ea typeface="JetBrains Mono"/>
              </a:rPr>
              <a:t>必须实现</a:t>
            </a:r>
            <a:endParaRPr lang="zh-CN" sz="900">
              <a:solidFill>
                <a:srgbClr val="E2E8F0"/>
              </a:solidFill>
              <a:latin typeface="JetBrains Mono"/>
              <a:ea typeface="JetBrains Mono"/>
            </a:endParaRPr>
          </a:p>
        </p:txBody>
      </p:sp>
      <p:sp>
        <p:nvSpPr>
          <p:cNvPr id="2258" name="文本框 2257" descr="{&quot;isTemplate&quot;:true,&quot;type&quot;:&quot;text&quot;}"/>
          <p:cNvSpPr txBox="1"/>
          <p:nvPr/>
        </p:nvSpPr>
        <p:spPr>
          <a:xfrm>
            <a:off x="781050" y="2686050"/>
            <a:ext cx="6438900" cy="2286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en-US" sz="900">
                <a:solidFill>
                  <a:srgbClr val="E2E8F0"/>
                </a:solidFill>
                <a:latin typeface="JetBrains Mono"/>
                <a:ea typeface="JetBrains Mono"/>
              </a:rPr>
              <a:t>    public func hashCode(): Int64 { ... }                // </a:t>
            </a:r>
            <a:r>
              <a:rPr lang="zh-CN" sz="900">
                <a:solidFill>
                  <a:srgbClr val="E2E8F0"/>
                </a:solidFill>
                <a:latin typeface="JetBrains Mono"/>
                <a:ea typeface="JetBrains Mono"/>
              </a:rPr>
              <a:t>必须实现</a:t>
            </a:r>
            <a:endParaRPr lang="zh-CN" sz="900">
              <a:solidFill>
                <a:srgbClr val="E2E8F0"/>
              </a:solidFill>
              <a:latin typeface="JetBrains Mono"/>
              <a:ea typeface="JetBrains Mono"/>
            </a:endParaRPr>
          </a:p>
        </p:txBody>
      </p:sp>
      <p:sp>
        <p:nvSpPr>
          <p:cNvPr id="2259" name="文本框 2258" descr="{&quot;isTemplate&quot;:true,&quot;type&quot;:&quot;text&quot;}"/>
          <p:cNvSpPr txBox="1"/>
          <p:nvPr/>
        </p:nvSpPr>
        <p:spPr>
          <a:xfrm>
            <a:off x="781050" y="2990850"/>
            <a:ext cx="6438900" cy="2286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en-US" sz="900">
                <a:solidFill>
                  <a:srgbClr val="F59E0B"/>
                </a:solidFill>
                <a:latin typeface="JetBrains Mono"/>
                <a:ea typeface="JetBrains Mono"/>
              </a:rPr>
              <a:t>    public func fromData(data: Data): Array&lt;Byte&gt; { fromData(JsonValue.from(data)) }</a:t>
            </a:r>
            <a:endParaRPr lang="en-US" sz="900">
              <a:solidFill>
                <a:srgbClr val="F59E0B"/>
              </a:solidFill>
              <a:latin typeface="JetBrains Mono"/>
              <a:ea typeface="JetBrains Mono"/>
            </a:endParaRPr>
          </a:p>
        </p:txBody>
      </p:sp>
      <p:sp>
        <p:nvSpPr>
          <p:cNvPr id="2260" name="文本框 2259" descr="{&quot;isTemplate&quot;:true,&quot;type&quot;:&quot;text&quot;}"/>
          <p:cNvSpPr txBox="1"/>
          <p:nvPr/>
        </p:nvSpPr>
        <p:spPr>
          <a:xfrm>
            <a:off x="781050" y="3219450"/>
            <a:ext cx="6438900" cy="2286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en-US" sz="900">
                <a:solidFill>
                  <a:srgbClr val="F59E0B"/>
                </a:solidFill>
                <a:latin typeface="JetBrains Mono"/>
                <a:ea typeface="JetBrains Mono"/>
              </a:rPr>
              <a:t>    public func fromData(data: JsonValue): Array&lt;Byte&gt; {</a:t>
            </a:r>
            <a:endParaRPr lang="en-US" sz="900">
              <a:solidFill>
                <a:srgbClr val="F59E0B"/>
              </a:solidFill>
              <a:latin typeface="JetBrains Mono"/>
              <a:ea typeface="JetBrains Mono"/>
            </a:endParaRPr>
          </a:p>
        </p:txBody>
      </p:sp>
      <p:sp>
        <p:nvSpPr>
          <p:cNvPr id="2261" name="文本框 2260" descr="{&quot;isTemplate&quot;:true,&quot;type&quot;:&quot;text&quot;}"/>
          <p:cNvSpPr txBox="1"/>
          <p:nvPr/>
        </p:nvSpPr>
        <p:spPr>
          <a:xfrm>
            <a:off x="781050" y="3448050"/>
            <a:ext cx="6438900" cy="2286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en-US" sz="900">
                <a:solidFill>
                  <a:srgbClr val="94A3B8"/>
                </a:solidFill>
                <a:latin typeface="JetBrains Mono"/>
                <a:ea typeface="JetBrains Mono"/>
              </a:rPr>
              <a:t>        let json = data.toString()</a:t>
            </a:r>
            <a:endParaRPr lang="en-US" sz="900">
              <a:solidFill>
                <a:srgbClr val="94A3B8"/>
              </a:solidFill>
              <a:latin typeface="JetBrains Mono"/>
              <a:ea typeface="JetBrains Mono"/>
            </a:endParaRPr>
          </a:p>
        </p:txBody>
      </p:sp>
      <p:sp>
        <p:nvSpPr>
          <p:cNvPr id="2262" name="文本框 2261" descr="{&quot;isTemplate&quot;:true,&quot;type&quot;:&quot;text&quot;}"/>
          <p:cNvSpPr txBox="1"/>
          <p:nvPr/>
        </p:nvSpPr>
        <p:spPr>
          <a:xfrm>
            <a:off x="781050" y="3676650"/>
            <a:ext cx="6438900" cy="2286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en-US" sz="900">
                <a:solidFill>
                  <a:srgbClr val="94A3B8"/>
                </a:solidFill>
                <a:latin typeface="JetBrains Mono"/>
                <a:ea typeface="JetBrains Mono"/>
              </a:rPr>
              <a:t>        log.info{'fromData:${json}'}</a:t>
            </a:r>
            <a:endParaRPr lang="en-US" sz="900">
              <a:solidFill>
                <a:srgbClr val="94A3B8"/>
              </a:solidFill>
              <a:latin typeface="JetBrains Mono"/>
              <a:ea typeface="JetBrains Mono"/>
            </a:endParaRPr>
          </a:p>
        </p:txBody>
      </p:sp>
      <p:sp>
        <p:nvSpPr>
          <p:cNvPr id="2263" name="文本框 2262" descr="{&quot;isTemplate&quot;:true,&quot;type&quot;:&quot;text&quot;}"/>
          <p:cNvSpPr txBox="1"/>
          <p:nvPr/>
        </p:nvSpPr>
        <p:spPr>
          <a:xfrm>
            <a:off x="781050" y="3905250"/>
            <a:ext cx="6438900" cy="2286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en-US" sz="900">
                <a:solidFill>
                  <a:srgbClr val="94A3B8"/>
                </a:solidFill>
                <a:latin typeface="JetBrains Mono"/>
                <a:ea typeface="JetBrains Mono"/>
              </a:rPr>
              <a:t>        json.unsafeBytes()</a:t>
            </a:r>
            <a:endParaRPr lang="en-US" sz="900">
              <a:solidFill>
                <a:srgbClr val="94A3B8"/>
              </a:solidFill>
              <a:latin typeface="JetBrains Mono"/>
              <a:ea typeface="JetBrains Mono"/>
            </a:endParaRPr>
          </a:p>
        </p:txBody>
      </p:sp>
      <p:sp>
        <p:nvSpPr>
          <p:cNvPr id="2264" name="文本框 2263" descr="{&quot;isTemplate&quot;:true,&quot;type&quot;:&quot;text&quot;}"/>
          <p:cNvSpPr txBox="1"/>
          <p:nvPr/>
        </p:nvSpPr>
        <p:spPr>
          <a:xfrm>
            <a:off x="781050" y="4133850"/>
            <a:ext cx="6438900" cy="2286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en-US" sz="900">
                <a:solidFill>
                  <a:srgbClr val="F59E0B"/>
                </a:solidFill>
                <a:latin typeface="JetBrains Mono"/>
                <a:ea typeface="JetBrains Mono"/>
              </a:rPr>
              <a:t>    }</a:t>
            </a:r>
            <a:endParaRPr lang="en-US" sz="900">
              <a:solidFill>
                <a:srgbClr val="F59E0B"/>
              </a:solidFill>
              <a:latin typeface="JetBrains Mono"/>
              <a:ea typeface="JetBrains Mono"/>
            </a:endParaRPr>
          </a:p>
        </p:txBody>
      </p:sp>
      <p:sp>
        <p:nvSpPr>
          <p:cNvPr id="2265" name="文本框 2264" descr="{&quot;isTemplate&quot;:true,&quot;type&quot;:&quot;text&quot;}"/>
          <p:cNvSpPr txBox="1"/>
          <p:nvPr/>
        </p:nvSpPr>
        <p:spPr>
          <a:xfrm>
            <a:off x="781050" y="4362450"/>
            <a:ext cx="6438900" cy="2286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en-US" sz="900">
                <a:solidFill>
                  <a:srgbClr val="F59E0B"/>
                </a:solidFill>
                <a:latin typeface="JetBrains Mono"/>
                <a:ea typeface="JetBrains Mono"/>
              </a:rPr>
              <a:t>    public func toData(data: Array&lt;Byte&gt;): Data { toData(String.fromUtf8(data)) }</a:t>
            </a:r>
            <a:endParaRPr lang="en-US" sz="900">
              <a:solidFill>
                <a:srgbClr val="F59E0B"/>
              </a:solidFill>
              <a:latin typeface="JetBrains Mono"/>
              <a:ea typeface="JetBrains Mono"/>
            </a:endParaRPr>
          </a:p>
        </p:txBody>
      </p:sp>
      <p:sp>
        <p:nvSpPr>
          <p:cNvPr id="2266" name="文本框 2265" descr="{&quot;isTemplate&quot;:true,&quot;type&quot;:&quot;text&quot;}"/>
          <p:cNvSpPr txBox="1"/>
          <p:nvPr/>
        </p:nvSpPr>
        <p:spPr>
          <a:xfrm>
            <a:off x="781050" y="4591050"/>
            <a:ext cx="6438900" cy="2286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en-US" sz="900">
                <a:solidFill>
                  <a:srgbClr val="F59E0B"/>
                </a:solidFill>
                <a:latin typeface="JetBrains Mono"/>
                <a:ea typeface="JetBrains Mono"/>
              </a:rPr>
              <a:t>    public func toData(data: String): Data { JsonValue.fromStr(data).toData() }</a:t>
            </a:r>
            <a:endParaRPr lang="en-US" sz="900">
              <a:solidFill>
                <a:srgbClr val="F59E0B"/>
              </a:solidFill>
              <a:latin typeface="JetBrains Mono"/>
              <a:ea typeface="JetBrains Mono"/>
            </a:endParaRPr>
          </a:p>
        </p:txBody>
      </p:sp>
      <p:sp>
        <p:nvSpPr>
          <p:cNvPr id="2267" name="文本框 2266" descr="{&quot;isTemplate&quot;:true,&quot;type&quot;:&quot;text&quot;}"/>
          <p:cNvSpPr txBox="1"/>
          <p:nvPr/>
        </p:nvSpPr>
        <p:spPr>
          <a:xfrm>
            <a:off x="781050" y="4819650"/>
            <a:ext cx="6438900" cy="2286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en-US" sz="900">
                <a:solidFill>
                  <a:srgbClr val="E2E8F0"/>
                </a:solidFill>
                <a:latin typeface="JetBrains Mono"/>
                <a:ea typeface="JetBrains Mono"/>
              </a:rPr>
              <a:t>}</a:t>
            </a:r>
            <a:endParaRPr lang="en-US" sz="900">
              <a:solidFill>
                <a:srgbClr val="E2E8F0"/>
              </a:solidFill>
              <a:latin typeface="JetBrains Mono"/>
              <a:ea typeface="JetBrains Mono"/>
            </a:endParaRPr>
          </a:p>
        </p:txBody>
      </p:sp>
      <p:sp>
        <p:nvSpPr>
          <p:cNvPr id="2268" name="圆角矩形 2267"/>
          <p:cNvSpPr/>
          <p:nvPr/>
        </p:nvSpPr>
        <p:spPr>
          <a:xfrm>
            <a:off x="7581900" y="1143000"/>
            <a:ext cx="4000500" cy="3533775"/>
          </a:xfrm>
          <a:prstGeom prst="roundRect">
            <a:avLst>
              <a:gd name="adj" fmla="val 3235"/>
            </a:avLst>
          </a:prstGeom>
          <a:solidFill>
            <a:srgbClr val="111C2E"/>
          </a:solidFill>
          <a:ln w="12700">
            <a:solidFill>
              <a:srgbClr val="38BDF8"/>
            </a:solidFill>
            <a:prstDash val="solid"/>
          </a:ln>
        </p:spPr>
        <p:txBody>
          <a:bodyPr/>
          <a:p/>
        </p:txBody>
      </p:sp>
      <p:sp>
        <p:nvSpPr>
          <p:cNvPr id="2269" name="文本框 2268" descr="{&quot;isTemplate&quot;:true,&quot;type&quot;:&quot;text&quot;}"/>
          <p:cNvSpPr txBox="1"/>
          <p:nvPr/>
        </p:nvSpPr>
        <p:spPr>
          <a:xfrm>
            <a:off x="7772400" y="1333500"/>
            <a:ext cx="3619500" cy="2000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38BDF8"/>
                </a:solidFill>
                <a:latin typeface="微软雅黑" panose="020B0503020204020204" charset="-122"/>
                <a:ea typeface="微软雅黑" panose="020B0503020204020204" charset="-122"/>
              </a:rPr>
              <a:t>协议扩展点</a:t>
            </a:r>
            <a:endParaRPr lang="zh-CN" sz="1275" b="1">
              <a:solidFill>
                <a:srgbClr val="38BDF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270" name="文本框 2269" descr="{&quot;isTemplate&quot;:true,&quot;type&quot;:&quot;text&quot;}"/>
          <p:cNvSpPr txBox="1"/>
          <p:nvPr/>
        </p:nvSpPr>
        <p:spPr>
          <a:xfrm>
            <a:off x="7772400" y="1647825"/>
            <a:ext cx="3619500" cy="561975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75000"/>
              </a:lnSpc>
            </a:pPr>
            <a:r>
              <a:rPr lang="zh-CN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只要把</a:t>
            </a:r>
            <a:r>
              <a:rPr lang="en-US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MediaType </a:t>
            </a:r>
            <a:r>
              <a:rPr lang="zh-CN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的实现注册成</a:t>
            </a:r>
            <a:r>
              <a:rPr lang="en-US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@Bean</a:t>
            </a:r>
            <a:r>
              <a:rPr lang="zh-CN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，</a:t>
            </a:r>
            <a:r>
              <a:rPr lang="en-US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consumes </a:t>
            </a:r>
            <a:r>
              <a:rPr lang="zh-CN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和</a:t>
            </a:r>
            <a:r>
              <a:rPr lang="en-US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produces </a:t>
            </a:r>
            <a:r>
              <a:rPr lang="zh-CN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就可以直接写你的自定义类型。</a:t>
            </a:r>
            <a:endParaRPr lang="zh-CN" sz="1050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271" name="文本框 2270" descr="{&quot;isTemplate&quot;:true,&quot;type&quot;:&quot;text&quot;}"/>
          <p:cNvSpPr txBox="1"/>
          <p:nvPr/>
        </p:nvSpPr>
        <p:spPr>
          <a:xfrm>
            <a:off x="7772400" y="2305050"/>
            <a:ext cx="3619500" cy="2857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5000"/>
              </a:lnSpc>
            </a:pPr>
            <a:r>
              <a:rPr lang="zh-CN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不用改框架，加个</a:t>
            </a:r>
            <a:r>
              <a:rPr lang="en-US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bean </a:t>
            </a:r>
            <a:r>
              <a:rPr lang="zh-CN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就多一种数据格式。</a:t>
            </a:r>
            <a:endParaRPr lang="zh-CN" sz="1050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272" name="文本框 2271" descr="{&quot;isTemplate&quot;:true,&quot;type&quot;:&quot;text&quot;}"/>
          <p:cNvSpPr txBox="1"/>
          <p:nvPr/>
        </p:nvSpPr>
        <p:spPr>
          <a:xfrm>
            <a:off x="7772400" y="4200525"/>
            <a:ext cx="3619500" cy="2857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5000"/>
              </a:lnSpc>
            </a:pPr>
            <a:r>
              <a:rPr lang="zh-CN" sz="1050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所有走</a:t>
            </a:r>
            <a:r>
              <a:rPr lang="en-US" sz="1050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 application/json+log </a:t>
            </a:r>
            <a:r>
              <a:rPr lang="zh-CN" sz="1050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的请求都会先落一条日志。</a:t>
            </a:r>
            <a:endParaRPr lang="zh-CN" sz="1050">
              <a:solidFill>
                <a:srgbClr val="F59E0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273" name="圆角矩形 2272"/>
          <p:cNvSpPr/>
          <p:nvPr/>
        </p:nvSpPr>
        <p:spPr>
          <a:xfrm>
            <a:off x="7581900" y="4810125"/>
            <a:ext cx="4000500" cy="1476375"/>
          </a:xfrm>
          <a:prstGeom prst="roundRect">
            <a:avLst>
              <a:gd name="adj" fmla="val 7742"/>
            </a:avLst>
          </a:prstGeom>
          <a:solidFill>
            <a:srgbClr val="111C2E"/>
          </a:solidFill>
          <a:ln w="12700">
            <a:solidFill>
              <a:srgbClr val="1E293B"/>
            </a:solidFill>
            <a:prstDash val="solid"/>
          </a:ln>
        </p:spPr>
        <p:txBody>
          <a:bodyPr/>
          <a:p/>
        </p:txBody>
      </p:sp>
      <p:sp>
        <p:nvSpPr>
          <p:cNvPr id="2274" name="文本框 2273" descr="{&quot;isTemplate&quot;:true,&quot;type&quot;:&quot;text&quot;}"/>
          <p:cNvSpPr txBox="1"/>
          <p:nvPr/>
        </p:nvSpPr>
        <p:spPr>
          <a:xfrm>
            <a:off x="7772400" y="5000625"/>
            <a:ext cx="3619500" cy="1714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必须实现的六件</a:t>
            </a:r>
            <a:endParaRPr lang="zh-CN" sz="1125" b="1">
              <a:solidFill>
                <a:srgbClr val="E2E8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275" name="文本框 2274" descr="{&quot;isTemplate&quot;:true,&quot;type&quot;:&quot;text&quot;}"/>
          <p:cNvSpPr txBox="1"/>
          <p:nvPr/>
        </p:nvSpPr>
        <p:spPr>
          <a:xfrm>
            <a:off x="7772400" y="5248275"/>
            <a:ext cx="3619500" cy="514350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en-US" sz="97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super(</a:t>
            </a:r>
            <a:r>
              <a:rPr lang="zh-CN" sz="97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格式名</a:t>
            </a:r>
            <a:r>
              <a:rPr lang="en-US" sz="97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)</a:t>
            </a:r>
            <a:r>
              <a:rPr lang="zh-CN" sz="97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　</a:t>
            </a:r>
            <a:r>
              <a:rPr lang="en-US" sz="97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make</a:t>
            </a:r>
            <a:r>
              <a:rPr lang="zh-CN" sz="97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　</a:t>
            </a:r>
            <a:r>
              <a:rPr lang="en-US" sz="97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toString</a:t>
            </a:r>
            <a:r>
              <a:rPr lang="zh-CN" sz="97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　</a:t>
            </a:r>
            <a:r>
              <a:rPr lang="en-US" sz="97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==</a:t>
            </a:r>
            <a:r>
              <a:rPr lang="zh-CN" sz="97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　</a:t>
            </a:r>
            <a:r>
              <a:rPr lang="en-US" sz="97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hashCode</a:t>
            </a:r>
            <a:r>
              <a:rPr lang="zh-CN" sz="97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　</a:t>
            </a:r>
            <a:r>
              <a:rPr lang="en-US" sz="97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fromData + toData</a:t>
            </a:r>
            <a:endParaRPr lang="en-US" sz="975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276" name="文本框 2275" descr="{&quot;isTemplate&quot;:true,&quot;type&quot;:&quot;text&quot;}"/>
          <p:cNvSpPr txBox="1"/>
          <p:nvPr/>
        </p:nvSpPr>
        <p:spPr>
          <a:xfrm>
            <a:off x="7772400" y="5838825"/>
            <a:ext cx="3619500" cy="2571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漏一件就会编译不过或匹配不上（下一章展开完整清单）。</a:t>
            </a:r>
            <a:endParaRPr lang="zh-CN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277" name="任意多边形 2276"/>
          <p:cNvSpPr/>
          <p:nvPr/>
        </p:nvSpPr>
        <p:spPr>
          <a:xfrm>
            <a:off x="609600" y="6286500"/>
            <a:ext cx="10972800" cy="381000"/>
          </a:xfrm>
          <a:custGeom>
            <a:avLst/>
            <a:gdLst/>
            <a:ahLst/>
            <a:cxnLst/>
            <a:pathLst>
              <a:path w="1152" h="40">
                <a:moveTo>
                  <a:pt x="0" y="0"/>
                </a:moveTo>
                <a:lnTo>
                  <a:pt x="1152" y="0"/>
                </a:lnTo>
                <a:lnTo>
                  <a:pt x="1152" y="1"/>
                </a:lnTo>
                <a:lnTo>
                  <a:pt x="0" y="1"/>
                </a:lnTo>
                <a:close/>
              </a:path>
            </a:pathLst>
          </a:custGeom>
          <a:solidFill>
            <a:srgbClr val="1E293B"/>
          </a:solidFill>
        </p:spPr>
        <p:txBody>
          <a:bodyPr/>
          <a:p/>
        </p:txBody>
      </p:sp>
      <p:sp>
        <p:nvSpPr>
          <p:cNvPr id="2278" name="文本框 2277" descr="{&quot;isTemplate&quot;:true,&quot;type&quot;:&quot;text&quot;}"/>
          <p:cNvSpPr txBox="1"/>
          <p:nvPr/>
        </p:nvSpPr>
        <p:spPr>
          <a:xfrm>
            <a:off x="609600" y="6410325"/>
            <a:ext cx="2219325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fountain · 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一站式服务器应用开发工具库</a:t>
            </a:r>
            <a:endParaRPr lang="zh-CN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279" name="文本框 2278" descr="{&quot;isTemplate&quot;:true,&quot;type&quot;:&quot;text&quot;}"/>
          <p:cNvSpPr txBox="1"/>
          <p:nvPr/>
        </p:nvSpPr>
        <p:spPr>
          <a:xfrm>
            <a:off x="11087100" y="6410325"/>
            <a:ext cx="495300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69 / 116</a:t>
            </a:r>
            <a:endParaRPr lang="en-US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29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2" name="矩形 229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220"/>
          </a:solidFill>
        </p:spPr>
        <p:txBody>
          <a:bodyPr/>
          <a:p/>
        </p:txBody>
      </p:sp>
      <p:sp>
        <p:nvSpPr>
          <p:cNvPr id="2293" name="矩形 2292"/>
          <p:cNvSpPr/>
          <p:nvPr/>
        </p:nvSpPr>
        <p:spPr>
          <a:xfrm>
            <a:off x="609600" y="476250"/>
            <a:ext cx="38100" cy="381000"/>
          </a:xfrm>
          <a:prstGeom prst="rect">
            <a:avLst/>
          </a:prstGeom>
          <a:solidFill>
            <a:srgbClr val="38BDF8"/>
          </a:solidFill>
        </p:spPr>
        <p:txBody>
          <a:bodyPr/>
          <a:p/>
        </p:txBody>
      </p:sp>
      <p:sp>
        <p:nvSpPr>
          <p:cNvPr id="2294" name="文本框 2293" descr="{&quot;isTemplate&quot;:true,&quot;type&quot;:&quot;text&quot;}"/>
          <p:cNvSpPr txBox="1"/>
          <p:nvPr/>
        </p:nvSpPr>
        <p:spPr>
          <a:xfrm>
            <a:off x="819150" y="304800"/>
            <a:ext cx="9477375" cy="2095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第</a:t>
            </a: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 11 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章</a:t>
            </a: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 · HTTP 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数据格式</a:t>
            </a: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 f_http · 11.1 / 11.2</a:t>
            </a:r>
            <a:endParaRPr lang="en-US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295" name="文本框 2294" descr="{&quot;isTemplate&quot;:true,&quot;type&quot;:&quot;text&quot;}"/>
          <p:cNvSpPr txBox="1"/>
          <p:nvPr/>
        </p:nvSpPr>
        <p:spPr>
          <a:xfrm>
            <a:off x="819150" y="514350"/>
            <a:ext cx="9477375" cy="5143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en-US" sz="2550" b="1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f_http </a:t>
            </a:r>
            <a:r>
              <a:rPr lang="zh-CN" sz="2550" b="1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是什么，以及数据怎么流</a:t>
            </a:r>
            <a:endParaRPr lang="zh-CN" sz="2550" b="1">
              <a:solidFill>
                <a:srgbClr val="E2E8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296" name="文本框 2295" descr="{&quot;isTemplate&quot;:true,&quot;type&quot;:&quot;text&quot;}"/>
          <p:cNvSpPr txBox="1"/>
          <p:nvPr/>
        </p:nvSpPr>
        <p:spPr>
          <a:xfrm>
            <a:off x="10467975" y="590550"/>
            <a:ext cx="1114425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理解参数绑定的关键</a:t>
            </a:r>
            <a:endParaRPr lang="zh-CN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297" name="圆角矩形 2296"/>
          <p:cNvSpPr/>
          <p:nvPr/>
        </p:nvSpPr>
        <p:spPr>
          <a:xfrm>
            <a:off x="609600" y="1143000"/>
            <a:ext cx="5410200" cy="1809750"/>
          </a:xfrm>
          <a:prstGeom prst="roundRect">
            <a:avLst>
              <a:gd name="adj" fmla="val 6316"/>
            </a:avLst>
          </a:prstGeom>
          <a:solidFill>
            <a:srgbClr val="111C2E"/>
          </a:solidFill>
          <a:ln w="12700">
            <a:solidFill>
              <a:srgbClr val="38BDF8"/>
            </a:solidFill>
            <a:prstDash val="solid"/>
          </a:ln>
        </p:spPr>
        <p:txBody>
          <a:bodyPr/>
          <a:p/>
        </p:txBody>
      </p:sp>
      <p:sp>
        <p:nvSpPr>
          <p:cNvPr id="2298" name="文本框 2297" descr="{&quot;isTemplate&quot;:true,&quot;type&quot;:&quot;text&quot;}"/>
          <p:cNvSpPr txBox="1"/>
          <p:nvPr/>
        </p:nvSpPr>
        <p:spPr>
          <a:xfrm>
            <a:off x="800100" y="1333500"/>
            <a:ext cx="5029200" cy="2095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 b="1">
                <a:solidFill>
                  <a:srgbClr val="38BDF8"/>
                </a:solidFill>
                <a:latin typeface="微软雅黑" panose="020B0503020204020204" charset="-122"/>
                <a:ea typeface="微软雅黑" panose="020B0503020204020204" charset="-122"/>
              </a:rPr>
              <a:t>f_http </a:t>
            </a:r>
            <a:r>
              <a:rPr lang="zh-CN" sz="1350" b="1">
                <a:solidFill>
                  <a:srgbClr val="38BDF8"/>
                </a:solidFill>
                <a:latin typeface="微软雅黑" panose="020B0503020204020204" charset="-122"/>
                <a:ea typeface="微软雅黑" panose="020B0503020204020204" charset="-122"/>
              </a:rPr>
              <a:t>实现了两件事</a:t>
            </a:r>
            <a:endParaRPr lang="zh-CN" sz="1350" b="1">
              <a:solidFill>
                <a:srgbClr val="38BDF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299" name="文本框 2298" descr="{&quot;isTemplate&quot;:true,&quot;type&quot;:&quot;text&quot;}"/>
          <p:cNvSpPr txBox="1"/>
          <p:nvPr/>
        </p:nvSpPr>
        <p:spPr>
          <a:xfrm>
            <a:off x="800100" y="1657350"/>
            <a:ext cx="5029200" cy="619125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80000"/>
              </a:lnSpc>
            </a:pPr>
            <a:r>
              <a:rPr lang="en-US" sz="1125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① HTTP </a:t>
            </a:r>
            <a:r>
              <a:rPr lang="zh-CN" sz="1125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数据格式</a:t>
            </a:r>
            <a:r>
              <a:rPr lang="en-US" sz="1125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 MediaType </a:t>
            </a:r>
            <a:r>
              <a:rPr lang="zh-CN" sz="1125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的定义：</a:t>
            </a:r>
            <a:r>
              <a:rPr lang="en-US" sz="1125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text/plain</a:t>
            </a:r>
            <a:r>
              <a:rPr lang="zh-CN" sz="1125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、</a:t>
            </a:r>
            <a:r>
              <a:rPr lang="en-US" sz="1125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application/json</a:t>
            </a:r>
            <a:r>
              <a:rPr lang="zh-CN" sz="1125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、</a:t>
            </a:r>
            <a:r>
              <a:rPr lang="en-US" sz="1125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multipart/form-data</a:t>
            </a:r>
            <a:endParaRPr lang="en-US" sz="1125">
              <a:solidFill>
                <a:srgbClr val="E2E8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300" name="文本框 2299" descr="{&quot;isTemplate&quot;:true,&quot;type&quot;:&quot;text&quot;}"/>
          <p:cNvSpPr txBox="1"/>
          <p:nvPr/>
        </p:nvSpPr>
        <p:spPr>
          <a:xfrm>
            <a:off x="800100" y="2352675"/>
            <a:ext cx="5029200" cy="3143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80000"/>
              </a:lnSpc>
            </a:pPr>
            <a:r>
              <a:rPr lang="en-US" sz="1125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② multipart/form-data </a:t>
            </a:r>
            <a:r>
              <a:rPr lang="zh-CN" sz="1125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的编解码，也就是文件上传</a:t>
            </a:r>
            <a:endParaRPr lang="zh-CN" sz="1125">
              <a:solidFill>
                <a:srgbClr val="E2E8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301" name="圆角矩形 2300"/>
          <p:cNvSpPr/>
          <p:nvPr/>
        </p:nvSpPr>
        <p:spPr>
          <a:xfrm>
            <a:off x="6172200" y="1143000"/>
            <a:ext cx="5410200" cy="1809750"/>
          </a:xfrm>
          <a:prstGeom prst="roundRect">
            <a:avLst>
              <a:gd name="adj" fmla="val 6316"/>
            </a:avLst>
          </a:prstGeom>
          <a:solidFill>
            <a:srgbClr val="111C2E"/>
          </a:solidFill>
          <a:ln w="12700">
            <a:solidFill>
              <a:srgbClr val="1E293B"/>
            </a:solidFill>
            <a:prstDash val="solid"/>
          </a:ln>
        </p:spPr>
        <p:txBody>
          <a:bodyPr/>
          <a:p/>
        </p:txBody>
      </p:sp>
      <p:sp>
        <p:nvSpPr>
          <p:cNvPr id="2302" name="文本框 2301" descr="{&quot;isTemplate&quot;:true,&quot;type&quot;:&quot;text&quot;}"/>
          <p:cNvSpPr txBox="1"/>
          <p:nvPr/>
        </p:nvSpPr>
        <p:spPr>
          <a:xfrm>
            <a:off x="6362700" y="1333500"/>
            <a:ext cx="5029200" cy="2095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它们不是两套东西</a:t>
            </a:r>
            <a:endParaRPr lang="zh-CN" sz="1350" b="1">
              <a:solidFill>
                <a:srgbClr val="E2E8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303" name="圆角矩形 2302"/>
          <p:cNvSpPr/>
          <p:nvPr/>
        </p:nvSpPr>
        <p:spPr>
          <a:xfrm>
            <a:off x="6362700" y="1657350"/>
            <a:ext cx="5029200" cy="704850"/>
          </a:xfrm>
          <a:prstGeom prst="roundRect">
            <a:avLst>
              <a:gd name="adj" fmla="val 10811"/>
            </a:avLst>
          </a:prstGeom>
          <a:solidFill>
            <a:srgbClr val="0B1220"/>
          </a:solidFill>
          <a:ln w="12700">
            <a:solidFill>
              <a:srgbClr val="1E293B"/>
            </a:solidFill>
            <a:prstDash val="solid"/>
          </a:ln>
        </p:spPr>
        <p:txBody>
          <a:bodyPr/>
          <a:p/>
        </p:txBody>
      </p:sp>
      <p:sp>
        <p:nvSpPr>
          <p:cNvPr id="2304" name="文本框 2303" descr="{&quot;isTemplate&quot;:true,&quot;type&quot;:&quot;text&quot;}"/>
          <p:cNvSpPr txBox="1"/>
          <p:nvPr/>
        </p:nvSpPr>
        <p:spPr>
          <a:xfrm>
            <a:off x="6477000" y="1771650"/>
            <a:ext cx="4800600" cy="2381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en-US" sz="900">
                <a:solidFill>
                  <a:srgbClr val="38BDF8"/>
                </a:solidFill>
                <a:latin typeface="JetBrains Mono"/>
                <a:ea typeface="JetBrains Mono"/>
              </a:rPr>
              <a:t>// f_mvc/src/MediaType.cj </a:t>
            </a:r>
            <a:r>
              <a:rPr lang="zh-CN" sz="900">
                <a:solidFill>
                  <a:srgbClr val="38BDF8"/>
                </a:solidFill>
                <a:latin typeface="JetBrains Mono"/>
                <a:ea typeface="JetBrains Mono"/>
              </a:rPr>
              <a:t>全文</a:t>
            </a:r>
            <a:endParaRPr lang="zh-CN" sz="900">
              <a:solidFill>
                <a:srgbClr val="38BDF8"/>
              </a:solidFill>
              <a:latin typeface="JetBrains Mono"/>
              <a:ea typeface="JetBrains Mono"/>
            </a:endParaRPr>
          </a:p>
        </p:txBody>
      </p:sp>
      <p:sp>
        <p:nvSpPr>
          <p:cNvPr id="2305" name="文本框 2304" descr="{&quot;isTemplate&quot;:true,&quot;type&quot;:&quot;text&quot;}"/>
          <p:cNvSpPr txBox="1"/>
          <p:nvPr/>
        </p:nvSpPr>
        <p:spPr>
          <a:xfrm>
            <a:off x="6477000" y="2009775"/>
            <a:ext cx="4800600" cy="2381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en-US" sz="900">
                <a:solidFill>
                  <a:srgbClr val="22D3EE"/>
                </a:solidFill>
                <a:latin typeface="JetBrains Mono"/>
                <a:ea typeface="JetBrains Mono"/>
              </a:rPr>
              <a:t>public import fountain::f_http.*</a:t>
            </a:r>
            <a:endParaRPr lang="en-US" sz="900">
              <a:solidFill>
                <a:srgbClr val="22D3EE"/>
              </a:solidFill>
              <a:latin typeface="JetBrains Mono"/>
              <a:ea typeface="JetBrains Mono"/>
            </a:endParaRPr>
          </a:p>
        </p:txBody>
      </p:sp>
      <p:sp>
        <p:nvSpPr>
          <p:cNvPr id="2306" name="文本框 2305" descr="{&quot;isTemplate&quot;:true,&quot;type&quot;:&quot;text&quot;}"/>
          <p:cNvSpPr txBox="1"/>
          <p:nvPr/>
        </p:nvSpPr>
        <p:spPr>
          <a:xfrm>
            <a:off x="6362700" y="2457450"/>
            <a:ext cx="5029200" cy="2857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5000"/>
              </a:lnSpc>
            </a:pPr>
            <a:r>
              <a:rPr lang="zh-CN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在</a:t>
            </a:r>
            <a:r>
              <a:rPr lang="en-US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MVC </a:t>
            </a:r>
            <a:r>
              <a:rPr lang="zh-CN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里拿到的</a:t>
            </a:r>
            <a:r>
              <a:rPr lang="en-US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MediaType</a:t>
            </a:r>
            <a:r>
              <a:rPr lang="zh-CN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，就是</a:t>
            </a:r>
            <a:r>
              <a:rPr lang="en-US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f_http </a:t>
            </a:r>
            <a:r>
              <a:rPr lang="zh-CN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的类型。</a:t>
            </a:r>
            <a:endParaRPr lang="zh-CN" sz="1050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307" name="圆角矩形 2306"/>
          <p:cNvSpPr/>
          <p:nvPr/>
        </p:nvSpPr>
        <p:spPr>
          <a:xfrm>
            <a:off x="609600" y="3105150"/>
            <a:ext cx="10972800" cy="3181350"/>
          </a:xfrm>
          <a:prstGeom prst="roundRect">
            <a:avLst>
              <a:gd name="adj" fmla="val 3593"/>
            </a:avLst>
          </a:prstGeom>
          <a:solidFill>
            <a:srgbClr val="0B1220"/>
          </a:solidFill>
          <a:ln w="12700">
            <a:solidFill>
              <a:srgbClr val="1E293B"/>
            </a:solidFill>
            <a:prstDash val="solid"/>
          </a:ln>
        </p:spPr>
        <p:txBody>
          <a:bodyPr/>
          <a:p/>
        </p:txBody>
      </p:sp>
      <p:sp>
        <p:nvSpPr>
          <p:cNvPr id="2308" name="文本框 2307" descr="{&quot;isTemplate&quot;:true,&quot;type&quot;:&quot;text&quot;}"/>
          <p:cNvSpPr txBox="1"/>
          <p:nvPr/>
        </p:nvSpPr>
        <p:spPr>
          <a:xfrm>
            <a:off x="800100" y="3295650"/>
            <a:ext cx="10591800" cy="1714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数据流向（理解参数绑定的关键）</a:t>
            </a:r>
            <a:endParaRPr lang="zh-CN" sz="1125" b="1">
              <a:solidFill>
                <a:srgbClr val="E2E8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309" name="圆角矩形 2308"/>
          <p:cNvSpPr/>
          <p:nvPr/>
        </p:nvSpPr>
        <p:spPr>
          <a:xfrm>
            <a:off x="800100" y="3619500"/>
            <a:ext cx="1809750" cy="381000"/>
          </a:xfrm>
          <a:prstGeom prst="roundRect">
            <a:avLst>
              <a:gd name="adj" fmla="val 20000"/>
            </a:avLst>
          </a:prstGeom>
          <a:solidFill>
            <a:srgbClr val="111C2E"/>
          </a:solidFill>
          <a:ln w="12700">
            <a:solidFill>
              <a:srgbClr val="1E293B"/>
            </a:solidFill>
            <a:prstDash val="solid"/>
          </a:ln>
        </p:spPr>
        <p:txBody>
          <a:bodyPr/>
          <a:p/>
        </p:txBody>
      </p:sp>
      <p:sp>
        <p:nvSpPr>
          <p:cNvPr id="2310" name="文本框 2309" descr="{&quot;isTemplate&quot;:true,&quot;type&quot;:&quot;text&quot;}"/>
          <p:cNvSpPr txBox="1"/>
          <p:nvPr/>
        </p:nvSpPr>
        <p:spPr>
          <a:xfrm>
            <a:off x="914400" y="3733800"/>
            <a:ext cx="1581150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字节</a:t>
            </a:r>
            <a:r>
              <a:rPr lang="en-US" sz="975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 / InputStream / String</a:t>
            </a:r>
            <a:endParaRPr lang="en-US" sz="975">
              <a:solidFill>
                <a:srgbClr val="E2E8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311" name="文本框 2310" descr="{&quot;isTemplate&quot;:true,&quot;type&quot;:&quot;text&quot;}"/>
          <p:cNvSpPr txBox="1"/>
          <p:nvPr/>
        </p:nvSpPr>
        <p:spPr>
          <a:xfrm>
            <a:off x="2705100" y="3733800"/>
            <a:ext cx="762000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38BDF8"/>
                </a:solidFill>
                <a:latin typeface="微软雅黑" panose="020B0503020204020204" charset="-122"/>
                <a:ea typeface="微软雅黑" panose="020B0503020204020204" charset="-122"/>
              </a:rPr>
              <a:t>--toData--&gt;</a:t>
            </a:r>
            <a:endParaRPr lang="en-US" sz="1050">
              <a:solidFill>
                <a:srgbClr val="38BDF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312" name="圆角矩形 2311"/>
          <p:cNvSpPr/>
          <p:nvPr/>
        </p:nvSpPr>
        <p:spPr>
          <a:xfrm>
            <a:off x="3562350" y="3619500"/>
            <a:ext cx="514350" cy="381000"/>
          </a:xfrm>
          <a:prstGeom prst="roundRect">
            <a:avLst>
              <a:gd name="adj" fmla="val 20000"/>
            </a:avLst>
          </a:prstGeom>
          <a:solidFill>
            <a:srgbClr val="111C2E"/>
          </a:solidFill>
          <a:ln w="12700">
            <a:solidFill>
              <a:srgbClr val="38BDF8"/>
            </a:solidFill>
            <a:prstDash val="solid"/>
          </a:ln>
        </p:spPr>
        <p:txBody>
          <a:bodyPr/>
          <a:p/>
        </p:txBody>
      </p:sp>
      <p:sp>
        <p:nvSpPr>
          <p:cNvPr id="2313" name="文本框 2312" descr="{&quot;isTemplate&quot;:true,&quot;type&quot;:&quot;text&quot;}"/>
          <p:cNvSpPr txBox="1"/>
          <p:nvPr/>
        </p:nvSpPr>
        <p:spPr>
          <a:xfrm>
            <a:off x="3676650" y="3733800"/>
            <a:ext cx="285750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38BDF8"/>
                </a:solidFill>
                <a:latin typeface="微软雅黑" panose="020B0503020204020204" charset="-122"/>
                <a:ea typeface="微软雅黑" panose="020B0503020204020204" charset="-122"/>
              </a:rPr>
              <a:t>Data</a:t>
            </a:r>
            <a:endParaRPr lang="en-US" sz="975">
              <a:solidFill>
                <a:srgbClr val="38BDF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314" name="文本框 2313" descr="{&quot;isTemplate&quot;:true,&quot;type&quot;:&quot;text&quot;}"/>
          <p:cNvSpPr txBox="1"/>
          <p:nvPr/>
        </p:nvSpPr>
        <p:spPr>
          <a:xfrm>
            <a:off x="4171950" y="3733800"/>
            <a:ext cx="1133475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38BDF8"/>
                </a:solidFill>
                <a:latin typeface="微软雅黑" panose="020B0503020204020204" charset="-122"/>
                <a:ea typeface="微软雅黑" panose="020B0503020204020204" charset="-122"/>
              </a:rPr>
              <a:t>--toDataFields--&gt;</a:t>
            </a:r>
            <a:endParaRPr lang="en-US" sz="1050">
              <a:solidFill>
                <a:srgbClr val="38BDF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315" name="圆角矩形 2314"/>
          <p:cNvSpPr/>
          <p:nvPr/>
        </p:nvSpPr>
        <p:spPr>
          <a:xfrm>
            <a:off x="5400675" y="3619500"/>
            <a:ext cx="1581150" cy="381000"/>
          </a:xfrm>
          <a:prstGeom prst="roundRect">
            <a:avLst>
              <a:gd name="adj" fmla="val 20000"/>
            </a:avLst>
          </a:prstGeom>
          <a:solidFill>
            <a:srgbClr val="111C2E"/>
          </a:solidFill>
          <a:ln w="12700">
            <a:solidFill>
              <a:srgbClr val="1E293B"/>
            </a:solidFill>
            <a:prstDash val="solid"/>
          </a:ln>
        </p:spPr>
        <p:txBody>
          <a:bodyPr/>
          <a:p/>
        </p:txBody>
      </p:sp>
      <p:sp>
        <p:nvSpPr>
          <p:cNvPr id="2316" name="文本框 2315" descr="{&quot;isTemplate&quot;:true,&quot;type&quot;:&quot;text&quot;}"/>
          <p:cNvSpPr txBox="1"/>
          <p:nvPr/>
        </p:nvSpPr>
        <p:spPr>
          <a:xfrm>
            <a:off x="5514975" y="3733800"/>
            <a:ext cx="1352550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对象（</a:t>
            </a:r>
            <a:r>
              <a:rPr lang="en-US" sz="975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controller </a:t>
            </a:r>
            <a:r>
              <a:rPr lang="zh-CN" sz="975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实参）</a:t>
            </a:r>
            <a:endParaRPr lang="zh-CN" sz="975">
              <a:solidFill>
                <a:srgbClr val="E2E8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317" name="圆角矩形 2316"/>
          <p:cNvSpPr/>
          <p:nvPr/>
        </p:nvSpPr>
        <p:spPr>
          <a:xfrm>
            <a:off x="800100" y="4114800"/>
            <a:ext cx="1209675" cy="381000"/>
          </a:xfrm>
          <a:prstGeom prst="roundRect">
            <a:avLst>
              <a:gd name="adj" fmla="val 20000"/>
            </a:avLst>
          </a:prstGeom>
          <a:solidFill>
            <a:srgbClr val="111C2E"/>
          </a:solidFill>
          <a:ln w="12700">
            <a:solidFill>
              <a:srgbClr val="1E293B"/>
            </a:solidFill>
            <a:prstDash val="solid"/>
          </a:ln>
        </p:spPr>
        <p:txBody>
          <a:bodyPr/>
          <a:p/>
        </p:txBody>
      </p:sp>
      <p:sp>
        <p:nvSpPr>
          <p:cNvPr id="2318" name="文本框 2317" descr="{&quot;isTemplate&quot;:true,&quot;type&quot;:&quot;text&quot;}"/>
          <p:cNvSpPr txBox="1"/>
          <p:nvPr/>
        </p:nvSpPr>
        <p:spPr>
          <a:xfrm>
            <a:off x="914400" y="4229100"/>
            <a:ext cx="981075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controller </a:t>
            </a:r>
            <a:r>
              <a:rPr lang="zh-CN" sz="975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返回值</a:t>
            </a:r>
            <a:endParaRPr lang="zh-CN" sz="975">
              <a:solidFill>
                <a:srgbClr val="E2E8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319" name="文本框 2318" descr="{&quot;isTemplate&quot;:true,&quot;type&quot;:&quot;text&quot;}"/>
          <p:cNvSpPr txBox="1"/>
          <p:nvPr/>
        </p:nvSpPr>
        <p:spPr>
          <a:xfrm>
            <a:off x="2105025" y="4229100"/>
            <a:ext cx="1304925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--fromDataFields--&gt;</a:t>
            </a:r>
            <a:endParaRPr lang="en-US" sz="1050">
              <a:solidFill>
                <a:srgbClr val="F59E0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320" name="圆角矩形 2319"/>
          <p:cNvSpPr/>
          <p:nvPr/>
        </p:nvSpPr>
        <p:spPr>
          <a:xfrm>
            <a:off x="3505200" y="4114800"/>
            <a:ext cx="723900" cy="381000"/>
          </a:xfrm>
          <a:prstGeom prst="roundRect">
            <a:avLst>
              <a:gd name="adj" fmla="val 20000"/>
            </a:avLst>
          </a:prstGeom>
          <a:solidFill>
            <a:srgbClr val="111C2E"/>
          </a:solidFill>
          <a:ln w="12700">
            <a:solidFill>
              <a:srgbClr val="F59E0B"/>
            </a:solidFill>
            <a:prstDash val="solid"/>
          </a:ln>
        </p:spPr>
        <p:txBody>
          <a:bodyPr/>
          <a:p/>
        </p:txBody>
      </p:sp>
      <p:sp>
        <p:nvSpPr>
          <p:cNvPr id="2321" name="文本框 2320" descr="{&quot;isTemplate&quot;:true,&quot;type&quot;:&quot;text&quot;}"/>
          <p:cNvSpPr txBox="1"/>
          <p:nvPr/>
        </p:nvSpPr>
        <p:spPr>
          <a:xfrm>
            <a:off x="3619500" y="4229100"/>
            <a:ext cx="495300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字节数组</a:t>
            </a:r>
            <a:endParaRPr lang="zh-CN" sz="975">
              <a:solidFill>
                <a:srgbClr val="F59E0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322" name="文本框 2321" descr="{&quot;isTemplate&quot;:true,&quot;type&quot;:&quot;text&quot;}"/>
          <p:cNvSpPr txBox="1"/>
          <p:nvPr/>
        </p:nvSpPr>
        <p:spPr>
          <a:xfrm>
            <a:off x="4324350" y="4229100"/>
            <a:ext cx="219075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--&gt;</a:t>
            </a:r>
            <a:endParaRPr lang="en-US" sz="1050">
              <a:solidFill>
                <a:srgbClr val="F59E0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323" name="圆角矩形 2322"/>
          <p:cNvSpPr/>
          <p:nvPr/>
        </p:nvSpPr>
        <p:spPr>
          <a:xfrm>
            <a:off x="4638675" y="4114800"/>
            <a:ext cx="847725" cy="381000"/>
          </a:xfrm>
          <a:prstGeom prst="roundRect">
            <a:avLst>
              <a:gd name="adj" fmla="val 20000"/>
            </a:avLst>
          </a:prstGeom>
          <a:solidFill>
            <a:srgbClr val="111C2E"/>
          </a:solidFill>
          <a:ln w="12700">
            <a:solidFill>
              <a:srgbClr val="1E293B"/>
            </a:solidFill>
            <a:prstDash val="solid"/>
          </a:ln>
        </p:spPr>
        <p:txBody>
          <a:bodyPr/>
          <a:p/>
        </p:txBody>
      </p:sp>
      <p:sp>
        <p:nvSpPr>
          <p:cNvPr id="2324" name="文本框 2323" descr="{&quot;isTemplate&quot;:true,&quot;type&quot;:&quot;text&quot;}"/>
          <p:cNvSpPr txBox="1"/>
          <p:nvPr/>
        </p:nvSpPr>
        <p:spPr>
          <a:xfrm>
            <a:off x="4752975" y="4229100"/>
            <a:ext cx="619125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写回客户端</a:t>
            </a:r>
            <a:endParaRPr lang="zh-CN" sz="975">
              <a:solidFill>
                <a:srgbClr val="E2E8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325" name="文本框 2324" descr="{&quot;isTemplate&quot;:true,&quot;type&quot;:&quot;text&quot;}"/>
          <p:cNvSpPr txBox="1"/>
          <p:nvPr/>
        </p:nvSpPr>
        <p:spPr>
          <a:xfrm>
            <a:off x="800100" y="5810250"/>
            <a:ext cx="10591800" cy="2857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5000"/>
              </a:lnSpc>
            </a:pPr>
            <a:r>
              <a:rPr lang="en-US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MediaType </a:t>
            </a:r>
            <a:r>
              <a:rPr lang="zh-CN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负责「字节</a:t>
            </a:r>
            <a:r>
              <a:rPr lang="en-US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↔ Data</a:t>
            </a:r>
            <a:r>
              <a:rPr lang="zh-CN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」，</a:t>
            </a:r>
            <a:r>
              <a:rPr lang="en-US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f_data </a:t>
            </a:r>
            <a:r>
              <a:rPr lang="zh-CN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负责「</a:t>
            </a:r>
            <a:r>
              <a:rPr lang="en-US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Data ↔ </a:t>
            </a:r>
            <a:r>
              <a:rPr lang="zh-CN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对象」——</a:t>
            </a:r>
            <a:r>
              <a:rPr lang="en-US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</a:t>
            </a:r>
            <a:r>
              <a:rPr lang="zh-CN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两层拼起来就是完整的参数绑定链路。</a:t>
            </a:r>
            <a:endParaRPr lang="zh-CN" sz="1050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326" name="任意多边形 2325"/>
          <p:cNvSpPr/>
          <p:nvPr/>
        </p:nvSpPr>
        <p:spPr>
          <a:xfrm>
            <a:off x="609600" y="6286500"/>
            <a:ext cx="10972800" cy="381000"/>
          </a:xfrm>
          <a:custGeom>
            <a:avLst/>
            <a:gdLst/>
            <a:ahLst/>
            <a:cxnLst/>
            <a:pathLst>
              <a:path w="1152" h="40">
                <a:moveTo>
                  <a:pt x="0" y="0"/>
                </a:moveTo>
                <a:lnTo>
                  <a:pt x="1152" y="0"/>
                </a:lnTo>
                <a:lnTo>
                  <a:pt x="1152" y="1"/>
                </a:lnTo>
                <a:lnTo>
                  <a:pt x="0" y="1"/>
                </a:lnTo>
                <a:close/>
              </a:path>
            </a:pathLst>
          </a:custGeom>
          <a:solidFill>
            <a:srgbClr val="1E293B"/>
          </a:solidFill>
        </p:spPr>
        <p:txBody>
          <a:bodyPr/>
          <a:p/>
        </p:txBody>
      </p:sp>
      <p:sp>
        <p:nvSpPr>
          <p:cNvPr id="2327" name="文本框 2326" descr="{&quot;isTemplate&quot;:true,&quot;type&quot;:&quot;text&quot;}"/>
          <p:cNvSpPr txBox="1"/>
          <p:nvPr/>
        </p:nvSpPr>
        <p:spPr>
          <a:xfrm>
            <a:off x="609600" y="6410325"/>
            <a:ext cx="2219325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fountain · 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一站式服务器应用开发工具库</a:t>
            </a:r>
            <a:endParaRPr lang="zh-CN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328" name="文本框 2327" descr="{&quot;isTemplate&quot;:true,&quot;type&quot;:&quot;text&quot;}"/>
          <p:cNvSpPr txBox="1"/>
          <p:nvPr/>
        </p:nvSpPr>
        <p:spPr>
          <a:xfrm>
            <a:off x="11087100" y="6410325"/>
            <a:ext cx="495300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70 / 116</a:t>
            </a:r>
            <a:endParaRPr lang="en-US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32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0" name="矩形 2329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220"/>
          </a:solidFill>
        </p:spPr>
        <p:txBody>
          <a:bodyPr/>
          <a:p/>
        </p:txBody>
      </p:sp>
      <p:sp>
        <p:nvSpPr>
          <p:cNvPr id="2331" name="矩形 2330"/>
          <p:cNvSpPr/>
          <p:nvPr/>
        </p:nvSpPr>
        <p:spPr>
          <a:xfrm>
            <a:off x="609600" y="476250"/>
            <a:ext cx="38100" cy="381000"/>
          </a:xfrm>
          <a:prstGeom prst="rect">
            <a:avLst/>
          </a:prstGeom>
          <a:solidFill>
            <a:srgbClr val="38BDF8"/>
          </a:solidFill>
        </p:spPr>
        <p:txBody>
          <a:bodyPr/>
          <a:p/>
        </p:txBody>
      </p:sp>
      <p:sp>
        <p:nvSpPr>
          <p:cNvPr id="2332" name="文本框 2331" descr="{&quot;isTemplate&quot;:true,&quot;type&quot;:&quot;text&quot;}"/>
          <p:cNvSpPr txBox="1"/>
          <p:nvPr/>
        </p:nvSpPr>
        <p:spPr>
          <a:xfrm>
            <a:off x="819150" y="304800"/>
            <a:ext cx="9105900" cy="2095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第</a:t>
            </a: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 11 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章</a:t>
            </a: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 · HTTP 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数据格式</a:t>
            </a: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 f_http · 11.3 / 11.4</a:t>
            </a:r>
            <a:endParaRPr lang="en-US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333" name="文本框 2332" descr="{&quot;isTemplate&quot;:true,&quot;type&quot;:&quot;text&quot;}"/>
          <p:cNvSpPr txBox="1"/>
          <p:nvPr/>
        </p:nvSpPr>
        <p:spPr>
          <a:xfrm>
            <a:off x="819150" y="514350"/>
            <a:ext cx="9105900" cy="5143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2550" b="1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内置的三种实现与</a:t>
            </a:r>
            <a:r>
              <a:rPr lang="en-US" sz="2550" b="1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 MediaTypes </a:t>
            </a:r>
            <a:r>
              <a:rPr lang="zh-CN" sz="2550" b="1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注册表</a:t>
            </a:r>
            <a:endParaRPr lang="zh-CN" sz="2550" b="1">
              <a:solidFill>
                <a:srgbClr val="E2E8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334" name="文本框 2333" descr="{&quot;isTemplate&quot;:true,&quot;type&quot;:&quot;text&quot;}"/>
          <p:cNvSpPr txBox="1"/>
          <p:nvPr/>
        </p:nvSpPr>
        <p:spPr>
          <a:xfrm>
            <a:off x="10096500" y="590550"/>
            <a:ext cx="1485900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加个</a:t>
            </a: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 @Bean 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就多一种格式</a:t>
            </a:r>
            <a:endParaRPr lang="zh-CN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335" name="圆角矩形 2334"/>
          <p:cNvSpPr/>
          <p:nvPr/>
        </p:nvSpPr>
        <p:spPr>
          <a:xfrm>
            <a:off x="609600" y="1143000"/>
            <a:ext cx="4572000" cy="3981450"/>
          </a:xfrm>
          <a:prstGeom prst="roundRect">
            <a:avLst>
              <a:gd name="adj" fmla="val 2871"/>
            </a:avLst>
          </a:prstGeom>
          <a:solidFill>
            <a:srgbClr val="0B1220"/>
          </a:solidFill>
          <a:ln w="12700">
            <a:solidFill>
              <a:srgbClr val="1E293B"/>
            </a:solidFill>
            <a:prstDash val="solid"/>
          </a:ln>
        </p:spPr>
        <p:txBody>
          <a:bodyPr/>
          <a:p/>
        </p:txBody>
      </p:sp>
      <p:sp>
        <p:nvSpPr>
          <p:cNvPr id="2336" name="文本框 2335" descr="{&quot;isTemplate&quot;:true,&quot;type&quot;:&quot;text&quot;}"/>
          <p:cNvSpPr txBox="1"/>
          <p:nvPr/>
        </p:nvSpPr>
        <p:spPr>
          <a:xfrm>
            <a:off x="781050" y="1314450"/>
            <a:ext cx="4229100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内置实现</a:t>
            </a:r>
            <a:endParaRPr lang="zh-CN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337" name="文本框 2336" descr="{&quot;isTemplate&quot;:true,&quot;type&quot;:&quot;text&quot;}"/>
          <p:cNvSpPr txBox="1"/>
          <p:nvPr/>
        </p:nvSpPr>
        <p:spPr>
          <a:xfrm>
            <a:off x="781050" y="1543050"/>
            <a:ext cx="4229100" cy="466725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en-US" sz="900">
                <a:solidFill>
                  <a:srgbClr val="38BDF8"/>
                </a:solidFill>
                <a:latin typeface="JetBrains Mono"/>
                <a:ea typeface="JetBrains Mono"/>
              </a:rPr>
              <a:t>public class PlainTextMediaType &lt;: TextMediaType   // text/plain</a:t>
            </a:r>
            <a:endParaRPr lang="en-US" sz="900">
              <a:solidFill>
                <a:srgbClr val="38BDF8"/>
              </a:solidFill>
              <a:latin typeface="JetBrains Mono"/>
              <a:ea typeface="JetBrains Mono"/>
            </a:endParaRPr>
          </a:p>
        </p:txBody>
      </p:sp>
      <p:sp>
        <p:nvSpPr>
          <p:cNvPr id="2338" name="文本框 2337" descr="{&quot;isTemplate&quot;:true,&quot;type&quot;:&quot;text&quot;}"/>
          <p:cNvSpPr txBox="1"/>
          <p:nvPr/>
        </p:nvSpPr>
        <p:spPr>
          <a:xfrm>
            <a:off x="781050" y="2009775"/>
            <a:ext cx="4229100" cy="466725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en-US" sz="900">
                <a:solidFill>
                  <a:srgbClr val="38BDF8"/>
                </a:solidFill>
                <a:latin typeface="JetBrains Mono"/>
                <a:ea typeface="JetBrains Mono"/>
              </a:rPr>
              <a:t>public class JsonMediaType      &lt;: TextMediaType   // application/json</a:t>
            </a:r>
            <a:endParaRPr lang="en-US" sz="900">
              <a:solidFill>
                <a:srgbClr val="38BDF8"/>
              </a:solidFill>
              <a:latin typeface="JetBrains Mono"/>
              <a:ea typeface="JetBrains Mono"/>
            </a:endParaRPr>
          </a:p>
        </p:txBody>
      </p:sp>
      <p:sp>
        <p:nvSpPr>
          <p:cNvPr id="2339" name="文本框 2338" descr="{&quot;isTemplate&quot;:true,&quot;type&quot;:&quot;text&quot;}"/>
          <p:cNvSpPr txBox="1"/>
          <p:nvPr/>
        </p:nvSpPr>
        <p:spPr>
          <a:xfrm>
            <a:off x="781050" y="2476500"/>
            <a:ext cx="4229100" cy="466725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en-US" sz="900">
                <a:solidFill>
                  <a:srgbClr val="F59E0B"/>
                </a:solidFill>
                <a:latin typeface="JetBrains Mono"/>
                <a:ea typeface="JetBrains Mono"/>
              </a:rPr>
              <a:t>public class MultipartMediaType &lt;: MediaType       // multipart/form-data, /mixed</a:t>
            </a:r>
            <a:endParaRPr lang="en-US" sz="900">
              <a:solidFill>
                <a:srgbClr val="F59E0B"/>
              </a:solidFill>
              <a:latin typeface="JetBrains Mono"/>
              <a:ea typeface="JetBrains Mono"/>
            </a:endParaRPr>
          </a:p>
        </p:txBody>
      </p:sp>
      <p:sp>
        <p:nvSpPr>
          <p:cNvPr id="2340" name="文本框 2339" descr="{&quot;isTemplate&quot;:true,&quot;type&quot;:&quot;text&quot;}"/>
          <p:cNvSpPr txBox="1"/>
          <p:nvPr/>
        </p:nvSpPr>
        <p:spPr>
          <a:xfrm>
            <a:off x="781050" y="3038475"/>
            <a:ext cx="4229100" cy="514350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en-US" sz="97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TextMediaType </a:t>
            </a:r>
            <a:r>
              <a:rPr lang="zh-CN" sz="97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是带字符集的文本格式父类，处理</a:t>
            </a:r>
            <a:r>
              <a:rPr lang="en-US" sz="97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; charset= </a:t>
            </a:r>
            <a:r>
              <a:rPr lang="zh-CN" sz="97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后缀，</a:t>
            </a:r>
            <a:r>
              <a:rPr lang="en-US" sz="97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toString </a:t>
            </a:r>
            <a:r>
              <a:rPr lang="zh-CN" sz="97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输出「类型</a:t>
            </a:r>
            <a:r>
              <a:rPr lang="en-US" sz="97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; charset=</a:t>
            </a:r>
            <a:r>
              <a:rPr lang="zh-CN" sz="97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编码」。</a:t>
            </a:r>
            <a:endParaRPr lang="zh-CN" sz="975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341" name="文本框 2340" descr="{&quot;isTemplate&quot;:true,&quot;type&quot;:&quot;text&quot;}"/>
          <p:cNvSpPr txBox="1"/>
          <p:nvPr/>
        </p:nvSpPr>
        <p:spPr>
          <a:xfrm>
            <a:off x="781050" y="3629025"/>
            <a:ext cx="4229100" cy="514350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en-US" sz="97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JsonMediaType</a:t>
            </a:r>
            <a:r>
              <a:rPr lang="zh-CN" sz="97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：</a:t>
            </a:r>
            <a:r>
              <a:rPr lang="en-US" sz="97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toData(String) = JsonValue.fromStr </a:t>
            </a:r>
            <a:r>
              <a:rPr lang="zh-CN" sz="97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再</a:t>
            </a:r>
            <a:r>
              <a:rPr lang="en-US" sz="97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toData</a:t>
            </a:r>
            <a:r>
              <a:rPr lang="zh-CN" sz="97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；</a:t>
            </a:r>
            <a:r>
              <a:rPr lang="en-US" sz="97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fromData(Data) = tryFromData </a:t>
            </a:r>
            <a:r>
              <a:rPr lang="zh-CN" sz="97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再按</a:t>
            </a:r>
            <a:r>
              <a:rPr lang="en-US" sz="97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charset </a:t>
            </a:r>
            <a:r>
              <a:rPr lang="zh-CN" sz="97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编码。</a:t>
            </a:r>
            <a:endParaRPr lang="zh-CN" sz="975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342" name="文本框 2341" descr="{&quot;isTemplate&quot;:true,&quot;type&quot;:&quot;text&quot;}"/>
          <p:cNvSpPr txBox="1"/>
          <p:nvPr/>
        </p:nvSpPr>
        <p:spPr>
          <a:xfrm>
            <a:off x="781050" y="4191000"/>
            <a:ext cx="4229100" cy="762000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en-US" sz="975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MultipartMediaType </a:t>
            </a:r>
            <a:r>
              <a:rPr lang="zh-CN" sz="975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带</a:t>
            </a:r>
            <a:r>
              <a:rPr lang="en-US" sz="975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 boundary</a:t>
            </a:r>
            <a:r>
              <a:rPr lang="zh-CN" sz="975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，</a:t>
            </a:r>
            <a:r>
              <a:rPr lang="en-US" sz="975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fromData(Data) </a:t>
            </a:r>
            <a:r>
              <a:rPr lang="zh-CN" sz="975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与</a:t>
            </a:r>
            <a:r>
              <a:rPr lang="en-US" sz="975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 toData(Array&lt;Byte&gt;) </a:t>
            </a:r>
            <a:r>
              <a:rPr lang="zh-CN" sz="975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直接抛异常，只支持</a:t>
            </a:r>
            <a:r>
              <a:rPr lang="en-US" sz="975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 toData(input: InputStream)</a:t>
            </a:r>
            <a:r>
              <a:rPr lang="zh-CN" sz="975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（解析上传流）。</a:t>
            </a:r>
            <a:endParaRPr lang="zh-CN" sz="975">
              <a:solidFill>
                <a:srgbClr val="F59E0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343" name="圆角矩形 2342"/>
          <p:cNvSpPr/>
          <p:nvPr/>
        </p:nvSpPr>
        <p:spPr>
          <a:xfrm>
            <a:off x="609600" y="5257800"/>
            <a:ext cx="4572000" cy="1028700"/>
          </a:xfrm>
          <a:prstGeom prst="roundRect">
            <a:avLst>
              <a:gd name="adj" fmla="val 11111"/>
            </a:avLst>
          </a:prstGeom>
          <a:solidFill>
            <a:srgbClr val="0B1220"/>
          </a:solidFill>
          <a:ln w="12700">
            <a:solidFill>
              <a:srgbClr val="1E293B"/>
            </a:solidFill>
            <a:prstDash val="solid"/>
          </a:ln>
        </p:spPr>
        <p:txBody>
          <a:bodyPr/>
          <a:p/>
        </p:txBody>
      </p:sp>
      <p:sp>
        <p:nvSpPr>
          <p:cNvPr id="2344" name="文本框 2343" descr="{&quot;isTemplate&quot;:true,&quot;type&quot;:&quot;text&quot;}"/>
          <p:cNvSpPr txBox="1"/>
          <p:nvPr/>
        </p:nvSpPr>
        <p:spPr>
          <a:xfrm>
            <a:off x="781050" y="5429250"/>
            <a:ext cx="4229100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MediaTypes 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注册表</a:t>
            </a:r>
            <a:endParaRPr lang="zh-CN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345" name="文本框 2344" descr="{&quot;isTemplate&quot;:true,&quot;type&quot;:&quot;text&quot;}"/>
          <p:cNvSpPr txBox="1"/>
          <p:nvPr/>
        </p:nvSpPr>
        <p:spPr>
          <a:xfrm>
            <a:off x="781050" y="5657850"/>
            <a:ext cx="4229100" cy="2381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en-US" sz="900">
                <a:solidFill>
                  <a:srgbClr val="38BDF8"/>
                </a:solidFill>
                <a:latin typeface="JetBrains Mono"/>
                <a:ea typeface="JetBrains Mono"/>
              </a:rPr>
              <a:t>MediaTypes.register(mediaType)</a:t>
            </a:r>
            <a:endParaRPr lang="en-US" sz="900">
              <a:solidFill>
                <a:srgbClr val="38BDF8"/>
              </a:solidFill>
              <a:latin typeface="JetBrains Mono"/>
              <a:ea typeface="JetBrains Mono"/>
            </a:endParaRPr>
          </a:p>
        </p:txBody>
      </p:sp>
      <p:sp>
        <p:nvSpPr>
          <p:cNvPr id="2346" name="文本框 2345" descr="{&quot;isTemplate&quot;:true,&quot;type&quot;:&quot;text&quot;}"/>
          <p:cNvSpPr txBox="1"/>
          <p:nvPr/>
        </p:nvSpPr>
        <p:spPr>
          <a:xfrm>
            <a:off x="781050" y="5895975"/>
            <a:ext cx="4229100" cy="2381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en-US" sz="900">
                <a:solidFill>
                  <a:srgbClr val="E2E8F0"/>
                </a:solidFill>
                <a:latin typeface="JetBrains Mono"/>
                <a:ea typeface="JetBrains Mono"/>
              </a:rPr>
              <a:t>MediaTypes.parse(mediaType)</a:t>
            </a:r>
            <a:r>
              <a:rPr lang="zh-CN" sz="900">
                <a:solidFill>
                  <a:srgbClr val="E2E8F0"/>
                </a:solidFill>
                <a:latin typeface="JetBrains Mono"/>
                <a:ea typeface="JetBrains Mono"/>
              </a:rPr>
              <a:t>　　　</a:t>
            </a:r>
            <a:r>
              <a:rPr lang="en-US" sz="900">
                <a:solidFill>
                  <a:srgbClr val="E2E8F0"/>
                </a:solidFill>
                <a:latin typeface="JetBrains Mono"/>
                <a:ea typeface="JetBrains Mono"/>
              </a:rPr>
              <a:t>// </a:t>
            </a:r>
            <a:r>
              <a:rPr lang="zh-CN" sz="900">
                <a:solidFill>
                  <a:srgbClr val="E2E8F0"/>
                </a:solidFill>
                <a:latin typeface="JetBrains Mono"/>
                <a:ea typeface="JetBrains Mono"/>
              </a:rPr>
              <a:t>找不到抛</a:t>
            </a:r>
            <a:r>
              <a:rPr lang="en-US" sz="900">
                <a:solidFill>
                  <a:srgbClr val="E2E8F0"/>
                </a:solidFill>
                <a:latin typeface="JetBrains Mono"/>
                <a:ea typeface="JetBrains Mono"/>
              </a:rPr>
              <a:t> MediaTypeException</a:t>
            </a:r>
            <a:endParaRPr lang="en-US" sz="900">
              <a:solidFill>
                <a:srgbClr val="E2E8F0"/>
              </a:solidFill>
              <a:latin typeface="JetBrains Mono"/>
              <a:ea typeface="JetBrains Mono"/>
            </a:endParaRPr>
          </a:p>
        </p:txBody>
      </p:sp>
      <p:sp>
        <p:nvSpPr>
          <p:cNvPr id="2347" name="文本框 2346" descr="{&quot;isTemplate&quot;:true,&quot;type&quot;:&quot;text&quot;}"/>
          <p:cNvSpPr txBox="1"/>
          <p:nvPr/>
        </p:nvSpPr>
        <p:spPr>
          <a:xfrm>
            <a:off x="781050" y="6134100"/>
            <a:ext cx="4229100" cy="2381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en-US" sz="900">
                <a:solidFill>
                  <a:srgbClr val="E2E8F0"/>
                </a:solidFill>
                <a:latin typeface="JetBrains Mono"/>
                <a:ea typeface="JetBrains Mono"/>
              </a:rPr>
              <a:t>MediaTypes.tryParse(mediaType)</a:t>
            </a:r>
            <a:r>
              <a:rPr lang="zh-CN" sz="900">
                <a:solidFill>
                  <a:srgbClr val="E2E8F0"/>
                </a:solidFill>
                <a:latin typeface="JetBrains Mono"/>
                <a:ea typeface="JetBrains Mono"/>
              </a:rPr>
              <a:t>　</a:t>
            </a:r>
            <a:r>
              <a:rPr lang="en-US" sz="900">
                <a:solidFill>
                  <a:srgbClr val="E2E8F0"/>
                </a:solidFill>
                <a:latin typeface="JetBrains Mono"/>
                <a:ea typeface="JetBrains Mono"/>
              </a:rPr>
              <a:t> // </a:t>
            </a:r>
            <a:r>
              <a:rPr lang="zh-CN" sz="900">
                <a:solidFill>
                  <a:srgbClr val="E2E8F0"/>
                </a:solidFill>
                <a:latin typeface="JetBrains Mono"/>
                <a:ea typeface="JetBrains Mono"/>
              </a:rPr>
              <a:t>找不到返回</a:t>
            </a:r>
            <a:r>
              <a:rPr lang="en-US" sz="900">
                <a:solidFill>
                  <a:srgbClr val="E2E8F0"/>
                </a:solidFill>
                <a:latin typeface="JetBrains Mono"/>
                <a:ea typeface="JetBrains Mono"/>
              </a:rPr>
              <a:t> None</a:t>
            </a:r>
            <a:endParaRPr lang="en-US" sz="900">
              <a:solidFill>
                <a:srgbClr val="E2E8F0"/>
              </a:solidFill>
              <a:latin typeface="JetBrains Mono"/>
              <a:ea typeface="JetBrains Mono"/>
            </a:endParaRPr>
          </a:p>
        </p:txBody>
      </p:sp>
      <p:sp>
        <p:nvSpPr>
          <p:cNvPr id="2348" name="圆角矩形 2347"/>
          <p:cNvSpPr/>
          <p:nvPr/>
        </p:nvSpPr>
        <p:spPr>
          <a:xfrm>
            <a:off x="5372100" y="1143000"/>
            <a:ext cx="6210300" cy="5143500"/>
          </a:xfrm>
          <a:prstGeom prst="roundRect">
            <a:avLst>
              <a:gd name="adj" fmla="val 2222"/>
            </a:avLst>
          </a:prstGeom>
          <a:solidFill>
            <a:srgbClr val="111C2E"/>
          </a:solidFill>
          <a:ln w="12700">
            <a:solidFill>
              <a:srgbClr val="38BDF8"/>
            </a:solidFill>
            <a:prstDash val="solid"/>
          </a:ln>
        </p:spPr>
        <p:txBody>
          <a:bodyPr/>
          <a:p/>
        </p:txBody>
      </p:sp>
      <p:sp>
        <p:nvSpPr>
          <p:cNvPr id="2349" name="文本框 2348" descr="{&quot;isTemplate&quot;:true,&quot;type&quot;:&quot;text&quot;}"/>
          <p:cNvSpPr txBox="1"/>
          <p:nvPr/>
        </p:nvSpPr>
        <p:spPr>
          <a:xfrm>
            <a:off x="5562600" y="1333500"/>
            <a:ext cx="5829300" cy="2000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38BDF8"/>
                </a:solidFill>
                <a:latin typeface="微软雅黑" panose="020B0503020204020204" charset="-122"/>
                <a:ea typeface="微软雅黑" panose="020B0503020204020204" charset="-122"/>
              </a:rPr>
              <a:t>两个注册来源</a:t>
            </a:r>
            <a:endParaRPr lang="zh-CN" sz="1275" b="1">
              <a:solidFill>
                <a:srgbClr val="38BDF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350" name="文本框 2349" descr="{&quot;isTemplate&quot;:true,&quot;type&quot;:&quot;text&quot;}"/>
          <p:cNvSpPr txBox="1"/>
          <p:nvPr/>
        </p:nvSpPr>
        <p:spPr>
          <a:xfrm>
            <a:off x="5562600" y="1647825"/>
            <a:ext cx="5829300" cy="2857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5000"/>
              </a:lnSpc>
            </a:pPr>
            <a:r>
              <a:rPr lang="zh-CN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内部是一张</a:t>
            </a:r>
            <a:r>
              <a:rPr lang="en-US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ConcurrentHashMap</a:t>
            </a:r>
            <a:r>
              <a:rPr lang="zh-CN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。</a:t>
            </a:r>
            <a:endParaRPr lang="zh-CN" sz="1050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351" name="文本框 2350" descr="{&quot;isTemplate&quot;:true,&quot;type&quot;:&quot;text&quot;}"/>
          <p:cNvSpPr txBox="1"/>
          <p:nvPr/>
        </p:nvSpPr>
        <p:spPr>
          <a:xfrm>
            <a:off x="5562600" y="2047875"/>
            <a:ext cx="5829300" cy="600075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75000"/>
              </a:lnSpc>
            </a:pPr>
            <a:r>
              <a:rPr lang="en-US" sz="1125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① static init </a:t>
            </a:r>
            <a:r>
              <a:rPr lang="zh-CN" sz="1125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里内置注册：</a:t>
            </a:r>
            <a:r>
              <a:rPr lang="en-US" sz="1125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JsonMediaType.instance</a:t>
            </a:r>
            <a:r>
              <a:rPr lang="zh-CN" sz="1125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、</a:t>
            </a:r>
            <a:r>
              <a:rPr lang="en-US" sz="1125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MultipartMediaType.formData</a:t>
            </a:r>
            <a:r>
              <a:rPr lang="zh-CN" sz="1125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、</a:t>
            </a:r>
            <a:r>
              <a:rPr lang="en-US" sz="1125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MultipartMediaType.mixed</a:t>
            </a:r>
            <a:r>
              <a:rPr lang="zh-CN" sz="1125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、</a:t>
            </a:r>
            <a:r>
              <a:rPr lang="en-US" sz="1125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PlainTextMediaType.instance</a:t>
            </a:r>
            <a:endParaRPr lang="en-US" sz="1125">
              <a:solidFill>
                <a:srgbClr val="E2E8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352" name="文本框 2351" descr="{&quot;isTemplate&quot;:true,&quot;type&quot;:&quot;text&quot;}"/>
          <p:cNvSpPr txBox="1"/>
          <p:nvPr/>
        </p:nvSpPr>
        <p:spPr>
          <a:xfrm>
            <a:off x="5562600" y="2743200"/>
            <a:ext cx="5829300" cy="600075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75000"/>
              </a:lnSpc>
            </a:pPr>
            <a:r>
              <a:rPr lang="en-US" sz="1125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② </a:t>
            </a:r>
            <a:r>
              <a:rPr lang="zh-CN" sz="1125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首次</a:t>
            </a:r>
            <a:r>
              <a:rPr lang="en-US" sz="1125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 tryParse </a:t>
            </a:r>
            <a:r>
              <a:rPr lang="zh-CN" sz="1125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时从</a:t>
            </a:r>
            <a:r>
              <a:rPr lang="en-US" sz="1125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 IOC </a:t>
            </a:r>
            <a:r>
              <a:rPr lang="zh-CN" sz="1125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拉取：</a:t>
            </a:r>
            <a:r>
              <a:rPr lang="en-US" sz="1125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registerFromBeanFactory() </a:t>
            </a:r>
            <a:r>
              <a:rPr lang="zh-CN" sz="1125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会取</a:t>
            </a:r>
            <a:r>
              <a:rPr lang="en-US" sz="1125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 BeanFactory </a:t>
            </a:r>
            <a:r>
              <a:rPr lang="zh-CN" sz="1125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里所有</a:t>
            </a:r>
            <a:r>
              <a:rPr lang="en-US" sz="1125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 MediaType </a:t>
            </a:r>
            <a:r>
              <a:rPr lang="zh-CN" sz="1125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一并注册，用</a:t>
            </a:r>
            <a:r>
              <a:rPr lang="en-US" sz="1125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 AtomicInt8 </a:t>
            </a:r>
            <a:r>
              <a:rPr lang="zh-CN" sz="1125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加条件变量保证只做一次且并发安全</a:t>
            </a:r>
            <a:endParaRPr lang="zh-CN" sz="1125">
              <a:solidFill>
                <a:srgbClr val="E2E8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353" name="文本框 2352" descr="{&quot;isTemplate&quot;:true,&quot;type&quot;:&quot;text&quot;}"/>
          <p:cNvSpPr txBox="1"/>
          <p:nvPr/>
        </p:nvSpPr>
        <p:spPr>
          <a:xfrm>
            <a:off x="5562600" y="3476625"/>
            <a:ext cx="5829300" cy="600075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75000"/>
              </a:lnSpc>
            </a:pPr>
            <a:r>
              <a:rPr lang="zh-CN" sz="1125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所以</a:t>
            </a:r>
            <a:r>
              <a:rPr lang="en-US" sz="1125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 fdemo </a:t>
            </a:r>
            <a:r>
              <a:rPr lang="zh-CN" sz="1125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的</a:t>
            </a:r>
            <a:r>
              <a:rPr lang="en-US" sz="1125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 LogTextMediaType </a:t>
            </a:r>
            <a:r>
              <a:rPr lang="zh-CN" sz="1125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只要加个</a:t>
            </a:r>
            <a:r>
              <a:rPr lang="en-US" sz="1125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 @Bean</a:t>
            </a:r>
            <a:r>
              <a:rPr lang="zh-CN" sz="1125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，</a:t>
            </a:r>
            <a:r>
              <a:rPr lang="en-US" sz="1125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application/json+log </a:t>
            </a:r>
            <a:r>
              <a:rPr lang="zh-CN" sz="1125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就自动可用了</a:t>
            </a:r>
            <a:r>
              <a:rPr lang="en-US" sz="1125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 —— </a:t>
            </a:r>
            <a:r>
              <a:rPr lang="zh-CN" sz="1125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不需要任何注册代码。</a:t>
            </a:r>
            <a:endParaRPr lang="zh-CN" sz="1125">
              <a:solidFill>
                <a:srgbClr val="F59E0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354" name="文本框 2353" descr="{&quot;isTemplate&quot;:true,&quot;type&quot;:&quot;text&quot;}"/>
          <p:cNvSpPr txBox="1"/>
          <p:nvPr/>
        </p:nvSpPr>
        <p:spPr>
          <a:xfrm>
            <a:off x="5562600" y="5534025"/>
            <a:ext cx="5829300" cy="561975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75000"/>
              </a:lnSpc>
            </a:pPr>
            <a:r>
              <a:rPr lang="zh-CN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宽容处理：</a:t>
            </a:r>
            <a:r>
              <a:rPr lang="en-US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tryParse </a:t>
            </a:r>
            <a:r>
              <a:rPr lang="zh-CN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先按完整串查找，找不到就截掉</a:t>
            </a:r>
            <a:r>
              <a:rPr lang="en-US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; </a:t>
            </a:r>
            <a:r>
              <a:rPr lang="zh-CN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之后的参数再找一次（</a:t>
            </a:r>
            <a:r>
              <a:rPr lang="en-US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application/json; charset=utf-8 → application/json</a:t>
            </a:r>
            <a:r>
              <a:rPr lang="zh-CN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），找到后再用</a:t>
            </a:r>
            <a:r>
              <a:rPr lang="en-US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make() </a:t>
            </a:r>
            <a:r>
              <a:rPr lang="zh-CN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把参数带回去。</a:t>
            </a:r>
            <a:endParaRPr lang="zh-CN" sz="1050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355" name="任意多边形 2354"/>
          <p:cNvSpPr/>
          <p:nvPr/>
        </p:nvSpPr>
        <p:spPr>
          <a:xfrm>
            <a:off x="609600" y="6286500"/>
            <a:ext cx="10972800" cy="381000"/>
          </a:xfrm>
          <a:custGeom>
            <a:avLst/>
            <a:gdLst/>
            <a:ahLst/>
            <a:cxnLst/>
            <a:pathLst>
              <a:path w="1152" h="40">
                <a:moveTo>
                  <a:pt x="0" y="0"/>
                </a:moveTo>
                <a:lnTo>
                  <a:pt x="1152" y="0"/>
                </a:lnTo>
                <a:lnTo>
                  <a:pt x="1152" y="1"/>
                </a:lnTo>
                <a:lnTo>
                  <a:pt x="0" y="1"/>
                </a:lnTo>
                <a:close/>
              </a:path>
            </a:pathLst>
          </a:custGeom>
          <a:solidFill>
            <a:srgbClr val="1E293B"/>
          </a:solidFill>
        </p:spPr>
        <p:txBody>
          <a:bodyPr/>
          <a:p/>
        </p:txBody>
      </p:sp>
      <p:sp>
        <p:nvSpPr>
          <p:cNvPr id="2356" name="文本框 2355" descr="{&quot;isTemplate&quot;:true,&quot;type&quot;:&quot;text&quot;}"/>
          <p:cNvSpPr txBox="1"/>
          <p:nvPr/>
        </p:nvSpPr>
        <p:spPr>
          <a:xfrm>
            <a:off x="609600" y="6410325"/>
            <a:ext cx="2219325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fountain · 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一站式服务器应用开发工具库</a:t>
            </a:r>
            <a:endParaRPr lang="zh-CN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357" name="文本框 2356" descr="{&quot;isTemplate&quot;:true,&quot;type&quot;:&quot;text&quot;}"/>
          <p:cNvSpPr txBox="1"/>
          <p:nvPr/>
        </p:nvSpPr>
        <p:spPr>
          <a:xfrm>
            <a:off x="11087100" y="6410325"/>
            <a:ext cx="495300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71 / 116</a:t>
            </a:r>
            <a:endParaRPr lang="en-US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35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9" name="矩形 2358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220"/>
          </a:solidFill>
        </p:spPr>
        <p:txBody>
          <a:bodyPr/>
          <a:p/>
        </p:txBody>
      </p:sp>
      <p:sp>
        <p:nvSpPr>
          <p:cNvPr id="2360" name="矩形 2359"/>
          <p:cNvSpPr/>
          <p:nvPr/>
        </p:nvSpPr>
        <p:spPr>
          <a:xfrm>
            <a:off x="609600" y="476250"/>
            <a:ext cx="38100" cy="381000"/>
          </a:xfrm>
          <a:prstGeom prst="rect">
            <a:avLst/>
          </a:prstGeom>
          <a:solidFill>
            <a:srgbClr val="38BDF8"/>
          </a:solidFill>
        </p:spPr>
        <p:txBody>
          <a:bodyPr/>
          <a:p/>
        </p:txBody>
      </p:sp>
      <p:sp>
        <p:nvSpPr>
          <p:cNvPr id="2361" name="文本框 2360" descr="{&quot;isTemplate&quot;:true,&quot;type&quot;:&quot;text&quot;}"/>
          <p:cNvSpPr txBox="1"/>
          <p:nvPr/>
        </p:nvSpPr>
        <p:spPr>
          <a:xfrm>
            <a:off x="819150" y="304800"/>
            <a:ext cx="9601200" cy="2095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第</a:t>
            </a: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 11 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章</a:t>
            </a: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 · HTTP 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数据格式</a:t>
            </a: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 f_http · 11.5</a:t>
            </a:r>
            <a:endParaRPr lang="en-US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362" name="文本框 2361" descr="{&quot;isTemplate&quot;:true,&quot;type&quot;:&quot;text&quot;}"/>
          <p:cNvSpPr txBox="1"/>
          <p:nvPr/>
        </p:nvSpPr>
        <p:spPr>
          <a:xfrm>
            <a:off x="819150" y="514350"/>
            <a:ext cx="9601200" cy="5143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2550" b="1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自定义数据格式：完整清单</a:t>
            </a:r>
            <a:endParaRPr lang="zh-CN" sz="2550" b="1">
              <a:solidFill>
                <a:srgbClr val="E2E8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363" name="文本框 2362" descr="{&quot;isTemplate&quot;:true,&quot;type&quot;:&quot;text&quot;}"/>
          <p:cNvSpPr txBox="1"/>
          <p:nvPr/>
        </p:nvSpPr>
        <p:spPr>
          <a:xfrm>
            <a:off x="10591800" y="590550"/>
            <a:ext cx="990600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漏一件就编译不过</a:t>
            </a:r>
            <a:endParaRPr lang="zh-CN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364" name="圆角矩形 2363"/>
          <p:cNvSpPr/>
          <p:nvPr/>
        </p:nvSpPr>
        <p:spPr>
          <a:xfrm>
            <a:off x="609600" y="1143000"/>
            <a:ext cx="5391150" cy="542925"/>
          </a:xfrm>
          <a:prstGeom prst="roundRect">
            <a:avLst>
              <a:gd name="adj" fmla="val 17544"/>
            </a:avLst>
          </a:prstGeom>
          <a:solidFill>
            <a:srgbClr val="111C2E"/>
          </a:solidFill>
        </p:spPr>
        <p:txBody>
          <a:bodyPr/>
          <a:p/>
        </p:txBody>
      </p:sp>
      <p:sp>
        <p:nvSpPr>
          <p:cNvPr id="2365" name="文本框 2364" descr="{&quot;isTemplate&quot;:true,&quot;type&quot;:&quot;text&quot;}"/>
          <p:cNvSpPr txBox="1"/>
          <p:nvPr/>
        </p:nvSpPr>
        <p:spPr>
          <a:xfrm>
            <a:off x="742950" y="1276350"/>
            <a:ext cx="323850" cy="2762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b="1">
                <a:solidFill>
                  <a:srgbClr val="38BDF8"/>
                </a:solidFill>
                <a:latin typeface="JetBrains Mono"/>
                <a:ea typeface="JetBrains Mono"/>
              </a:rPr>
              <a:t>1</a:t>
            </a:r>
            <a:endParaRPr lang="en-US" sz="1500" b="1">
              <a:solidFill>
                <a:srgbClr val="38BDF8"/>
              </a:solidFill>
              <a:latin typeface="JetBrains Mono"/>
              <a:ea typeface="JetBrains Mono"/>
            </a:endParaRPr>
          </a:p>
        </p:txBody>
      </p:sp>
      <p:sp>
        <p:nvSpPr>
          <p:cNvPr id="2366" name="文本框 2365" descr="{&quot;isTemplate&quot;:true,&quot;type&quot;:&quot;text&quot;}"/>
          <p:cNvSpPr txBox="1"/>
          <p:nvPr/>
        </p:nvSpPr>
        <p:spPr>
          <a:xfrm>
            <a:off x="1200150" y="1276350"/>
            <a:ext cx="4667250" cy="2762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125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构造器里</a:t>
            </a:r>
            <a:r>
              <a:rPr lang="en-US" sz="1125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 super(</a:t>
            </a:r>
            <a:r>
              <a:rPr lang="zh-CN" sz="1125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你的格式名</a:t>
            </a:r>
            <a:r>
              <a:rPr lang="en-US" sz="1125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)</a:t>
            </a:r>
            <a:endParaRPr lang="en-US" sz="1125">
              <a:solidFill>
                <a:srgbClr val="E2E8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367" name="圆角矩形 2366"/>
          <p:cNvSpPr/>
          <p:nvPr/>
        </p:nvSpPr>
        <p:spPr>
          <a:xfrm>
            <a:off x="609600" y="1781175"/>
            <a:ext cx="5391150" cy="819150"/>
          </a:xfrm>
          <a:prstGeom prst="roundRect">
            <a:avLst>
              <a:gd name="adj" fmla="val 11628"/>
            </a:avLst>
          </a:prstGeom>
          <a:solidFill>
            <a:srgbClr val="111C2E"/>
          </a:solidFill>
        </p:spPr>
        <p:txBody>
          <a:bodyPr/>
          <a:p/>
        </p:txBody>
      </p:sp>
      <p:sp>
        <p:nvSpPr>
          <p:cNvPr id="2368" name="文本框 2367" descr="{&quot;isTemplate&quot;:true,&quot;type&quot;:&quot;text&quot;}"/>
          <p:cNvSpPr txBox="1"/>
          <p:nvPr/>
        </p:nvSpPr>
        <p:spPr>
          <a:xfrm>
            <a:off x="742950" y="1914525"/>
            <a:ext cx="323850" cy="5524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b="1">
                <a:solidFill>
                  <a:srgbClr val="38BDF8"/>
                </a:solidFill>
                <a:latin typeface="JetBrains Mono"/>
                <a:ea typeface="JetBrains Mono"/>
              </a:rPr>
              <a:t>2</a:t>
            </a:r>
            <a:endParaRPr lang="en-US" sz="1500" b="1">
              <a:solidFill>
                <a:srgbClr val="38BDF8"/>
              </a:solidFill>
              <a:latin typeface="JetBrains Mono"/>
              <a:ea typeface="JetBrains Mono"/>
            </a:endParaRPr>
          </a:p>
        </p:txBody>
      </p:sp>
      <p:sp>
        <p:nvSpPr>
          <p:cNvPr id="2369" name="文本框 2368" descr="{&quot;isTemplate&quot;:true,&quot;type&quot;:&quot;text&quot;}"/>
          <p:cNvSpPr txBox="1"/>
          <p:nvPr/>
        </p:nvSpPr>
        <p:spPr>
          <a:xfrm>
            <a:off x="1200150" y="1914525"/>
            <a:ext cx="4667250" cy="552450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125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实现</a:t>
            </a:r>
            <a:r>
              <a:rPr lang="en-US" sz="1125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 make</a:t>
            </a:r>
            <a:r>
              <a:rPr lang="zh-CN" sz="1125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：同一格式可能带不同参数（</a:t>
            </a:r>
            <a:r>
              <a:rPr lang="en-US" sz="1125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charset / boundary</a:t>
            </a:r>
            <a:r>
              <a:rPr lang="zh-CN" sz="1125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），用它创建新实例；不需要参数就返回</a:t>
            </a:r>
            <a:r>
              <a:rPr lang="en-US" sz="1125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 this</a:t>
            </a:r>
            <a:endParaRPr lang="en-US" sz="1125">
              <a:solidFill>
                <a:srgbClr val="E2E8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370" name="圆角矩形 2369"/>
          <p:cNvSpPr/>
          <p:nvPr/>
        </p:nvSpPr>
        <p:spPr>
          <a:xfrm>
            <a:off x="609600" y="2695575"/>
            <a:ext cx="5391150" cy="542925"/>
          </a:xfrm>
          <a:prstGeom prst="roundRect">
            <a:avLst>
              <a:gd name="adj" fmla="val 17544"/>
            </a:avLst>
          </a:prstGeom>
          <a:solidFill>
            <a:srgbClr val="111C2E"/>
          </a:solidFill>
        </p:spPr>
        <p:txBody>
          <a:bodyPr/>
          <a:p/>
        </p:txBody>
      </p:sp>
      <p:sp>
        <p:nvSpPr>
          <p:cNvPr id="2371" name="文本框 2370" descr="{&quot;isTemplate&quot;:true,&quot;type&quot;:&quot;text&quot;}"/>
          <p:cNvSpPr txBox="1"/>
          <p:nvPr/>
        </p:nvSpPr>
        <p:spPr>
          <a:xfrm>
            <a:off x="742950" y="2828925"/>
            <a:ext cx="323850" cy="2762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b="1">
                <a:solidFill>
                  <a:srgbClr val="38BDF8"/>
                </a:solidFill>
                <a:latin typeface="JetBrains Mono"/>
                <a:ea typeface="JetBrains Mono"/>
              </a:rPr>
              <a:t>3</a:t>
            </a:r>
            <a:endParaRPr lang="en-US" sz="1500" b="1">
              <a:solidFill>
                <a:srgbClr val="38BDF8"/>
              </a:solidFill>
              <a:latin typeface="JetBrains Mono"/>
              <a:ea typeface="JetBrains Mono"/>
            </a:endParaRPr>
          </a:p>
        </p:txBody>
      </p:sp>
      <p:sp>
        <p:nvSpPr>
          <p:cNvPr id="2372" name="文本框 2371" descr="{&quot;isTemplate&quot;:true,&quot;type&quot;:&quot;text&quot;}"/>
          <p:cNvSpPr txBox="1"/>
          <p:nvPr/>
        </p:nvSpPr>
        <p:spPr>
          <a:xfrm>
            <a:off x="1200150" y="2828925"/>
            <a:ext cx="4667250" cy="2762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125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实现</a:t>
            </a:r>
            <a:r>
              <a:rPr lang="en-US" sz="1125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 toString()</a:t>
            </a:r>
            <a:endParaRPr lang="en-US" sz="1125">
              <a:solidFill>
                <a:srgbClr val="E2E8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373" name="圆角矩形 2372"/>
          <p:cNvSpPr/>
          <p:nvPr/>
        </p:nvSpPr>
        <p:spPr>
          <a:xfrm>
            <a:off x="609600" y="3333750"/>
            <a:ext cx="5391150" cy="819150"/>
          </a:xfrm>
          <a:prstGeom prst="roundRect">
            <a:avLst>
              <a:gd name="adj" fmla="val 11628"/>
            </a:avLst>
          </a:prstGeom>
          <a:solidFill>
            <a:srgbClr val="111C2E"/>
          </a:solidFill>
        </p:spPr>
        <p:txBody>
          <a:bodyPr/>
          <a:p/>
        </p:txBody>
      </p:sp>
      <p:sp>
        <p:nvSpPr>
          <p:cNvPr id="2374" name="文本框 2373" descr="{&quot;isTemplate&quot;:true,&quot;type&quot;:&quot;text&quot;}"/>
          <p:cNvSpPr txBox="1"/>
          <p:nvPr/>
        </p:nvSpPr>
        <p:spPr>
          <a:xfrm>
            <a:off x="742950" y="3467100"/>
            <a:ext cx="323850" cy="5524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b="1">
                <a:solidFill>
                  <a:srgbClr val="38BDF8"/>
                </a:solidFill>
                <a:latin typeface="JetBrains Mono"/>
                <a:ea typeface="JetBrains Mono"/>
              </a:rPr>
              <a:t>4</a:t>
            </a:r>
            <a:endParaRPr lang="en-US" sz="1500" b="1">
              <a:solidFill>
                <a:srgbClr val="38BDF8"/>
              </a:solidFill>
              <a:latin typeface="JetBrains Mono"/>
              <a:ea typeface="JetBrains Mono"/>
            </a:endParaRPr>
          </a:p>
        </p:txBody>
      </p:sp>
      <p:sp>
        <p:nvSpPr>
          <p:cNvPr id="2375" name="文本框 2374" descr="{&quot;isTemplate&quot;:true,&quot;type&quot;:&quot;text&quot;}"/>
          <p:cNvSpPr txBox="1"/>
          <p:nvPr/>
        </p:nvSpPr>
        <p:spPr>
          <a:xfrm>
            <a:off x="1200150" y="3467100"/>
            <a:ext cx="4667250" cy="552450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125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实现</a:t>
            </a:r>
            <a:r>
              <a:rPr lang="en-US" sz="1125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 == </a:t>
            </a:r>
            <a:r>
              <a:rPr lang="zh-CN" sz="1125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与</a:t>
            </a:r>
            <a:r>
              <a:rPr lang="en-US" sz="1125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 hashCode()</a:t>
            </a:r>
            <a:r>
              <a:rPr lang="zh-CN" sz="1125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：它是</a:t>
            </a:r>
            <a:r>
              <a:rPr lang="en-US" sz="1125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 Hashable </a:t>
            </a:r>
            <a:r>
              <a:rPr lang="zh-CN" sz="1125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且</a:t>
            </a:r>
            <a:r>
              <a:rPr lang="en-US" sz="1125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 Equatable</a:t>
            </a:r>
            <a:r>
              <a:rPr lang="zh-CN" sz="1125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，</a:t>
            </a:r>
            <a:r>
              <a:rPr lang="en-US" sz="1125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MediaTypes </a:t>
            </a:r>
            <a:r>
              <a:rPr lang="zh-CN" sz="1125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会拿它做比较</a:t>
            </a:r>
            <a:endParaRPr lang="zh-CN" sz="1125">
              <a:solidFill>
                <a:srgbClr val="E2E8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376" name="圆角矩形 2375"/>
          <p:cNvSpPr/>
          <p:nvPr/>
        </p:nvSpPr>
        <p:spPr>
          <a:xfrm>
            <a:off x="609600" y="4248150"/>
            <a:ext cx="5391150" cy="819150"/>
          </a:xfrm>
          <a:prstGeom prst="roundRect">
            <a:avLst>
              <a:gd name="adj" fmla="val 11628"/>
            </a:avLst>
          </a:prstGeom>
          <a:solidFill>
            <a:srgbClr val="111C2E"/>
          </a:solidFill>
        </p:spPr>
        <p:txBody>
          <a:bodyPr/>
          <a:p/>
        </p:txBody>
      </p:sp>
      <p:sp>
        <p:nvSpPr>
          <p:cNvPr id="2377" name="文本框 2376" descr="{&quot;isTemplate&quot;:true,&quot;type&quot;:&quot;text&quot;}"/>
          <p:cNvSpPr txBox="1"/>
          <p:nvPr/>
        </p:nvSpPr>
        <p:spPr>
          <a:xfrm>
            <a:off x="742950" y="4381500"/>
            <a:ext cx="323850" cy="5524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b="1">
                <a:solidFill>
                  <a:srgbClr val="38BDF8"/>
                </a:solidFill>
                <a:latin typeface="JetBrains Mono"/>
                <a:ea typeface="JetBrains Mono"/>
              </a:rPr>
              <a:t>5</a:t>
            </a:r>
            <a:endParaRPr lang="en-US" sz="1500" b="1">
              <a:solidFill>
                <a:srgbClr val="38BDF8"/>
              </a:solidFill>
              <a:latin typeface="JetBrains Mono"/>
              <a:ea typeface="JetBrains Mono"/>
            </a:endParaRPr>
          </a:p>
        </p:txBody>
      </p:sp>
      <p:sp>
        <p:nvSpPr>
          <p:cNvPr id="2378" name="文本框 2377" descr="{&quot;isTemplate&quot;:true,&quot;type&quot;:&quot;text&quot;}"/>
          <p:cNvSpPr txBox="1"/>
          <p:nvPr/>
        </p:nvSpPr>
        <p:spPr>
          <a:xfrm>
            <a:off x="1200150" y="4381500"/>
            <a:ext cx="4667250" cy="552450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125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实现</a:t>
            </a:r>
            <a:r>
              <a:rPr lang="en-US" sz="1125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 fromData</a:t>
            </a:r>
            <a:r>
              <a:rPr lang="zh-CN" sz="1125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（响应方向：对象</a:t>
            </a:r>
            <a:r>
              <a:rPr lang="en-US" sz="1125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 → </a:t>
            </a:r>
            <a:r>
              <a:rPr lang="zh-CN" sz="1125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字节）与</a:t>
            </a:r>
            <a:r>
              <a:rPr lang="en-US" sz="1125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 toData</a:t>
            </a:r>
            <a:r>
              <a:rPr lang="zh-CN" sz="1125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（请求方向：字节</a:t>
            </a:r>
            <a:r>
              <a:rPr lang="en-US" sz="1125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 → Data</a:t>
            </a:r>
            <a:r>
              <a:rPr lang="zh-CN" sz="1125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）</a:t>
            </a:r>
            <a:endParaRPr lang="zh-CN" sz="1125">
              <a:solidFill>
                <a:srgbClr val="E2E8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379" name="圆角矩形 2378"/>
          <p:cNvSpPr/>
          <p:nvPr/>
        </p:nvSpPr>
        <p:spPr>
          <a:xfrm>
            <a:off x="609600" y="5162550"/>
            <a:ext cx="5391150" cy="542925"/>
          </a:xfrm>
          <a:prstGeom prst="roundRect">
            <a:avLst>
              <a:gd name="adj" fmla="val 17544"/>
            </a:avLst>
          </a:prstGeom>
          <a:solidFill>
            <a:srgbClr val="F59E0B">
              <a:alpha val="7000"/>
            </a:srgbClr>
          </a:solidFill>
          <a:ln w="12700">
            <a:solidFill>
              <a:srgbClr val="F59E0B"/>
            </a:solidFill>
            <a:prstDash val="solid"/>
          </a:ln>
        </p:spPr>
        <p:txBody>
          <a:bodyPr/>
          <a:p/>
        </p:txBody>
      </p:sp>
      <p:sp>
        <p:nvSpPr>
          <p:cNvPr id="2380" name="文本框 2379" descr="{&quot;isTemplate&quot;:true,&quot;type&quot;:&quot;text&quot;}"/>
          <p:cNvSpPr txBox="1"/>
          <p:nvPr/>
        </p:nvSpPr>
        <p:spPr>
          <a:xfrm>
            <a:off x="742950" y="5295900"/>
            <a:ext cx="323850" cy="2762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b="1">
                <a:solidFill>
                  <a:srgbClr val="F59E0B"/>
                </a:solidFill>
                <a:latin typeface="JetBrains Mono"/>
                <a:ea typeface="JetBrains Mono"/>
              </a:rPr>
              <a:t>6</a:t>
            </a:r>
            <a:endParaRPr lang="en-US" sz="1500" b="1">
              <a:solidFill>
                <a:srgbClr val="F59E0B"/>
              </a:solidFill>
              <a:latin typeface="JetBrains Mono"/>
              <a:ea typeface="JetBrains Mono"/>
            </a:endParaRPr>
          </a:p>
        </p:txBody>
      </p:sp>
      <p:sp>
        <p:nvSpPr>
          <p:cNvPr id="2381" name="文本框 2380" descr="{&quot;isTemplate&quot;:true,&quot;type&quot;:&quot;text&quot;}"/>
          <p:cNvSpPr txBox="1"/>
          <p:nvPr/>
        </p:nvSpPr>
        <p:spPr>
          <a:xfrm>
            <a:off x="1200150" y="5295900"/>
            <a:ext cx="4667250" cy="2762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125" b="1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加</a:t>
            </a:r>
            <a:r>
              <a:rPr lang="en-US" sz="1125" b="1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 @Bean —— </a:t>
            </a:r>
            <a:r>
              <a:rPr lang="zh-CN" sz="1125" b="1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这是它被</a:t>
            </a:r>
            <a:r>
              <a:rPr lang="en-US" sz="1125" b="1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 MediaTypes </a:t>
            </a:r>
            <a:r>
              <a:rPr lang="zh-CN" sz="1125" b="1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发现的唯一途径</a:t>
            </a:r>
            <a:endParaRPr lang="zh-CN" sz="1125" b="1">
              <a:solidFill>
                <a:srgbClr val="F59E0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382" name="圆角矩形 2381"/>
          <p:cNvSpPr/>
          <p:nvPr/>
        </p:nvSpPr>
        <p:spPr>
          <a:xfrm>
            <a:off x="6191250" y="1143000"/>
            <a:ext cx="5391150" cy="2190750"/>
          </a:xfrm>
          <a:prstGeom prst="roundRect">
            <a:avLst>
              <a:gd name="adj" fmla="val 5217"/>
            </a:avLst>
          </a:prstGeom>
          <a:solidFill>
            <a:srgbClr val="0B1220"/>
          </a:solidFill>
          <a:ln w="12700">
            <a:solidFill>
              <a:srgbClr val="38BDF8"/>
            </a:solidFill>
            <a:prstDash val="solid"/>
          </a:ln>
        </p:spPr>
        <p:txBody>
          <a:bodyPr/>
          <a:p/>
        </p:txBody>
      </p:sp>
      <p:sp>
        <p:nvSpPr>
          <p:cNvPr id="2383" name="文本框 2382" descr="{&quot;isTemplate&quot;:true,&quot;type&quot;:&quot;text&quot;}"/>
          <p:cNvSpPr txBox="1"/>
          <p:nvPr/>
        </p:nvSpPr>
        <p:spPr>
          <a:xfrm>
            <a:off x="6362700" y="1314450"/>
            <a:ext cx="5048250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用起来：</a:t>
            </a: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consumes / produces 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直接写你的格式名</a:t>
            </a:r>
            <a:endParaRPr lang="zh-CN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384" name="文本框 2383" descr="{&quot;isTemplate&quot;:true,&quot;type&quot;:&quot;text&quot;}"/>
          <p:cNvSpPr txBox="1"/>
          <p:nvPr/>
        </p:nvSpPr>
        <p:spPr>
          <a:xfrm>
            <a:off x="6362700" y="1543050"/>
            <a:ext cx="5048250" cy="2286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65000"/>
              </a:lnSpc>
            </a:pPr>
            <a:r>
              <a:rPr lang="en-US" sz="900">
                <a:solidFill>
                  <a:srgbClr val="E2E8F0"/>
                </a:solidFill>
                <a:latin typeface="JetBrains Mono"/>
                <a:ea typeface="JetBrains Mono"/>
              </a:rPr>
              <a:t>@PostMapping[path:'/api/user/sessionLog',</a:t>
            </a:r>
            <a:endParaRPr lang="en-US" sz="900">
              <a:solidFill>
                <a:srgbClr val="E2E8F0"/>
              </a:solidFill>
              <a:latin typeface="JetBrains Mono"/>
              <a:ea typeface="JetBrains Mono"/>
            </a:endParaRPr>
          </a:p>
        </p:txBody>
      </p:sp>
      <p:sp>
        <p:nvSpPr>
          <p:cNvPr id="2385" name="文本框 2384" descr="{&quot;isTemplate&quot;:true,&quot;type&quot;:&quot;text&quot;}"/>
          <p:cNvSpPr txBox="1"/>
          <p:nvPr/>
        </p:nvSpPr>
        <p:spPr>
          <a:xfrm>
            <a:off x="6362700" y="1771650"/>
            <a:ext cx="5048250" cy="2286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65000"/>
              </a:lnSpc>
            </a:pPr>
            <a:r>
              <a:rPr lang="en-US" sz="900">
                <a:solidFill>
                  <a:srgbClr val="E2E8F0"/>
                </a:solidFill>
                <a:latin typeface="JetBrains Mono"/>
                <a:ea typeface="JetBrains Mono"/>
              </a:rPr>
              <a:t>             consumes:'application/json+log',</a:t>
            </a:r>
            <a:endParaRPr lang="en-US" sz="900">
              <a:solidFill>
                <a:srgbClr val="E2E8F0"/>
              </a:solidFill>
              <a:latin typeface="JetBrains Mono"/>
              <a:ea typeface="JetBrains Mono"/>
            </a:endParaRPr>
          </a:p>
        </p:txBody>
      </p:sp>
      <p:sp>
        <p:nvSpPr>
          <p:cNvPr id="2386" name="文本框 2385" descr="{&quot;isTemplate&quot;:true,&quot;type&quot;:&quot;text&quot;}"/>
          <p:cNvSpPr txBox="1"/>
          <p:nvPr/>
        </p:nvSpPr>
        <p:spPr>
          <a:xfrm>
            <a:off x="6362700" y="2000250"/>
            <a:ext cx="5048250" cy="2286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65000"/>
              </a:lnSpc>
            </a:pPr>
            <a:r>
              <a:rPr lang="en-US" sz="900">
                <a:solidFill>
                  <a:srgbClr val="E2E8F0"/>
                </a:solidFill>
                <a:latin typeface="JetBrains Mono"/>
                <a:ea typeface="JetBrains Mono"/>
              </a:rPr>
              <a:t>             produces:'application/json+log',</a:t>
            </a:r>
            <a:endParaRPr lang="en-US" sz="900">
              <a:solidFill>
                <a:srgbClr val="E2E8F0"/>
              </a:solidFill>
              <a:latin typeface="JetBrains Mono"/>
              <a:ea typeface="JetBrains Mono"/>
            </a:endParaRPr>
          </a:p>
        </p:txBody>
      </p:sp>
      <p:sp>
        <p:nvSpPr>
          <p:cNvPr id="2387" name="文本框 2386" descr="{&quot;isTemplate&quot;:true,&quot;type&quot;:&quot;text&quot;}"/>
          <p:cNvSpPr txBox="1"/>
          <p:nvPr/>
        </p:nvSpPr>
        <p:spPr>
          <a:xfrm>
            <a:off x="6362700" y="2228850"/>
            <a:ext cx="5048250" cy="2286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65000"/>
              </a:lnSpc>
            </a:pPr>
            <a:r>
              <a:rPr lang="en-US" sz="900">
                <a:solidFill>
                  <a:srgbClr val="38BDF8"/>
                </a:solidFill>
                <a:latin typeface="JetBrains Mono"/>
                <a:ea typeface="JetBrains Mono"/>
              </a:rPr>
              <a:t>             ignoreAuth: true]</a:t>
            </a:r>
            <a:endParaRPr lang="en-US" sz="900">
              <a:solidFill>
                <a:srgbClr val="38BDF8"/>
              </a:solidFill>
              <a:latin typeface="JetBrains Mono"/>
              <a:ea typeface="JetBrains Mono"/>
            </a:endParaRPr>
          </a:p>
        </p:txBody>
      </p:sp>
      <p:sp>
        <p:nvSpPr>
          <p:cNvPr id="2388" name="文本框 2387" descr="{&quot;isTemplate&quot;:true,&quot;type&quot;:&quot;text&quot;}"/>
          <p:cNvSpPr txBox="1"/>
          <p:nvPr/>
        </p:nvSpPr>
        <p:spPr>
          <a:xfrm>
            <a:off x="6362700" y="2457450"/>
            <a:ext cx="5048250" cy="2286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65000"/>
              </a:lnSpc>
            </a:pPr>
            <a:r>
              <a:rPr lang="en-US" sz="900">
                <a:solidFill>
                  <a:srgbClr val="94A3B8"/>
                </a:solidFill>
                <a:latin typeface="JetBrains Mono"/>
                <a:ea typeface="JetBrains Mono"/>
              </a:rPr>
              <a:t>public func loginLog(@RequestBody user: UserRequest): UserRequest</a:t>
            </a:r>
            <a:endParaRPr lang="en-US" sz="900">
              <a:solidFill>
                <a:srgbClr val="94A3B8"/>
              </a:solidFill>
              <a:latin typeface="JetBrains Mono"/>
              <a:ea typeface="JetBrains Mono"/>
            </a:endParaRPr>
          </a:p>
        </p:txBody>
      </p:sp>
      <p:sp>
        <p:nvSpPr>
          <p:cNvPr id="2389" name="圆角矩形 2388"/>
          <p:cNvSpPr/>
          <p:nvPr/>
        </p:nvSpPr>
        <p:spPr>
          <a:xfrm>
            <a:off x="6191250" y="3467100"/>
            <a:ext cx="5391150" cy="2819400"/>
          </a:xfrm>
          <a:prstGeom prst="roundRect">
            <a:avLst>
              <a:gd name="adj" fmla="val 4054"/>
            </a:avLst>
          </a:prstGeom>
          <a:solidFill>
            <a:srgbClr val="0B1220"/>
          </a:solidFill>
          <a:ln w="12700">
            <a:solidFill>
              <a:srgbClr val="1E293B"/>
            </a:solidFill>
            <a:prstDash val="solid"/>
          </a:ln>
        </p:spPr>
        <p:txBody>
          <a:bodyPr/>
          <a:p/>
        </p:txBody>
      </p:sp>
      <p:sp>
        <p:nvSpPr>
          <p:cNvPr id="2390" name="文本框 2389" descr="{&quot;isTemplate&quot;:true,&quot;type&quot;:&quot;text&quot;}"/>
          <p:cNvSpPr txBox="1"/>
          <p:nvPr/>
        </p:nvSpPr>
        <p:spPr>
          <a:xfrm>
            <a:off x="6362700" y="3638550"/>
            <a:ext cx="5048250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演示</a:t>
            </a:r>
            <a:endParaRPr lang="zh-CN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391" name="文本框 2390" descr="{&quot;isTemplate&quot;:true,&quot;type&quot;:&quot;text&quot;}"/>
          <p:cNvSpPr txBox="1"/>
          <p:nvPr/>
        </p:nvSpPr>
        <p:spPr>
          <a:xfrm>
            <a:off x="6362700" y="3867150"/>
            <a:ext cx="5048250" cy="2286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65000"/>
              </a:lnSpc>
            </a:pPr>
            <a:r>
              <a:rPr lang="en-US" sz="900">
                <a:solidFill>
                  <a:srgbClr val="E2E8F0"/>
                </a:solidFill>
                <a:latin typeface="JetBrains Mono"/>
                <a:ea typeface="JetBrains Mono"/>
              </a:rPr>
              <a:t>curl -XPOST http://localhost:8080/api/user/sessionLog \</a:t>
            </a:r>
            <a:endParaRPr lang="en-US" sz="900">
              <a:solidFill>
                <a:srgbClr val="E2E8F0"/>
              </a:solidFill>
              <a:latin typeface="JetBrains Mono"/>
              <a:ea typeface="JetBrains Mono"/>
            </a:endParaRPr>
          </a:p>
        </p:txBody>
      </p:sp>
      <p:sp>
        <p:nvSpPr>
          <p:cNvPr id="2392" name="文本框 2391" descr="{&quot;isTemplate&quot;:true,&quot;type&quot;:&quot;text&quot;}"/>
          <p:cNvSpPr txBox="1"/>
          <p:nvPr/>
        </p:nvSpPr>
        <p:spPr>
          <a:xfrm>
            <a:off x="6362700" y="4095750"/>
            <a:ext cx="5048250" cy="2286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65000"/>
              </a:lnSpc>
            </a:pPr>
            <a:r>
              <a:rPr lang="en-US" sz="900">
                <a:solidFill>
                  <a:srgbClr val="E2E8F0"/>
                </a:solidFill>
                <a:latin typeface="JetBrains Mono"/>
                <a:ea typeface="JetBrains Mono"/>
              </a:rPr>
              <a:t>  -H 'Content-Type:application/json+log' \</a:t>
            </a:r>
            <a:endParaRPr lang="en-US" sz="900">
              <a:solidFill>
                <a:srgbClr val="E2E8F0"/>
              </a:solidFill>
              <a:latin typeface="JetBrains Mono"/>
              <a:ea typeface="JetBrains Mono"/>
            </a:endParaRPr>
          </a:p>
        </p:txBody>
      </p:sp>
      <p:sp>
        <p:nvSpPr>
          <p:cNvPr id="2393" name="文本框 2392" descr="{&quot;isTemplate&quot;:true,&quot;type&quot;:&quot;text&quot;}"/>
          <p:cNvSpPr txBox="1"/>
          <p:nvPr/>
        </p:nvSpPr>
        <p:spPr>
          <a:xfrm>
            <a:off x="6362700" y="4324350"/>
            <a:ext cx="5048250" cy="2286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65000"/>
              </a:lnSpc>
            </a:pPr>
            <a:r>
              <a:rPr lang="en-US" sz="900">
                <a:solidFill>
                  <a:srgbClr val="E2E8F0"/>
                </a:solidFill>
                <a:latin typeface="JetBrains Mono"/>
                <a:ea typeface="JetBrains Mono"/>
              </a:rPr>
              <a:t>  -H 'Accept:application/json+log' \</a:t>
            </a:r>
            <a:endParaRPr lang="en-US" sz="900">
              <a:solidFill>
                <a:srgbClr val="E2E8F0"/>
              </a:solidFill>
              <a:latin typeface="JetBrains Mono"/>
              <a:ea typeface="JetBrains Mono"/>
            </a:endParaRPr>
          </a:p>
        </p:txBody>
      </p:sp>
      <p:sp>
        <p:nvSpPr>
          <p:cNvPr id="2394" name="文本框 2393" descr="{&quot;isTemplate&quot;:true,&quot;type&quot;:&quot;text&quot;}"/>
          <p:cNvSpPr txBox="1"/>
          <p:nvPr/>
        </p:nvSpPr>
        <p:spPr>
          <a:xfrm>
            <a:off x="6362700" y="4552950"/>
            <a:ext cx="5048250" cy="2286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65000"/>
              </a:lnSpc>
            </a:pPr>
            <a:r>
              <a:rPr lang="en-US" sz="900">
                <a:solidFill>
                  <a:srgbClr val="E2E8F0"/>
                </a:solidFill>
                <a:latin typeface="JetBrains Mono"/>
                <a:ea typeface="JetBrains Mono"/>
              </a:rPr>
              <a:t>  -d '{"username":"abcdef","password":"bcbcbcbc"}'</a:t>
            </a:r>
            <a:endParaRPr lang="en-US" sz="900">
              <a:solidFill>
                <a:srgbClr val="E2E8F0"/>
              </a:solidFill>
              <a:latin typeface="JetBrains Mono"/>
              <a:ea typeface="JetBrains Mono"/>
            </a:endParaRPr>
          </a:p>
        </p:txBody>
      </p:sp>
      <p:sp>
        <p:nvSpPr>
          <p:cNvPr id="2395" name="文本框 2394" descr="{&quot;isTemplate&quot;:true,&quot;type&quot;:&quot;text&quot;}"/>
          <p:cNvSpPr txBox="1"/>
          <p:nvPr/>
        </p:nvSpPr>
        <p:spPr>
          <a:xfrm>
            <a:off x="6362700" y="4876800"/>
            <a:ext cx="5048250" cy="514350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zh-CN" sz="975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预期：控制台出现</a:t>
            </a:r>
            <a:r>
              <a:rPr lang="en-US" sz="975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 fromData: </a:t>
            </a:r>
            <a:r>
              <a:rPr lang="zh-CN" sz="975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与</a:t>
            </a:r>
            <a:r>
              <a:rPr lang="en-US" sz="975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 toData: </a:t>
            </a:r>
            <a:r>
              <a:rPr lang="zh-CN" sz="975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两条日志</a:t>
            </a:r>
            <a:r>
              <a:rPr lang="en-US" sz="975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 —— </a:t>
            </a:r>
            <a:r>
              <a:rPr lang="zh-CN" sz="975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请求体和响应体都走了自定义格式。</a:t>
            </a:r>
            <a:endParaRPr lang="zh-CN" sz="975">
              <a:solidFill>
                <a:srgbClr val="F59E0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396" name="文本框 2395" descr="{&quot;isTemplate&quot;:true,&quot;type&quot;:&quot;text&quot;}"/>
          <p:cNvSpPr txBox="1"/>
          <p:nvPr/>
        </p:nvSpPr>
        <p:spPr>
          <a:xfrm>
            <a:off x="6362700" y="5857875"/>
            <a:ext cx="5048250" cy="2571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zh-CN" sz="97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私有协议、加密报文、带签名的请求体，都可以这样接入，业务代码完全不用关心编解码。</a:t>
            </a:r>
            <a:endParaRPr lang="zh-CN" sz="975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397" name="任意多边形 2396"/>
          <p:cNvSpPr/>
          <p:nvPr/>
        </p:nvSpPr>
        <p:spPr>
          <a:xfrm>
            <a:off x="609600" y="6286500"/>
            <a:ext cx="10972800" cy="381000"/>
          </a:xfrm>
          <a:custGeom>
            <a:avLst/>
            <a:gdLst/>
            <a:ahLst/>
            <a:cxnLst/>
            <a:pathLst>
              <a:path w="1152" h="40">
                <a:moveTo>
                  <a:pt x="0" y="0"/>
                </a:moveTo>
                <a:lnTo>
                  <a:pt x="1152" y="0"/>
                </a:lnTo>
                <a:lnTo>
                  <a:pt x="1152" y="1"/>
                </a:lnTo>
                <a:lnTo>
                  <a:pt x="0" y="1"/>
                </a:lnTo>
                <a:close/>
              </a:path>
            </a:pathLst>
          </a:custGeom>
          <a:solidFill>
            <a:srgbClr val="1E293B"/>
          </a:solidFill>
        </p:spPr>
        <p:txBody>
          <a:bodyPr/>
          <a:p/>
        </p:txBody>
      </p:sp>
      <p:sp>
        <p:nvSpPr>
          <p:cNvPr id="2398" name="文本框 2397" descr="{&quot;isTemplate&quot;:true,&quot;type&quot;:&quot;text&quot;}"/>
          <p:cNvSpPr txBox="1"/>
          <p:nvPr/>
        </p:nvSpPr>
        <p:spPr>
          <a:xfrm>
            <a:off x="609600" y="6410325"/>
            <a:ext cx="2219325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fountain · 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一站式服务器应用开发工具库</a:t>
            </a:r>
            <a:endParaRPr lang="zh-CN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399" name="文本框 2398" descr="{&quot;isTemplate&quot;:true,&quot;type&quot;:&quot;text&quot;}"/>
          <p:cNvSpPr txBox="1"/>
          <p:nvPr/>
        </p:nvSpPr>
        <p:spPr>
          <a:xfrm>
            <a:off x="11087100" y="6410325"/>
            <a:ext cx="495300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72 / 116</a:t>
            </a:r>
            <a:endParaRPr lang="en-US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40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1" name="矩形 240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220"/>
          </a:solidFill>
        </p:spPr>
        <p:txBody>
          <a:bodyPr/>
          <a:p/>
        </p:txBody>
      </p:sp>
      <p:sp>
        <p:nvSpPr>
          <p:cNvPr id="2402" name="矩形 2401"/>
          <p:cNvSpPr/>
          <p:nvPr/>
        </p:nvSpPr>
        <p:spPr>
          <a:xfrm>
            <a:off x="609600" y="476250"/>
            <a:ext cx="38100" cy="381000"/>
          </a:xfrm>
          <a:prstGeom prst="rect">
            <a:avLst/>
          </a:prstGeom>
          <a:solidFill>
            <a:srgbClr val="38BDF8"/>
          </a:solidFill>
        </p:spPr>
        <p:txBody>
          <a:bodyPr/>
          <a:p/>
        </p:txBody>
      </p:sp>
      <p:sp>
        <p:nvSpPr>
          <p:cNvPr id="2403" name="文本框 2402" descr="{&quot;isTemplate&quot;:true,&quot;type&quot;:&quot;text&quot;}"/>
          <p:cNvSpPr txBox="1"/>
          <p:nvPr/>
        </p:nvSpPr>
        <p:spPr>
          <a:xfrm>
            <a:off x="819150" y="304800"/>
            <a:ext cx="9382125" cy="2095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第</a:t>
            </a: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 11 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章</a:t>
            </a: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 · HTTP 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数据格式</a:t>
            </a: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 f_http · 11.6</a:t>
            </a:r>
            <a:endParaRPr lang="en-US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404" name="文本框 2403" descr="{&quot;isTemplate&quot;:true,&quot;type&quot;:&quot;text&quot;}"/>
          <p:cNvSpPr txBox="1"/>
          <p:nvPr/>
        </p:nvSpPr>
        <p:spPr>
          <a:xfrm>
            <a:off x="819150" y="514350"/>
            <a:ext cx="9382125" cy="5143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2550" b="1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文件上传：</a:t>
            </a:r>
            <a:r>
              <a:rPr lang="en-US" sz="2550" b="1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multipart/form-data</a:t>
            </a:r>
            <a:endParaRPr lang="en-US" sz="2550" b="1">
              <a:solidFill>
                <a:srgbClr val="E2E8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405" name="文本框 2404" descr="{&quot;isTemplate&quot;:true,&quot;type&quot;:&quot;text&quot;}"/>
          <p:cNvSpPr txBox="1"/>
          <p:nvPr/>
        </p:nvSpPr>
        <p:spPr>
          <a:xfrm>
            <a:off x="10372725" y="590550"/>
            <a:ext cx="1209675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multipart/form-data</a:t>
            </a:r>
            <a:endParaRPr lang="en-US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406" name="圆角矩形 2405"/>
          <p:cNvSpPr/>
          <p:nvPr/>
        </p:nvSpPr>
        <p:spPr>
          <a:xfrm>
            <a:off x="609600" y="1143000"/>
            <a:ext cx="5391150" cy="5143500"/>
          </a:xfrm>
          <a:prstGeom prst="roundRect">
            <a:avLst>
              <a:gd name="adj" fmla="val 2222"/>
            </a:avLst>
          </a:prstGeom>
          <a:solidFill>
            <a:srgbClr val="0B1220"/>
          </a:solidFill>
          <a:ln w="12700">
            <a:solidFill>
              <a:srgbClr val="38BDF8"/>
            </a:solidFill>
            <a:prstDash val="solid"/>
          </a:ln>
        </p:spPr>
        <p:txBody>
          <a:bodyPr/>
          <a:p/>
        </p:txBody>
      </p:sp>
      <p:sp>
        <p:nvSpPr>
          <p:cNvPr id="2407" name="文本框 2406" descr="{&quot;isTemplate&quot;:true,&quot;type&quot;:&quot;text&quot;}"/>
          <p:cNvSpPr txBox="1"/>
          <p:nvPr/>
        </p:nvSpPr>
        <p:spPr>
          <a:xfrm>
            <a:off x="781050" y="1314450"/>
            <a:ext cx="5048250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38BDF8"/>
                </a:solidFill>
                <a:latin typeface="微软雅黑" panose="020B0503020204020204" charset="-122"/>
                <a:ea typeface="微软雅黑" panose="020B0503020204020204" charset="-122"/>
              </a:rPr>
              <a:t>接收</a:t>
            </a:r>
            <a:r>
              <a:rPr lang="en-US" sz="975">
                <a:solidFill>
                  <a:srgbClr val="38BDF8"/>
                </a:solidFill>
                <a:latin typeface="微软雅黑" panose="020B0503020204020204" charset="-122"/>
                <a:ea typeface="微软雅黑" panose="020B0503020204020204" charset="-122"/>
              </a:rPr>
              <a:t> · fdemo/user/src/controller/UploadController.cj</a:t>
            </a:r>
            <a:endParaRPr lang="en-US" sz="975">
              <a:solidFill>
                <a:srgbClr val="38BDF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408" name="文本框 2407" descr="{&quot;isTemplate&quot;:true,&quot;type&quot;:&quot;text&quot;}"/>
          <p:cNvSpPr txBox="1"/>
          <p:nvPr/>
        </p:nvSpPr>
        <p:spPr>
          <a:xfrm>
            <a:off x="781050" y="1543050"/>
            <a:ext cx="5048250" cy="2286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65000"/>
              </a:lnSpc>
            </a:pPr>
            <a:r>
              <a:rPr lang="en-US" sz="900">
                <a:solidFill>
                  <a:srgbClr val="E2E8F0"/>
                </a:solidFill>
                <a:latin typeface="JetBrains Mono"/>
                <a:ea typeface="JetBrains Mono"/>
              </a:rPr>
              <a:t>@DataAssist[props fields]</a:t>
            </a:r>
            <a:endParaRPr lang="en-US" sz="900">
              <a:solidFill>
                <a:srgbClr val="E2E8F0"/>
              </a:solidFill>
              <a:latin typeface="JetBrains Mono"/>
              <a:ea typeface="JetBrains Mono"/>
            </a:endParaRPr>
          </a:p>
        </p:txBody>
      </p:sp>
      <p:sp>
        <p:nvSpPr>
          <p:cNvPr id="2409" name="文本框 2408" descr="{&quot;isTemplate&quot;:true,&quot;type&quot;:&quot;text&quot;}"/>
          <p:cNvSpPr txBox="1"/>
          <p:nvPr/>
        </p:nvSpPr>
        <p:spPr>
          <a:xfrm>
            <a:off x="781050" y="1771650"/>
            <a:ext cx="5048250" cy="2286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65000"/>
              </a:lnSpc>
            </a:pPr>
            <a:r>
              <a:rPr lang="en-US" sz="900">
                <a:solidFill>
                  <a:srgbClr val="E2E8F0"/>
                </a:solidFill>
                <a:latin typeface="JetBrains Mono"/>
                <a:ea typeface="JetBrains Mono"/>
              </a:rPr>
              <a:t>public class UploadRequest {</a:t>
            </a:r>
            <a:endParaRPr lang="en-US" sz="900">
              <a:solidFill>
                <a:srgbClr val="E2E8F0"/>
              </a:solidFill>
              <a:latin typeface="JetBrains Mono"/>
              <a:ea typeface="JetBrains Mono"/>
            </a:endParaRPr>
          </a:p>
        </p:txBody>
      </p:sp>
      <p:sp>
        <p:nvSpPr>
          <p:cNvPr id="2410" name="文本框 2409" descr="{&quot;isTemplate&quot;:true,&quot;type&quot;:&quot;text&quot;}"/>
          <p:cNvSpPr txBox="1"/>
          <p:nvPr/>
        </p:nvSpPr>
        <p:spPr>
          <a:xfrm>
            <a:off x="781050" y="2000250"/>
            <a:ext cx="5048250" cy="2286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65000"/>
              </a:lnSpc>
            </a:pPr>
            <a:r>
              <a:rPr lang="en-US" sz="900">
                <a:solidFill>
                  <a:srgbClr val="E2E8F0"/>
                </a:solidFill>
                <a:latin typeface="JetBrains Mono"/>
                <a:ea typeface="JetBrains Mono"/>
              </a:rPr>
              <a:t>    private var name: String = ''</a:t>
            </a:r>
            <a:endParaRPr lang="en-US" sz="900">
              <a:solidFill>
                <a:srgbClr val="E2E8F0"/>
              </a:solidFill>
              <a:latin typeface="JetBrains Mono"/>
              <a:ea typeface="JetBrains Mono"/>
            </a:endParaRPr>
          </a:p>
        </p:txBody>
      </p:sp>
      <p:sp>
        <p:nvSpPr>
          <p:cNvPr id="2411" name="文本框 2410" descr="{&quot;isTemplate&quot;:true,&quot;type&quot;:&quot;text&quot;}"/>
          <p:cNvSpPr txBox="1"/>
          <p:nvPr/>
        </p:nvSpPr>
        <p:spPr>
          <a:xfrm>
            <a:off x="781050" y="2228850"/>
            <a:ext cx="5048250" cy="2286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65000"/>
              </a:lnSpc>
            </a:pPr>
            <a:r>
              <a:rPr lang="en-US" sz="900">
                <a:solidFill>
                  <a:srgbClr val="F59E0B"/>
                </a:solidFill>
                <a:latin typeface="JetBrains Mono"/>
                <a:ea typeface="JetBrains Mono"/>
              </a:rPr>
              <a:t>    private var file: ?MultipartFile = None</a:t>
            </a:r>
            <a:endParaRPr lang="en-US" sz="900">
              <a:solidFill>
                <a:srgbClr val="F59E0B"/>
              </a:solidFill>
              <a:latin typeface="JetBrains Mono"/>
              <a:ea typeface="JetBrains Mono"/>
            </a:endParaRPr>
          </a:p>
        </p:txBody>
      </p:sp>
      <p:sp>
        <p:nvSpPr>
          <p:cNvPr id="2412" name="文本框 2411" descr="{&quot;isTemplate&quot;:true,&quot;type&quot;:&quot;text&quot;}"/>
          <p:cNvSpPr txBox="1"/>
          <p:nvPr/>
        </p:nvSpPr>
        <p:spPr>
          <a:xfrm>
            <a:off x="781050" y="2457450"/>
            <a:ext cx="5048250" cy="2286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65000"/>
              </a:lnSpc>
            </a:pPr>
            <a:r>
              <a:rPr lang="en-US" sz="900">
                <a:solidFill>
                  <a:srgbClr val="E2E8F0"/>
                </a:solidFill>
                <a:latin typeface="JetBrains Mono"/>
                <a:ea typeface="JetBrains Mono"/>
              </a:rPr>
              <a:t>}</a:t>
            </a:r>
            <a:endParaRPr lang="en-US" sz="900">
              <a:solidFill>
                <a:srgbClr val="E2E8F0"/>
              </a:solidFill>
              <a:latin typeface="JetBrains Mono"/>
              <a:ea typeface="JetBrains Mono"/>
            </a:endParaRPr>
          </a:p>
        </p:txBody>
      </p:sp>
      <p:sp>
        <p:nvSpPr>
          <p:cNvPr id="2413" name="文本框 2412" descr="{&quot;isTemplate&quot;:true,&quot;type&quot;:&quot;text&quot;}"/>
          <p:cNvSpPr txBox="1"/>
          <p:nvPr/>
        </p:nvSpPr>
        <p:spPr>
          <a:xfrm>
            <a:off x="781050" y="2762250"/>
            <a:ext cx="5048250" cy="2286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65000"/>
              </a:lnSpc>
            </a:pPr>
            <a:r>
              <a:rPr lang="en-US" sz="900">
                <a:solidFill>
                  <a:srgbClr val="E2E8F0"/>
                </a:solidFill>
                <a:latin typeface="JetBrains Mono"/>
                <a:ea typeface="JetBrains Mono"/>
              </a:rPr>
              <a:t>@Controller</a:t>
            </a:r>
            <a:endParaRPr lang="en-US" sz="900">
              <a:solidFill>
                <a:srgbClr val="E2E8F0"/>
              </a:solidFill>
              <a:latin typeface="JetBrains Mono"/>
              <a:ea typeface="JetBrains Mono"/>
            </a:endParaRPr>
          </a:p>
        </p:txBody>
      </p:sp>
      <p:sp>
        <p:nvSpPr>
          <p:cNvPr id="2414" name="文本框 2413" descr="{&quot;isTemplate&quot;:true,&quot;type&quot;:&quot;text&quot;}"/>
          <p:cNvSpPr txBox="1"/>
          <p:nvPr/>
        </p:nvSpPr>
        <p:spPr>
          <a:xfrm>
            <a:off x="781050" y="2990850"/>
            <a:ext cx="5048250" cy="457200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65000"/>
              </a:lnSpc>
            </a:pPr>
            <a:r>
              <a:rPr lang="en-US" sz="900">
                <a:solidFill>
                  <a:srgbClr val="38BDF8"/>
                </a:solidFill>
                <a:latin typeface="JetBrains Mono"/>
                <a:ea typeface="JetBrains Mono"/>
              </a:rPr>
              <a:t>@PostMapping[path: '/upload', produces: 'text/plain', consumes: 'multipart/form-data']</a:t>
            </a:r>
            <a:endParaRPr lang="en-US" sz="900">
              <a:solidFill>
                <a:srgbClr val="38BDF8"/>
              </a:solidFill>
              <a:latin typeface="JetBrains Mono"/>
              <a:ea typeface="JetBrains Mono"/>
            </a:endParaRPr>
          </a:p>
        </p:txBody>
      </p:sp>
      <p:sp>
        <p:nvSpPr>
          <p:cNvPr id="2415" name="文本框 2414" descr="{&quot;isTemplate&quot;:true,&quot;type&quot;:&quot;text&quot;}"/>
          <p:cNvSpPr txBox="1"/>
          <p:nvPr/>
        </p:nvSpPr>
        <p:spPr>
          <a:xfrm>
            <a:off x="781050" y="3448050"/>
            <a:ext cx="5048250" cy="2286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65000"/>
              </a:lnSpc>
            </a:pPr>
            <a:r>
              <a:rPr lang="en-US" sz="900">
                <a:solidFill>
                  <a:srgbClr val="94A3B8"/>
                </a:solidFill>
                <a:latin typeface="JetBrains Mono"/>
                <a:ea typeface="JetBrains Mono"/>
              </a:rPr>
              <a:t>@IgnoreSecurity</a:t>
            </a:r>
            <a:endParaRPr lang="en-US" sz="900">
              <a:solidFill>
                <a:srgbClr val="94A3B8"/>
              </a:solidFill>
              <a:latin typeface="JetBrains Mono"/>
              <a:ea typeface="JetBrains Mono"/>
            </a:endParaRPr>
          </a:p>
        </p:txBody>
      </p:sp>
      <p:sp>
        <p:nvSpPr>
          <p:cNvPr id="2416" name="文本框 2415" descr="{&quot;isTemplate&quot;:true,&quot;type&quot;:&quot;text&quot;}"/>
          <p:cNvSpPr txBox="1"/>
          <p:nvPr/>
        </p:nvSpPr>
        <p:spPr>
          <a:xfrm>
            <a:off x="781050" y="3676650"/>
            <a:ext cx="5048250" cy="2286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65000"/>
              </a:lnSpc>
            </a:pPr>
            <a:r>
              <a:rPr lang="en-US" sz="900">
                <a:solidFill>
                  <a:srgbClr val="38BDF8"/>
                </a:solidFill>
                <a:latin typeface="JetBrains Mono"/>
                <a:ea typeface="JetBrains Mono"/>
              </a:rPr>
              <a:t>public func upload(@RequestBody multipart: UploadRequest): String {</a:t>
            </a:r>
            <a:endParaRPr lang="en-US" sz="900">
              <a:solidFill>
                <a:srgbClr val="38BDF8"/>
              </a:solidFill>
              <a:latin typeface="JetBrains Mono"/>
              <a:ea typeface="JetBrains Mono"/>
            </a:endParaRPr>
          </a:p>
        </p:txBody>
      </p:sp>
      <p:sp>
        <p:nvSpPr>
          <p:cNvPr id="2417" name="文本框 2416" descr="{&quot;isTemplate&quot;:true,&quot;type&quot;:&quot;text&quot;}"/>
          <p:cNvSpPr txBox="1"/>
          <p:nvPr/>
        </p:nvSpPr>
        <p:spPr>
          <a:xfrm>
            <a:off x="781050" y="3905250"/>
            <a:ext cx="5048250" cy="2286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65000"/>
              </a:lnSpc>
            </a:pPr>
            <a:r>
              <a:rPr lang="en-US" sz="900">
                <a:solidFill>
                  <a:srgbClr val="94A3B8"/>
                </a:solidFill>
                <a:latin typeface="JetBrains Mono"/>
                <a:ea typeface="JetBrains Mono"/>
              </a:rPr>
              <a:t>    println('${multipart.file?.size} ${multipart.name}')</a:t>
            </a:r>
            <a:endParaRPr lang="en-US" sz="900">
              <a:solidFill>
                <a:srgbClr val="94A3B8"/>
              </a:solidFill>
              <a:latin typeface="JetBrains Mono"/>
              <a:ea typeface="JetBrains Mono"/>
            </a:endParaRPr>
          </a:p>
        </p:txBody>
      </p:sp>
      <p:sp>
        <p:nvSpPr>
          <p:cNvPr id="2418" name="文本框 2417" descr="{&quot;isTemplate&quot;:true,&quot;type&quot;:&quot;text&quot;}"/>
          <p:cNvSpPr txBox="1"/>
          <p:nvPr/>
        </p:nvSpPr>
        <p:spPr>
          <a:xfrm>
            <a:off x="781050" y="4133850"/>
            <a:ext cx="5048250" cy="2286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65000"/>
              </a:lnSpc>
            </a:pPr>
            <a:r>
              <a:rPr lang="en-US" sz="900">
                <a:solidFill>
                  <a:srgbClr val="94A3B8"/>
                </a:solidFill>
                <a:latin typeface="JetBrains Mono"/>
                <a:ea typeface="JetBrains Mono"/>
              </a:rPr>
              <a:t>    'ok'</a:t>
            </a:r>
            <a:endParaRPr lang="en-US" sz="900">
              <a:solidFill>
                <a:srgbClr val="94A3B8"/>
              </a:solidFill>
              <a:latin typeface="JetBrains Mono"/>
              <a:ea typeface="JetBrains Mono"/>
            </a:endParaRPr>
          </a:p>
        </p:txBody>
      </p:sp>
      <p:sp>
        <p:nvSpPr>
          <p:cNvPr id="2419" name="文本框 2418" descr="{&quot;isTemplate&quot;:true,&quot;type&quot;:&quot;text&quot;}"/>
          <p:cNvSpPr txBox="1"/>
          <p:nvPr/>
        </p:nvSpPr>
        <p:spPr>
          <a:xfrm>
            <a:off x="781050" y="4362450"/>
            <a:ext cx="5048250" cy="2286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65000"/>
              </a:lnSpc>
            </a:pPr>
            <a:r>
              <a:rPr lang="en-US" sz="900">
                <a:solidFill>
                  <a:srgbClr val="E2E8F0"/>
                </a:solidFill>
                <a:latin typeface="JetBrains Mono"/>
                <a:ea typeface="JetBrains Mono"/>
              </a:rPr>
              <a:t>}</a:t>
            </a:r>
            <a:endParaRPr lang="en-US" sz="900">
              <a:solidFill>
                <a:srgbClr val="E2E8F0"/>
              </a:solidFill>
              <a:latin typeface="JetBrains Mono"/>
              <a:ea typeface="JetBrains Mono"/>
            </a:endParaRPr>
          </a:p>
        </p:txBody>
      </p:sp>
      <p:sp>
        <p:nvSpPr>
          <p:cNvPr id="2420" name="圆角矩形 2419"/>
          <p:cNvSpPr/>
          <p:nvPr/>
        </p:nvSpPr>
        <p:spPr>
          <a:xfrm>
            <a:off x="6191250" y="1143000"/>
            <a:ext cx="5391150" cy="2381250"/>
          </a:xfrm>
          <a:prstGeom prst="roundRect">
            <a:avLst>
              <a:gd name="adj" fmla="val 4800"/>
            </a:avLst>
          </a:prstGeom>
          <a:solidFill>
            <a:srgbClr val="0B1220"/>
          </a:solidFill>
          <a:ln w="12700">
            <a:solidFill>
              <a:srgbClr val="1E293B"/>
            </a:solidFill>
            <a:prstDash val="solid"/>
          </a:ln>
        </p:spPr>
        <p:txBody>
          <a:bodyPr/>
          <a:p/>
        </p:txBody>
      </p:sp>
      <p:sp>
        <p:nvSpPr>
          <p:cNvPr id="2421" name="文本框 2420" descr="{&quot;isTemplate&quot;:true,&quot;type&quot;:&quot;text&quot;}"/>
          <p:cNvSpPr txBox="1"/>
          <p:nvPr/>
        </p:nvSpPr>
        <p:spPr>
          <a:xfrm>
            <a:off x="6362700" y="1314450"/>
            <a:ext cx="5048250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发送</a:t>
            </a:r>
            <a:endParaRPr lang="zh-CN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422" name="文本框 2421" descr="{&quot;isTemplate&quot;:true,&quot;type&quot;:&quot;text&quot;}"/>
          <p:cNvSpPr txBox="1"/>
          <p:nvPr/>
        </p:nvSpPr>
        <p:spPr>
          <a:xfrm>
            <a:off x="6362700" y="1543050"/>
            <a:ext cx="5048250" cy="2381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en-US" sz="900">
                <a:solidFill>
                  <a:srgbClr val="38BDF8"/>
                </a:solidFill>
                <a:latin typeface="JetBrains Mono"/>
                <a:ea typeface="JetBrains Mono"/>
              </a:rPr>
              <a:t>let form = MultipartFormData()</a:t>
            </a:r>
            <a:endParaRPr lang="en-US" sz="900">
              <a:solidFill>
                <a:srgbClr val="38BDF8"/>
              </a:solidFill>
              <a:latin typeface="JetBrains Mono"/>
              <a:ea typeface="JetBrains Mono"/>
            </a:endParaRPr>
          </a:p>
        </p:txBody>
      </p:sp>
      <p:sp>
        <p:nvSpPr>
          <p:cNvPr id="2423" name="文本框 2422" descr="{&quot;isTemplate&quot;:true,&quot;type&quot;:&quot;text&quot;}"/>
          <p:cNvSpPr txBox="1"/>
          <p:nvPr/>
        </p:nvSpPr>
        <p:spPr>
          <a:xfrm>
            <a:off x="6362700" y="1781175"/>
            <a:ext cx="5048250" cy="2381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en-US" sz="900">
                <a:solidFill>
                  <a:srgbClr val="38BDF8"/>
                </a:solidFill>
                <a:latin typeface="JetBrains Mono"/>
                <a:ea typeface="JetBrains Mono"/>
              </a:rPr>
              <a:t>form.newPart().name('name').value('abc')</a:t>
            </a:r>
            <a:endParaRPr lang="en-US" sz="900">
              <a:solidFill>
                <a:srgbClr val="38BDF8"/>
              </a:solidFill>
              <a:latin typeface="JetBrains Mono"/>
              <a:ea typeface="JetBrains Mono"/>
            </a:endParaRPr>
          </a:p>
        </p:txBody>
      </p:sp>
      <p:sp>
        <p:nvSpPr>
          <p:cNvPr id="2424" name="文本框 2423" descr="{&quot;isTemplate&quot;:true,&quot;type&quot;:&quot;text&quot;}"/>
          <p:cNvSpPr txBox="1"/>
          <p:nvPr/>
        </p:nvSpPr>
        <p:spPr>
          <a:xfrm>
            <a:off x="6362700" y="2019300"/>
            <a:ext cx="5048250" cy="2381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en-US" sz="900">
                <a:solidFill>
                  <a:srgbClr val="38BDF8"/>
                </a:solidFill>
                <a:latin typeface="JetBrains Mono"/>
                <a:ea typeface="JetBrains Mono"/>
              </a:rPr>
              <a:t>form.newPart().file(fileName: 'a.txt', content: inputStream, size: 1234)</a:t>
            </a:r>
            <a:endParaRPr lang="en-US" sz="900">
              <a:solidFill>
                <a:srgbClr val="38BDF8"/>
              </a:solidFill>
              <a:latin typeface="JetBrains Mono"/>
              <a:ea typeface="JetBrains Mono"/>
            </a:endParaRPr>
          </a:p>
        </p:txBody>
      </p:sp>
      <p:sp>
        <p:nvSpPr>
          <p:cNvPr id="2425" name="文本框 2424" descr="{&quot;isTemplate&quot;:true,&quot;type&quot;:&quot;text&quot;}"/>
          <p:cNvSpPr txBox="1"/>
          <p:nvPr/>
        </p:nvSpPr>
        <p:spPr>
          <a:xfrm>
            <a:off x="6362700" y="2257425"/>
            <a:ext cx="5048250" cy="2381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en-US" sz="900">
                <a:solidFill>
                  <a:srgbClr val="E2E8F0"/>
                </a:solidFill>
                <a:latin typeface="JetBrains Mono"/>
                <a:ea typeface="JetBrains Mono"/>
              </a:rPr>
              <a:t>form.encode(output)</a:t>
            </a:r>
            <a:endParaRPr lang="en-US" sz="900">
              <a:solidFill>
                <a:srgbClr val="E2E8F0"/>
              </a:solidFill>
              <a:latin typeface="JetBrains Mono"/>
              <a:ea typeface="JetBrains Mono"/>
            </a:endParaRPr>
          </a:p>
        </p:txBody>
      </p:sp>
      <p:sp>
        <p:nvSpPr>
          <p:cNvPr id="2426" name="文本框 2425" descr="{&quot;isTemplate&quot;:true,&quot;type&quot;:&quot;text&quot;}"/>
          <p:cNvSpPr txBox="1"/>
          <p:nvPr/>
        </p:nvSpPr>
        <p:spPr>
          <a:xfrm>
            <a:off x="6362700" y="2495550"/>
            <a:ext cx="5048250" cy="2381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en-US" sz="900">
                <a:solidFill>
                  <a:srgbClr val="94A3B8"/>
                </a:solidFill>
                <a:latin typeface="JetBrains Mono"/>
                <a:ea typeface="JetBrains Mono"/>
              </a:rPr>
              <a:t>let in = form.input()</a:t>
            </a:r>
            <a:endParaRPr lang="en-US" sz="900">
              <a:solidFill>
                <a:srgbClr val="94A3B8"/>
              </a:solidFill>
              <a:latin typeface="JetBrains Mono"/>
              <a:ea typeface="JetBrains Mono"/>
            </a:endParaRPr>
          </a:p>
        </p:txBody>
      </p:sp>
      <p:sp>
        <p:nvSpPr>
          <p:cNvPr id="2427" name="文本框 2426" descr="{&quot;isTemplate&quot;:true,&quot;type&quot;:&quot;text&quot;}"/>
          <p:cNvSpPr txBox="1"/>
          <p:nvPr/>
        </p:nvSpPr>
        <p:spPr>
          <a:xfrm>
            <a:off x="6362700" y="2828925"/>
            <a:ext cx="5048250" cy="2571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boundary 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自动生成：</a:t>
            </a: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FountainBoundary 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加</a:t>
            </a: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 32 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位随机字母数字（又见</a:t>
            </a: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 f_random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）。</a:t>
            </a:r>
            <a:endParaRPr lang="zh-CN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428" name="圆角矩形 2427"/>
          <p:cNvSpPr/>
          <p:nvPr/>
        </p:nvSpPr>
        <p:spPr>
          <a:xfrm>
            <a:off x="6191250" y="3657600"/>
            <a:ext cx="5391150" cy="2628900"/>
          </a:xfrm>
          <a:prstGeom prst="roundRect">
            <a:avLst>
              <a:gd name="adj" fmla="val 4348"/>
            </a:avLst>
          </a:prstGeom>
          <a:solidFill>
            <a:srgbClr val="111C2E"/>
          </a:solidFill>
          <a:ln w="12700">
            <a:solidFill>
              <a:srgbClr val="F59E0B"/>
            </a:solidFill>
            <a:prstDash val="solid"/>
          </a:ln>
        </p:spPr>
        <p:txBody>
          <a:bodyPr/>
          <a:p/>
        </p:txBody>
      </p:sp>
      <p:sp>
        <p:nvSpPr>
          <p:cNvPr id="2429" name="文本框 2428" descr="{&quot;isTemplate&quot;:true,&quot;type&quot;:&quot;text&quot;}"/>
          <p:cNvSpPr txBox="1"/>
          <p:nvPr/>
        </p:nvSpPr>
        <p:spPr>
          <a:xfrm>
            <a:off x="6362700" y="3829050"/>
            <a:ext cx="5048250" cy="1714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它是</a:t>
            </a:r>
            <a:r>
              <a:rPr lang="en-US" sz="1125" b="1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 Resource</a:t>
            </a:r>
            <a:r>
              <a:rPr lang="zh-CN" sz="1125" b="1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，用完必须</a:t>
            </a:r>
            <a:r>
              <a:rPr lang="en-US" sz="1125" b="1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 close()</a:t>
            </a:r>
            <a:endParaRPr lang="en-US" sz="1125" b="1">
              <a:solidFill>
                <a:srgbClr val="F59E0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430" name="文本框 2429" descr="{&quot;isTemplate&quot;:true,&quot;type&quot;:&quot;text&quot;}"/>
          <p:cNvSpPr txBox="1"/>
          <p:nvPr/>
        </p:nvSpPr>
        <p:spPr>
          <a:xfrm>
            <a:off x="6362700" y="4076700"/>
            <a:ext cx="5048250" cy="514350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zh-CN" sz="97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常用成员：</a:t>
            </a:r>
            <a:r>
              <a:rPr lang="en-US" sz="97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filename / size / empty</a:t>
            </a:r>
            <a:r>
              <a:rPr lang="zh-CN" sz="97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；</a:t>
            </a:r>
            <a:r>
              <a:rPr lang="en-US" sz="97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isAttachment / isInline / isFormData</a:t>
            </a:r>
            <a:r>
              <a:rPr lang="zh-CN" sz="97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；</a:t>
            </a:r>
            <a:r>
              <a:rPr lang="en-US" sz="97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read / bytes / copyTo / reader</a:t>
            </a:r>
            <a:r>
              <a:rPr lang="zh-CN" sz="97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。</a:t>
            </a:r>
            <a:endParaRPr lang="zh-CN" sz="975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431" name="文本框 2430" descr="{&quot;isTemplate&quot;:true,&quot;type&quot;:&quot;text&quot;}"/>
          <p:cNvSpPr txBox="1"/>
          <p:nvPr/>
        </p:nvSpPr>
        <p:spPr>
          <a:xfrm>
            <a:off x="6362700" y="4667250"/>
            <a:ext cx="5048250" cy="2571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en-US" sz="975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close() </a:t>
            </a:r>
            <a:r>
              <a:rPr lang="zh-CN" sz="975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会连临时文件一起删掉，不会在磁盘上留垃圾。</a:t>
            </a:r>
            <a:endParaRPr lang="zh-CN" sz="975">
              <a:solidFill>
                <a:srgbClr val="E2E8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432" name="文本框 2431" descr="{&quot;isTemplate&quot;:true,&quot;type&quot;:&quot;text&quot;}"/>
          <p:cNvSpPr txBox="1"/>
          <p:nvPr/>
        </p:nvSpPr>
        <p:spPr>
          <a:xfrm>
            <a:off x="6362700" y="5181600"/>
            <a:ext cx="5048250" cy="466725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en-US" sz="900">
                <a:solidFill>
                  <a:srgbClr val="94A3B8"/>
                </a:solidFill>
                <a:latin typeface="JetBrains Mono"/>
                <a:ea typeface="JetBrains Mono"/>
              </a:rPr>
              <a:t>export http_halfBufferSize=2048</a:t>
            </a:r>
            <a:r>
              <a:rPr lang="zh-CN" sz="900">
                <a:solidFill>
                  <a:srgbClr val="94A3B8"/>
                </a:solidFill>
                <a:latin typeface="JetBrains Mono"/>
                <a:ea typeface="JetBrains Mono"/>
              </a:rPr>
              <a:t>　·　</a:t>
            </a:r>
            <a:r>
              <a:rPr lang="en-US" sz="900">
                <a:solidFill>
                  <a:srgbClr val="94A3B8"/>
                </a:solidFill>
                <a:latin typeface="JetBrains Mono"/>
                <a:ea typeface="JetBrains Mono"/>
              </a:rPr>
              <a:t>export http_uploadDir=/tmp/fountain/upload</a:t>
            </a:r>
            <a:endParaRPr lang="en-US" sz="900">
              <a:solidFill>
                <a:srgbClr val="94A3B8"/>
              </a:solidFill>
              <a:latin typeface="JetBrains Mono"/>
              <a:ea typeface="JetBrains Mono"/>
            </a:endParaRPr>
          </a:p>
        </p:txBody>
      </p:sp>
      <p:sp>
        <p:nvSpPr>
          <p:cNvPr id="2433" name="文本框 2432" descr="{&quot;isTemplate&quot;:true,&quot;type&quot;:&quot;text&quot;}"/>
          <p:cNvSpPr txBox="1"/>
          <p:nvPr/>
        </p:nvSpPr>
        <p:spPr>
          <a:xfrm>
            <a:off x="6362700" y="5648325"/>
            <a:ext cx="5048250" cy="466725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en-US" sz="900">
                <a:solidFill>
                  <a:srgbClr val="22D3EE"/>
                </a:solidFill>
                <a:latin typeface="JetBrains Mono"/>
                <a:ea typeface="JetBrains Mono"/>
              </a:rPr>
              <a:t>curl -XPOST http://localhost:8080/upload -F 'name=abc' -F 'file=@./banner.txt'</a:t>
            </a:r>
            <a:endParaRPr lang="en-US" sz="900">
              <a:solidFill>
                <a:srgbClr val="22D3EE"/>
              </a:solidFill>
              <a:latin typeface="JetBrains Mono"/>
              <a:ea typeface="JetBrains Mono"/>
            </a:endParaRPr>
          </a:p>
        </p:txBody>
      </p:sp>
      <p:sp>
        <p:nvSpPr>
          <p:cNvPr id="2434" name="任意多边形 2433"/>
          <p:cNvSpPr/>
          <p:nvPr/>
        </p:nvSpPr>
        <p:spPr>
          <a:xfrm>
            <a:off x="609600" y="6286500"/>
            <a:ext cx="10972800" cy="381000"/>
          </a:xfrm>
          <a:custGeom>
            <a:avLst/>
            <a:gdLst/>
            <a:ahLst/>
            <a:cxnLst/>
            <a:pathLst>
              <a:path w="1152" h="40">
                <a:moveTo>
                  <a:pt x="0" y="0"/>
                </a:moveTo>
                <a:lnTo>
                  <a:pt x="1152" y="0"/>
                </a:lnTo>
                <a:lnTo>
                  <a:pt x="1152" y="1"/>
                </a:lnTo>
                <a:lnTo>
                  <a:pt x="0" y="1"/>
                </a:lnTo>
                <a:close/>
              </a:path>
            </a:pathLst>
          </a:custGeom>
          <a:solidFill>
            <a:srgbClr val="1E293B"/>
          </a:solidFill>
        </p:spPr>
        <p:txBody>
          <a:bodyPr/>
          <a:p/>
        </p:txBody>
      </p:sp>
      <p:sp>
        <p:nvSpPr>
          <p:cNvPr id="2435" name="文本框 2434" descr="{&quot;isTemplate&quot;:true,&quot;type&quot;:&quot;text&quot;}"/>
          <p:cNvSpPr txBox="1"/>
          <p:nvPr/>
        </p:nvSpPr>
        <p:spPr>
          <a:xfrm>
            <a:off x="609600" y="6410325"/>
            <a:ext cx="2219325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fountain · 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一站式服务器应用开发工具库</a:t>
            </a:r>
            <a:endParaRPr lang="zh-CN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436" name="文本框 2435" descr="{&quot;isTemplate&quot;:true,&quot;type&quot;:&quot;text&quot;}"/>
          <p:cNvSpPr txBox="1"/>
          <p:nvPr/>
        </p:nvSpPr>
        <p:spPr>
          <a:xfrm>
            <a:off x="11087100" y="6410325"/>
            <a:ext cx="495300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73 / 116</a:t>
            </a:r>
            <a:endParaRPr lang="en-US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43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8" name="矩形 2437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220"/>
          </a:solidFill>
        </p:spPr>
        <p:txBody>
          <a:bodyPr/>
          <a:p/>
        </p:txBody>
      </p:sp>
      <p:sp>
        <p:nvSpPr>
          <p:cNvPr id="2439" name="矩形 2438"/>
          <p:cNvSpPr/>
          <p:nvPr/>
        </p:nvSpPr>
        <p:spPr>
          <a:xfrm>
            <a:off x="609600" y="476250"/>
            <a:ext cx="38100" cy="381000"/>
          </a:xfrm>
          <a:prstGeom prst="rect">
            <a:avLst/>
          </a:prstGeom>
          <a:solidFill>
            <a:srgbClr val="38BDF8"/>
          </a:solidFill>
        </p:spPr>
        <p:txBody>
          <a:bodyPr/>
          <a:p/>
        </p:txBody>
      </p:sp>
      <p:sp>
        <p:nvSpPr>
          <p:cNvPr id="2440" name="文本框 2439" descr="{&quot;isTemplate&quot;:true,&quot;type&quot;:&quot;text&quot;}"/>
          <p:cNvSpPr txBox="1"/>
          <p:nvPr/>
        </p:nvSpPr>
        <p:spPr>
          <a:xfrm>
            <a:off x="819150" y="304800"/>
            <a:ext cx="9305925" cy="2095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第</a:t>
            </a: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 11 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章</a:t>
            </a: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 · HTTP 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数据格式</a:t>
            </a: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 f_http · 11.7</a:t>
            </a:r>
            <a:endParaRPr lang="en-US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441" name="文本框 2440" descr="{&quot;isTemplate&quot;:true,&quot;type&quot;:&quot;text&quot;}"/>
          <p:cNvSpPr txBox="1"/>
          <p:nvPr/>
        </p:nvSpPr>
        <p:spPr>
          <a:xfrm>
            <a:off x="819150" y="514350"/>
            <a:ext cx="9305925" cy="5143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2550" b="1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异常与排错</a:t>
            </a:r>
            <a:endParaRPr lang="zh-CN" sz="2550" b="1">
              <a:solidFill>
                <a:srgbClr val="E2E8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442" name="文本框 2441" descr="{&quot;isTemplate&quot;:true,&quot;type&quot;:&quot;text&quot;}"/>
          <p:cNvSpPr txBox="1"/>
          <p:nvPr/>
        </p:nvSpPr>
        <p:spPr>
          <a:xfrm>
            <a:off x="10296525" y="590550"/>
            <a:ext cx="1285875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99% 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是</a:t>
            </a: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 @Bean 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没生效</a:t>
            </a:r>
            <a:endParaRPr lang="zh-CN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graphicFrame>
        <p:nvGraphicFramePr>
          <p:cNvPr id="2443" name="表格 2442"/>
          <p:cNvGraphicFramePr/>
          <p:nvPr/>
        </p:nvGraphicFramePr>
        <p:xfrm>
          <a:off x="609600" y="1143000"/>
          <a:ext cx="10972800" cy="2286000"/>
        </p:xfrm>
        <a:graphic>
          <a:graphicData uri="http://schemas.openxmlformats.org/drawingml/2006/table">
            <a:tbl>
              <a:tblPr/>
              <a:tblGrid>
                <a:gridCol w="5607246"/>
                <a:gridCol w="5365554"/>
              </a:tblGrid>
              <a:tr h="543020"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 b="1">
                          <a:solidFill>
                            <a:srgbClr val="22D3EE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异常</a:t>
                      </a:r>
                      <a:endParaRPr sz="975" b="1">
                        <a:solidFill>
                          <a:srgbClr val="22D3EE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6233A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 b="1">
                          <a:solidFill>
                            <a:srgbClr val="22D3EE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场景</a:t>
                      </a:r>
                      <a:endParaRPr sz="975" b="1">
                        <a:solidFill>
                          <a:srgbClr val="22D3EE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6233A"/>
                    </a:solidFill>
                  </a:tcPr>
                </a:tc>
              </a:tr>
              <a:tr h="580993"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F59E0B"/>
                          </a:solidFill>
                          <a:latin typeface="JetBrains Mono"/>
                          <a:ea typeface="JetBrains Mono"/>
                        </a:rPr>
                        <a:t>MediaTypeException('&lt;x&gt; is an illegal MediaType string')</a:t>
                      </a:r>
                      <a:endParaRPr sz="975">
                        <a:solidFill>
                          <a:srgbClr val="F59E0B"/>
                        </a:solidFill>
                        <a:latin typeface="JetBrains Mono"/>
                        <a:ea typeface="JetBrains Mono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50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MediaTypes.parse() 遇到没注册的格式</a:t>
                      </a:r>
                      <a:endParaRPr sz="1050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580993"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E2E8F0"/>
                          </a:solidFill>
                          <a:latin typeface="JetBrains Mono"/>
                          <a:ea typeface="JetBrains Mono"/>
                        </a:rPr>
                        <a:t>MediaTypeException('charset in &lt;x&gt; is not be supported')</a:t>
                      </a:r>
                      <a:endParaRPr sz="975">
                        <a:solidFill>
                          <a:srgbClr val="E2E8F0"/>
                        </a:solidFill>
                        <a:latin typeface="JetBrains Mono"/>
                        <a:ea typeface="JetBrains Mono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50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文本格式的 charset 不支持</a:t>
                      </a:r>
                      <a:endParaRPr sz="1050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580993"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E2E8F0"/>
                          </a:solidFill>
                          <a:latin typeface="JetBrains Mono"/>
                          <a:ea typeface="JetBrains Mono"/>
                        </a:rPr>
                        <a:t>MediaTypeException('&lt;x&gt; does not support current access')</a:t>
                      </a:r>
                      <a:endParaRPr sz="975">
                        <a:solidFill>
                          <a:srgbClr val="E2E8F0"/>
                        </a:solidFill>
                        <a:latin typeface="JetBrains Mono"/>
                        <a:ea typeface="JetBrains Mono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50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对 multipart 调用了 fromData(Data) / toData(Array&lt;Byte&gt;)</a:t>
                      </a:r>
                      <a:endParaRPr sz="1050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</a:tbl>
          </a:graphicData>
        </a:graphic>
      </p:graphicFrame>
      <p:sp>
        <p:nvSpPr>
          <p:cNvPr id="2444" name="圆角矩形 2443"/>
          <p:cNvSpPr/>
          <p:nvPr/>
        </p:nvSpPr>
        <p:spPr>
          <a:xfrm>
            <a:off x="609600" y="3562350"/>
            <a:ext cx="10972800" cy="2724150"/>
          </a:xfrm>
          <a:prstGeom prst="roundRect">
            <a:avLst>
              <a:gd name="adj" fmla="val 4196"/>
            </a:avLst>
          </a:prstGeom>
          <a:solidFill>
            <a:srgbClr val="F59E0B">
              <a:alpha val="7000"/>
            </a:srgbClr>
          </a:solidFill>
          <a:ln w="12700">
            <a:solidFill>
              <a:srgbClr val="F59E0B"/>
            </a:solidFill>
            <a:prstDash val="solid"/>
          </a:ln>
        </p:spPr>
        <p:txBody>
          <a:bodyPr/>
          <a:p/>
        </p:txBody>
      </p:sp>
      <p:sp>
        <p:nvSpPr>
          <p:cNvPr id="2445" name="文本框 2444" descr="{&quot;isTemplate&quot;:true,&quot;type&quot;:&quot;text&quot;}"/>
          <p:cNvSpPr txBox="1"/>
          <p:nvPr/>
        </p:nvSpPr>
        <p:spPr>
          <a:xfrm>
            <a:off x="800100" y="3752850"/>
            <a:ext cx="10591800" cy="1905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遇到</a:t>
            </a:r>
            <a:r>
              <a:rPr lang="en-US" sz="1200" b="1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 is an illegal MediaType string</a:t>
            </a:r>
            <a:r>
              <a:rPr lang="zh-CN" sz="1200" b="1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，</a:t>
            </a:r>
            <a:r>
              <a:rPr lang="en-US" sz="1200" b="1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99% </a:t>
            </a:r>
            <a:r>
              <a:rPr lang="zh-CN" sz="1200" b="1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是自定义</a:t>
            </a:r>
            <a:r>
              <a:rPr lang="en-US" sz="1200" b="1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 MediaType </a:t>
            </a:r>
            <a:r>
              <a:rPr lang="zh-CN" sz="1200" b="1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的</a:t>
            </a:r>
            <a:r>
              <a:rPr lang="en-US" sz="1200" b="1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 @Bean </a:t>
            </a:r>
            <a:r>
              <a:rPr lang="zh-CN" sz="1200" b="1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没生效</a:t>
            </a:r>
            <a:endParaRPr lang="zh-CN" sz="1200" b="1">
              <a:solidFill>
                <a:srgbClr val="F59E0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446" name="文本框 2445" descr="{&quot;isTemplate&quot;:true,&quot;type&quot;:&quot;text&quot;}"/>
          <p:cNvSpPr txBox="1"/>
          <p:nvPr/>
        </p:nvSpPr>
        <p:spPr>
          <a:xfrm>
            <a:off x="800100" y="4038600"/>
            <a:ext cx="10591800" cy="561975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75000"/>
              </a:lnSpc>
            </a:pPr>
            <a:r>
              <a:rPr lang="zh-CN" sz="105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回到第三章那条规则：它所在的动态链接库必须被</a:t>
            </a:r>
            <a:r>
              <a:rPr lang="en-US" sz="105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 --dylibPattern </a:t>
            </a:r>
            <a:r>
              <a:rPr lang="zh-CN" sz="105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匹配到。</a:t>
            </a:r>
            <a:r>
              <a:rPr lang="en-US" sz="105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fdemo </a:t>
            </a:r>
            <a:r>
              <a:rPr lang="zh-CN" sz="105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的</a:t>
            </a:r>
            <a:r>
              <a:rPr lang="en-US" sz="105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 LogTextMediaType </a:t>
            </a:r>
            <a:r>
              <a:rPr lang="zh-CN" sz="105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在</a:t>
            </a:r>
            <a:r>
              <a:rPr lang="en-US" sz="105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 boot </a:t>
            </a:r>
            <a:r>
              <a:rPr lang="zh-CN" sz="105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包里，而正则里有</a:t>
            </a:r>
            <a:r>
              <a:rPr lang="en-US" sz="105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 boot </a:t>
            </a:r>
            <a:r>
              <a:rPr lang="zh-CN" sz="105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这一段，所以能被加载、被发现、被注册。</a:t>
            </a:r>
            <a:endParaRPr lang="zh-CN" sz="1050">
              <a:solidFill>
                <a:srgbClr val="E2E8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447" name="文本框 2446" descr="{&quot;isTemplate&quot;:true,&quot;type&quot;:&quot;text&quot;}"/>
          <p:cNvSpPr txBox="1"/>
          <p:nvPr/>
        </p:nvSpPr>
        <p:spPr>
          <a:xfrm>
            <a:off x="800100" y="4695825"/>
            <a:ext cx="10591800" cy="2857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5000"/>
              </a:lnSpc>
            </a:pPr>
            <a:r>
              <a:rPr lang="zh-CN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自定义格式不生效时的排查顺序：①</a:t>
            </a:r>
            <a:r>
              <a:rPr lang="en-US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@Bean </a:t>
            </a:r>
            <a:r>
              <a:rPr lang="zh-CN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有没有加；②</a:t>
            </a:r>
            <a:r>
              <a:rPr lang="en-US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</a:t>
            </a:r>
            <a:r>
              <a:rPr lang="zh-CN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它所在的包有没有被</a:t>
            </a:r>
            <a:r>
              <a:rPr lang="en-US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--dylibPattern </a:t>
            </a:r>
            <a:r>
              <a:rPr lang="zh-CN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覆盖；③</a:t>
            </a:r>
            <a:r>
              <a:rPr lang="en-US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</a:t>
            </a:r>
            <a:r>
              <a:rPr lang="zh-CN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才是怀疑框架。</a:t>
            </a:r>
            <a:endParaRPr lang="zh-CN" sz="1050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448" name="任意多边形 2447"/>
          <p:cNvSpPr/>
          <p:nvPr/>
        </p:nvSpPr>
        <p:spPr>
          <a:xfrm>
            <a:off x="609600" y="6286500"/>
            <a:ext cx="10972800" cy="381000"/>
          </a:xfrm>
          <a:custGeom>
            <a:avLst/>
            <a:gdLst/>
            <a:ahLst/>
            <a:cxnLst/>
            <a:pathLst>
              <a:path w="1152" h="40">
                <a:moveTo>
                  <a:pt x="0" y="0"/>
                </a:moveTo>
                <a:lnTo>
                  <a:pt x="1152" y="0"/>
                </a:lnTo>
                <a:lnTo>
                  <a:pt x="1152" y="1"/>
                </a:lnTo>
                <a:lnTo>
                  <a:pt x="0" y="1"/>
                </a:lnTo>
                <a:close/>
              </a:path>
            </a:pathLst>
          </a:custGeom>
          <a:solidFill>
            <a:srgbClr val="1E293B"/>
          </a:solidFill>
        </p:spPr>
        <p:txBody>
          <a:bodyPr/>
          <a:p/>
        </p:txBody>
      </p:sp>
      <p:sp>
        <p:nvSpPr>
          <p:cNvPr id="2449" name="文本框 2448" descr="{&quot;isTemplate&quot;:true,&quot;type&quot;:&quot;text&quot;}"/>
          <p:cNvSpPr txBox="1"/>
          <p:nvPr/>
        </p:nvSpPr>
        <p:spPr>
          <a:xfrm>
            <a:off x="609600" y="6410325"/>
            <a:ext cx="2219325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fountain · 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一站式服务器应用开发工具库</a:t>
            </a:r>
            <a:endParaRPr lang="zh-CN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450" name="文本框 2449" descr="{&quot;isTemplate&quot;:true,&quot;type&quot;:&quot;text&quot;}"/>
          <p:cNvSpPr txBox="1"/>
          <p:nvPr/>
        </p:nvSpPr>
        <p:spPr>
          <a:xfrm>
            <a:off x="11087100" y="6410325"/>
            <a:ext cx="495300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74 / 116</a:t>
            </a:r>
            <a:endParaRPr lang="en-US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45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2" name="矩形 245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220"/>
          </a:solidFill>
        </p:spPr>
        <p:txBody>
          <a:bodyPr/>
          <a:p/>
        </p:txBody>
      </p:sp>
      <p:sp>
        <p:nvSpPr>
          <p:cNvPr id="2453" name="文本框 2452" descr="{&quot;isTemplate&quot;:true,&quot;type&quot;:&quot;text&quot;}"/>
          <p:cNvSpPr txBox="1"/>
          <p:nvPr/>
        </p:nvSpPr>
        <p:spPr>
          <a:xfrm>
            <a:off x="8239125" y="1143000"/>
            <a:ext cx="3571875" cy="36576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4000" b="1">
                <a:solidFill>
                  <a:srgbClr val="16233A"/>
                </a:solidFill>
                <a:latin typeface="JetBrains Mono"/>
                <a:ea typeface="JetBrains Mono"/>
              </a:rPr>
              <a:t>03</a:t>
            </a:r>
            <a:endParaRPr lang="en-US" sz="24000" b="1">
              <a:solidFill>
                <a:srgbClr val="16233A"/>
              </a:solidFill>
              <a:latin typeface="JetBrains Mono"/>
              <a:ea typeface="JetBrains Mono"/>
            </a:endParaRPr>
          </a:p>
        </p:txBody>
      </p:sp>
      <p:sp>
        <p:nvSpPr>
          <p:cNvPr id="2454" name="矩形 2453"/>
          <p:cNvSpPr/>
          <p:nvPr/>
        </p:nvSpPr>
        <p:spPr>
          <a:xfrm>
            <a:off x="0" y="0"/>
            <a:ext cx="76200" cy="6858000"/>
          </a:xfrm>
          <a:prstGeom prst="rect">
            <a:avLst/>
          </a:prstGeom>
          <a:gradFill>
            <a:gsLst>
              <a:gs pos="0">
                <a:srgbClr val="38BDF8"/>
              </a:gs>
              <a:gs pos="100000">
                <a:srgbClr val="22D3EE"/>
              </a:gs>
            </a:gsLst>
            <a:lin ang="2700000" scaled="1"/>
          </a:gradFill>
        </p:spPr>
        <p:txBody>
          <a:bodyPr/>
          <a:p/>
        </p:txBody>
      </p:sp>
      <p:sp>
        <p:nvSpPr>
          <p:cNvPr id="2455" name="文本框 2454" descr="{&quot;isTemplate&quot;:true,&quot;type&quot;:&quot;text&quot;}"/>
          <p:cNvSpPr txBox="1"/>
          <p:nvPr/>
        </p:nvSpPr>
        <p:spPr>
          <a:xfrm>
            <a:off x="1143000" y="2076450"/>
            <a:ext cx="1019175" cy="1905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spc="450">
                <a:solidFill>
                  <a:srgbClr val="38BDF8"/>
                </a:solidFill>
                <a:latin typeface="微软雅黑" panose="020B0503020204020204" charset="-122"/>
                <a:ea typeface="微软雅黑" panose="020B0503020204020204" charset="-122"/>
              </a:rPr>
              <a:t>PART 03</a:t>
            </a:r>
            <a:endParaRPr lang="en-US" sz="1200" spc="450">
              <a:solidFill>
                <a:srgbClr val="38BDF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456" name="文本框 2455" descr="{&quot;isTemplate&quot;:true,&quot;type&quot;:&quot;text&quot;}"/>
          <p:cNvSpPr txBox="1"/>
          <p:nvPr/>
        </p:nvSpPr>
        <p:spPr>
          <a:xfrm>
            <a:off x="1143000" y="2419350"/>
            <a:ext cx="2667000" cy="7429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15000"/>
              </a:lnSpc>
            </a:pPr>
            <a:r>
              <a:rPr lang="zh-CN" sz="42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数据与安全</a:t>
            </a:r>
            <a:endParaRPr lang="zh-CN" sz="42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457" name="矩形 2456"/>
          <p:cNvSpPr/>
          <p:nvPr/>
        </p:nvSpPr>
        <p:spPr>
          <a:xfrm>
            <a:off x="1143000" y="3276600"/>
            <a:ext cx="1524000" cy="57150"/>
          </a:xfrm>
          <a:prstGeom prst="rect">
            <a:avLst/>
          </a:prstGeom>
          <a:gradFill>
            <a:gsLst>
              <a:gs pos="0">
                <a:srgbClr val="38BDF8"/>
              </a:gs>
              <a:gs pos="100000">
                <a:srgbClr val="22D3EE"/>
              </a:gs>
            </a:gsLst>
            <a:lin ang="2700000" scaled="1"/>
          </a:gradFill>
        </p:spPr>
        <p:txBody>
          <a:bodyPr/>
          <a:p/>
        </p:txBody>
      </p:sp>
      <p:sp>
        <p:nvSpPr>
          <p:cNvPr id="2458" name="文本框 2457" descr="{&quot;isTemplate&quot;:true,&quot;type&quot;:&quot;text&quot;}"/>
          <p:cNvSpPr txBox="1"/>
          <p:nvPr/>
        </p:nvSpPr>
        <p:spPr>
          <a:xfrm>
            <a:off x="1143000" y="3733800"/>
            <a:ext cx="6134100" cy="4000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90000"/>
              </a:lnSpc>
            </a:pPr>
            <a:r>
              <a:rPr lang="en-US" sz="13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f_orm </a:t>
            </a:r>
            <a:r>
              <a:rPr lang="zh-CN" sz="13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的</a:t>
            </a:r>
            <a:r>
              <a:rPr lang="en-US" sz="13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PO / DAO / Service </a:t>
            </a:r>
            <a:r>
              <a:rPr lang="zh-CN" sz="13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三角色　·　三种构造</a:t>
            </a:r>
            <a:r>
              <a:rPr lang="en-US" sz="13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SQL </a:t>
            </a:r>
            <a:r>
              <a:rPr lang="zh-CN" sz="13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的方式　·　分页与方言</a:t>
            </a:r>
            <a:endParaRPr lang="zh-CN" sz="1350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459" name="文本框 2458" descr="{&quot;isTemplate&quot;:true,&quot;type&quot;:&quot;text&quot;}"/>
          <p:cNvSpPr txBox="1"/>
          <p:nvPr/>
        </p:nvSpPr>
        <p:spPr>
          <a:xfrm>
            <a:off x="1143000" y="4076700"/>
            <a:ext cx="5153025" cy="4000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90000"/>
              </a:lnSpc>
            </a:pPr>
            <a:r>
              <a:rPr lang="zh-CN" sz="13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事务三种开启方式与事务钩子　·　</a:t>
            </a:r>
            <a:r>
              <a:rPr lang="en-US" sz="13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f_security + f_jwt</a:t>
            </a:r>
            <a:r>
              <a:rPr lang="zh-CN" sz="13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　·　</a:t>
            </a:r>
            <a:r>
              <a:rPr lang="en-US" sz="13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f_ticktock</a:t>
            </a:r>
            <a:endParaRPr lang="en-US" sz="1350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460" name="文本框 2459" descr="{&quot;isTemplate&quot;:true,&quot;type&quot;:&quot;text&quot;}"/>
          <p:cNvSpPr txBox="1"/>
          <p:nvPr/>
        </p:nvSpPr>
        <p:spPr>
          <a:xfrm>
            <a:off x="1143000" y="4876800"/>
            <a:ext cx="733425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第</a:t>
            </a:r>
            <a:r>
              <a:rPr lang="en-US" sz="105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 12–14 </a:t>
            </a:r>
            <a:r>
              <a:rPr lang="zh-CN" sz="105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章</a:t>
            </a:r>
            <a:endParaRPr lang="zh-CN" sz="105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461" name="矩形 2460"/>
          <p:cNvSpPr/>
          <p:nvPr/>
        </p:nvSpPr>
        <p:spPr>
          <a:xfrm>
            <a:off x="2105025" y="4886325"/>
            <a:ext cx="9525" cy="152400"/>
          </a:xfrm>
          <a:prstGeom prst="rect">
            <a:avLst/>
          </a:prstGeom>
          <a:solidFill>
            <a:srgbClr val="1E293B"/>
          </a:solidFill>
        </p:spPr>
        <p:txBody>
          <a:bodyPr/>
          <a:p/>
        </p:txBody>
      </p:sp>
      <p:sp>
        <p:nvSpPr>
          <p:cNvPr id="2462" name="文本框 2461" descr="{&quot;isTemplate&quot;:true,&quot;type&quot;:&quot;text&quot;}"/>
          <p:cNvSpPr txBox="1"/>
          <p:nvPr/>
        </p:nvSpPr>
        <p:spPr>
          <a:xfrm>
            <a:off x="2343150" y="4876800"/>
            <a:ext cx="1000125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对应第</a:t>
            </a:r>
            <a:r>
              <a:rPr lang="en-US" sz="105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 76–92 </a:t>
            </a:r>
            <a:r>
              <a:rPr lang="zh-CN" sz="105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页</a:t>
            </a:r>
            <a:endParaRPr lang="zh-CN" sz="105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463" name="矩形 2462"/>
          <p:cNvSpPr/>
          <p:nvPr/>
        </p:nvSpPr>
        <p:spPr>
          <a:xfrm>
            <a:off x="3571875" y="4886325"/>
            <a:ext cx="9525" cy="152400"/>
          </a:xfrm>
          <a:prstGeom prst="rect">
            <a:avLst/>
          </a:prstGeom>
          <a:solidFill>
            <a:srgbClr val="1E293B"/>
          </a:solidFill>
        </p:spPr>
        <p:txBody>
          <a:bodyPr/>
          <a:p/>
        </p:txBody>
      </p:sp>
      <p:sp>
        <p:nvSpPr>
          <p:cNvPr id="2464" name="文本框 2463" descr="{&quot;isTemplate&quot;:true,&quot;type&quot;:&quot;text&quot;}"/>
          <p:cNvSpPr txBox="1"/>
          <p:nvPr/>
        </p:nvSpPr>
        <p:spPr>
          <a:xfrm>
            <a:off x="3810000" y="4876800"/>
            <a:ext cx="771525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建议</a:t>
            </a:r>
            <a:r>
              <a:rPr lang="en-US" sz="105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 51 </a:t>
            </a:r>
            <a:r>
              <a:rPr lang="zh-CN" sz="105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分钟</a:t>
            </a:r>
            <a:endParaRPr lang="zh-CN" sz="105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46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6" name="矩形 2465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220"/>
          </a:solidFill>
        </p:spPr>
        <p:txBody>
          <a:bodyPr/>
          <a:p/>
        </p:txBody>
      </p:sp>
      <p:sp>
        <p:nvSpPr>
          <p:cNvPr id="2467" name="矩形 2466"/>
          <p:cNvSpPr/>
          <p:nvPr/>
        </p:nvSpPr>
        <p:spPr>
          <a:xfrm>
            <a:off x="609600" y="476250"/>
            <a:ext cx="38100" cy="381000"/>
          </a:xfrm>
          <a:prstGeom prst="rect">
            <a:avLst/>
          </a:prstGeom>
          <a:solidFill>
            <a:srgbClr val="38BDF8"/>
          </a:solidFill>
        </p:spPr>
        <p:txBody>
          <a:bodyPr/>
          <a:p/>
        </p:txBody>
      </p:sp>
      <p:sp>
        <p:nvSpPr>
          <p:cNvPr id="2468" name="文本框 2467" descr="{&quot;isTemplate&quot;:true,&quot;type&quot;:&quot;text&quot;}"/>
          <p:cNvSpPr txBox="1"/>
          <p:nvPr/>
        </p:nvSpPr>
        <p:spPr>
          <a:xfrm>
            <a:off x="819150" y="304800"/>
            <a:ext cx="9725025" cy="2095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第</a:t>
            </a: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 12 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章</a:t>
            </a: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 · ORM f_orm · 12.1</a:t>
            </a:r>
            <a:endParaRPr lang="en-US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469" name="文本框 2468" descr="{&quot;isTemplate&quot;:true,&quot;type&quot;:&quot;text&quot;}"/>
          <p:cNvSpPr txBox="1"/>
          <p:nvPr/>
        </p:nvSpPr>
        <p:spPr>
          <a:xfrm>
            <a:off x="819150" y="514350"/>
            <a:ext cx="9725025" cy="5143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2550" b="1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三个角色之一：</a:t>
            </a:r>
            <a:r>
              <a:rPr lang="en-US" sz="2550" b="1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PO</a:t>
            </a:r>
            <a:endParaRPr lang="en-US" sz="2550" b="1">
              <a:solidFill>
                <a:srgbClr val="E2E8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470" name="文本框 2469" descr="{&quot;isTemplate&quot;:true,&quot;type&quot;:&quot;text&quot;}"/>
          <p:cNvSpPr txBox="1"/>
          <p:nvPr/>
        </p:nvSpPr>
        <p:spPr>
          <a:xfrm>
            <a:off x="10715625" y="590550"/>
            <a:ext cx="866775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用宏生成列映射</a:t>
            </a:r>
            <a:endParaRPr lang="zh-CN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471" name="圆角矩形 2470"/>
          <p:cNvSpPr/>
          <p:nvPr/>
        </p:nvSpPr>
        <p:spPr>
          <a:xfrm>
            <a:off x="609600" y="1143000"/>
            <a:ext cx="5334000" cy="5143500"/>
          </a:xfrm>
          <a:prstGeom prst="roundRect">
            <a:avLst>
              <a:gd name="adj" fmla="val 2222"/>
            </a:avLst>
          </a:prstGeom>
          <a:solidFill>
            <a:srgbClr val="0B1220"/>
          </a:solidFill>
          <a:ln w="12700">
            <a:solidFill>
              <a:srgbClr val="1E293B"/>
            </a:solidFill>
            <a:prstDash val="solid"/>
          </a:ln>
        </p:spPr>
        <p:txBody>
          <a:bodyPr/>
          <a:p/>
        </p:txBody>
      </p:sp>
      <p:sp>
        <p:nvSpPr>
          <p:cNvPr id="2472" name="文本框 2471" descr="{&quot;isTemplate&quot;:true,&quot;type&quot;:&quot;text&quot;}"/>
          <p:cNvSpPr txBox="1"/>
          <p:nvPr/>
        </p:nvSpPr>
        <p:spPr>
          <a:xfrm>
            <a:off x="781050" y="1314450"/>
            <a:ext cx="4991100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fdemo/user/src/model/po/UserPO.cj</a:t>
            </a:r>
            <a:endParaRPr lang="en-US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473" name="文本框 2472" descr="{&quot;isTemplate&quot;:true,&quot;type&quot;:&quot;text&quot;}"/>
          <p:cNvSpPr txBox="1"/>
          <p:nvPr/>
        </p:nvSpPr>
        <p:spPr>
          <a:xfrm>
            <a:off x="781050" y="1543050"/>
            <a:ext cx="4991100" cy="2381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en-US" sz="900">
                <a:solidFill>
                  <a:srgbClr val="38BDF8"/>
                </a:solidFill>
                <a:latin typeface="JetBrains Mono"/>
                <a:ea typeface="JetBrains Mono"/>
              </a:rPr>
              <a:t>@DataAssist[fields tostring]</a:t>
            </a:r>
            <a:endParaRPr lang="en-US" sz="900">
              <a:solidFill>
                <a:srgbClr val="38BDF8"/>
              </a:solidFill>
              <a:latin typeface="JetBrains Mono"/>
              <a:ea typeface="JetBrains Mono"/>
            </a:endParaRPr>
          </a:p>
        </p:txBody>
      </p:sp>
      <p:sp>
        <p:nvSpPr>
          <p:cNvPr id="2474" name="文本框 2473" descr="{&quot;isTemplate&quot;:true,&quot;type&quot;:&quot;text&quot;}"/>
          <p:cNvSpPr txBox="1"/>
          <p:nvPr/>
        </p:nvSpPr>
        <p:spPr>
          <a:xfrm>
            <a:off x="781050" y="1781175"/>
            <a:ext cx="4991100" cy="2381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en-US" sz="900">
                <a:solidFill>
                  <a:srgbClr val="38BDF8"/>
                </a:solidFill>
                <a:latin typeface="JetBrains Mono"/>
                <a:ea typeface="JetBrains Mono"/>
              </a:rPr>
              <a:t>@QueryMappersGenerator[table: user_info dirty]</a:t>
            </a:r>
            <a:endParaRPr lang="en-US" sz="900">
              <a:solidFill>
                <a:srgbClr val="38BDF8"/>
              </a:solidFill>
              <a:latin typeface="JetBrains Mono"/>
              <a:ea typeface="JetBrains Mono"/>
            </a:endParaRPr>
          </a:p>
        </p:txBody>
      </p:sp>
      <p:sp>
        <p:nvSpPr>
          <p:cNvPr id="2475" name="文本框 2474" descr="{&quot;isTemplate&quot;:true,&quot;type&quot;:&quot;text&quot;}"/>
          <p:cNvSpPr txBox="1"/>
          <p:nvPr/>
        </p:nvSpPr>
        <p:spPr>
          <a:xfrm>
            <a:off x="781050" y="2019300"/>
            <a:ext cx="4991100" cy="2381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en-US" sz="900">
                <a:solidFill>
                  <a:srgbClr val="E2E8F0"/>
                </a:solidFill>
                <a:latin typeface="JetBrains Mono"/>
                <a:ea typeface="JetBrains Mono"/>
              </a:rPr>
              <a:t>public class UserPO {</a:t>
            </a:r>
            <a:endParaRPr lang="en-US" sz="900">
              <a:solidFill>
                <a:srgbClr val="E2E8F0"/>
              </a:solidFill>
              <a:latin typeface="JetBrains Mono"/>
              <a:ea typeface="JetBrains Mono"/>
            </a:endParaRPr>
          </a:p>
        </p:txBody>
      </p:sp>
      <p:sp>
        <p:nvSpPr>
          <p:cNvPr id="2476" name="文本框 2475" descr="{&quot;isTemplate&quot;:true,&quot;type&quot;:&quot;text&quot;}"/>
          <p:cNvSpPr txBox="1"/>
          <p:nvPr/>
        </p:nvSpPr>
        <p:spPr>
          <a:xfrm>
            <a:off x="781050" y="2257425"/>
            <a:ext cx="4991100" cy="2381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en-US" sz="900">
                <a:solidFill>
                  <a:srgbClr val="F59E0B"/>
                </a:solidFill>
                <a:latin typeface="JetBrains Mono"/>
                <a:ea typeface="JetBrains Mono"/>
              </a:rPr>
              <a:t>    @ORMField[true 'id']        // true = </a:t>
            </a:r>
            <a:r>
              <a:rPr lang="zh-CN" sz="900">
                <a:solidFill>
                  <a:srgbClr val="F59E0B"/>
                </a:solidFill>
                <a:latin typeface="JetBrains Mono"/>
                <a:ea typeface="JetBrains Mono"/>
              </a:rPr>
              <a:t>主键；</a:t>
            </a:r>
            <a:r>
              <a:rPr lang="en-US" sz="900">
                <a:solidFill>
                  <a:srgbClr val="F59E0B"/>
                </a:solidFill>
                <a:latin typeface="JetBrains Mono"/>
                <a:ea typeface="JetBrains Mono"/>
              </a:rPr>
              <a:t>'id' = </a:t>
            </a:r>
            <a:r>
              <a:rPr lang="zh-CN" sz="900">
                <a:solidFill>
                  <a:srgbClr val="F59E0B"/>
                </a:solidFill>
                <a:latin typeface="JetBrains Mono"/>
                <a:ea typeface="JetBrains Mono"/>
              </a:rPr>
              <a:t>列名</a:t>
            </a:r>
            <a:endParaRPr lang="zh-CN" sz="900">
              <a:solidFill>
                <a:srgbClr val="F59E0B"/>
              </a:solidFill>
              <a:latin typeface="JetBrains Mono"/>
              <a:ea typeface="JetBrains Mono"/>
            </a:endParaRPr>
          </a:p>
        </p:txBody>
      </p:sp>
      <p:sp>
        <p:nvSpPr>
          <p:cNvPr id="2477" name="文本框 2476" descr="{&quot;isTemplate&quot;:true,&quot;type&quot;:&quot;text&quot;}"/>
          <p:cNvSpPr txBox="1"/>
          <p:nvPr/>
        </p:nvSpPr>
        <p:spPr>
          <a:xfrm>
            <a:off x="781050" y="2495550"/>
            <a:ext cx="4991100" cy="2381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en-US" sz="900">
                <a:solidFill>
                  <a:srgbClr val="E2E8F0"/>
                </a:solidFill>
                <a:latin typeface="JetBrains Mono"/>
                <a:ea typeface="JetBrains Mono"/>
              </a:rPr>
              <a:t>    private var id: Int64 = 0</a:t>
            </a:r>
            <a:endParaRPr lang="en-US" sz="900">
              <a:solidFill>
                <a:srgbClr val="E2E8F0"/>
              </a:solidFill>
              <a:latin typeface="JetBrains Mono"/>
              <a:ea typeface="JetBrains Mono"/>
            </a:endParaRPr>
          </a:p>
        </p:txBody>
      </p:sp>
      <p:sp>
        <p:nvSpPr>
          <p:cNvPr id="2478" name="文本框 2477" descr="{&quot;isTemplate&quot;:true,&quot;type&quot;:&quot;text&quot;}"/>
          <p:cNvSpPr txBox="1"/>
          <p:nvPr/>
        </p:nvSpPr>
        <p:spPr>
          <a:xfrm>
            <a:off x="781050" y="2733675"/>
            <a:ext cx="4991100" cy="2381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en-US" sz="900">
                <a:solidFill>
                  <a:srgbClr val="F59E0B"/>
                </a:solidFill>
                <a:latin typeface="JetBrains Mono"/>
                <a:ea typeface="JetBrains Mono"/>
              </a:rPr>
              <a:t>    @ORMField['username']</a:t>
            </a:r>
            <a:endParaRPr lang="en-US" sz="900">
              <a:solidFill>
                <a:srgbClr val="F59E0B"/>
              </a:solidFill>
              <a:latin typeface="JetBrains Mono"/>
              <a:ea typeface="JetBrains Mono"/>
            </a:endParaRPr>
          </a:p>
        </p:txBody>
      </p:sp>
      <p:sp>
        <p:nvSpPr>
          <p:cNvPr id="2479" name="文本框 2478" descr="{&quot;isTemplate&quot;:true,&quot;type&quot;:&quot;text&quot;}"/>
          <p:cNvSpPr txBox="1"/>
          <p:nvPr/>
        </p:nvSpPr>
        <p:spPr>
          <a:xfrm>
            <a:off x="781050" y="2971800"/>
            <a:ext cx="4991100" cy="2381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en-US" sz="900">
                <a:solidFill>
                  <a:srgbClr val="E2E8F0"/>
                </a:solidFill>
                <a:latin typeface="JetBrains Mono"/>
                <a:ea typeface="JetBrains Mono"/>
              </a:rPr>
              <a:t>    private var username: String = ''</a:t>
            </a:r>
            <a:endParaRPr lang="en-US" sz="900">
              <a:solidFill>
                <a:srgbClr val="E2E8F0"/>
              </a:solidFill>
              <a:latin typeface="JetBrains Mono"/>
              <a:ea typeface="JetBrains Mono"/>
            </a:endParaRPr>
          </a:p>
        </p:txBody>
      </p:sp>
      <p:sp>
        <p:nvSpPr>
          <p:cNvPr id="2480" name="文本框 2479" descr="{&quot;isTemplate&quot;:true,&quot;type&quot;:&quot;text&quot;}"/>
          <p:cNvSpPr txBox="1"/>
          <p:nvPr/>
        </p:nvSpPr>
        <p:spPr>
          <a:xfrm>
            <a:off x="781050" y="3209925"/>
            <a:ext cx="4991100" cy="2381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en-US" sz="900">
                <a:solidFill>
                  <a:srgbClr val="F59E0B"/>
                </a:solidFill>
                <a:latin typeface="JetBrains Mono"/>
                <a:ea typeface="JetBrains Mono"/>
              </a:rPr>
              <a:t>    @ORMField['password']</a:t>
            </a:r>
            <a:endParaRPr lang="en-US" sz="900">
              <a:solidFill>
                <a:srgbClr val="F59E0B"/>
              </a:solidFill>
              <a:latin typeface="JetBrains Mono"/>
              <a:ea typeface="JetBrains Mono"/>
            </a:endParaRPr>
          </a:p>
        </p:txBody>
      </p:sp>
      <p:sp>
        <p:nvSpPr>
          <p:cNvPr id="2481" name="文本框 2480" descr="{&quot;isTemplate&quot;:true,&quot;type&quot;:&quot;text&quot;}"/>
          <p:cNvSpPr txBox="1"/>
          <p:nvPr/>
        </p:nvSpPr>
        <p:spPr>
          <a:xfrm>
            <a:off x="781050" y="3448050"/>
            <a:ext cx="4991100" cy="2381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en-US" sz="900">
                <a:solidFill>
                  <a:srgbClr val="E2E8F0"/>
                </a:solidFill>
                <a:latin typeface="JetBrains Mono"/>
                <a:ea typeface="JetBrains Mono"/>
              </a:rPr>
              <a:t>    private var password: String = ''</a:t>
            </a:r>
            <a:endParaRPr lang="en-US" sz="900">
              <a:solidFill>
                <a:srgbClr val="E2E8F0"/>
              </a:solidFill>
              <a:latin typeface="JetBrains Mono"/>
              <a:ea typeface="JetBrains Mono"/>
            </a:endParaRPr>
          </a:p>
        </p:txBody>
      </p:sp>
      <p:sp>
        <p:nvSpPr>
          <p:cNvPr id="2482" name="文本框 2481" descr="{&quot;isTemplate&quot;:true,&quot;type&quot;:&quot;text&quot;}"/>
          <p:cNvSpPr txBox="1"/>
          <p:nvPr/>
        </p:nvSpPr>
        <p:spPr>
          <a:xfrm>
            <a:off x="781050" y="3686175"/>
            <a:ext cx="4991100" cy="2381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en-US" sz="900">
                <a:solidFill>
                  <a:srgbClr val="F59E0B"/>
                </a:solidFill>
                <a:latin typeface="JetBrains Mono"/>
                <a:ea typeface="JetBrains Mono"/>
              </a:rPr>
              <a:t>    @ORMField['save_time']</a:t>
            </a:r>
            <a:endParaRPr lang="en-US" sz="900">
              <a:solidFill>
                <a:srgbClr val="F59E0B"/>
              </a:solidFill>
              <a:latin typeface="JetBrains Mono"/>
              <a:ea typeface="JetBrains Mono"/>
            </a:endParaRPr>
          </a:p>
        </p:txBody>
      </p:sp>
      <p:sp>
        <p:nvSpPr>
          <p:cNvPr id="2483" name="文本框 2482" descr="{&quot;isTemplate&quot;:true,&quot;type&quot;:&quot;text&quot;}"/>
          <p:cNvSpPr txBox="1"/>
          <p:nvPr/>
        </p:nvSpPr>
        <p:spPr>
          <a:xfrm>
            <a:off x="781050" y="3924300"/>
            <a:ext cx="4991100" cy="2381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en-US" sz="900">
                <a:solidFill>
                  <a:srgbClr val="E2E8F0"/>
                </a:solidFill>
                <a:latin typeface="JetBrains Mono"/>
                <a:ea typeface="JetBrains Mono"/>
              </a:rPr>
              <a:t>    private var saveTime: ?DateTime = None&lt;DateTime&gt;</a:t>
            </a:r>
            <a:endParaRPr lang="en-US" sz="900">
              <a:solidFill>
                <a:srgbClr val="E2E8F0"/>
              </a:solidFill>
              <a:latin typeface="JetBrains Mono"/>
              <a:ea typeface="JetBrains Mono"/>
            </a:endParaRPr>
          </a:p>
        </p:txBody>
      </p:sp>
      <p:sp>
        <p:nvSpPr>
          <p:cNvPr id="2484" name="文本框 2483" descr="{&quot;isTemplate&quot;:true,&quot;type&quot;:&quot;text&quot;}"/>
          <p:cNvSpPr txBox="1"/>
          <p:nvPr/>
        </p:nvSpPr>
        <p:spPr>
          <a:xfrm>
            <a:off x="781050" y="4162425"/>
            <a:ext cx="4991100" cy="2381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en-US" sz="900">
                <a:solidFill>
                  <a:srgbClr val="E2E8F0"/>
                </a:solidFill>
                <a:latin typeface="JetBrains Mono"/>
                <a:ea typeface="JetBrains Mono"/>
              </a:rPr>
              <a:t>}</a:t>
            </a:r>
            <a:endParaRPr lang="en-US" sz="900">
              <a:solidFill>
                <a:srgbClr val="E2E8F0"/>
              </a:solidFill>
              <a:latin typeface="JetBrains Mono"/>
              <a:ea typeface="JetBrains Mono"/>
            </a:endParaRPr>
          </a:p>
        </p:txBody>
      </p:sp>
      <p:sp>
        <p:nvSpPr>
          <p:cNvPr id="2485" name="文本框 2484" descr="{&quot;isTemplate&quot;:true,&quot;type&quot;:&quot;text&quot;}"/>
          <p:cNvSpPr txBox="1"/>
          <p:nvPr/>
        </p:nvSpPr>
        <p:spPr>
          <a:xfrm>
            <a:off x="781050" y="5648325"/>
            <a:ext cx="4991100" cy="466725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zh-CN" sz="900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约束：</a:t>
            </a:r>
            <a:r>
              <a:rPr lang="en-US" sz="900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@ORMField </a:t>
            </a:r>
            <a:r>
              <a:rPr lang="zh-CN" sz="900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只能修饰</a:t>
            </a:r>
            <a:r>
              <a:rPr lang="en-US" sz="900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 public var </a:t>
            </a:r>
            <a:r>
              <a:rPr lang="zh-CN" sz="900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或</a:t>
            </a:r>
            <a:r>
              <a:rPr lang="en-US" sz="900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 public mut prop</a:t>
            </a:r>
            <a:r>
              <a:rPr lang="zh-CN" sz="900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，且必须是非静态实例成员；</a:t>
            </a:r>
            <a:r>
              <a:rPr lang="en-US" sz="900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@DataAssist </a:t>
            </a:r>
            <a:r>
              <a:rPr lang="zh-CN" sz="900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要写在</a:t>
            </a:r>
            <a:r>
              <a:rPr lang="en-US" sz="900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 @QueryMappersGenerator </a:t>
            </a:r>
            <a:r>
              <a:rPr lang="zh-CN" sz="900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之前。</a:t>
            </a:r>
            <a:endParaRPr lang="zh-CN" sz="900">
              <a:solidFill>
                <a:srgbClr val="F59E0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graphicFrame>
        <p:nvGraphicFramePr>
          <p:cNvPr id="2486" name="表格 2485"/>
          <p:cNvGraphicFramePr/>
          <p:nvPr/>
        </p:nvGraphicFramePr>
        <p:xfrm>
          <a:off x="6134100" y="1143000"/>
          <a:ext cx="5448300" cy="3200400"/>
        </p:xfrm>
        <a:graphic>
          <a:graphicData uri="http://schemas.openxmlformats.org/drawingml/2006/table">
            <a:tbl>
              <a:tblPr/>
              <a:tblGrid>
                <a:gridCol w="2147647"/>
                <a:gridCol w="3300653"/>
              </a:tblGrid>
              <a:tr h="457200"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00" b="1">
                          <a:solidFill>
                            <a:srgbClr val="22D3EE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生成物</a:t>
                      </a:r>
                      <a:endParaRPr sz="900" b="1">
                        <a:solidFill>
                          <a:srgbClr val="22D3EE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6233A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00" b="1">
                          <a:solidFill>
                            <a:srgbClr val="22D3EE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用途</a:t>
                      </a:r>
                      <a:endParaRPr sz="900" b="1">
                        <a:solidFill>
                          <a:srgbClr val="22D3EE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6233A"/>
                    </a:solidFill>
                  </a:tcPr>
                </a:tc>
              </a:tr>
              <a:tr h="457200"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00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queryMappers()</a:t>
                      </a:r>
                      <a:endParaRPr sz="900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00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结果集 → 对象的映射</a:t>
                      </a:r>
                      <a:endParaRPr sz="900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457200"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00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tableName()</a:t>
                      </a:r>
                      <a:endParaRPr sz="900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00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表名</a:t>
                      </a:r>
                      <a:endParaRPr sz="900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457200"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00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tableColumns()</a:t>
                      </a:r>
                      <a:endParaRPr sz="900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00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列对象集合（属性名是列名，不是成员名）</a:t>
                      </a:r>
                      <a:endParaRPr sz="900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457200"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00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isSimpleData()</a:t>
                      </a:r>
                      <a:endParaRPr sz="900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00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PO 返回 false</a:t>
                      </a:r>
                      <a:endParaRPr sz="900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457200"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00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【PO类名】__cOlUmns___</a:t>
                      </a:r>
                      <a:endParaRPr sz="900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00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列集合类，每列一个 Column 属性</a:t>
                      </a:r>
                      <a:endParaRPr sz="900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457200"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00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TableMetas.register&lt;T&gt;()</a:t>
                      </a:r>
                      <a:endParaRPr sz="900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00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供 migro（表结构比对）发现</a:t>
                      </a:r>
                      <a:endParaRPr sz="900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</a:tbl>
          </a:graphicData>
        </a:graphic>
      </p:graphicFrame>
      <p:sp>
        <p:nvSpPr>
          <p:cNvPr id="2487" name="圆角矩形 2486"/>
          <p:cNvSpPr/>
          <p:nvPr/>
        </p:nvSpPr>
        <p:spPr>
          <a:xfrm>
            <a:off x="6134100" y="4476750"/>
            <a:ext cx="5448300" cy="1809750"/>
          </a:xfrm>
          <a:prstGeom prst="roundRect">
            <a:avLst>
              <a:gd name="adj" fmla="val 6316"/>
            </a:avLst>
          </a:prstGeom>
          <a:solidFill>
            <a:srgbClr val="111C2E"/>
          </a:solidFill>
          <a:ln w="12700">
            <a:solidFill>
              <a:srgbClr val="38BDF8"/>
            </a:solidFill>
            <a:prstDash val="solid"/>
          </a:ln>
        </p:spPr>
        <p:txBody>
          <a:bodyPr/>
          <a:p/>
        </p:txBody>
      </p:sp>
      <p:sp>
        <p:nvSpPr>
          <p:cNvPr id="2488" name="文本框 2487" descr="{&quot;isTemplate&quot;:true,&quot;type&quot;:&quot;text&quot;}"/>
          <p:cNvSpPr txBox="1"/>
          <p:nvPr/>
        </p:nvSpPr>
        <p:spPr>
          <a:xfrm>
            <a:off x="6305550" y="4648200"/>
            <a:ext cx="5105400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38BDF8"/>
                </a:solidFill>
                <a:latin typeface="微软雅黑" panose="020B0503020204020204" charset="-122"/>
                <a:ea typeface="微软雅黑" panose="020B0503020204020204" charset="-122"/>
              </a:rPr>
              <a:t>@QueryMappersGenerator </a:t>
            </a:r>
            <a:r>
              <a:rPr lang="zh-CN" sz="1050" b="1">
                <a:solidFill>
                  <a:srgbClr val="38BDF8"/>
                </a:solidFill>
                <a:latin typeface="微软雅黑" panose="020B0503020204020204" charset="-122"/>
                <a:ea typeface="微软雅黑" panose="020B0503020204020204" charset="-122"/>
              </a:rPr>
              <a:t>的属性写法</a:t>
            </a:r>
            <a:endParaRPr lang="zh-CN" sz="1050" b="1">
              <a:solidFill>
                <a:srgbClr val="38BDF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489" name="文本框 2488" descr="{&quot;isTemplate&quot;:true,&quot;type&quot;:&quot;text&quot;}"/>
          <p:cNvSpPr txBox="1"/>
          <p:nvPr/>
        </p:nvSpPr>
        <p:spPr>
          <a:xfrm>
            <a:off x="6305550" y="4886325"/>
            <a:ext cx="5105400" cy="2476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5000"/>
              </a:lnSpc>
            </a:pPr>
            <a:r>
              <a:rPr lang="en-US" sz="90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[user_info] / [table: 'user_info']</a:t>
            </a:r>
            <a:r>
              <a:rPr lang="zh-CN" sz="90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　表名</a:t>
            </a:r>
            <a:endParaRPr lang="zh-CN" sz="900">
              <a:solidFill>
                <a:srgbClr val="E2E8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490" name="文本框 2489" descr="{&quot;isTemplate&quot;:true,&quot;type&quot;:&quot;text&quot;}"/>
          <p:cNvSpPr txBox="1"/>
          <p:nvPr/>
        </p:nvSpPr>
        <p:spPr>
          <a:xfrm>
            <a:off x="6305550" y="5172075"/>
            <a:ext cx="5105400" cy="2476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5000"/>
              </a:lnSpc>
            </a:pPr>
            <a:r>
              <a:rPr lang="en-US" sz="90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[table: LowerUnderScore]</a:t>
            </a:r>
            <a:r>
              <a:rPr lang="zh-CN" sz="90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　类名按策略转表名</a:t>
            </a:r>
            <a:endParaRPr lang="zh-CN" sz="900">
              <a:solidFill>
                <a:srgbClr val="E2E8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491" name="文本框 2490" descr="{&quot;isTemplate&quot;:true,&quot;type&quot;:&quot;text&quot;}"/>
          <p:cNvSpPr txBox="1"/>
          <p:nvPr/>
        </p:nvSpPr>
        <p:spPr>
          <a:xfrm>
            <a:off x="6305550" y="5457825"/>
            <a:ext cx="5105400" cy="2476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5000"/>
              </a:lnSpc>
            </a:pPr>
            <a:r>
              <a:rPr lang="en-US" sz="90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[tablePrefix: 't_' tableSuffix: '_tab']</a:t>
            </a:r>
            <a:r>
              <a:rPr lang="zh-CN" sz="90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　表名前后缀</a:t>
            </a:r>
            <a:endParaRPr lang="zh-CN" sz="900">
              <a:solidFill>
                <a:srgbClr val="E2E8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492" name="文本框 2491" descr="{&quot;isTemplate&quot;:true,&quot;type&quot;:&quot;text&quot;}"/>
          <p:cNvSpPr txBox="1"/>
          <p:nvPr/>
        </p:nvSpPr>
        <p:spPr>
          <a:xfrm>
            <a:off x="6305550" y="5743575"/>
            <a:ext cx="5105400" cy="2476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5000"/>
              </a:lnSpc>
            </a:pPr>
            <a:r>
              <a:rPr lang="en-US" sz="90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[classPrefix: 'F_' classSuffix: 'PO']</a:t>
            </a:r>
            <a:r>
              <a:rPr lang="zh-CN" sz="90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　转表名前剥离类名前后缀</a:t>
            </a:r>
            <a:endParaRPr lang="zh-CN" sz="900">
              <a:solidFill>
                <a:srgbClr val="E2E8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493" name="文本框 2492" descr="{&quot;isTemplate&quot;:true,&quot;type&quot;:&quot;text&quot;}"/>
          <p:cNvSpPr txBox="1"/>
          <p:nvPr/>
        </p:nvSpPr>
        <p:spPr>
          <a:xfrm>
            <a:off x="6305550" y="6029325"/>
            <a:ext cx="5105400" cy="2476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5000"/>
              </a:lnSpc>
            </a:pPr>
            <a:r>
              <a:rPr lang="en-US" sz="900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[dirty]</a:t>
            </a:r>
            <a:r>
              <a:rPr lang="zh-CN" sz="900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　</a:t>
            </a:r>
            <a:r>
              <a:rPr lang="en-US" sz="900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setter </a:t>
            </a:r>
            <a:r>
              <a:rPr lang="zh-CN" sz="900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注入脏字段标记；可与</a:t>
            </a:r>
            <a:r>
              <a:rPr lang="en-US" sz="900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 table </a:t>
            </a:r>
            <a:r>
              <a:rPr lang="zh-CN" sz="900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组合</a:t>
            </a:r>
            <a:endParaRPr lang="zh-CN" sz="900">
              <a:solidFill>
                <a:srgbClr val="F59E0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494" name="任意多边形 2493"/>
          <p:cNvSpPr/>
          <p:nvPr/>
        </p:nvSpPr>
        <p:spPr>
          <a:xfrm>
            <a:off x="609600" y="6286500"/>
            <a:ext cx="10972800" cy="381000"/>
          </a:xfrm>
          <a:custGeom>
            <a:avLst/>
            <a:gdLst/>
            <a:ahLst/>
            <a:cxnLst/>
            <a:pathLst>
              <a:path w="1152" h="40">
                <a:moveTo>
                  <a:pt x="0" y="0"/>
                </a:moveTo>
                <a:lnTo>
                  <a:pt x="1152" y="0"/>
                </a:lnTo>
                <a:lnTo>
                  <a:pt x="1152" y="1"/>
                </a:lnTo>
                <a:lnTo>
                  <a:pt x="0" y="1"/>
                </a:lnTo>
                <a:close/>
              </a:path>
            </a:pathLst>
          </a:custGeom>
          <a:solidFill>
            <a:srgbClr val="1E293B"/>
          </a:solidFill>
        </p:spPr>
        <p:txBody>
          <a:bodyPr/>
          <a:p/>
        </p:txBody>
      </p:sp>
      <p:sp>
        <p:nvSpPr>
          <p:cNvPr id="2495" name="文本框 2494" descr="{&quot;isTemplate&quot;:true,&quot;type&quot;:&quot;text&quot;}"/>
          <p:cNvSpPr txBox="1"/>
          <p:nvPr/>
        </p:nvSpPr>
        <p:spPr>
          <a:xfrm>
            <a:off x="609600" y="6410325"/>
            <a:ext cx="2219325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fountain · 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一站式服务器应用开发工具库</a:t>
            </a:r>
            <a:endParaRPr lang="zh-CN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496" name="文本框 2495" descr="{&quot;isTemplate&quot;:true,&quot;type&quot;:&quot;text&quot;}"/>
          <p:cNvSpPr txBox="1"/>
          <p:nvPr/>
        </p:nvSpPr>
        <p:spPr>
          <a:xfrm>
            <a:off x="11087100" y="6410325"/>
            <a:ext cx="495300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76 / 116</a:t>
            </a:r>
            <a:endParaRPr lang="en-US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49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8" name="矩形 2497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220"/>
          </a:solidFill>
        </p:spPr>
        <p:txBody>
          <a:bodyPr/>
          <a:p/>
        </p:txBody>
      </p:sp>
      <p:sp>
        <p:nvSpPr>
          <p:cNvPr id="2499" name="矩形 2498"/>
          <p:cNvSpPr/>
          <p:nvPr/>
        </p:nvSpPr>
        <p:spPr>
          <a:xfrm>
            <a:off x="609600" y="476250"/>
            <a:ext cx="38100" cy="381000"/>
          </a:xfrm>
          <a:prstGeom prst="rect">
            <a:avLst/>
          </a:prstGeom>
          <a:solidFill>
            <a:srgbClr val="38BDF8"/>
          </a:solidFill>
        </p:spPr>
        <p:txBody>
          <a:bodyPr/>
          <a:p/>
        </p:txBody>
      </p:sp>
      <p:sp>
        <p:nvSpPr>
          <p:cNvPr id="2500" name="文本框 2499" descr="{&quot;isTemplate&quot;:true,&quot;type&quot;:&quot;text&quot;}"/>
          <p:cNvSpPr txBox="1"/>
          <p:nvPr/>
        </p:nvSpPr>
        <p:spPr>
          <a:xfrm>
            <a:off x="819150" y="304800"/>
            <a:ext cx="9620250" cy="2095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第</a:t>
            </a: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 12 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章</a:t>
            </a: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 · ORM f_orm · 12.1 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续</a:t>
            </a:r>
            <a:endParaRPr lang="zh-CN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501" name="文本框 2500" descr="{&quot;isTemplate&quot;:true,&quot;type&quot;:&quot;text&quot;}"/>
          <p:cNvSpPr txBox="1"/>
          <p:nvPr/>
        </p:nvSpPr>
        <p:spPr>
          <a:xfrm>
            <a:off x="819150" y="514350"/>
            <a:ext cx="9620250" cy="5143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2550" b="1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三个角色之二：</a:t>
            </a:r>
            <a:r>
              <a:rPr lang="en-US" sz="2550" b="1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DAO </a:t>
            </a:r>
            <a:r>
              <a:rPr lang="zh-CN" sz="2550" b="1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就是接口</a:t>
            </a:r>
            <a:endParaRPr lang="zh-CN" sz="2550" b="1">
              <a:solidFill>
                <a:srgbClr val="E2E8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502" name="文本框 2501" descr="{&quot;isTemplate&quot;:true,&quot;type&quot;:&quot;text&quot;}"/>
          <p:cNvSpPr txBox="1"/>
          <p:nvPr/>
        </p:nvSpPr>
        <p:spPr>
          <a:xfrm>
            <a:off x="10610850" y="590550"/>
            <a:ext cx="971550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没有</a:t>
            </a: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 DAO 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实现类</a:t>
            </a:r>
            <a:endParaRPr lang="zh-CN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503" name="圆角矩形 2502"/>
          <p:cNvSpPr/>
          <p:nvPr/>
        </p:nvSpPr>
        <p:spPr>
          <a:xfrm>
            <a:off x="609600" y="1143000"/>
            <a:ext cx="5391150" cy="5143500"/>
          </a:xfrm>
          <a:prstGeom prst="roundRect">
            <a:avLst>
              <a:gd name="adj" fmla="val 2222"/>
            </a:avLst>
          </a:prstGeom>
          <a:solidFill>
            <a:srgbClr val="0B1220"/>
          </a:solidFill>
          <a:ln w="12700">
            <a:solidFill>
              <a:srgbClr val="38BDF8"/>
            </a:solidFill>
            <a:prstDash val="solid"/>
          </a:ln>
        </p:spPr>
        <p:txBody>
          <a:bodyPr/>
          <a:p/>
        </p:txBody>
      </p:sp>
      <p:sp>
        <p:nvSpPr>
          <p:cNvPr id="2504" name="文本框 2503" descr="{&quot;isTemplate&quot;:true,&quot;type&quot;:&quot;text&quot;}"/>
          <p:cNvSpPr txBox="1"/>
          <p:nvPr/>
        </p:nvSpPr>
        <p:spPr>
          <a:xfrm>
            <a:off x="781050" y="1314450"/>
            <a:ext cx="5048250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fdemo/user/src/dao/UserDAO.cj</a:t>
            </a:r>
            <a:endParaRPr lang="en-US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505" name="文本框 2504" descr="{&quot;isTemplate&quot;:true,&quot;type&quot;:&quot;text&quot;}"/>
          <p:cNvSpPr txBox="1"/>
          <p:nvPr/>
        </p:nvSpPr>
        <p:spPr>
          <a:xfrm>
            <a:off x="781050" y="1543050"/>
            <a:ext cx="5048250" cy="2381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en-US" sz="900">
                <a:solidFill>
                  <a:srgbClr val="38BDF8"/>
                </a:solidFill>
                <a:latin typeface="JetBrains Mono"/>
                <a:ea typeface="JetBrains Mono"/>
              </a:rPr>
              <a:t>@DAO</a:t>
            </a:r>
            <a:endParaRPr lang="en-US" sz="900">
              <a:solidFill>
                <a:srgbClr val="38BDF8"/>
              </a:solidFill>
              <a:latin typeface="JetBrains Mono"/>
              <a:ea typeface="JetBrains Mono"/>
            </a:endParaRPr>
          </a:p>
        </p:txBody>
      </p:sp>
      <p:sp>
        <p:nvSpPr>
          <p:cNvPr id="2506" name="文本框 2505" descr="{&quot;isTemplate&quot;:true,&quot;type&quot;:&quot;text&quot;}"/>
          <p:cNvSpPr txBox="1"/>
          <p:nvPr/>
        </p:nvSpPr>
        <p:spPr>
          <a:xfrm>
            <a:off x="781050" y="1781175"/>
            <a:ext cx="5048250" cy="2381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en-US" sz="900">
                <a:solidFill>
                  <a:srgbClr val="E2E8F0"/>
                </a:solidFill>
                <a:latin typeface="JetBrains Mono"/>
                <a:ea typeface="JetBrains Mono"/>
              </a:rPr>
              <a:t>public interface UserDAO &lt;: RootDAO {</a:t>
            </a:r>
            <a:endParaRPr lang="en-US" sz="900">
              <a:solidFill>
                <a:srgbClr val="E2E8F0"/>
              </a:solidFill>
              <a:latin typeface="JetBrains Mono"/>
              <a:ea typeface="JetBrains Mono"/>
            </a:endParaRPr>
          </a:p>
        </p:txBody>
      </p:sp>
      <p:sp>
        <p:nvSpPr>
          <p:cNvPr id="2507" name="文本框 2506" descr="{&quot;isTemplate&quot;:true,&quot;type&quot;:&quot;text&quot;}"/>
          <p:cNvSpPr txBox="1"/>
          <p:nvPr/>
        </p:nvSpPr>
        <p:spPr>
          <a:xfrm>
            <a:off x="781050" y="2019300"/>
            <a:ext cx="5048250" cy="2381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en-US" sz="900">
                <a:solidFill>
                  <a:srgbClr val="E2E8F0"/>
                </a:solidFill>
                <a:latin typeface="JetBrains Mono"/>
                <a:ea typeface="JetBrains Mono"/>
              </a:rPr>
              <a:t>    func findUser(id: Int64): UserPO {</a:t>
            </a:r>
            <a:endParaRPr lang="en-US" sz="900">
              <a:solidFill>
                <a:srgbClr val="E2E8F0"/>
              </a:solidFill>
              <a:latin typeface="JetBrains Mono"/>
              <a:ea typeface="JetBrains Mono"/>
            </a:endParaRPr>
          </a:p>
        </p:txBody>
      </p:sp>
      <p:sp>
        <p:nvSpPr>
          <p:cNvPr id="2508" name="文本框 2507" descr="{&quot;isTemplate&quot;:true,&quot;type&quot;:&quot;text&quot;}"/>
          <p:cNvSpPr txBox="1"/>
          <p:nvPr/>
        </p:nvSpPr>
        <p:spPr>
          <a:xfrm>
            <a:off x="781050" y="2257425"/>
            <a:ext cx="5048250" cy="2381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en-US" sz="900">
                <a:solidFill>
                  <a:srgbClr val="38BDF8"/>
                </a:solidFill>
                <a:latin typeface="JetBrains Mono"/>
                <a:ea typeface="JetBrains Mono"/>
              </a:rPr>
              <a:t>        executor.FROM&lt;UserPO&gt;().WHERE(UserPO.tableColumns().id.eq(id))</a:t>
            </a:r>
            <a:endParaRPr lang="en-US" sz="900">
              <a:solidFill>
                <a:srgbClr val="38BDF8"/>
              </a:solidFill>
              <a:latin typeface="JetBrains Mono"/>
              <a:ea typeface="JetBrains Mono"/>
            </a:endParaRPr>
          </a:p>
        </p:txBody>
      </p:sp>
      <p:sp>
        <p:nvSpPr>
          <p:cNvPr id="2509" name="文本框 2508" descr="{&quot;isTemplate&quot;:true,&quot;type&quot;:&quot;text&quot;}"/>
          <p:cNvSpPr txBox="1"/>
          <p:nvPr/>
        </p:nvSpPr>
        <p:spPr>
          <a:xfrm>
            <a:off x="781050" y="2495550"/>
            <a:ext cx="5048250" cy="2381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en-US" sz="900">
                <a:solidFill>
                  <a:srgbClr val="38BDF8"/>
                </a:solidFill>
                <a:latin typeface="JetBrains Mono"/>
                <a:ea typeface="JetBrains Mono"/>
              </a:rPr>
              <a:t>                .first&lt;UserPO&gt;().getOrThrow()</a:t>
            </a:r>
            <a:endParaRPr lang="en-US" sz="900">
              <a:solidFill>
                <a:srgbClr val="38BDF8"/>
              </a:solidFill>
              <a:latin typeface="JetBrains Mono"/>
              <a:ea typeface="JetBrains Mono"/>
            </a:endParaRPr>
          </a:p>
        </p:txBody>
      </p:sp>
      <p:sp>
        <p:nvSpPr>
          <p:cNvPr id="2510" name="文本框 2509" descr="{&quot;isTemplate&quot;:true,&quot;type&quot;:&quot;text&quot;}"/>
          <p:cNvSpPr txBox="1"/>
          <p:nvPr/>
        </p:nvSpPr>
        <p:spPr>
          <a:xfrm>
            <a:off x="781050" y="2733675"/>
            <a:ext cx="5048250" cy="2381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en-US" sz="900">
                <a:solidFill>
                  <a:srgbClr val="E2E8F0"/>
                </a:solidFill>
                <a:latin typeface="JetBrains Mono"/>
                <a:ea typeface="JetBrains Mono"/>
              </a:rPr>
              <a:t>    }</a:t>
            </a:r>
            <a:endParaRPr lang="en-US" sz="900">
              <a:solidFill>
                <a:srgbClr val="E2E8F0"/>
              </a:solidFill>
              <a:latin typeface="JetBrains Mono"/>
              <a:ea typeface="JetBrains Mono"/>
            </a:endParaRPr>
          </a:p>
        </p:txBody>
      </p:sp>
      <p:sp>
        <p:nvSpPr>
          <p:cNvPr id="2511" name="文本框 2510" descr="{&quot;isTemplate&quot;:true,&quot;type&quot;:&quot;text&quot;}"/>
          <p:cNvSpPr txBox="1"/>
          <p:nvPr/>
        </p:nvSpPr>
        <p:spPr>
          <a:xfrm>
            <a:off x="781050" y="2971800"/>
            <a:ext cx="5048250" cy="2381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en-US" sz="900">
                <a:solidFill>
                  <a:srgbClr val="E2E8F0"/>
                </a:solidFill>
                <a:latin typeface="JetBrains Mono"/>
                <a:ea typeface="JetBrains Mono"/>
              </a:rPr>
              <a:t>    func register(username: String, password: String): Int64 {</a:t>
            </a:r>
            <a:endParaRPr lang="en-US" sz="900">
              <a:solidFill>
                <a:srgbClr val="E2E8F0"/>
              </a:solidFill>
              <a:latin typeface="JetBrains Mono"/>
              <a:ea typeface="JetBrains Mono"/>
            </a:endParaRPr>
          </a:p>
        </p:txBody>
      </p:sp>
      <p:sp>
        <p:nvSpPr>
          <p:cNvPr id="2512" name="文本框 2511" descr="{&quot;isTemplate&quot;:true,&quot;type&quot;:&quot;text&quot;}"/>
          <p:cNvSpPr txBox="1"/>
          <p:nvPr/>
        </p:nvSpPr>
        <p:spPr>
          <a:xfrm>
            <a:off x="781050" y="3209925"/>
            <a:ext cx="5048250" cy="2381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en-US" sz="900">
                <a:solidFill>
                  <a:srgbClr val="94A3B8"/>
                </a:solidFill>
                <a:latin typeface="JetBrains Mono"/>
                <a:ea typeface="JetBrains Mono"/>
              </a:rPr>
              <a:t>        let user = UserPO()</a:t>
            </a:r>
            <a:endParaRPr lang="en-US" sz="900">
              <a:solidFill>
                <a:srgbClr val="94A3B8"/>
              </a:solidFill>
              <a:latin typeface="JetBrains Mono"/>
              <a:ea typeface="JetBrains Mono"/>
            </a:endParaRPr>
          </a:p>
        </p:txBody>
      </p:sp>
      <p:sp>
        <p:nvSpPr>
          <p:cNvPr id="2513" name="文本框 2512" descr="{&quot;isTemplate&quot;:true,&quot;type&quot;:&quot;text&quot;}"/>
          <p:cNvSpPr txBox="1"/>
          <p:nvPr/>
        </p:nvSpPr>
        <p:spPr>
          <a:xfrm>
            <a:off x="781050" y="3448050"/>
            <a:ext cx="5048250" cy="2381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en-US" sz="900">
                <a:solidFill>
                  <a:srgbClr val="94A3B8"/>
                </a:solidFill>
                <a:latin typeface="JetBrains Mono"/>
                <a:ea typeface="JetBrains Mono"/>
              </a:rPr>
              <a:t>        user.username = username</a:t>
            </a:r>
            <a:endParaRPr lang="en-US" sz="900">
              <a:solidFill>
                <a:srgbClr val="94A3B8"/>
              </a:solidFill>
              <a:latin typeface="JetBrains Mono"/>
              <a:ea typeface="JetBrains Mono"/>
            </a:endParaRPr>
          </a:p>
        </p:txBody>
      </p:sp>
      <p:sp>
        <p:nvSpPr>
          <p:cNvPr id="2514" name="文本框 2513" descr="{&quot;isTemplate&quot;:true,&quot;type&quot;:&quot;text&quot;}"/>
          <p:cNvSpPr txBox="1"/>
          <p:nvPr/>
        </p:nvSpPr>
        <p:spPr>
          <a:xfrm>
            <a:off x="781050" y="3686175"/>
            <a:ext cx="5048250" cy="2381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en-US" sz="900">
                <a:solidFill>
                  <a:srgbClr val="94A3B8"/>
                </a:solidFill>
                <a:latin typeface="JetBrains Mono"/>
                <a:ea typeface="JetBrains Mono"/>
              </a:rPr>
              <a:t>        user.password = password</a:t>
            </a:r>
            <a:endParaRPr lang="en-US" sz="900">
              <a:solidFill>
                <a:srgbClr val="94A3B8"/>
              </a:solidFill>
              <a:latin typeface="JetBrains Mono"/>
              <a:ea typeface="JetBrains Mono"/>
            </a:endParaRPr>
          </a:p>
        </p:txBody>
      </p:sp>
      <p:sp>
        <p:nvSpPr>
          <p:cNvPr id="2515" name="文本框 2514" descr="{&quot;isTemplate&quot;:true,&quot;type&quot;:&quot;text&quot;}"/>
          <p:cNvSpPr txBox="1"/>
          <p:nvPr/>
        </p:nvSpPr>
        <p:spPr>
          <a:xfrm>
            <a:off x="781050" y="3924300"/>
            <a:ext cx="5048250" cy="2381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en-US" sz="900">
                <a:solidFill>
                  <a:srgbClr val="F59E0B"/>
                </a:solidFill>
                <a:latin typeface="JetBrains Mono"/>
                <a:ea typeface="JetBrains Mono"/>
              </a:rPr>
              <a:t>        executor.INSERT_INTO&lt;UserPO&gt;(user)   // </a:t>
            </a:r>
            <a:r>
              <a:rPr lang="zh-CN" sz="900">
                <a:solidFill>
                  <a:srgbClr val="F59E0B"/>
                </a:solidFill>
                <a:latin typeface="JetBrains Mono"/>
                <a:ea typeface="JetBrains Mono"/>
              </a:rPr>
              <a:t>返回自增主键</a:t>
            </a:r>
            <a:endParaRPr lang="zh-CN" sz="900">
              <a:solidFill>
                <a:srgbClr val="F59E0B"/>
              </a:solidFill>
              <a:latin typeface="JetBrains Mono"/>
              <a:ea typeface="JetBrains Mono"/>
            </a:endParaRPr>
          </a:p>
        </p:txBody>
      </p:sp>
      <p:sp>
        <p:nvSpPr>
          <p:cNvPr id="2516" name="文本框 2515" descr="{&quot;isTemplate&quot;:true,&quot;type&quot;:&quot;text&quot;}"/>
          <p:cNvSpPr txBox="1"/>
          <p:nvPr/>
        </p:nvSpPr>
        <p:spPr>
          <a:xfrm>
            <a:off x="781050" y="4162425"/>
            <a:ext cx="5048250" cy="2381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en-US" sz="900">
                <a:solidFill>
                  <a:srgbClr val="E2E8F0"/>
                </a:solidFill>
                <a:latin typeface="JetBrains Mono"/>
                <a:ea typeface="JetBrains Mono"/>
              </a:rPr>
              <a:t>    }</a:t>
            </a:r>
            <a:endParaRPr lang="en-US" sz="900">
              <a:solidFill>
                <a:srgbClr val="E2E8F0"/>
              </a:solidFill>
              <a:latin typeface="JetBrains Mono"/>
              <a:ea typeface="JetBrains Mono"/>
            </a:endParaRPr>
          </a:p>
        </p:txBody>
      </p:sp>
      <p:sp>
        <p:nvSpPr>
          <p:cNvPr id="2517" name="文本框 2516" descr="{&quot;isTemplate&quot;:true,&quot;type&quot;:&quot;text&quot;}"/>
          <p:cNvSpPr txBox="1"/>
          <p:nvPr/>
        </p:nvSpPr>
        <p:spPr>
          <a:xfrm>
            <a:off x="781050" y="4400550"/>
            <a:ext cx="5048250" cy="2381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en-US" sz="900">
                <a:solidFill>
                  <a:srgbClr val="E2E8F0"/>
                </a:solidFill>
                <a:latin typeface="JetBrains Mono"/>
                <a:ea typeface="JetBrains Mono"/>
              </a:rPr>
              <a:t>    func deleteUser(id: Int64): Int64 {</a:t>
            </a:r>
            <a:endParaRPr lang="en-US" sz="900">
              <a:solidFill>
                <a:srgbClr val="E2E8F0"/>
              </a:solidFill>
              <a:latin typeface="JetBrains Mono"/>
              <a:ea typeface="JetBrains Mono"/>
            </a:endParaRPr>
          </a:p>
        </p:txBody>
      </p:sp>
      <p:sp>
        <p:nvSpPr>
          <p:cNvPr id="2518" name="文本框 2517" descr="{&quot;isTemplate&quot;:true,&quot;type&quot;:&quot;text&quot;}"/>
          <p:cNvSpPr txBox="1"/>
          <p:nvPr/>
        </p:nvSpPr>
        <p:spPr>
          <a:xfrm>
            <a:off x="781050" y="4638675"/>
            <a:ext cx="5048250" cy="466725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en-US" sz="900">
                <a:solidFill>
                  <a:srgbClr val="F59E0B"/>
                </a:solidFill>
                <a:latin typeface="JetBrains Mono"/>
                <a:ea typeface="JetBrains Mono"/>
              </a:rPr>
              <a:t>        executor.setSql('delete from user_info where id = ${arg(id)}').delete</a:t>
            </a:r>
            <a:endParaRPr lang="en-US" sz="900">
              <a:solidFill>
                <a:srgbClr val="F59E0B"/>
              </a:solidFill>
              <a:latin typeface="JetBrains Mono"/>
              <a:ea typeface="JetBrains Mono"/>
            </a:endParaRPr>
          </a:p>
        </p:txBody>
      </p:sp>
      <p:sp>
        <p:nvSpPr>
          <p:cNvPr id="2519" name="文本框 2518" descr="{&quot;isTemplate&quot;:true,&quot;type&quot;:&quot;text&quot;}"/>
          <p:cNvSpPr txBox="1"/>
          <p:nvPr/>
        </p:nvSpPr>
        <p:spPr>
          <a:xfrm>
            <a:off x="781050" y="5105400"/>
            <a:ext cx="5048250" cy="2381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en-US" sz="900">
                <a:solidFill>
                  <a:srgbClr val="E2E8F0"/>
                </a:solidFill>
                <a:latin typeface="JetBrains Mono"/>
                <a:ea typeface="JetBrains Mono"/>
              </a:rPr>
              <a:t>    }</a:t>
            </a:r>
            <a:endParaRPr lang="en-US" sz="900">
              <a:solidFill>
                <a:srgbClr val="E2E8F0"/>
              </a:solidFill>
              <a:latin typeface="JetBrains Mono"/>
              <a:ea typeface="JetBrains Mono"/>
            </a:endParaRPr>
          </a:p>
        </p:txBody>
      </p:sp>
      <p:sp>
        <p:nvSpPr>
          <p:cNvPr id="2520" name="文本框 2519" descr="{&quot;isTemplate&quot;:true,&quot;type&quot;:&quot;text&quot;}"/>
          <p:cNvSpPr txBox="1"/>
          <p:nvPr/>
        </p:nvSpPr>
        <p:spPr>
          <a:xfrm>
            <a:off x="781050" y="5343525"/>
            <a:ext cx="5048250" cy="2381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en-US" sz="900">
                <a:solidFill>
                  <a:srgbClr val="E2E8F0"/>
                </a:solidFill>
                <a:latin typeface="JetBrains Mono"/>
                <a:ea typeface="JetBrains Mono"/>
              </a:rPr>
              <a:t>}</a:t>
            </a:r>
            <a:endParaRPr lang="en-US" sz="900">
              <a:solidFill>
                <a:srgbClr val="E2E8F0"/>
              </a:solidFill>
              <a:latin typeface="JetBrains Mono"/>
              <a:ea typeface="JetBrains Mono"/>
            </a:endParaRPr>
          </a:p>
        </p:txBody>
      </p:sp>
      <p:sp>
        <p:nvSpPr>
          <p:cNvPr id="2521" name="圆角矩形 2520"/>
          <p:cNvSpPr/>
          <p:nvPr/>
        </p:nvSpPr>
        <p:spPr>
          <a:xfrm>
            <a:off x="6191250" y="1143000"/>
            <a:ext cx="5391150" cy="1104900"/>
          </a:xfrm>
          <a:prstGeom prst="roundRect">
            <a:avLst>
              <a:gd name="adj" fmla="val 10345"/>
            </a:avLst>
          </a:prstGeom>
          <a:solidFill>
            <a:srgbClr val="111C2E"/>
          </a:solidFill>
          <a:ln w="12700">
            <a:solidFill>
              <a:srgbClr val="38BDF8"/>
            </a:solidFill>
            <a:prstDash val="solid"/>
          </a:ln>
        </p:spPr>
        <p:txBody>
          <a:bodyPr/>
          <a:p/>
        </p:txBody>
      </p:sp>
      <p:sp>
        <p:nvSpPr>
          <p:cNvPr id="2522" name="文本框 2521" descr="{&quot;isTemplate&quot;:true,&quot;type&quot;:&quot;text&quot;}"/>
          <p:cNvSpPr txBox="1"/>
          <p:nvPr/>
        </p:nvSpPr>
        <p:spPr>
          <a:xfrm>
            <a:off x="6362700" y="1314450"/>
            <a:ext cx="5048250" cy="1714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38BDF8"/>
                </a:solidFill>
                <a:latin typeface="微软雅黑" panose="020B0503020204020204" charset="-122"/>
                <a:ea typeface="微软雅黑" panose="020B0503020204020204" charset="-122"/>
              </a:rPr>
              <a:t>@DAO </a:t>
            </a:r>
            <a:r>
              <a:rPr lang="zh-CN" sz="1125" b="1">
                <a:solidFill>
                  <a:srgbClr val="38BDF8"/>
                </a:solidFill>
                <a:latin typeface="微软雅黑" panose="020B0503020204020204" charset="-122"/>
                <a:ea typeface="微软雅黑" panose="020B0503020204020204" charset="-122"/>
              </a:rPr>
              <a:t>展开成什么</a:t>
            </a:r>
            <a:endParaRPr lang="zh-CN" sz="1125" b="1">
              <a:solidFill>
                <a:srgbClr val="38BDF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523" name="文本框 2522" descr="{&quot;isTemplate&quot;:true,&quot;type&quot;:&quot;text&quot;}"/>
          <p:cNvSpPr txBox="1"/>
          <p:nvPr/>
        </p:nvSpPr>
        <p:spPr>
          <a:xfrm>
            <a:off x="6362700" y="1562100"/>
            <a:ext cx="5048250" cy="514350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zh-CN" sz="975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原接口</a:t>
            </a:r>
            <a:r>
              <a:rPr lang="en-US" sz="975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 + extend SqlExecutor </a:t>
            </a:r>
            <a:r>
              <a:rPr lang="zh-CN" sz="975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实现该接口。所以没有</a:t>
            </a:r>
            <a:r>
              <a:rPr lang="en-US" sz="975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 DAO </a:t>
            </a:r>
            <a:r>
              <a:rPr lang="zh-CN" sz="975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实现类，</a:t>
            </a:r>
            <a:r>
              <a:rPr lang="en-US" sz="975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SqlExecutor </a:t>
            </a:r>
            <a:r>
              <a:rPr lang="zh-CN" sz="975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本身就是实现。</a:t>
            </a:r>
            <a:endParaRPr lang="zh-CN" sz="975">
              <a:solidFill>
                <a:srgbClr val="E2E8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524" name="圆角矩形 2523"/>
          <p:cNvSpPr/>
          <p:nvPr/>
        </p:nvSpPr>
        <p:spPr>
          <a:xfrm>
            <a:off x="6191250" y="2381250"/>
            <a:ext cx="5391150" cy="3905250"/>
          </a:xfrm>
          <a:prstGeom prst="roundRect">
            <a:avLst>
              <a:gd name="adj" fmla="val 2927"/>
            </a:avLst>
          </a:prstGeom>
          <a:solidFill>
            <a:srgbClr val="111C2E"/>
          </a:solidFill>
          <a:ln w="12700">
            <a:solidFill>
              <a:srgbClr val="1E293B"/>
            </a:solidFill>
            <a:prstDash val="solid"/>
          </a:ln>
        </p:spPr>
        <p:txBody>
          <a:bodyPr/>
          <a:p/>
        </p:txBody>
      </p:sp>
      <p:sp>
        <p:nvSpPr>
          <p:cNvPr id="2525" name="文本框 2524" descr="{&quot;isTemplate&quot;:true,&quot;type&quot;:&quot;text&quot;}"/>
          <p:cNvSpPr txBox="1"/>
          <p:nvPr/>
        </p:nvSpPr>
        <p:spPr>
          <a:xfrm>
            <a:off x="6362700" y="2552700"/>
            <a:ext cx="5048250" cy="1714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四条约束（都来自上面那句话）</a:t>
            </a:r>
            <a:endParaRPr lang="zh-CN" sz="1125" b="1">
              <a:solidFill>
                <a:srgbClr val="E2E8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526" name="文本框 2525" descr="{&quot;isTemplate&quot;:true,&quot;type&quot;:&quot;text&quot;}"/>
          <p:cNvSpPr txBox="1"/>
          <p:nvPr/>
        </p:nvSpPr>
        <p:spPr>
          <a:xfrm>
            <a:off x="6362700" y="2819400"/>
            <a:ext cx="5048250" cy="2667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5000"/>
              </a:lnSpc>
            </a:pPr>
            <a:r>
              <a:rPr lang="en-US" sz="97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1</a:t>
            </a:r>
            <a:r>
              <a:rPr lang="zh-CN" sz="97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　</a:t>
            </a:r>
            <a:r>
              <a:rPr lang="en-US" sz="97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DAO </a:t>
            </a:r>
            <a:r>
              <a:rPr lang="zh-CN" sz="97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必须声明为接口，且所有函数都要有默认实现</a:t>
            </a:r>
            <a:endParaRPr lang="zh-CN" sz="975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527" name="文本框 2526" descr="{&quot;isTemplate&quot;:true,&quot;type&quot;:&quot;text&quot;}"/>
          <p:cNvSpPr txBox="1"/>
          <p:nvPr/>
        </p:nvSpPr>
        <p:spPr>
          <a:xfrm>
            <a:off x="6362700" y="3143250"/>
            <a:ext cx="5048250" cy="2667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5000"/>
              </a:lnSpc>
            </a:pPr>
            <a:r>
              <a:rPr lang="en-US" sz="97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2</a:t>
            </a:r>
            <a:r>
              <a:rPr lang="zh-CN" sz="97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　建议</a:t>
            </a:r>
            <a:r>
              <a:rPr lang="en-US" sz="97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public</a:t>
            </a:r>
            <a:r>
              <a:rPr lang="zh-CN" sz="97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、不要泛型形参、继承</a:t>
            </a:r>
            <a:r>
              <a:rPr lang="en-US" sz="97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RootDAO</a:t>
            </a:r>
            <a:endParaRPr lang="en-US" sz="975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528" name="文本框 2527" descr="{&quot;isTemplate&quot;:true,&quot;type&quot;:&quot;text&quot;}"/>
          <p:cNvSpPr txBox="1"/>
          <p:nvPr/>
        </p:nvSpPr>
        <p:spPr>
          <a:xfrm>
            <a:off x="6362700" y="3467100"/>
            <a:ext cx="5048250" cy="2667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5000"/>
              </a:lnSpc>
            </a:pPr>
            <a:r>
              <a:rPr lang="en-US" sz="97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3</a:t>
            </a:r>
            <a:r>
              <a:rPr lang="zh-CN" sz="97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　一个持久化对象对应一个</a:t>
            </a:r>
            <a:r>
              <a:rPr lang="en-US" sz="97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DAO </a:t>
            </a:r>
            <a:r>
              <a:rPr lang="zh-CN" sz="97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接口</a:t>
            </a:r>
            <a:endParaRPr lang="zh-CN" sz="975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529" name="文本框 2528" descr="{&quot;isTemplate&quot;:true,&quot;type&quot;:&quot;text&quot;}"/>
          <p:cNvSpPr txBox="1"/>
          <p:nvPr/>
        </p:nvSpPr>
        <p:spPr>
          <a:xfrm>
            <a:off x="6362700" y="3790950"/>
            <a:ext cx="5048250" cy="2667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5000"/>
              </a:lnSpc>
            </a:pPr>
            <a:r>
              <a:rPr lang="en-US" sz="975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4</a:t>
            </a:r>
            <a:r>
              <a:rPr lang="zh-CN" sz="975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　同一模块内所有</a:t>
            </a:r>
            <a:r>
              <a:rPr lang="en-US" sz="975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 DAO </a:t>
            </a:r>
            <a:r>
              <a:rPr lang="zh-CN" sz="975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的函数名最好不要重名</a:t>
            </a:r>
            <a:r>
              <a:rPr lang="en-US" sz="975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 —— </a:t>
            </a:r>
            <a:r>
              <a:rPr lang="zh-CN" sz="975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它们都挂在同一个</a:t>
            </a:r>
            <a:r>
              <a:rPr lang="en-US" sz="975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 SqlExecutor </a:t>
            </a:r>
            <a:r>
              <a:rPr lang="zh-CN" sz="975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上</a:t>
            </a:r>
            <a:endParaRPr lang="zh-CN" sz="975">
              <a:solidFill>
                <a:srgbClr val="F59E0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530" name="文本框 2529" descr="{&quot;isTemplate&quot;:true,&quot;type&quot;:&quot;text&quot;}"/>
          <p:cNvSpPr txBox="1"/>
          <p:nvPr/>
        </p:nvSpPr>
        <p:spPr>
          <a:xfrm>
            <a:off x="6362700" y="5848350"/>
            <a:ext cx="5048250" cy="2667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5000"/>
              </a:lnSpc>
            </a:pP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两个</a:t>
            </a: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 DAO 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都写</a:t>
            </a: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 findById 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就会冲突，这是最容易踩的一条。</a:t>
            </a:r>
            <a:endParaRPr lang="zh-CN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531" name="任意多边形 2530"/>
          <p:cNvSpPr/>
          <p:nvPr/>
        </p:nvSpPr>
        <p:spPr>
          <a:xfrm>
            <a:off x="609600" y="6286500"/>
            <a:ext cx="10972800" cy="381000"/>
          </a:xfrm>
          <a:custGeom>
            <a:avLst/>
            <a:gdLst/>
            <a:ahLst/>
            <a:cxnLst/>
            <a:pathLst>
              <a:path w="1152" h="40">
                <a:moveTo>
                  <a:pt x="0" y="0"/>
                </a:moveTo>
                <a:lnTo>
                  <a:pt x="1152" y="0"/>
                </a:lnTo>
                <a:lnTo>
                  <a:pt x="1152" y="1"/>
                </a:lnTo>
                <a:lnTo>
                  <a:pt x="0" y="1"/>
                </a:lnTo>
                <a:close/>
              </a:path>
            </a:pathLst>
          </a:custGeom>
          <a:solidFill>
            <a:srgbClr val="1E293B"/>
          </a:solidFill>
        </p:spPr>
        <p:txBody>
          <a:bodyPr/>
          <a:p/>
        </p:txBody>
      </p:sp>
      <p:sp>
        <p:nvSpPr>
          <p:cNvPr id="2532" name="文本框 2531" descr="{&quot;isTemplate&quot;:true,&quot;type&quot;:&quot;text&quot;}"/>
          <p:cNvSpPr txBox="1"/>
          <p:nvPr/>
        </p:nvSpPr>
        <p:spPr>
          <a:xfrm>
            <a:off x="609600" y="6410325"/>
            <a:ext cx="2219325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fountain · 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一站式服务器应用开发工具库</a:t>
            </a:r>
            <a:endParaRPr lang="zh-CN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533" name="文本框 2532" descr="{&quot;isTemplate&quot;:true,&quot;type&quot;:&quot;text&quot;}"/>
          <p:cNvSpPr txBox="1"/>
          <p:nvPr/>
        </p:nvSpPr>
        <p:spPr>
          <a:xfrm>
            <a:off x="11087100" y="6410325"/>
            <a:ext cx="495300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77 / 116</a:t>
            </a:r>
            <a:endParaRPr lang="en-US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53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5" name="矩形 2534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220"/>
          </a:solidFill>
        </p:spPr>
        <p:txBody>
          <a:bodyPr/>
          <a:p/>
        </p:txBody>
      </p:sp>
      <p:sp>
        <p:nvSpPr>
          <p:cNvPr id="2536" name="矩形 2535"/>
          <p:cNvSpPr/>
          <p:nvPr/>
        </p:nvSpPr>
        <p:spPr>
          <a:xfrm>
            <a:off x="609600" y="476250"/>
            <a:ext cx="38100" cy="381000"/>
          </a:xfrm>
          <a:prstGeom prst="rect">
            <a:avLst/>
          </a:prstGeom>
          <a:solidFill>
            <a:srgbClr val="38BDF8"/>
          </a:solidFill>
        </p:spPr>
        <p:txBody>
          <a:bodyPr/>
          <a:p/>
        </p:txBody>
      </p:sp>
      <p:sp>
        <p:nvSpPr>
          <p:cNvPr id="2537" name="文本框 2536" descr="{&quot;isTemplate&quot;:true,&quot;type&quot;:&quot;text&quot;}"/>
          <p:cNvSpPr txBox="1"/>
          <p:nvPr/>
        </p:nvSpPr>
        <p:spPr>
          <a:xfrm>
            <a:off x="819150" y="304800"/>
            <a:ext cx="9353550" cy="2095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第</a:t>
            </a: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 12 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章</a:t>
            </a: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 · ORM f_orm · 12.1 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续</a:t>
            </a:r>
            <a:endParaRPr lang="zh-CN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538" name="文本框 2537" descr="{&quot;isTemplate&quot;:true,&quot;type&quot;:&quot;text&quot;}"/>
          <p:cNvSpPr txBox="1"/>
          <p:nvPr/>
        </p:nvSpPr>
        <p:spPr>
          <a:xfrm>
            <a:off x="819150" y="514350"/>
            <a:ext cx="9353550" cy="5143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2550" b="1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三个角色之三：</a:t>
            </a:r>
            <a:r>
              <a:rPr lang="en-US" sz="2550" b="1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Service </a:t>
            </a:r>
            <a:r>
              <a:rPr lang="zh-CN" sz="2550" b="1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与两条铁律</a:t>
            </a:r>
            <a:endParaRPr lang="zh-CN" sz="2550" b="1">
              <a:solidFill>
                <a:srgbClr val="E2E8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539" name="文本框 2538" descr="{&quot;isTemplate&quot;:true,&quot;type&quot;:&quot;text&quot;}"/>
          <p:cNvSpPr txBox="1"/>
          <p:nvPr/>
        </p:nvSpPr>
        <p:spPr>
          <a:xfrm>
            <a:off x="10344150" y="590550"/>
            <a:ext cx="1238250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最常见的线上事故来源</a:t>
            </a:r>
            <a:endParaRPr lang="zh-CN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540" name="圆角矩形 2539"/>
          <p:cNvSpPr/>
          <p:nvPr/>
        </p:nvSpPr>
        <p:spPr>
          <a:xfrm>
            <a:off x="609600" y="1143000"/>
            <a:ext cx="5410200" cy="2381250"/>
          </a:xfrm>
          <a:prstGeom prst="roundRect">
            <a:avLst>
              <a:gd name="adj" fmla="val 4800"/>
            </a:avLst>
          </a:prstGeom>
          <a:solidFill>
            <a:srgbClr val="0B1220"/>
          </a:solidFill>
          <a:ln w="12700">
            <a:solidFill>
              <a:srgbClr val="1E293B"/>
            </a:solidFill>
            <a:prstDash val="solid"/>
          </a:ln>
        </p:spPr>
        <p:txBody>
          <a:bodyPr/>
          <a:p/>
        </p:txBody>
      </p:sp>
      <p:sp>
        <p:nvSpPr>
          <p:cNvPr id="2541" name="文本框 2540" descr="{&quot;isTemplate&quot;:true,&quot;type&quot;:&quot;text&quot;}"/>
          <p:cNvSpPr txBox="1"/>
          <p:nvPr/>
        </p:nvSpPr>
        <p:spPr>
          <a:xfrm>
            <a:off x="781050" y="1314450"/>
            <a:ext cx="5067300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接口</a:t>
            </a:r>
            <a:endParaRPr lang="zh-CN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542" name="文本框 2541" descr="{&quot;isTemplate&quot;:true,&quot;type&quot;:&quot;text&quot;}"/>
          <p:cNvSpPr txBox="1"/>
          <p:nvPr/>
        </p:nvSpPr>
        <p:spPr>
          <a:xfrm>
            <a:off x="781050" y="1543050"/>
            <a:ext cx="5067300" cy="2381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en-US" sz="900">
                <a:solidFill>
                  <a:srgbClr val="E2E8F0"/>
                </a:solidFill>
                <a:latin typeface="JetBrains Mono"/>
                <a:ea typeface="JetBrains Mono"/>
              </a:rPr>
              <a:t>public interface UserService &lt;: RootService {</a:t>
            </a:r>
            <a:endParaRPr lang="en-US" sz="900">
              <a:solidFill>
                <a:srgbClr val="E2E8F0"/>
              </a:solidFill>
              <a:latin typeface="JetBrains Mono"/>
              <a:ea typeface="JetBrains Mono"/>
            </a:endParaRPr>
          </a:p>
        </p:txBody>
      </p:sp>
      <p:sp>
        <p:nvSpPr>
          <p:cNvPr id="2543" name="文本框 2542" descr="{&quot;isTemplate&quot;:true,&quot;type&quot;:&quot;text&quot;}"/>
          <p:cNvSpPr txBox="1"/>
          <p:nvPr/>
        </p:nvSpPr>
        <p:spPr>
          <a:xfrm>
            <a:off x="781050" y="1781175"/>
            <a:ext cx="5067300" cy="2381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en-US" sz="900">
                <a:solidFill>
                  <a:srgbClr val="38BDF8"/>
                </a:solidFill>
                <a:latin typeface="JetBrains Mono"/>
                <a:ea typeface="JetBrains Mono"/>
              </a:rPr>
              <a:t>    func queryUser(id: Int64): UserPO</a:t>
            </a:r>
            <a:endParaRPr lang="en-US" sz="900">
              <a:solidFill>
                <a:srgbClr val="38BDF8"/>
              </a:solidFill>
              <a:latin typeface="JetBrains Mono"/>
              <a:ea typeface="JetBrains Mono"/>
            </a:endParaRPr>
          </a:p>
        </p:txBody>
      </p:sp>
      <p:sp>
        <p:nvSpPr>
          <p:cNvPr id="2544" name="文本框 2543" descr="{&quot;isTemplate&quot;:true,&quot;type&quot;:&quot;text&quot;}"/>
          <p:cNvSpPr txBox="1"/>
          <p:nvPr/>
        </p:nvSpPr>
        <p:spPr>
          <a:xfrm>
            <a:off x="781050" y="2019300"/>
            <a:ext cx="5067300" cy="2381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en-US" sz="900">
                <a:solidFill>
                  <a:srgbClr val="94A3B8"/>
                </a:solidFill>
                <a:latin typeface="JetBrains Mono"/>
                <a:ea typeface="JetBrains Mono"/>
              </a:rPr>
              <a:t>    ...</a:t>
            </a:r>
            <a:endParaRPr lang="en-US" sz="900">
              <a:solidFill>
                <a:srgbClr val="94A3B8"/>
              </a:solidFill>
              <a:latin typeface="JetBrains Mono"/>
              <a:ea typeface="JetBrains Mono"/>
            </a:endParaRPr>
          </a:p>
        </p:txBody>
      </p:sp>
      <p:sp>
        <p:nvSpPr>
          <p:cNvPr id="2545" name="文本框 2544" descr="{&quot;isTemplate&quot;:true,&quot;type&quot;:&quot;text&quot;}"/>
          <p:cNvSpPr txBox="1"/>
          <p:nvPr/>
        </p:nvSpPr>
        <p:spPr>
          <a:xfrm>
            <a:off x="781050" y="2257425"/>
            <a:ext cx="5067300" cy="2381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en-US" sz="900">
                <a:solidFill>
                  <a:srgbClr val="E2E8F0"/>
                </a:solidFill>
                <a:latin typeface="JetBrains Mono"/>
                <a:ea typeface="JetBrains Mono"/>
              </a:rPr>
              <a:t>}</a:t>
            </a:r>
            <a:endParaRPr lang="en-US" sz="900">
              <a:solidFill>
                <a:srgbClr val="E2E8F0"/>
              </a:solidFill>
              <a:latin typeface="JetBrains Mono"/>
              <a:ea typeface="JetBrains Mono"/>
            </a:endParaRPr>
          </a:p>
        </p:txBody>
      </p:sp>
      <p:sp>
        <p:nvSpPr>
          <p:cNvPr id="2546" name="文本框 2545" descr="{&quot;isTemplate&quot;:true,&quot;type&quot;:&quot;text&quot;}"/>
          <p:cNvSpPr txBox="1"/>
          <p:nvPr/>
        </p:nvSpPr>
        <p:spPr>
          <a:xfrm>
            <a:off x="781050" y="3095625"/>
            <a:ext cx="5067300" cy="2571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RootService 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提供：</a:t>
            </a: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executor() / executor(name) / dao 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泛型</a:t>
            </a: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 / dao 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泛型带驱动</a:t>
            </a:r>
            <a:endParaRPr lang="zh-CN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547" name="圆角矩形 2546"/>
          <p:cNvSpPr/>
          <p:nvPr/>
        </p:nvSpPr>
        <p:spPr>
          <a:xfrm>
            <a:off x="6172200" y="1143000"/>
            <a:ext cx="5410200" cy="2381250"/>
          </a:xfrm>
          <a:prstGeom prst="roundRect">
            <a:avLst>
              <a:gd name="adj" fmla="val 4800"/>
            </a:avLst>
          </a:prstGeom>
          <a:solidFill>
            <a:srgbClr val="0B1220"/>
          </a:solidFill>
          <a:ln w="12700">
            <a:solidFill>
              <a:srgbClr val="38BDF8"/>
            </a:solidFill>
            <a:prstDash val="solid"/>
          </a:ln>
        </p:spPr>
        <p:txBody>
          <a:bodyPr/>
          <a:p/>
        </p:txBody>
      </p:sp>
      <p:sp>
        <p:nvSpPr>
          <p:cNvPr id="2548" name="文本框 2547" descr="{&quot;isTemplate&quot;:true,&quot;type&quot;:&quot;text&quot;}"/>
          <p:cNvSpPr txBox="1"/>
          <p:nvPr/>
        </p:nvSpPr>
        <p:spPr>
          <a:xfrm>
            <a:off x="6343650" y="1314450"/>
            <a:ext cx="5067300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38BDF8"/>
                </a:solidFill>
                <a:latin typeface="微软雅黑" panose="020B0503020204020204" charset="-122"/>
                <a:ea typeface="微软雅黑" panose="020B0503020204020204" charset="-122"/>
              </a:rPr>
              <a:t>实现</a:t>
            </a:r>
            <a:endParaRPr lang="zh-CN" sz="975">
              <a:solidFill>
                <a:srgbClr val="38BDF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549" name="文本框 2548" descr="{&quot;isTemplate&quot;:true,&quot;type&quot;:&quot;text&quot;}"/>
          <p:cNvSpPr txBox="1"/>
          <p:nvPr/>
        </p:nvSpPr>
        <p:spPr>
          <a:xfrm>
            <a:off x="6343650" y="1543050"/>
            <a:ext cx="5067300" cy="2381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en-US" sz="900">
                <a:solidFill>
                  <a:srgbClr val="F59E0B"/>
                </a:solidFill>
                <a:latin typeface="JetBrains Mono"/>
                <a:ea typeface="JetBrains Mono"/>
              </a:rPr>
              <a:t>@TransactionalService   // </a:t>
            </a:r>
            <a:r>
              <a:rPr lang="zh-CN" sz="900">
                <a:solidFill>
                  <a:srgbClr val="F59E0B"/>
                </a:solidFill>
                <a:latin typeface="JetBrains Mono"/>
                <a:ea typeface="JetBrains Mono"/>
              </a:rPr>
              <a:t>不需要事务时用</a:t>
            </a:r>
            <a:r>
              <a:rPr lang="en-US" sz="900">
                <a:solidFill>
                  <a:srgbClr val="F59E0B"/>
                </a:solidFill>
                <a:latin typeface="JetBrains Mono"/>
                <a:ea typeface="JetBrains Mono"/>
              </a:rPr>
              <a:t> @Bean</a:t>
            </a:r>
            <a:endParaRPr lang="en-US" sz="900">
              <a:solidFill>
                <a:srgbClr val="F59E0B"/>
              </a:solidFill>
              <a:latin typeface="JetBrains Mono"/>
              <a:ea typeface="JetBrains Mono"/>
            </a:endParaRPr>
          </a:p>
        </p:txBody>
      </p:sp>
      <p:sp>
        <p:nvSpPr>
          <p:cNvPr id="2550" name="文本框 2549" descr="{&quot;isTemplate&quot;:true,&quot;type&quot;:&quot;text&quot;}"/>
          <p:cNvSpPr txBox="1"/>
          <p:nvPr/>
        </p:nvSpPr>
        <p:spPr>
          <a:xfrm>
            <a:off x="6343650" y="1781175"/>
            <a:ext cx="5067300" cy="2381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en-US" sz="900">
                <a:solidFill>
                  <a:srgbClr val="E2E8F0"/>
                </a:solidFill>
                <a:latin typeface="JetBrains Mono"/>
                <a:ea typeface="JetBrains Mono"/>
              </a:rPr>
              <a:t>public class UserServiceImpl &lt;: UserService {</a:t>
            </a:r>
            <a:endParaRPr lang="en-US" sz="900">
              <a:solidFill>
                <a:srgbClr val="E2E8F0"/>
              </a:solidFill>
              <a:latin typeface="JetBrains Mono"/>
              <a:ea typeface="JetBrains Mono"/>
            </a:endParaRPr>
          </a:p>
        </p:txBody>
      </p:sp>
      <p:sp>
        <p:nvSpPr>
          <p:cNvPr id="2551" name="文本框 2550" descr="{&quot;isTemplate&quot;:true,&quot;type&quot;:&quot;text&quot;}"/>
          <p:cNvSpPr txBox="1"/>
          <p:nvPr/>
        </p:nvSpPr>
        <p:spPr>
          <a:xfrm>
            <a:off x="6343650" y="2019300"/>
            <a:ext cx="5067300" cy="2381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en-US" sz="900">
                <a:solidFill>
                  <a:srgbClr val="38BDF8"/>
                </a:solidFill>
                <a:latin typeface="JetBrains Mono"/>
                <a:ea typeface="JetBrains Mono"/>
              </a:rPr>
              <a:t>    public func queryUser(id: Int64): UserPO {</a:t>
            </a:r>
            <a:endParaRPr lang="en-US" sz="900">
              <a:solidFill>
                <a:srgbClr val="38BDF8"/>
              </a:solidFill>
              <a:latin typeface="JetBrains Mono"/>
              <a:ea typeface="JetBrains Mono"/>
            </a:endParaRPr>
          </a:p>
        </p:txBody>
      </p:sp>
      <p:sp>
        <p:nvSpPr>
          <p:cNvPr id="2552" name="文本框 2551" descr="{&quot;isTemplate&quot;:true,&quot;type&quot;:&quot;text&quot;}"/>
          <p:cNvSpPr txBox="1"/>
          <p:nvPr/>
        </p:nvSpPr>
        <p:spPr>
          <a:xfrm>
            <a:off x="6343650" y="2257425"/>
            <a:ext cx="5067300" cy="2381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en-US" sz="900">
                <a:solidFill>
                  <a:srgbClr val="38BDF8"/>
                </a:solidFill>
                <a:latin typeface="JetBrains Mono"/>
                <a:ea typeface="JetBrains Mono"/>
              </a:rPr>
              <a:t>        executor().findUser(id)   // </a:t>
            </a:r>
            <a:r>
              <a:rPr lang="zh-CN" sz="900">
                <a:solidFill>
                  <a:srgbClr val="38BDF8"/>
                </a:solidFill>
                <a:latin typeface="JetBrains Mono"/>
                <a:ea typeface="JetBrains Mono"/>
              </a:rPr>
              <a:t>可直接当</a:t>
            </a:r>
            <a:r>
              <a:rPr lang="en-US" sz="900">
                <a:solidFill>
                  <a:srgbClr val="38BDF8"/>
                </a:solidFill>
                <a:latin typeface="JetBrains Mono"/>
                <a:ea typeface="JetBrains Mono"/>
              </a:rPr>
              <a:t> UserDAO </a:t>
            </a:r>
            <a:r>
              <a:rPr lang="zh-CN" sz="900">
                <a:solidFill>
                  <a:srgbClr val="38BDF8"/>
                </a:solidFill>
                <a:latin typeface="JetBrains Mono"/>
                <a:ea typeface="JetBrains Mono"/>
              </a:rPr>
              <a:t>用</a:t>
            </a:r>
            <a:endParaRPr lang="zh-CN" sz="900">
              <a:solidFill>
                <a:srgbClr val="38BDF8"/>
              </a:solidFill>
              <a:latin typeface="JetBrains Mono"/>
              <a:ea typeface="JetBrains Mono"/>
            </a:endParaRPr>
          </a:p>
        </p:txBody>
      </p:sp>
      <p:sp>
        <p:nvSpPr>
          <p:cNvPr id="2553" name="文本框 2552" descr="{&quot;isTemplate&quot;:true,&quot;type&quot;:&quot;text&quot;}"/>
          <p:cNvSpPr txBox="1"/>
          <p:nvPr/>
        </p:nvSpPr>
        <p:spPr>
          <a:xfrm>
            <a:off x="6343650" y="2495550"/>
            <a:ext cx="5067300" cy="2381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en-US" sz="900">
                <a:solidFill>
                  <a:srgbClr val="38BDF8"/>
                </a:solidFill>
                <a:latin typeface="JetBrains Mono"/>
                <a:ea typeface="JetBrains Mono"/>
              </a:rPr>
              <a:t>    }</a:t>
            </a:r>
            <a:endParaRPr lang="en-US" sz="900">
              <a:solidFill>
                <a:srgbClr val="38BDF8"/>
              </a:solidFill>
              <a:latin typeface="JetBrains Mono"/>
              <a:ea typeface="JetBrains Mono"/>
            </a:endParaRPr>
          </a:p>
        </p:txBody>
      </p:sp>
      <p:sp>
        <p:nvSpPr>
          <p:cNvPr id="2554" name="文本框 2553" descr="{&quot;isTemplate&quot;:true,&quot;type&quot;:&quot;text&quot;}"/>
          <p:cNvSpPr txBox="1"/>
          <p:nvPr/>
        </p:nvSpPr>
        <p:spPr>
          <a:xfrm>
            <a:off x="6343650" y="2733675"/>
            <a:ext cx="5067300" cy="2381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en-US" sz="900">
                <a:solidFill>
                  <a:srgbClr val="E2E8F0"/>
                </a:solidFill>
                <a:latin typeface="JetBrains Mono"/>
                <a:ea typeface="JetBrains Mono"/>
              </a:rPr>
              <a:t>}</a:t>
            </a:r>
            <a:endParaRPr lang="en-US" sz="900">
              <a:solidFill>
                <a:srgbClr val="E2E8F0"/>
              </a:solidFill>
              <a:latin typeface="JetBrains Mono"/>
              <a:ea typeface="JetBrains Mono"/>
            </a:endParaRPr>
          </a:p>
        </p:txBody>
      </p:sp>
      <p:sp>
        <p:nvSpPr>
          <p:cNvPr id="2555" name="圆角矩形 2554"/>
          <p:cNvSpPr/>
          <p:nvPr/>
        </p:nvSpPr>
        <p:spPr>
          <a:xfrm>
            <a:off x="609600" y="3676650"/>
            <a:ext cx="5410200" cy="2609850"/>
          </a:xfrm>
          <a:prstGeom prst="roundRect">
            <a:avLst>
              <a:gd name="adj" fmla="val 4380"/>
            </a:avLst>
          </a:prstGeom>
          <a:solidFill>
            <a:srgbClr val="F59E0B">
              <a:alpha val="7000"/>
            </a:srgbClr>
          </a:solidFill>
          <a:ln w="12700">
            <a:solidFill>
              <a:srgbClr val="F59E0B"/>
            </a:solidFill>
            <a:prstDash val="solid"/>
          </a:ln>
        </p:spPr>
        <p:txBody>
          <a:bodyPr/>
          <a:p/>
        </p:txBody>
      </p:sp>
      <p:sp>
        <p:nvSpPr>
          <p:cNvPr id="2556" name="文本框 2555" descr="{&quot;isTemplate&quot;:true,&quot;type&quot;:&quot;text&quot;}"/>
          <p:cNvSpPr txBox="1"/>
          <p:nvPr/>
        </p:nvSpPr>
        <p:spPr>
          <a:xfrm>
            <a:off x="800100" y="3867150"/>
            <a:ext cx="5029200" cy="2095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铁律一</a:t>
            </a:r>
            <a:endParaRPr lang="zh-CN" sz="1350" b="1">
              <a:solidFill>
                <a:srgbClr val="F59E0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557" name="文本框 2556" descr="{&quot;isTemplate&quot;:true,&quot;type&quot;:&quot;text&quot;}"/>
          <p:cNvSpPr txBox="1"/>
          <p:nvPr/>
        </p:nvSpPr>
        <p:spPr>
          <a:xfrm>
            <a:off x="800100" y="4171950"/>
            <a:ext cx="5029200" cy="3048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5000"/>
              </a:lnSpc>
            </a:pPr>
            <a:r>
              <a:rPr lang="zh-CN" sz="1125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每次调用</a:t>
            </a:r>
            <a:r>
              <a:rPr lang="en-US" sz="1125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 DAO </a:t>
            </a:r>
            <a:r>
              <a:rPr lang="zh-CN" sz="1125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函数都必须从</a:t>
            </a:r>
            <a:r>
              <a:rPr lang="en-US" sz="1125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 executor() </a:t>
            </a:r>
            <a:r>
              <a:rPr lang="zh-CN" sz="1125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开始。</a:t>
            </a:r>
            <a:endParaRPr lang="zh-CN" sz="1125">
              <a:solidFill>
                <a:srgbClr val="E2E8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558" name="文本框 2557" descr="{&quot;isTemplate&quot;:true,&quot;type&quot;:&quot;text&quot;}"/>
          <p:cNvSpPr txBox="1"/>
          <p:nvPr/>
        </p:nvSpPr>
        <p:spPr>
          <a:xfrm>
            <a:off x="800100" y="4572000"/>
            <a:ext cx="5029200" cy="561975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75000"/>
              </a:lnSpc>
            </a:pPr>
            <a:r>
              <a:rPr lang="zh-CN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不要试图声明</a:t>
            </a:r>
            <a:r>
              <a:rPr lang="en-US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SqlExecutor </a:t>
            </a:r>
            <a:r>
              <a:rPr lang="zh-CN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或</a:t>
            </a:r>
            <a:r>
              <a:rPr lang="en-US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DAO </a:t>
            </a:r>
            <a:r>
              <a:rPr lang="zh-CN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接口类型的变量</a:t>
            </a:r>
            <a:r>
              <a:rPr lang="en-US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—— </a:t>
            </a:r>
            <a:r>
              <a:rPr lang="zh-CN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它缓存在</a:t>
            </a:r>
            <a:r>
              <a:rPr lang="en-US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ThreadLocal </a:t>
            </a:r>
            <a:r>
              <a:rPr lang="zh-CN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里按驱动名区分，存成字段会拿到别的线程的连接。</a:t>
            </a:r>
            <a:endParaRPr lang="zh-CN" sz="1050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559" name="圆角矩形 2558"/>
          <p:cNvSpPr/>
          <p:nvPr/>
        </p:nvSpPr>
        <p:spPr>
          <a:xfrm>
            <a:off x="6172200" y="3676650"/>
            <a:ext cx="5410200" cy="2609850"/>
          </a:xfrm>
          <a:prstGeom prst="roundRect">
            <a:avLst>
              <a:gd name="adj" fmla="val 4380"/>
            </a:avLst>
          </a:prstGeom>
          <a:solidFill>
            <a:srgbClr val="F59E0B">
              <a:alpha val="7000"/>
            </a:srgbClr>
          </a:solidFill>
          <a:ln w="12700">
            <a:solidFill>
              <a:srgbClr val="F59E0B"/>
            </a:solidFill>
            <a:prstDash val="solid"/>
          </a:ln>
        </p:spPr>
        <p:txBody>
          <a:bodyPr/>
          <a:p/>
        </p:txBody>
      </p:sp>
      <p:sp>
        <p:nvSpPr>
          <p:cNvPr id="2560" name="文本框 2559" descr="{&quot;isTemplate&quot;:true,&quot;type&quot;:&quot;text&quot;}"/>
          <p:cNvSpPr txBox="1"/>
          <p:nvPr/>
        </p:nvSpPr>
        <p:spPr>
          <a:xfrm>
            <a:off x="6362700" y="3867150"/>
            <a:ext cx="5029200" cy="2095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铁律二</a:t>
            </a:r>
            <a:endParaRPr lang="zh-CN" sz="1350" b="1">
              <a:solidFill>
                <a:srgbClr val="F59E0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561" name="文本框 2560" descr="{&quot;isTemplate&quot;:true,&quot;type&quot;:&quot;text&quot;}"/>
          <p:cNvSpPr txBox="1"/>
          <p:nvPr/>
        </p:nvSpPr>
        <p:spPr>
          <a:xfrm>
            <a:off x="6362700" y="4171950"/>
            <a:ext cx="5029200" cy="600075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75000"/>
              </a:lnSpc>
            </a:pPr>
            <a:r>
              <a:rPr lang="zh-CN" sz="1125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一个</a:t>
            </a:r>
            <a:r>
              <a:rPr lang="en-US" sz="1125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 DAO </a:t>
            </a:r>
            <a:r>
              <a:rPr lang="zh-CN" sz="1125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函数只执行一个</a:t>
            </a:r>
            <a:r>
              <a:rPr lang="en-US" sz="1125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 SQL</a:t>
            </a:r>
            <a:r>
              <a:rPr lang="zh-CN" sz="1125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（或一次分页查询：一次</a:t>
            </a:r>
            <a:r>
              <a:rPr lang="en-US" sz="1125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 count </a:t>
            </a:r>
            <a:r>
              <a:rPr lang="zh-CN" sz="1125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加一次列表）。</a:t>
            </a:r>
            <a:endParaRPr lang="zh-CN" sz="1125">
              <a:solidFill>
                <a:srgbClr val="E2E8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562" name="文本框 2561" descr="{&quot;isTemplate&quot;:true,&quot;type&quot;:&quot;text&quot;}"/>
          <p:cNvSpPr txBox="1"/>
          <p:nvPr/>
        </p:nvSpPr>
        <p:spPr>
          <a:xfrm>
            <a:off x="6362700" y="4867275"/>
            <a:ext cx="5029200" cy="561975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75000"/>
              </a:lnSpc>
            </a:pPr>
            <a:r>
              <a:rPr lang="zh-CN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同一个</a:t>
            </a:r>
            <a:r>
              <a:rPr lang="en-US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SqlExecutor </a:t>
            </a:r>
            <a:r>
              <a:rPr lang="zh-CN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上不允许并发：上一次查询结果未关闭时再执行会抛</a:t>
            </a:r>
            <a:r>
              <a:rPr lang="en-US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ORMException</a:t>
            </a:r>
            <a:r>
              <a:rPr lang="zh-CN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。</a:t>
            </a:r>
            <a:endParaRPr lang="zh-CN" sz="1050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563" name="任意多边形 2562"/>
          <p:cNvSpPr/>
          <p:nvPr/>
        </p:nvSpPr>
        <p:spPr>
          <a:xfrm>
            <a:off x="609600" y="6286500"/>
            <a:ext cx="10972800" cy="381000"/>
          </a:xfrm>
          <a:custGeom>
            <a:avLst/>
            <a:gdLst/>
            <a:ahLst/>
            <a:cxnLst/>
            <a:pathLst>
              <a:path w="1152" h="40">
                <a:moveTo>
                  <a:pt x="0" y="0"/>
                </a:moveTo>
                <a:lnTo>
                  <a:pt x="1152" y="0"/>
                </a:lnTo>
                <a:lnTo>
                  <a:pt x="1152" y="1"/>
                </a:lnTo>
                <a:lnTo>
                  <a:pt x="0" y="1"/>
                </a:lnTo>
                <a:close/>
              </a:path>
            </a:pathLst>
          </a:custGeom>
          <a:solidFill>
            <a:srgbClr val="1E293B"/>
          </a:solidFill>
        </p:spPr>
        <p:txBody>
          <a:bodyPr/>
          <a:p/>
        </p:txBody>
      </p:sp>
      <p:sp>
        <p:nvSpPr>
          <p:cNvPr id="2564" name="文本框 2563" descr="{&quot;isTemplate&quot;:true,&quot;type&quot;:&quot;text&quot;}"/>
          <p:cNvSpPr txBox="1"/>
          <p:nvPr/>
        </p:nvSpPr>
        <p:spPr>
          <a:xfrm>
            <a:off x="609600" y="6410325"/>
            <a:ext cx="2219325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fountain · 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一站式服务器应用开发工具库</a:t>
            </a:r>
            <a:endParaRPr lang="zh-CN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565" name="文本框 2564" descr="{&quot;isTemplate&quot;:true,&quot;type&quot;:&quot;text&quot;}"/>
          <p:cNvSpPr txBox="1"/>
          <p:nvPr/>
        </p:nvSpPr>
        <p:spPr>
          <a:xfrm>
            <a:off x="11087100" y="6410325"/>
            <a:ext cx="495300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78 / 116</a:t>
            </a:r>
            <a:endParaRPr lang="en-US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56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7" name="矩形 2566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220"/>
          </a:solidFill>
        </p:spPr>
        <p:txBody>
          <a:bodyPr/>
          <a:p/>
        </p:txBody>
      </p:sp>
      <p:sp>
        <p:nvSpPr>
          <p:cNvPr id="2568" name="矩形 2567"/>
          <p:cNvSpPr/>
          <p:nvPr/>
        </p:nvSpPr>
        <p:spPr>
          <a:xfrm>
            <a:off x="609600" y="476250"/>
            <a:ext cx="38100" cy="381000"/>
          </a:xfrm>
          <a:prstGeom prst="rect">
            <a:avLst/>
          </a:prstGeom>
          <a:solidFill>
            <a:srgbClr val="38BDF8"/>
          </a:solidFill>
        </p:spPr>
        <p:txBody>
          <a:bodyPr/>
          <a:p/>
        </p:txBody>
      </p:sp>
      <p:sp>
        <p:nvSpPr>
          <p:cNvPr id="2569" name="文本框 2568" descr="{&quot;isTemplate&quot;:true,&quot;type&quot;:&quot;text&quot;}"/>
          <p:cNvSpPr txBox="1"/>
          <p:nvPr/>
        </p:nvSpPr>
        <p:spPr>
          <a:xfrm>
            <a:off x="819150" y="304800"/>
            <a:ext cx="8153400" cy="2095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第</a:t>
            </a: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 12 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章</a:t>
            </a: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 · ORM f_orm · 12.2</a:t>
            </a:r>
            <a:endParaRPr lang="en-US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570" name="文本框 2569" descr="{&quot;isTemplate&quot;:true,&quot;type&quot;:&quot;text&quot;}"/>
          <p:cNvSpPr txBox="1"/>
          <p:nvPr/>
        </p:nvSpPr>
        <p:spPr>
          <a:xfrm>
            <a:off x="819150" y="514350"/>
            <a:ext cx="8153400" cy="5143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en-US" sz="2550" b="1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ORM </a:t>
            </a:r>
            <a:r>
              <a:rPr lang="zh-CN" sz="2550" b="1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配置</a:t>
            </a:r>
            <a:endParaRPr lang="zh-CN" sz="2550" b="1">
              <a:solidFill>
                <a:srgbClr val="E2E8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571" name="文本框 2570" descr="{&quot;isTemplate&quot;:true,&quot;type&quot;:&quot;text&quot;}"/>
          <p:cNvSpPr txBox="1"/>
          <p:nvPr/>
        </p:nvSpPr>
        <p:spPr>
          <a:xfrm>
            <a:off x="9144000" y="590550"/>
            <a:ext cx="2438400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全局</a:t>
            </a: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 orm_key · 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按驱动覆盖</a:t>
            </a: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 driver_orm_key</a:t>
            </a:r>
            <a:endParaRPr lang="en-US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572" name="圆角矩形 2571"/>
          <p:cNvSpPr/>
          <p:nvPr/>
        </p:nvSpPr>
        <p:spPr>
          <a:xfrm>
            <a:off x="609600" y="1143000"/>
            <a:ext cx="4476750" cy="2543175"/>
          </a:xfrm>
          <a:prstGeom prst="roundRect">
            <a:avLst>
              <a:gd name="adj" fmla="val 4494"/>
            </a:avLst>
          </a:prstGeom>
          <a:solidFill>
            <a:srgbClr val="111C2E"/>
          </a:solidFill>
          <a:ln w="12700">
            <a:solidFill>
              <a:srgbClr val="38BDF8"/>
            </a:solidFill>
            <a:prstDash val="solid"/>
          </a:ln>
        </p:spPr>
        <p:txBody>
          <a:bodyPr/>
          <a:p/>
        </p:txBody>
      </p:sp>
      <p:sp>
        <p:nvSpPr>
          <p:cNvPr id="2573" name="文本框 2572" descr="{&quot;isTemplate&quot;:true,&quot;type&quot;:&quot;text&quot;}"/>
          <p:cNvSpPr txBox="1"/>
          <p:nvPr/>
        </p:nvSpPr>
        <p:spPr>
          <a:xfrm>
            <a:off x="800100" y="1333500"/>
            <a:ext cx="4095750" cy="1905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38BDF8"/>
                </a:solidFill>
                <a:latin typeface="微软雅黑" panose="020B0503020204020204" charset="-122"/>
                <a:ea typeface="微软雅黑" panose="020B0503020204020204" charset="-122"/>
              </a:rPr>
              <a:t>命名约定</a:t>
            </a:r>
            <a:endParaRPr lang="zh-CN" sz="1200" b="1">
              <a:solidFill>
                <a:srgbClr val="38BDF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574" name="文本框 2573" descr="{&quot;isTemplate&quot;:true,&quot;type&quot;:&quot;text&quot;}"/>
          <p:cNvSpPr txBox="1"/>
          <p:nvPr/>
        </p:nvSpPr>
        <p:spPr>
          <a:xfrm>
            <a:off x="800100" y="1619250"/>
            <a:ext cx="4095750" cy="2857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5000"/>
              </a:lnSpc>
            </a:pPr>
            <a:r>
              <a:rPr lang="zh-CN" sz="105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全局：</a:t>
            </a:r>
            <a:r>
              <a:rPr lang="en-US" sz="105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orm </a:t>
            </a:r>
            <a:r>
              <a:rPr lang="zh-CN" sz="105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下划线</a:t>
            </a:r>
            <a:r>
              <a:rPr lang="en-US" sz="105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 key</a:t>
            </a:r>
            <a:endParaRPr lang="en-US" sz="1050">
              <a:solidFill>
                <a:srgbClr val="E2E8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575" name="文本框 2574" descr="{&quot;isTemplate&quot;:true,&quot;type&quot;:&quot;text&quot;}"/>
          <p:cNvSpPr txBox="1"/>
          <p:nvPr/>
        </p:nvSpPr>
        <p:spPr>
          <a:xfrm>
            <a:off x="800100" y="1962150"/>
            <a:ext cx="4095750" cy="2857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5000"/>
              </a:lnSpc>
            </a:pPr>
            <a:r>
              <a:rPr lang="zh-CN" sz="1050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按驱动覆盖：驱动名</a:t>
            </a:r>
            <a:r>
              <a:rPr lang="en-US" sz="1050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 </a:t>
            </a:r>
            <a:r>
              <a:rPr lang="zh-CN" sz="1050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下划线</a:t>
            </a:r>
            <a:r>
              <a:rPr lang="en-US" sz="1050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 orm </a:t>
            </a:r>
            <a:r>
              <a:rPr lang="zh-CN" sz="1050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下划线</a:t>
            </a:r>
            <a:r>
              <a:rPr lang="en-US" sz="1050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 key</a:t>
            </a:r>
            <a:r>
              <a:rPr lang="zh-CN" sz="1050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，优先级更高</a:t>
            </a:r>
            <a:endParaRPr lang="zh-CN" sz="1050">
              <a:solidFill>
                <a:srgbClr val="F59E0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576" name="文本框 2575" descr="{&quot;isTemplate&quot;:true,&quot;type&quot;:&quot;text&quot;}"/>
          <p:cNvSpPr txBox="1"/>
          <p:nvPr/>
        </p:nvSpPr>
        <p:spPr>
          <a:xfrm>
            <a:off x="800100" y="2343150"/>
            <a:ext cx="4095750" cy="2857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5000"/>
              </a:lnSpc>
            </a:pPr>
            <a:r>
              <a:rPr lang="zh-CN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可以给所有驱动配一套默认值，再给某个驱动单独覆盖。</a:t>
            </a:r>
            <a:endParaRPr lang="zh-CN" sz="1050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577" name="圆角矩形 2576"/>
          <p:cNvSpPr/>
          <p:nvPr/>
        </p:nvSpPr>
        <p:spPr>
          <a:xfrm>
            <a:off x="609600" y="3819525"/>
            <a:ext cx="4476750" cy="2466975"/>
          </a:xfrm>
          <a:prstGeom prst="roundRect">
            <a:avLst>
              <a:gd name="adj" fmla="val 4633"/>
            </a:avLst>
          </a:prstGeom>
          <a:solidFill>
            <a:srgbClr val="111C2E"/>
          </a:solidFill>
          <a:ln w="12700">
            <a:solidFill>
              <a:srgbClr val="1E293B"/>
            </a:solidFill>
            <a:prstDash val="solid"/>
          </a:ln>
        </p:spPr>
        <p:txBody>
          <a:bodyPr/>
          <a:p/>
        </p:txBody>
      </p:sp>
      <p:sp>
        <p:nvSpPr>
          <p:cNvPr id="2578" name="文本框 2577" descr="{&quot;isTemplate&quot;:true,&quot;type&quot;:&quot;text&quot;}"/>
          <p:cNvSpPr txBox="1"/>
          <p:nvPr/>
        </p:nvSpPr>
        <p:spPr>
          <a:xfrm>
            <a:off x="800100" y="4010025"/>
            <a:ext cx="4095750" cy="1905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连接池就是</a:t>
            </a:r>
            <a:r>
              <a:rPr lang="en-US" sz="1200" b="1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 f_pool</a:t>
            </a:r>
            <a:endParaRPr lang="en-US" sz="1200" b="1">
              <a:solidFill>
                <a:srgbClr val="E2E8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579" name="文本框 2578" descr="{&quot;isTemplate&quot;:true,&quot;type&quot;:&quot;text&quot;}"/>
          <p:cNvSpPr txBox="1"/>
          <p:nvPr/>
        </p:nvSpPr>
        <p:spPr>
          <a:xfrm>
            <a:off x="800100" y="4295775"/>
            <a:ext cx="4095750" cy="561975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75000"/>
              </a:lnSpc>
            </a:pPr>
            <a:r>
              <a:rPr lang="en-US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ORM </a:t>
            </a:r>
            <a:r>
              <a:rPr lang="zh-CN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的</a:t>
            </a:r>
            <a:r>
              <a:rPr lang="en-US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DatabasePool </a:t>
            </a:r>
            <a:r>
              <a:rPr lang="zh-CN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是</a:t>
            </a:r>
            <a:r>
              <a:rPr lang="en-US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f_pool </a:t>
            </a:r>
            <a:r>
              <a:rPr lang="zh-CN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的一个应用（见第十七章）：调</a:t>
            </a:r>
            <a:r>
              <a:rPr lang="en-US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ORM </a:t>
            </a:r>
            <a:r>
              <a:rPr lang="zh-CN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连接池和直接调</a:t>
            </a:r>
            <a:r>
              <a:rPr lang="en-US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f_pool </a:t>
            </a:r>
            <a:r>
              <a:rPr lang="zh-CN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手感完全一样。</a:t>
            </a:r>
            <a:endParaRPr lang="zh-CN" sz="1050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580" name="文本框 2579" descr="{&quot;isTemplate&quot;:true,&quot;type&quot;:&quot;text&quot;}"/>
          <p:cNvSpPr txBox="1"/>
          <p:nvPr/>
        </p:nvSpPr>
        <p:spPr>
          <a:xfrm>
            <a:off x="800100" y="4953000"/>
            <a:ext cx="4095750" cy="2857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5000"/>
              </a:lnSpc>
            </a:pPr>
            <a:r>
              <a:rPr lang="zh-CN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池实现三选一：</a:t>
            </a:r>
            <a:r>
              <a:rPr lang="en-US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fountain </a:t>
            </a:r>
            <a:r>
              <a:rPr lang="zh-CN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池（默认）</a:t>
            </a:r>
            <a:r>
              <a:rPr lang="en-US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/ </a:t>
            </a:r>
            <a:r>
              <a:rPr lang="zh-CN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标准库池</a:t>
            </a:r>
            <a:r>
              <a:rPr lang="en-US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/ </a:t>
            </a:r>
            <a:r>
              <a:rPr lang="zh-CN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第三方池。</a:t>
            </a:r>
            <a:endParaRPr lang="zh-CN" sz="1050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581" name="圆角矩形 2580"/>
          <p:cNvSpPr/>
          <p:nvPr/>
        </p:nvSpPr>
        <p:spPr>
          <a:xfrm>
            <a:off x="5276850" y="1143000"/>
            <a:ext cx="6305550" cy="5143500"/>
          </a:xfrm>
          <a:prstGeom prst="roundRect">
            <a:avLst>
              <a:gd name="adj" fmla="val 2222"/>
            </a:avLst>
          </a:prstGeom>
          <a:solidFill>
            <a:srgbClr val="0B1220"/>
          </a:solidFill>
          <a:ln w="12700">
            <a:solidFill>
              <a:srgbClr val="1E293B"/>
            </a:solidFill>
            <a:prstDash val="solid"/>
          </a:ln>
        </p:spPr>
        <p:txBody>
          <a:bodyPr/>
          <a:p/>
        </p:txBody>
      </p:sp>
      <p:sp>
        <p:nvSpPr>
          <p:cNvPr id="2582" name="文本框 2581" descr="{&quot;isTemplate&quot;:true,&quot;type&quot;:&quot;text&quot;}"/>
          <p:cNvSpPr txBox="1"/>
          <p:nvPr/>
        </p:nvSpPr>
        <p:spPr>
          <a:xfrm>
            <a:off x="5448300" y="1314450"/>
            <a:ext cx="5962650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环境变量（或等价的</a:t>
            </a: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 --key=value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）</a:t>
            </a:r>
            <a:endParaRPr lang="zh-CN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583" name="文本框 2582" descr="{&quot;isTemplate&quot;:true,&quot;type&quot;:&quot;text&quot;}"/>
          <p:cNvSpPr txBox="1"/>
          <p:nvPr/>
        </p:nvSpPr>
        <p:spPr>
          <a:xfrm>
            <a:off x="5448300" y="1543050"/>
            <a:ext cx="5962650" cy="2286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65000"/>
              </a:lnSpc>
            </a:pPr>
            <a:r>
              <a:rPr lang="en-US" sz="900">
                <a:solidFill>
                  <a:srgbClr val="E2E8F0"/>
                </a:solidFill>
                <a:latin typeface="JetBrains Mono"/>
                <a:ea typeface="JetBrains Mono"/>
              </a:rPr>
              <a:t>export orm_drivers=postgres</a:t>
            </a:r>
            <a:r>
              <a:rPr lang="zh-CN" sz="900">
                <a:solidFill>
                  <a:srgbClr val="E2E8F0"/>
                </a:solidFill>
                <a:latin typeface="JetBrains Mono"/>
                <a:ea typeface="JetBrains Mono"/>
              </a:rPr>
              <a:t>　</a:t>
            </a:r>
            <a:r>
              <a:rPr lang="en-US" sz="900">
                <a:solidFill>
                  <a:srgbClr val="E2E8F0"/>
                </a:solidFill>
                <a:latin typeface="JetBrains Mono"/>
                <a:ea typeface="JetBrains Mono"/>
              </a:rPr>
              <a:t># </a:t>
            </a:r>
            <a:r>
              <a:rPr lang="zh-CN" sz="900">
                <a:solidFill>
                  <a:srgbClr val="E2E8F0"/>
                </a:solidFill>
                <a:latin typeface="JetBrains Mono"/>
                <a:ea typeface="JetBrains Mono"/>
              </a:rPr>
              <a:t>逗号分隔，可注册多数据源</a:t>
            </a:r>
            <a:endParaRPr lang="zh-CN" sz="900">
              <a:solidFill>
                <a:srgbClr val="E2E8F0"/>
              </a:solidFill>
              <a:latin typeface="JetBrains Mono"/>
              <a:ea typeface="JetBrains Mono"/>
            </a:endParaRPr>
          </a:p>
        </p:txBody>
      </p:sp>
      <p:sp>
        <p:nvSpPr>
          <p:cNvPr id="2584" name="文本框 2583" descr="{&quot;isTemplate&quot;:true,&quot;type&quot;:&quot;text&quot;}"/>
          <p:cNvSpPr txBox="1"/>
          <p:nvPr/>
        </p:nvSpPr>
        <p:spPr>
          <a:xfrm>
            <a:off x="5448300" y="1771650"/>
            <a:ext cx="5962650" cy="2286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65000"/>
              </a:lnSpc>
            </a:pPr>
            <a:r>
              <a:rPr lang="en-US" sz="900">
                <a:solidFill>
                  <a:srgbClr val="E2E8F0"/>
                </a:solidFill>
                <a:latin typeface="JetBrains Mono"/>
                <a:ea typeface="JetBrains Mono"/>
              </a:rPr>
              <a:t>export orm_defaultDriver=postgres</a:t>
            </a:r>
            <a:r>
              <a:rPr lang="zh-CN" sz="900">
                <a:solidFill>
                  <a:srgbClr val="E2E8F0"/>
                </a:solidFill>
                <a:latin typeface="JetBrains Mono"/>
                <a:ea typeface="JetBrains Mono"/>
              </a:rPr>
              <a:t>　</a:t>
            </a:r>
            <a:r>
              <a:rPr lang="en-US" sz="900">
                <a:solidFill>
                  <a:srgbClr val="E2E8F0"/>
                </a:solidFill>
                <a:latin typeface="JetBrains Mono"/>
                <a:ea typeface="JetBrains Mono"/>
              </a:rPr>
              <a:t># </a:t>
            </a:r>
            <a:r>
              <a:rPr lang="zh-CN" sz="900">
                <a:solidFill>
                  <a:srgbClr val="E2E8F0"/>
                </a:solidFill>
                <a:latin typeface="JetBrains Mono"/>
                <a:ea typeface="JetBrains Mono"/>
              </a:rPr>
              <a:t>缺省取</a:t>
            </a:r>
            <a:r>
              <a:rPr lang="en-US" sz="900">
                <a:solidFill>
                  <a:srgbClr val="E2E8F0"/>
                </a:solidFill>
                <a:latin typeface="JetBrains Mono"/>
                <a:ea typeface="JetBrains Mono"/>
              </a:rPr>
              <a:t> drivers </a:t>
            </a:r>
            <a:r>
              <a:rPr lang="zh-CN" sz="900">
                <a:solidFill>
                  <a:srgbClr val="E2E8F0"/>
                </a:solidFill>
                <a:latin typeface="JetBrains Mono"/>
                <a:ea typeface="JetBrains Mono"/>
              </a:rPr>
              <a:t>第一个</a:t>
            </a:r>
            <a:endParaRPr lang="zh-CN" sz="900">
              <a:solidFill>
                <a:srgbClr val="E2E8F0"/>
              </a:solidFill>
              <a:latin typeface="JetBrains Mono"/>
              <a:ea typeface="JetBrains Mono"/>
            </a:endParaRPr>
          </a:p>
        </p:txBody>
      </p:sp>
      <p:sp>
        <p:nvSpPr>
          <p:cNvPr id="2585" name="文本框 2584" descr="{&quot;isTemplate&quot;:true,&quot;type&quot;:&quot;text&quot;}"/>
          <p:cNvSpPr txBox="1"/>
          <p:nvPr/>
        </p:nvSpPr>
        <p:spPr>
          <a:xfrm>
            <a:off x="5448300" y="2000250"/>
            <a:ext cx="5962650" cy="2286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65000"/>
              </a:lnSpc>
            </a:pPr>
            <a:r>
              <a:rPr lang="en-US" sz="900">
                <a:solidFill>
                  <a:srgbClr val="F59E0B"/>
                </a:solidFill>
                <a:latin typeface="JetBrains Mono"/>
                <a:ea typeface="JetBrains Mono"/>
              </a:rPr>
              <a:t>export postgres_orm_connectionUrl=$POSTGRES</a:t>
            </a:r>
            <a:r>
              <a:rPr lang="zh-CN" sz="900">
                <a:solidFill>
                  <a:srgbClr val="F59E0B"/>
                </a:solidFill>
                <a:latin typeface="JetBrains Mono"/>
                <a:ea typeface="JetBrains Mono"/>
              </a:rPr>
              <a:t>　</a:t>
            </a:r>
            <a:r>
              <a:rPr lang="en-US" sz="900">
                <a:solidFill>
                  <a:srgbClr val="F59E0B"/>
                </a:solidFill>
                <a:latin typeface="JetBrains Mono"/>
                <a:ea typeface="JetBrains Mono"/>
              </a:rPr>
              <a:t># </a:t>
            </a:r>
            <a:r>
              <a:rPr lang="zh-CN" sz="900">
                <a:solidFill>
                  <a:srgbClr val="F59E0B"/>
                </a:solidFill>
                <a:latin typeface="JetBrains Mono"/>
                <a:ea typeface="JetBrains Mono"/>
              </a:rPr>
              <a:t>按驱动覆盖</a:t>
            </a:r>
            <a:r>
              <a:rPr lang="en-US" sz="900">
                <a:solidFill>
                  <a:srgbClr val="F59E0B"/>
                </a:solidFill>
                <a:latin typeface="JetBrains Mono"/>
                <a:ea typeface="JetBrains Mono"/>
              </a:rPr>
              <a:t> driver_orm_key</a:t>
            </a:r>
            <a:endParaRPr lang="en-US" sz="900">
              <a:solidFill>
                <a:srgbClr val="F59E0B"/>
              </a:solidFill>
              <a:latin typeface="JetBrains Mono"/>
              <a:ea typeface="JetBrains Mono"/>
            </a:endParaRPr>
          </a:p>
        </p:txBody>
      </p:sp>
      <p:sp>
        <p:nvSpPr>
          <p:cNvPr id="2586" name="文本框 2585" descr="{&quot;isTemplate&quot;:true,&quot;type&quot;:&quot;text&quot;}"/>
          <p:cNvSpPr txBox="1"/>
          <p:nvPr/>
        </p:nvSpPr>
        <p:spPr>
          <a:xfrm>
            <a:off x="5448300" y="2228850"/>
            <a:ext cx="5962650" cy="2286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65000"/>
              </a:lnSpc>
            </a:pPr>
            <a:r>
              <a:rPr lang="en-US" sz="900">
                <a:solidFill>
                  <a:srgbClr val="F59E0B"/>
                </a:solidFill>
                <a:latin typeface="JetBrains Mono"/>
                <a:ea typeface="JetBrains Mono"/>
              </a:rPr>
              <a:t>export postgres_orm_option_username=$POSTGRES_USERNAME</a:t>
            </a:r>
            <a:endParaRPr lang="en-US" sz="900">
              <a:solidFill>
                <a:srgbClr val="F59E0B"/>
              </a:solidFill>
              <a:latin typeface="JetBrains Mono"/>
              <a:ea typeface="JetBrains Mono"/>
            </a:endParaRPr>
          </a:p>
        </p:txBody>
      </p:sp>
      <p:sp>
        <p:nvSpPr>
          <p:cNvPr id="2587" name="文本框 2586" descr="{&quot;isTemplate&quot;:true,&quot;type&quot;:&quot;text&quot;}"/>
          <p:cNvSpPr txBox="1"/>
          <p:nvPr/>
        </p:nvSpPr>
        <p:spPr>
          <a:xfrm>
            <a:off x="5448300" y="2457450"/>
            <a:ext cx="5962650" cy="2286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65000"/>
              </a:lnSpc>
            </a:pPr>
            <a:r>
              <a:rPr lang="en-US" sz="900">
                <a:solidFill>
                  <a:srgbClr val="F59E0B"/>
                </a:solidFill>
                <a:latin typeface="JetBrains Mono"/>
                <a:ea typeface="JetBrains Mono"/>
              </a:rPr>
              <a:t>export postgres_orm_option_password=$POSTGRES_PASSWORD</a:t>
            </a:r>
            <a:endParaRPr lang="en-US" sz="900">
              <a:solidFill>
                <a:srgbClr val="F59E0B"/>
              </a:solidFill>
              <a:latin typeface="JetBrains Mono"/>
              <a:ea typeface="JetBrains Mono"/>
            </a:endParaRPr>
          </a:p>
        </p:txBody>
      </p:sp>
      <p:sp>
        <p:nvSpPr>
          <p:cNvPr id="2588" name="文本框 2587" descr="{&quot;isTemplate&quot;:true,&quot;type&quot;:&quot;text&quot;}"/>
          <p:cNvSpPr txBox="1"/>
          <p:nvPr/>
        </p:nvSpPr>
        <p:spPr>
          <a:xfrm>
            <a:off x="5448300" y="2686050"/>
            <a:ext cx="5962650" cy="2286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65000"/>
              </a:lnSpc>
            </a:pPr>
            <a:r>
              <a:rPr lang="en-US" sz="900">
                <a:solidFill>
                  <a:srgbClr val="94A3B8"/>
                </a:solidFill>
                <a:latin typeface="JetBrains Mono"/>
                <a:ea typeface="JetBrains Mono"/>
              </a:rPr>
              <a:t>export orm_useCache=true</a:t>
            </a:r>
            <a:r>
              <a:rPr lang="zh-CN" sz="900">
                <a:solidFill>
                  <a:srgbClr val="94A3B8"/>
                </a:solidFill>
                <a:latin typeface="JetBrains Mono"/>
                <a:ea typeface="JetBrains Mono"/>
              </a:rPr>
              <a:t>　</a:t>
            </a:r>
            <a:r>
              <a:rPr lang="en-US" sz="900">
                <a:solidFill>
                  <a:srgbClr val="94A3B8"/>
                </a:solidFill>
                <a:latin typeface="JetBrains Mono"/>
                <a:ea typeface="JetBrains Mono"/>
              </a:rPr>
              <a:t># </a:t>
            </a:r>
            <a:r>
              <a:rPr lang="zh-CN" sz="900">
                <a:solidFill>
                  <a:srgbClr val="94A3B8"/>
                </a:solidFill>
                <a:latin typeface="JetBrains Mono"/>
                <a:ea typeface="JetBrains Mono"/>
              </a:rPr>
              <a:t>结果缓存，默认</a:t>
            </a:r>
            <a:r>
              <a:rPr lang="en-US" sz="900">
                <a:solidFill>
                  <a:srgbClr val="94A3B8"/>
                </a:solidFill>
                <a:latin typeface="JetBrains Mono"/>
                <a:ea typeface="JetBrains Mono"/>
              </a:rPr>
              <a:t> true</a:t>
            </a:r>
            <a:endParaRPr lang="en-US" sz="900">
              <a:solidFill>
                <a:srgbClr val="94A3B8"/>
              </a:solidFill>
              <a:latin typeface="JetBrains Mono"/>
              <a:ea typeface="JetBrains Mono"/>
            </a:endParaRPr>
          </a:p>
        </p:txBody>
      </p:sp>
      <p:sp>
        <p:nvSpPr>
          <p:cNvPr id="2589" name="文本框 2588" descr="{&quot;isTemplate&quot;:true,&quot;type&quot;:&quot;text&quot;}"/>
          <p:cNvSpPr txBox="1"/>
          <p:nvPr/>
        </p:nvSpPr>
        <p:spPr>
          <a:xfrm>
            <a:off x="5448300" y="2914650"/>
            <a:ext cx="5962650" cy="2286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65000"/>
              </a:lnSpc>
            </a:pPr>
            <a:r>
              <a:rPr lang="en-US" sz="900">
                <a:solidFill>
                  <a:srgbClr val="94A3B8"/>
                </a:solidFill>
                <a:latin typeface="JetBrains Mono"/>
                <a:ea typeface="JetBrains Mono"/>
              </a:rPr>
              <a:t>export orm_noPool=false</a:t>
            </a:r>
            <a:endParaRPr lang="en-US" sz="900">
              <a:solidFill>
                <a:srgbClr val="94A3B8"/>
              </a:solidFill>
              <a:latin typeface="JetBrains Mono"/>
              <a:ea typeface="JetBrains Mono"/>
            </a:endParaRPr>
          </a:p>
        </p:txBody>
      </p:sp>
      <p:sp>
        <p:nvSpPr>
          <p:cNvPr id="2590" name="文本框 2589" descr="{&quot;isTemplate&quot;:true,&quot;type&quot;:&quot;text&quot;}"/>
          <p:cNvSpPr txBox="1"/>
          <p:nvPr/>
        </p:nvSpPr>
        <p:spPr>
          <a:xfrm>
            <a:off x="5448300" y="3143250"/>
            <a:ext cx="5962650" cy="2286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65000"/>
              </a:lnSpc>
            </a:pPr>
            <a:r>
              <a:rPr lang="en-US" sz="900">
                <a:solidFill>
                  <a:srgbClr val="94A3B8"/>
                </a:solidFill>
                <a:latin typeface="JetBrains Mono"/>
                <a:ea typeface="JetBrains Mono"/>
              </a:rPr>
              <a:t>export orm_useStdPool=false</a:t>
            </a:r>
            <a:r>
              <a:rPr lang="zh-CN" sz="900">
                <a:solidFill>
                  <a:srgbClr val="94A3B8"/>
                </a:solidFill>
                <a:latin typeface="JetBrains Mono"/>
                <a:ea typeface="JetBrains Mono"/>
              </a:rPr>
              <a:t>　</a:t>
            </a:r>
            <a:r>
              <a:rPr lang="en-US" sz="900">
                <a:solidFill>
                  <a:srgbClr val="94A3B8"/>
                </a:solidFill>
                <a:latin typeface="JetBrains Mono"/>
                <a:ea typeface="JetBrains Mono"/>
              </a:rPr>
              <a:t># true=</a:t>
            </a:r>
            <a:r>
              <a:rPr lang="zh-CN" sz="900">
                <a:solidFill>
                  <a:srgbClr val="94A3B8"/>
                </a:solidFill>
                <a:latin typeface="JetBrains Mono"/>
                <a:ea typeface="JetBrains Mono"/>
              </a:rPr>
              <a:t>标准库池，</a:t>
            </a:r>
            <a:r>
              <a:rPr lang="en-US" sz="900">
                <a:solidFill>
                  <a:srgbClr val="94A3B8"/>
                </a:solidFill>
                <a:latin typeface="JetBrains Mono"/>
                <a:ea typeface="JetBrains Mono"/>
              </a:rPr>
              <a:t>false=fountain </a:t>
            </a:r>
            <a:r>
              <a:rPr lang="zh-CN" sz="900">
                <a:solidFill>
                  <a:srgbClr val="94A3B8"/>
                </a:solidFill>
                <a:latin typeface="JetBrains Mono"/>
                <a:ea typeface="JetBrains Mono"/>
              </a:rPr>
              <a:t>池</a:t>
            </a:r>
            <a:endParaRPr lang="zh-CN" sz="900">
              <a:solidFill>
                <a:srgbClr val="94A3B8"/>
              </a:solidFill>
              <a:latin typeface="JetBrains Mono"/>
              <a:ea typeface="JetBrains Mono"/>
            </a:endParaRPr>
          </a:p>
        </p:txBody>
      </p:sp>
      <p:sp>
        <p:nvSpPr>
          <p:cNvPr id="2591" name="文本框 2590" descr="{&quot;isTemplate&quot;:true,&quot;type&quot;:&quot;text&quot;}"/>
          <p:cNvSpPr txBox="1"/>
          <p:nvPr/>
        </p:nvSpPr>
        <p:spPr>
          <a:xfrm>
            <a:off x="5448300" y="3371850"/>
            <a:ext cx="5962650" cy="2286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65000"/>
              </a:lnSpc>
            </a:pPr>
            <a:r>
              <a:rPr lang="en-US" sz="900">
                <a:solidFill>
                  <a:srgbClr val="94A3B8"/>
                </a:solidFill>
                <a:latin typeface="JetBrains Mono"/>
                <a:ea typeface="JetBrains Mono"/>
              </a:rPr>
              <a:t>export orm_useThirdPartyPool=false</a:t>
            </a:r>
            <a:endParaRPr lang="en-US" sz="900">
              <a:solidFill>
                <a:srgbClr val="94A3B8"/>
              </a:solidFill>
              <a:latin typeface="JetBrains Mono"/>
              <a:ea typeface="JetBrains Mono"/>
            </a:endParaRPr>
          </a:p>
        </p:txBody>
      </p:sp>
      <p:sp>
        <p:nvSpPr>
          <p:cNvPr id="2592" name="文本框 2591" descr="{&quot;isTemplate&quot;:true,&quot;type&quot;:&quot;text&quot;}"/>
          <p:cNvSpPr txBox="1"/>
          <p:nvPr/>
        </p:nvSpPr>
        <p:spPr>
          <a:xfrm>
            <a:off x="5448300" y="3600450"/>
            <a:ext cx="5962650" cy="2286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65000"/>
              </a:lnSpc>
            </a:pPr>
            <a:r>
              <a:rPr lang="en-US" sz="900">
                <a:solidFill>
                  <a:srgbClr val="E2E8F0"/>
                </a:solidFill>
                <a:latin typeface="JetBrains Mono"/>
                <a:ea typeface="JetBrains Mono"/>
              </a:rPr>
              <a:t>export orm_databasePoolMaxSize=1</a:t>
            </a:r>
            <a:r>
              <a:rPr lang="zh-CN" sz="900">
                <a:solidFill>
                  <a:srgbClr val="E2E8F0"/>
                </a:solidFill>
                <a:latin typeface="JetBrains Mono"/>
                <a:ea typeface="JetBrains Mono"/>
              </a:rPr>
              <a:t>　·　</a:t>
            </a:r>
            <a:r>
              <a:rPr lang="en-US" sz="900">
                <a:solidFill>
                  <a:srgbClr val="E2E8F0"/>
                </a:solidFill>
                <a:latin typeface="JetBrains Mono"/>
                <a:ea typeface="JetBrains Mono"/>
              </a:rPr>
              <a:t>orm_databasePoolMinSize=1</a:t>
            </a:r>
            <a:endParaRPr lang="en-US" sz="900">
              <a:solidFill>
                <a:srgbClr val="E2E8F0"/>
              </a:solidFill>
              <a:latin typeface="JetBrains Mono"/>
              <a:ea typeface="JetBrains Mono"/>
            </a:endParaRPr>
          </a:p>
        </p:txBody>
      </p:sp>
      <p:sp>
        <p:nvSpPr>
          <p:cNvPr id="2593" name="文本框 2592" descr="{&quot;isTemplate&quot;:true,&quot;type&quot;:&quot;text&quot;}"/>
          <p:cNvSpPr txBox="1"/>
          <p:nvPr/>
        </p:nvSpPr>
        <p:spPr>
          <a:xfrm>
            <a:off x="5448300" y="3829050"/>
            <a:ext cx="5962650" cy="2286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65000"/>
              </a:lnSpc>
            </a:pPr>
            <a:r>
              <a:rPr lang="en-US" sz="900">
                <a:solidFill>
                  <a:srgbClr val="E2E8F0"/>
                </a:solidFill>
                <a:latin typeface="JetBrains Mono"/>
                <a:ea typeface="JetBrains Mono"/>
              </a:rPr>
              <a:t>export orm_databasePoolInitSize=1</a:t>
            </a:r>
            <a:endParaRPr lang="en-US" sz="900">
              <a:solidFill>
                <a:srgbClr val="E2E8F0"/>
              </a:solidFill>
              <a:latin typeface="JetBrains Mono"/>
              <a:ea typeface="JetBrains Mono"/>
            </a:endParaRPr>
          </a:p>
        </p:txBody>
      </p:sp>
      <p:sp>
        <p:nvSpPr>
          <p:cNvPr id="2594" name="文本框 2593" descr="{&quot;isTemplate&quot;:true,&quot;type&quot;:&quot;text&quot;}"/>
          <p:cNvSpPr txBox="1"/>
          <p:nvPr/>
        </p:nvSpPr>
        <p:spPr>
          <a:xfrm>
            <a:off x="5448300" y="4057650"/>
            <a:ext cx="5962650" cy="2286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65000"/>
              </a:lnSpc>
            </a:pPr>
            <a:r>
              <a:rPr lang="en-US" sz="900">
                <a:solidFill>
                  <a:srgbClr val="E2E8F0"/>
                </a:solidFill>
                <a:latin typeface="JetBrains Mono"/>
                <a:ea typeface="JetBrains Mono"/>
              </a:rPr>
              <a:t>export orm_databasePoolConnectTimeout=50</a:t>
            </a:r>
            <a:r>
              <a:rPr lang="zh-CN" sz="900">
                <a:solidFill>
                  <a:srgbClr val="E2E8F0"/>
                </a:solidFill>
                <a:latin typeface="JetBrains Mono"/>
                <a:ea typeface="JetBrains Mono"/>
              </a:rPr>
              <a:t>　</a:t>
            </a:r>
            <a:r>
              <a:rPr lang="en-US" sz="900">
                <a:solidFill>
                  <a:srgbClr val="E2E8F0"/>
                </a:solidFill>
                <a:latin typeface="JetBrains Mono"/>
                <a:ea typeface="JetBrains Mono"/>
              </a:rPr>
              <a:t># </a:t>
            </a:r>
            <a:r>
              <a:rPr lang="zh-CN" sz="900">
                <a:solidFill>
                  <a:srgbClr val="E2E8F0"/>
                </a:solidFill>
                <a:latin typeface="JetBrains Mono"/>
                <a:ea typeface="JetBrains Mono"/>
              </a:rPr>
              <a:t>毫秒</a:t>
            </a:r>
            <a:endParaRPr lang="zh-CN" sz="900">
              <a:solidFill>
                <a:srgbClr val="E2E8F0"/>
              </a:solidFill>
              <a:latin typeface="JetBrains Mono"/>
              <a:ea typeface="JetBrains Mono"/>
            </a:endParaRPr>
          </a:p>
        </p:txBody>
      </p:sp>
      <p:sp>
        <p:nvSpPr>
          <p:cNvPr id="2595" name="文本框 2594" descr="{&quot;isTemplate&quot;:true,&quot;type&quot;:&quot;text&quot;}"/>
          <p:cNvSpPr txBox="1"/>
          <p:nvPr/>
        </p:nvSpPr>
        <p:spPr>
          <a:xfrm>
            <a:off x="5448300" y="4286250"/>
            <a:ext cx="5962650" cy="2286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65000"/>
              </a:lnSpc>
            </a:pPr>
            <a:r>
              <a:rPr lang="en-US" sz="900">
                <a:solidFill>
                  <a:srgbClr val="E2E8F0"/>
                </a:solidFill>
                <a:latin typeface="JetBrains Mono"/>
                <a:ea typeface="JetBrains Mono"/>
              </a:rPr>
              <a:t>export orm_databasePoolCheckSql='select 1'</a:t>
            </a:r>
            <a:endParaRPr lang="en-US" sz="900">
              <a:solidFill>
                <a:srgbClr val="E2E8F0"/>
              </a:solidFill>
              <a:latin typeface="JetBrains Mono"/>
              <a:ea typeface="JetBrains Mono"/>
            </a:endParaRPr>
          </a:p>
        </p:txBody>
      </p:sp>
      <p:sp>
        <p:nvSpPr>
          <p:cNvPr id="2596" name="文本框 2595" descr="{&quot;isTemplate&quot;:true,&quot;type&quot;:&quot;text&quot;}"/>
          <p:cNvSpPr txBox="1"/>
          <p:nvPr/>
        </p:nvSpPr>
        <p:spPr>
          <a:xfrm>
            <a:off x="5448300" y="4514850"/>
            <a:ext cx="5962650" cy="2286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65000"/>
              </a:lnSpc>
            </a:pPr>
            <a:r>
              <a:rPr lang="en-US" sz="900">
                <a:solidFill>
                  <a:srgbClr val="22D3EE"/>
                </a:solidFill>
                <a:latin typeface="JetBrains Mono"/>
                <a:ea typeface="JetBrains Mono"/>
              </a:rPr>
              <a:t>export sm4Key=$(fboot randhex 32)</a:t>
            </a:r>
            <a:endParaRPr lang="en-US" sz="900">
              <a:solidFill>
                <a:srgbClr val="22D3EE"/>
              </a:solidFill>
              <a:latin typeface="JetBrains Mono"/>
              <a:ea typeface="JetBrains Mono"/>
            </a:endParaRPr>
          </a:p>
        </p:txBody>
      </p:sp>
      <p:sp>
        <p:nvSpPr>
          <p:cNvPr id="2597" name="文本框 2596" descr="{&quot;isTemplate&quot;:true,&quot;type&quot;:&quot;text&quot;}"/>
          <p:cNvSpPr txBox="1"/>
          <p:nvPr/>
        </p:nvSpPr>
        <p:spPr>
          <a:xfrm>
            <a:off x="5448300" y="4743450"/>
            <a:ext cx="5962650" cy="2286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65000"/>
              </a:lnSpc>
            </a:pPr>
            <a:r>
              <a:rPr lang="en-US" sz="900">
                <a:solidFill>
                  <a:srgbClr val="22D3EE"/>
                </a:solidFill>
                <a:latin typeface="JetBrains Mono"/>
                <a:ea typeface="JetBrains Mono"/>
              </a:rPr>
              <a:t>export sm4Iv=$(fboot randhex 32)</a:t>
            </a:r>
            <a:endParaRPr lang="en-US" sz="900">
              <a:solidFill>
                <a:srgbClr val="22D3EE"/>
              </a:solidFill>
              <a:latin typeface="JetBrains Mono"/>
              <a:ea typeface="JetBrains Mono"/>
            </a:endParaRPr>
          </a:p>
        </p:txBody>
      </p:sp>
      <p:sp>
        <p:nvSpPr>
          <p:cNvPr id="2598" name="文本框 2597" descr="{&quot;isTemplate&quot;:true,&quot;type&quot;:&quot;text&quot;}"/>
          <p:cNvSpPr txBox="1"/>
          <p:nvPr/>
        </p:nvSpPr>
        <p:spPr>
          <a:xfrm>
            <a:off x="5448300" y="5886450"/>
            <a:ext cx="5962650" cy="2286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65000"/>
              </a:lnSpc>
            </a:pPr>
            <a:r>
              <a:rPr lang="zh-CN" sz="90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读取规则同第四章：命令行参数覆盖同名环境变量。</a:t>
            </a:r>
            <a:endParaRPr lang="zh-CN" sz="90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599" name="任意多边形 2598"/>
          <p:cNvSpPr/>
          <p:nvPr/>
        </p:nvSpPr>
        <p:spPr>
          <a:xfrm>
            <a:off x="609600" y="6286500"/>
            <a:ext cx="10972800" cy="381000"/>
          </a:xfrm>
          <a:custGeom>
            <a:avLst/>
            <a:gdLst/>
            <a:ahLst/>
            <a:cxnLst/>
            <a:pathLst>
              <a:path w="1152" h="40">
                <a:moveTo>
                  <a:pt x="0" y="0"/>
                </a:moveTo>
                <a:lnTo>
                  <a:pt x="1152" y="0"/>
                </a:lnTo>
                <a:lnTo>
                  <a:pt x="1152" y="1"/>
                </a:lnTo>
                <a:lnTo>
                  <a:pt x="0" y="1"/>
                </a:lnTo>
                <a:close/>
              </a:path>
            </a:pathLst>
          </a:custGeom>
          <a:solidFill>
            <a:srgbClr val="1E293B"/>
          </a:solidFill>
        </p:spPr>
        <p:txBody>
          <a:bodyPr/>
          <a:p/>
        </p:txBody>
      </p:sp>
      <p:sp>
        <p:nvSpPr>
          <p:cNvPr id="2600" name="文本框 2599" descr="{&quot;isTemplate&quot;:true,&quot;type&quot;:&quot;text&quot;}"/>
          <p:cNvSpPr txBox="1"/>
          <p:nvPr/>
        </p:nvSpPr>
        <p:spPr>
          <a:xfrm>
            <a:off x="609600" y="6410325"/>
            <a:ext cx="2219325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fountain · 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一站式服务器应用开发工具库</a:t>
            </a:r>
            <a:endParaRPr lang="zh-CN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601" name="文本框 2600" descr="{&quot;isTemplate&quot;:true,&quot;type&quot;:&quot;text&quot;}"/>
          <p:cNvSpPr txBox="1"/>
          <p:nvPr/>
        </p:nvSpPr>
        <p:spPr>
          <a:xfrm>
            <a:off x="11087100" y="6410325"/>
            <a:ext cx="495300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79 / 116</a:t>
            </a:r>
            <a:endParaRPr lang="en-US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63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6" name="矩形 2635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220"/>
          </a:solidFill>
        </p:spPr>
        <p:txBody>
          <a:bodyPr/>
          <a:p/>
        </p:txBody>
      </p:sp>
      <p:sp>
        <p:nvSpPr>
          <p:cNvPr id="2637" name="矩形 2636"/>
          <p:cNvSpPr/>
          <p:nvPr/>
        </p:nvSpPr>
        <p:spPr>
          <a:xfrm>
            <a:off x="609600" y="476250"/>
            <a:ext cx="38100" cy="381000"/>
          </a:xfrm>
          <a:prstGeom prst="rect">
            <a:avLst/>
          </a:prstGeom>
          <a:solidFill>
            <a:srgbClr val="38BDF8"/>
          </a:solidFill>
        </p:spPr>
        <p:txBody>
          <a:bodyPr/>
          <a:p/>
        </p:txBody>
      </p:sp>
      <p:sp>
        <p:nvSpPr>
          <p:cNvPr id="2638" name="文本框 2637" descr="{&quot;isTemplate&quot;:true,&quot;type&quot;:&quot;text&quot;}"/>
          <p:cNvSpPr txBox="1"/>
          <p:nvPr/>
        </p:nvSpPr>
        <p:spPr>
          <a:xfrm>
            <a:off x="819150" y="304800"/>
            <a:ext cx="9601200" cy="2095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第</a:t>
            </a: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 12 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章</a:t>
            </a: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 · ORM f_orm · 12.3</a:t>
            </a:r>
            <a:endParaRPr lang="en-US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639" name="文本框 2638" descr="{&quot;isTemplate&quot;:true,&quot;type&quot;:&quot;text&quot;}"/>
          <p:cNvSpPr txBox="1"/>
          <p:nvPr/>
        </p:nvSpPr>
        <p:spPr>
          <a:xfrm>
            <a:off x="819150" y="514350"/>
            <a:ext cx="9601200" cy="5143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2550" b="1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构造</a:t>
            </a:r>
            <a:r>
              <a:rPr lang="en-US" sz="2550" b="1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 SQL</a:t>
            </a:r>
            <a:r>
              <a:rPr lang="zh-CN" sz="2550" b="1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：模板</a:t>
            </a:r>
            <a:r>
              <a:rPr lang="en-US" sz="2550" b="1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 SQL </a:t>
            </a:r>
            <a:r>
              <a:rPr lang="zh-CN" sz="2550" b="1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与对象</a:t>
            </a:r>
            <a:r>
              <a:rPr lang="en-US" sz="2550" b="1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 DSL</a:t>
            </a:r>
            <a:endParaRPr lang="en-US" sz="2550" b="1">
              <a:solidFill>
                <a:srgbClr val="E2E8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640" name="文本框 2639" descr="{&quot;isTemplate&quot;:true,&quot;type&quot;:&quot;text&quot;}"/>
          <p:cNvSpPr txBox="1"/>
          <p:nvPr/>
        </p:nvSpPr>
        <p:spPr>
          <a:xfrm>
            <a:off x="10591800" y="590550"/>
            <a:ext cx="990600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所有参数都走绑定</a:t>
            </a:r>
            <a:endParaRPr lang="zh-CN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641" name="圆角矩形 2640"/>
          <p:cNvSpPr/>
          <p:nvPr/>
        </p:nvSpPr>
        <p:spPr>
          <a:xfrm>
            <a:off x="609600" y="1143000"/>
            <a:ext cx="5410200" cy="2343150"/>
          </a:xfrm>
          <a:prstGeom prst="roundRect">
            <a:avLst>
              <a:gd name="adj" fmla="val 4878"/>
            </a:avLst>
          </a:prstGeom>
          <a:solidFill>
            <a:srgbClr val="0B1220"/>
          </a:solidFill>
          <a:ln w="12700">
            <a:solidFill>
              <a:srgbClr val="38BDF8"/>
            </a:solidFill>
            <a:prstDash val="solid"/>
          </a:ln>
        </p:spPr>
        <p:txBody>
          <a:bodyPr/>
          <a:p/>
        </p:txBody>
      </p:sp>
      <p:sp>
        <p:nvSpPr>
          <p:cNvPr id="2642" name="文本框 2641" descr="{&quot;isTemplate&quot;:true,&quot;type&quot;:&quot;text&quot;}"/>
          <p:cNvSpPr txBox="1"/>
          <p:nvPr/>
        </p:nvSpPr>
        <p:spPr>
          <a:xfrm>
            <a:off x="781050" y="1314450"/>
            <a:ext cx="5067300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38BDF8"/>
                </a:solidFill>
                <a:latin typeface="微软雅黑" panose="020B0503020204020204" charset="-122"/>
                <a:ea typeface="微软雅黑" panose="020B0503020204020204" charset="-122"/>
              </a:rPr>
              <a:t>方式一</a:t>
            </a:r>
            <a:r>
              <a:rPr lang="en-US" sz="975">
                <a:solidFill>
                  <a:srgbClr val="38BDF8"/>
                </a:solidFill>
                <a:latin typeface="微软雅黑" panose="020B0503020204020204" charset="-122"/>
                <a:ea typeface="微软雅黑" panose="020B0503020204020204" charset="-122"/>
              </a:rPr>
              <a:t> · </a:t>
            </a:r>
            <a:r>
              <a:rPr lang="zh-CN" sz="975">
                <a:solidFill>
                  <a:srgbClr val="38BDF8"/>
                </a:solidFill>
                <a:latin typeface="微软雅黑" panose="020B0503020204020204" charset="-122"/>
                <a:ea typeface="微软雅黑" panose="020B0503020204020204" charset="-122"/>
              </a:rPr>
              <a:t>模板</a:t>
            </a:r>
            <a:r>
              <a:rPr lang="en-US" sz="975">
                <a:solidFill>
                  <a:srgbClr val="38BDF8"/>
                </a:solidFill>
                <a:latin typeface="微软雅黑" panose="020B0503020204020204" charset="-122"/>
                <a:ea typeface="微软雅黑" panose="020B0503020204020204" charset="-122"/>
              </a:rPr>
              <a:t> SQL</a:t>
            </a:r>
            <a:r>
              <a:rPr lang="zh-CN" sz="975">
                <a:solidFill>
                  <a:srgbClr val="38BDF8"/>
                </a:solidFill>
                <a:latin typeface="微软雅黑" panose="020B0503020204020204" charset="-122"/>
                <a:ea typeface="微软雅黑" panose="020B0503020204020204" charset="-122"/>
              </a:rPr>
              <a:t>：</a:t>
            </a:r>
            <a:r>
              <a:rPr lang="en-US" sz="975">
                <a:solidFill>
                  <a:srgbClr val="38BDF8"/>
                </a:solidFill>
                <a:latin typeface="微软雅黑" panose="020B0503020204020204" charset="-122"/>
                <a:ea typeface="微软雅黑" panose="020B0503020204020204" charset="-122"/>
              </a:rPr>
              <a:t>setSql + arg()</a:t>
            </a:r>
            <a:endParaRPr lang="en-US" sz="975">
              <a:solidFill>
                <a:srgbClr val="38BDF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643" name="文本框 2642" descr="{&quot;isTemplate&quot;:true,&quot;type&quot;:&quot;text&quot;}"/>
          <p:cNvSpPr txBox="1"/>
          <p:nvPr/>
        </p:nvSpPr>
        <p:spPr>
          <a:xfrm>
            <a:off x="781050" y="1543050"/>
            <a:ext cx="5067300" cy="2381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en-US" sz="900">
                <a:solidFill>
                  <a:srgbClr val="E2E8F0"/>
                </a:solidFill>
                <a:latin typeface="JetBrains Mono"/>
                <a:ea typeface="JetBrains Mono"/>
              </a:rPr>
              <a:t>func deleteUser(id: Int64): Int64 {</a:t>
            </a:r>
            <a:endParaRPr lang="en-US" sz="900">
              <a:solidFill>
                <a:srgbClr val="E2E8F0"/>
              </a:solidFill>
              <a:latin typeface="JetBrains Mono"/>
              <a:ea typeface="JetBrains Mono"/>
            </a:endParaRPr>
          </a:p>
        </p:txBody>
      </p:sp>
      <p:sp>
        <p:nvSpPr>
          <p:cNvPr id="2644" name="文本框 2643" descr="{&quot;isTemplate&quot;:true,&quot;type&quot;:&quot;text&quot;}"/>
          <p:cNvSpPr txBox="1"/>
          <p:nvPr/>
        </p:nvSpPr>
        <p:spPr>
          <a:xfrm>
            <a:off x="781050" y="1781175"/>
            <a:ext cx="5067300" cy="2381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en-US" sz="900">
                <a:solidFill>
                  <a:srgbClr val="E2E8F0"/>
                </a:solidFill>
                <a:latin typeface="JetBrains Mono"/>
                <a:ea typeface="JetBrains Mono"/>
              </a:rPr>
              <a:t>    executor.setSql('''</a:t>
            </a:r>
            <a:endParaRPr lang="en-US" sz="900">
              <a:solidFill>
                <a:srgbClr val="E2E8F0"/>
              </a:solidFill>
              <a:latin typeface="JetBrains Mono"/>
              <a:ea typeface="JetBrains Mono"/>
            </a:endParaRPr>
          </a:p>
        </p:txBody>
      </p:sp>
      <p:sp>
        <p:nvSpPr>
          <p:cNvPr id="2645" name="文本框 2644" descr="{&quot;isTemplate&quot;:true,&quot;type&quot;:&quot;text&quot;}"/>
          <p:cNvSpPr txBox="1"/>
          <p:nvPr/>
        </p:nvSpPr>
        <p:spPr>
          <a:xfrm>
            <a:off x="781050" y="2019300"/>
            <a:ext cx="5067300" cy="2381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en-US" sz="900">
                <a:solidFill>
                  <a:srgbClr val="E2E8F0"/>
                </a:solidFill>
                <a:latin typeface="JetBrains Mono"/>
                <a:ea typeface="JetBrains Mono"/>
              </a:rPr>
              <a:t>        delete from user_info where id = ${arg(id)}</a:t>
            </a:r>
            <a:endParaRPr lang="en-US" sz="900">
              <a:solidFill>
                <a:srgbClr val="E2E8F0"/>
              </a:solidFill>
              <a:latin typeface="JetBrains Mono"/>
              <a:ea typeface="JetBrains Mono"/>
            </a:endParaRPr>
          </a:p>
        </p:txBody>
      </p:sp>
      <p:sp>
        <p:nvSpPr>
          <p:cNvPr id="2646" name="文本框 2645" descr="{&quot;isTemplate&quot;:true,&quot;type&quot;:&quot;text&quot;}"/>
          <p:cNvSpPr txBox="1"/>
          <p:nvPr/>
        </p:nvSpPr>
        <p:spPr>
          <a:xfrm>
            <a:off x="781050" y="2257425"/>
            <a:ext cx="5067300" cy="2381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en-US" sz="900">
                <a:solidFill>
                  <a:srgbClr val="E2E8F0"/>
                </a:solidFill>
                <a:latin typeface="JetBrains Mono"/>
                <a:ea typeface="JetBrains Mono"/>
              </a:rPr>
              <a:t>    ''').delete</a:t>
            </a:r>
            <a:endParaRPr lang="en-US" sz="900">
              <a:solidFill>
                <a:srgbClr val="E2E8F0"/>
              </a:solidFill>
              <a:latin typeface="JetBrains Mono"/>
              <a:ea typeface="JetBrains Mono"/>
            </a:endParaRPr>
          </a:p>
        </p:txBody>
      </p:sp>
      <p:sp>
        <p:nvSpPr>
          <p:cNvPr id="2647" name="文本框 2646" descr="{&quot;isTemplate&quot;:true,&quot;type&quot;:&quot;text&quot;}"/>
          <p:cNvSpPr txBox="1"/>
          <p:nvPr/>
        </p:nvSpPr>
        <p:spPr>
          <a:xfrm>
            <a:off x="781050" y="2495550"/>
            <a:ext cx="5067300" cy="2381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en-US" sz="900">
                <a:solidFill>
                  <a:srgbClr val="E2E8F0"/>
                </a:solidFill>
                <a:latin typeface="JetBrains Mono"/>
                <a:ea typeface="JetBrains Mono"/>
              </a:rPr>
              <a:t>}</a:t>
            </a:r>
            <a:endParaRPr lang="en-US" sz="900">
              <a:solidFill>
                <a:srgbClr val="E2E8F0"/>
              </a:solidFill>
              <a:latin typeface="JetBrains Mono"/>
              <a:ea typeface="JetBrains Mono"/>
            </a:endParaRPr>
          </a:p>
        </p:txBody>
      </p:sp>
      <p:sp>
        <p:nvSpPr>
          <p:cNvPr id="2648" name="文本框 2647" descr="{&quot;isTemplate&quot;:true,&quot;type&quot;:&quot;text&quot;}"/>
          <p:cNvSpPr txBox="1"/>
          <p:nvPr/>
        </p:nvSpPr>
        <p:spPr>
          <a:xfrm>
            <a:off x="781050" y="2809875"/>
            <a:ext cx="5067300" cy="466725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en-US" sz="900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arg(x) </a:t>
            </a:r>
            <a:r>
              <a:rPr lang="zh-CN" sz="900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把</a:t>
            </a:r>
            <a:r>
              <a:rPr lang="en-US" sz="900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 x </a:t>
            </a:r>
            <a:r>
              <a:rPr lang="zh-CN" sz="900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绑定到</a:t>
            </a:r>
            <a:r>
              <a:rPr lang="en-US" sz="900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 PreparedStatement </a:t>
            </a:r>
            <a:r>
              <a:rPr lang="zh-CN" sz="900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并返回占位符</a:t>
            </a:r>
            <a:r>
              <a:rPr lang="en-US" sz="900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 ?</a:t>
            </a:r>
            <a:r>
              <a:rPr lang="zh-CN" sz="900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，所以必须写成字符串插值</a:t>
            </a:r>
            <a:r>
              <a:rPr lang="en-US" sz="900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 —— </a:t>
            </a:r>
            <a:r>
              <a:rPr lang="zh-CN" sz="900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不存在字符串拼接注入。</a:t>
            </a:r>
            <a:endParaRPr lang="zh-CN" sz="900">
              <a:solidFill>
                <a:srgbClr val="F59E0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649" name="圆角矩形 2648"/>
          <p:cNvSpPr/>
          <p:nvPr/>
        </p:nvSpPr>
        <p:spPr>
          <a:xfrm>
            <a:off x="6172200" y="1143000"/>
            <a:ext cx="5410200" cy="2343150"/>
          </a:xfrm>
          <a:prstGeom prst="roundRect">
            <a:avLst>
              <a:gd name="adj" fmla="val 4878"/>
            </a:avLst>
          </a:prstGeom>
          <a:solidFill>
            <a:srgbClr val="0B1220"/>
          </a:solidFill>
          <a:ln w="12700">
            <a:solidFill>
              <a:srgbClr val="1E293B"/>
            </a:solidFill>
            <a:prstDash val="solid"/>
          </a:ln>
        </p:spPr>
        <p:txBody>
          <a:bodyPr/>
          <a:p/>
        </p:txBody>
      </p:sp>
      <p:sp>
        <p:nvSpPr>
          <p:cNvPr id="2650" name="文本框 2649" descr="{&quot;isTemplate&quot;:true,&quot;type&quot;:&quot;text&quot;}"/>
          <p:cNvSpPr txBox="1"/>
          <p:nvPr/>
        </p:nvSpPr>
        <p:spPr>
          <a:xfrm>
            <a:off x="6343650" y="1314450"/>
            <a:ext cx="5067300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arg 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支持的类型与集合展开</a:t>
            </a:r>
            <a:endParaRPr lang="zh-CN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651" name="文本框 2650" descr="{&quot;isTemplate&quot;:true,&quot;type&quot;:&quot;text&quot;}"/>
          <p:cNvSpPr txBox="1"/>
          <p:nvPr/>
        </p:nvSpPr>
        <p:spPr>
          <a:xfrm>
            <a:off x="6343650" y="1543050"/>
            <a:ext cx="5067300" cy="466725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en-US" sz="90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Bool / Int* / UInt* / Float* / BigInt / Decimal / Rune / String / Duration / DateTime / InputStream / </a:t>
            </a:r>
            <a:r>
              <a:rPr lang="zh-CN" sz="90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字节数组</a:t>
            </a:r>
            <a:r>
              <a:rPr lang="en-US" sz="90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 / Data / Any</a:t>
            </a:r>
            <a:r>
              <a:rPr lang="zh-CN" sz="90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，以及这些类型的可空版本（</a:t>
            </a:r>
            <a:r>
              <a:rPr lang="en-US" sz="90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None </a:t>
            </a:r>
            <a:r>
              <a:rPr lang="zh-CN" sz="90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等价于</a:t>
            </a:r>
            <a:r>
              <a:rPr lang="en-US" sz="90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 argNull()</a:t>
            </a:r>
            <a:r>
              <a:rPr lang="zh-CN" sz="90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）。</a:t>
            </a:r>
            <a:endParaRPr lang="zh-CN" sz="900">
              <a:solidFill>
                <a:srgbClr val="E2E8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652" name="文本框 2651" descr="{&quot;isTemplate&quot;:true,&quot;type&quot;:&quot;text&quot;}"/>
          <p:cNvSpPr txBox="1"/>
          <p:nvPr/>
        </p:nvSpPr>
        <p:spPr>
          <a:xfrm>
            <a:off x="6343650" y="2105025"/>
            <a:ext cx="5067300" cy="2381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en-US" sz="900">
                <a:solidFill>
                  <a:srgbClr val="38BDF8"/>
                </a:solidFill>
                <a:latin typeface="JetBrains Mono"/>
                <a:ea typeface="JetBrains Mono"/>
              </a:rPr>
              <a:t>arg(ids)</a:t>
            </a:r>
            <a:r>
              <a:rPr lang="zh-CN" sz="900">
                <a:solidFill>
                  <a:srgbClr val="38BDF8"/>
                </a:solidFill>
                <a:latin typeface="JetBrains Mono"/>
                <a:ea typeface="JetBrains Mono"/>
              </a:rPr>
              <a:t>　　</a:t>
            </a:r>
            <a:r>
              <a:rPr lang="en-US" sz="900">
                <a:solidFill>
                  <a:srgbClr val="38BDF8"/>
                </a:solidFill>
                <a:latin typeface="JetBrains Mono"/>
                <a:ea typeface="JetBrains Mono"/>
              </a:rPr>
              <a:t> // </a:t>
            </a:r>
            <a:r>
              <a:rPr lang="zh-CN" sz="900">
                <a:solidFill>
                  <a:srgbClr val="38BDF8"/>
                </a:solidFill>
                <a:latin typeface="JetBrains Mono"/>
                <a:ea typeface="JetBrains Mono"/>
              </a:rPr>
              <a:t>一维</a:t>
            </a:r>
            <a:r>
              <a:rPr lang="en-US" sz="900">
                <a:solidFill>
                  <a:srgbClr val="38BDF8"/>
                </a:solidFill>
                <a:latin typeface="JetBrains Mono"/>
                <a:ea typeface="JetBrains Mono"/>
              </a:rPr>
              <a:t> → ' (?,?,?)'</a:t>
            </a:r>
            <a:endParaRPr lang="en-US" sz="900">
              <a:solidFill>
                <a:srgbClr val="38BDF8"/>
              </a:solidFill>
              <a:latin typeface="JetBrains Mono"/>
              <a:ea typeface="JetBrains Mono"/>
            </a:endParaRPr>
          </a:p>
        </p:txBody>
      </p:sp>
      <p:sp>
        <p:nvSpPr>
          <p:cNvPr id="2653" name="文本框 2652" descr="{&quot;isTemplate&quot;:true,&quot;type&quot;:&quot;text&quot;}"/>
          <p:cNvSpPr txBox="1"/>
          <p:nvPr/>
        </p:nvSpPr>
        <p:spPr>
          <a:xfrm>
            <a:off x="6343650" y="2343150"/>
            <a:ext cx="5067300" cy="2381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en-US" sz="900">
                <a:solidFill>
                  <a:srgbClr val="38BDF8"/>
                </a:solidFill>
                <a:latin typeface="JetBrains Mono"/>
                <a:ea typeface="JetBrains Mono"/>
              </a:rPr>
              <a:t>arg(matrix) // </a:t>
            </a:r>
            <a:r>
              <a:rPr lang="zh-CN" sz="900">
                <a:solidFill>
                  <a:srgbClr val="38BDF8"/>
                </a:solidFill>
                <a:latin typeface="JetBrains Mono"/>
                <a:ea typeface="JetBrains Mono"/>
              </a:rPr>
              <a:t>二维</a:t>
            </a:r>
            <a:r>
              <a:rPr lang="en-US" sz="900">
                <a:solidFill>
                  <a:srgbClr val="38BDF8"/>
                </a:solidFill>
                <a:latin typeface="JetBrains Mono"/>
                <a:ea typeface="JetBrains Mono"/>
              </a:rPr>
              <a:t> → ' ((?,?),(?,?))'</a:t>
            </a:r>
            <a:endParaRPr lang="en-US" sz="900">
              <a:solidFill>
                <a:srgbClr val="38BDF8"/>
              </a:solidFill>
              <a:latin typeface="JetBrains Mono"/>
              <a:ea typeface="JetBrains Mono"/>
            </a:endParaRPr>
          </a:p>
        </p:txBody>
      </p:sp>
      <p:sp>
        <p:nvSpPr>
          <p:cNvPr id="2654" name="圆角矩形 2653"/>
          <p:cNvSpPr/>
          <p:nvPr/>
        </p:nvSpPr>
        <p:spPr>
          <a:xfrm>
            <a:off x="609600" y="3619500"/>
            <a:ext cx="10972800" cy="2667000"/>
          </a:xfrm>
          <a:prstGeom prst="roundRect">
            <a:avLst>
              <a:gd name="adj" fmla="val 4286"/>
            </a:avLst>
          </a:prstGeom>
          <a:solidFill>
            <a:srgbClr val="0B1220"/>
          </a:solidFill>
          <a:ln w="12700">
            <a:solidFill>
              <a:srgbClr val="1E293B"/>
            </a:solidFill>
            <a:prstDash val="solid"/>
          </a:ln>
        </p:spPr>
        <p:txBody>
          <a:bodyPr/>
          <a:p/>
        </p:txBody>
      </p:sp>
      <p:sp>
        <p:nvSpPr>
          <p:cNvPr id="2655" name="文本框 2654" descr="{&quot;isTemplate&quot;:true,&quot;type&quot;:&quot;text&quot;}"/>
          <p:cNvSpPr txBox="1"/>
          <p:nvPr/>
        </p:nvSpPr>
        <p:spPr>
          <a:xfrm>
            <a:off x="781050" y="3790950"/>
            <a:ext cx="10629900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方式二</a:t>
            </a: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 · 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面向对象</a:t>
            </a: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 DSL</a:t>
            </a:r>
            <a:endParaRPr lang="en-US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656" name="文本框 2655" descr="{&quot;isTemplate&quot;:true,&quot;type&quot;:&quot;text&quot;}"/>
          <p:cNvSpPr txBox="1"/>
          <p:nvPr/>
        </p:nvSpPr>
        <p:spPr>
          <a:xfrm>
            <a:off x="781050" y="4019550"/>
            <a:ext cx="10629900" cy="2286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65000"/>
              </a:lnSpc>
            </a:pPr>
            <a:r>
              <a:rPr lang="en-US" sz="900">
                <a:solidFill>
                  <a:srgbClr val="38BDF8"/>
                </a:solidFill>
                <a:latin typeface="JetBrains Mono"/>
                <a:ea typeface="JetBrains Mono"/>
              </a:rPr>
              <a:t>executor.FROM&lt;UserPO&gt;().WHERE(UserPO.tableColumns().id.eq(id)).first&lt;UserPO&gt;().getOrThrow()</a:t>
            </a:r>
            <a:endParaRPr lang="en-US" sz="900">
              <a:solidFill>
                <a:srgbClr val="38BDF8"/>
              </a:solidFill>
              <a:latin typeface="JetBrains Mono"/>
              <a:ea typeface="JetBrains Mono"/>
            </a:endParaRPr>
          </a:p>
        </p:txBody>
      </p:sp>
      <p:sp>
        <p:nvSpPr>
          <p:cNvPr id="2657" name="文本框 2656" descr="{&quot;isTemplate&quot;:true,&quot;type&quot;:&quot;text&quot;}"/>
          <p:cNvSpPr txBox="1"/>
          <p:nvPr/>
        </p:nvSpPr>
        <p:spPr>
          <a:xfrm>
            <a:off x="781050" y="4248150"/>
            <a:ext cx="10629900" cy="2286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65000"/>
              </a:lnSpc>
            </a:pPr>
            <a:r>
              <a:rPr lang="en-US" sz="900">
                <a:solidFill>
                  <a:srgbClr val="F59E0B"/>
                </a:solidFill>
                <a:latin typeface="JetBrains Mono"/>
                <a:ea typeface="JetBrains Mono"/>
              </a:rPr>
              <a:t>executor.INSERT_INTO&lt;UserPO&gt;(user)          // </a:t>
            </a:r>
            <a:r>
              <a:rPr lang="zh-CN" sz="900">
                <a:solidFill>
                  <a:srgbClr val="F59E0B"/>
                </a:solidFill>
                <a:latin typeface="JetBrains Mono"/>
                <a:ea typeface="JetBrains Mono"/>
              </a:rPr>
              <a:t>返回自增主键</a:t>
            </a:r>
            <a:endParaRPr lang="zh-CN" sz="900">
              <a:solidFill>
                <a:srgbClr val="F59E0B"/>
              </a:solidFill>
              <a:latin typeface="JetBrains Mono"/>
              <a:ea typeface="JetBrains Mono"/>
            </a:endParaRPr>
          </a:p>
        </p:txBody>
      </p:sp>
      <p:sp>
        <p:nvSpPr>
          <p:cNvPr id="2658" name="文本框 2657" descr="{&quot;isTemplate&quot;:true,&quot;type&quot;:&quot;text&quot;}"/>
          <p:cNvSpPr txBox="1"/>
          <p:nvPr/>
        </p:nvSpPr>
        <p:spPr>
          <a:xfrm>
            <a:off x="781050" y="4476750"/>
            <a:ext cx="10629900" cy="2286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65000"/>
              </a:lnSpc>
            </a:pPr>
            <a:r>
              <a:rPr lang="en-US" sz="900">
                <a:solidFill>
                  <a:srgbClr val="E2E8F0"/>
                </a:solidFill>
                <a:latin typeface="JetBrains Mono"/>
                <a:ea typeface="JetBrains Mono"/>
              </a:rPr>
              <a:t>executor.INTO&lt;UserPO&gt;(user, ignoreColumns: ['password'])</a:t>
            </a:r>
            <a:endParaRPr lang="en-US" sz="900">
              <a:solidFill>
                <a:srgbClr val="E2E8F0"/>
              </a:solidFill>
              <a:latin typeface="JetBrains Mono"/>
              <a:ea typeface="JetBrains Mono"/>
            </a:endParaRPr>
          </a:p>
        </p:txBody>
      </p:sp>
      <p:sp>
        <p:nvSpPr>
          <p:cNvPr id="2659" name="文本框 2658" descr="{&quot;isTemplate&quot;:true,&quot;type&quot;:&quot;text&quot;}"/>
          <p:cNvSpPr txBox="1"/>
          <p:nvPr/>
        </p:nvSpPr>
        <p:spPr>
          <a:xfrm>
            <a:off x="781050" y="4705350"/>
            <a:ext cx="10629900" cy="2286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65000"/>
              </a:lnSpc>
            </a:pPr>
            <a:r>
              <a:rPr lang="en-US" sz="900">
                <a:solidFill>
                  <a:srgbClr val="E2E8F0"/>
                </a:solidFill>
                <a:latin typeface="JetBrains Mono"/>
                <a:ea typeface="JetBrains Mono"/>
              </a:rPr>
              <a:t>let map = HashMap&lt;Column, Any&gt;()</a:t>
            </a:r>
            <a:r>
              <a:rPr lang="zh-CN" sz="900">
                <a:solidFill>
                  <a:srgbClr val="E2E8F0"/>
                </a:solidFill>
                <a:latin typeface="JetBrains Mono"/>
                <a:ea typeface="JetBrains Mono"/>
              </a:rPr>
              <a:t>　</a:t>
            </a:r>
            <a:r>
              <a:rPr lang="en-US" sz="900">
                <a:solidFill>
                  <a:srgbClr val="E2E8F0"/>
                </a:solidFill>
                <a:latin typeface="JetBrains Mono"/>
                <a:ea typeface="JetBrains Mono"/>
              </a:rPr>
              <a:t>// key </a:t>
            </a:r>
            <a:r>
              <a:rPr lang="zh-CN" sz="900">
                <a:solidFill>
                  <a:srgbClr val="E2E8F0"/>
                </a:solidFill>
                <a:latin typeface="JetBrains Mono"/>
                <a:ea typeface="JetBrains Mono"/>
              </a:rPr>
              <a:t>可以是列名、成员名或</a:t>
            </a:r>
            <a:r>
              <a:rPr lang="en-US" sz="900">
                <a:solidFill>
                  <a:srgbClr val="E2E8F0"/>
                </a:solidFill>
                <a:latin typeface="JetBrains Mono"/>
                <a:ea typeface="JetBrains Mono"/>
              </a:rPr>
              <a:t> Column </a:t>
            </a:r>
            <a:r>
              <a:rPr lang="zh-CN" sz="900">
                <a:solidFill>
                  <a:srgbClr val="E2E8F0"/>
                </a:solidFill>
                <a:latin typeface="JetBrains Mono"/>
                <a:ea typeface="JetBrains Mono"/>
              </a:rPr>
              <a:t>对象</a:t>
            </a:r>
            <a:endParaRPr lang="zh-CN" sz="900">
              <a:solidFill>
                <a:srgbClr val="E2E8F0"/>
              </a:solidFill>
              <a:latin typeface="JetBrains Mono"/>
              <a:ea typeface="JetBrains Mono"/>
            </a:endParaRPr>
          </a:p>
        </p:txBody>
      </p:sp>
      <p:sp>
        <p:nvSpPr>
          <p:cNvPr id="2660" name="文本框 2659" descr="{&quot;isTemplate&quot;:true,&quot;type&quot;:&quot;text&quot;}"/>
          <p:cNvSpPr txBox="1"/>
          <p:nvPr/>
        </p:nvSpPr>
        <p:spPr>
          <a:xfrm>
            <a:off x="781050" y="4933950"/>
            <a:ext cx="10629900" cy="2286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65000"/>
              </a:lnSpc>
            </a:pPr>
            <a:r>
              <a:rPr lang="en-US" sz="900">
                <a:solidFill>
                  <a:srgbClr val="E2E8F0"/>
                </a:solidFill>
                <a:latin typeface="JetBrains Mono"/>
                <a:ea typeface="JetBrains Mono"/>
              </a:rPr>
              <a:t>executor.UPDATE&lt;UserPO&gt;(map)</a:t>
            </a:r>
            <a:r>
              <a:rPr lang="zh-CN" sz="900">
                <a:solidFill>
                  <a:srgbClr val="E2E8F0"/>
                </a:solidFill>
                <a:latin typeface="JetBrains Mono"/>
                <a:ea typeface="JetBrains Mono"/>
              </a:rPr>
              <a:t>　·　</a:t>
            </a:r>
            <a:r>
              <a:rPr lang="en-US" sz="900">
                <a:solidFill>
                  <a:srgbClr val="E2E8F0"/>
                </a:solidFill>
                <a:latin typeface="JetBrains Mono"/>
                <a:ea typeface="JetBrains Mono"/>
              </a:rPr>
              <a:t>executor.UPDATE&lt;UserPO&gt;(user, dirty: true)</a:t>
            </a:r>
            <a:endParaRPr lang="en-US" sz="900">
              <a:solidFill>
                <a:srgbClr val="E2E8F0"/>
              </a:solidFill>
              <a:latin typeface="JetBrains Mono"/>
              <a:ea typeface="JetBrains Mono"/>
            </a:endParaRPr>
          </a:p>
        </p:txBody>
      </p:sp>
      <p:sp>
        <p:nvSpPr>
          <p:cNvPr id="2661" name="文本框 2660" descr="{&quot;isTemplate&quot;:true,&quot;type&quot;:&quot;text&quot;}"/>
          <p:cNvSpPr txBox="1"/>
          <p:nvPr/>
        </p:nvSpPr>
        <p:spPr>
          <a:xfrm>
            <a:off x="781050" y="5238750"/>
            <a:ext cx="10629900" cy="2286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65000"/>
              </a:lnSpc>
            </a:pPr>
            <a:r>
              <a:rPr lang="en-US" sz="900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dirty / ignoredColumns / includingColumns </a:t>
            </a:r>
            <a:r>
              <a:rPr lang="zh-CN" sz="900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是同一个函数的三个命名实参，每次调用只能指定其中一个，指定两个会抛异常。</a:t>
            </a:r>
            <a:endParaRPr lang="zh-CN" sz="900">
              <a:solidFill>
                <a:srgbClr val="F59E0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662" name="文本框 2661" descr="{&quot;isTemplate&quot;:true,&quot;type&quot;:&quot;text&quot;}"/>
          <p:cNvSpPr txBox="1"/>
          <p:nvPr/>
        </p:nvSpPr>
        <p:spPr>
          <a:xfrm>
            <a:off x="781050" y="5886450"/>
            <a:ext cx="10629900" cy="2286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65000"/>
              </a:lnSpc>
            </a:pPr>
            <a:r>
              <a:rPr lang="en-US" sz="90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dirty: true </a:t>
            </a:r>
            <a:r>
              <a:rPr lang="zh-CN" sz="90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配合</a:t>
            </a:r>
            <a:r>
              <a:rPr lang="en-US" sz="90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@QueryMappersGenerator[dirty]</a:t>
            </a:r>
            <a:r>
              <a:rPr lang="zh-CN" sz="90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：</a:t>
            </a:r>
            <a:r>
              <a:rPr lang="en-US" sz="90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setter </a:t>
            </a:r>
            <a:r>
              <a:rPr lang="zh-CN" sz="90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自动调</a:t>
            </a:r>
            <a:r>
              <a:rPr lang="en-US" sz="90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DirtyTag.setDirtyField</a:t>
            </a:r>
            <a:r>
              <a:rPr lang="zh-CN" sz="90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，</a:t>
            </a:r>
            <a:r>
              <a:rPr lang="en-US" sz="90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UPDATE </a:t>
            </a:r>
            <a:r>
              <a:rPr lang="zh-CN" sz="90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时只更新改过的列。</a:t>
            </a:r>
            <a:endParaRPr lang="zh-CN" sz="900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663" name="任意多边形 2662"/>
          <p:cNvSpPr/>
          <p:nvPr/>
        </p:nvSpPr>
        <p:spPr>
          <a:xfrm>
            <a:off x="609600" y="6286500"/>
            <a:ext cx="10972800" cy="381000"/>
          </a:xfrm>
          <a:custGeom>
            <a:avLst/>
            <a:gdLst/>
            <a:ahLst/>
            <a:cxnLst/>
            <a:pathLst>
              <a:path w="1152" h="40">
                <a:moveTo>
                  <a:pt x="0" y="0"/>
                </a:moveTo>
                <a:lnTo>
                  <a:pt x="1152" y="0"/>
                </a:lnTo>
                <a:lnTo>
                  <a:pt x="1152" y="1"/>
                </a:lnTo>
                <a:lnTo>
                  <a:pt x="0" y="1"/>
                </a:lnTo>
                <a:close/>
              </a:path>
            </a:pathLst>
          </a:custGeom>
          <a:solidFill>
            <a:srgbClr val="1E293B"/>
          </a:solidFill>
        </p:spPr>
        <p:txBody>
          <a:bodyPr/>
          <a:p/>
        </p:txBody>
      </p:sp>
      <p:sp>
        <p:nvSpPr>
          <p:cNvPr id="2664" name="文本框 2663" descr="{&quot;isTemplate&quot;:true,&quot;type&quot;:&quot;text&quot;}"/>
          <p:cNvSpPr txBox="1"/>
          <p:nvPr/>
        </p:nvSpPr>
        <p:spPr>
          <a:xfrm>
            <a:off x="609600" y="6410325"/>
            <a:ext cx="2219325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fountain · 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一站式服务器应用开发工具库</a:t>
            </a:r>
            <a:endParaRPr lang="zh-CN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665" name="文本框 2664" descr="{&quot;isTemplate&quot;:true,&quot;type&quot;:&quot;text&quot;}"/>
          <p:cNvSpPr txBox="1"/>
          <p:nvPr/>
        </p:nvSpPr>
        <p:spPr>
          <a:xfrm>
            <a:off x="11087100" y="6410325"/>
            <a:ext cx="495300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80 / 116</a:t>
            </a:r>
            <a:endParaRPr lang="en-US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66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7" name="矩形 2666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220"/>
          </a:solidFill>
        </p:spPr>
        <p:txBody>
          <a:bodyPr/>
          <a:p/>
        </p:txBody>
      </p:sp>
      <p:sp>
        <p:nvSpPr>
          <p:cNvPr id="2668" name="矩形 2667"/>
          <p:cNvSpPr/>
          <p:nvPr/>
        </p:nvSpPr>
        <p:spPr>
          <a:xfrm>
            <a:off x="609600" y="476250"/>
            <a:ext cx="38100" cy="381000"/>
          </a:xfrm>
          <a:prstGeom prst="rect">
            <a:avLst/>
          </a:prstGeom>
          <a:solidFill>
            <a:srgbClr val="38BDF8"/>
          </a:solidFill>
        </p:spPr>
        <p:txBody>
          <a:bodyPr/>
          <a:p/>
        </p:txBody>
      </p:sp>
      <p:sp>
        <p:nvSpPr>
          <p:cNvPr id="2669" name="文本框 2668" descr="{&quot;isTemplate&quot;:true,&quot;type&quot;:&quot;text&quot;}"/>
          <p:cNvSpPr txBox="1"/>
          <p:nvPr/>
        </p:nvSpPr>
        <p:spPr>
          <a:xfrm>
            <a:off x="819150" y="304800"/>
            <a:ext cx="9229725" cy="2095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第</a:t>
            </a: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 12 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章</a:t>
            </a: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 · ORM f_orm · 12.3 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续</a:t>
            </a:r>
            <a:endParaRPr lang="zh-CN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670" name="文本框 2669" descr="{&quot;isTemplate&quot;:true,&quot;type&quot;:&quot;text&quot;}"/>
          <p:cNvSpPr txBox="1"/>
          <p:nvPr/>
        </p:nvSpPr>
        <p:spPr>
          <a:xfrm>
            <a:off x="819150" y="514350"/>
            <a:ext cx="9229725" cy="5143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2550" b="1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条件构造器：</a:t>
            </a:r>
            <a:r>
              <a:rPr lang="en-US" sz="2550" b="1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meet / choose / loop </a:t>
            </a:r>
            <a:r>
              <a:rPr lang="zh-CN" sz="2550" b="1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与子句块</a:t>
            </a:r>
            <a:endParaRPr lang="zh-CN" sz="2550" b="1">
              <a:solidFill>
                <a:srgbClr val="E2E8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671" name="文本框 2670" descr="{&quot;isTemplate&quot;:true,&quot;type&quot;:&quot;text&quot;}"/>
          <p:cNvSpPr txBox="1"/>
          <p:nvPr/>
        </p:nvSpPr>
        <p:spPr>
          <a:xfrm>
            <a:off x="10220325" y="590550"/>
            <a:ext cx="1362075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内容为空自动省略关键字</a:t>
            </a:r>
            <a:endParaRPr lang="zh-CN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672" name="圆角矩形 2671"/>
          <p:cNvSpPr/>
          <p:nvPr/>
        </p:nvSpPr>
        <p:spPr>
          <a:xfrm>
            <a:off x="609600" y="1143000"/>
            <a:ext cx="10972800" cy="2457450"/>
          </a:xfrm>
          <a:prstGeom prst="roundRect">
            <a:avLst>
              <a:gd name="adj" fmla="val 4651"/>
            </a:avLst>
          </a:prstGeom>
          <a:solidFill>
            <a:srgbClr val="0B1220"/>
          </a:solidFill>
          <a:ln w="12700">
            <a:solidFill>
              <a:srgbClr val="38BDF8"/>
            </a:solidFill>
            <a:prstDash val="solid"/>
          </a:ln>
        </p:spPr>
        <p:txBody>
          <a:bodyPr/>
          <a:p/>
        </p:txBody>
      </p:sp>
      <p:sp>
        <p:nvSpPr>
          <p:cNvPr id="2673" name="文本框 2672" descr="{&quot;isTemplate&quot;:true,&quot;type&quot;:&quot;text&quot;}"/>
          <p:cNvSpPr txBox="1"/>
          <p:nvPr/>
        </p:nvSpPr>
        <p:spPr>
          <a:xfrm>
            <a:off x="781050" y="1314450"/>
            <a:ext cx="10629900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38BDF8"/>
                </a:solidFill>
                <a:latin typeface="微软雅黑" panose="020B0503020204020204" charset="-122"/>
                <a:ea typeface="微软雅黑" panose="020B0503020204020204" charset="-122"/>
              </a:rPr>
              <a:t>条件成立才拼</a:t>
            </a:r>
            <a:r>
              <a:rPr lang="en-US" sz="975">
                <a:solidFill>
                  <a:srgbClr val="38BDF8"/>
                </a:solidFill>
                <a:latin typeface="微软雅黑" panose="020B0503020204020204" charset="-122"/>
                <a:ea typeface="微软雅黑" panose="020B0503020204020204" charset="-122"/>
              </a:rPr>
              <a:t> + </a:t>
            </a:r>
            <a:r>
              <a:rPr lang="zh-CN" sz="975">
                <a:solidFill>
                  <a:srgbClr val="38BDF8"/>
                </a:solidFill>
                <a:latin typeface="微软雅黑" panose="020B0503020204020204" charset="-122"/>
                <a:ea typeface="微软雅黑" panose="020B0503020204020204" charset="-122"/>
              </a:rPr>
              <a:t>逻辑组合</a:t>
            </a:r>
            <a:endParaRPr lang="zh-CN" sz="975">
              <a:solidFill>
                <a:srgbClr val="38BDF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674" name="文本框 2673" descr="{&quot;isTemplate&quot;:true,&quot;type&quot;:&quot;text&quot;}"/>
          <p:cNvSpPr txBox="1"/>
          <p:nvPr/>
        </p:nvSpPr>
        <p:spPr>
          <a:xfrm>
            <a:off x="781050" y="1543050"/>
            <a:ext cx="10629900" cy="2381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en-US" sz="900">
                <a:solidFill>
                  <a:srgbClr val="E2E8F0"/>
                </a:solidFill>
                <a:latin typeface="JetBrains Mono"/>
                <a:ea typeface="JetBrains Mono"/>
              </a:rPr>
              <a:t>executor.FROM&lt;UserPO&gt;()</a:t>
            </a:r>
            <a:endParaRPr lang="en-US" sz="900">
              <a:solidFill>
                <a:srgbClr val="E2E8F0"/>
              </a:solidFill>
              <a:latin typeface="JetBrains Mono"/>
              <a:ea typeface="JetBrains Mono"/>
            </a:endParaRPr>
          </a:p>
        </p:txBody>
      </p:sp>
      <p:sp>
        <p:nvSpPr>
          <p:cNvPr id="2675" name="文本框 2674" descr="{&quot;isTemplate&quot;:true,&quot;type&quot;:&quot;text&quot;}"/>
          <p:cNvSpPr txBox="1"/>
          <p:nvPr/>
        </p:nvSpPr>
        <p:spPr>
          <a:xfrm>
            <a:off x="781050" y="1781175"/>
            <a:ext cx="10629900" cy="2381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en-US" sz="900">
                <a:solidFill>
                  <a:srgbClr val="F59E0B"/>
                </a:solidFill>
                <a:latin typeface="JetBrains Mono"/>
                <a:ea typeface="JetBrains Mono"/>
              </a:rPr>
              <a:t>        .WHERE(meet(userLike.size &gt; 0){ UserPO.tableColumns().username.LIKE('%${userLike}%') })</a:t>
            </a:r>
            <a:endParaRPr lang="en-US" sz="900">
              <a:solidFill>
                <a:srgbClr val="F59E0B"/>
              </a:solidFill>
              <a:latin typeface="JetBrains Mono"/>
              <a:ea typeface="JetBrains Mono"/>
            </a:endParaRPr>
          </a:p>
        </p:txBody>
      </p:sp>
      <p:sp>
        <p:nvSpPr>
          <p:cNvPr id="2676" name="文本框 2675" descr="{&quot;isTemplate&quot;:true,&quot;type&quot;:&quot;text&quot;}"/>
          <p:cNvSpPr txBox="1"/>
          <p:nvPr/>
        </p:nvSpPr>
        <p:spPr>
          <a:xfrm>
            <a:off x="781050" y="2019300"/>
            <a:ext cx="10629900" cy="2381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en-US" sz="900">
                <a:solidFill>
                  <a:srgbClr val="E2E8F0"/>
                </a:solidFill>
                <a:latin typeface="JetBrains Mono"/>
                <a:ea typeface="JetBrains Mono"/>
              </a:rPr>
              <a:t>        .ORDER_BY(UserPO.tableColumns().id.ASC())</a:t>
            </a:r>
            <a:endParaRPr lang="en-US" sz="900">
              <a:solidFill>
                <a:srgbClr val="E2E8F0"/>
              </a:solidFill>
              <a:latin typeface="JetBrains Mono"/>
              <a:ea typeface="JetBrains Mono"/>
            </a:endParaRPr>
          </a:p>
        </p:txBody>
      </p:sp>
      <p:sp>
        <p:nvSpPr>
          <p:cNvPr id="2677" name="文本框 2676" descr="{&quot;isTemplate&quot;:true,&quot;type&quot;:&quot;text&quot;}"/>
          <p:cNvSpPr txBox="1"/>
          <p:nvPr/>
        </p:nvSpPr>
        <p:spPr>
          <a:xfrm>
            <a:off x="781050" y="2257425"/>
            <a:ext cx="10629900" cy="2381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en-US" sz="900">
                <a:solidFill>
                  <a:srgbClr val="E2E8F0"/>
                </a:solidFill>
                <a:latin typeface="JetBrains Mono"/>
                <a:ea typeface="JetBrains Mono"/>
              </a:rPr>
              <a:t>        .page&lt;UserPO&gt;(100, page: 1)</a:t>
            </a:r>
            <a:endParaRPr lang="en-US" sz="900">
              <a:solidFill>
                <a:srgbClr val="E2E8F0"/>
              </a:solidFill>
              <a:latin typeface="JetBrains Mono"/>
              <a:ea typeface="JetBrains Mono"/>
            </a:endParaRPr>
          </a:p>
        </p:txBody>
      </p:sp>
      <p:sp>
        <p:nvSpPr>
          <p:cNvPr id="2678" name="文本框 2677" descr="{&quot;isTemplate&quot;:true,&quot;type&quot;:&quot;text&quot;}"/>
          <p:cNvSpPr txBox="1"/>
          <p:nvPr/>
        </p:nvSpPr>
        <p:spPr>
          <a:xfrm>
            <a:off x="781050" y="2590800"/>
            <a:ext cx="10629900" cy="2381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en-US" sz="900">
                <a:solidFill>
                  <a:srgbClr val="F59E0B"/>
                </a:solidFill>
                <a:latin typeface="JetBrains Mono"/>
                <a:ea typeface="JetBrains Mono"/>
              </a:rPr>
              <a:t>executor.FROM&lt;UserPO&gt;()</a:t>
            </a:r>
            <a:endParaRPr lang="en-US" sz="900">
              <a:solidFill>
                <a:srgbClr val="F59E0B"/>
              </a:solidFill>
              <a:latin typeface="JetBrains Mono"/>
              <a:ea typeface="JetBrains Mono"/>
            </a:endParaRPr>
          </a:p>
        </p:txBody>
      </p:sp>
      <p:sp>
        <p:nvSpPr>
          <p:cNvPr id="2679" name="文本框 2678" descr="{&quot;isTemplate&quot;:true,&quot;type&quot;:&quot;text&quot;}"/>
          <p:cNvSpPr txBox="1"/>
          <p:nvPr/>
        </p:nvSpPr>
        <p:spPr>
          <a:xfrm>
            <a:off x="781050" y="2828925"/>
            <a:ext cx="10629900" cy="2381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en-US" sz="900">
                <a:solidFill>
                  <a:srgbClr val="F59E0B"/>
                </a:solidFill>
                <a:latin typeface="JetBrains Mono"/>
                <a:ea typeface="JetBrains Mono"/>
              </a:rPr>
              <a:t>        .WHERE(AND(UserPO.tableColumns().username.eq(username),</a:t>
            </a:r>
            <a:endParaRPr lang="en-US" sz="900">
              <a:solidFill>
                <a:srgbClr val="F59E0B"/>
              </a:solidFill>
              <a:latin typeface="JetBrains Mono"/>
              <a:ea typeface="JetBrains Mono"/>
            </a:endParaRPr>
          </a:p>
        </p:txBody>
      </p:sp>
      <p:sp>
        <p:nvSpPr>
          <p:cNvPr id="2680" name="文本框 2679" descr="{&quot;isTemplate&quot;:true,&quot;type&quot;:&quot;text&quot;}"/>
          <p:cNvSpPr txBox="1"/>
          <p:nvPr/>
        </p:nvSpPr>
        <p:spPr>
          <a:xfrm>
            <a:off x="781050" y="3067050"/>
            <a:ext cx="10629900" cy="2381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en-US" sz="900">
                <a:solidFill>
                  <a:srgbClr val="F59E0B"/>
                </a:solidFill>
                <a:latin typeface="JetBrains Mono"/>
                <a:ea typeface="JetBrains Mono"/>
              </a:rPr>
              <a:t>                   UserPO.tableColumns().password.eq(password)))</a:t>
            </a:r>
            <a:endParaRPr lang="en-US" sz="900">
              <a:solidFill>
                <a:srgbClr val="F59E0B"/>
              </a:solidFill>
              <a:latin typeface="JetBrains Mono"/>
              <a:ea typeface="JetBrains Mono"/>
            </a:endParaRPr>
          </a:p>
        </p:txBody>
      </p:sp>
      <p:sp>
        <p:nvSpPr>
          <p:cNvPr id="2681" name="文本框 2680" descr="{&quot;isTemplate&quot;:true,&quot;type&quot;:&quot;text&quot;}"/>
          <p:cNvSpPr txBox="1"/>
          <p:nvPr/>
        </p:nvSpPr>
        <p:spPr>
          <a:xfrm>
            <a:off x="781050" y="3305175"/>
            <a:ext cx="10629900" cy="2381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en-US" sz="900">
                <a:solidFill>
                  <a:srgbClr val="E2E8F0"/>
                </a:solidFill>
                <a:latin typeface="JetBrains Mono"/>
                <a:ea typeface="JetBrains Mono"/>
              </a:rPr>
              <a:t>        .singleFirst&lt;Int64&gt;(UserPO.tableColumns().id)</a:t>
            </a:r>
            <a:endParaRPr lang="en-US" sz="900">
              <a:solidFill>
                <a:srgbClr val="E2E8F0"/>
              </a:solidFill>
              <a:latin typeface="JetBrains Mono"/>
              <a:ea typeface="JetBrains Mono"/>
            </a:endParaRPr>
          </a:p>
        </p:txBody>
      </p:sp>
      <p:sp>
        <p:nvSpPr>
          <p:cNvPr id="2682" name="圆角矩形 2681"/>
          <p:cNvSpPr/>
          <p:nvPr/>
        </p:nvSpPr>
        <p:spPr>
          <a:xfrm>
            <a:off x="609600" y="3733800"/>
            <a:ext cx="5410200" cy="2552700"/>
          </a:xfrm>
          <a:prstGeom prst="roundRect">
            <a:avLst>
              <a:gd name="adj" fmla="val 4478"/>
            </a:avLst>
          </a:prstGeom>
          <a:solidFill>
            <a:srgbClr val="0B1220"/>
          </a:solidFill>
          <a:ln w="12700">
            <a:solidFill>
              <a:srgbClr val="1E293B"/>
            </a:solidFill>
            <a:prstDash val="solid"/>
          </a:ln>
        </p:spPr>
        <p:txBody>
          <a:bodyPr/>
          <a:p/>
        </p:txBody>
      </p:sp>
      <p:sp>
        <p:nvSpPr>
          <p:cNvPr id="2683" name="文本框 2682" descr="{&quot;isTemplate&quot;:true,&quot;type&quot;:&quot;text&quot;}"/>
          <p:cNvSpPr txBox="1"/>
          <p:nvPr/>
        </p:nvSpPr>
        <p:spPr>
          <a:xfrm>
            <a:off x="781050" y="3905250"/>
            <a:ext cx="5067300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字符串版本的子句拼接</a:t>
            </a:r>
            <a:endParaRPr lang="zh-CN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684" name="文本框 2683" descr="{&quot;isTemplate&quot;:true,&quot;type&quot;:&quot;text&quot;}"/>
          <p:cNvSpPr txBox="1"/>
          <p:nvPr/>
        </p:nvSpPr>
        <p:spPr>
          <a:xfrm>
            <a:off x="781050" y="4133850"/>
            <a:ext cx="5067300" cy="466725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en-US" sz="900">
                <a:solidFill>
                  <a:srgbClr val="E2E8F0"/>
                </a:solidFill>
                <a:latin typeface="JetBrains Mono"/>
                <a:ea typeface="JetBrains Mono"/>
              </a:rPr>
              <a:t>setSql('update user_info ${SET { 'username = ${arg(name)}' }} where id = ${arg(id)}')</a:t>
            </a:r>
            <a:endParaRPr lang="en-US" sz="900">
              <a:solidFill>
                <a:srgbClr val="E2E8F0"/>
              </a:solidFill>
              <a:latin typeface="JetBrains Mono"/>
              <a:ea typeface="JetBrains Mono"/>
            </a:endParaRPr>
          </a:p>
        </p:txBody>
      </p:sp>
      <p:sp>
        <p:nvSpPr>
          <p:cNvPr id="2685" name="文本框 2684" descr="{&quot;isTemplate&quot;:true,&quot;type&quot;:&quot;text&quot;}"/>
          <p:cNvSpPr txBox="1"/>
          <p:nvPr/>
        </p:nvSpPr>
        <p:spPr>
          <a:xfrm>
            <a:off x="781050" y="4600575"/>
            <a:ext cx="5067300" cy="2381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en-US" sz="900">
                <a:solidFill>
                  <a:srgbClr val="E2E8F0"/>
                </a:solidFill>
                <a:latin typeface="JetBrains Mono"/>
                <a:ea typeface="JetBrains Mono"/>
              </a:rPr>
              <a:t>setSql('select * from user_info ${WHERE { 'id = ${arg(id)}' }}')</a:t>
            </a:r>
            <a:endParaRPr lang="en-US" sz="900">
              <a:solidFill>
                <a:srgbClr val="E2E8F0"/>
              </a:solidFill>
              <a:latin typeface="JetBrains Mono"/>
              <a:ea typeface="JetBrains Mono"/>
            </a:endParaRPr>
          </a:p>
        </p:txBody>
      </p:sp>
      <p:sp>
        <p:nvSpPr>
          <p:cNvPr id="2686" name="文本框 2685" descr="{&quot;isTemplate&quot;:true,&quot;type&quot;:&quot;text&quot;}"/>
          <p:cNvSpPr txBox="1"/>
          <p:nvPr/>
        </p:nvSpPr>
        <p:spPr>
          <a:xfrm>
            <a:off x="781050" y="4838700"/>
            <a:ext cx="5067300" cy="2381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en-US" sz="900">
                <a:solidFill>
                  <a:srgbClr val="E2E8F0"/>
                </a:solidFill>
                <a:latin typeface="JetBrains Mono"/>
                <a:ea typeface="JetBrains Mono"/>
              </a:rPr>
              <a:t>setSql('select * from user_info where id ${IN(ids)}')</a:t>
            </a:r>
            <a:endParaRPr lang="en-US" sz="900">
              <a:solidFill>
                <a:srgbClr val="E2E8F0"/>
              </a:solidFill>
              <a:latin typeface="JetBrains Mono"/>
              <a:ea typeface="JetBrains Mono"/>
            </a:endParaRPr>
          </a:p>
        </p:txBody>
      </p:sp>
      <p:sp>
        <p:nvSpPr>
          <p:cNvPr id="2687" name="文本框 2686" descr="{&quot;isTemplate&quot;:true,&quot;type&quot;:&quot;text&quot;}"/>
          <p:cNvSpPr txBox="1"/>
          <p:nvPr/>
        </p:nvSpPr>
        <p:spPr>
          <a:xfrm>
            <a:off x="781050" y="5153025"/>
            <a:ext cx="5067300" cy="466725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en-US" sz="900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WHERE </a:t>
            </a:r>
            <a:r>
              <a:rPr lang="zh-CN" sz="900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与</a:t>
            </a:r>
            <a:r>
              <a:rPr lang="en-US" sz="900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 SET </a:t>
            </a:r>
            <a:r>
              <a:rPr lang="zh-CN" sz="900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的好处：内容为空时自动省略关键字，不会拼出「</a:t>
            </a:r>
            <a:r>
              <a:rPr lang="en-US" sz="900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where </a:t>
            </a:r>
            <a:r>
              <a:rPr lang="zh-CN" sz="900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后面什么都没有」的非法</a:t>
            </a:r>
            <a:r>
              <a:rPr lang="en-US" sz="900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 SQL</a:t>
            </a:r>
            <a:r>
              <a:rPr lang="zh-CN" sz="900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。</a:t>
            </a:r>
            <a:endParaRPr lang="zh-CN" sz="900">
              <a:solidFill>
                <a:srgbClr val="F59E0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688" name="圆角矩形 2687"/>
          <p:cNvSpPr/>
          <p:nvPr/>
        </p:nvSpPr>
        <p:spPr>
          <a:xfrm>
            <a:off x="6172200" y="3733800"/>
            <a:ext cx="5410200" cy="2552700"/>
          </a:xfrm>
          <a:prstGeom prst="roundRect">
            <a:avLst>
              <a:gd name="adj" fmla="val 4478"/>
            </a:avLst>
          </a:prstGeom>
          <a:solidFill>
            <a:srgbClr val="111C2E"/>
          </a:solidFill>
          <a:ln w="12700">
            <a:solidFill>
              <a:srgbClr val="1E293B"/>
            </a:solidFill>
            <a:prstDash val="solid"/>
          </a:ln>
        </p:spPr>
        <p:txBody>
          <a:bodyPr/>
          <a:p/>
        </p:txBody>
      </p:sp>
      <p:sp>
        <p:nvSpPr>
          <p:cNvPr id="2689" name="文本框 2688" descr="{&quot;isTemplate&quot;:true,&quot;type&quot;:&quot;text&quot;}"/>
          <p:cNvSpPr txBox="1"/>
          <p:nvPr/>
        </p:nvSpPr>
        <p:spPr>
          <a:xfrm>
            <a:off x="6343650" y="3905250"/>
            <a:ext cx="5067300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关系运算片段</a:t>
            </a:r>
            <a:endParaRPr lang="zh-CN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690" name="文本框 2689" descr="{&quot;isTemplate&quot;:true,&quot;type&quot;:&quot;text&quot;}"/>
          <p:cNvSpPr txBox="1"/>
          <p:nvPr/>
        </p:nvSpPr>
        <p:spPr>
          <a:xfrm>
            <a:off x="6343650" y="4133850"/>
            <a:ext cx="5067300" cy="2381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en-US" sz="90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IN</a:t>
            </a:r>
            <a:r>
              <a:rPr lang="zh-CN" sz="90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　</a:t>
            </a:r>
            <a:r>
              <a:rPr lang="en-US" sz="90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NOT_IN</a:t>
            </a:r>
            <a:r>
              <a:rPr lang="zh-CN" sz="90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　</a:t>
            </a:r>
            <a:r>
              <a:rPr lang="en-US" sz="90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LIKE</a:t>
            </a:r>
            <a:r>
              <a:rPr lang="zh-CN" sz="90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　</a:t>
            </a:r>
            <a:r>
              <a:rPr lang="en-US" sz="90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NOT_LIKE</a:t>
            </a:r>
            <a:r>
              <a:rPr lang="zh-CN" sz="90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　</a:t>
            </a:r>
            <a:r>
              <a:rPr lang="en-US" sz="90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BETWEEN</a:t>
            </a:r>
            <a:r>
              <a:rPr lang="zh-CN" sz="90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　</a:t>
            </a:r>
            <a:r>
              <a:rPr lang="en-US" sz="90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EXISTS</a:t>
            </a:r>
            <a:r>
              <a:rPr lang="zh-CN" sz="90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　</a:t>
            </a:r>
            <a:r>
              <a:rPr lang="en-US" sz="90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NOT_EXISTS</a:t>
            </a:r>
            <a:r>
              <a:rPr lang="zh-CN" sz="90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　</a:t>
            </a:r>
            <a:r>
              <a:rPr lang="en-US" sz="90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AND</a:t>
            </a:r>
            <a:r>
              <a:rPr lang="zh-CN" sz="90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　</a:t>
            </a:r>
            <a:r>
              <a:rPr lang="en-US" sz="90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OR</a:t>
            </a:r>
            <a:r>
              <a:rPr lang="zh-CN" sz="90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　</a:t>
            </a:r>
            <a:r>
              <a:rPr lang="en-US" sz="90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NOT</a:t>
            </a:r>
            <a:r>
              <a:rPr lang="zh-CN" sz="90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　</a:t>
            </a:r>
            <a:r>
              <a:rPr lang="en-US" sz="90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paren</a:t>
            </a:r>
            <a:endParaRPr lang="en-US" sz="900">
              <a:solidFill>
                <a:srgbClr val="E2E8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691" name="文本框 2690" descr="{&quot;isTemplate&quot;:true,&quot;type&quot;:&quot;text&quot;}"/>
          <p:cNvSpPr txBox="1"/>
          <p:nvPr/>
        </p:nvSpPr>
        <p:spPr>
          <a:xfrm>
            <a:off x="6343650" y="4467225"/>
            <a:ext cx="5067300" cy="2381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zh-CN" sz="90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注意它们只返回运算符部分，左值要自己拼。</a:t>
            </a:r>
            <a:endParaRPr lang="zh-CN" sz="900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692" name="文本框 2691" descr="{&quot;isTemplate&quot;:true,&quot;type&quot;:&quot;text&quot;}"/>
          <p:cNvSpPr txBox="1"/>
          <p:nvPr/>
        </p:nvSpPr>
        <p:spPr>
          <a:xfrm>
            <a:off x="6343650" y="5876925"/>
            <a:ext cx="5067300" cy="2381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zh-CN" sz="90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选择建议：简单查询用方法链；条件复杂的用</a:t>
            </a:r>
            <a:r>
              <a:rPr lang="en-US" sz="90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 meet + WHERE </a:t>
            </a:r>
            <a:r>
              <a:rPr lang="zh-CN" sz="90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块；极复杂的用模板</a:t>
            </a:r>
            <a:r>
              <a:rPr lang="en-US" sz="90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 SQL</a:t>
            </a:r>
            <a:r>
              <a:rPr lang="zh-CN" sz="90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。</a:t>
            </a:r>
            <a:endParaRPr lang="zh-CN" sz="90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693" name="任意多边形 2692"/>
          <p:cNvSpPr/>
          <p:nvPr/>
        </p:nvSpPr>
        <p:spPr>
          <a:xfrm>
            <a:off x="609600" y="6286500"/>
            <a:ext cx="10972800" cy="381000"/>
          </a:xfrm>
          <a:custGeom>
            <a:avLst/>
            <a:gdLst/>
            <a:ahLst/>
            <a:cxnLst/>
            <a:pathLst>
              <a:path w="1152" h="40">
                <a:moveTo>
                  <a:pt x="0" y="0"/>
                </a:moveTo>
                <a:lnTo>
                  <a:pt x="1152" y="0"/>
                </a:lnTo>
                <a:lnTo>
                  <a:pt x="1152" y="1"/>
                </a:lnTo>
                <a:lnTo>
                  <a:pt x="0" y="1"/>
                </a:lnTo>
                <a:close/>
              </a:path>
            </a:pathLst>
          </a:custGeom>
          <a:solidFill>
            <a:srgbClr val="1E293B"/>
          </a:solidFill>
        </p:spPr>
        <p:txBody>
          <a:bodyPr/>
          <a:p/>
        </p:txBody>
      </p:sp>
      <p:sp>
        <p:nvSpPr>
          <p:cNvPr id="2694" name="文本框 2693" descr="{&quot;isTemplate&quot;:true,&quot;type&quot;:&quot;text&quot;}"/>
          <p:cNvSpPr txBox="1"/>
          <p:nvPr/>
        </p:nvSpPr>
        <p:spPr>
          <a:xfrm>
            <a:off x="609600" y="6410325"/>
            <a:ext cx="2219325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fountain · 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一站式服务器应用开发工具库</a:t>
            </a:r>
            <a:endParaRPr lang="zh-CN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695" name="文本框 2694" descr="{&quot;isTemplate&quot;:true,&quot;type&quot;:&quot;text&quot;}"/>
          <p:cNvSpPr txBox="1"/>
          <p:nvPr/>
        </p:nvSpPr>
        <p:spPr>
          <a:xfrm>
            <a:off x="11087100" y="6410325"/>
            <a:ext cx="495300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81 / 116</a:t>
            </a:r>
            <a:endParaRPr lang="en-US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69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7" name="矩形 2696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220"/>
          </a:solidFill>
        </p:spPr>
        <p:txBody>
          <a:bodyPr/>
          <a:p/>
        </p:txBody>
      </p:sp>
      <p:sp>
        <p:nvSpPr>
          <p:cNvPr id="2698" name="矩形 2697"/>
          <p:cNvSpPr/>
          <p:nvPr/>
        </p:nvSpPr>
        <p:spPr>
          <a:xfrm>
            <a:off x="609600" y="476250"/>
            <a:ext cx="38100" cy="381000"/>
          </a:xfrm>
          <a:prstGeom prst="rect">
            <a:avLst/>
          </a:prstGeom>
          <a:solidFill>
            <a:srgbClr val="38BDF8"/>
          </a:solidFill>
        </p:spPr>
        <p:txBody>
          <a:bodyPr/>
          <a:p/>
        </p:txBody>
      </p:sp>
      <p:sp>
        <p:nvSpPr>
          <p:cNvPr id="2699" name="文本框 2698" descr="{&quot;isTemplate&quot;:true,&quot;type&quot;:&quot;text&quot;}"/>
          <p:cNvSpPr txBox="1"/>
          <p:nvPr/>
        </p:nvSpPr>
        <p:spPr>
          <a:xfrm>
            <a:off x="819150" y="304800"/>
            <a:ext cx="9210675" cy="2095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第</a:t>
            </a: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 12 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章</a:t>
            </a: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 · ORM f_orm · 12.4</a:t>
            </a:r>
            <a:endParaRPr lang="en-US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700" name="文本框 2699" descr="{&quot;isTemplate&quot;:true,&quot;type&quot;:&quot;text&quot;}"/>
          <p:cNvSpPr txBox="1"/>
          <p:nvPr/>
        </p:nvSpPr>
        <p:spPr>
          <a:xfrm>
            <a:off x="819150" y="514350"/>
            <a:ext cx="9210675" cy="5143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2550" b="1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查询结果与分页</a:t>
            </a:r>
            <a:endParaRPr lang="zh-CN" sz="2550" b="1">
              <a:solidFill>
                <a:srgbClr val="E2E8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701" name="文本框 2700" descr="{&quot;isTemplate&quot;:true,&quot;type&quot;:&quot;text&quot;}"/>
          <p:cNvSpPr txBox="1"/>
          <p:nvPr/>
        </p:nvSpPr>
        <p:spPr>
          <a:xfrm>
            <a:off x="10201275" y="590550"/>
            <a:ext cx="1381125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limit / offset 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由方言生成</a:t>
            </a:r>
            <a:endParaRPr lang="zh-CN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702" name="圆角矩形 2701"/>
          <p:cNvSpPr/>
          <p:nvPr/>
        </p:nvSpPr>
        <p:spPr>
          <a:xfrm>
            <a:off x="609600" y="1143000"/>
            <a:ext cx="5410200" cy="2438400"/>
          </a:xfrm>
          <a:prstGeom prst="roundRect">
            <a:avLst>
              <a:gd name="adj" fmla="val 4688"/>
            </a:avLst>
          </a:prstGeom>
          <a:solidFill>
            <a:srgbClr val="0B1220"/>
          </a:solidFill>
          <a:ln w="12700">
            <a:solidFill>
              <a:srgbClr val="1E293B"/>
            </a:solidFill>
            <a:prstDash val="solid"/>
          </a:ln>
        </p:spPr>
        <p:txBody>
          <a:bodyPr/>
          <a:p/>
        </p:txBody>
      </p:sp>
      <p:sp>
        <p:nvSpPr>
          <p:cNvPr id="2703" name="文本框 2702" descr="{&quot;isTemplate&quot;:true,&quot;type&quot;:&quot;text&quot;}"/>
          <p:cNvSpPr txBox="1"/>
          <p:nvPr/>
        </p:nvSpPr>
        <p:spPr>
          <a:xfrm>
            <a:off x="781050" y="1314450"/>
            <a:ext cx="5067300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读取结果的四类函数</a:t>
            </a:r>
            <a:endParaRPr lang="zh-CN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704" name="文本框 2703" descr="{&quot;isTemplate&quot;:true,&quot;type&quot;:&quot;text&quot;}"/>
          <p:cNvSpPr txBox="1"/>
          <p:nvPr/>
        </p:nvSpPr>
        <p:spPr>
          <a:xfrm>
            <a:off x="781050" y="1543050"/>
            <a:ext cx="5067300" cy="2476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5000"/>
              </a:lnSpc>
            </a:pPr>
            <a:r>
              <a:rPr lang="en-US" sz="900">
                <a:solidFill>
                  <a:srgbClr val="38BDF8"/>
                </a:solidFill>
                <a:latin typeface="JetBrains Mono"/>
                <a:ea typeface="JetBrains Mono"/>
              </a:rPr>
              <a:t>// </a:t>
            </a:r>
            <a:r>
              <a:rPr lang="zh-CN" sz="900">
                <a:solidFill>
                  <a:srgbClr val="38BDF8"/>
                </a:solidFill>
                <a:latin typeface="JetBrains Mono"/>
                <a:ea typeface="JetBrains Mono"/>
              </a:rPr>
              <a:t>单列</a:t>
            </a:r>
            <a:endParaRPr lang="zh-CN" sz="900">
              <a:solidFill>
                <a:srgbClr val="38BDF8"/>
              </a:solidFill>
              <a:latin typeface="JetBrains Mono"/>
              <a:ea typeface="JetBrains Mono"/>
            </a:endParaRPr>
          </a:p>
        </p:txBody>
      </p:sp>
      <p:sp>
        <p:nvSpPr>
          <p:cNvPr id="2705" name="文本框 2704" descr="{&quot;isTemplate&quot;:true,&quot;type&quot;:&quot;text&quot;}"/>
          <p:cNvSpPr txBox="1"/>
          <p:nvPr/>
        </p:nvSpPr>
        <p:spPr>
          <a:xfrm>
            <a:off x="781050" y="1790700"/>
            <a:ext cx="5067300" cy="2476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5000"/>
              </a:lnSpc>
            </a:pPr>
            <a:r>
              <a:rPr lang="en-US" sz="900">
                <a:solidFill>
                  <a:srgbClr val="E2E8F0"/>
                </a:solidFill>
                <a:latin typeface="JetBrains Mono"/>
                <a:ea typeface="JetBrains Mono"/>
              </a:rPr>
              <a:t>singleFirst&lt;T&gt;() / singleFirst&lt;T&gt;(index) / singleFirst&lt;T&gt;(column)</a:t>
            </a:r>
            <a:endParaRPr lang="en-US" sz="900">
              <a:solidFill>
                <a:srgbClr val="E2E8F0"/>
              </a:solidFill>
              <a:latin typeface="JetBrains Mono"/>
              <a:ea typeface="JetBrains Mono"/>
            </a:endParaRPr>
          </a:p>
        </p:txBody>
      </p:sp>
      <p:sp>
        <p:nvSpPr>
          <p:cNvPr id="2706" name="文本框 2705" descr="{&quot;isTemplate&quot;:true,&quot;type&quot;:&quot;text&quot;}"/>
          <p:cNvSpPr txBox="1"/>
          <p:nvPr/>
        </p:nvSpPr>
        <p:spPr>
          <a:xfrm>
            <a:off x="781050" y="2038350"/>
            <a:ext cx="5067300" cy="2476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5000"/>
              </a:lnSpc>
            </a:pPr>
            <a:r>
              <a:rPr lang="en-US" sz="900">
                <a:solidFill>
                  <a:srgbClr val="E2E8F0"/>
                </a:solidFill>
                <a:latin typeface="JetBrains Mono"/>
                <a:ea typeface="JetBrains Mono"/>
              </a:rPr>
              <a:t>singleList&lt;T&gt;() / singleIterator&lt;T&gt;()</a:t>
            </a:r>
            <a:endParaRPr lang="en-US" sz="900">
              <a:solidFill>
                <a:srgbClr val="E2E8F0"/>
              </a:solidFill>
              <a:latin typeface="JetBrains Mono"/>
              <a:ea typeface="JetBrains Mono"/>
            </a:endParaRPr>
          </a:p>
        </p:txBody>
      </p:sp>
      <p:sp>
        <p:nvSpPr>
          <p:cNvPr id="2707" name="文本框 2706" descr="{&quot;isTemplate&quot;:true,&quot;type&quot;:&quot;text&quot;}"/>
          <p:cNvSpPr txBox="1"/>
          <p:nvPr/>
        </p:nvSpPr>
        <p:spPr>
          <a:xfrm>
            <a:off x="781050" y="2343150"/>
            <a:ext cx="5067300" cy="2476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5000"/>
              </a:lnSpc>
            </a:pPr>
            <a:r>
              <a:rPr lang="en-US" sz="900">
                <a:solidFill>
                  <a:srgbClr val="38BDF8"/>
                </a:solidFill>
                <a:latin typeface="JetBrains Mono"/>
                <a:ea typeface="JetBrains Mono"/>
              </a:rPr>
              <a:t>// </a:t>
            </a:r>
            <a:r>
              <a:rPr lang="zh-CN" sz="900">
                <a:solidFill>
                  <a:srgbClr val="38BDF8"/>
                </a:solidFill>
                <a:latin typeface="JetBrains Mono"/>
                <a:ea typeface="JetBrains Mono"/>
              </a:rPr>
              <a:t>对象（依赖</a:t>
            </a:r>
            <a:r>
              <a:rPr lang="en-US" sz="900">
                <a:solidFill>
                  <a:srgbClr val="38BDF8"/>
                </a:solidFill>
                <a:latin typeface="JetBrains Mono"/>
                <a:ea typeface="JetBrains Mono"/>
              </a:rPr>
              <a:t> QueryMappers</a:t>
            </a:r>
            <a:r>
              <a:rPr lang="zh-CN" sz="900">
                <a:solidFill>
                  <a:srgbClr val="38BDF8"/>
                </a:solidFill>
                <a:latin typeface="JetBrains Mono"/>
                <a:ea typeface="JetBrains Mono"/>
              </a:rPr>
              <a:t>）</a:t>
            </a:r>
            <a:endParaRPr lang="zh-CN" sz="900">
              <a:solidFill>
                <a:srgbClr val="38BDF8"/>
              </a:solidFill>
              <a:latin typeface="JetBrains Mono"/>
              <a:ea typeface="JetBrains Mono"/>
            </a:endParaRPr>
          </a:p>
        </p:txBody>
      </p:sp>
      <p:sp>
        <p:nvSpPr>
          <p:cNvPr id="2708" name="文本框 2707" descr="{&quot;isTemplate&quot;:true,&quot;type&quot;:&quot;text&quot;}"/>
          <p:cNvSpPr txBox="1"/>
          <p:nvPr/>
        </p:nvSpPr>
        <p:spPr>
          <a:xfrm>
            <a:off x="781050" y="2590800"/>
            <a:ext cx="5067300" cy="2476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5000"/>
              </a:lnSpc>
            </a:pPr>
            <a:r>
              <a:rPr lang="en-US" sz="900">
                <a:solidFill>
                  <a:srgbClr val="E2E8F0"/>
                </a:solidFill>
                <a:latin typeface="JetBrains Mono"/>
                <a:ea typeface="JetBrains Mono"/>
              </a:rPr>
              <a:t>first&lt;T&gt;() / list&lt;T&gt;() / iterator&lt;T&gt;() / one&lt;T&gt;()</a:t>
            </a:r>
            <a:endParaRPr lang="en-US" sz="900">
              <a:solidFill>
                <a:srgbClr val="E2E8F0"/>
              </a:solidFill>
              <a:latin typeface="JetBrains Mono"/>
              <a:ea typeface="JetBrains Mono"/>
            </a:endParaRPr>
          </a:p>
        </p:txBody>
      </p:sp>
      <p:sp>
        <p:nvSpPr>
          <p:cNvPr id="2709" name="文本框 2708" descr="{&quot;isTemplate&quot;:true,&quot;type&quot;:&quot;text&quot;}"/>
          <p:cNvSpPr txBox="1"/>
          <p:nvPr/>
        </p:nvSpPr>
        <p:spPr>
          <a:xfrm>
            <a:off x="781050" y="2895600"/>
            <a:ext cx="5067300" cy="2476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5000"/>
              </a:lnSpc>
            </a:pPr>
            <a:r>
              <a:rPr lang="en-US" sz="900">
                <a:solidFill>
                  <a:srgbClr val="38BDF8"/>
                </a:solidFill>
                <a:latin typeface="JetBrains Mono"/>
                <a:ea typeface="JetBrains Mono"/>
              </a:rPr>
              <a:t>// </a:t>
            </a:r>
            <a:r>
              <a:rPr lang="zh-CN" sz="900">
                <a:solidFill>
                  <a:srgbClr val="38BDF8"/>
                </a:solidFill>
                <a:latin typeface="JetBrains Mono"/>
                <a:ea typeface="JetBrains Mono"/>
              </a:rPr>
              <a:t>无类型</a:t>
            </a:r>
            <a:endParaRPr lang="zh-CN" sz="900">
              <a:solidFill>
                <a:srgbClr val="38BDF8"/>
              </a:solidFill>
              <a:latin typeface="JetBrains Mono"/>
              <a:ea typeface="JetBrains Mono"/>
            </a:endParaRPr>
          </a:p>
        </p:txBody>
      </p:sp>
      <p:sp>
        <p:nvSpPr>
          <p:cNvPr id="2710" name="文本框 2709" descr="{&quot;isTemplate&quot;:true,&quot;type&quot;:&quot;text&quot;}"/>
          <p:cNvSpPr txBox="1"/>
          <p:nvPr/>
        </p:nvSpPr>
        <p:spPr>
          <a:xfrm>
            <a:off x="781050" y="3143250"/>
            <a:ext cx="5067300" cy="2476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5000"/>
              </a:lnSpc>
            </a:pPr>
            <a:r>
              <a:rPr lang="en-US" sz="900">
                <a:solidFill>
                  <a:srgbClr val="E2E8F0"/>
                </a:solidFill>
                <a:latin typeface="JetBrains Mono"/>
                <a:ea typeface="JetBrains Mono"/>
              </a:rPr>
              <a:t>firstToMap() / mapList()</a:t>
            </a:r>
            <a:endParaRPr lang="en-US" sz="900">
              <a:solidFill>
                <a:srgbClr val="E2E8F0"/>
              </a:solidFill>
              <a:latin typeface="JetBrains Mono"/>
              <a:ea typeface="JetBrains Mono"/>
            </a:endParaRPr>
          </a:p>
        </p:txBody>
      </p:sp>
      <p:sp>
        <p:nvSpPr>
          <p:cNvPr id="2711" name="圆角矩形 2710"/>
          <p:cNvSpPr/>
          <p:nvPr/>
        </p:nvSpPr>
        <p:spPr>
          <a:xfrm>
            <a:off x="6172200" y="1143000"/>
            <a:ext cx="5410200" cy="2438400"/>
          </a:xfrm>
          <a:prstGeom prst="roundRect">
            <a:avLst>
              <a:gd name="adj" fmla="val 4688"/>
            </a:avLst>
          </a:prstGeom>
          <a:solidFill>
            <a:srgbClr val="0B1220"/>
          </a:solidFill>
          <a:ln w="12700">
            <a:solidFill>
              <a:srgbClr val="38BDF8"/>
            </a:solidFill>
            <a:prstDash val="solid"/>
          </a:ln>
        </p:spPr>
        <p:txBody>
          <a:bodyPr/>
          <a:p/>
        </p:txBody>
      </p:sp>
      <p:sp>
        <p:nvSpPr>
          <p:cNvPr id="2712" name="文本框 2711" descr="{&quot;isTemplate&quot;:true,&quot;type&quot;:&quot;text&quot;}"/>
          <p:cNvSpPr txBox="1"/>
          <p:nvPr/>
        </p:nvSpPr>
        <p:spPr>
          <a:xfrm>
            <a:off x="6343650" y="1314450"/>
            <a:ext cx="5067300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38BDF8"/>
                </a:solidFill>
                <a:latin typeface="微软雅黑" panose="020B0503020204020204" charset="-122"/>
                <a:ea typeface="微软雅黑" panose="020B0503020204020204" charset="-122"/>
              </a:rPr>
              <a:t>分页</a:t>
            </a:r>
            <a:endParaRPr lang="zh-CN" sz="975">
              <a:solidFill>
                <a:srgbClr val="38BDF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713" name="文本框 2712" descr="{&quot;isTemplate&quot;:true,&quot;type&quot;:&quot;text&quot;}"/>
          <p:cNvSpPr txBox="1"/>
          <p:nvPr/>
        </p:nvSpPr>
        <p:spPr>
          <a:xfrm>
            <a:off x="6343650" y="1543050"/>
            <a:ext cx="5067300" cy="2476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5000"/>
              </a:lnSpc>
            </a:pPr>
            <a:r>
              <a:rPr lang="en-US" sz="900">
                <a:solidFill>
                  <a:srgbClr val="E2E8F0"/>
                </a:solidFill>
                <a:latin typeface="JetBrains Mono"/>
                <a:ea typeface="JetBrains Mono"/>
              </a:rPr>
              <a:t>let p = executor.FROM&lt;UserPO&gt;().page&lt;UserPO&gt;(10, page: 1)</a:t>
            </a:r>
            <a:endParaRPr lang="en-US" sz="900">
              <a:solidFill>
                <a:srgbClr val="E2E8F0"/>
              </a:solidFill>
              <a:latin typeface="JetBrains Mono"/>
              <a:ea typeface="JetBrains Mono"/>
            </a:endParaRPr>
          </a:p>
        </p:txBody>
      </p:sp>
      <p:sp>
        <p:nvSpPr>
          <p:cNvPr id="2714" name="文本框 2713" descr="{&quot;isTemplate&quot;:true,&quot;type&quot;:&quot;text&quot;}"/>
          <p:cNvSpPr txBox="1"/>
          <p:nvPr/>
        </p:nvSpPr>
        <p:spPr>
          <a:xfrm>
            <a:off x="6343650" y="1866900"/>
            <a:ext cx="5067300" cy="2476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5000"/>
              </a:lnSpc>
            </a:pPr>
            <a:r>
              <a:rPr lang="en-US" sz="900">
                <a:solidFill>
                  <a:srgbClr val="E2E8F0"/>
                </a:solidFill>
                <a:latin typeface="JetBrains Mono"/>
                <a:ea typeface="JetBrains Mono"/>
              </a:rPr>
              <a:t>p.page    // </a:t>
            </a:r>
            <a:r>
              <a:rPr lang="zh-CN" sz="900">
                <a:solidFill>
                  <a:srgbClr val="E2E8F0"/>
                </a:solidFill>
                <a:latin typeface="JetBrains Mono"/>
                <a:ea typeface="JetBrains Mono"/>
              </a:rPr>
              <a:t>当前页（从</a:t>
            </a:r>
            <a:r>
              <a:rPr lang="en-US" sz="900">
                <a:solidFill>
                  <a:srgbClr val="E2E8F0"/>
                </a:solidFill>
                <a:latin typeface="JetBrains Mono"/>
                <a:ea typeface="JetBrains Mono"/>
              </a:rPr>
              <a:t> 1 </a:t>
            </a:r>
            <a:r>
              <a:rPr lang="zh-CN" sz="900">
                <a:solidFill>
                  <a:srgbClr val="E2E8F0"/>
                </a:solidFill>
                <a:latin typeface="JetBrains Mono"/>
                <a:ea typeface="JetBrains Mono"/>
              </a:rPr>
              <a:t>开始）</a:t>
            </a:r>
            <a:endParaRPr lang="zh-CN" sz="900">
              <a:solidFill>
                <a:srgbClr val="E2E8F0"/>
              </a:solidFill>
              <a:latin typeface="JetBrains Mono"/>
              <a:ea typeface="JetBrains Mono"/>
            </a:endParaRPr>
          </a:p>
        </p:txBody>
      </p:sp>
      <p:sp>
        <p:nvSpPr>
          <p:cNvPr id="2715" name="文本框 2714" descr="{&quot;isTemplate&quot;:true,&quot;type&quot;:&quot;text&quot;}"/>
          <p:cNvSpPr txBox="1"/>
          <p:nvPr/>
        </p:nvSpPr>
        <p:spPr>
          <a:xfrm>
            <a:off x="6343650" y="2114550"/>
            <a:ext cx="5067300" cy="2476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5000"/>
              </a:lnSpc>
            </a:pPr>
            <a:r>
              <a:rPr lang="en-US" sz="900">
                <a:solidFill>
                  <a:srgbClr val="E2E8F0"/>
                </a:solidFill>
                <a:latin typeface="JetBrains Mono"/>
                <a:ea typeface="JetBrains Mono"/>
              </a:rPr>
              <a:t>p.size    // </a:t>
            </a:r>
            <a:r>
              <a:rPr lang="zh-CN" sz="900">
                <a:solidFill>
                  <a:srgbClr val="E2E8F0"/>
                </a:solidFill>
                <a:latin typeface="JetBrains Mono"/>
                <a:ea typeface="JetBrains Mono"/>
              </a:rPr>
              <a:t>每页大小</a:t>
            </a:r>
            <a:endParaRPr lang="zh-CN" sz="900">
              <a:solidFill>
                <a:srgbClr val="E2E8F0"/>
              </a:solidFill>
              <a:latin typeface="JetBrains Mono"/>
              <a:ea typeface="JetBrains Mono"/>
            </a:endParaRPr>
          </a:p>
        </p:txBody>
      </p:sp>
      <p:sp>
        <p:nvSpPr>
          <p:cNvPr id="2716" name="文本框 2715" descr="{&quot;isTemplate&quot;:true,&quot;type&quot;:&quot;text&quot;}"/>
          <p:cNvSpPr txBox="1"/>
          <p:nvPr/>
        </p:nvSpPr>
        <p:spPr>
          <a:xfrm>
            <a:off x="6343650" y="2362200"/>
            <a:ext cx="5067300" cy="2476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5000"/>
              </a:lnSpc>
            </a:pPr>
            <a:r>
              <a:rPr lang="en-US" sz="900">
                <a:solidFill>
                  <a:srgbClr val="E2E8F0"/>
                </a:solidFill>
                <a:latin typeface="JetBrains Mono"/>
                <a:ea typeface="JetBrains Mono"/>
              </a:rPr>
              <a:t>p.rows    // </a:t>
            </a:r>
            <a:r>
              <a:rPr lang="zh-CN" sz="900">
                <a:solidFill>
                  <a:srgbClr val="E2E8F0"/>
                </a:solidFill>
                <a:latin typeface="JetBrains Mono"/>
                <a:ea typeface="JetBrains Mono"/>
              </a:rPr>
              <a:t>总记录数</a:t>
            </a:r>
            <a:endParaRPr lang="zh-CN" sz="900">
              <a:solidFill>
                <a:srgbClr val="E2E8F0"/>
              </a:solidFill>
              <a:latin typeface="JetBrains Mono"/>
              <a:ea typeface="JetBrains Mono"/>
            </a:endParaRPr>
          </a:p>
        </p:txBody>
      </p:sp>
      <p:sp>
        <p:nvSpPr>
          <p:cNvPr id="2717" name="文本框 2716" descr="{&quot;isTemplate&quot;:true,&quot;type&quot;:&quot;text&quot;}"/>
          <p:cNvSpPr txBox="1"/>
          <p:nvPr/>
        </p:nvSpPr>
        <p:spPr>
          <a:xfrm>
            <a:off x="6343650" y="2609850"/>
            <a:ext cx="5067300" cy="2476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5000"/>
              </a:lnSpc>
            </a:pPr>
            <a:r>
              <a:rPr lang="en-US" sz="900">
                <a:solidFill>
                  <a:srgbClr val="E2E8F0"/>
                </a:solidFill>
                <a:latin typeface="JetBrains Mono"/>
                <a:ea typeface="JetBrains Mono"/>
              </a:rPr>
              <a:t>p.pages   // </a:t>
            </a:r>
            <a:r>
              <a:rPr lang="zh-CN" sz="900">
                <a:solidFill>
                  <a:srgbClr val="E2E8F0"/>
                </a:solidFill>
                <a:latin typeface="JetBrains Mono"/>
                <a:ea typeface="JetBrains Mono"/>
              </a:rPr>
              <a:t>总页数</a:t>
            </a:r>
            <a:endParaRPr lang="zh-CN" sz="900">
              <a:solidFill>
                <a:srgbClr val="E2E8F0"/>
              </a:solidFill>
              <a:latin typeface="JetBrains Mono"/>
              <a:ea typeface="JetBrains Mono"/>
            </a:endParaRPr>
          </a:p>
        </p:txBody>
      </p:sp>
      <p:sp>
        <p:nvSpPr>
          <p:cNvPr id="2718" name="文本框 2717" descr="{&quot;isTemplate&quot;:true,&quot;type&quot;:&quot;text&quot;}"/>
          <p:cNvSpPr txBox="1"/>
          <p:nvPr/>
        </p:nvSpPr>
        <p:spPr>
          <a:xfrm>
            <a:off x="6343650" y="2857500"/>
            <a:ext cx="5067300" cy="2476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5000"/>
              </a:lnSpc>
            </a:pPr>
            <a:r>
              <a:rPr lang="en-US" sz="900">
                <a:solidFill>
                  <a:srgbClr val="E2E8F0"/>
                </a:solidFill>
                <a:latin typeface="JetBrains Mono"/>
                <a:ea typeface="JetBrains Mono"/>
              </a:rPr>
              <a:t>p.list    // </a:t>
            </a:r>
            <a:r>
              <a:rPr lang="zh-CN" sz="900">
                <a:solidFill>
                  <a:srgbClr val="E2E8F0"/>
                </a:solidFill>
                <a:latin typeface="JetBrains Mono"/>
                <a:ea typeface="JetBrains Mono"/>
              </a:rPr>
              <a:t>当前页数据</a:t>
            </a:r>
            <a:endParaRPr lang="zh-CN" sz="900">
              <a:solidFill>
                <a:srgbClr val="E2E8F0"/>
              </a:solidFill>
              <a:latin typeface="JetBrains Mono"/>
              <a:ea typeface="JetBrains Mono"/>
            </a:endParaRPr>
          </a:p>
        </p:txBody>
      </p:sp>
      <p:sp>
        <p:nvSpPr>
          <p:cNvPr id="2719" name="文本框 2718" descr="{&quot;isTemplate&quot;:true,&quot;type&quot;:&quot;text&quot;}"/>
          <p:cNvSpPr txBox="1"/>
          <p:nvPr/>
        </p:nvSpPr>
        <p:spPr>
          <a:xfrm>
            <a:off x="6343650" y="3162300"/>
            <a:ext cx="5067300" cy="2476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5000"/>
              </a:lnSpc>
            </a:pPr>
            <a:r>
              <a:rPr lang="en-US" sz="900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page </a:t>
            </a:r>
            <a:r>
              <a:rPr lang="zh-CN" sz="900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系列要求</a:t>
            </a:r>
            <a:r>
              <a:rPr lang="en-US" sz="900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 SQL </a:t>
            </a:r>
            <a:r>
              <a:rPr lang="zh-CN" sz="900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以</a:t>
            </a:r>
            <a:r>
              <a:rPr lang="en-US" sz="900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 select </a:t>
            </a:r>
            <a:r>
              <a:rPr lang="zh-CN" sz="900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开头，否则抛</a:t>
            </a:r>
            <a:r>
              <a:rPr lang="en-US" sz="900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 ORMException</a:t>
            </a:r>
            <a:r>
              <a:rPr lang="zh-CN" sz="900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。</a:t>
            </a:r>
            <a:endParaRPr lang="zh-CN" sz="900">
              <a:solidFill>
                <a:srgbClr val="F59E0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720" name="圆角矩形 2719"/>
          <p:cNvSpPr/>
          <p:nvPr/>
        </p:nvSpPr>
        <p:spPr>
          <a:xfrm>
            <a:off x="609600" y="3733800"/>
            <a:ext cx="10972800" cy="2552700"/>
          </a:xfrm>
          <a:prstGeom prst="roundRect">
            <a:avLst>
              <a:gd name="adj" fmla="val 4478"/>
            </a:avLst>
          </a:prstGeom>
          <a:solidFill>
            <a:srgbClr val="38BDF8">
              <a:alpha val="6000"/>
            </a:srgbClr>
          </a:solidFill>
          <a:ln w="12700">
            <a:solidFill>
              <a:srgbClr val="38BDF8"/>
            </a:solidFill>
            <a:prstDash val="solid"/>
          </a:ln>
        </p:spPr>
        <p:txBody>
          <a:bodyPr/>
          <a:p/>
        </p:txBody>
      </p:sp>
      <p:sp>
        <p:nvSpPr>
          <p:cNvPr id="2721" name="文本框 2720" descr="{&quot;isTemplate&quot;:true,&quot;type&quot;:&quot;text&quot;}"/>
          <p:cNvSpPr txBox="1"/>
          <p:nvPr/>
        </p:nvSpPr>
        <p:spPr>
          <a:xfrm>
            <a:off x="800100" y="3924300"/>
            <a:ext cx="10591800" cy="1905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38BDF8"/>
                </a:solidFill>
                <a:latin typeface="微软雅黑" panose="020B0503020204020204" charset="-122"/>
                <a:ea typeface="微软雅黑" panose="020B0503020204020204" charset="-122"/>
              </a:rPr>
              <a:t>分页是怎么实现的</a:t>
            </a:r>
            <a:endParaRPr lang="zh-CN" sz="1200" b="1">
              <a:solidFill>
                <a:srgbClr val="38BDF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722" name="文本框 2721" descr="{&quot;isTemplate&quot;:true,&quot;type&quot;:&quot;text&quot;}"/>
          <p:cNvSpPr txBox="1"/>
          <p:nvPr/>
        </p:nvSpPr>
        <p:spPr>
          <a:xfrm>
            <a:off x="800100" y="4210050"/>
            <a:ext cx="10591800" cy="2857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5000"/>
              </a:lnSpc>
            </a:pPr>
            <a:r>
              <a:rPr lang="en-US" sz="105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① </a:t>
            </a:r>
            <a:r>
              <a:rPr lang="zh-CN" sz="105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先</a:t>
            </a:r>
            <a:r>
              <a:rPr lang="en-US" sz="105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 select count(*) from (</a:t>
            </a:r>
            <a:r>
              <a:rPr lang="zh-CN" sz="105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原始</a:t>
            </a:r>
            <a:r>
              <a:rPr lang="en-US" sz="105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 SQL) as __tmp___ </a:t>
            </a:r>
            <a:r>
              <a:rPr lang="zh-CN" sz="105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算总数；②</a:t>
            </a:r>
            <a:r>
              <a:rPr lang="en-US" sz="105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 </a:t>
            </a:r>
            <a:r>
              <a:rPr lang="zh-CN" sz="105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再</a:t>
            </a:r>
            <a:r>
              <a:rPr lang="en-US" sz="105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 select * from (</a:t>
            </a:r>
            <a:r>
              <a:rPr lang="zh-CN" sz="105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原始</a:t>
            </a:r>
            <a:r>
              <a:rPr lang="en-US" sz="105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 SQL) as __tmp___ </a:t>
            </a:r>
            <a:r>
              <a:rPr lang="zh-CN" sz="105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加上</a:t>
            </a:r>
            <a:r>
              <a:rPr lang="en-US" sz="105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 limit / offset</a:t>
            </a:r>
            <a:r>
              <a:rPr lang="zh-CN" sz="105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。</a:t>
            </a:r>
            <a:endParaRPr lang="zh-CN" sz="1050">
              <a:solidFill>
                <a:srgbClr val="E2E8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723" name="文本框 2722" descr="{&quot;isTemplate&quot;:true,&quot;type&quot;:&quot;text&quot;}"/>
          <p:cNvSpPr txBox="1"/>
          <p:nvPr/>
        </p:nvSpPr>
        <p:spPr>
          <a:xfrm>
            <a:off x="800100" y="4572000"/>
            <a:ext cx="10591800" cy="2857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5000"/>
              </a:lnSpc>
            </a:pPr>
            <a:r>
              <a:rPr lang="en-US" sz="105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limit / offset </a:t>
            </a:r>
            <a:r>
              <a:rPr lang="zh-CN" sz="105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由方言（</a:t>
            </a:r>
            <a:r>
              <a:rPr lang="en-US" sz="105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Dialect</a:t>
            </a:r>
            <a:r>
              <a:rPr lang="zh-CN" sz="105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）生成</a:t>
            </a:r>
            <a:r>
              <a:rPr lang="en-US" sz="105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 —— </a:t>
            </a:r>
            <a:r>
              <a:rPr lang="zh-CN" sz="105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换数据库不用改代码。</a:t>
            </a:r>
            <a:endParaRPr lang="zh-CN" sz="1050">
              <a:solidFill>
                <a:srgbClr val="E2E8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724" name="文本框 2723" descr="{&quot;isTemplate&quot;:true,&quot;type&quot;:&quot;text&quot;}"/>
          <p:cNvSpPr txBox="1"/>
          <p:nvPr/>
        </p:nvSpPr>
        <p:spPr>
          <a:xfrm>
            <a:off x="800100" y="4933950"/>
            <a:ext cx="10591800" cy="2857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5000"/>
              </a:lnSpc>
            </a:pPr>
            <a:r>
              <a:rPr lang="en-US" sz="1050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Pagination&lt;T&gt; </a:t>
            </a:r>
            <a:r>
              <a:rPr lang="zh-CN" sz="1050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本身实现了</a:t>
            </a:r>
            <a:r>
              <a:rPr lang="en-US" sz="1050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 ObjectData</a:t>
            </a:r>
            <a:r>
              <a:rPr lang="zh-CN" sz="1050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，可以直接作为</a:t>
            </a:r>
            <a:r>
              <a:rPr lang="en-US" sz="1050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 PO </a:t>
            </a:r>
            <a:r>
              <a:rPr lang="zh-CN" sz="1050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的字段被序列化（</a:t>
            </a:r>
            <a:r>
              <a:rPr lang="en-US" sz="1050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fdemo </a:t>
            </a:r>
            <a:r>
              <a:rPr lang="zh-CN" sz="1050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的</a:t>
            </a:r>
            <a:r>
              <a:rPr lang="en-US" sz="1050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 UserList.fields </a:t>
            </a:r>
            <a:r>
              <a:rPr lang="zh-CN" sz="1050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就是</a:t>
            </a:r>
            <a:r>
              <a:rPr lang="en-US" sz="1050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 Pagination&lt;UserPO&gt;</a:t>
            </a:r>
            <a:r>
              <a:rPr lang="zh-CN" sz="1050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）。</a:t>
            </a:r>
            <a:endParaRPr lang="zh-CN" sz="1050">
              <a:solidFill>
                <a:srgbClr val="F59E0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725" name="任意多边形 2724"/>
          <p:cNvSpPr/>
          <p:nvPr/>
        </p:nvSpPr>
        <p:spPr>
          <a:xfrm>
            <a:off x="609600" y="6286500"/>
            <a:ext cx="10972800" cy="381000"/>
          </a:xfrm>
          <a:custGeom>
            <a:avLst/>
            <a:gdLst/>
            <a:ahLst/>
            <a:cxnLst/>
            <a:pathLst>
              <a:path w="1152" h="40">
                <a:moveTo>
                  <a:pt x="0" y="0"/>
                </a:moveTo>
                <a:lnTo>
                  <a:pt x="1152" y="0"/>
                </a:lnTo>
                <a:lnTo>
                  <a:pt x="1152" y="1"/>
                </a:lnTo>
                <a:lnTo>
                  <a:pt x="0" y="1"/>
                </a:lnTo>
                <a:close/>
              </a:path>
            </a:pathLst>
          </a:custGeom>
          <a:solidFill>
            <a:srgbClr val="1E293B"/>
          </a:solidFill>
        </p:spPr>
        <p:txBody>
          <a:bodyPr/>
          <a:p/>
        </p:txBody>
      </p:sp>
      <p:sp>
        <p:nvSpPr>
          <p:cNvPr id="2726" name="文本框 2725" descr="{&quot;isTemplate&quot;:true,&quot;type&quot;:&quot;text&quot;}"/>
          <p:cNvSpPr txBox="1"/>
          <p:nvPr/>
        </p:nvSpPr>
        <p:spPr>
          <a:xfrm>
            <a:off x="609600" y="6410325"/>
            <a:ext cx="2219325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fountain · 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一站式服务器应用开发工具库</a:t>
            </a:r>
            <a:endParaRPr lang="zh-CN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727" name="文本框 2726" descr="{&quot;isTemplate&quot;:true,&quot;type&quot;:&quot;text&quot;}"/>
          <p:cNvSpPr txBox="1"/>
          <p:nvPr/>
        </p:nvSpPr>
        <p:spPr>
          <a:xfrm>
            <a:off x="11087100" y="6410325"/>
            <a:ext cx="495300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82 / 116</a:t>
            </a:r>
            <a:endParaRPr lang="en-US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72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9" name="矩形 2728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220"/>
          </a:solidFill>
        </p:spPr>
        <p:txBody>
          <a:bodyPr/>
          <a:p/>
        </p:txBody>
      </p:sp>
      <p:sp>
        <p:nvSpPr>
          <p:cNvPr id="2730" name="矩形 2729"/>
          <p:cNvSpPr/>
          <p:nvPr/>
        </p:nvSpPr>
        <p:spPr>
          <a:xfrm>
            <a:off x="609600" y="476250"/>
            <a:ext cx="38100" cy="381000"/>
          </a:xfrm>
          <a:prstGeom prst="rect">
            <a:avLst/>
          </a:prstGeom>
          <a:solidFill>
            <a:srgbClr val="38BDF8"/>
          </a:solidFill>
        </p:spPr>
        <p:txBody>
          <a:bodyPr/>
          <a:p/>
        </p:txBody>
      </p:sp>
      <p:sp>
        <p:nvSpPr>
          <p:cNvPr id="2731" name="文本框 2730" descr="{&quot;isTemplate&quot;:true,&quot;type&quot;:&quot;text&quot;}"/>
          <p:cNvSpPr txBox="1"/>
          <p:nvPr/>
        </p:nvSpPr>
        <p:spPr>
          <a:xfrm>
            <a:off x="819150" y="304800"/>
            <a:ext cx="9344025" cy="2095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第</a:t>
            </a: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 12 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章</a:t>
            </a: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 · ORM f_orm · 12.5</a:t>
            </a:r>
            <a:endParaRPr lang="en-US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732" name="文本框 2731" descr="{&quot;isTemplate&quot;:true,&quot;type&quot;:&quot;text&quot;}"/>
          <p:cNvSpPr txBox="1"/>
          <p:nvPr/>
        </p:nvSpPr>
        <p:spPr>
          <a:xfrm>
            <a:off x="819150" y="514350"/>
            <a:ext cx="9344025" cy="5143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2550" b="1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事务的三种开启方式</a:t>
            </a:r>
            <a:endParaRPr lang="zh-CN" sz="2550" b="1">
              <a:solidFill>
                <a:srgbClr val="E2E8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733" name="文本框 2732" descr="{&quot;isTemplate&quot;:true,&quot;type&quot;:&quot;text&quot;}"/>
          <p:cNvSpPr txBox="1"/>
          <p:nvPr/>
        </p:nvSpPr>
        <p:spPr>
          <a:xfrm>
            <a:off x="10334625" y="590550"/>
            <a:ext cx="1247775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注解与配置是</a:t>
            </a: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 OR 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关系</a:t>
            </a:r>
            <a:endParaRPr lang="zh-CN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734" name="圆角矩形 2733"/>
          <p:cNvSpPr/>
          <p:nvPr/>
        </p:nvSpPr>
        <p:spPr>
          <a:xfrm>
            <a:off x="609600" y="1143000"/>
            <a:ext cx="5410200" cy="1752600"/>
          </a:xfrm>
          <a:prstGeom prst="roundRect">
            <a:avLst>
              <a:gd name="adj" fmla="val 6522"/>
            </a:avLst>
          </a:prstGeom>
          <a:solidFill>
            <a:srgbClr val="0B1220"/>
          </a:solidFill>
          <a:ln w="12700">
            <a:solidFill>
              <a:srgbClr val="38BDF8"/>
            </a:solidFill>
            <a:prstDash val="solid"/>
          </a:ln>
        </p:spPr>
        <p:txBody>
          <a:bodyPr/>
          <a:p/>
        </p:txBody>
      </p:sp>
      <p:sp>
        <p:nvSpPr>
          <p:cNvPr id="2735" name="文本框 2734" descr="{&quot;isTemplate&quot;:true,&quot;type&quot;:&quot;text&quot;}"/>
          <p:cNvSpPr txBox="1"/>
          <p:nvPr/>
        </p:nvSpPr>
        <p:spPr>
          <a:xfrm>
            <a:off x="781050" y="1314450"/>
            <a:ext cx="5067300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38BDF8"/>
                </a:solidFill>
                <a:latin typeface="微软雅黑" panose="020B0503020204020204" charset="-122"/>
                <a:ea typeface="微软雅黑" panose="020B0503020204020204" charset="-122"/>
              </a:rPr>
              <a:t>① </a:t>
            </a:r>
            <a:r>
              <a:rPr lang="zh-CN" sz="975">
                <a:solidFill>
                  <a:srgbClr val="38BDF8"/>
                </a:solidFill>
                <a:latin typeface="微软雅黑" panose="020B0503020204020204" charset="-122"/>
                <a:ea typeface="微软雅黑" panose="020B0503020204020204" charset="-122"/>
              </a:rPr>
              <a:t>注解</a:t>
            </a:r>
            <a:r>
              <a:rPr lang="en-US" sz="975">
                <a:solidFill>
                  <a:srgbClr val="38BDF8"/>
                </a:solidFill>
                <a:latin typeface="微软雅黑" panose="020B0503020204020204" charset="-122"/>
                <a:ea typeface="微软雅黑" panose="020B0503020204020204" charset="-122"/>
              </a:rPr>
              <a:t> @Transactional</a:t>
            </a:r>
            <a:endParaRPr lang="en-US" sz="975">
              <a:solidFill>
                <a:srgbClr val="38BDF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736" name="文本框 2735" descr="{&quot;isTemplate&quot;:true,&quot;type&quot;:&quot;text&quot;}"/>
          <p:cNvSpPr txBox="1"/>
          <p:nvPr/>
        </p:nvSpPr>
        <p:spPr>
          <a:xfrm>
            <a:off x="781050" y="1543050"/>
            <a:ext cx="5067300" cy="2381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en-US" sz="900">
                <a:solidFill>
                  <a:srgbClr val="E2E8F0"/>
                </a:solidFill>
                <a:latin typeface="JetBrains Mono"/>
                <a:ea typeface="JetBrains Mono"/>
              </a:rPr>
              <a:t>@Transactional[propagation: Propagation.RequiresNew,</a:t>
            </a:r>
            <a:endParaRPr lang="en-US" sz="900">
              <a:solidFill>
                <a:srgbClr val="E2E8F0"/>
              </a:solidFill>
              <a:latin typeface="JetBrains Mono"/>
              <a:ea typeface="JetBrains Mono"/>
            </a:endParaRPr>
          </a:p>
        </p:txBody>
      </p:sp>
      <p:sp>
        <p:nvSpPr>
          <p:cNvPr id="2737" name="文本框 2736" descr="{&quot;isTemplate&quot;:true,&quot;type&quot;:&quot;text&quot;}"/>
          <p:cNvSpPr txBox="1"/>
          <p:nvPr/>
        </p:nvSpPr>
        <p:spPr>
          <a:xfrm>
            <a:off x="781050" y="1781175"/>
            <a:ext cx="5067300" cy="2381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en-US" sz="900">
                <a:solidFill>
                  <a:srgbClr val="E2E8F0"/>
                </a:solidFill>
                <a:latin typeface="JetBrains Mono"/>
                <a:ea typeface="JetBrains Mono"/>
              </a:rPr>
              <a:t>               rollbackFor: 'fountain::f_exception::BizException']</a:t>
            </a:r>
            <a:endParaRPr lang="en-US" sz="900">
              <a:solidFill>
                <a:srgbClr val="E2E8F0"/>
              </a:solidFill>
              <a:latin typeface="JetBrains Mono"/>
              <a:ea typeface="JetBrains Mono"/>
            </a:endParaRPr>
          </a:p>
        </p:txBody>
      </p:sp>
      <p:sp>
        <p:nvSpPr>
          <p:cNvPr id="2738" name="文本框 2737" descr="{&quot;isTemplate&quot;:true,&quot;type&quot;:&quot;text&quot;}"/>
          <p:cNvSpPr txBox="1"/>
          <p:nvPr/>
        </p:nvSpPr>
        <p:spPr>
          <a:xfrm>
            <a:off x="781050" y="2019300"/>
            <a:ext cx="5067300" cy="2381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en-US" sz="900">
                <a:solidFill>
                  <a:srgbClr val="E2E8F0"/>
                </a:solidFill>
                <a:latin typeface="JetBrains Mono"/>
                <a:ea typeface="JetBrains Mono"/>
              </a:rPr>
              <a:t>public func transfer(from: Int64, to: Int64, amount: Decimal): Unit</a:t>
            </a:r>
            <a:endParaRPr lang="en-US" sz="900">
              <a:solidFill>
                <a:srgbClr val="E2E8F0"/>
              </a:solidFill>
              <a:latin typeface="JetBrains Mono"/>
              <a:ea typeface="JetBrains Mono"/>
            </a:endParaRPr>
          </a:p>
        </p:txBody>
      </p:sp>
      <p:sp>
        <p:nvSpPr>
          <p:cNvPr id="2739" name="文本框 2738" descr="{&quot;isTemplate&quot;:true,&quot;type&quot;:&quot;text&quot;}"/>
          <p:cNvSpPr txBox="1"/>
          <p:nvPr/>
        </p:nvSpPr>
        <p:spPr>
          <a:xfrm>
            <a:off x="781050" y="2257425"/>
            <a:ext cx="5067300" cy="466725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zh-CN" sz="900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参数七个：</a:t>
            </a:r>
            <a:r>
              <a:rPr lang="en-US" sz="900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driverName / propagation / isoLevel / accessMode / deferrableMode / rollbackFor / noRollbackFor</a:t>
            </a:r>
            <a:r>
              <a:rPr lang="zh-CN" sz="900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。</a:t>
            </a:r>
            <a:endParaRPr lang="zh-CN" sz="900">
              <a:solidFill>
                <a:srgbClr val="F59E0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740" name="圆角矩形 2739"/>
          <p:cNvSpPr/>
          <p:nvPr/>
        </p:nvSpPr>
        <p:spPr>
          <a:xfrm>
            <a:off x="6172200" y="1143000"/>
            <a:ext cx="5410200" cy="1428750"/>
          </a:xfrm>
          <a:prstGeom prst="roundRect">
            <a:avLst>
              <a:gd name="adj" fmla="val 8000"/>
            </a:avLst>
          </a:prstGeom>
          <a:solidFill>
            <a:srgbClr val="111C2E"/>
          </a:solidFill>
          <a:ln w="12700">
            <a:solidFill>
              <a:srgbClr val="F59E0B"/>
            </a:solidFill>
            <a:prstDash val="solid"/>
          </a:ln>
        </p:spPr>
        <p:txBody>
          <a:bodyPr/>
          <a:p/>
        </p:txBody>
      </p:sp>
      <p:sp>
        <p:nvSpPr>
          <p:cNvPr id="2741" name="文本框 2740" descr="{&quot;isTemplate&quot;:true,&quot;type&quot;:&quot;text&quot;}"/>
          <p:cNvSpPr txBox="1"/>
          <p:nvPr/>
        </p:nvSpPr>
        <p:spPr>
          <a:xfrm>
            <a:off x="6343650" y="1314450"/>
            <a:ext cx="5067300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两个参数别记混</a:t>
            </a:r>
            <a:endParaRPr lang="zh-CN" sz="975">
              <a:solidFill>
                <a:srgbClr val="F59E0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742" name="文本框 2741" descr="{&quot;isTemplate&quot;:true,&quot;type&quot;:&quot;text&quot;}"/>
          <p:cNvSpPr txBox="1"/>
          <p:nvPr/>
        </p:nvSpPr>
        <p:spPr>
          <a:xfrm>
            <a:off x="6343650" y="1543050"/>
            <a:ext cx="5067300" cy="2667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5000"/>
              </a:lnSpc>
            </a:pPr>
            <a:r>
              <a:rPr lang="en-US" sz="975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rollbackFor</a:t>
            </a:r>
            <a:r>
              <a:rPr lang="zh-CN" sz="975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：发生了它指定的异常才会回滚。</a:t>
            </a:r>
            <a:endParaRPr lang="zh-CN" sz="975">
              <a:solidFill>
                <a:srgbClr val="E2E8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743" name="文本框 2742" descr="{&quot;isTemplate&quot;:true,&quot;type&quot;:&quot;text&quot;}"/>
          <p:cNvSpPr txBox="1"/>
          <p:nvPr/>
        </p:nvSpPr>
        <p:spPr>
          <a:xfrm>
            <a:off x="6343650" y="1885950"/>
            <a:ext cx="5067300" cy="2667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5000"/>
              </a:lnSpc>
            </a:pPr>
            <a:r>
              <a:rPr lang="en-US" sz="975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noRollbackFor</a:t>
            </a:r>
            <a:r>
              <a:rPr lang="zh-CN" sz="975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：只有发生了它指定的异常才不回滚</a:t>
            </a:r>
            <a:r>
              <a:rPr lang="en-US" sz="975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 —— </a:t>
            </a:r>
            <a:r>
              <a:rPr lang="zh-CN" sz="975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其他异常照常回滚。</a:t>
            </a:r>
            <a:endParaRPr lang="zh-CN" sz="975">
              <a:solidFill>
                <a:srgbClr val="E2E8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744" name="圆角矩形 2743"/>
          <p:cNvSpPr/>
          <p:nvPr/>
        </p:nvSpPr>
        <p:spPr>
          <a:xfrm>
            <a:off x="609600" y="2705100"/>
            <a:ext cx="10972800" cy="1466850"/>
          </a:xfrm>
          <a:prstGeom prst="roundRect">
            <a:avLst>
              <a:gd name="adj" fmla="val 7792"/>
            </a:avLst>
          </a:prstGeom>
          <a:solidFill>
            <a:srgbClr val="0B1220"/>
          </a:solidFill>
          <a:ln w="12700">
            <a:solidFill>
              <a:srgbClr val="1E293B"/>
            </a:solidFill>
            <a:prstDash val="solid"/>
          </a:ln>
        </p:spPr>
        <p:txBody>
          <a:bodyPr/>
          <a:p/>
        </p:txBody>
      </p:sp>
      <p:sp>
        <p:nvSpPr>
          <p:cNvPr id="2745" name="文本框 2744" descr="{&quot;isTemplate&quot;:true,&quot;type&quot;:&quot;text&quot;}"/>
          <p:cNvSpPr txBox="1"/>
          <p:nvPr/>
        </p:nvSpPr>
        <p:spPr>
          <a:xfrm>
            <a:off x="781050" y="2876550"/>
            <a:ext cx="10629900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② 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配置驱动（批量织入，无需逐个加注解）</a:t>
            </a:r>
            <a:endParaRPr lang="zh-CN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746" name="文本框 2745" descr="{&quot;isTemplate&quot;:true,&quot;type&quot;:&quot;text&quot;}"/>
          <p:cNvSpPr txBox="1"/>
          <p:nvPr/>
        </p:nvSpPr>
        <p:spPr>
          <a:xfrm>
            <a:off x="781050" y="3105150"/>
            <a:ext cx="10629900" cy="2381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en-US" sz="900">
                <a:solidFill>
                  <a:srgbClr val="E2E8F0"/>
                </a:solidFill>
                <a:latin typeface="JetBrains Mono"/>
                <a:ea typeface="JetBrains Mono"/>
              </a:rPr>
              <a:t>export orm_transactionalFuncExecution='*::*..*ServiceImpl.del*(**): *'</a:t>
            </a:r>
            <a:endParaRPr lang="en-US" sz="900">
              <a:solidFill>
                <a:srgbClr val="E2E8F0"/>
              </a:solidFill>
              <a:latin typeface="JetBrains Mono"/>
              <a:ea typeface="JetBrains Mono"/>
            </a:endParaRPr>
          </a:p>
        </p:txBody>
      </p:sp>
      <p:sp>
        <p:nvSpPr>
          <p:cNvPr id="2747" name="文本框 2746" descr="{&quot;isTemplate&quot;:true,&quot;type&quot;:&quot;text&quot;}"/>
          <p:cNvSpPr txBox="1"/>
          <p:nvPr/>
        </p:nvSpPr>
        <p:spPr>
          <a:xfrm>
            <a:off x="781050" y="3343275"/>
            <a:ext cx="10629900" cy="2381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en-US" sz="900">
                <a:solidFill>
                  <a:srgbClr val="E2E8F0"/>
                </a:solidFill>
                <a:latin typeface="JetBrains Mono"/>
                <a:ea typeface="JetBrains Mono"/>
              </a:rPr>
              <a:t>export orm_transactionalFuncExecution="$orm_transactionalFuncExecution|*::*..*ServiceImpl.insert*(**): *"</a:t>
            </a:r>
            <a:endParaRPr lang="en-US" sz="900">
              <a:solidFill>
                <a:srgbClr val="E2E8F0"/>
              </a:solidFill>
              <a:latin typeface="JetBrains Mono"/>
              <a:ea typeface="JetBrains Mono"/>
            </a:endParaRPr>
          </a:p>
        </p:txBody>
      </p:sp>
      <p:sp>
        <p:nvSpPr>
          <p:cNvPr id="2748" name="文本框 2747" descr="{&quot;isTemplate&quot;:true,&quot;type&quot;:&quot;text&quot;}"/>
          <p:cNvSpPr txBox="1"/>
          <p:nvPr/>
        </p:nvSpPr>
        <p:spPr>
          <a:xfrm>
            <a:off x="781050" y="3581400"/>
            <a:ext cx="10629900" cy="2381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en-US" sz="900">
                <a:solidFill>
                  <a:srgbClr val="94A3B8"/>
                </a:solidFill>
                <a:latin typeface="JetBrains Mono"/>
                <a:ea typeface="JetBrains Mono"/>
              </a:rPr>
              <a:t>... |save* |register* |*..*.userSession(**): *</a:t>
            </a:r>
            <a:endParaRPr lang="en-US" sz="900">
              <a:solidFill>
                <a:srgbClr val="94A3B8"/>
              </a:solidFill>
              <a:latin typeface="JetBrains Mono"/>
              <a:ea typeface="JetBrains Mono"/>
            </a:endParaRPr>
          </a:p>
        </p:txBody>
      </p:sp>
      <p:sp>
        <p:nvSpPr>
          <p:cNvPr id="2749" name="文本框 2748" descr="{&quot;isTemplate&quot;:true,&quot;type&quot;:&quot;text&quot;}"/>
          <p:cNvSpPr txBox="1"/>
          <p:nvPr/>
        </p:nvSpPr>
        <p:spPr>
          <a:xfrm>
            <a:off x="781050" y="3762375"/>
            <a:ext cx="10629900" cy="2381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zh-CN" sz="900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注解与配置是</a:t>
            </a:r>
            <a:r>
              <a:rPr lang="en-US" sz="900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 OR </a:t>
            </a:r>
            <a:r>
              <a:rPr lang="zh-CN" sz="900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关系：只要有一个命中，事务切面就织入。</a:t>
            </a:r>
            <a:r>
              <a:rPr lang="en-US" sz="900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fdemo </a:t>
            </a:r>
            <a:r>
              <a:rPr lang="zh-CN" sz="900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里</a:t>
            </a:r>
            <a:r>
              <a:rPr lang="en-US" sz="900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 sayHello </a:t>
            </a:r>
            <a:r>
              <a:rPr lang="zh-CN" sz="900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那行是被注释掉的</a:t>
            </a:r>
            <a:r>
              <a:rPr lang="en-US" sz="900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 —— </a:t>
            </a:r>
            <a:r>
              <a:rPr lang="zh-CN" sz="900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现场打开看事务日志。</a:t>
            </a:r>
            <a:endParaRPr lang="zh-CN" sz="900">
              <a:solidFill>
                <a:srgbClr val="F59E0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750" name="圆角矩形 2749"/>
          <p:cNvSpPr/>
          <p:nvPr/>
        </p:nvSpPr>
        <p:spPr>
          <a:xfrm>
            <a:off x="609600" y="4305300"/>
            <a:ext cx="10972800" cy="1981200"/>
          </a:xfrm>
          <a:prstGeom prst="roundRect">
            <a:avLst>
              <a:gd name="adj" fmla="val 5769"/>
            </a:avLst>
          </a:prstGeom>
          <a:solidFill>
            <a:srgbClr val="0B1220"/>
          </a:solidFill>
          <a:ln w="12700">
            <a:solidFill>
              <a:srgbClr val="1E293B"/>
            </a:solidFill>
            <a:prstDash val="solid"/>
          </a:ln>
        </p:spPr>
        <p:txBody>
          <a:bodyPr/>
          <a:p/>
        </p:txBody>
      </p:sp>
      <p:sp>
        <p:nvSpPr>
          <p:cNvPr id="2751" name="文本框 2750" descr="{&quot;isTemplate&quot;:true,&quot;type&quot;:&quot;text&quot;}"/>
          <p:cNvSpPr txBox="1"/>
          <p:nvPr/>
        </p:nvSpPr>
        <p:spPr>
          <a:xfrm>
            <a:off x="781050" y="4476750"/>
            <a:ext cx="10629900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③ 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编程式：</a:t>
            </a: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execute 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模板</a:t>
            </a:r>
            <a:endParaRPr lang="zh-CN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752" name="文本框 2751" descr="{&quot;isTemplate&quot;:true,&quot;type&quot;:&quot;text&quot;}"/>
          <p:cNvSpPr txBox="1"/>
          <p:nvPr/>
        </p:nvSpPr>
        <p:spPr>
          <a:xfrm>
            <a:off x="781050" y="4705350"/>
            <a:ext cx="10629900" cy="2381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en-US" sz="900">
                <a:solidFill>
                  <a:srgbClr val="E2E8F0"/>
                </a:solidFill>
                <a:latin typeface="JetBrains Mono"/>
                <a:ea typeface="JetBrains Mono"/>
              </a:rPr>
              <a:t>executor.execute&lt;Int64&gt;(propagation: Propagation.Required, isoLevel: None,</a:t>
            </a:r>
            <a:endParaRPr lang="en-US" sz="900">
              <a:solidFill>
                <a:srgbClr val="E2E8F0"/>
              </a:solidFill>
              <a:latin typeface="JetBrains Mono"/>
              <a:ea typeface="JetBrains Mono"/>
            </a:endParaRPr>
          </a:p>
        </p:txBody>
      </p:sp>
      <p:sp>
        <p:nvSpPr>
          <p:cNvPr id="2753" name="文本框 2752" descr="{&quot;isTemplate&quot;:true,&quot;type&quot;:&quot;text&quot;}"/>
          <p:cNvSpPr txBox="1"/>
          <p:nvPr/>
        </p:nvSpPr>
        <p:spPr>
          <a:xfrm>
            <a:off x="781050" y="4943475"/>
            <a:ext cx="10629900" cy="2381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en-US" sz="900">
                <a:solidFill>
                  <a:srgbClr val="E2E8F0"/>
                </a:solidFill>
                <a:latin typeface="JetBrains Mono"/>
                <a:ea typeface="JetBrains Mono"/>
              </a:rPr>
              <a:t>    noRollbackFor: 'fountain::f_bean::BeanException', rollbackFor: '')({ exec =&gt;</a:t>
            </a:r>
            <a:endParaRPr lang="en-US" sz="900">
              <a:solidFill>
                <a:srgbClr val="E2E8F0"/>
              </a:solidFill>
              <a:latin typeface="JetBrains Mono"/>
              <a:ea typeface="JetBrains Mono"/>
            </a:endParaRPr>
          </a:p>
        </p:txBody>
      </p:sp>
      <p:sp>
        <p:nvSpPr>
          <p:cNvPr id="2754" name="文本框 2753" descr="{&quot;isTemplate&quot;:true,&quot;type&quot;:&quot;text&quot;}"/>
          <p:cNvSpPr txBox="1"/>
          <p:nvPr/>
        </p:nvSpPr>
        <p:spPr>
          <a:xfrm>
            <a:off x="781050" y="5181600"/>
            <a:ext cx="10629900" cy="2381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en-US" sz="900">
                <a:solidFill>
                  <a:srgbClr val="38BDF8"/>
                </a:solidFill>
                <a:latin typeface="JetBrains Mono"/>
                <a:ea typeface="JetBrains Mono"/>
              </a:rPr>
              <a:t>    exec.setSql('...').update</a:t>
            </a:r>
            <a:endParaRPr lang="en-US" sz="900">
              <a:solidFill>
                <a:srgbClr val="38BDF8"/>
              </a:solidFill>
              <a:latin typeface="JetBrains Mono"/>
              <a:ea typeface="JetBrains Mono"/>
            </a:endParaRPr>
          </a:p>
        </p:txBody>
      </p:sp>
      <p:sp>
        <p:nvSpPr>
          <p:cNvPr id="2755" name="文本框 2754" descr="{&quot;isTemplate&quot;:true,&quot;type&quot;:&quot;text&quot;}"/>
          <p:cNvSpPr txBox="1"/>
          <p:nvPr/>
        </p:nvSpPr>
        <p:spPr>
          <a:xfrm>
            <a:off x="781050" y="5419725"/>
            <a:ext cx="10629900" cy="2381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en-US" sz="900">
                <a:solidFill>
                  <a:srgbClr val="F59E0B"/>
                </a:solidFill>
                <a:latin typeface="JetBrains Mono"/>
                <a:ea typeface="JetBrains Mono"/>
              </a:rPr>
              <a:t>    1     // </a:t>
            </a:r>
            <a:r>
              <a:rPr lang="zh-CN" sz="900">
                <a:solidFill>
                  <a:srgbClr val="F59E0B"/>
                </a:solidFill>
                <a:latin typeface="JetBrains Mono"/>
                <a:ea typeface="JetBrains Mono"/>
              </a:rPr>
              <a:t>闭包返回</a:t>
            </a:r>
            <a:r>
              <a:rPr lang="en-US" sz="900">
                <a:solidFill>
                  <a:srgbClr val="F59E0B"/>
                </a:solidFill>
                <a:latin typeface="JetBrains Mono"/>
                <a:ea typeface="JetBrains Mono"/>
              </a:rPr>
              <a:t> (T, Bool)</a:t>
            </a:r>
            <a:r>
              <a:rPr lang="zh-CN" sz="900">
                <a:solidFill>
                  <a:srgbClr val="F59E0B"/>
                </a:solidFill>
                <a:latin typeface="JetBrains Mono"/>
                <a:ea typeface="JetBrains Mono"/>
              </a:rPr>
              <a:t>：</a:t>
            </a:r>
            <a:r>
              <a:rPr lang="en-US" sz="900">
                <a:solidFill>
                  <a:srgbClr val="F59E0B"/>
                </a:solidFill>
                <a:latin typeface="JetBrains Mono"/>
                <a:ea typeface="JetBrains Mono"/>
              </a:rPr>
              <a:t>true </a:t>
            </a:r>
            <a:r>
              <a:rPr lang="zh-CN" sz="900">
                <a:solidFill>
                  <a:srgbClr val="F59E0B"/>
                </a:solidFill>
                <a:latin typeface="JetBrains Mono"/>
                <a:ea typeface="JetBrains Mono"/>
              </a:rPr>
              <a:t>提交，</a:t>
            </a:r>
            <a:r>
              <a:rPr lang="en-US" sz="900">
                <a:solidFill>
                  <a:srgbClr val="F59E0B"/>
                </a:solidFill>
                <a:latin typeface="JetBrains Mono"/>
                <a:ea typeface="JetBrains Mono"/>
              </a:rPr>
              <a:t>false </a:t>
            </a:r>
            <a:r>
              <a:rPr lang="zh-CN" sz="900">
                <a:solidFill>
                  <a:srgbClr val="F59E0B"/>
                </a:solidFill>
                <a:latin typeface="JetBrains Mono"/>
                <a:ea typeface="JetBrains Mono"/>
              </a:rPr>
              <a:t>抛异常并回滚</a:t>
            </a:r>
            <a:endParaRPr lang="zh-CN" sz="900">
              <a:solidFill>
                <a:srgbClr val="F59E0B"/>
              </a:solidFill>
              <a:latin typeface="JetBrains Mono"/>
              <a:ea typeface="JetBrains Mono"/>
            </a:endParaRPr>
          </a:p>
        </p:txBody>
      </p:sp>
      <p:sp>
        <p:nvSpPr>
          <p:cNvPr id="2756" name="文本框 2755" descr="{&quot;isTemplate&quot;:true,&quot;type&quot;:&quot;text&quot;}"/>
          <p:cNvSpPr txBox="1"/>
          <p:nvPr/>
        </p:nvSpPr>
        <p:spPr>
          <a:xfrm>
            <a:off x="781050" y="5657850"/>
            <a:ext cx="10629900" cy="2381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en-US" sz="900">
                <a:solidFill>
                  <a:srgbClr val="38BDF8"/>
                </a:solidFill>
                <a:latin typeface="JetBrains Mono"/>
                <a:ea typeface="JetBrains Mono"/>
              </a:rPr>
              <a:t>})</a:t>
            </a:r>
            <a:endParaRPr lang="en-US" sz="900">
              <a:solidFill>
                <a:srgbClr val="38BDF8"/>
              </a:solidFill>
              <a:latin typeface="JetBrains Mono"/>
              <a:ea typeface="JetBrains Mono"/>
            </a:endParaRPr>
          </a:p>
        </p:txBody>
      </p:sp>
      <p:sp>
        <p:nvSpPr>
          <p:cNvPr id="2757" name="任意多边形 2756"/>
          <p:cNvSpPr/>
          <p:nvPr/>
        </p:nvSpPr>
        <p:spPr>
          <a:xfrm>
            <a:off x="609600" y="6286500"/>
            <a:ext cx="10972800" cy="381000"/>
          </a:xfrm>
          <a:custGeom>
            <a:avLst/>
            <a:gdLst/>
            <a:ahLst/>
            <a:cxnLst/>
            <a:pathLst>
              <a:path w="1152" h="40">
                <a:moveTo>
                  <a:pt x="0" y="0"/>
                </a:moveTo>
                <a:lnTo>
                  <a:pt x="1152" y="0"/>
                </a:lnTo>
                <a:lnTo>
                  <a:pt x="1152" y="1"/>
                </a:lnTo>
                <a:lnTo>
                  <a:pt x="0" y="1"/>
                </a:lnTo>
                <a:close/>
              </a:path>
            </a:pathLst>
          </a:custGeom>
          <a:solidFill>
            <a:srgbClr val="1E293B"/>
          </a:solidFill>
        </p:spPr>
        <p:txBody>
          <a:bodyPr/>
          <a:p/>
        </p:txBody>
      </p:sp>
      <p:sp>
        <p:nvSpPr>
          <p:cNvPr id="2758" name="文本框 2757" descr="{&quot;isTemplate&quot;:true,&quot;type&quot;:&quot;text&quot;}"/>
          <p:cNvSpPr txBox="1"/>
          <p:nvPr/>
        </p:nvSpPr>
        <p:spPr>
          <a:xfrm>
            <a:off x="609600" y="6410325"/>
            <a:ext cx="2219325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fountain · 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一站式服务器应用开发工具库</a:t>
            </a:r>
            <a:endParaRPr lang="zh-CN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759" name="文本框 2758" descr="{&quot;isTemplate&quot;:true,&quot;type&quot;:&quot;text&quot;}"/>
          <p:cNvSpPr txBox="1"/>
          <p:nvPr/>
        </p:nvSpPr>
        <p:spPr>
          <a:xfrm>
            <a:off x="11087100" y="6410325"/>
            <a:ext cx="495300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83 / 116</a:t>
            </a:r>
            <a:endParaRPr lang="en-US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76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1" name="矩形 276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220"/>
          </a:solidFill>
        </p:spPr>
        <p:txBody>
          <a:bodyPr/>
          <a:p/>
        </p:txBody>
      </p:sp>
      <p:sp>
        <p:nvSpPr>
          <p:cNvPr id="2762" name="矩形 2761"/>
          <p:cNvSpPr/>
          <p:nvPr/>
        </p:nvSpPr>
        <p:spPr>
          <a:xfrm>
            <a:off x="609600" y="476250"/>
            <a:ext cx="38100" cy="381000"/>
          </a:xfrm>
          <a:prstGeom prst="rect">
            <a:avLst/>
          </a:prstGeom>
          <a:solidFill>
            <a:srgbClr val="38BDF8"/>
          </a:solidFill>
        </p:spPr>
        <p:txBody>
          <a:bodyPr/>
          <a:p/>
        </p:txBody>
      </p:sp>
      <p:sp>
        <p:nvSpPr>
          <p:cNvPr id="2763" name="文本框 2762" descr="{&quot;isTemplate&quot;:true,&quot;type&quot;:&quot;text&quot;}"/>
          <p:cNvSpPr txBox="1"/>
          <p:nvPr/>
        </p:nvSpPr>
        <p:spPr>
          <a:xfrm>
            <a:off x="819150" y="304800"/>
            <a:ext cx="9772650" cy="2095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第</a:t>
            </a: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 12 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章</a:t>
            </a: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 · ORM f_orm · 12.5 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续</a:t>
            </a:r>
            <a:endParaRPr lang="zh-CN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764" name="文本框 2763" descr="{&quot;isTemplate&quot;:true,&quot;type&quot;:&quot;text&quot;}"/>
          <p:cNvSpPr txBox="1"/>
          <p:nvPr/>
        </p:nvSpPr>
        <p:spPr>
          <a:xfrm>
            <a:off x="819150" y="514350"/>
            <a:ext cx="9772650" cy="5143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2550" b="1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传播行为：七种语义</a:t>
            </a:r>
            <a:endParaRPr lang="zh-CN" sz="2550" b="1">
              <a:solidFill>
                <a:srgbClr val="E2E8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765" name="文本框 2764" descr="{&quot;isTemplate&quot;:true,&quot;type&quot;:&quot;text&quot;}"/>
          <p:cNvSpPr txBox="1"/>
          <p:nvPr/>
        </p:nvSpPr>
        <p:spPr>
          <a:xfrm>
            <a:off x="10763250" y="590550"/>
            <a:ext cx="819150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默认</a:t>
            </a: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 Required</a:t>
            </a:r>
            <a:endParaRPr lang="en-US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graphicFrame>
        <p:nvGraphicFramePr>
          <p:cNvPr id="2766" name="表格 2765"/>
          <p:cNvGraphicFramePr/>
          <p:nvPr/>
        </p:nvGraphicFramePr>
        <p:xfrm>
          <a:off x="609600" y="1143000"/>
          <a:ext cx="10972800" cy="3905250"/>
        </p:xfrm>
        <a:graphic>
          <a:graphicData uri="http://schemas.openxmlformats.org/drawingml/2006/table">
            <a:tbl>
              <a:tblPr/>
              <a:tblGrid>
                <a:gridCol w="2609773"/>
                <a:gridCol w="8363027"/>
              </a:tblGrid>
              <a:tr h="460009"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 b="1">
                          <a:solidFill>
                            <a:srgbClr val="22D3EE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Propagation</a:t>
                      </a:r>
                      <a:endParaRPr sz="975" b="1">
                        <a:solidFill>
                          <a:srgbClr val="22D3EE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6233A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 b="1">
                          <a:solidFill>
                            <a:srgbClr val="22D3EE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语义</a:t>
                      </a:r>
                      <a:endParaRPr sz="975" b="1">
                        <a:solidFill>
                          <a:srgbClr val="22D3EE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6233A"/>
                    </a:solidFill>
                  </a:tcPr>
                </a:tc>
              </a:tr>
              <a:tr h="492177"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50" b="1">
                          <a:solidFill>
                            <a:srgbClr val="F59E0B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Required</a:t>
                      </a:r>
                      <a:endParaRPr sz="1050" b="1">
                        <a:solidFill>
                          <a:srgbClr val="F59E0B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50">
                          <a:solidFill>
                            <a:srgbClr val="F59E0B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有则沿用，无则新建（默认）</a:t>
                      </a:r>
                      <a:endParaRPr sz="1050">
                        <a:solidFill>
                          <a:srgbClr val="F59E0B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492177"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50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Supports</a:t>
                      </a:r>
                      <a:endParaRPr sz="1050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50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有则沿用，无则不用事务</a:t>
                      </a:r>
                      <a:endParaRPr sz="1050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492177"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50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Mandatory</a:t>
                      </a:r>
                      <a:endParaRPr sz="1050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50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有则沿用，无则抛 MandatoryTransactionException</a:t>
                      </a:r>
                      <a:endParaRPr sz="1050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492177"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50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RequiresNew</a:t>
                      </a:r>
                      <a:endParaRPr sz="1050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50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外层有事务则新取连接开新事务</a:t>
                      </a:r>
                      <a:endParaRPr sz="1050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492177"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50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Never</a:t>
                      </a:r>
                      <a:endParaRPr sz="1050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50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不用事务，外层有则抛 NeverTransactionException</a:t>
                      </a:r>
                      <a:endParaRPr sz="1050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492177"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50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NotSupported</a:t>
                      </a:r>
                      <a:endParaRPr sz="1050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50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不用事务，外层有事务则新取连接执行</a:t>
                      </a:r>
                      <a:endParaRPr sz="1050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492177"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50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Nested</a:t>
                      </a:r>
                      <a:endParaRPr sz="1050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50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外层有事务则开内嵌事务</a:t>
                      </a:r>
                      <a:endParaRPr sz="1050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</a:tbl>
          </a:graphicData>
        </a:graphic>
      </p:graphicFrame>
      <p:sp>
        <p:nvSpPr>
          <p:cNvPr id="2767" name="圆角矩形 2766"/>
          <p:cNvSpPr/>
          <p:nvPr/>
        </p:nvSpPr>
        <p:spPr>
          <a:xfrm>
            <a:off x="609600" y="5181600"/>
            <a:ext cx="10972800" cy="1104900"/>
          </a:xfrm>
          <a:prstGeom prst="roundRect">
            <a:avLst>
              <a:gd name="adj" fmla="val 10345"/>
            </a:avLst>
          </a:prstGeom>
          <a:solidFill>
            <a:srgbClr val="38BDF8">
              <a:alpha val="6000"/>
            </a:srgbClr>
          </a:solidFill>
          <a:ln w="12700">
            <a:solidFill>
              <a:srgbClr val="38BDF8"/>
            </a:solidFill>
            <a:prstDash val="solid"/>
          </a:ln>
        </p:spPr>
        <p:txBody>
          <a:bodyPr/>
          <a:p/>
        </p:txBody>
      </p:sp>
      <p:sp>
        <p:nvSpPr>
          <p:cNvPr id="2768" name="文本框 2767" descr="{&quot;isTemplate&quot;:true,&quot;type&quot;:&quot;text&quot;}"/>
          <p:cNvSpPr txBox="1"/>
          <p:nvPr/>
        </p:nvSpPr>
        <p:spPr>
          <a:xfrm>
            <a:off x="781050" y="5353050"/>
            <a:ext cx="10629900" cy="1714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38BDF8"/>
                </a:solidFill>
                <a:latin typeface="微软雅黑" panose="020B0503020204020204" charset="-122"/>
                <a:ea typeface="微软雅黑" panose="020B0503020204020204" charset="-122"/>
              </a:rPr>
              <a:t>默认值可以全局配</a:t>
            </a:r>
            <a:endParaRPr lang="zh-CN" sz="1125" b="1">
              <a:solidFill>
                <a:srgbClr val="38BDF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769" name="文本框 2768" descr="{&quot;isTemplate&quot;:true,&quot;type&quot;:&quot;text&quot;}"/>
          <p:cNvSpPr txBox="1"/>
          <p:nvPr/>
        </p:nvSpPr>
        <p:spPr>
          <a:xfrm>
            <a:off x="781050" y="5600700"/>
            <a:ext cx="10629900" cy="2571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en-US" sz="975">
                <a:solidFill>
                  <a:srgbClr val="E2E8F0"/>
                </a:solidFill>
                <a:latin typeface="JetBrains Mono"/>
                <a:ea typeface="JetBrains Mono"/>
              </a:rPr>
              <a:t>orm_transactionPropagation=Required</a:t>
            </a:r>
            <a:r>
              <a:rPr lang="zh-CN" sz="975">
                <a:solidFill>
                  <a:srgbClr val="E2E8F0"/>
                </a:solidFill>
                <a:latin typeface="JetBrains Mono"/>
                <a:ea typeface="JetBrains Mono"/>
              </a:rPr>
              <a:t>　·　</a:t>
            </a:r>
            <a:r>
              <a:rPr lang="en-US" sz="975">
                <a:solidFill>
                  <a:srgbClr val="E2E8F0"/>
                </a:solidFill>
                <a:latin typeface="JetBrains Mono"/>
                <a:ea typeface="JetBrains Mono"/>
              </a:rPr>
              <a:t>orm_transactionLevel=ReadCommitted</a:t>
            </a:r>
            <a:r>
              <a:rPr lang="zh-CN" sz="975">
                <a:solidFill>
                  <a:srgbClr val="E2E8F0"/>
                </a:solidFill>
                <a:latin typeface="JetBrains Mono"/>
                <a:ea typeface="JetBrains Mono"/>
              </a:rPr>
              <a:t>　·　</a:t>
            </a:r>
            <a:r>
              <a:rPr lang="en-US" sz="975">
                <a:solidFill>
                  <a:srgbClr val="E2E8F0"/>
                </a:solidFill>
                <a:latin typeface="JetBrains Mono"/>
                <a:ea typeface="JetBrains Mono"/>
              </a:rPr>
              <a:t>orm_transactionAccessMode=ReadWrite</a:t>
            </a:r>
            <a:endParaRPr lang="en-US" sz="975">
              <a:solidFill>
                <a:srgbClr val="E2E8F0"/>
              </a:solidFill>
              <a:latin typeface="JetBrains Mono"/>
              <a:ea typeface="JetBrains Mono"/>
            </a:endParaRPr>
          </a:p>
        </p:txBody>
      </p:sp>
      <p:sp>
        <p:nvSpPr>
          <p:cNvPr id="2770" name="文本框 2769" descr="{&quot;isTemplate&quot;:true,&quot;type&quot;:&quot;text&quot;}"/>
          <p:cNvSpPr txBox="1"/>
          <p:nvPr/>
        </p:nvSpPr>
        <p:spPr>
          <a:xfrm>
            <a:off x="781050" y="5857875"/>
            <a:ext cx="10629900" cy="2571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zh-CN" sz="97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还有</a:t>
            </a:r>
            <a:r>
              <a:rPr lang="en-US" sz="97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orm_transactionRollbackFor </a:t>
            </a:r>
            <a:r>
              <a:rPr lang="zh-CN" sz="97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与</a:t>
            </a:r>
            <a:r>
              <a:rPr lang="en-US" sz="97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orm_transactionNoRollbackFor</a:t>
            </a:r>
            <a:r>
              <a:rPr lang="zh-CN" sz="97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。团队规范落地方式：全局配好默认值，个别方法用注解覆盖。</a:t>
            </a:r>
            <a:endParaRPr lang="zh-CN" sz="975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771" name="任意多边形 2770"/>
          <p:cNvSpPr/>
          <p:nvPr/>
        </p:nvSpPr>
        <p:spPr>
          <a:xfrm>
            <a:off x="609600" y="6286500"/>
            <a:ext cx="10972800" cy="381000"/>
          </a:xfrm>
          <a:custGeom>
            <a:avLst/>
            <a:gdLst/>
            <a:ahLst/>
            <a:cxnLst/>
            <a:pathLst>
              <a:path w="1152" h="40">
                <a:moveTo>
                  <a:pt x="0" y="0"/>
                </a:moveTo>
                <a:lnTo>
                  <a:pt x="1152" y="0"/>
                </a:lnTo>
                <a:lnTo>
                  <a:pt x="1152" y="1"/>
                </a:lnTo>
                <a:lnTo>
                  <a:pt x="0" y="1"/>
                </a:lnTo>
                <a:close/>
              </a:path>
            </a:pathLst>
          </a:custGeom>
          <a:solidFill>
            <a:srgbClr val="1E293B"/>
          </a:solidFill>
        </p:spPr>
        <p:txBody>
          <a:bodyPr/>
          <a:p/>
        </p:txBody>
      </p:sp>
      <p:sp>
        <p:nvSpPr>
          <p:cNvPr id="2772" name="文本框 2771" descr="{&quot;isTemplate&quot;:true,&quot;type&quot;:&quot;text&quot;}"/>
          <p:cNvSpPr txBox="1"/>
          <p:nvPr/>
        </p:nvSpPr>
        <p:spPr>
          <a:xfrm>
            <a:off x="609600" y="6410325"/>
            <a:ext cx="2219325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fountain · 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一站式服务器应用开发工具库</a:t>
            </a:r>
            <a:endParaRPr lang="zh-CN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773" name="文本框 2772" descr="{&quot;isTemplate&quot;:true,&quot;type&quot;:&quot;text&quot;}"/>
          <p:cNvSpPr txBox="1"/>
          <p:nvPr/>
        </p:nvSpPr>
        <p:spPr>
          <a:xfrm>
            <a:off x="11087100" y="6410325"/>
            <a:ext cx="495300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84 / 116</a:t>
            </a:r>
            <a:endParaRPr lang="en-US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77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5" name="矩形 2774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220"/>
          </a:solidFill>
        </p:spPr>
        <p:txBody>
          <a:bodyPr/>
          <a:p/>
        </p:txBody>
      </p:sp>
      <p:sp>
        <p:nvSpPr>
          <p:cNvPr id="2776" name="矩形 2775"/>
          <p:cNvSpPr/>
          <p:nvPr/>
        </p:nvSpPr>
        <p:spPr>
          <a:xfrm>
            <a:off x="609600" y="476250"/>
            <a:ext cx="38100" cy="381000"/>
          </a:xfrm>
          <a:prstGeom prst="rect">
            <a:avLst/>
          </a:prstGeom>
          <a:solidFill>
            <a:srgbClr val="38BDF8"/>
          </a:solidFill>
        </p:spPr>
        <p:txBody>
          <a:bodyPr/>
          <a:p/>
        </p:txBody>
      </p:sp>
      <p:sp>
        <p:nvSpPr>
          <p:cNvPr id="2777" name="文本框 2776" descr="{&quot;isTemplate&quot;:true,&quot;type&quot;:&quot;text&quot;}"/>
          <p:cNvSpPr txBox="1"/>
          <p:nvPr/>
        </p:nvSpPr>
        <p:spPr>
          <a:xfrm>
            <a:off x="819150" y="304800"/>
            <a:ext cx="9477375" cy="2095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第</a:t>
            </a: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 12 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章</a:t>
            </a: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 · ORM f_orm · 12.5 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续</a:t>
            </a:r>
            <a:endParaRPr lang="zh-CN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778" name="文本框 2777" descr="{&quot;isTemplate&quot;:true,&quot;type&quot;:&quot;text&quot;}"/>
          <p:cNvSpPr txBox="1"/>
          <p:nvPr/>
        </p:nvSpPr>
        <p:spPr>
          <a:xfrm>
            <a:off x="819150" y="514350"/>
            <a:ext cx="9477375" cy="5143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2550" b="1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事务钩子与调用顺序</a:t>
            </a:r>
            <a:endParaRPr lang="zh-CN" sz="2550" b="1">
              <a:solidFill>
                <a:srgbClr val="E2E8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779" name="文本框 2778" descr="{&quot;isTemplate&quot;:true,&quot;type&quot;:&quot;text&quot;}"/>
          <p:cNvSpPr txBox="1"/>
          <p:nvPr/>
        </p:nvSpPr>
        <p:spPr>
          <a:xfrm>
            <a:off x="10467975" y="590550"/>
            <a:ext cx="1114425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建议做成动画或表格</a:t>
            </a:r>
            <a:endParaRPr lang="zh-CN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780" name="圆角矩形 2779"/>
          <p:cNvSpPr/>
          <p:nvPr/>
        </p:nvSpPr>
        <p:spPr>
          <a:xfrm>
            <a:off x="609600" y="1143000"/>
            <a:ext cx="10972800" cy="1123950"/>
          </a:xfrm>
          <a:prstGeom prst="roundRect">
            <a:avLst>
              <a:gd name="adj" fmla="val 10169"/>
            </a:avLst>
          </a:prstGeom>
          <a:solidFill>
            <a:srgbClr val="0B1220"/>
          </a:solidFill>
          <a:ln w="12700">
            <a:solidFill>
              <a:srgbClr val="1E293B"/>
            </a:solidFill>
            <a:prstDash val="solid"/>
          </a:ln>
        </p:spPr>
        <p:txBody>
          <a:bodyPr/>
          <a:p/>
        </p:txBody>
      </p:sp>
      <p:sp>
        <p:nvSpPr>
          <p:cNvPr id="2781" name="文本框 2780" descr="{&quot;isTemplate&quot;:true,&quot;type&quot;:&quot;text&quot;}"/>
          <p:cNvSpPr txBox="1"/>
          <p:nvPr/>
        </p:nvSpPr>
        <p:spPr>
          <a:xfrm>
            <a:off x="762000" y="1295400"/>
            <a:ext cx="10668000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fdemo/boot/src/TransactionHookImpl.cj · 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七个回调</a:t>
            </a:r>
            <a:endParaRPr lang="zh-CN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782" name="文本框 2781" descr="{&quot;isTemplate&quot;:true,&quot;type&quot;:&quot;text&quot;}"/>
          <p:cNvSpPr txBox="1"/>
          <p:nvPr/>
        </p:nvSpPr>
        <p:spPr>
          <a:xfrm>
            <a:off x="762000" y="1504950"/>
            <a:ext cx="10668000" cy="2381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en-US" sz="900">
                <a:solidFill>
                  <a:srgbClr val="38BDF8"/>
                </a:solidFill>
                <a:latin typeface="JetBrains Mono"/>
                <a:ea typeface="JetBrains Mono"/>
              </a:rPr>
              <a:t>beforeTx</a:t>
            </a:r>
            <a:r>
              <a:rPr lang="zh-CN" sz="900">
                <a:solidFill>
                  <a:srgbClr val="38BDF8"/>
                </a:solidFill>
                <a:latin typeface="JetBrains Mono"/>
                <a:ea typeface="JetBrains Mono"/>
              </a:rPr>
              <a:t>　</a:t>
            </a:r>
            <a:r>
              <a:rPr lang="en-US" sz="900">
                <a:solidFill>
                  <a:srgbClr val="38BDF8"/>
                </a:solidFill>
                <a:latin typeface="JetBrains Mono"/>
                <a:ea typeface="JetBrains Mono"/>
              </a:rPr>
              <a:t>beforeCommit(readOnly)</a:t>
            </a:r>
            <a:r>
              <a:rPr lang="zh-CN" sz="900">
                <a:solidFill>
                  <a:srgbClr val="38BDF8"/>
                </a:solidFill>
                <a:latin typeface="JetBrains Mono"/>
                <a:ea typeface="JetBrains Mono"/>
              </a:rPr>
              <a:t>　</a:t>
            </a:r>
            <a:r>
              <a:rPr lang="en-US" sz="900">
                <a:solidFill>
                  <a:srgbClr val="38BDF8"/>
                </a:solidFill>
                <a:latin typeface="JetBrains Mono"/>
                <a:ea typeface="JetBrains Mono"/>
              </a:rPr>
              <a:t>afterCommit</a:t>
            </a:r>
            <a:r>
              <a:rPr lang="zh-CN" sz="900">
                <a:solidFill>
                  <a:srgbClr val="38BDF8"/>
                </a:solidFill>
                <a:latin typeface="JetBrains Mono"/>
                <a:ea typeface="JetBrains Mono"/>
              </a:rPr>
              <a:t>　</a:t>
            </a:r>
            <a:r>
              <a:rPr lang="en-US" sz="900">
                <a:solidFill>
                  <a:srgbClr val="38BDF8"/>
                </a:solidFill>
                <a:latin typeface="JetBrains Mono"/>
                <a:ea typeface="JetBrains Mono"/>
              </a:rPr>
              <a:t>afterThrowing(e)</a:t>
            </a:r>
            <a:r>
              <a:rPr lang="zh-CN" sz="900">
                <a:solidFill>
                  <a:srgbClr val="38BDF8"/>
                </a:solidFill>
                <a:latin typeface="JetBrains Mono"/>
                <a:ea typeface="JetBrains Mono"/>
              </a:rPr>
              <a:t>　</a:t>
            </a:r>
            <a:r>
              <a:rPr lang="en-US" sz="900">
                <a:solidFill>
                  <a:srgbClr val="38BDF8"/>
                </a:solidFill>
                <a:latin typeface="JetBrains Mono"/>
                <a:ea typeface="JetBrains Mono"/>
              </a:rPr>
              <a:t>beforeRollback(e)</a:t>
            </a:r>
            <a:r>
              <a:rPr lang="zh-CN" sz="900">
                <a:solidFill>
                  <a:srgbClr val="38BDF8"/>
                </a:solidFill>
                <a:latin typeface="JetBrains Mono"/>
                <a:ea typeface="JetBrains Mono"/>
              </a:rPr>
              <a:t>　</a:t>
            </a:r>
            <a:r>
              <a:rPr lang="en-US" sz="900">
                <a:solidFill>
                  <a:srgbClr val="38BDF8"/>
                </a:solidFill>
                <a:latin typeface="JetBrains Mono"/>
                <a:ea typeface="JetBrains Mono"/>
              </a:rPr>
              <a:t>afterRollback(e)</a:t>
            </a:r>
            <a:r>
              <a:rPr lang="zh-CN" sz="900">
                <a:solidFill>
                  <a:srgbClr val="38BDF8"/>
                </a:solidFill>
                <a:latin typeface="JetBrains Mono"/>
                <a:ea typeface="JetBrains Mono"/>
              </a:rPr>
              <a:t>　</a:t>
            </a:r>
            <a:r>
              <a:rPr lang="en-US" sz="900">
                <a:solidFill>
                  <a:srgbClr val="38BDF8"/>
                </a:solidFill>
                <a:latin typeface="JetBrains Mono"/>
                <a:ea typeface="JetBrains Mono"/>
              </a:rPr>
              <a:t>afterComplete(status)</a:t>
            </a:r>
            <a:endParaRPr lang="en-US" sz="900">
              <a:solidFill>
                <a:srgbClr val="38BDF8"/>
              </a:solidFill>
              <a:latin typeface="JetBrains Mono"/>
              <a:ea typeface="JetBrains Mono"/>
            </a:endParaRPr>
          </a:p>
        </p:txBody>
      </p:sp>
      <p:sp>
        <p:nvSpPr>
          <p:cNvPr id="2783" name="文本框 2782" descr="{&quot;isTemplate&quot;:true,&quot;type&quot;:&quot;text&quot;}"/>
          <p:cNvSpPr txBox="1"/>
          <p:nvPr/>
        </p:nvSpPr>
        <p:spPr>
          <a:xfrm>
            <a:off x="762000" y="1876425"/>
            <a:ext cx="10668000" cy="2381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zh-CN" sz="90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注册：</a:t>
            </a:r>
            <a:r>
              <a:rPr lang="en-US" sz="90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ORM.registerTransactionHook </a:t>
            </a:r>
            <a:r>
              <a:rPr lang="zh-CN" sz="90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传</a:t>
            </a:r>
            <a:r>
              <a:rPr lang="en-US" sz="90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MyHook </a:t>
            </a:r>
            <a:r>
              <a:rPr lang="zh-CN" sz="90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实例，或</a:t>
            </a:r>
            <a:r>
              <a:rPr lang="en-US" sz="90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registerTransactionHooks </a:t>
            </a:r>
            <a:r>
              <a:rPr lang="zh-CN" sz="90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批量注册（从</a:t>
            </a:r>
            <a:r>
              <a:rPr lang="en-US" sz="90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lookupList </a:t>
            </a:r>
            <a:r>
              <a:rPr lang="zh-CN" sz="90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批量取）；多个钩子按</a:t>
            </a:r>
            <a:r>
              <a:rPr lang="en-US" sz="90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prop order </a:t>
            </a:r>
            <a:r>
              <a:rPr lang="zh-CN" sz="90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升序执行。</a:t>
            </a:r>
            <a:endParaRPr lang="zh-CN" sz="900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graphicFrame>
        <p:nvGraphicFramePr>
          <p:cNvPr id="2784" name="表格 2783"/>
          <p:cNvGraphicFramePr/>
          <p:nvPr/>
        </p:nvGraphicFramePr>
        <p:xfrm>
          <a:off x="609600" y="2400300"/>
          <a:ext cx="10972800" cy="3429000"/>
        </p:xfrm>
        <a:graphic>
          <a:graphicData uri="http://schemas.openxmlformats.org/drawingml/2006/table">
            <a:tbl>
              <a:tblPr/>
              <a:tblGrid>
                <a:gridCol w="2677183"/>
                <a:gridCol w="8295617"/>
              </a:tblGrid>
              <a:tr h="571500"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 b="1">
                          <a:solidFill>
                            <a:srgbClr val="22D3EE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场景</a:t>
                      </a:r>
                      <a:endParaRPr sz="975" b="1">
                        <a:solidFill>
                          <a:srgbClr val="22D3EE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6233A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 b="1">
                          <a:solidFill>
                            <a:srgbClr val="22D3EE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顺序</a:t>
                      </a:r>
                      <a:endParaRPr sz="975" b="1">
                        <a:solidFill>
                          <a:srgbClr val="22D3EE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6233A"/>
                    </a:solidFill>
                  </a:tcPr>
                </a:tc>
              </a:tr>
              <a:tr h="571500"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正常提交</a:t>
                      </a:r>
                      <a:endParaRPr sz="975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beforeTx → beforeCommit → commit → afterCommit → afterComplete(Committed)</a:t>
                      </a:r>
                      <a:endParaRPr sz="975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571500"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一般异常</a:t>
                      </a:r>
                      <a:endParaRPr sz="975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afterThrowing → beforeRollback → rollback → afterRollback → afterComplete(Rollback)</a:t>
                      </a:r>
                      <a:endParaRPr sz="975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571500"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F59E0B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命中 noRollbackFor</a:t>
                      </a:r>
                      <a:endParaRPr sz="975">
                        <a:solidFill>
                          <a:srgbClr val="F59E0B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F59E0B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afterThrowing → beforeCommit → 提交 → afterCommit → afterComplete(Committed) → 重抛</a:t>
                      </a:r>
                      <a:endParaRPr sz="975">
                        <a:solidFill>
                          <a:srgbClr val="F59E0B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571500"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F59E0B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命中 rollbackFor</a:t>
                      </a:r>
                      <a:endParaRPr sz="975">
                        <a:solidFill>
                          <a:srgbClr val="F59E0B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F59E0B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afterThrowing → beforeRollback → 回滚 → afterRollback → afterComplete(Rollback) → 重抛</a:t>
                      </a:r>
                      <a:endParaRPr sz="975">
                        <a:solidFill>
                          <a:srgbClr val="F59E0B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571500"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配了 rollbackFor 但类型不匹配</a:t>
                      </a:r>
                      <a:endParaRPr sz="975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同 noRollbackFor：提交后重抛</a:t>
                      </a:r>
                      <a:endParaRPr sz="975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</a:tbl>
          </a:graphicData>
        </a:graphic>
      </p:graphicFrame>
      <p:sp>
        <p:nvSpPr>
          <p:cNvPr id="2785" name="任意多边形 2784"/>
          <p:cNvSpPr/>
          <p:nvPr/>
        </p:nvSpPr>
        <p:spPr>
          <a:xfrm>
            <a:off x="609600" y="6286500"/>
            <a:ext cx="10972800" cy="381000"/>
          </a:xfrm>
          <a:custGeom>
            <a:avLst/>
            <a:gdLst/>
            <a:ahLst/>
            <a:cxnLst/>
            <a:pathLst>
              <a:path w="1152" h="40">
                <a:moveTo>
                  <a:pt x="0" y="0"/>
                </a:moveTo>
                <a:lnTo>
                  <a:pt x="1152" y="0"/>
                </a:lnTo>
                <a:lnTo>
                  <a:pt x="1152" y="1"/>
                </a:lnTo>
                <a:lnTo>
                  <a:pt x="0" y="1"/>
                </a:lnTo>
                <a:close/>
              </a:path>
            </a:pathLst>
          </a:custGeom>
          <a:solidFill>
            <a:srgbClr val="1E293B"/>
          </a:solidFill>
        </p:spPr>
        <p:txBody>
          <a:bodyPr/>
          <a:p/>
        </p:txBody>
      </p:sp>
      <p:sp>
        <p:nvSpPr>
          <p:cNvPr id="2786" name="文本框 2785" descr="{&quot;isTemplate&quot;:true,&quot;type&quot;:&quot;text&quot;}"/>
          <p:cNvSpPr txBox="1"/>
          <p:nvPr/>
        </p:nvSpPr>
        <p:spPr>
          <a:xfrm>
            <a:off x="609600" y="6410325"/>
            <a:ext cx="2219325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fountain · 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一站式服务器应用开发工具库</a:t>
            </a:r>
            <a:endParaRPr lang="zh-CN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787" name="文本框 2786" descr="{&quot;isTemplate&quot;:true,&quot;type&quot;:&quot;text&quot;}"/>
          <p:cNvSpPr txBox="1"/>
          <p:nvPr/>
        </p:nvSpPr>
        <p:spPr>
          <a:xfrm>
            <a:off x="11087100" y="6410325"/>
            <a:ext cx="495300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85 / 116</a:t>
            </a:r>
            <a:endParaRPr lang="en-US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78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9" name="矩形 2788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220"/>
          </a:solidFill>
        </p:spPr>
        <p:txBody>
          <a:bodyPr/>
          <a:p/>
        </p:txBody>
      </p:sp>
      <p:sp>
        <p:nvSpPr>
          <p:cNvPr id="2790" name="矩形 2789"/>
          <p:cNvSpPr/>
          <p:nvPr/>
        </p:nvSpPr>
        <p:spPr>
          <a:xfrm>
            <a:off x="609600" y="476250"/>
            <a:ext cx="38100" cy="381000"/>
          </a:xfrm>
          <a:prstGeom prst="rect">
            <a:avLst/>
          </a:prstGeom>
          <a:solidFill>
            <a:srgbClr val="38BDF8"/>
          </a:solidFill>
        </p:spPr>
        <p:txBody>
          <a:bodyPr/>
          <a:p/>
        </p:txBody>
      </p:sp>
      <p:sp>
        <p:nvSpPr>
          <p:cNvPr id="2791" name="文本框 2790" descr="{&quot;isTemplate&quot;:true,&quot;type&quot;:&quot;text&quot;}"/>
          <p:cNvSpPr txBox="1"/>
          <p:nvPr/>
        </p:nvSpPr>
        <p:spPr>
          <a:xfrm>
            <a:off x="819150" y="304800"/>
            <a:ext cx="9477375" cy="2095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第</a:t>
            </a: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 12 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章</a:t>
            </a: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 · ORM f_orm · 12.5 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续</a:t>
            </a: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 / 12.6</a:t>
            </a:r>
            <a:endParaRPr lang="en-US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792" name="文本框 2791" descr="{&quot;isTemplate&quot;:true,&quot;type&quot;:&quot;text&quot;}"/>
          <p:cNvSpPr txBox="1"/>
          <p:nvPr/>
        </p:nvSpPr>
        <p:spPr>
          <a:xfrm>
            <a:off x="819150" y="514350"/>
            <a:ext cx="9477375" cy="5143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2550" b="1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为什么共用连接，以及八个常见坑</a:t>
            </a:r>
            <a:endParaRPr lang="zh-CN" sz="2550" b="1">
              <a:solidFill>
                <a:srgbClr val="E2E8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793" name="文本框 2792" descr="{&quot;isTemplate&quot;:true,&quot;type&quot;:&quot;text&quot;}"/>
          <p:cNvSpPr txBox="1"/>
          <p:nvPr/>
        </p:nvSpPr>
        <p:spPr>
          <a:xfrm>
            <a:off x="10467975" y="590550"/>
            <a:ext cx="1114425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念一遍能省观众两天</a:t>
            </a:r>
            <a:endParaRPr lang="zh-CN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794" name="圆角矩形 2793"/>
          <p:cNvSpPr/>
          <p:nvPr/>
        </p:nvSpPr>
        <p:spPr>
          <a:xfrm>
            <a:off x="609600" y="1143000"/>
            <a:ext cx="4381500" cy="5143500"/>
          </a:xfrm>
          <a:prstGeom prst="roundRect">
            <a:avLst>
              <a:gd name="adj" fmla="val 2609"/>
            </a:avLst>
          </a:prstGeom>
          <a:solidFill>
            <a:srgbClr val="111C2E"/>
          </a:solidFill>
          <a:ln w="12700">
            <a:solidFill>
              <a:srgbClr val="38BDF8"/>
            </a:solidFill>
            <a:prstDash val="solid"/>
          </a:ln>
        </p:spPr>
        <p:txBody>
          <a:bodyPr/>
          <a:p/>
        </p:txBody>
      </p:sp>
      <p:sp>
        <p:nvSpPr>
          <p:cNvPr id="2795" name="文本框 2794" descr="{&quot;isTemplate&quot;:true,&quot;type&quot;:&quot;text&quot;}"/>
          <p:cNvSpPr txBox="1"/>
          <p:nvPr/>
        </p:nvSpPr>
        <p:spPr>
          <a:xfrm>
            <a:off x="819150" y="1352550"/>
            <a:ext cx="3962400" cy="2095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38BDF8"/>
                </a:solidFill>
                <a:latin typeface="微软雅黑" panose="020B0503020204020204" charset="-122"/>
                <a:ea typeface="微软雅黑" panose="020B0503020204020204" charset="-122"/>
              </a:rPr>
              <a:t>为什么同一线程共用连接</a:t>
            </a:r>
            <a:endParaRPr lang="zh-CN" sz="1350" b="1">
              <a:solidFill>
                <a:srgbClr val="38BDF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796" name="文本框 2795" descr="{&quot;isTemplate&quot;:true,&quot;type&quot;:&quot;text&quot;}"/>
          <p:cNvSpPr txBox="1"/>
          <p:nvPr/>
        </p:nvSpPr>
        <p:spPr>
          <a:xfrm>
            <a:off x="819150" y="1695450"/>
            <a:ext cx="3962400" cy="581025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80000"/>
              </a:lnSpc>
            </a:pPr>
            <a:r>
              <a:rPr lang="en-US" sz="105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SqlExecutor </a:t>
            </a:r>
            <a:r>
              <a:rPr lang="zh-CN" sz="105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缓存在</a:t>
            </a:r>
            <a:r>
              <a:rPr lang="en-US" sz="105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 ThreadLocal </a:t>
            </a:r>
            <a:r>
              <a:rPr lang="zh-CN" sz="105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里，是一个「驱动名</a:t>
            </a:r>
            <a:r>
              <a:rPr lang="en-US" sz="105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 → SqlExecutor</a:t>
            </a:r>
            <a:r>
              <a:rPr lang="zh-CN" sz="105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」的</a:t>
            </a:r>
            <a:r>
              <a:rPr lang="en-US" sz="105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 Map</a:t>
            </a:r>
            <a:r>
              <a:rPr lang="zh-CN" sz="105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。</a:t>
            </a:r>
            <a:endParaRPr lang="zh-CN" sz="1050">
              <a:solidFill>
                <a:srgbClr val="E2E8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797" name="文本框 2796" descr="{&quot;isTemplate&quot;:true,&quot;type&quot;:&quot;text&quot;}"/>
          <p:cNvSpPr txBox="1"/>
          <p:nvPr/>
        </p:nvSpPr>
        <p:spPr>
          <a:xfrm>
            <a:off x="819150" y="2371725"/>
            <a:ext cx="3962400" cy="581025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80000"/>
              </a:lnSpc>
            </a:pPr>
            <a:r>
              <a:rPr lang="zh-CN" sz="105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所以同一线程内一次事务的多次数据库访问，用的是同一个连接</a:t>
            </a:r>
            <a:r>
              <a:rPr lang="en-US" sz="105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 —— </a:t>
            </a:r>
            <a:r>
              <a:rPr lang="zh-CN" sz="105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这是事务能成立的根本。</a:t>
            </a:r>
            <a:endParaRPr lang="zh-CN" sz="1050">
              <a:solidFill>
                <a:srgbClr val="E2E8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798" name="文本框 2797" descr="{&quot;isTemplate&quot;:true,&quot;type&quot;:&quot;text&quot;}"/>
          <p:cNvSpPr txBox="1"/>
          <p:nvPr/>
        </p:nvSpPr>
        <p:spPr>
          <a:xfrm>
            <a:off x="819150" y="3048000"/>
            <a:ext cx="3962400" cy="581025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80000"/>
              </a:lnSpc>
            </a:pPr>
            <a:r>
              <a:rPr lang="zh-CN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事务未开启时，执行完就</a:t>
            </a:r>
            <a:r>
              <a:rPr lang="en-US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close </a:t>
            </a:r>
            <a:r>
              <a:rPr lang="zh-CN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释放连接；事务中则由</a:t>
            </a:r>
            <a:r>
              <a:rPr lang="en-US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commit / rollback </a:t>
            </a:r>
            <a:r>
              <a:rPr lang="zh-CN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收尾统一处理。</a:t>
            </a:r>
            <a:endParaRPr lang="zh-CN" sz="1050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799" name="文本框 2798" descr="{&quot;isTemplate&quot;:true,&quot;type&quot;:&quot;text&quot;}"/>
          <p:cNvSpPr txBox="1"/>
          <p:nvPr/>
        </p:nvSpPr>
        <p:spPr>
          <a:xfrm>
            <a:off x="819150" y="5495925"/>
            <a:ext cx="3962400" cy="581025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80000"/>
              </a:lnSpc>
            </a:pPr>
            <a:r>
              <a:rPr lang="zh-CN" sz="1050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理解这一点，就明白为什么不能把</a:t>
            </a:r>
            <a:r>
              <a:rPr lang="en-US" sz="1050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 SqlExecutor </a:t>
            </a:r>
            <a:r>
              <a:rPr lang="zh-CN" sz="1050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存成字段、为什么同一</a:t>
            </a:r>
            <a:r>
              <a:rPr lang="en-US" sz="1050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 executor </a:t>
            </a:r>
            <a:r>
              <a:rPr lang="zh-CN" sz="1050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上不允许并发。</a:t>
            </a:r>
            <a:endParaRPr lang="zh-CN" sz="1050">
              <a:solidFill>
                <a:srgbClr val="F59E0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800" name="圆角矩形 2799"/>
          <p:cNvSpPr/>
          <p:nvPr/>
        </p:nvSpPr>
        <p:spPr>
          <a:xfrm>
            <a:off x="5181600" y="1143000"/>
            <a:ext cx="6400800" cy="5143500"/>
          </a:xfrm>
          <a:prstGeom prst="roundRect">
            <a:avLst>
              <a:gd name="adj" fmla="val 2222"/>
            </a:avLst>
          </a:prstGeom>
          <a:solidFill>
            <a:srgbClr val="0B1220"/>
          </a:solidFill>
          <a:ln w="12700">
            <a:solidFill>
              <a:srgbClr val="1E293B"/>
            </a:solidFill>
            <a:prstDash val="solid"/>
          </a:ln>
        </p:spPr>
        <p:txBody>
          <a:bodyPr/>
          <a:p/>
        </p:txBody>
      </p:sp>
      <p:sp>
        <p:nvSpPr>
          <p:cNvPr id="2801" name="文本框 2800" descr="{&quot;isTemplate&quot;:true,&quot;type&quot;:&quot;text&quot;}"/>
          <p:cNvSpPr txBox="1"/>
          <p:nvPr/>
        </p:nvSpPr>
        <p:spPr>
          <a:xfrm>
            <a:off x="5372100" y="1333500"/>
            <a:ext cx="6019800" cy="1714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ORM </a:t>
            </a:r>
            <a:r>
              <a:rPr lang="zh-CN" sz="112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常见坑（八条）</a:t>
            </a:r>
            <a:endParaRPr lang="zh-CN" sz="112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802" name="文本框 2801" descr="{&quot;isTemplate&quot;:true,&quot;type&quot;:&quot;text&quot;}"/>
          <p:cNvSpPr txBox="1"/>
          <p:nvPr/>
        </p:nvSpPr>
        <p:spPr>
          <a:xfrm>
            <a:off x="5372100" y="1600200"/>
            <a:ext cx="6019800" cy="2571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en-US" sz="975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1</a:t>
            </a:r>
            <a:r>
              <a:rPr lang="zh-CN" sz="975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　一个</a:t>
            </a:r>
            <a:r>
              <a:rPr lang="en-US" sz="975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 DAO </a:t>
            </a:r>
            <a:r>
              <a:rPr lang="zh-CN" sz="975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函数只执行一个</a:t>
            </a:r>
            <a:r>
              <a:rPr lang="en-US" sz="975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 SQL</a:t>
            </a:r>
            <a:r>
              <a:rPr lang="zh-CN" sz="975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（或一次分页查询）</a:t>
            </a:r>
            <a:endParaRPr lang="zh-CN" sz="975">
              <a:solidFill>
                <a:srgbClr val="E2E8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803" name="文本框 2802" descr="{&quot;isTemplate&quot;:true,&quot;type&quot;:&quot;text&quot;}"/>
          <p:cNvSpPr txBox="1"/>
          <p:nvPr/>
        </p:nvSpPr>
        <p:spPr>
          <a:xfrm>
            <a:off x="5372100" y="1914525"/>
            <a:ext cx="6019800" cy="2571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en-US" sz="975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2</a:t>
            </a:r>
            <a:r>
              <a:rPr lang="zh-CN" sz="975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　每次调用</a:t>
            </a:r>
            <a:r>
              <a:rPr lang="en-US" sz="975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 DAO </a:t>
            </a:r>
            <a:r>
              <a:rPr lang="zh-CN" sz="975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都必须从</a:t>
            </a:r>
            <a:r>
              <a:rPr lang="en-US" sz="975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 executor() </a:t>
            </a:r>
            <a:r>
              <a:rPr lang="zh-CN" sz="975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开始</a:t>
            </a:r>
            <a:endParaRPr lang="zh-CN" sz="975">
              <a:solidFill>
                <a:srgbClr val="E2E8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804" name="文本框 2803" descr="{&quot;isTemplate&quot;:true,&quot;type&quot;:&quot;text&quot;}"/>
          <p:cNvSpPr txBox="1"/>
          <p:nvPr/>
        </p:nvSpPr>
        <p:spPr>
          <a:xfrm>
            <a:off x="5372100" y="2228850"/>
            <a:ext cx="6019800" cy="2571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en-US" sz="975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3</a:t>
            </a:r>
            <a:r>
              <a:rPr lang="zh-CN" sz="975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　同一模块内</a:t>
            </a:r>
            <a:r>
              <a:rPr lang="en-US" sz="975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 DAO </a:t>
            </a:r>
            <a:r>
              <a:rPr lang="zh-CN" sz="975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函数名不能重名</a:t>
            </a:r>
            <a:endParaRPr lang="zh-CN" sz="975">
              <a:solidFill>
                <a:srgbClr val="E2E8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805" name="文本框 2804" descr="{&quot;isTemplate&quot;:true,&quot;type&quot;:&quot;text&quot;}"/>
          <p:cNvSpPr txBox="1"/>
          <p:nvPr/>
        </p:nvSpPr>
        <p:spPr>
          <a:xfrm>
            <a:off x="5372100" y="2543175"/>
            <a:ext cx="6019800" cy="514350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en-US" sz="975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4</a:t>
            </a:r>
            <a:r>
              <a:rPr lang="zh-CN" sz="975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　同一个</a:t>
            </a:r>
            <a:r>
              <a:rPr lang="en-US" sz="975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 SqlExecutor </a:t>
            </a:r>
            <a:r>
              <a:rPr lang="zh-CN" sz="975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上不允许并发：上一次查询结果未关闭时再执行会抛</a:t>
            </a:r>
            <a:r>
              <a:rPr lang="en-US" sz="975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 ORMException</a:t>
            </a:r>
            <a:r>
              <a:rPr lang="zh-CN" sz="975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（</a:t>
            </a:r>
            <a:r>
              <a:rPr lang="en-US" sz="975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cannot execute SQL while a previous query result is still active</a:t>
            </a:r>
            <a:r>
              <a:rPr lang="zh-CN" sz="975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）</a:t>
            </a:r>
            <a:endParaRPr lang="zh-CN" sz="975">
              <a:solidFill>
                <a:srgbClr val="F59E0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806" name="文本框 2805" descr="{&quot;isTemplate&quot;:true,&quot;type&quot;:&quot;text&quot;}"/>
          <p:cNvSpPr txBox="1"/>
          <p:nvPr/>
        </p:nvSpPr>
        <p:spPr>
          <a:xfrm>
            <a:off x="5372100" y="3114675"/>
            <a:ext cx="6019800" cy="2571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en-US" sz="975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5</a:t>
            </a:r>
            <a:r>
              <a:rPr lang="zh-CN" sz="975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　结果缓存默认开启（</a:t>
            </a:r>
            <a:r>
              <a:rPr lang="en-US" sz="975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orm_useCache</a:t>
            </a:r>
            <a:r>
              <a:rPr lang="zh-CN" sz="975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），写操作后会清空缓存</a:t>
            </a:r>
            <a:endParaRPr lang="zh-CN" sz="975">
              <a:solidFill>
                <a:srgbClr val="E2E8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807" name="文本框 2806" descr="{&quot;isTemplate&quot;:true,&quot;type&quot;:&quot;text&quot;}"/>
          <p:cNvSpPr txBox="1"/>
          <p:nvPr/>
        </p:nvSpPr>
        <p:spPr>
          <a:xfrm>
            <a:off x="5372100" y="3429000"/>
            <a:ext cx="6019800" cy="2571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en-US" sz="975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6</a:t>
            </a:r>
            <a:r>
              <a:rPr lang="zh-CN" sz="975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　</a:t>
            </a:r>
            <a:r>
              <a:rPr lang="en-US" sz="975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@DataAssist </a:t>
            </a:r>
            <a:r>
              <a:rPr lang="zh-CN" sz="975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必须在</a:t>
            </a:r>
            <a:r>
              <a:rPr lang="en-US" sz="975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 @QueryMappersGenerator </a:t>
            </a:r>
            <a:r>
              <a:rPr lang="zh-CN" sz="975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之前</a:t>
            </a:r>
            <a:endParaRPr lang="zh-CN" sz="975">
              <a:solidFill>
                <a:srgbClr val="E2E8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808" name="文本框 2807" descr="{&quot;isTemplate&quot;:true,&quot;type&quot;:&quot;text&quot;}"/>
          <p:cNvSpPr txBox="1"/>
          <p:nvPr/>
        </p:nvSpPr>
        <p:spPr>
          <a:xfrm>
            <a:off x="5372100" y="3743325"/>
            <a:ext cx="6019800" cy="2571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en-US" sz="975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7</a:t>
            </a:r>
            <a:r>
              <a:rPr lang="zh-CN" sz="975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　</a:t>
            </a:r>
            <a:r>
              <a:rPr lang="en-US" sz="975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tableColumns() </a:t>
            </a:r>
            <a:r>
              <a:rPr lang="zh-CN" sz="975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的属性名是列名（</a:t>
            </a:r>
            <a:r>
              <a:rPr lang="en-US" sz="975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save_time</a:t>
            </a:r>
            <a:r>
              <a:rPr lang="zh-CN" sz="975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），不是成员名（</a:t>
            </a:r>
            <a:r>
              <a:rPr lang="en-US" sz="975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saveTime</a:t>
            </a:r>
            <a:r>
              <a:rPr lang="zh-CN" sz="975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）</a:t>
            </a:r>
            <a:endParaRPr lang="zh-CN" sz="975">
              <a:solidFill>
                <a:srgbClr val="F59E0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809" name="文本框 2808" descr="{&quot;isTemplate&quot;:true,&quot;type&quot;:&quot;text&quot;}"/>
          <p:cNvSpPr txBox="1"/>
          <p:nvPr/>
        </p:nvSpPr>
        <p:spPr>
          <a:xfrm>
            <a:off x="5372100" y="4057650"/>
            <a:ext cx="6019800" cy="2571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en-US" sz="975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8</a:t>
            </a:r>
            <a:r>
              <a:rPr lang="zh-CN" sz="975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　</a:t>
            </a:r>
            <a:r>
              <a:rPr lang="en-US" sz="975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page </a:t>
            </a:r>
            <a:r>
              <a:rPr lang="zh-CN" sz="975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系列要求</a:t>
            </a:r>
            <a:r>
              <a:rPr lang="en-US" sz="975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 SQL </a:t>
            </a:r>
            <a:r>
              <a:rPr lang="zh-CN" sz="975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以</a:t>
            </a:r>
            <a:r>
              <a:rPr lang="en-US" sz="975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 select </a:t>
            </a:r>
            <a:r>
              <a:rPr lang="zh-CN" sz="975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开头，否则抛</a:t>
            </a:r>
            <a:r>
              <a:rPr lang="en-US" sz="975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 ORMException</a:t>
            </a:r>
            <a:endParaRPr lang="en-US" sz="975">
              <a:solidFill>
                <a:srgbClr val="E2E8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810" name="任意多边形 2809"/>
          <p:cNvSpPr/>
          <p:nvPr/>
        </p:nvSpPr>
        <p:spPr>
          <a:xfrm>
            <a:off x="609600" y="6286500"/>
            <a:ext cx="10972800" cy="381000"/>
          </a:xfrm>
          <a:custGeom>
            <a:avLst/>
            <a:gdLst/>
            <a:ahLst/>
            <a:cxnLst/>
            <a:pathLst>
              <a:path w="1152" h="40">
                <a:moveTo>
                  <a:pt x="0" y="0"/>
                </a:moveTo>
                <a:lnTo>
                  <a:pt x="1152" y="0"/>
                </a:lnTo>
                <a:lnTo>
                  <a:pt x="1152" y="1"/>
                </a:lnTo>
                <a:lnTo>
                  <a:pt x="0" y="1"/>
                </a:lnTo>
                <a:close/>
              </a:path>
            </a:pathLst>
          </a:custGeom>
          <a:solidFill>
            <a:srgbClr val="1E293B"/>
          </a:solidFill>
        </p:spPr>
        <p:txBody>
          <a:bodyPr/>
          <a:p/>
        </p:txBody>
      </p:sp>
      <p:sp>
        <p:nvSpPr>
          <p:cNvPr id="2811" name="文本框 2810" descr="{&quot;isTemplate&quot;:true,&quot;type&quot;:&quot;text&quot;}"/>
          <p:cNvSpPr txBox="1"/>
          <p:nvPr/>
        </p:nvSpPr>
        <p:spPr>
          <a:xfrm>
            <a:off x="609600" y="6410325"/>
            <a:ext cx="2219325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fountain · 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一站式服务器应用开发工具库</a:t>
            </a:r>
            <a:endParaRPr lang="zh-CN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812" name="文本框 2811" descr="{&quot;isTemplate&quot;:true,&quot;type&quot;:&quot;text&quot;}"/>
          <p:cNvSpPr txBox="1"/>
          <p:nvPr/>
        </p:nvSpPr>
        <p:spPr>
          <a:xfrm>
            <a:off x="11087100" y="6410325"/>
            <a:ext cx="495300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86 / 116</a:t>
            </a:r>
            <a:endParaRPr lang="en-US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81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4" name="矩形 281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220"/>
          </a:solidFill>
        </p:spPr>
        <p:txBody>
          <a:bodyPr/>
          <a:p/>
        </p:txBody>
      </p:sp>
      <p:sp>
        <p:nvSpPr>
          <p:cNvPr id="2815" name="矩形 2814"/>
          <p:cNvSpPr/>
          <p:nvPr/>
        </p:nvSpPr>
        <p:spPr>
          <a:xfrm>
            <a:off x="609600" y="476250"/>
            <a:ext cx="38100" cy="381000"/>
          </a:xfrm>
          <a:prstGeom prst="rect">
            <a:avLst/>
          </a:prstGeom>
          <a:solidFill>
            <a:srgbClr val="38BDF8"/>
          </a:solidFill>
        </p:spPr>
        <p:txBody>
          <a:bodyPr/>
          <a:p/>
        </p:txBody>
      </p:sp>
      <p:sp>
        <p:nvSpPr>
          <p:cNvPr id="2816" name="文本框 2815" descr="{&quot;isTemplate&quot;:true,&quot;type&quot;:&quot;text&quot;}"/>
          <p:cNvSpPr txBox="1"/>
          <p:nvPr/>
        </p:nvSpPr>
        <p:spPr>
          <a:xfrm>
            <a:off x="819150" y="304800"/>
            <a:ext cx="10344150" cy="2095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第</a:t>
            </a: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 13 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章</a:t>
            </a: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 · 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安全</a:t>
            </a: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 f_security + f_jwt · 13.1</a:t>
            </a:r>
            <a:endParaRPr lang="en-US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817" name="文本框 2816" descr="{&quot;isTemplate&quot;:true,&quot;type&quot;:&quot;text&quot;}"/>
          <p:cNvSpPr txBox="1"/>
          <p:nvPr/>
        </p:nvSpPr>
        <p:spPr>
          <a:xfrm>
            <a:off x="819150" y="514350"/>
            <a:ext cx="10344150" cy="5143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2550" b="1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登录状态检查怎么做</a:t>
            </a:r>
            <a:endParaRPr lang="zh-CN" sz="2550" b="1">
              <a:solidFill>
                <a:srgbClr val="E2E8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818" name="文本框 2817" descr="{&quot;isTemplate&quot;:true,&quot;type&quot;:&quot;text&quot;}"/>
          <p:cNvSpPr txBox="1"/>
          <p:nvPr/>
        </p:nvSpPr>
        <p:spPr>
          <a:xfrm>
            <a:off x="11334750" y="590550"/>
            <a:ext cx="247650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三步</a:t>
            </a:r>
            <a:endParaRPr lang="zh-CN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819" name="圆角矩形 2818"/>
          <p:cNvSpPr/>
          <p:nvPr/>
        </p:nvSpPr>
        <p:spPr>
          <a:xfrm>
            <a:off x="609600" y="1143000"/>
            <a:ext cx="6400800" cy="5143500"/>
          </a:xfrm>
          <a:prstGeom prst="roundRect">
            <a:avLst>
              <a:gd name="adj" fmla="val 2222"/>
            </a:avLst>
          </a:prstGeom>
          <a:solidFill>
            <a:srgbClr val="0B1220"/>
          </a:solidFill>
          <a:ln w="12700">
            <a:solidFill>
              <a:srgbClr val="38BDF8"/>
            </a:solidFill>
            <a:prstDash val="solid"/>
          </a:ln>
        </p:spPr>
        <p:txBody>
          <a:bodyPr/>
          <a:p/>
        </p:txBody>
      </p:sp>
      <p:sp>
        <p:nvSpPr>
          <p:cNvPr id="2820" name="文本框 2819" descr="{&quot;isTemplate&quot;:true,&quot;type&quot;:&quot;text&quot;}"/>
          <p:cNvSpPr txBox="1"/>
          <p:nvPr/>
        </p:nvSpPr>
        <p:spPr>
          <a:xfrm>
            <a:off x="781050" y="1314450"/>
            <a:ext cx="6057900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38BDF8"/>
                </a:solidFill>
                <a:latin typeface="微软雅黑" panose="020B0503020204020204" charset="-122"/>
                <a:ea typeface="微软雅黑" panose="020B0503020204020204" charset="-122"/>
              </a:rPr>
              <a:t>第一步</a:t>
            </a:r>
            <a:r>
              <a:rPr lang="en-US" sz="975">
                <a:solidFill>
                  <a:srgbClr val="38BDF8"/>
                </a:solidFill>
                <a:latin typeface="微软雅黑" panose="020B0503020204020204" charset="-122"/>
                <a:ea typeface="微软雅黑" panose="020B0503020204020204" charset="-122"/>
              </a:rPr>
              <a:t> · </a:t>
            </a:r>
            <a:r>
              <a:rPr lang="zh-CN" sz="975">
                <a:solidFill>
                  <a:srgbClr val="38BDF8"/>
                </a:solidFill>
                <a:latin typeface="微软雅黑" panose="020B0503020204020204" charset="-122"/>
                <a:ea typeface="微软雅黑" panose="020B0503020204020204" charset="-122"/>
              </a:rPr>
              <a:t>实现</a:t>
            </a:r>
            <a:r>
              <a:rPr lang="en-US" sz="975">
                <a:solidFill>
                  <a:srgbClr val="38BDF8"/>
                </a:solidFill>
                <a:latin typeface="微软雅黑" panose="020B0503020204020204" charset="-122"/>
                <a:ea typeface="微软雅黑" panose="020B0503020204020204" charset="-122"/>
              </a:rPr>
              <a:t> AuthHandler </a:t>
            </a:r>
            <a:r>
              <a:rPr lang="zh-CN" sz="975">
                <a:solidFill>
                  <a:srgbClr val="38BDF8"/>
                </a:solidFill>
                <a:latin typeface="微软雅黑" panose="020B0503020204020204" charset="-122"/>
                <a:ea typeface="微软雅黑" panose="020B0503020204020204" charset="-122"/>
              </a:rPr>
              <a:t>并注册为</a:t>
            </a:r>
            <a:r>
              <a:rPr lang="en-US" sz="975">
                <a:solidFill>
                  <a:srgbClr val="38BDF8"/>
                </a:solidFill>
                <a:latin typeface="微软雅黑" panose="020B0503020204020204" charset="-122"/>
                <a:ea typeface="微软雅黑" panose="020B0503020204020204" charset="-122"/>
              </a:rPr>
              <a:t> bean</a:t>
            </a:r>
            <a:endParaRPr lang="en-US" sz="975">
              <a:solidFill>
                <a:srgbClr val="38BDF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821" name="文本框 2820" descr="{&quot;isTemplate&quot;:true,&quot;type&quot;:&quot;text&quot;}"/>
          <p:cNvSpPr txBox="1"/>
          <p:nvPr/>
        </p:nvSpPr>
        <p:spPr>
          <a:xfrm>
            <a:off x="781050" y="1543050"/>
            <a:ext cx="6057900" cy="2476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5000"/>
              </a:lnSpc>
            </a:pPr>
            <a:r>
              <a:rPr lang="en-US" sz="900">
                <a:solidFill>
                  <a:srgbClr val="E2E8F0"/>
                </a:solidFill>
                <a:latin typeface="JetBrains Mono"/>
                <a:ea typeface="JetBrains Mono"/>
              </a:rPr>
              <a:t>@Bean</a:t>
            </a:r>
            <a:endParaRPr lang="en-US" sz="900">
              <a:solidFill>
                <a:srgbClr val="E2E8F0"/>
              </a:solidFill>
              <a:latin typeface="JetBrains Mono"/>
              <a:ea typeface="JetBrains Mono"/>
            </a:endParaRPr>
          </a:p>
        </p:txBody>
      </p:sp>
      <p:sp>
        <p:nvSpPr>
          <p:cNvPr id="2822" name="文本框 2821" descr="{&quot;isTemplate&quot;:true,&quot;type&quot;:&quot;text&quot;}"/>
          <p:cNvSpPr txBox="1"/>
          <p:nvPr/>
        </p:nvSpPr>
        <p:spPr>
          <a:xfrm>
            <a:off x="781050" y="1790700"/>
            <a:ext cx="6057900" cy="2476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5000"/>
              </a:lnSpc>
            </a:pPr>
            <a:r>
              <a:rPr lang="en-US" sz="900">
                <a:solidFill>
                  <a:srgbClr val="E2E8F0"/>
                </a:solidFill>
                <a:latin typeface="JetBrains Mono"/>
                <a:ea typeface="JetBrains Mono"/>
              </a:rPr>
              <a:t>public class AuthCheckerImpl &lt;: AuthHandler {</a:t>
            </a:r>
            <a:endParaRPr lang="en-US" sz="900">
              <a:solidFill>
                <a:srgbClr val="E2E8F0"/>
              </a:solidFill>
              <a:latin typeface="JetBrains Mono"/>
              <a:ea typeface="JetBrains Mono"/>
            </a:endParaRPr>
          </a:p>
        </p:txBody>
      </p:sp>
      <p:sp>
        <p:nvSpPr>
          <p:cNvPr id="2823" name="文本框 2822" descr="{&quot;isTemplate&quot;:true,&quot;type&quot;:&quot;text&quot;}"/>
          <p:cNvSpPr txBox="1"/>
          <p:nvPr/>
        </p:nvSpPr>
        <p:spPr>
          <a:xfrm>
            <a:off x="781050" y="2038350"/>
            <a:ext cx="6057900" cy="2476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5000"/>
              </a:lnSpc>
            </a:pPr>
            <a:r>
              <a:rPr lang="en-US" sz="900">
                <a:solidFill>
                  <a:srgbClr val="38BDF8"/>
                </a:solidFill>
                <a:latin typeface="JetBrains Mono"/>
                <a:ea typeface="JetBrains Mono"/>
              </a:rPr>
              <a:t>    public func check(param: AuthParam): AuthStatus {</a:t>
            </a:r>
            <a:endParaRPr lang="en-US" sz="900">
              <a:solidFill>
                <a:srgbClr val="38BDF8"/>
              </a:solidFill>
              <a:latin typeface="JetBrains Mono"/>
              <a:ea typeface="JetBrains Mono"/>
            </a:endParaRPr>
          </a:p>
        </p:txBody>
      </p:sp>
      <p:sp>
        <p:nvSpPr>
          <p:cNvPr id="2824" name="文本框 2823" descr="{&quot;isTemplate&quot;:true,&quot;type&quot;:&quot;text&quot;}"/>
          <p:cNvSpPr txBox="1"/>
          <p:nvPr/>
        </p:nvSpPr>
        <p:spPr>
          <a:xfrm>
            <a:off x="781050" y="2286000"/>
            <a:ext cx="6057900" cy="2476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5000"/>
              </a:lnSpc>
            </a:pPr>
            <a:r>
              <a:rPr lang="en-US" sz="900">
                <a:solidFill>
                  <a:srgbClr val="94A3B8"/>
                </a:solidFill>
                <a:latin typeface="JetBrains Mono"/>
                <a:ea typeface="JetBrains Mono"/>
              </a:rPr>
              <a:t>        if (param.ignoreAuth) { OK }</a:t>
            </a:r>
            <a:endParaRPr lang="en-US" sz="900">
              <a:solidFill>
                <a:srgbClr val="94A3B8"/>
              </a:solidFill>
              <a:latin typeface="JetBrains Mono"/>
              <a:ea typeface="JetBrains Mono"/>
            </a:endParaRPr>
          </a:p>
        </p:txBody>
      </p:sp>
      <p:sp>
        <p:nvSpPr>
          <p:cNvPr id="2825" name="文本框 2824" descr="{&quot;isTemplate&quot;:true,&quot;type&quot;:&quot;text&quot;}"/>
          <p:cNvSpPr txBox="1"/>
          <p:nvPr/>
        </p:nvSpPr>
        <p:spPr>
          <a:xfrm>
            <a:off x="781050" y="2533650"/>
            <a:ext cx="6057900" cy="2476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5000"/>
              </a:lnSpc>
            </a:pPr>
            <a:r>
              <a:rPr lang="en-US" sz="900">
                <a:solidFill>
                  <a:srgbClr val="94A3B8"/>
                </a:solidFill>
                <a:latin typeface="JetBrains Mono"/>
                <a:ea typeface="JetBrains Mono"/>
              </a:rPr>
              <a:t>        else if (UserSessionCache.verify()) { OK }</a:t>
            </a:r>
            <a:endParaRPr lang="en-US" sz="900">
              <a:solidFill>
                <a:srgbClr val="94A3B8"/>
              </a:solidFill>
              <a:latin typeface="JetBrains Mono"/>
              <a:ea typeface="JetBrains Mono"/>
            </a:endParaRPr>
          </a:p>
        </p:txBody>
      </p:sp>
      <p:sp>
        <p:nvSpPr>
          <p:cNvPr id="2826" name="文本框 2825" descr="{&quot;isTemplate&quot;:true,&quot;type&quot;:&quot;text&quot;}"/>
          <p:cNvSpPr txBox="1"/>
          <p:nvPr/>
        </p:nvSpPr>
        <p:spPr>
          <a:xfrm>
            <a:off x="781050" y="2781300"/>
            <a:ext cx="6057900" cy="2476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5000"/>
              </a:lnSpc>
            </a:pPr>
            <a:r>
              <a:rPr lang="en-US" sz="900">
                <a:solidFill>
                  <a:srgbClr val="F59E0B"/>
                </a:solidFill>
                <a:latin typeface="JetBrains Mono"/>
                <a:ea typeface="JetBrains Mono"/>
              </a:rPr>
              <a:t>        else {</a:t>
            </a:r>
            <a:endParaRPr lang="en-US" sz="900">
              <a:solidFill>
                <a:srgbClr val="F59E0B"/>
              </a:solidFill>
              <a:latin typeface="JetBrains Mono"/>
              <a:ea typeface="JetBrains Mono"/>
            </a:endParaRPr>
          </a:p>
        </p:txBody>
      </p:sp>
      <p:sp>
        <p:nvSpPr>
          <p:cNvPr id="2827" name="文本框 2826" descr="{&quot;isTemplate&quot;:true,&quot;type&quot;:&quot;text&quot;}"/>
          <p:cNvSpPr txBox="1"/>
          <p:nvPr/>
        </p:nvSpPr>
        <p:spPr>
          <a:xfrm>
            <a:off x="781050" y="3028950"/>
            <a:ext cx="6057900" cy="2476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5000"/>
              </a:lnSpc>
            </a:pPr>
            <a:r>
              <a:rPr lang="en-US" sz="900">
                <a:solidFill>
                  <a:srgbClr val="F59E0B"/>
                </a:solidFill>
                <a:latin typeface="JetBrains Mono"/>
                <a:ea typeface="JetBrains Mono"/>
              </a:rPr>
              <a:t>            let json = '{ "status":-1 }'</a:t>
            </a:r>
            <a:endParaRPr lang="en-US" sz="900">
              <a:solidFill>
                <a:srgbClr val="F59E0B"/>
              </a:solidFill>
              <a:latin typeface="JetBrains Mono"/>
              <a:ea typeface="JetBrains Mono"/>
            </a:endParaRPr>
          </a:p>
        </p:txBody>
      </p:sp>
      <p:sp>
        <p:nvSpPr>
          <p:cNvPr id="2828" name="文本框 2827" descr="{&quot;isTemplate&quot;:true,&quot;type&quot;:&quot;text&quot;}"/>
          <p:cNvSpPr txBox="1"/>
          <p:nvPr/>
        </p:nvSpPr>
        <p:spPr>
          <a:xfrm>
            <a:off x="781050" y="3276600"/>
            <a:ext cx="6057900" cy="2476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5000"/>
              </a:lnSpc>
            </a:pPr>
            <a:r>
              <a:rPr lang="en-US" sz="900">
                <a:solidFill>
                  <a:srgbClr val="F59E0B"/>
                </a:solidFill>
                <a:latin typeface="JetBrains Mono"/>
                <a:ea typeface="JetBrains Mono"/>
              </a:rPr>
              <a:t>            InvalidSession(HttpStatus.UNAUTHORIZED, JsonValue.fromStr(json))</a:t>
            </a:r>
            <a:endParaRPr lang="en-US" sz="900">
              <a:solidFill>
                <a:srgbClr val="F59E0B"/>
              </a:solidFill>
              <a:latin typeface="JetBrains Mono"/>
              <a:ea typeface="JetBrains Mono"/>
            </a:endParaRPr>
          </a:p>
        </p:txBody>
      </p:sp>
      <p:sp>
        <p:nvSpPr>
          <p:cNvPr id="2829" name="文本框 2828" descr="{&quot;isTemplate&quot;:true,&quot;type&quot;:&quot;text&quot;}"/>
          <p:cNvSpPr txBox="1"/>
          <p:nvPr/>
        </p:nvSpPr>
        <p:spPr>
          <a:xfrm>
            <a:off x="781050" y="3524250"/>
            <a:ext cx="6057900" cy="2476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5000"/>
              </a:lnSpc>
            </a:pPr>
            <a:r>
              <a:rPr lang="en-US" sz="900">
                <a:solidFill>
                  <a:srgbClr val="F59E0B"/>
                </a:solidFill>
                <a:latin typeface="JetBrains Mono"/>
                <a:ea typeface="JetBrains Mono"/>
              </a:rPr>
              <a:t>        }</a:t>
            </a:r>
            <a:endParaRPr lang="en-US" sz="900">
              <a:solidFill>
                <a:srgbClr val="F59E0B"/>
              </a:solidFill>
              <a:latin typeface="JetBrains Mono"/>
              <a:ea typeface="JetBrains Mono"/>
            </a:endParaRPr>
          </a:p>
        </p:txBody>
      </p:sp>
      <p:sp>
        <p:nvSpPr>
          <p:cNvPr id="2830" name="文本框 2829" descr="{&quot;isTemplate&quot;:true,&quot;type&quot;:&quot;text&quot;}"/>
          <p:cNvSpPr txBox="1"/>
          <p:nvPr/>
        </p:nvSpPr>
        <p:spPr>
          <a:xfrm>
            <a:off x="781050" y="3771900"/>
            <a:ext cx="6057900" cy="2476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5000"/>
              </a:lnSpc>
            </a:pPr>
            <a:r>
              <a:rPr lang="en-US" sz="900">
                <a:solidFill>
                  <a:srgbClr val="E2E8F0"/>
                </a:solidFill>
                <a:latin typeface="JetBrains Mono"/>
                <a:ea typeface="JetBrains Mono"/>
              </a:rPr>
              <a:t>    }</a:t>
            </a:r>
            <a:endParaRPr lang="en-US" sz="900">
              <a:solidFill>
                <a:srgbClr val="E2E8F0"/>
              </a:solidFill>
              <a:latin typeface="JetBrains Mono"/>
              <a:ea typeface="JetBrains Mono"/>
            </a:endParaRPr>
          </a:p>
        </p:txBody>
      </p:sp>
      <p:sp>
        <p:nvSpPr>
          <p:cNvPr id="2831" name="文本框 2830" descr="{&quot;isTemplate&quot;:true,&quot;type&quot;:&quot;text&quot;}"/>
          <p:cNvSpPr txBox="1"/>
          <p:nvPr/>
        </p:nvSpPr>
        <p:spPr>
          <a:xfrm>
            <a:off x="781050" y="4019550"/>
            <a:ext cx="6057900" cy="2476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5000"/>
              </a:lnSpc>
            </a:pPr>
            <a:r>
              <a:rPr lang="en-US" sz="900">
                <a:solidFill>
                  <a:srgbClr val="E2E8F0"/>
                </a:solidFill>
                <a:latin typeface="JetBrains Mono"/>
                <a:ea typeface="JetBrains Mono"/>
              </a:rPr>
              <a:t>}</a:t>
            </a:r>
            <a:endParaRPr lang="en-US" sz="900">
              <a:solidFill>
                <a:srgbClr val="E2E8F0"/>
              </a:solidFill>
              <a:latin typeface="JetBrains Mono"/>
              <a:ea typeface="JetBrains Mono"/>
            </a:endParaRPr>
          </a:p>
        </p:txBody>
      </p:sp>
      <p:sp>
        <p:nvSpPr>
          <p:cNvPr id="2832" name="文本框 2831" descr="{&quot;isTemplate&quot;:true,&quot;type&quot;:&quot;text&quot;}"/>
          <p:cNvSpPr txBox="1"/>
          <p:nvPr/>
        </p:nvSpPr>
        <p:spPr>
          <a:xfrm>
            <a:off x="781050" y="5629275"/>
            <a:ext cx="6057900" cy="485775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75000"/>
              </a:lnSpc>
            </a:pPr>
            <a:r>
              <a:rPr lang="en-US" sz="90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AuthParam </a:t>
            </a:r>
            <a:r>
              <a:rPr lang="zh-CN" sz="90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提供：</a:t>
            </a:r>
            <a:r>
              <a:rPr lang="en-US" sz="90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ctx</a:t>
            </a:r>
            <a:r>
              <a:rPr lang="zh-CN" sz="90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（当前</a:t>
            </a:r>
            <a:r>
              <a:rPr lang="en-US" sz="90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HttpContext</a:t>
            </a:r>
            <a:r>
              <a:rPr lang="zh-CN" sz="90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）、</a:t>
            </a:r>
            <a:r>
              <a:rPr lang="en-US" sz="90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path</a:t>
            </a:r>
            <a:r>
              <a:rPr lang="zh-CN" sz="90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（</a:t>
            </a:r>
            <a:r>
              <a:rPr lang="en-US" sz="90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controller </a:t>
            </a:r>
            <a:r>
              <a:rPr lang="zh-CN" sz="90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定义的映射路径，不是请求路径）、</a:t>
            </a:r>
            <a:r>
              <a:rPr lang="en-US" sz="90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args</a:t>
            </a:r>
            <a:r>
              <a:rPr lang="zh-CN" sz="90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、</a:t>
            </a:r>
            <a:r>
              <a:rPr lang="en-US" sz="90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ignoreAuth</a:t>
            </a:r>
            <a:r>
              <a:rPr lang="zh-CN" sz="90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、</a:t>
            </a:r>
            <a:r>
              <a:rPr lang="en-US" sz="90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ignorePrivilege</a:t>
            </a:r>
            <a:r>
              <a:rPr lang="zh-CN" sz="90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。</a:t>
            </a:r>
            <a:endParaRPr lang="zh-CN" sz="900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833" name="圆角矩形 2832"/>
          <p:cNvSpPr/>
          <p:nvPr/>
        </p:nvSpPr>
        <p:spPr>
          <a:xfrm>
            <a:off x="7200900" y="1143000"/>
            <a:ext cx="4381500" cy="3409950"/>
          </a:xfrm>
          <a:prstGeom prst="roundRect">
            <a:avLst>
              <a:gd name="adj" fmla="val 3352"/>
            </a:avLst>
          </a:prstGeom>
          <a:solidFill>
            <a:srgbClr val="111C2E"/>
          </a:solidFill>
          <a:ln w="12700">
            <a:solidFill>
              <a:srgbClr val="38BDF8"/>
            </a:solidFill>
            <a:prstDash val="solid"/>
          </a:ln>
        </p:spPr>
        <p:txBody>
          <a:bodyPr/>
          <a:p/>
        </p:txBody>
      </p:sp>
      <p:sp>
        <p:nvSpPr>
          <p:cNvPr id="2834" name="文本框 2833" descr="{&quot;isTemplate&quot;:true,&quot;type&quot;:&quot;text&quot;}"/>
          <p:cNvSpPr txBox="1"/>
          <p:nvPr/>
        </p:nvSpPr>
        <p:spPr>
          <a:xfrm>
            <a:off x="7391400" y="1333500"/>
            <a:ext cx="4000500" cy="1905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38BDF8"/>
                </a:solidFill>
                <a:latin typeface="微软雅黑" panose="020B0503020204020204" charset="-122"/>
                <a:ea typeface="微软雅黑" panose="020B0503020204020204" charset="-122"/>
              </a:rPr>
              <a:t>AuthStatus </a:t>
            </a:r>
            <a:r>
              <a:rPr lang="zh-CN" sz="1200" b="1">
                <a:solidFill>
                  <a:srgbClr val="38BDF8"/>
                </a:solidFill>
                <a:latin typeface="微软雅黑" panose="020B0503020204020204" charset="-122"/>
                <a:ea typeface="微软雅黑" panose="020B0503020204020204" charset="-122"/>
              </a:rPr>
              <a:t>六个值</a:t>
            </a:r>
            <a:endParaRPr lang="zh-CN" sz="1200" b="1">
              <a:solidFill>
                <a:srgbClr val="38BDF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835" name="文本框 2834" descr="{&quot;isTemplate&quot;:true,&quot;type&quot;:&quot;text&quot;}"/>
          <p:cNvSpPr txBox="1"/>
          <p:nvPr/>
        </p:nvSpPr>
        <p:spPr>
          <a:xfrm>
            <a:off x="7391400" y="1619250"/>
            <a:ext cx="4000500" cy="2667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5000"/>
              </a:lnSpc>
            </a:pPr>
            <a:r>
              <a:rPr lang="en-US" sz="975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OK</a:t>
            </a:r>
            <a:r>
              <a:rPr lang="zh-CN" sz="975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　通过</a:t>
            </a:r>
            <a:endParaRPr lang="zh-CN" sz="975">
              <a:solidFill>
                <a:srgbClr val="E2E8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836" name="文本框 2835" descr="{&quot;isTemplate&quot;:true,&quot;type&quot;:&quot;text&quot;}"/>
          <p:cNvSpPr txBox="1"/>
          <p:nvPr/>
        </p:nvSpPr>
        <p:spPr>
          <a:xfrm>
            <a:off x="7391400" y="1924050"/>
            <a:ext cx="4000500" cy="2667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5000"/>
              </a:lnSpc>
            </a:pPr>
            <a:r>
              <a:rPr lang="en-US" sz="97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SessionNotFound(status, any)</a:t>
            </a:r>
            <a:r>
              <a:rPr lang="zh-CN" sz="97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　没找到登录状态（未登录</a:t>
            </a:r>
            <a:r>
              <a:rPr lang="en-US" sz="97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/ </a:t>
            </a:r>
            <a:r>
              <a:rPr lang="zh-CN" sz="97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已过期）</a:t>
            </a:r>
            <a:endParaRPr lang="zh-CN" sz="975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837" name="文本框 2836" descr="{&quot;isTemplate&quot;:true,&quot;type&quot;:&quot;text&quot;}"/>
          <p:cNvSpPr txBox="1"/>
          <p:nvPr/>
        </p:nvSpPr>
        <p:spPr>
          <a:xfrm>
            <a:off x="7391400" y="2228850"/>
            <a:ext cx="4000500" cy="2667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5000"/>
              </a:lnSpc>
            </a:pPr>
            <a:r>
              <a:rPr lang="en-US" sz="97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InvalidSession(status, any)</a:t>
            </a:r>
            <a:r>
              <a:rPr lang="zh-CN" sz="97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　找到了但本次传入的登录信息无效</a:t>
            </a:r>
            <a:endParaRPr lang="zh-CN" sz="975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838" name="文本框 2837" descr="{&quot;isTemplate&quot;:true,&quot;type&quot;:&quot;text&quot;}"/>
          <p:cNvSpPr txBox="1"/>
          <p:nvPr/>
        </p:nvSpPr>
        <p:spPr>
          <a:xfrm>
            <a:off x="7391400" y="2533650"/>
            <a:ext cx="4000500" cy="2667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5000"/>
              </a:lnSpc>
            </a:pPr>
            <a:r>
              <a:rPr lang="en-US" sz="97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SessionError(status, any)</a:t>
            </a:r>
            <a:r>
              <a:rPr lang="zh-CN" sz="97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　检查登录状态时出错</a:t>
            </a:r>
            <a:endParaRPr lang="zh-CN" sz="975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839" name="文本框 2838" descr="{&quot;isTemplate&quot;:true,&quot;type&quot;:&quot;text&quot;}"/>
          <p:cNvSpPr txBox="1"/>
          <p:nvPr/>
        </p:nvSpPr>
        <p:spPr>
          <a:xfrm>
            <a:off x="7391400" y="2838450"/>
            <a:ext cx="4000500" cy="2667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5000"/>
              </a:lnSpc>
            </a:pPr>
            <a:r>
              <a:rPr lang="en-US" sz="97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PrivilegeError(status, any)</a:t>
            </a:r>
            <a:r>
              <a:rPr lang="zh-CN" sz="97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　检查权限时出错</a:t>
            </a:r>
            <a:endParaRPr lang="zh-CN" sz="975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840" name="文本框 2839" descr="{&quot;isTemplate&quot;:true,&quot;type&quot;:&quot;text&quot;}"/>
          <p:cNvSpPr txBox="1"/>
          <p:nvPr/>
        </p:nvSpPr>
        <p:spPr>
          <a:xfrm>
            <a:off x="7391400" y="3143250"/>
            <a:ext cx="4000500" cy="2667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5000"/>
              </a:lnSpc>
            </a:pPr>
            <a:r>
              <a:rPr lang="en-US" sz="97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NoPrivilege(status, any)</a:t>
            </a:r>
            <a:r>
              <a:rPr lang="zh-CN" sz="97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　没有权限</a:t>
            </a:r>
            <a:endParaRPr lang="zh-CN" sz="975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841" name="圆角矩形 2840"/>
          <p:cNvSpPr/>
          <p:nvPr/>
        </p:nvSpPr>
        <p:spPr>
          <a:xfrm>
            <a:off x="7200900" y="4686300"/>
            <a:ext cx="4381500" cy="1600200"/>
          </a:xfrm>
          <a:prstGeom prst="roundRect">
            <a:avLst>
              <a:gd name="adj" fmla="val 7143"/>
            </a:avLst>
          </a:prstGeom>
          <a:solidFill>
            <a:srgbClr val="111C2E"/>
          </a:solidFill>
          <a:ln w="12700">
            <a:solidFill>
              <a:srgbClr val="1E293B"/>
            </a:solidFill>
            <a:prstDash val="solid"/>
          </a:ln>
        </p:spPr>
        <p:txBody>
          <a:bodyPr/>
          <a:p/>
        </p:txBody>
      </p:sp>
      <p:sp>
        <p:nvSpPr>
          <p:cNvPr id="2842" name="文本框 2841" descr="{&quot;isTemplate&quot;:true,&quot;type&quot;:&quot;text&quot;}"/>
          <p:cNvSpPr txBox="1"/>
          <p:nvPr/>
        </p:nvSpPr>
        <p:spPr>
          <a:xfrm>
            <a:off x="7391400" y="4876800"/>
            <a:ext cx="4000500" cy="1714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两个细节</a:t>
            </a:r>
            <a:endParaRPr lang="zh-CN" sz="1125" b="1">
              <a:solidFill>
                <a:srgbClr val="E2E8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843" name="文本框 2842" descr="{&quot;isTemplate&quot;:true,&quot;type&quot;:&quot;text&quot;}"/>
          <p:cNvSpPr txBox="1"/>
          <p:nvPr/>
        </p:nvSpPr>
        <p:spPr>
          <a:xfrm>
            <a:off x="7391400" y="5124450"/>
            <a:ext cx="4000500" cy="2667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5000"/>
              </a:lnSpc>
            </a:pPr>
            <a:r>
              <a:rPr lang="zh-CN" sz="97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不带</a:t>
            </a:r>
            <a:r>
              <a:rPr lang="en-US" sz="97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HttpStatus </a:t>
            </a:r>
            <a:r>
              <a:rPr lang="zh-CN" sz="97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的构造器表示状态码</a:t>
            </a:r>
            <a:r>
              <a:rPr lang="en-US" sz="97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200</a:t>
            </a:r>
            <a:r>
              <a:rPr lang="zh-CN" sz="97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；带的话用你指定的状态码。</a:t>
            </a:r>
            <a:endParaRPr lang="zh-CN" sz="975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844" name="文本框 2843" descr="{&quot;isTemplate&quot;:true,&quot;type&quot;:&quot;text&quot;}"/>
          <p:cNvSpPr txBox="1"/>
          <p:nvPr/>
        </p:nvSpPr>
        <p:spPr>
          <a:xfrm>
            <a:off x="7391400" y="5467350"/>
            <a:ext cx="4000500" cy="523875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75000"/>
              </a:lnSpc>
            </a:pPr>
            <a:r>
              <a:rPr lang="en-US" sz="97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Any </a:t>
            </a:r>
            <a:r>
              <a:rPr lang="zh-CN" sz="97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实际支持</a:t>
            </a:r>
            <a:r>
              <a:rPr lang="en-US" sz="97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String / ToString / InputStream / </a:t>
            </a:r>
            <a:r>
              <a:rPr lang="zh-CN" sz="97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字节数组</a:t>
            </a:r>
            <a:r>
              <a:rPr lang="en-US" sz="97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/ f_data.ToData</a:t>
            </a:r>
            <a:r>
              <a:rPr lang="zh-CN" sz="97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。</a:t>
            </a:r>
            <a:endParaRPr lang="zh-CN" sz="975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845" name="任意多边形 2844"/>
          <p:cNvSpPr/>
          <p:nvPr/>
        </p:nvSpPr>
        <p:spPr>
          <a:xfrm>
            <a:off x="609600" y="6286500"/>
            <a:ext cx="10972800" cy="381000"/>
          </a:xfrm>
          <a:custGeom>
            <a:avLst/>
            <a:gdLst/>
            <a:ahLst/>
            <a:cxnLst/>
            <a:pathLst>
              <a:path w="1152" h="40">
                <a:moveTo>
                  <a:pt x="0" y="0"/>
                </a:moveTo>
                <a:lnTo>
                  <a:pt x="1152" y="0"/>
                </a:lnTo>
                <a:lnTo>
                  <a:pt x="1152" y="1"/>
                </a:lnTo>
                <a:lnTo>
                  <a:pt x="0" y="1"/>
                </a:lnTo>
                <a:close/>
              </a:path>
            </a:pathLst>
          </a:custGeom>
          <a:solidFill>
            <a:srgbClr val="1E293B"/>
          </a:solidFill>
        </p:spPr>
        <p:txBody>
          <a:bodyPr/>
          <a:p/>
        </p:txBody>
      </p:sp>
      <p:sp>
        <p:nvSpPr>
          <p:cNvPr id="2846" name="文本框 2845" descr="{&quot;isTemplate&quot;:true,&quot;type&quot;:&quot;text&quot;}"/>
          <p:cNvSpPr txBox="1"/>
          <p:nvPr/>
        </p:nvSpPr>
        <p:spPr>
          <a:xfrm>
            <a:off x="609600" y="6410325"/>
            <a:ext cx="2219325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fountain · 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一站式服务器应用开发工具库</a:t>
            </a:r>
            <a:endParaRPr lang="zh-CN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847" name="文本框 2846" descr="{&quot;isTemplate&quot;:true,&quot;type&quot;:&quot;text&quot;}"/>
          <p:cNvSpPr txBox="1"/>
          <p:nvPr/>
        </p:nvSpPr>
        <p:spPr>
          <a:xfrm>
            <a:off x="11087100" y="6410325"/>
            <a:ext cx="495300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87 / 116</a:t>
            </a:r>
            <a:endParaRPr lang="en-US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84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9" name="矩形 2848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220"/>
          </a:solidFill>
        </p:spPr>
        <p:txBody>
          <a:bodyPr/>
          <a:p/>
        </p:txBody>
      </p:sp>
      <p:sp>
        <p:nvSpPr>
          <p:cNvPr id="2850" name="矩形 2849"/>
          <p:cNvSpPr/>
          <p:nvPr/>
        </p:nvSpPr>
        <p:spPr>
          <a:xfrm>
            <a:off x="609600" y="476250"/>
            <a:ext cx="38100" cy="381000"/>
          </a:xfrm>
          <a:prstGeom prst="rect">
            <a:avLst/>
          </a:prstGeom>
          <a:solidFill>
            <a:srgbClr val="38BDF8"/>
          </a:solidFill>
        </p:spPr>
        <p:txBody>
          <a:bodyPr/>
          <a:p/>
        </p:txBody>
      </p:sp>
      <p:sp>
        <p:nvSpPr>
          <p:cNvPr id="2851" name="文本框 2850" descr="{&quot;isTemplate&quot;:true,&quot;type&quot;:&quot;text&quot;}"/>
          <p:cNvSpPr txBox="1"/>
          <p:nvPr/>
        </p:nvSpPr>
        <p:spPr>
          <a:xfrm>
            <a:off x="819150" y="304800"/>
            <a:ext cx="9105900" cy="2095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第</a:t>
            </a: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 13 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章</a:t>
            </a: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 · 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安全</a:t>
            </a: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 f_security + f_jwt · 13.1 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续</a:t>
            </a:r>
            <a:endParaRPr lang="zh-CN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852" name="文本框 2851" descr="{&quot;isTemplate&quot;:true,&quot;type&quot;:&quot;text&quot;}"/>
          <p:cNvSpPr txBox="1"/>
          <p:nvPr/>
        </p:nvSpPr>
        <p:spPr>
          <a:xfrm>
            <a:off x="819150" y="514350"/>
            <a:ext cx="9105900" cy="5143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en-US" sz="2550" b="1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MVC </a:t>
            </a:r>
            <a:r>
              <a:rPr lang="zh-CN" sz="2550" b="1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怎么挑</a:t>
            </a:r>
            <a:r>
              <a:rPr lang="en-US" sz="2550" b="1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 handler</a:t>
            </a:r>
            <a:endParaRPr lang="en-US" sz="2550" b="1">
              <a:solidFill>
                <a:srgbClr val="E2E8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853" name="文本框 2852" descr="{&quot;isTemplate&quot;:true,&quot;type&quot;:&quot;text&quot;}"/>
          <p:cNvSpPr txBox="1"/>
          <p:nvPr/>
        </p:nvSpPr>
        <p:spPr>
          <a:xfrm>
            <a:off x="10096500" y="590550"/>
            <a:ext cx="1485900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这决定了你的类该怎么设计</a:t>
            </a:r>
            <a:endParaRPr lang="zh-CN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854" name="圆角矩形 2853"/>
          <p:cNvSpPr/>
          <p:nvPr/>
        </p:nvSpPr>
        <p:spPr>
          <a:xfrm>
            <a:off x="609600" y="1143000"/>
            <a:ext cx="10972800" cy="542925"/>
          </a:xfrm>
          <a:prstGeom prst="roundRect">
            <a:avLst>
              <a:gd name="adj" fmla="val 17544"/>
            </a:avLst>
          </a:prstGeom>
          <a:solidFill>
            <a:srgbClr val="111C2E"/>
          </a:solidFill>
        </p:spPr>
        <p:txBody>
          <a:bodyPr/>
          <a:p/>
        </p:txBody>
      </p:sp>
      <p:sp>
        <p:nvSpPr>
          <p:cNvPr id="2855" name="文本框 2854" descr="{&quot;isTemplate&quot;:true,&quot;type&quot;:&quot;text&quot;}"/>
          <p:cNvSpPr txBox="1"/>
          <p:nvPr/>
        </p:nvSpPr>
        <p:spPr>
          <a:xfrm>
            <a:off x="742950" y="1276350"/>
            <a:ext cx="323850" cy="2762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b="1">
                <a:solidFill>
                  <a:srgbClr val="38BDF8"/>
                </a:solidFill>
                <a:latin typeface="JetBrains Mono"/>
                <a:ea typeface="JetBrains Mono"/>
              </a:rPr>
              <a:t>1</a:t>
            </a:r>
            <a:endParaRPr lang="en-US" sz="1500" b="1">
              <a:solidFill>
                <a:srgbClr val="38BDF8"/>
              </a:solidFill>
              <a:latin typeface="JetBrains Mono"/>
              <a:ea typeface="JetBrains Mono"/>
            </a:endParaRPr>
          </a:p>
        </p:txBody>
      </p:sp>
      <p:sp>
        <p:nvSpPr>
          <p:cNvPr id="2856" name="文本框 2855" descr="{&quot;isTemplate&quot;:true,&quot;type&quot;:&quot;text&quot;}"/>
          <p:cNvSpPr txBox="1"/>
          <p:nvPr/>
        </p:nvSpPr>
        <p:spPr>
          <a:xfrm>
            <a:off x="1200150" y="1276350"/>
            <a:ext cx="10248900" cy="2762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en-US" sz="1125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ignoreAuth </a:t>
            </a:r>
            <a:r>
              <a:rPr lang="zh-CN" sz="1125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且</a:t>
            </a:r>
            <a:r>
              <a:rPr lang="en-US" sz="1125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 ignorePrivilege </a:t>
            </a:r>
            <a:r>
              <a:rPr lang="zh-CN" sz="1125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都为</a:t>
            </a:r>
            <a:r>
              <a:rPr lang="en-US" sz="1125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 true → </a:t>
            </a:r>
            <a:r>
              <a:rPr lang="zh-CN" sz="1125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直接</a:t>
            </a:r>
            <a:r>
              <a:rPr lang="en-US" sz="1125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 OK</a:t>
            </a:r>
            <a:r>
              <a:rPr lang="zh-CN" sz="1125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（不查）</a:t>
            </a:r>
            <a:endParaRPr lang="zh-CN" sz="1125">
              <a:solidFill>
                <a:srgbClr val="E2E8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857" name="圆角矩形 2856"/>
          <p:cNvSpPr/>
          <p:nvPr/>
        </p:nvSpPr>
        <p:spPr>
          <a:xfrm>
            <a:off x="609600" y="1781175"/>
            <a:ext cx="10972800" cy="542925"/>
          </a:xfrm>
          <a:prstGeom prst="roundRect">
            <a:avLst>
              <a:gd name="adj" fmla="val 17544"/>
            </a:avLst>
          </a:prstGeom>
          <a:solidFill>
            <a:srgbClr val="111C2E"/>
          </a:solidFill>
        </p:spPr>
        <p:txBody>
          <a:bodyPr/>
          <a:p/>
        </p:txBody>
      </p:sp>
      <p:sp>
        <p:nvSpPr>
          <p:cNvPr id="2858" name="文本框 2857" descr="{&quot;isTemplate&quot;:true,&quot;type&quot;:&quot;text&quot;}"/>
          <p:cNvSpPr txBox="1"/>
          <p:nvPr/>
        </p:nvSpPr>
        <p:spPr>
          <a:xfrm>
            <a:off x="742950" y="1914525"/>
            <a:ext cx="323850" cy="2762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b="1">
                <a:solidFill>
                  <a:srgbClr val="38BDF8"/>
                </a:solidFill>
                <a:latin typeface="JetBrains Mono"/>
                <a:ea typeface="JetBrains Mono"/>
              </a:rPr>
              <a:t>2</a:t>
            </a:r>
            <a:endParaRPr lang="en-US" sz="1500" b="1">
              <a:solidFill>
                <a:srgbClr val="38BDF8"/>
              </a:solidFill>
              <a:latin typeface="JetBrains Mono"/>
              <a:ea typeface="JetBrains Mono"/>
            </a:endParaRPr>
          </a:p>
        </p:txBody>
      </p:sp>
      <p:sp>
        <p:nvSpPr>
          <p:cNvPr id="2859" name="文本框 2858" descr="{&quot;isTemplate&quot;:true,&quot;type&quot;:&quot;text&quot;}"/>
          <p:cNvSpPr txBox="1"/>
          <p:nvPr/>
        </p:nvSpPr>
        <p:spPr>
          <a:xfrm>
            <a:off x="1200150" y="1914525"/>
            <a:ext cx="10248900" cy="2762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125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存在「通用」</a:t>
            </a:r>
            <a:r>
              <a:rPr lang="en-US" sz="1125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AuthHandler → </a:t>
            </a:r>
            <a:r>
              <a:rPr lang="zh-CN" sz="1125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用它一次检查完</a:t>
            </a:r>
            <a:endParaRPr lang="zh-CN" sz="1125">
              <a:solidFill>
                <a:srgbClr val="E2E8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860" name="圆角矩形 2859"/>
          <p:cNvSpPr/>
          <p:nvPr/>
        </p:nvSpPr>
        <p:spPr>
          <a:xfrm>
            <a:off x="609600" y="2419350"/>
            <a:ext cx="10972800" cy="542925"/>
          </a:xfrm>
          <a:prstGeom prst="roundRect">
            <a:avLst>
              <a:gd name="adj" fmla="val 17544"/>
            </a:avLst>
          </a:prstGeom>
          <a:solidFill>
            <a:srgbClr val="111C2E"/>
          </a:solidFill>
        </p:spPr>
        <p:txBody>
          <a:bodyPr/>
          <a:p/>
        </p:txBody>
      </p:sp>
      <p:sp>
        <p:nvSpPr>
          <p:cNvPr id="2861" name="文本框 2860" descr="{&quot;isTemplate&quot;:true,&quot;type&quot;:&quot;text&quot;}"/>
          <p:cNvSpPr txBox="1"/>
          <p:nvPr/>
        </p:nvSpPr>
        <p:spPr>
          <a:xfrm>
            <a:off x="742950" y="2552700"/>
            <a:ext cx="323850" cy="2762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b="1">
                <a:solidFill>
                  <a:srgbClr val="38BDF8"/>
                </a:solidFill>
                <a:latin typeface="JetBrains Mono"/>
                <a:ea typeface="JetBrains Mono"/>
              </a:rPr>
              <a:t>3</a:t>
            </a:r>
            <a:endParaRPr lang="en-US" sz="1500" b="1">
              <a:solidFill>
                <a:srgbClr val="38BDF8"/>
              </a:solidFill>
              <a:latin typeface="JetBrains Mono"/>
              <a:ea typeface="JetBrains Mono"/>
            </a:endParaRPr>
          </a:p>
        </p:txBody>
      </p:sp>
      <p:sp>
        <p:nvSpPr>
          <p:cNvPr id="2862" name="文本框 2861" descr="{&quot;isTemplate&quot;:true,&quot;type&quot;:&quot;text&quot;}"/>
          <p:cNvSpPr txBox="1"/>
          <p:nvPr/>
        </p:nvSpPr>
        <p:spPr>
          <a:xfrm>
            <a:off x="1200150" y="2552700"/>
            <a:ext cx="10248900" cy="2762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125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否则：未忽略鉴权且</a:t>
            </a:r>
            <a:r>
              <a:rPr lang="en-US" sz="1125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 UserSessionHandler </a:t>
            </a:r>
            <a:r>
              <a:rPr lang="zh-CN" sz="1125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存在</a:t>
            </a:r>
            <a:r>
              <a:rPr lang="en-US" sz="1125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 → </a:t>
            </a:r>
            <a:r>
              <a:rPr lang="zh-CN" sz="1125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用它检查登录状态；通过则执行第</a:t>
            </a:r>
            <a:r>
              <a:rPr lang="en-US" sz="1125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 4 </a:t>
            </a:r>
            <a:r>
              <a:rPr lang="zh-CN" sz="1125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步，否则失败</a:t>
            </a:r>
            <a:endParaRPr lang="zh-CN" sz="1125">
              <a:solidFill>
                <a:srgbClr val="E2E8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863" name="圆角矩形 2862"/>
          <p:cNvSpPr/>
          <p:nvPr/>
        </p:nvSpPr>
        <p:spPr>
          <a:xfrm>
            <a:off x="609600" y="3057525"/>
            <a:ext cx="10972800" cy="542925"/>
          </a:xfrm>
          <a:prstGeom prst="roundRect">
            <a:avLst>
              <a:gd name="adj" fmla="val 17544"/>
            </a:avLst>
          </a:prstGeom>
          <a:solidFill>
            <a:srgbClr val="111C2E"/>
          </a:solidFill>
        </p:spPr>
        <p:txBody>
          <a:bodyPr/>
          <a:p/>
        </p:txBody>
      </p:sp>
      <p:sp>
        <p:nvSpPr>
          <p:cNvPr id="2864" name="文本框 2863" descr="{&quot;isTemplate&quot;:true,&quot;type&quot;:&quot;text&quot;}"/>
          <p:cNvSpPr txBox="1"/>
          <p:nvPr/>
        </p:nvSpPr>
        <p:spPr>
          <a:xfrm>
            <a:off x="742950" y="3190875"/>
            <a:ext cx="323850" cy="2762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b="1">
                <a:solidFill>
                  <a:srgbClr val="38BDF8"/>
                </a:solidFill>
                <a:latin typeface="JetBrains Mono"/>
                <a:ea typeface="JetBrains Mono"/>
              </a:rPr>
              <a:t>4</a:t>
            </a:r>
            <a:endParaRPr lang="en-US" sz="1500" b="1">
              <a:solidFill>
                <a:srgbClr val="38BDF8"/>
              </a:solidFill>
              <a:latin typeface="JetBrains Mono"/>
              <a:ea typeface="JetBrains Mono"/>
            </a:endParaRPr>
          </a:p>
        </p:txBody>
      </p:sp>
      <p:sp>
        <p:nvSpPr>
          <p:cNvPr id="2865" name="文本框 2864" descr="{&quot;isTemplate&quot;:true,&quot;type&quot;:&quot;text&quot;}"/>
          <p:cNvSpPr txBox="1"/>
          <p:nvPr/>
        </p:nvSpPr>
        <p:spPr>
          <a:xfrm>
            <a:off x="1200150" y="3190875"/>
            <a:ext cx="10248900" cy="2762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125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未忽略权限且</a:t>
            </a:r>
            <a:r>
              <a:rPr lang="en-US" sz="1125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 PrivilegeHandler </a:t>
            </a:r>
            <a:r>
              <a:rPr lang="zh-CN" sz="1125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存在</a:t>
            </a:r>
            <a:r>
              <a:rPr lang="en-US" sz="1125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 → </a:t>
            </a:r>
            <a:r>
              <a:rPr lang="zh-CN" sz="1125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用它检查权限</a:t>
            </a:r>
            <a:endParaRPr lang="zh-CN" sz="1125">
              <a:solidFill>
                <a:srgbClr val="E2E8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866" name="圆角矩形 2865"/>
          <p:cNvSpPr/>
          <p:nvPr/>
        </p:nvSpPr>
        <p:spPr>
          <a:xfrm>
            <a:off x="609600" y="3695700"/>
            <a:ext cx="10972800" cy="542925"/>
          </a:xfrm>
          <a:prstGeom prst="roundRect">
            <a:avLst>
              <a:gd name="adj" fmla="val 17544"/>
            </a:avLst>
          </a:prstGeom>
          <a:solidFill>
            <a:srgbClr val="111C2E"/>
          </a:solidFill>
        </p:spPr>
        <p:txBody>
          <a:bodyPr/>
          <a:p/>
        </p:txBody>
      </p:sp>
      <p:sp>
        <p:nvSpPr>
          <p:cNvPr id="2867" name="文本框 2866" descr="{&quot;isTemplate&quot;:true,&quot;type&quot;:&quot;text&quot;}"/>
          <p:cNvSpPr txBox="1"/>
          <p:nvPr/>
        </p:nvSpPr>
        <p:spPr>
          <a:xfrm>
            <a:off x="742950" y="3829050"/>
            <a:ext cx="323850" cy="2762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b="1">
                <a:solidFill>
                  <a:srgbClr val="38BDF8"/>
                </a:solidFill>
                <a:latin typeface="JetBrains Mono"/>
                <a:ea typeface="JetBrains Mono"/>
              </a:rPr>
              <a:t>5</a:t>
            </a:r>
            <a:endParaRPr lang="en-US" sz="1500" b="1">
              <a:solidFill>
                <a:srgbClr val="38BDF8"/>
              </a:solidFill>
              <a:latin typeface="JetBrains Mono"/>
              <a:ea typeface="JetBrains Mono"/>
            </a:endParaRPr>
          </a:p>
        </p:txBody>
      </p:sp>
      <p:sp>
        <p:nvSpPr>
          <p:cNvPr id="2868" name="文本框 2867" descr="{&quot;isTemplate&quot;:true,&quot;type&quot;:&quot;text&quot;}"/>
          <p:cNvSpPr txBox="1"/>
          <p:nvPr/>
        </p:nvSpPr>
        <p:spPr>
          <a:xfrm>
            <a:off x="1200150" y="3829050"/>
            <a:ext cx="10248900" cy="2762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125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都没有</a:t>
            </a:r>
            <a:r>
              <a:rPr lang="en-US" sz="1125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 → OK</a:t>
            </a:r>
            <a:endParaRPr lang="en-US" sz="1125">
              <a:solidFill>
                <a:srgbClr val="E2E8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869" name="圆角矩形 2868"/>
          <p:cNvSpPr/>
          <p:nvPr/>
        </p:nvSpPr>
        <p:spPr>
          <a:xfrm>
            <a:off x="609600" y="4333875"/>
            <a:ext cx="10972800" cy="1952625"/>
          </a:xfrm>
          <a:prstGeom prst="roundRect">
            <a:avLst>
              <a:gd name="adj" fmla="val 5854"/>
            </a:avLst>
          </a:prstGeom>
          <a:solidFill>
            <a:srgbClr val="F59E0B">
              <a:alpha val="7000"/>
            </a:srgbClr>
          </a:solidFill>
          <a:ln w="12700">
            <a:solidFill>
              <a:srgbClr val="F59E0B"/>
            </a:solidFill>
            <a:prstDash val="solid"/>
          </a:ln>
        </p:spPr>
        <p:txBody>
          <a:bodyPr/>
          <a:p/>
        </p:txBody>
      </p:sp>
      <p:sp>
        <p:nvSpPr>
          <p:cNvPr id="2870" name="文本框 2869" descr="{&quot;isTemplate&quot;:true,&quot;type&quot;:&quot;text&quot;}"/>
          <p:cNvSpPr txBox="1"/>
          <p:nvPr/>
        </p:nvSpPr>
        <p:spPr>
          <a:xfrm>
            <a:off x="781050" y="4505325"/>
            <a:ext cx="10629900" cy="1905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重要结论：第</a:t>
            </a:r>
            <a:r>
              <a:rPr lang="en-US" sz="1200" b="1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 3 </a:t>
            </a:r>
            <a:r>
              <a:rPr lang="zh-CN" sz="1200" b="1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步一旦通过就直接返回，第</a:t>
            </a:r>
            <a:r>
              <a:rPr lang="en-US" sz="1200" b="1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 4 </a:t>
            </a:r>
            <a:r>
              <a:rPr lang="zh-CN" sz="1200" b="1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步的权限检查不会执行</a:t>
            </a:r>
            <a:endParaRPr lang="zh-CN" sz="1200" b="1">
              <a:solidFill>
                <a:srgbClr val="F59E0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871" name="文本框 2870" descr="{&quot;isTemplate&quot;:true,&quot;type&quot;:&quot;text&quot;}"/>
          <p:cNvSpPr txBox="1"/>
          <p:nvPr/>
        </p:nvSpPr>
        <p:spPr>
          <a:xfrm>
            <a:off x="781050" y="4772025"/>
            <a:ext cx="10629900" cy="2762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zh-CN" sz="105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所以源码注释明确写着：如果登录状态和权限都要检查，最好在同一个类里实现、一次调用检查完</a:t>
            </a:r>
            <a:r>
              <a:rPr lang="en-US" sz="105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 —— fdemo </a:t>
            </a:r>
            <a:r>
              <a:rPr lang="zh-CN" sz="105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的</a:t>
            </a:r>
            <a:r>
              <a:rPr lang="en-US" sz="105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 AuthCheckerImpl </a:t>
            </a:r>
            <a:r>
              <a:rPr lang="zh-CN" sz="105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就是这个做法。</a:t>
            </a:r>
            <a:endParaRPr lang="zh-CN" sz="1050">
              <a:solidFill>
                <a:srgbClr val="E2E8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872" name="文本框 2871" descr="{&quot;isTemplate&quot;:true,&quot;type&quot;:&quot;text&quot;}"/>
          <p:cNvSpPr txBox="1"/>
          <p:nvPr/>
        </p:nvSpPr>
        <p:spPr>
          <a:xfrm>
            <a:off x="781050" y="5105400"/>
            <a:ext cx="10629900" cy="2762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zh-CN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确实需要拆成两个</a:t>
            </a:r>
            <a:r>
              <a:rPr lang="en-US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bean </a:t>
            </a:r>
            <a:r>
              <a:rPr lang="zh-CN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时，分别实现</a:t>
            </a:r>
            <a:r>
              <a:rPr lang="en-US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UserSessionHandler </a:t>
            </a:r>
            <a:r>
              <a:rPr lang="zh-CN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和</a:t>
            </a:r>
            <a:r>
              <a:rPr lang="en-US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PrivilegeHandler</a:t>
            </a:r>
            <a:r>
              <a:rPr lang="zh-CN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，但要清楚这个优先级语义。</a:t>
            </a:r>
            <a:endParaRPr lang="zh-CN" sz="1050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873" name="任意多边形 2872"/>
          <p:cNvSpPr/>
          <p:nvPr/>
        </p:nvSpPr>
        <p:spPr>
          <a:xfrm>
            <a:off x="609600" y="6286500"/>
            <a:ext cx="10972800" cy="381000"/>
          </a:xfrm>
          <a:custGeom>
            <a:avLst/>
            <a:gdLst/>
            <a:ahLst/>
            <a:cxnLst/>
            <a:pathLst>
              <a:path w="1152" h="40">
                <a:moveTo>
                  <a:pt x="0" y="0"/>
                </a:moveTo>
                <a:lnTo>
                  <a:pt x="1152" y="0"/>
                </a:lnTo>
                <a:lnTo>
                  <a:pt x="1152" y="1"/>
                </a:lnTo>
                <a:lnTo>
                  <a:pt x="0" y="1"/>
                </a:lnTo>
                <a:close/>
              </a:path>
            </a:pathLst>
          </a:custGeom>
          <a:solidFill>
            <a:srgbClr val="1E293B"/>
          </a:solidFill>
        </p:spPr>
        <p:txBody>
          <a:bodyPr/>
          <a:p/>
        </p:txBody>
      </p:sp>
      <p:sp>
        <p:nvSpPr>
          <p:cNvPr id="2874" name="文本框 2873" descr="{&quot;isTemplate&quot;:true,&quot;type&quot;:&quot;text&quot;}"/>
          <p:cNvSpPr txBox="1"/>
          <p:nvPr/>
        </p:nvSpPr>
        <p:spPr>
          <a:xfrm>
            <a:off x="609600" y="6410325"/>
            <a:ext cx="2219325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fountain · 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一站式服务器应用开发工具库</a:t>
            </a:r>
            <a:endParaRPr lang="zh-CN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875" name="文本框 2874" descr="{&quot;isTemplate&quot;:true,&quot;type&quot;:&quot;text&quot;}"/>
          <p:cNvSpPr txBox="1"/>
          <p:nvPr/>
        </p:nvSpPr>
        <p:spPr>
          <a:xfrm>
            <a:off x="11087100" y="6410325"/>
            <a:ext cx="495300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88 / 116</a:t>
            </a:r>
            <a:endParaRPr lang="en-US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87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7" name="矩形 2876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220"/>
          </a:solidFill>
        </p:spPr>
        <p:txBody>
          <a:bodyPr/>
          <a:p/>
        </p:txBody>
      </p:sp>
      <p:sp>
        <p:nvSpPr>
          <p:cNvPr id="2878" name="矩形 2877"/>
          <p:cNvSpPr/>
          <p:nvPr/>
        </p:nvSpPr>
        <p:spPr>
          <a:xfrm>
            <a:off x="609600" y="476250"/>
            <a:ext cx="38100" cy="381000"/>
          </a:xfrm>
          <a:prstGeom prst="rect">
            <a:avLst/>
          </a:prstGeom>
          <a:solidFill>
            <a:srgbClr val="38BDF8"/>
          </a:solidFill>
        </p:spPr>
        <p:txBody>
          <a:bodyPr/>
          <a:p/>
        </p:txBody>
      </p:sp>
      <p:sp>
        <p:nvSpPr>
          <p:cNvPr id="2879" name="文本框 2878" descr="{&quot;isTemplate&quot;:true,&quot;type&quot;:&quot;text&quot;}"/>
          <p:cNvSpPr txBox="1"/>
          <p:nvPr/>
        </p:nvSpPr>
        <p:spPr>
          <a:xfrm>
            <a:off x="819150" y="304800"/>
            <a:ext cx="9848850" cy="2095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第</a:t>
            </a: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 13 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章</a:t>
            </a: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 · 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安全</a:t>
            </a: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 f_security + f_jwt · 13.2</a:t>
            </a:r>
            <a:endParaRPr lang="en-US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880" name="文本框 2879" descr="{&quot;isTemplate&quot;:true,&quot;type&quot;:&quot;text&quot;}"/>
          <p:cNvSpPr txBox="1"/>
          <p:nvPr/>
        </p:nvSpPr>
        <p:spPr>
          <a:xfrm>
            <a:off x="819150" y="514350"/>
            <a:ext cx="9848850" cy="5143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2550" b="1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用</a:t>
            </a:r>
            <a:r>
              <a:rPr lang="en-US" sz="2550" b="1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 JWT </a:t>
            </a:r>
            <a:r>
              <a:rPr lang="zh-CN" sz="2550" b="1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维持登录状态</a:t>
            </a:r>
            <a:endParaRPr lang="zh-CN" sz="2550" b="1">
              <a:solidFill>
                <a:srgbClr val="E2E8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881" name="文本框 2880" descr="{&quot;isTemplate&quot;:true,&quot;type&quot;:&quot;text&quot;}"/>
          <p:cNvSpPr txBox="1"/>
          <p:nvPr/>
        </p:nvSpPr>
        <p:spPr>
          <a:xfrm>
            <a:off x="10839450" y="590550"/>
            <a:ext cx="742950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建议整屏展示</a:t>
            </a:r>
            <a:endParaRPr lang="zh-CN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882" name="圆角矩形 2881"/>
          <p:cNvSpPr/>
          <p:nvPr/>
        </p:nvSpPr>
        <p:spPr>
          <a:xfrm>
            <a:off x="609600" y="1143000"/>
            <a:ext cx="6972300" cy="5143500"/>
          </a:xfrm>
          <a:prstGeom prst="roundRect">
            <a:avLst>
              <a:gd name="adj" fmla="val 2222"/>
            </a:avLst>
          </a:prstGeom>
          <a:solidFill>
            <a:srgbClr val="0B1220"/>
          </a:solidFill>
          <a:ln w="12700">
            <a:solidFill>
              <a:srgbClr val="38BDF8"/>
            </a:solidFill>
            <a:prstDash val="solid"/>
          </a:ln>
        </p:spPr>
        <p:txBody>
          <a:bodyPr/>
          <a:p/>
        </p:txBody>
      </p:sp>
      <p:sp>
        <p:nvSpPr>
          <p:cNvPr id="2883" name="文本框 2882" descr="{&quot;isTemplate&quot;:true,&quot;type&quot;:&quot;text&quot;}"/>
          <p:cNvSpPr txBox="1"/>
          <p:nvPr/>
        </p:nvSpPr>
        <p:spPr>
          <a:xfrm>
            <a:off x="781050" y="1314450"/>
            <a:ext cx="6629400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38BDF8"/>
                </a:solidFill>
                <a:latin typeface="微软雅黑" panose="020B0503020204020204" charset="-122"/>
                <a:ea typeface="微软雅黑" panose="020B0503020204020204" charset="-122"/>
              </a:rPr>
              <a:t>fdemo/user/src/util/UserSessionCache.cj</a:t>
            </a:r>
            <a:endParaRPr lang="en-US" sz="975">
              <a:solidFill>
                <a:srgbClr val="38BDF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884" name="文本框 2883" descr="{&quot;isTemplate&quot;:true,&quot;type&quot;:&quot;text&quot;}"/>
          <p:cNvSpPr txBox="1"/>
          <p:nvPr/>
        </p:nvSpPr>
        <p:spPr>
          <a:xfrm>
            <a:off x="781050" y="1543050"/>
            <a:ext cx="6629400" cy="2381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en-US" sz="900">
                <a:solidFill>
                  <a:srgbClr val="E2E8F0"/>
                </a:solidFill>
                <a:latin typeface="JetBrains Mono"/>
                <a:ea typeface="JetBrains Mono"/>
              </a:rPr>
              <a:t>public class UserSessionCache </a:t>
            </a:r>
            <a:r>
              <a:rPr lang="en-US" sz="900">
                <a:solidFill>
                  <a:srgbClr val="E2E8F0"/>
                </a:solidFill>
                <a:latin typeface="JetBrains Mono"/>
                <a:ea typeface="JetBrains Mono"/>
              </a:rPr>
              <a:t>{</a:t>
            </a:r>
            <a:endParaRPr lang="en-US" sz="900">
              <a:solidFill>
                <a:srgbClr val="E2E8F0"/>
              </a:solidFill>
              <a:latin typeface="JetBrains Mono"/>
              <a:ea typeface="JetBrains Mono"/>
            </a:endParaRPr>
          </a:p>
        </p:txBody>
      </p:sp>
      <p:sp>
        <p:nvSpPr>
          <p:cNvPr id="2885" name="文本框 2884" descr="{&quot;isTemplate&quot;:true,&quot;type&quot;:&quot;text&quot;}"/>
          <p:cNvSpPr txBox="1"/>
          <p:nvPr/>
        </p:nvSpPr>
        <p:spPr>
          <a:xfrm>
            <a:off x="781050" y="1781175"/>
            <a:ext cx="6629400" cy="2381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en-US" sz="900">
                <a:solidFill>
                  <a:srgbClr val="94A3B8"/>
                </a:solidFill>
                <a:latin typeface="JetBrains Mono"/>
                <a:ea typeface="JetBrains Mono"/>
              </a:rPr>
              <a:t>    // ① </a:t>
            </a:r>
            <a:r>
              <a:rPr lang="zh-CN" sz="900">
                <a:solidFill>
                  <a:srgbClr val="94A3B8"/>
                </a:solidFill>
                <a:latin typeface="JetBrains Mono"/>
                <a:ea typeface="JetBrains Mono"/>
              </a:rPr>
              <a:t>安全上下文：</a:t>
            </a:r>
            <a:r>
              <a:rPr lang="en-US" sz="900">
                <a:solidFill>
                  <a:srgbClr val="94A3B8"/>
                </a:solidFill>
                <a:latin typeface="JetBrains Mono"/>
                <a:ea typeface="JetBrains Mono"/>
              </a:rPr>
              <a:t>JWT </a:t>
            </a:r>
            <a:r>
              <a:rPr lang="zh-CN" sz="900">
                <a:solidFill>
                  <a:srgbClr val="94A3B8"/>
                </a:solidFill>
                <a:latin typeface="JetBrains Mono"/>
                <a:ea typeface="JetBrains Mono"/>
              </a:rPr>
              <a:t>登录状态</a:t>
            </a:r>
            <a:r>
              <a:rPr lang="en-US" sz="900">
                <a:solidFill>
                  <a:srgbClr val="94A3B8"/>
                </a:solidFill>
                <a:latin typeface="JetBrains Mono"/>
                <a:ea typeface="JetBrains Mono"/>
              </a:rPr>
              <a:t> + </a:t>
            </a:r>
            <a:r>
              <a:rPr lang="zh-CN" sz="900">
                <a:solidFill>
                  <a:srgbClr val="94A3B8"/>
                </a:solidFill>
                <a:latin typeface="JetBrains Mono"/>
                <a:ea typeface="JetBrains Mono"/>
              </a:rPr>
              <a:t>堆缓存（</a:t>
            </a:r>
            <a:r>
              <a:rPr lang="en-US" sz="900">
                <a:solidFill>
                  <a:srgbClr val="94A3B8"/>
                </a:solidFill>
                <a:latin typeface="JetBrains Mono"/>
                <a:ea typeface="JetBrains Mono"/>
              </a:rPr>
              <a:t>1 </a:t>
            </a:r>
            <a:r>
              <a:rPr lang="zh-CN" sz="900">
                <a:solidFill>
                  <a:srgbClr val="94A3B8"/>
                </a:solidFill>
                <a:latin typeface="JetBrains Mono"/>
                <a:ea typeface="JetBrains Mono"/>
              </a:rPr>
              <a:t>小时）</a:t>
            </a:r>
            <a:endParaRPr lang="zh-CN" sz="900">
              <a:solidFill>
                <a:srgbClr val="94A3B8"/>
              </a:solidFill>
              <a:latin typeface="JetBrains Mono"/>
              <a:ea typeface="JetBrains Mono"/>
            </a:endParaRPr>
          </a:p>
        </p:txBody>
      </p:sp>
      <p:sp>
        <p:nvSpPr>
          <p:cNvPr id="2886" name="文本框 2885" descr="{&quot;isTemplate&quot;:true,&quot;type&quot;:&quot;text&quot;}"/>
          <p:cNvSpPr txBox="1"/>
          <p:nvPr/>
        </p:nvSpPr>
        <p:spPr>
          <a:xfrm>
            <a:off x="781050" y="2019300"/>
            <a:ext cx="6629400" cy="2381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en-US" sz="900">
                <a:solidFill>
                  <a:srgbClr val="38BDF8"/>
                </a:solidFill>
                <a:latin typeface="JetBrains Mono"/>
                <a:ea typeface="JetBrains Mono"/>
              </a:rPr>
              <a:t>    private static let context = JWTSecurityContext&lt;String&gt;(</a:t>
            </a:r>
            <a:endParaRPr lang="en-US" sz="900">
              <a:solidFill>
                <a:srgbClr val="38BDF8"/>
              </a:solidFill>
              <a:latin typeface="JetBrains Mono"/>
              <a:ea typeface="JetBrains Mono"/>
            </a:endParaRPr>
          </a:p>
        </p:txBody>
      </p:sp>
      <p:sp>
        <p:nvSpPr>
          <p:cNvPr id="2887" name="文本框 2886" descr="{&quot;isTemplate&quot;:true,&quot;type&quot;:&quot;text&quot;}"/>
          <p:cNvSpPr txBox="1"/>
          <p:nvPr/>
        </p:nvSpPr>
        <p:spPr>
          <a:xfrm>
            <a:off x="781050" y="2257425"/>
            <a:ext cx="6629400" cy="2381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en-US" sz="900">
                <a:solidFill>
                  <a:srgbClr val="38BDF8"/>
                </a:solidFill>
                <a:latin typeface="JetBrains Mono"/>
                <a:ea typeface="JetBrains Mono"/>
              </a:rPr>
              <a:t>        JWTHeapCacheStore(Duration.hour),</a:t>
            </a:r>
            <a:endParaRPr lang="en-US" sz="900">
              <a:solidFill>
                <a:srgbClr val="38BDF8"/>
              </a:solidFill>
              <a:latin typeface="JetBrains Mono"/>
              <a:ea typeface="JetBrains Mono"/>
            </a:endParaRPr>
          </a:p>
        </p:txBody>
      </p:sp>
      <p:sp>
        <p:nvSpPr>
          <p:cNvPr id="2888" name="文本框 2887" descr="{&quot;isTemplate&quot;:true,&quot;type&quot;:&quot;text&quot;}"/>
          <p:cNvSpPr txBox="1"/>
          <p:nvPr/>
        </p:nvSpPr>
        <p:spPr>
          <a:xfrm>
            <a:off x="781050" y="2495550"/>
            <a:ext cx="6629400" cy="466725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en-US" sz="900">
                <a:solidFill>
                  <a:srgbClr val="F59E0B"/>
                </a:solidFill>
                <a:latin typeface="JetBrains Mono"/>
                <a:ea typeface="JetBrains Mono"/>
              </a:rPr>
              <a:t>        {id =&gt; JWTPrincipal&lt;String&gt;(id, '', UUID.random().toHexString())}   // </a:t>
            </a:r>
            <a:r>
              <a:rPr lang="zh-CN" sz="900">
                <a:solidFill>
                  <a:srgbClr val="F59E0B"/>
                </a:solidFill>
                <a:latin typeface="JetBrains Mono"/>
                <a:ea typeface="JetBrains Mono"/>
              </a:rPr>
              <a:t>每个登录一把随机签名密钥</a:t>
            </a:r>
            <a:endParaRPr lang="zh-CN" sz="900">
              <a:solidFill>
                <a:srgbClr val="F59E0B"/>
              </a:solidFill>
              <a:latin typeface="JetBrains Mono"/>
              <a:ea typeface="JetBrains Mono"/>
            </a:endParaRPr>
          </a:p>
        </p:txBody>
      </p:sp>
      <p:sp>
        <p:nvSpPr>
          <p:cNvPr id="2889" name="文本框 2888" descr="{&quot;isTemplate&quot;:true,&quot;type&quot;:&quot;text&quot;}"/>
          <p:cNvSpPr txBox="1"/>
          <p:nvPr/>
        </p:nvSpPr>
        <p:spPr>
          <a:xfrm>
            <a:off x="781050" y="2962275"/>
            <a:ext cx="6629400" cy="2381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en-US" sz="900">
                <a:solidFill>
                  <a:srgbClr val="38BDF8"/>
                </a:solidFill>
                <a:latin typeface="JetBrains Mono"/>
                <a:ea typeface="JetBrains Mono"/>
              </a:rPr>
              <a:t>    ){verifier, principal =&gt; hmacKey(verifier, principal)}</a:t>
            </a:r>
            <a:endParaRPr lang="en-US" sz="900">
              <a:solidFill>
                <a:srgbClr val="38BDF8"/>
              </a:solidFill>
              <a:latin typeface="JetBrains Mono"/>
              <a:ea typeface="JetBrains Mono"/>
            </a:endParaRPr>
          </a:p>
        </p:txBody>
      </p:sp>
      <p:sp>
        <p:nvSpPr>
          <p:cNvPr id="2890" name="文本框 2889" descr="{&quot;isTemplate&quot;:true,&quot;type&quot;:&quot;text&quot;}"/>
          <p:cNvSpPr txBox="1"/>
          <p:nvPr/>
        </p:nvSpPr>
        <p:spPr>
          <a:xfrm>
            <a:off x="781050" y="3200400"/>
            <a:ext cx="6629400" cy="2381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en-US" sz="900">
                <a:solidFill>
                  <a:srgbClr val="94A3B8"/>
                </a:solidFill>
                <a:latin typeface="JetBrains Mono"/>
                <a:ea typeface="JetBrains Mono"/>
              </a:rPr>
              <a:t>    private static func hmacKey(jwt, key: Array&lt;Byte&gt;) { jwt.hmacMD5(key) }</a:t>
            </a:r>
            <a:endParaRPr lang="en-US" sz="900">
              <a:solidFill>
                <a:srgbClr val="94A3B8"/>
              </a:solidFill>
              <a:latin typeface="JetBrains Mono"/>
              <a:ea typeface="JetBrains Mono"/>
            </a:endParaRPr>
          </a:p>
        </p:txBody>
      </p:sp>
      <p:sp>
        <p:nvSpPr>
          <p:cNvPr id="2891" name="文本框 2890" descr="{&quot;isTemplate&quot;:true,&quot;type&quot;:&quot;text&quot;}"/>
          <p:cNvSpPr txBox="1"/>
          <p:nvPr/>
        </p:nvSpPr>
        <p:spPr>
          <a:xfrm>
            <a:off x="781050" y="3514725"/>
            <a:ext cx="6629400" cy="2381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en-US" sz="900">
                <a:solidFill>
                  <a:srgbClr val="E2E8F0"/>
                </a:solidFill>
                <a:latin typeface="JetBrains Mono"/>
                <a:ea typeface="JetBrains Mono"/>
              </a:rPr>
              <a:t>    // ② </a:t>
            </a:r>
            <a:r>
              <a:rPr lang="zh-CN" sz="900">
                <a:solidFill>
                  <a:srgbClr val="E2E8F0"/>
                </a:solidFill>
                <a:latin typeface="JetBrains Mono"/>
                <a:ea typeface="JetBrains Mono"/>
              </a:rPr>
              <a:t>登录：生成</a:t>
            </a:r>
            <a:r>
              <a:rPr lang="en-US" sz="900">
                <a:solidFill>
                  <a:srgbClr val="E2E8F0"/>
                </a:solidFill>
                <a:latin typeface="JetBrains Mono"/>
                <a:ea typeface="JetBrains Mono"/>
              </a:rPr>
              <a:t> JWT</a:t>
            </a:r>
            <a:endParaRPr lang="en-US" sz="900">
              <a:solidFill>
                <a:srgbClr val="E2E8F0"/>
              </a:solidFill>
              <a:latin typeface="JetBrains Mono"/>
              <a:ea typeface="JetBrains Mono"/>
            </a:endParaRPr>
          </a:p>
        </p:txBody>
      </p:sp>
      <p:sp>
        <p:nvSpPr>
          <p:cNvPr id="2892" name="文本框 2891" descr="{&quot;isTemplate&quot;:true,&quot;type&quot;:&quot;text&quot;}"/>
          <p:cNvSpPr txBox="1"/>
          <p:nvPr/>
        </p:nvSpPr>
        <p:spPr>
          <a:xfrm>
            <a:off x="781050" y="3752850"/>
            <a:ext cx="6629400" cy="2381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en-US" sz="900">
                <a:solidFill>
                  <a:srgbClr val="38BDF8"/>
                </a:solidFill>
                <a:latin typeface="JetBrains Mono"/>
                <a:ea typeface="JetBrains Mono"/>
              </a:rPr>
              <a:t>    public static func generate(userId: Int64): String {</a:t>
            </a:r>
            <a:endParaRPr lang="en-US" sz="900">
              <a:solidFill>
                <a:srgbClr val="38BDF8"/>
              </a:solidFill>
              <a:latin typeface="JetBrains Mono"/>
              <a:ea typeface="JetBrains Mono"/>
            </a:endParaRPr>
          </a:p>
        </p:txBody>
      </p:sp>
      <p:sp>
        <p:nvSpPr>
          <p:cNvPr id="2893" name="文本框 2892" descr="{&quot;isTemplate&quot;:true,&quot;type&quot;:&quot;text&quot;}"/>
          <p:cNvSpPr txBox="1"/>
          <p:nvPr/>
        </p:nvSpPr>
        <p:spPr>
          <a:xfrm>
            <a:off x="781050" y="3990975"/>
            <a:ext cx="6629400" cy="2381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en-US" sz="900">
                <a:solidFill>
                  <a:srgbClr val="94A3B8"/>
                </a:solidFill>
                <a:latin typeface="JetBrains Mono"/>
                <a:ea typeface="JetBrains Mono"/>
              </a:rPr>
              <a:t>        let uids = userId.toString()</a:t>
            </a:r>
            <a:endParaRPr lang="en-US" sz="900">
              <a:solidFill>
                <a:srgbClr val="94A3B8"/>
              </a:solidFill>
              <a:latin typeface="JetBrains Mono"/>
              <a:ea typeface="JetBrains Mono"/>
            </a:endParaRPr>
          </a:p>
        </p:txBody>
      </p:sp>
      <p:sp>
        <p:nvSpPr>
          <p:cNvPr id="2894" name="文本框 2893" descr="{&quot;isTemplate&quot;:true,&quot;type&quot;:&quot;text&quot;}"/>
          <p:cNvSpPr txBox="1"/>
          <p:nvPr/>
        </p:nvSpPr>
        <p:spPr>
          <a:xfrm>
            <a:off x="781050" y="4229100"/>
            <a:ext cx="6629400" cy="2381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en-US" sz="900">
                <a:solidFill>
                  <a:srgbClr val="94A3B8"/>
                </a:solidFill>
                <a:latin typeface="JetBrains Mono"/>
                <a:ea typeface="JetBrains Mono"/>
              </a:rPr>
              <a:t>        let principal = context.login(uids).getOrThrow{SecurityException()}</a:t>
            </a:r>
            <a:endParaRPr lang="en-US" sz="900">
              <a:solidFill>
                <a:srgbClr val="94A3B8"/>
              </a:solidFill>
              <a:latin typeface="JetBrains Mono"/>
              <a:ea typeface="JetBrains Mono"/>
            </a:endParaRPr>
          </a:p>
        </p:txBody>
      </p:sp>
      <p:sp>
        <p:nvSpPr>
          <p:cNvPr id="2895" name="文本框 2894" descr="{&quot;isTemplate&quot;:true,&quot;type&quot;:&quot;text&quot;}"/>
          <p:cNvSpPr txBox="1"/>
          <p:nvPr/>
        </p:nvSpPr>
        <p:spPr>
          <a:xfrm>
            <a:off x="781050" y="4467225"/>
            <a:ext cx="6629400" cy="2381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en-US" sz="900">
                <a:solidFill>
                  <a:srgbClr val="F59E0B"/>
                </a:solidFill>
                <a:latin typeface="JetBrains Mono"/>
                <a:ea typeface="JetBrains Mono"/>
              </a:rPr>
              <a:t>        hmacKey(JWT.encoder(), principal).keyId(uids).expire(expire).sign()</a:t>
            </a:r>
            <a:endParaRPr lang="en-US" sz="900">
              <a:solidFill>
                <a:srgbClr val="F59E0B"/>
              </a:solidFill>
              <a:latin typeface="JetBrains Mono"/>
              <a:ea typeface="JetBrains Mono"/>
            </a:endParaRPr>
          </a:p>
        </p:txBody>
      </p:sp>
      <p:sp>
        <p:nvSpPr>
          <p:cNvPr id="2896" name="文本框 2895" descr="{&quot;isTemplate&quot;:true,&quot;type&quot;:&quot;text&quot;}"/>
          <p:cNvSpPr txBox="1"/>
          <p:nvPr/>
        </p:nvSpPr>
        <p:spPr>
          <a:xfrm>
            <a:off x="781050" y="4705350"/>
            <a:ext cx="6629400" cy="2381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en-US" sz="900">
                <a:solidFill>
                  <a:srgbClr val="38BDF8"/>
                </a:solidFill>
                <a:latin typeface="JetBrains Mono"/>
                <a:ea typeface="JetBrains Mono"/>
              </a:rPr>
              <a:t>    }</a:t>
            </a:r>
            <a:endParaRPr lang="en-US" sz="900">
              <a:solidFill>
                <a:srgbClr val="38BDF8"/>
              </a:solidFill>
              <a:latin typeface="JetBrains Mono"/>
              <a:ea typeface="JetBrains Mono"/>
            </a:endParaRPr>
          </a:p>
        </p:txBody>
      </p:sp>
      <p:sp>
        <p:nvSpPr>
          <p:cNvPr id="2897" name="文本框 2896" descr="{&quot;isTemplate&quot;:true,&quot;type&quot;:&quot;text&quot;}"/>
          <p:cNvSpPr txBox="1"/>
          <p:nvPr/>
        </p:nvSpPr>
        <p:spPr>
          <a:xfrm>
            <a:off x="781050" y="5019675"/>
            <a:ext cx="6629400" cy="2381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en-US" sz="900">
                <a:solidFill>
                  <a:srgbClr val="E2E8F0"/>
                </a:solidFill>
                <a:latin typeface="JetBrains Mono"/>
                <a:ea typeface="JetBrains Mono"/>
              </a:rPr>
              <a:t>    // ③ </a:t>
            </a:r>
            <a:r>
              <a:rPr lang="zh-CN" sz="900">
                <a:solidFill>
                  <a:srgbClr val="E2E8F0"/>
                </a:solidFill>
                <a:latin typeface="JetBrains Mono"/>
                <a:ea typeface="JetBrains Mono"/>
              </a:rPr>
              <a:t>校验：从当前请求的</a:t>
            </a:r>
            <a:r>
              <a:rPr lang="en-US" sz="900">
                <a:solidFill>
                  <a:srgbClr val="E2E8F0"/>
                </a:solidFill>
                <a:latin typeface="JetBrains Mono"/>
                <a:ea typeface="JetBrains Mono"/>
              </a:rPr>
              <a:t> Authorization </a:t>
            </a:r>
            <a:r>
              <a:rPr lang="zh-CN" sz="900">
                <a:solidFill>
                  <a:srgbClr val="E2E8F0"/>
                </a:solidFill>
                <a:latin typeface="JetBrains Mono"/>
                <a:ea typeface="JetBrains Mono"/>
              </a:rPr>
              <a:t>头取</a:t>
            </a:r>
            <a:r>
              <a:rPr lang="en-US" sz="900">
                <a:solidFill>
                  <a:srgbClr val="E2E8F0"/>
                </a:solidFill>
                <a:latin typeface="JetBrains Mono"/>
                <a:ea typeface="JetBrains Mono"/>
              </a:rPr>
              <a:t> JWT </a:t>
            </a:r>
            <a:r>
              <a:rPr lang="zh-CN" sz="900">
                <a:solidFill>
                  <a:srgbClr val="E2E8F0"/>
                </a:solidFill>
                <a:latin typeface="JetBrains Mono"/>
                <a:ea typeface="JetBrains Mono"/>
              </a:rPr>
              <a:t>校验</a:t>
            </a:r>
            <a:endParaRPr lang="zh-CN" sz="900">
              <a:solidFill>
                <a:srgbClr val="E2E8F0"/>
              </a:solidFill>
              <a:latin typeface="JetBrains Mono"/>
              <a:ea typeface="JetBrains Mono"/>
            </a:endParaRPr>
          </a:p>
        </p:txBody>
      </p:sp>
      <p:sp>
        <p:nvSpPr>
          <p:cNvPr id="2898" name="文本框 2897" descr="{&quot;isTemplate&quot;:true,&quot;type&quot;:&quot;text&quot;}"/>
          <p:cNvSpPr txBox="1"/>
          <p:nvPr/>
        </p:nvSpPr>
        <p:spPr>
          <a:xfrm>
            <a:off x="781050" y="5257800"/>
            <a:ext cx="6629400" cy="2381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en-US" sz="900">
                <a:solidFill>
                  <a:srgbClr val="38BDF8"/>
                </a:solidFill>
                <a:latin typeface="JetBrains Mono"/>
                <a:ea typeface="JetBrains Mono"/>
              </a:rPr>
              <a:t>    public static func verify(): Bool { context.check(()) }</a:t>
            </a:r>
            <a:endParaRPr lang="en-US" sz="900">
              <a:solidFill>
                <a:srgbClr val="38BDF8"/>
              </a:solidFill>
              <a:latin typeface="JetBrains Mono"/>
              <a:ea typeface="JetBrains Mono"/>
            </a:endParaRPr>
          </a:p>
        </p:txBody>
      </p:sp>
      <p:sp>
        <p:nvSpPr>
          <p:cNvPr id="2899" name="文本框 2898" descr="{&quot;isTemplate&quot;:true,&quot;type&quot;:&quot;text&quot;}"/>
          <p:cNvSpPr txBox="1"/>
          <p:nvPr/>
        </p:nvSpPr>
        <p:spPr>
          <a:xfrm>
            <a:off x="781050" y="5495925"/>
            <a:ext cx="6629400" cy="2381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en-US" sz="900">
                <a:solidFill>
                  <a:srgbClr val="E2E8F0"/>
                </a:solidFill>
                <a:latin typeface="JetBrains Mono"/>
                <a:ea typeface="JetBrains Mono"/>
              </a:rPr>
              <a:t>}</a:t>
            </a:r>
            <a:endParaRPr lang="en-US" sz="900">
              <a:solidFill>
                <a:srgbClr val="E2E8F0"/>
              </a:solidFill>
              <a:latin typeface="JetBrains Mono"/>
              <a:ea typeface="JetBrains Mono"/>
            </a:endParaRPr>
          </a:p>
        </p:txBody>
      </p:sp>
      <p:sp>
        <p:nvSpPr>
          <p:cNvPr id="2900" name="圆角矩形 2899"/>
          <p:cNvSpPr/>
          <p:nvPr/>
        </p:nvSpPr>
        <p:spPr>
          <a:xfrm>
            <a:off x="7772400" y="1143000"/>
            <a:ext cx="3810000" cy="3581400"/>
          </a:xfrm>
          <a:prstGeom prst="roundRect">
            <a:avLst>
              <a:gd name="adj" fmla="val 3191"/>
            </a:avLst>
          </a:prstGeom>
          <a:solidFill>
            <a:srgbClr val="111C2E"/>
          </a:solidFill>
          <a:ln w="12700">
            <a:solidFill>
              <a:srgbClr val="38BDF8"/>
            </a:solidFill>
            <a:prstDash val="solid"/>
          </a:ln>
        </p:spPr>
        <p:txBody>
          <a:bodyPr/>
          <a:p/>
        </p:txBody>
      </p:sp>
      <p:sp>
        <p:nvSpPr>
          <p:cNvPr id="2901" name="文本框 2900" descr="{&quot;isTemplate&quot;:true,&quot;type&quot;:&quot;text&quot;}"/>
          <p:cNvSpPr txBox="1"/>
          <p:nvPr/>
        </p:nvSpPr>
        <p:spPr>
          <a:xfrm>
            <a:off x="7962900" y="1333500"/>
            <a:ext cx="3429000" cy="1905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38BDF8"/>
                </a:solidFill>
                <a:latin typeface="微软雅黑" panose="020B0503020204020204" charset="-122"/>
                <a:ea typeface="微软雅黑" panose="020B0503020204020204" charset="-122"/>
              </a:rPr>
              <a:t>三件事</a:t>
            </a:r>
            <a:endParaRPr lang="zh-CN" sz="1200" b="1">
              <a:solidFill>
                <a:srgbClr val="38BDF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902" name="文本框 2901" descr="{&quot;isTemplate&quot;:true,&quot;type&quot;:&quot;text&quot;}"/>
          <p:cNvSpPr txBox="1"/>
          <p:nvPr/>
        </p:nvSpPr>
        <p:spPr>
          <a:xfrm>
            <a:off x="7962900" y="1619250"/>
            <a:ext cx="3429000" cy="542925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80000"/>
              </a:lnSpc>
            </a:pPr>
            <a:r>
              <a:rPr lang="en-US" sz="97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① JWTSecurityContext </a:t>
            </a:r>
            <a:r>
              <a:rPr lang="zh-CN" sz="97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用</a:t>
            </a:r>
            <a:r>
              <a:rPr lang="en-US" sz="97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Authorization </a:t>
            </a:r>
            <a:r>
              <a:rPr lang="zh-CN" sz="97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头传递</a:t>
            </a:r>
            <a:r>
              <a:rPr lang="en-US" sz="97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JWT</a:t>
            </a:r>
            <a:r>
              <a:rPr lang="zh-CN" sz="97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，身份存在</a:t>
            </a:r>
            <a:r>
              <a:rPr lang="en-US" sz="97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JWTHeapCacheStore</a:t>
            </a:r>
            <a:r>
              <a:rPr lang="zh-CN" sz="97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（堆缓存，</a:t>
            </a:r>
            <a:r>
              <a:rPr lang="en-US" sz="97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1 </a:t>
            </a:r>
            <a:r>
              <a:rPr lang="zh-CN" sz="97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小时）里。</a:t>
            </a:r>
            <a:endParaRPr lang="zh-CN" sz="975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903" name="文本框 2902" descr="{&quot;isTemplate&quot;:true,&quot;type&quot;:&quot;text&quot;}"/>
          <p:cNvSpPr txBox="1"/>
          <p:nvPr/>
        </p:nvSpPr>
        <p:spPr>
          <a:xfrm>
            <a:off x="7962900" y="2238375"/>
            <a:ext cx="3429000" cy="542925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80000"/>
              </a:lnSpc>
            </a:pPr>
            <a:r>
              <a:rPr lang="en-US" sz="975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② </a:t>
            </a:r>
            <a:r>
              <a:rPr lang="zh-CN" sz="975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每次登录用</a:t>
            </a:r>
            <a:r>
              <a:rPr lang="en-US" sz="975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 UUID.random().toHexString() </a:t>
            </a:r>
            <a:r>
              <a:rPr lang="zh-CN" sz="975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生成一把独立的</a:t>
            </a:r>
            <a:r>
              <a:rPr lang="en-US" sz="975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 HMAC </a:t>
            </a:r>
            <a:r>
              <a:rPr lang="zh-CN" sz="975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密钥存进</a:t>
            </a:r>
            <a:r>
              <a:rPr lang="en-US" sz="975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 principal —— </a:t>
            </a:r>
            <a:r>
              <a:rPr lang="zh-CN" sz="975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每个会话一把钥匙。</a:t>
            </a:r>
            <a:endParaRPr lang="zh-CN" sz="975">
              <a:solidFill>
                <a:srgbClr val="F59E0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904" name="文本框 2903" descr="{&quot;isTemplate&quot;:true,&quot;type&quot;:&quot;text&quot;}"/>
          <p:cNvSpPr txBox="1"/>
          <p:nvPr/>
        </p:nvSpPr>
        <p:spPr>
          <a:xfrm>
            <a:off x="7962900" y="2857500"/>
            <a:ext cx="3429000" cy="809625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80000"/>
              </a:lnSpc>
            </a:pPr>
            <a:r>
              <a:rPr lang="en-US" sz="97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③ context.login(id) </a:t>
            </a:r>
            <a:r>
              <a:rPr lang="zh-CN" sz="97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存状态，</a:t>
            </a:r>
            <a:r>
              <a:rPr lang="en-US" sz="97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context.check(()) </a:t>
            </a:r>
            <a:r>
              <a:rPr lang="zh-CN" sz="97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直接从</a:t>
            </a:r>
            <a:r>
              <a:rPr lang="en-US" sz="97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CurrentHttpContext </a:t>
            </a:r>
            <a:r>
              <a:rPr lang="zh-CN" sz="97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取当前请求校验</a:t>
            </a:r>
            <a:r>
              <a:rPr lang="en-US" sz="97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—— </a:t>
            </a:r>
            <a:r>
              <a:rPr lang="zh-CN" sz="97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校验逻辑不用写在</a:t>
            </a:r>
            <a:r>
              <a:rPr lang="en-US" sz="97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controller </a:t>
            </a:r>
            <a:r>
              <a:rPr lang="zh-CN" sz="97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里。</a:t>
            </a:r>
            <a:endParaRPr lang="zh-CN" sz="975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905" name="圆角矩形 2904"/>
          <p:cNvSpPr/>
          <p:nvPr/>
        </p:nvSpPr>
        <p:spPr>
          <a:xfrm>
            <a:off x="7772400" y="4857750"/>
            <a:ext cx="3810000" cy="1428750"/>
          </a:xfrm>
          <a:prstGeom prst="roundRect">
            <a:avLst>
              <a:gd name="adj" fmla="val 8000"/>
            </a:avLst>
          </a:prstGeom>
          <a:solidFill>
            <a:srgbClr val="111C2E"/>
          </a:solidFill>
          <a:ln w="12700">
            <a:solidFill>
              <a:srgbClr val="1E293B"/>
            </a:solidFill>
            <a:prstDash val="solid"/>
          </a:ln>
        </p:spPr>
        <p:txBody>
          <a:bodyPr/>
          <a:p/>
        </p:txBody>
      </p:sp>
      <p:sp>
        <p:nvSpPr>
          <p:cNvPr id="2906" name="文本框 2905" descr="{&quot;isTemplate&quot;:true,&quot;type&quot;:&quot;text&quot;}"/>
          <p:cNvSpPr txBox="1"/>
          <p:nvPr/>
        </p:nvSpPr>
        <p:spPr>
          <a:xfrm>
            <a:off x="7943850" y="5029200"/>
            <a:ext cx="3467100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其它登录状态方案</a:t>
            </a:r>
            <a:endParaRPr lang="zh-CN" sz="1050" b="1">
              <a:solidFill>
                <a:srgbClr val="E2E8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907" name="文本框 2906" descr="{&quot;isTemplate&quot;:true,&quot;type&quot;:&quot;text&quot;}"/>
          <p:cNvSpPr txBox="1"/>
          <p:nvPr/>
        </p:nvSpPr>
        <p:spPr>
          <a:xfrm>
            <a:off x="7943850" y="5267325"/>
            <a:ext cx="3467100" cy="933450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en-US" sz="90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JWTSecurityContext</a:t>
            </a:r>
            <a:r>
              <a:rPr lang="zh-CN" sz="90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（</a:t>
            </a:r>
            <a:r>
              <a:rPr lang="en-US" sz="90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Authorization </a:t>
            </a:r>
            <a:r>
              <a:rPr lang="zh-CN" sz="90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头）·</a:t>
            </a:r>
            <a:r>
              <a:rPr lang="en-US" sz="90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UserTokenSecurityContext</a:t>
            </a:r>
            <a:r>
              <a:rPr lang="zh-CN" sz="90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（</a:t>
            </a:r>
            <a:r>
              <a:rPr lang="en-US" sz="90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userId + token </a:t>
            </a:r>
            <a:r>
              <a:rPr lang="zh-CN" sz="90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两个头）·</a:t>
            </a:r>
            <a:r>
              <a:rPr lang="en-US" sz="90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HeapCacheStore / UserTokenHeapCacheStore · PrincipalStore</a:t>
            </a:r>
            <a:r>
              <a:rPr lang="zh-CN" sz="90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（自己实现</a:t>
            </a:r>
            <a:r>
              <a:rPr lang="en-US" sz="90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Redis </a:t>
            </a:r>
            <a:r>
              <a:rPr lang="zh-CN" sz="90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等）</a:t>
            </a:r>
            <a:endParaRPr lang="zh-CN" sz="900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908" name="文本框 2907" descr="{&quot;isTemplate&quot;:true,&quot;type&quot;:&quot;text&quot;}"/>
          <p:cNvSpPr txBox="1"/>
          <p:nvPr/>
        </p:nvSpPr>
        <p:spPr>
          <a:xfrm>
            <a:off x="7943850" y="5648325"/>
            <a:ext cx="3467100" cy="466725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zh-CN" sz="90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想把登录状态放</a:t>
            </a:r>
            <a:r>
              <a:rPr lang="en-US" sz="90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 Redis</a:t>
            </a:r>
            <a:r>
              <a:rPr lang="zh-CN" sz="90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？实现</a:t>
            </a:r>
            <a:r>
              <a:rPr lang="en-US" sz="90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 PrincipalStore </a:t>
            </a:r>
            <a:r>
              <a:rPr lang="zh-CN" sz="90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做成</a:t>
            </a:r>
            <a:r>
              <a:rPr lang="en-US" sz="90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 @Bean </a:t>
            </a:r>
            <a:r>
              <a:rPr lang="zh-CN" sz="90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就行，其他代码一行不用改。</a:t>
            </a:r>
            <a:endParaRPr lang="zh-CN" sz="90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909" name="任意多边形 2908"/>
          <p:cNvSpPr/>
          <p:nvPr/>
        </p:nvSpPr>
        <p:spPr>
          <a:xfrm>
            <a:off x="609600" y="6286500"/>
            <a:ext cx="10972800" cy="381000"/>
          </a:xfrm>
          <a:custGeom>
            <a:avLst/>
            <a:gdLst/>
            <a:ahLst/>
            <a:cxnLst/>
            <a:pathLst>
              <a:path w="1152" h="40">
                <a:moveTo>
                  <a:pt x="0" y="0"/>
                </a:moveTo>
                <a:lnTo>
                  <a:pt x="1152" y="0"/>
                </a:lnTo>
                <a:lnTo>
                  <a:pt x="1152" y="1"/>
                </a:lnTo>
                <a:lnTo>
                  <a:pt x="0" y="1"/>
                </a:lnTo>
                <a:close/>
              </a:path>
            </a:pathLst>
          </a:custGeom>
          <a:solidFill>
            <a:srgbClr val="1E293B"/>
          </a:solidFill>
        </p:spPr>
        <p:txBody>
          <a:bodyPr/>
          <a:p/>
        </p:txBody>
      </p:sp>
      <p:sp>
        <p:nvSpPr>
          <p:cNvPr id="2910" name="文本框 2909" descr="{&quot;isTemplate&quot;:true,&quot;type&quot;:&quot;text&quot;}"/>
          <p:cNvSpPr txBox="1"/>
          <p:nvPr/>
        </p:nvSpPr>
        <p:spPr>
          <a:xfrm>
            <a:off x="609600" y="6410325"/>
            <a:ext cx="2219325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fountain · 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一站式服务器应用开发工具库</a:t>
            </a:r>
            <a:endParaRPr lang="zh-CN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911" name="文本框 2910" descr="{&quot;isTemplate&quot;:true,&quot;type&quot;:&quot;text&quot;}"/>
          <p:cNvSpPr txBox="1"/>
          <p:nvPr/>
        </p:nvSpPr>
        <p:spPr>
          <a:xfrm>
            <a:off x="11087100" y="6410325"/>
            <a:ext cx="495300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89 / 116</a:t>
            </a:r>
            <a:endParaRPr lang="en-US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94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0" name="矩形 2949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220"/>
          </a:solidFill>
        </p:spPr>
        <p:txBody>
          <a:bodyPr/>
          <a:p/>
        </p:txBody>
      </p:sp>
      <p:sp>
        <p:nvSpPr>
          <p:cNvPr id="2951" name="矩形 2950"/>
          <p:cNvSpPr/>
          <p:nvPr/>
        </p:nvSpPr>
        <p:spPr>
          <a:xfrm>
            <a:off x="609600" y="476250"/>
            <a:ext cx="38100" cy="381000"/>
          </a:xfrm>
          <a:prstGeom prst="rect">
            <a:avLst/>
          </a:prstGeom>
          <a:solidFill>
            <a:srgbClr val="38BDF8"/>
          </a:solidFill>
        </p:spPr>
        <p:txBody>
          <a:bodyPr/>
          <a:p/>
        </p:txBody>
      </p:sp>
      <p:sp>
        <p:nvSpPr>
          <p:cNvPr id="2952" name="文本框 2951" descr="{&quot;isTemplate&quot;:true,&quot;type&quot;:&quot;text&quot;}"/>
          <p:cNvSpPr txBox="1"/>
          <p:nvPr/>
        </p:nvSpPr>
        <p:spPr>
          <a:xfrm>
            <a:off x="819150" y="304800"/>
            <a:ext cx="9963150" cy="2095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第</a:t>
            </a: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 13 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章</a:t>
            </a: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 · 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安全</a:t>
            </a: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 f_security + f_jwt · 13.3</a:t>
            </a:r>
            <a:endParaRPr lang="en-US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953" name="文本框 2952" descr="{&quot;isTemplate&quot;:true,&quot;type&quot;:&quot;text&quot;}"/>
          <p:cNvSpPr txBox="1"/>
          <p:nvPr/>
        </p:nvSpPr>
        <p:spPr>
          <a:xfrm>
            <a:off x="819150" y="514350"/>
            <a:ext cx="9963150" cy="5143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en-US" sz="2550" b="1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f_jwt API </a:t>
            </a:r>
            <a:r>
              <a:rPr lang="zh-CN" sz="2550" b="1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速览</a:t>
            </a:r>
            <a:endParaRPr lang="zh-CN" sz="2550" b="1">
              <a:solidFill>
                <a:srgbClr val="E2E8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954" name="文本框 2953" descr="{&quot;isTemplate&quot;:true,&quot;type&quot;:&quot;text&quot;}"/>
          <p:cNvSpPr txBox="1"/>
          <p:nvPr/>
        </p:nvSpPr>
        <p:spPr>
          <a:xfrm>
            <a:off x="10953750" y="590550"/>
            <a:ext cx="628650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编码</a:t>
            </a: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 / 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解码</a:t>
            </a:r>
            <a:endParaRPr lang="zh-CN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955" name="圆角矩形 2954"/>
          <p:cNvSpPr/>
          <p:nvPr/>
        </p:nvSpPr>
        <p:spPr>
          <a:xfrm>
            <a:off x="609600" y="1143000"/>
            <a:ext cx="5391150" cy="5143500"/>
          </a:xfrm>
          <a:prstGeom prst="roundRect">
            <a:avLst>
              <a:gd name="adj" fmla="val 2222"/>
            </a:avLst>
          </a:prstGeom>
          <a:solidFill>
            <a:srgbClr val="0B1220"/>
          </a:solidFill>
          <a:ln w="12700">
            <a:solidFill>
              <a:srgbClr val="38BDF8"/>
            </a:solidFill>
            <a:prstDash val="solid"/>
          </a:ln>
        </p:spPr>
        <p:txBody>
          <a:bodyPr/>
          <a:p/>
        </p:txBody>
      </p:sp>
      <p:sp>
        <p:nvSpPr>
          <p:cNvPr id="2956" name="文本框 2955" descr="{&quot;isTemplate&quot;:true,&quot;type&quot;:&quot;text&quot;}"/>
          <p:cNvSpPr txBox="1"/>
          <p:nvPr/>
        </p:nvSpPr>
        <p:spPr>
          <a:xfrm>
            <a:off x="781050" y="1314450"/>
            <a:ext cx="5048250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38BDF8"/>
                </a:solidFill>
                <a:latin typeface="微软雅黑" panose="020B0503020204020204" charset="-122"/>
                <a:ea typeface="微软雅黑" panose="020B0503020204020204" charset="-122"/>
              </a:rPr>
              <a:t>编码（签名）</a:t>
            </a:r>
            <a:endParaRPr lang="zh-CN" sz="975">
              <a:solidFill>
                <a:srgbClr val="38BDF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957" name="文本框 2956" descr="{&quot;isTemplate&quot;:true,&quot;type&quot;:&quot;text&quot;}"/>
          <p:cNvSpPr txBox="1"/>
          <p:nvPr/>
        </p:nvSpPr>
        <p:spPr>
          <a:xfrm>
            <a:off x="781050" y="1543050"/>
            <a:ext cx="5048250" cy="2381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en-US" sz="900">
                <a:solidFill>
                  <a:srgbClr val="E2E8F0"/>
                </a:solidFill>
                <a:latin typeface="JetBrains Mono"/>
                <a:ea typeface="JetBrains Mono"/>
              </a:rPr>
              <a:t>let token = JWT.encoder()</a:t>
            </a:r>
            <a:endParaRPr lang="en-US" sz="900">
              <a:solidFill>
                <a:srgbClr val="E2E8F0"/>
              </a:solidFill>
              <a:latin typeface="JetBrains Mono"/>
              <a:ea typeface="JetBrains Mono"/>
            </a:endParaRPr>
          </a:p>
        </p:txBody>
      </p:sp>
      <p:sp>
        <p:nvSpPr>
          <p:cNvPr id="2958" name="文本框 2957" descr="{&quot;isTemplate&quot;:true,&quot;type&quot;:&quot;text&quot;}"/>
          <p:cNvSpPr txBox="1"/>
          <p:nvPr/>
        </p:nvSpPr>
        <p:spPr>
          <a:xfrm>
            <a:off x="781050" y="1781175"/>
            <a:ext cx="5048250" cy="2381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en-US" sz="900">
                <a:solidFill>
                  <a:srgbClr val="94A3B8"/>
                </a:solidFill>
                <a:latin typeface="JetBrains Mono"/>
                <a:ea typeface="JetBrains Mono"/>
              </a:rPr>
              <a:t>    .header('x-custom', 'v')            // </a:t>
            </a:r>
            <a:r>
              <a:rPr lang="zh-CN" sz="900">
                <a:solidFill>
                  <a:srgbClr val="94A3B8"/>
                </a:solidFill>
                <a:latin typeface="JetBrains Mono"/>
                <a:ea typeface="JetBrains Mono"/>
              </a:rPr>
              <a:t>自定义</a:t>
            </a:r>
            <a:r>
              <a:rPr lang="en-US" sz="900">
                <a:solidFill>
                  <a:srgbClr val="94A3B8"/>
                </a:solidFill>
                <a:latin typeface="JetBrains Mono"/>
                <a:ea typeface="JetBrains Mono"/>
              </a:rPr>
              <a:t> header</a:t>
            </a:r>
            <a:endParaRPr lang="en-US" sz="900">
              <a:solidFill>
                <a:srgbClr val="94A3B8"/>
              </a:solidFill>
              <a:latin typeface="JetBrains Mono"/>
              <a:ea typeface="JetBrains Mono"/>
            </a:endParaRPr>
          </a:p>
        </p:txBody>
      </p:sp>
      <p:sp>
        <p:nvSpPr>
          <p:cNvPr id="2959" name="文本框 2958" descr="{&quot;isTemplate&quot;:true,&quot;type&quot;:&quot;text&quot;}"/>
          <p:cNvSpPr txBox="1"/>
          <p:nvPr/>
        </p:nvSpPr>
        <p:spPr>
          <a:xfrm>
            <a:off x="781050" y="2019300"/>
            <a:ext cx="5048250" cy="2381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en-US" sz="900">
                <a:solidFill>
                  <a:srgbClr val="94A3B8"/>
                </a:solidFill>
                <a:latin typeface="JetBrains Mono"/>
                <a:ea typeface="JetBrains Mono"/>
              </a:rPr>
              <a:t>    .hmacMD5(key)                       // </a:t>
            </a:r>
            <a:r>
              <a:rPr lang="zh-CN" sz="900">
                <a:solidFill>
                  <a:srgbClr val="94A3B8"/>
                </a:solidFill>
                <a:latin typeface="JetBrains Mono"/>
                <a:ea typeface="JetBrains Mono"/>
              </a:rPr>
              <a:t>也支持</a:t>
            </a:r>
            <a:r>
              <a:rPr lang="en-US" sz="900">
                <a:solidFill>
                  <a:srgbClr val="94A3B8"/>
                </a:solidFill>
                <a:latin typeface="JetBrains Mono"/>
                <a:ea typeface="JetBrains Mono"/>
              </a:rPr>
              <a:t> ByBase64Key / ByHexKey</a:t>
            </a:r>
            <a:endParaRPr lang="en-US" sz="900">
              <a:solidFill>
                <a:srgbClr val="94A3B8"/>
              </a:solidFill>
              <a:latin typeface="JetBrains Mono"/>
              <a:ea typeface="JetBrains Mono"/>
            </a:endParaRPr>
          </a:p>
        </p:txBody>
      </p:sp>
      <p:sp>
        <p:nvSpPr>
          <p:cNvPr id="2960" name="文本框 2959" descr="{&quot;isTemplate&quot;:true,&quot;type&quot;:&quot;text&quot;}"/>
          <p:cNvSpPr txBox="1"/>
          <p:nvPr/>
        </p:nvSpPr>
        <p:spPr>
          <a:xfrm>
            <a:off x="781050" y="2257425"/>
            <a:ext cx="5048250" cy="2381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en-US" sz="900">
                <a:solidFill>
                  <a:srgbClr val="94A3B8"/>
                </a:solidFill>
                <a:latin typeface="JetBrains Mono"/>
                <a:ea typeface="JetBrains Mono"/>
              </a:rPr>
              <a:t>    .keyId('12345')                     // kid</a:t>
            </a:r>
            <a:endParaRPr lang="en-US" sz="900">
              <a:solidFill>
                <a:srgbClr val="94A3B8"/>
              </a:solidFill>
              <a:latin typeface="JetBrains Mono"/>
              <a:ea typeface="JetBrains Mono"/>
            </a:endParaRPr>
          </a:p>
        </p:txBody>
      </p:sp>
      <p:sp>
        <p:nvSpPr>
          <p:cNvPr id="2961" name="文本框 2960" descr="{&quot;isTemplate&quot;:true,&quot;type&quot;:&quot;text&quot;}"/>
          <p:cNvSpPr txBox="1"/>
          <p:nvPr/>
        </p:nvSpPr>
        <p:spPr>
          <a:xfrm>
            <a:off x="781050" y="2495550"/>
            <a:ext cx="5048250" cy="2381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en-US" sz="900">
                <a:solidFill>
                  <a:srgbClr val="94A3B8"/>
                </a:solidFill>
                <a:latin typeface="JetBrains Mono"/>
                <a:ea typeface="JetBrains Mono"/>
              </a:rPr>
              <a:t>    .issuer('fountain')                 // iss</a:t>
            </a:r>
            <a:endParaRPr lang="en-US" sz="900">
              <a:solidFill>
                <a:srgbClr val="94A3B8"/>
              </a:solidFill>
              <a:latin typeface="JetBrains Mono"/>
              <a:ea typeface="JetBrains Mono"/>
            </a:endParaRPr>
          </a:p>
        </p:txBody>
      </p:sp>
      <p:sp>
        <p:nvSpPr>
          <p:cNvPr id="2962" name="文本框 2961" descr="{&quot;isTemplate&quot;:true,&quot;type&quot;:&quot;text&quot;}"/>
          <p:cNvSpPr txBox="1"/>
          <p:nvPr/>
        </p:nvSpPr>
        <p:spPr>
          <a:xfrm>
            <a:off x="781050" y="2733675"/>
            <a:ext cx="5048250" cy="2381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en-US" sz="900">
                <a:solidFill>
                  <a:srgbClr val="94A3B8"/>
                </a:solidFill>
                <a:latin typeface="JetBrains Mono"/>
                <a:ea typeface="JetBrains Mono"/>
              </a:rPr>
              <a:t>    .subject('user') / .audience('web') // sub / aud</a:t>
            </a:r>
            <a:endParaRPr lang="en-US" sz="900">
              <a:solidFill>
                <a:srgbClr val="94A3B8"/>
              </a:solidFill>
              <a:latin typeface="JetBrains Mono"/>
              <a:ea typeface="JetBrains Mono"/>
            </a:endParaRPr>
          </a:p>
        </p:txBody>
      </p:sp>
      <p:sp>
        <p:nvSpPr>
          <p:cNvPr id="2963" name="文本框 2962" descr="{&quot;isTemplate&quot;:true,&quot;type&quot;:&quot;text&quot;}"/>
          <p:cNvSpPr txBox="1"/>
          <p:nvPr/>
        </p:nvSpPr>
        <p:spPr>
          <a:xfrm>
            <a:off x="781050" y="2971800"/>
            <a:ext cx="5048250" cy="466725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en-US" sz="900">
                <a:solidFill>
                  <a:srgbClr val="F59E0B"/>
                </a:solidFill>
                <a:latin typeface="JetBrains Mono"/>
                <a:ea typeface="JetBrains Mono"/>
              </a:rPr>
              <a:t>    .expire(Duration.hour)              // exp</a:t>
            </a:r>
            <a:r>
              <a:rPr lang="zh-CN" sz="900">
                <a:solidFill>
                  <a:srgbClr val="F59E0B"/>
                </a:solidFill>
                <a:latin typeface="JetBrains Mono"/>
                <a:ea typeface="JetBrains Mono"/>
              </a:rPr>
              <a:t>：</a:t>
            </a:r>
            <a:r>
              <a:rPr lang="en-US" sz="900">
                <a:solidFill>
                  <a:srgbClr val="F59E0B"/>
                </a:solidFill>
                <a:latin typeface="JetBrains Mono"/>
                <a:ea typeface="JetBrains Mono"/>
              </a:rPr>
              <a:t>Duration / Int64 </a:t>
            </a:r>
            <a:r>
              <a:rPr lang="zh-CN" sz="900">
                <a:solidFill>
                  <a:srgbClr val="F59E0B"/>
                </a:solidFill>
                <a:latin typeface="JetBrains Mono"/>
                <a:ea typeface="JetBrains Mono"/>
              </a:rPr>
              <a:t>秒</a:t>
            </a:r>
            <a:r>
              <a:rPr lang="en-US" sz="900">
                <a:solidFill>
                  <a:srgbClr val="F59E0B"/>
                </a:solidFill>
                <a:latin typeface="JetBrains Mono"/>
                <a:ea typeface="JetBrains Mono"/>
              </a:rPr>
              <a:t> / DateTime / expireAt</a:t>
            </a:r>
            <a:endParaRPr lang="en-US" sz="900">
              <a:solidFill>
                <a:srgbClr val="F59E0B"/>
              </a:solidFill>
              <a:latin typeface="JetBrains Mono"/>
              <a:ea typeface="JetBrains Mono"/>
            </a:endParaRPr>
          </a:p>
        </p:txBody>
      </p:sp>
      <p:sp>
        <p:nvSpPr>
          <p:cNvPr id="2964" name="文本框 2963" descr="{&quot;isTemplate&quot;:true,&quot;type&quot;:&quot;text&quot;}"/>
          <p:cNvSpPr txBox="1"/>
          <p:nvPr/>
        </p:nvSpPr>
        <p:spPr>
          <a:xfrm>
            <a:off x="781050" y="3438525"/>
            <a:ext cx="5048250" cy="2381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en-US" sz="900">
                <a:solidFill>
                  <a:srgbClr val="94A3B8"/>
                </a:solidFill>
                <a:latin typeface="JetBrains Mono"/>
                <a:ea typeface="JetBrains Mono"/>
              </a:rPr>
              <a:t>    .notBeforeAt(DateTime.nowUTC())     // nbf</a:t>
            </a:r>
            <a:endParaRPr lang="en-US" sz="900">
              <a:solidFill>
                <a:srgbClr val="94A3B8"/>
              </a:solidFill>
              <a:latin typeface="JetBrains Mono"/>
              <a:ea typeface="JetBrains Mono"/>
            </a:endParaRPr>
          </a:p>
        </p:txBody>
      </p:sp>
      <p:sp>
        <p:nvSpPr>
          <p:cNvPr id="2965" name="文本框 2964" descr="{&quot;isTemplate&quot;:true,&quot;type&quot;:&quot;text&quot;}"/>
          <p:cNvSpPr txBox="1"/>
          <p:nvPr/>
        </p:nvSpPr>
        <p:spPr>
          <a:xfrm>
            <a:off x="781050" y="3676650"/>
            <a:ext cx="5048250" cy="2381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en-US" sz="900">
                <a:solidFill>
                  <a:srgbClr val="94A3B8"/>
                </a:solidFill>
                <a:latin typeface="JetBrains Mono"/>
                <a:ea typeface="JetBrains Mono"/>
              </a:rPr>
              <a:t>    .issuedAt(DateTime.nowUTC())        // iat</a:t>
            </a:r>
            <a:endParaRPr lang="en-US" sz="900">
              <a:solidFill>
                <a:srgbClr val="94A3B8"/>
              </a:solidFill>
              <a:latin typeface="JetBrains Mono"/>
              <a:ea typeface="JetBrains Mono"/>
            </a:endParaRPr>
          </a:p>
        </p:txBody>
      </p:sp>
      <p:sp>
        <p:nvSpPr>
          <p:cNvPr id="2966" name="文本框 2965" descr="{&quot;isTemplate&quot;:true,&quot;type&quot;:&quot;text&quot;}"/>
          <p:cNvSpPr txBox="1"/>
          <p:nvPr/>
        </p:nvSpPr>
        <p:spPr>
          <a:xfrm>
            <a:off x="781050" y="3914775"/>
            <a:ext cx="5048250" cy="2381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en-US" sz="900">
                <a:solidFill>
                  <a:srgbClr val="94A3B8"/>
                </a:solidFill>
                <a:latin typeface="JetBrains Mono"/>
                <a:ea typeface="JetBrains Mono"/>
              </a:rPr>
              <a:t>    .addPayload('userId', 123)          // </a:t>
            </a:r>
            <a:r>
              <a:rPr lang="zh-CN" sz="900">
                <a:solidFill>
                  <a:srgbClr val="94A3B8"/>
                </a:solidFill>
                <a:latin typeface="JetBrains Mono"/>
                <a:ea typeface="JetBrains Mono"/>
              </a:rPr>
              <a:t>自定义负载</a:t>
            </a:r>
            <a:endParaRPr lang="zh-CN" sz="900">
              <a:solidFill>
                <a:srgbClr val="94A3B8"/>
              </a:solidFill>
              <a:latin typeface="JetBrains Mono"/>
              <a:ea typeface="JetBrains Mono"/>
            </a:endParaRPr>
          </a:p>
        </p:txBody>
      </p:sp>
      <p:sp>
        <p:nvSpPr>
          <p:cNvPr id="2967" name="文本框 2966" descr="{&quot;isTemplate&quot;:true,&quot;type&quot;:&quot;text&quot;}"/>
          <p:cNvSpPr txBox="1"/>
          <p:nvPr/>
        </p:nvSpPr>
        <p:spPr>
          <a:xfrm>
            <a:off x="781050" y="4152900"/>
            <a:ext cx="5048250" cy="2381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en-US" sz="900">
                <a:solidFill>
                  <a:srgbClr val="38BDF8"/>
                </a:solidFill>
                <a:latin typeface="JetBrains Mono"/>
                <a:ea typeface="JetBrains Mono"/>
              </a:rPr>
              <a:t>    .sign()</a:t>
            </a:r>
            <a:endParaRPr lang="en-US" sz="900">
              <a:solidFill>
                <a:srgbClr val="38BDF8"/>
              </a:solidFill>
              <a:latin typeface="JetBrains Mono"/>
              <a:ea typeface="JetBrains Mono"/>
            </a:endParaRPr>
          </a:p>
        </p:txBody>
      </p:sp>
      <p:sp>
        <p:nvSpPr>
          <p:cNvPr id="2968" name="矩形 2967"/>
          <p:cNvSpPr/>
          <p:nvPr/>
        </p:nvSpPr>
        <p:spPr>
          <a:xfrm>
            <a:off x="781050" y="4486275"/>
            <a:ext cx="5048250" cy="9525"/>
          </a:xfrm>
          <a:prstGeom prst="rect">
            <a:avLst/>
          </a:prstGeom>
          <a:solidFill>
            <a:srgbClr val="1E293B"/>
          </a:solidFill>
        </p:spPr>
        <p:txBody>
          <a:bodyPr/>
          <a:p/>
        </p:txBody>
      </p:sp>
      <p:sp>
        <p:nvSpPr>
          <p:cNvPr id="2969" name="文本框 2968" descr="{&quot;isTemplate&quot;:true,&quot;type&quot;:&quot;text&quot;}"/>
          <p:cNvSpPr txBox="1"/>
          <p:nvPr/>
        </p:nvSpPr>
        <p:spPr>
          <a:xfrm>
            <a:off x="781050" y="4572000"/>
            <a:ext cx="5048250" cy="466725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en-US" sz="90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HMAC</a:t>
            </a:r>
            <a:r>
              <a:rPr lang="zh-CN" sz="90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：</a:t>
            </a:r>
            <a:r>
              <a:rPr lang="en-US" sz="90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hmacMD5 / SHA1 / SHA224 / SHA256 / SHA384 / SHA512</a:t>
            </a:r>
            <a:r>
              <a:rPr lang="zh-CN" sz="90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（各有字节数组、</a:t>
            </a:r>
            <a:r>
              <a:rPr lang="en-US" sz="90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Base64</a:t>
            </a:r>
            <a:r>
              <a:rPr lang="zh-CN" sz="90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、十六进制三个重载）</a:t>
            </a:r>
            <a:endParaRPr lang="zh-CN" sz="900">
              <a:solidFill>
                <a:srgbClr val="E2E8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970" name="文本框 2969" descr="{&quot;isTemplate&quot;:true,&quot;type&quot;:&quot;text&quot;}"/>
          <p:cNvSpPr txBox="1"/>
          <p:nvPr/>
        </p:nvSpPr>
        <p:spPr>
          <a:xfrm>
            <a:off x="781050" y="5095875"/>
            <a:ext cx="5048250" cy="2381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zh-CN" sz="90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非对称：</a:t>
            </a:r>
            <a:r>
              <a:rPr lang="en-US" sz="90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ecdsa224/256/384/512</a:t>
            </a:r>
            <a:r>
              <a:rPr lang="zh-CN" sz="90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、</a:t>
            </a:r>
            <a:r>
              <a:rPr lang="en-US" sz="90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rsa256/384/512</a:t>
            </a:r>
            <a:r>
              <a:rPr lang="zh-CN" sz="90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（可指定</a:t>
            </a:r>
            <a:r>
              <a:rPr lang="en-US" sz="90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 padType</a:t>
            </a:r>
            <a:r>
              <a:rPr lang="zh-CN" sz="90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）、</a:t>
            </a:r>
            <a:r>
              <a:rPr lang="en-US" sz="90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SM2</a:t>
            </a:r>
            <a:endParaRPr lang="en-US" sz="900">
              <a:solidFill>
                <a:srgbClr val="E2E8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971" name="文本框 2970" descr="{&quot;isTemplate&quot;:true,&quot;type&quot;:&quot;text&quot;}"/>
          <p:cNvSpPr txBox="1"/>
          <p:nvPr/>
        </p:nvSpPr>
        <p:spPr>
          <a:xfrm>
            <a:off x="781050" y="5391150"/>
            <a:ext cx="5048250" cy="466725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zh-CN" sz="90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负载还可一次性塞入：</a:t>
            </a:r>
            <a:r>
              <a:rPr lang="en-US" sz="90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addPayload(userObject)</a:t>
            </a:r>
            <a:r>
              <a:rPr lang="zh-CN" sz="90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（</a:t>
            </a:r>
            <a:r>
              <a:rPr lang="en-US" sz="90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T </a:t>
            </a:r>
            <a:r>
              <a:rPr lang="zh-CN" sz="90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实现</a:t>
            </a:r>
            <a:r>
              <a:rPr lang="en-US" sz="90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ObjectData</a:t>
            </a:r>
            <a:r>
              <a:rPr lang="zh-CN" sz="90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）</a:t>
            </a:r>
            <a:r>
              <a:rPr lang="en-US" sz="90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/ addPayload(map)</a:t>
            </a:r>
            <a:r>
              <a:rPr lang="zh-CN" sz="90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；</a:t>
            </a:r>
            <a:r>
              <a:rPr lang="en-US" sz="90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jwtId(jti, expire:, cache: HeapJwtIdCache) </a:t>
            </a:r>
            <a:r>
              <a:rPr lang="zh-CN" sz="90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做防重放</a:t>
            </a:r>
            <a:endParaRPr lang="zh-CN" sz="900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972" name="圆角矩形 2971"/>
          <p:cNvSpPr/>
          <p:nvPr/>
        </p:nvSpPr>
        <p:spPr>
          <a:xfrm>
            <a:off x="6191250" y="1143000"/>
            <a:ext cx="5391150" cy="5143500"/>
          </a:xfrm>
          <a:prstGeom prst="roundRect">
            <a:avLst>
              <a:gd name="adj" fmla="val 2222"/>
            </a:avLst>
          </a:prstGeom>
          <a:solidFill>
            <a:srgbClr val="0B1220"/>
          </a:solidFill>
          <a:ln w="12700">
            <a:solidFill>
              <a:srgbClr val="1E293B"/>
            </a:solidFill>
            <a:prstDash val="solid"/>
          </a:ln>
        </p:spPr>
        <p:txBody>
          <a:bodyPr/>
          <a:p/>
        </p:txBody>
      </p:sp>
      <p:sp>
        <p:nvSpPr>
          <p:cNvPr id="2973" name="文本框 2972" descr="{&quot;isTemplate&quot;:true,&quot;type&quot;:&quot;text&quot;}"/>
          <p:cNvSpPr txBox="1"/>
          <p:nvPr/>
        </p:nvSpPr>
        <p:spPr>
          <a:xfrm>
            <a:off x="6362700" y="1314450"/>
            <a:ext cx="5048250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解码（验签）</a:t>
            </a:r>
            <a:endParaRPr lang="zh-CN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974" name="文本框 2973" descr="{&quot;isTemplate&quot;:true,&quot;type&quot;:&quot;text&quot;}"/>
          <p:cNvSpPr txBox="1"/>
          <p:nvPr/>
        </p:nvSpPr>
        <p:spPr>
          <a:xfrm>
            <a:off x="6362700" y="1543050"/>
            <a:ext cx="5048250" cy="2381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en-US" sz="900">
                <a:solidFill>
                  <a:srgbClr val="E2E8F0"/>
                </a:solidFill>
                <a:latin typeface="JetBrains Mono"/>
                <a:ea typeface="JetBrains Mono"/>
              </a:rPr>
              <a:t>let v = JWT.verifier(token)</a:t>
            </a:r>
            <a:endParaRPr lang="en-US" sz="900">
              <a:solidFill>
                <a:srgbClr val="E2E8F0"/>
              </a:solidFill>
              <a:latin typeface="JetBrains Mono"/>
              <a:ea typeface="JetBrains Mono"/>
            </a:endParaRPr>
          </a:p>
        </p:txBody>
      </p:sp>
      <p:sp>
        <p:nvSpPr>
          <p:cNvPr id="2975" name="文本框 2974" descr="{&quot;isTemplate&quot;:true,&quot;type&quot;:&quot;text&quot;}"/>
          <p:cNvSpPr txBox="1"/>
          <p:nvPr/>
        </p:nvSpPr>
        <p:spPr>
          <a:xfrm>
            <a:off x="6362700" y="1781175"/>
            <a:ext cx="5048250" cy="2381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en-US" sz="900">
                <a:solidFill>
                  <a:srgbClr val="E2E8F0"/>
                </a:solidFill>
                <a:latin typeface="JetBrains Mono"/>
                <a:ea typeface="JetBrains Mono"/>
              </a:rPr>
              <a:t>v.getKeyId()                 // ?String</a:t>
            </a:r>
            <a:endParaRPr lang="en-US" sz="900">
              <a:solidFill>
                <a:srgbClr val="E2E8F0"/>
              </a:solidFill>
              <a:latin typeface="JetBrains Mono"/>
              <a:ea typeface="JetBrains Mono"/>
            </a:endParaRPr>
          </a:p>
        </p:txBody>
      </p:sp>
      <p:sp>
        <p:nvSpPr>
          <p:cNvPr id="2976" name="文本框 2975" descr="{&quot;isTemplate&quot;:true,&quot;type&quot;:&quot;text&quot;}"/>
          <p:cNvSpPr txBox="1"/>
          <p:nvPr/>
        </p:nvSpPr>
        <p:spPr>
          <a:xfrm>
            <a:off x="6362700" y="2019300"/>
            <a:ext cx="5048250" cy="2381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en-US" sz="900">
                <a:solidFill>
                  <a:srgbClr val="E2E8F0"/>
                </a:solidFill>
                <a:latin typeface="JetBrains Mono"/>
                <a:ea typeface="JetBrains Mono"/>
              </a:rPr>
              <a:t>v.getPayload('userId')       // ?Any</a:t>
            </a:r>
            <a:endParaRPr lang="en-US" sz="900">
              <a:solidFill>
                <a:srgbClr val="E2E8F0"/>
              </a:solidFill>
              <a:latin typeface="JetBrains Mono"/>
              <a:ea typeface="JetBrains Mono"/>
            </a:endParaRPr>
          </a:p>
        </p:txBody>
      </p:sp>
      <p:sp>
        <p:nvSpPr>
          <p:cNvPr id="2977" name="文本框 2976" descr="{&quot;isTemplate&quot;:true,&quot;type&quot;:&quot;text&quot;}"/>
          <p:cNvSpPr txBox="1"/>
          <p:nvPr/>
        </p:nvSpPr>
        <p:spPr>
          <a:xfrm>
            <a:off x="6362700" y="2257425"/>
            <a:ext cx="5048250" cy="2381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en-US" sz="900">
                <a:solidFill>
                  <a:srgbClr val="E2E8F0"/>
                </a:solidFill>
                <a:latin typeface="JetBrains Mono"/>
                <a:ea typeface="JetBrains Mono"/>
              </a:rPr>
              <a:t>v.getPayloadValue&lt;Int64&gt;('userId')</a:t>
            </a:r>
            <a:endParaRPr lang="en-US" sz="900">
              <a:solidFill>
                <a:srgbClr val="E2E8F0"/>
              </a:solidFill>
              <a:latin typeface="JetBrains Mono"/>
              <a:ea typeface="JetBrains Mono"/>
            </a:endParaRPr>
          </a:p>
        </p:txBody>
      </p:sp>
      <p:sp>
        <p:nvSpPr>
          <p:cNvPr id="2978" name="文本框 2977" descr="{&quot;isTemplate&quot;:true,&quot;type&quot;:&quot;text&quot;}"/>
          <p:cNvSpPr txBox="1"/>
          <p:nvPr/>
        </p:nvSpPr>
        <p:spPr>
          <a:xfrm>
            <a:off x="6362700" y="2495550"/>
            <a:ext cx="5048250" cy="2381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en-US" sz="900">
                <a:solidFill>
                  <a:srgbClr val="E2E8F0"/>
                </a:solidFill>
                <a:latin typeface="JetBrains Mono"/>
                <a:ea typeface="JetBrains Mono"/>
              </a:rPr>
              <a:t>v.getHeader('alg')           // ?String</a:t>
            </a:r>
            <a:endParaRPr lang="en-US" sz="900">
              <a:solidFill>
                <a:srgbClr val="E2E8F0"/>
              </a:solidFill>
              <a:latin typeface="JetBrains Mono"/>
              <a:ea typeface="JetBrains Mono"/>
            </a:endParaRPr>
          </a:p>
        </p:txBody>
      </p:sp>
      <p:sp>
        <p:nvSpPr>
          <p:cNvPr id="2979" name="文本框 2978" descr="{&quot;isTemplate&quot;:true,&quot;type&quot;:&quot;text&quot;}"/>
          <p:cNvSpPr txBox="1"/>
          <p:nvPr/>
        </p:nvSpPr>
        <p:spPr>
          <a:xfrm>
            <a:off x="6362700" y="2733675"/>
            <a:ext cx="5048250" cy="2381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en-US" sz="900">
                <a:solidFill>
                  <a:srgbClr val="94A3B8"/>
                </a:solidFill>
                <a:latin typeface="JetBrains Mono"/>
                <a:ea typeface="JetBrains Mono"/>
              </a:rPr>
              <a:t>v.getExpireAt()              // ?DateTime</a:t>
            </a:r>
            <a:r>
              <a:rPr lang="zh-CN" sz="900">
                <a:solidFill>
                  <a:srgbClr val="94A3B8"/>
                </a:solidFill>
                <a:latin typeface="JetBrains Mono"/>
                <a:ea typeface="JetBrains Mono"/>
              </a:rPr>
              <a:t>（还有</a:t>
            </a:r>
            <a:r>
              <a:rPr lang="en-US" sz="900">
                <a:solidFill>
                  <a:srgbClr val="94A3B8"/>
                </a:solidFill>
                <a:latin typeface="JetBrains Mono"/>
                <a:ea typeface="JetBrains Mono"/>
              </a:rPr>
              <a:t> Duration / Seconds</a:t>
            </a:r>
            <a:r>
              <a:rPr lang="zh-CN" sz="900">
                <a:solidFill>
                  <a:srgbClr val="94A3B8"/>
                </a:solidFill>
                <a:latin typeface="JetBrains Mono"/>
                <a:ea typeface="JetBrains Mono"/>
              </a:rPr>
              <a:t>）</a:t>
            </a:r>
            <a:endParaRPr lang="zh-CN" sz="900">
              <a:solidFill>
                <a:srgbClr val="94A3B8"/>
              </a:solidFill>
              <a:latin typeface="JetBrains Mono"/>
              <a:ea typeface="JetBrains Mono"/>
            </a:endParaRPr>
          </a:p>
        </p:txBody>
      </p:sp>
      <p:sp>
        <p:nvSpPr>
          <p:cNvPr id="2980" name="文本框 2979" descr="{&quot;isTemplate&quot;:true,&quot;type&quot;:&quot;text&quot;}"/>
          <p:cNvSpPr txBox="1"/>
          <p:nvPr/>
        </p:nvSpPr>
        <p:spPr>
          <a:xfrm>
            <a:off x="6362700" y="2971800"/>
            <a:ext cx="5048250" cy="2381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en-US" sz="900">
                <a:solidFill>
                  <a:srgbClr val="94A3B8"/>
                </a:solidFill>
                <a:latin typeface="JetBrains Mono"/>
                <a:ea typeface="JetBrains Mono"/>
              </a:rPr>
              <a:t>v.getNotBefore() / v.isExpired() / v.isNotBefore()</a:t>
            </a:r>
            <a:endParaRPr lang="en-US" sz="900">
              <a:solidFill>
                <a:srgbClr val="94A3B8"/>
              </a:solidFill>
              <a:latin typeface="JetBrains Mono"/>
              <a:ea typeface="JetBrains Mono"/>
            </a:endParaRPr>
          </a:p>
        </p:txBody>
      </p:sp>
      <p:sp>
        <p:nvSpPr>
          <p:cNvPr id="2981" name="矩形 2980"/>
          <p:cNvSpPr/>
          <p:nvPr/>
        </p:nvSpPr>
        <p:spPr>
          <a:xfrm>
            <a:off x="6362700" y="3305175"/>
            <a:ext cx="5048250" cy="9525"/>
          </a:xfrm>
          <a:prstGeom prst="rect">
            <a:avLst/>
          </a:prstGeom>
          <a:solidFill>
            <a:srgbClr val="1E293B"/>
          </a:solidFill>
        </p:spPr>
        <p:txBody>
          <a:bodyPr/>
          <a:p/>
        </p:txBody>
      </p:sp>
      <p:sp>
        <p:nvSpPr>
          <p:cNvPr id="2982" name="文本框 2981" descr="{&quot;isTemplate&quot;:true,&quot;type&quot;:&quot;text&quot;}"/>
          <p:cNvSpPr txBox="1"/>
          <p:nvPr/>
        </p:nvSpPr>
        <p:spPr>
          <a:xfrm>
            <a:off x="6362700" y="3390900"/>
            <a:ext cx="5048250" cy="2381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en-US" sz="900">
                <a:solidFill>
                  <a:srgbClr val="38BDF8"/>
                </a:solidFill>
                <a:latin typeface="JetBrains Mono"/>
                <a:ea typeface="JetBrains Mono"/>
              </a:rPr>
              <a:t>v.verifySign()               // </a:t>
            </a:r>
            <a:r>
              <a:rPr lang="zh-CN" sz="900">
                <a:solidFill>
                  <a:srgbClr val="38BDF8"/>
                </a:solidFill>
                <a:latin typeface="JetBrains Mono"/>
                <a:ea typeface="JetBrains Mono"/>
              </a:rPr>
              <a:t>只验签名</a:t>
            </a:r>
            <a:endParaRPr lang="zh-CN" sz="900">
              <a:solidFill>
                <a:srgbClr val="38BDF8"/>
              </a:solidFill>
              <a:latin typeface="JetBrains Mono"/>
              <a:ea typeface="JetBrains Mono"/>
            </a:endParaRPr>
          </a:p>
        </p:txBody>
      </p:sp>
      <p:sp>
        <p:nvSpPr>
          <p:cNvPr id="2983" name="文本框 2982" descr="{&quot;isTemplate&quot;:true,&quot;type&quot;:&quot;text&quot;}"/>
          <p:cNvSpPr txBox="1"/>
          <p:nvPr/>
        </p:nvSpPr>
        <p:spPr>
          <a:xfrm>
            <a:off x="6362700" y="3629025"/>
            <a:ext cx="5048250" cy="2381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en-US" sz="900">
                <a:solidFill>
                  <a:srgbClr val="F59E0B"/>
                </a:solidFill>
                <a:latin typeface="JetBrains Mono"/>
                <a:ea typeface="JetBrains Mono"/>
              </a:rPr>
              <a:t>v.verify()                   // exp + nbf + sign </a:t>
            </a:r>
            <a:r>
              <a:rPr lang="zh-CN" sz="900">
                <a:solidFill>
                  <a:srgbClr val="F59E0B"/>
                </a:solidFill>
                <a:latin typeface="JetBrains Mono"/>
                <a:ea typeface="JetBrains Mono"/>
              </a:rPr>
              <a:t>一起验</a:t>
            </a:r>
            <a:endParaRPr lang="zh-CN" sz="900">
              <a:solidFill>
                <a:srgbClr val="F59E0B"/>
              </a:solidFill>
              <a:latin typeface="JetBrains Mono"/>
              <a:ea typeface="JetBrains Mono"/>
            </a:endParaRPr>
          </a:p>
        </p:txBody>
      </p:sp>
      <p:sp>
        <p:nvSpPr>
          <p:cNvPr id="2984" name="文本框 2983" descr="{&quot;isTemplate&quot;:true,&quot;type&quot;:&quot;text&quot;}"/>
          <p:cNvSpPr txBox="1"/>
          <p:nvPr/>
        </p:nvSpPr>
        <p:spPr>
          <a:xfrm>
            <a:off x="6362700" y="3867150"/>
            <a:ext cx="5048250" cy="2381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en-US" sz="900">
                <a:solidFill>
                  <a:srgbClr val="E2E8F0"/>
                </a:solidFill>
                <a:latin typeface="JetBrains Mono"/>
                <a:ea typeface="JetBrains Mono"/>
              </a:rPr>
              <a:t>v.verifyIssuer('fountain') / verifySubject('user')</a:t>
            </a:r>
            <a:endParaRPr lang="en-US" sz="900">
              <a:solidFill>
                <a:srgbClr val="E2E8F0"/>
              </a:solidFill>
              <a:latin typeface="JetBrains Mono"/>
              <a:ea typeface="JetBrains Mono"/>
            </a:endParaRPr>
          </a:p>
        </p:txBody>
      </p:sp>
      <p:sp>
        <p:nvSpPr>
          <p:cNvPr id="2985" name="文本框 2984" descr="{&quot;isTemplate&quot;:true,&quot;type&quot;:&quot;text&quot;}"/>
          <p:cNvSpPr txBox="1"/>
          <p:nvPr/>
        </p:nvSpPr>
        <p:spPr>
          <a:xfrm>
            <a:off x="6362700" y="4105275"/>
            <a:ext cx="5048250" cy="2381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en-US" sz="900">
                <a:solidFill>
                  <a:srgbClr val="E2E8F0"/>
                </a:solidFill>
                <a:latin typeface="JetBrains Mono"/>
                <a:ea typeface="JetBrains Mono"/>
              </a:rPr>
              <a:t>v.verifyAudience('web') / verifyPayload('userId', 123)</a:t>
            </a:r>
            <a:endParaRPr lang="en-US" sz="900">
              <a:solidFill>
                <a:srgbClr val="E2E8F0"/>
              </a:solidFill>
              <a:latin typeface="JetBrains Mono"/>
              <a:ea typeface="JetBrains Mono"/>
            </a:endParaRPr>
          </a:p>
        </p:txBody>
      </p:sp>
      <p:sp>
        <p:nvSpPr>
          <p:cNvPr id="2986" name="文本框 2985" descr="{&quot;isTemplate&quot;:true,&quot;type&quot;:&quot;text&quot;}"/>
          <p:cNvSpPr txBox="1"/>
          <p:nvPr/>
        </p:nvSpPr>
        <p:spPr>
          <a:xfrm>
            <a:off x="6362700" y="4343400"/>
            <a:ext cx="5048250" cy="2381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en-US" sz="900">
                <a:solidFill>
                  <a:srgbClr val="E2E8F0"/>
                </a:solidFill>
                <a:latin typeface="JetBrains Mono"/>
                <a:ea typeface="JetBrains Mono"/>
              </a:rPr>
              <a:t>v.verifyId(cache)            // jti </a:t>
            </a:r>
            <a:r>
              <a:rPr lang="zh-CN" sz="900">
                <a:solidFill>
                  <a:srgbClr val="E2E8F0"/>
                </a:solidFill>
                <a:latin typeface="JetBrains Mono"/>
                <a:ea typeface="JetBrains Mono"/>
              </a:rPr>
              <a:t>是否有效</a:t>
            </a:r>
            <a:endParaRPr lang="zh-CN" sz="900">
              <a:solidFill>
                <a:srgbClr val="E2E8F0"/>
              </a:solidFill>
              <a:latin typeface="JetBrains Mono"/>
              <a:ea typeface="JetBrains Mono"/>
            </a:endParaRPr>
          </a:p>
        </p:txBody>
      </p:sp>
      <p:sp>
        <p:nvSpPr>
          <p:cNvPr id="2987" name="文本框 2986" descr="{&quot;isTemplate&quot;:true,&quot;type&quot;:&quot;text&quot;}"/>
          <p:cNvSpPr txBox="1"/>
          <p:nvPr/>
        </p:nvSpPr>
        <p:spPr>
          <a:xfrm>
            <a:off x="6362700" y="5648325"/>
            <a:ext cx="5048250" cy="466725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en-US" sz="90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verify() </a:t>
            </a:r>
            <a:r>
              <a:rPr lang="zh-CN" sz="90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已经把</a:t>
            </a:r>
            <a:r>
              <a:rPr lang="en-US" sz="90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exp</a:t>
            </a:r>
            <a:r>
              <a:rPr lang="zh-CN" sz="90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、</a:t>
            </a:r>
            <a:r>
              <a:rPr lang="en-US" sz="90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nbf</a:t>
            </a:r>
            <a:r>
              <a:rPr lang="zh-CN" sz="90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、签名都检查了；没有指定</a:t>
            </a:r>
            <a:r>
              <a:rPr lang="en-US" sz="90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exp / nbf </a:t>
            </a:r>
            <a:r>
              <a:rPr lang="zh-CN" sz="90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的字段就认为该维度当前有效。</a:t>
            </a:r>
            <a:r>
              <a:rPr lang="en-US" sz="90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jti </a:t>
            </a:r>
            <a:r>
              <a:rPr lang="zh-CN" sz="90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配</a:t>
            </a:r>
            <a:r>
              <a:rPr lang="en-US" sz="90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JwtIdCache</a:t>
            </a:r>
            <a:r>
              <a:rPr lang="zh-CN" sz="90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（</a:t>
            </a:r>
            <a:r>
              <a:rPr lang="en-US" sz="90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HeapJwtIdCache / NoneJwtIdCache</a:t>
            </a:r>
            <a:r>
              <a:rPr lang="zh-CN" sz="90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）可做防重放。</a:t>
            </a:r>
            <a:endParaRPr lang="zh-CN" sz="900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988" name="任意多边形 2987"/>
          <p:cNvSpPr/>
          <p:nvPr/>
        </p:nvSpPr>
        <p:spPr>
          <a:xfrm>
            <a:off x="609600" y="6286500"/>
            <a:ext cx="10972800" cy="381000"/>
          </a:xfrm>
          <a:custGeom>
            <a:avLst/>
            <a:gdLst/>
            <a:ahLst/>
            <a:cxnLst/>
            <a:pathLst>
              <a:path w="1152" h="40">
                <a:moveTo>
                  <a:pt x="0" y="0"/>
                </a:moveTo>
                <a:lnTo>
                  <a:pt x="1152" y="0"/>
                </a:lnTo>
                <a:lnTo>
                  <a:pt x="1152" y="1"/>
                </a:lnTo>
                <a:lnTo>
                  <a:pt x="0" y="1"/>
                </a:lnTo>
                <a:close/>
              </a:path>
            </a:pathLst>
          </a:custGeom>
          <a:solidFill>
            <a:srgbClr val="1E293B"/>
          </a:solidFill>
        </p:spPr>
        <p:txBody>
          <a:bodyPr/>
          <a:p/>
        </p:txBody>
      </p:sp>
      <p:sp>
        <p:nvSpPr>
          <p:cNvPr id="2989" name="文本框 2988" descr="{&quot;isTemplate&quot;:true,&quot;type&quot;:&quot;text&quot;}"/>
          <p:cNvSpPr txBox="1"/>
          <p:nvPr/>
        </p:nvSpPr>
        <p:spPr>
          <a:xfrm>
            <a:off x="609600" y="6410325"/>
            <a:ext cx="2219325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fountain · 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一站式服务器应用开发工具库</a:t>
            </a:r>
            <a:endParaRPr lang="zh-CN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990" name="文本框 2989" descr="{&quot;isTemplate&quot;:true,&quot;type&quot;:&quot;text&quot;}"/>
          <p:cNvSpPr txBox="1"/>
          <p:nvPr/>
        </p:nvSpPr>
        <p:spPr>
          <a:xfrm>
            <a:off x="11087100" y="6410325"/>
            <a:ext cx="495300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90 / 116</a:t>
            </a:r>
            <a:endParaRPr lang="en-US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99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2" name="矩形 299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220"/>
          </a:solidFill>
        </p:spPr>
        <p:txBody>
          <a:bodyPr/>
          <a:p/>
        </p:txBody>
      </p:sp>
      <p:sp>
        <p:nvSpPr>
          <p:cNvPr id="2993" name="矩形 2992"/>
          <p:cNvSpPr/>
          <p:nvPr/>
        </p:nvSpPr>
        <p:spPr>
          <a:xfrm>
            <a:off x="609600" y="476250"/>
            <a:ext cx="38100" cy="381000"/>
          </a:xfrm>
          <a:prstGeom prst="rect">
            <a:avLst/>
          </a:prstGeom>
          <a:solidFill>
            <a:srgbClr val="38BDF8"/>
          </a:solidFill>
        </p:spPr>
        <p:txBody>
          <a:bodyPr/>
          <a:p/>
        </p:txBody>
      </p:sp>
      <p:sp>
        <p:nvSpPr>
          <p:cNvPr id="2994" name="文本框 2993" descr="{&quot;isTemplate&quot;:true,&quot;type&quot;:&quot;text&quot;}"/>
          <p:cNvSpPr txBox="1"/>
          <p:nvPr/>
        </p:nvSpPr>
        <p:spPr>
          <a:xfrm>
            <a:off x="819150" y="304800"/>
            <a:ext cx="9725025" cy="2095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第</a:t>
            </a: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 13 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章</a:t>
            </a: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 · 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安全</a:t>
            </a: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 f_security + f_jwt · 13.4</a:t>
            </a:r>
            <a:endParaRPr lang="en-US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995" name="文本框 2994" descr="{&quot;isTemplate&quot;:true,&quot;type&quot;:&quot;text&quot;}"/>
          <p:cNvSpPr txBox="1"/>
          <p:nvPr/>
        </p:nvSpPr>
        <p:spPr>
          <a:xfrm>
            <a:off x="819150" y="514350"/>
            <a:ext cx="9725025" cy="5143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2550" b="1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端到端演示：登录</a:t>
            </a:r>
            <a:r>
              <a:rPr lang="en-US" sz="2550" b="1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 → </a:t>
            </a:r>
            <a:r>
              <a:rPr lang="zh-CN" sz="2550" b="1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拿</a:t>
            </a:r>
            <a:r>
              <a:rPr lang="en-US" sz="2550" b="1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 JWT → </a:t>
            </a:r>
            <a:r>
              <a:rPr lang="zh-CN" sz="2550" b="1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访问</a:t>
            </a:r>
            <a:endParaRPr lang="zh-CN" sz="2550" b="1">
              <a:solidFill>
                <a:srgbClr val="E2E8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996" name="文本框 2995" descr="{&quot;isTemplate&quot;:true,&quot;type&quot;:&quot;text&quot;}"/>
          <p:cNvSpPr txBox="1"/>
          <p:nvPr/>
        </p:nvSpPr>
        <p:spPr>
          <a:xfrm>
            <a:off x="10715625" y="590550"/>
            <a:ext cx="866775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把调用链串一遍</a:t>
            </a:r>
            <a:endParaRPr lang="zh-CN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997" name="圆角矩形 2996"/>
          <p:cNvSpPr/>
          <p:nvPr/>
        </p:nvSpPr>
        <p:spPr>
          <a:xfrm>
            <a:off x="609600" y="1143000"/>
            <a:ext cx="5334000" cy="800100"/>
          </a:xfrm>
          <a:prstGeom prst="roundRect">
            <a:avLst>
              <a:gd name="adj" fmla="val 11905"/>
            </a:avLst>
          </a:prstGeom>
          <a:solidFill>
            <a:srgbClr val="111C2E"/>
          </a:solidFill>
        </p:spPr>
        <p:txBody>
          <a:bodyPr/>
          <a:p/>
        </p:txBody>
      </p:sp>
      <p:sp>
        <p:nvSpPr>
          <p:cNvPr id="2998" name="文本框 2997" descr="{&quot;isTemplate&quot;:true,&quot;type&quot;:&quot;text&quot;}"/>
          <p:cNvSpPr txBox="1"/>
          <p:nvPr/>
        </p:nvSpPr>
        <p:spPr>
          <a:xfrm>
            <a:off x="723900" y="1257300"/>
            <a:ext cx="266700" cy="5715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 b="1">
                <a:solidFill>
                  <a:srgbClr val="38BDF8"/>
                </a:solidFill>
                <a:latin typeface="JetBrains Mono"/>
                <a:ea typeface="JetBrains Mono"/>
              </a:rPr>
              <a:t>1</a:t>
            </a:r>
            <a:endParaRPr lang="en-US" sz="1350" b="1">
              <a:solidFill>
                <a:srgbClr val="38BDF8"/>
              </a:solidFill>
              <a:latin typeface="JetBrains Mono"/>
              <a:ea typeface="JetBrains Mono"/>
            </a:endParaRPr>
          </a:p>
        </p:txBody>
      </p:sp>
      <p:sp>
        <p:nvSpPr>
          <p:cNvPr id="2999" name="文本框 2998" descr="{&quot;isTemplate&quot;:true,&quot;type&quot;:&quot;text&quot;}"/>
          <p:cNvSpPr txBox="1"/>
          <p:nvPr/>
        </p:nvSpPr>
        <p:spPr>
          <a:xfrm>
            <a:off x="1104900" y="1257300"/>
            <a:ext cx="4724400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注册（表单）</a:t>
            </a:r>
            <a:endParaRPr lang="zh-CN" sz="1050">
              <a:solidFill>
                <a:srgbClr val="E2E8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000" name="文本框 2999" descr="{&quot;isTemplate&quot;:true,&quot;type&quot;:&quot;text&quot;}"/>
          <p:cNvSpPr txBox="1"/>
          <p:nvPr/>
        </p:nvSpPr>
        <p:spPr>
          <a:xfrm>
            <a:off x="1104900" y="1419225"/>
            <a:ext cx="4724400" cy="409575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en-US" sz="825">
                <a:solidFill>
                  <a:srgbClr val="94A3B8"/>
                </a:solidFill>
                <a:latin typeface="JetBrains Mono"/>
                <a:ea typeface="JetBrains Mono"/>
              </a:rPr>
              <a:t>curl -XPOST .../api/user/register -H 'Content-Type:application/x-www-form-urlencoded' -d 'username=abcdef&amp;password=bcbcbcbc'</a:t>
            </a:r>
            <a:endParaRPr lang="en-US" sz="825">
              <a:solidFill>
                <a:srgbClr val="94A3B8"/>
              </a:solidFill>
              <a:latin typeface="JetBrains Mono"/>
              <a:ea typeface="JetBrains Mono"/>
            </a:endParaRPr>
          </a:p>
        </p:txBody>
      </p:sp>
      <p:sp>
        <p:nvSpPr>
          <p:cNvPr id="3001" name="圆角矩形 3000"/>
          <p:cNvSpPr/>
          <p:nvPr/>
        </p:nvSpPr>
        <p:spPr>
          <a:xfrm>
            <a:off x="609600" y="2057400"/>
            <a:ext cx="5334000" cy="800100"/>
          </a:xfrm>
          <a:prstGeom prst="roundRect">
            <a:avLst>
              <a:gd name="adj" fmla="val 11905"/>
            </a:avLst>
          </a:prstGeom>
          <a:solidFill>
            <a:srgbClr val="111C2E"/>
          </a:solidFill>
        </p:spPr>
        <p:txBody>
          <a:bodyPr/>
          <a:p/>
        </p:txBody>
      </p:sp>
      <p:sp>
        <p:nvSpPr>
          <p:cNvPr id="3002" name="文本框 3001" descr="{&quot;isTemplate&quot;:true,&quot;type&quot;:&quot;text&quot;}"/>
          <p:cNvSpPr txBox="1"/>
          <p:nvPr/>
        </p:nvSpPr>
        <p:spPr>
          <a:xfrm>
            <a:off x="723900" y="2171700"/>
            <a:ext cx="266700" cy="5715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 b="1">
                <a:solidFill>
                  <a:srgbClr val="38BDF8"/>
                </a:solidFill>
                <a:latin typeface="JetBrains Mono"/>
                <a:ea typeface="JetBrains Mono"/>
              </a:rPr>
              <a:t>2</a:t>
            </a:r>
            <a:endParaRPr lang="en-US" sz="1350" b="1">
              <a:solidFill>
                <a:srgbClr val="38BDF8"/>
              </a:solidFill>
              <a:latin typeface="JetBrains Mono"/>
              <a:ea typeface="JetBrains Mono"/>
            </a:endParaRPr>
          </a:p>
        </p:txBody>
      </p:sp>
      <p:sp>
        <p:nvSpPr>
          <p:cNvPr id="3003" name="文本框 3002" descr="{&quot;isTemplate&quot;:true,&quot;type&quot;:&quot;text&quot;}"/>
          <p:cNvSpPr txBox="1"/>
          <p:nvPr/>
        </p:nvSpPr>
        <p:spPr>
          <a:xfrm>
            <a:off x="1104900" y="2171700"/>
            <a:ext cx="4724400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登录（返回</a:t>
            </a:r>
            <a:r>
              <a:rPr lang="en-US" sz="105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 jwt</a:t>
            </a:r>
            <a:r>
              <a:rPr lang="zh-CN" sz="105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，用</a:t>
            </a:r>
            <a:r>
              <a:rPr lang="en-US" sz="105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 grep / cut </a:t>
            </a:r>
            <a:r>
              <a:rPr lang="zh-CN" sz="105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抽出来存变量）</a:t>
            </a:r>
            <a:endParaRPr lang="zh-CN" sz="1050">
              <a:solidFill>
                <a:srgbClr val="E2E8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004" name="文本框 3003" descr="{&quot;isTemplate&quot;:true,&quot;type&quot;:&quot;text&quot;}"/>
          <p:cNvSpPr txBox="1"/>
          <p:nvPr/>
        </p:nvSpPr>
        <p:spPr>
          <a:xfrm>
            <a:off x="1104900" y="2333625"/>
            <a:ext cx="4724400" cy="409575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en-US" sz="825">
                <a:solidFill>
                  <a:srgbClr val="94A3B8"/>
                </a:solidFill>
                <a:latin typeface="JetBrains Mono"/>
                <a:ea typeface="JetBrains Mono"/>
              </a:rPr>
              <a:t>JWT=$(curl -s -XPOST .../api/user/session -d '{"username":"abcdef",...}' | grep -o '"jwt":"[^"]*"' | cut -d'"' -f4)</a:t>
            </a:r>
            <a:endParaRPr lang="en-US" sz="825">
              <a:solidFill>
                <a:srgbClr val="94A3B8"/>
              </a:solidFill>
              <a:latin typeface="JetBrains Mono"/>
              <a:ea typeface="JetBrains Mono"/>
            </a:endParaRPr>
          </a:p>
        </p:txBody>
      </p:sp>
      <p:sp>
        <p:nvSpPr>
          <p:cNvPr id="3005" name="圆角矩形 3004"/>
          <p:cNvSpPr/>
          <p:nvPr/>
        </p:nvSpPr>
        <p:spPr>
          <a:xfrm>
            <a:off x="609600" y="2971800"/>
            <a:ext cx="5334000" cy="600075"/>
          </a:xfrm>
          <a:prstGeom prst="roundRect">
            <a:avLst>
              <a:gd name="adj" fmla="val 15873"/>
            </a:avLst>
          </a:prstGeom>
          <a:solidFill>
            <a:srgbClr val="F59E0B">
              <a:alpha val="7000"/>
            </a:srgbClr>
          </a:solidFill>
          <a:ln w="12700">
            <a:solidFill>
              <a:srgbClr val="F59E0B"/>
            </a:solidFill>
            <a:prstDash val="solid"/>
          </a:ln>
        </p:spPr>
        <p:txBody>
          <a:bodyPr/>
          <a:p/>
        </p:txBody>
      </p:sp>
      <p:sp>
        <p:nvSpPr>
          <p:cNvPr id="3006" name="文本框 3005" descr="{&quot;isTemplate&quot;:true,&quot;type&quot;:&quot;text&quot;}"/>
          <p:cNvSpPr txBox="1"/>
          <p:nvPr/>
        </p:nvSpPr>
        <p:spPr>
          <a:xfrm>
            <a:off x="723900" y="3086100"/>
            <a:ext cx="266700" cy="3714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 b="1">
                <a:solidFill>
                  <a:srgbClr val="F59E0B"/>
                </a:solidFill>
                <a:latin typeface="JetBrains Mono"/>
                <a:ea typeface="JetBrains Mono"/>
              </a:rPr>
              <a:t>3</a:t>
            </a:r>
            <a:endParaRPr lang="en-US" sz="1350" b="1">
              <a:solidFill>
                <a:srgbClr val="F59E0B"/>
              </a:solidFill>
              <a:latin typeface="JetBrains Mono"/>
              <a:ea typeface="JetBrains Mono"/>
            </a:endParaRPr>
          </a:p>
        </p:txBody>
      </p:sp>
      <p:sp>
        <p:nvSpPr>
          <p:cNvPr id="3007" name="文本框 3006" descr="{&quot;isTemplate&quot;:true,&quot;type&quot;:&quot;text&quot;}"/>
          <p:cNvSpPr txBox="1"/>
          <p:nvPr/>
        </p:nvSpPr>
        <p:spPr>
          <a:xfrm>
            <a:off x="1104900" y="3086100"/>
            <a:ext cx="4724400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不带</a:t>
            </a:r>
            <a:r>
              <a:rPr lang="en-US" sz="105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 JWT</a:t>
            </a:r>
            <a:endParaRPr lang="en-US" sz="1050">
              <a:solidFill>
                <a:srgbClr val="E2E8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008" name="文本框 3007" descr="{&quot;isTemplate&quot;:true,&quot;type&quot;:&quot;text&quot;}"/>
          <p:cNvSpPr txBox="1"/>
          <p:nvPr/>
        </p:nvSpPr>
        <p:spPr>
          <a:xfrm>
            <a:off x="1104900" y="3248025"/>
            <a:ext cx="4724400" cy="2095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en-US" sz="825">
                <a:solidFill>
                  <a:srgbClr val="F59E0B"/>
                </a:solidFill>
                <a:latin typeface="JetBrains Mono"/>
                <a:ea typeface="JetBrains Mono"/>
              </a:rPr>
              <a:t>curl -i ... /api/user/1</a:t>
            </a:r>
            <a:r>
              <a:rPr lang="zh-CN" sz="825">
                <a:solidFill>
                  <a:srgbClr val="F59E0B"/>
                </a:solidFill>
                <a:latin typeface="JetBrains Mono"/>
                <a:ea typeface="JetBrains Mono"/>
              </a:rPr>
              <a:t>　→　</a:t>
            </a:r>
            <a:r>
              <a:rPr lang="en-US" sz="825">
                <a:solidFill>
                  <a:srgbClr val="F59E0B"/>
                </a:solidFill>
                <a:latin typeface="JetBrains Mono"/>
                <a:ea typeface="JetBrains Mono"/>
              </a:rPr>
              <a:t>401 Unauthorized</a:t>
            </a:r>
            <a:r>
              <a:rPr lang="zh-CN" sz="825">
                <a:solidFill>
                  <a:srgbClr val="F59E0B"/>
                </a:solidFill>
                <a:latin typeface="JetBrains Mono"/>
                <a:ea typeface="JetBrains Mono"/>
              </a:rPr>
              <a:t>　</a:t>
            </a:r>
            <a:r>
              <a:rPr lang="en-US" sz="825">
                <a:solidFill>
                  <a:srgbClr val="F59E0B"/>
                </a:solidFill>
                <a:latin typeface="JetBrains Mono"/>
                <a:ea typeface="JetBrains Mono"/>
              </a:rPr>
              <a:t>+</a:t>
            </a:r>
            <a:r>
              <a:rPr lang="zh-CN" sz="825">
                <a:solidFill>
                  <a:srgbClr val="F59E0B"/>
                </a:solidFill>
                <a:latin typeface="JetBrains Mono"/>
                <a:ea typeface="JetBrains Mono"/>
              </a:rPr>
              <a:t>　</a:t>
            </a:r>
            <a:r>
              <a:rPr lang="en-US" sz="825">
                <a:solidFill>
                  <a:srgbClr val="F59E0B"/>
                </a:solidFill>
                <a:latin typeface="JetBrains Mono"/>
                <a:ea typeface="JetBrains Mono"/>
              </a:rPr>
              <a:t>{ "status":-1 }</a:t>
            </a:r>
            <a:endParaRPr lang="en-US" sz="825">
              <a:solidFill>
                <a:srgbClr val="F59E0B"/>
              </a:solidFill>
              <a:latin typeface="JetBrains Mono"/>
              <a:ea typeface="JetBrains Mono"/>
            </a:endParaRPr>
          </a:p>
        </p:txBody>
      </p:sp>
      <p:sp>
        <p:nvSpPr>
          <p:cNvPr id="3009" name="圆角矩形 3008"/>
          <p:cNvSpPr/>
          <p:nvPr/>
        </p:nvSpPr>
        <p:spPr>
          <a:xfrm>
            <a:off x="609600" y="3686175"/>
            <a:ext cx="5334000" cy="600075"/>
          </a:xfrm>
          <a:prstGeom prst="roundRect">
            <a:avLst>
              <a:gd name="adj" fmla="val 15873"/>
            </a:avLst>
          </a:prstGeom>
          <a:solidFill>
            <a:srgbClr val="111C2E"/>
          </a:solidFill>
        </p:spPr>
        <p:txBody>
          <a:bodyPr/>
          <a:p/>
        </p:txBody>
      </p:sp>
      <p:sp>
        <p:nvSpPr>
          <p:cNvPr id="3010" name="文本框 3009" descr="{&quot;isTemplate&quot;:true,&quot;type&quot;:&quot;text&quot;}"/>
          <p:cNvSpPr txBox="1"/>
          <p:nvPr/>
        </p:nvSpPr>
        <p:spPr>
          <a:xfrm>
            <a:off x="723900" y="3800475"/>
            <a:ext cx="266700" cy="3714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 b="1">
                <a:solidFill>
                  <a:srgbClr val="38BDF8"/>
                </a:solidFill>
                <a:latin typeface="JetBrains Mono"/>
                <a:ea typeface="JetBrains Mono"/>
              </a:rPr>
              <a:t>4</a:t>
            </a:r>
            <a:endParaRPr lang="en-US" sz="1350" b="1">
              <a:solidFill>
                <a:srgbClr val="38BDF8"/>
              </a:solidFill>
              <a:latin typeface="JetBrains Mono"/>
              <a:ea typeface="JetBrains Mono"/>
            </a:endParaRPr>
          </a:p>
        </p:txBody>
      </p:sp>
      <p:sp>
        <p:nvSpPr>
          <p:cNvPr id="3011" name="文本框 3010" descr="{&quot;isTemplate&quot;:true,&quot;type&quot;:&quot;text&quot;}"/>
          <p:cNvSpPr txBox="1"/>
          <p:nvPr/>
        </p:nvSpPr>
        <p:spPr>
          <a:xfrm>
            <a:off x="1104900" y="3800475"/>
            <a:ext cx="4724400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带</a:t>
            </a:r>
            <a:r>
              <a:rPr lang="en-US" sz="105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 JWT</a:t>
            </a:r>
            <a:endParaRPr lang="en-US" sz="1050">
              <a:solidFill>
                <a:srgbClr val="E2E8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012" name="文本框 3011" descr="{&quot;isTemplate&quot;:true,&quot;type&quot;:&quot;text&quot;}"/>
          <p:cNvSpPr txBox="1"/>
          <p:nvPr/>
        </p:nvSpPr>
        <p:spPr>
          <a:xfrm>
            <a:off x="1104900" y="3962400"/>
            <a:ext cx="4724400" cy="2095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en-US" sz="825">
                <a:solidFill>
                  <a:srgbClr val="22D3EE"/>
                </a:solidFill>
                <a:latin typeface="JetBrains Mono"/>
                <a:ea typeface="JetBrains Mono"/>
              </a:rPr>
              <a:t>curl -i -H "Authorization: $JWT" ... /api/user/1</a:t>
            </a:r>
            <a:r>
              <a:rPr lang="zh-CN" sz="825">
                <a:solidFill>
                  <a:srgbClr val="22D3EE"/>
                </a:solidFill>
                <a:latin typeface="JetBrains Mono"/>
                <a:ea typeface="JetBrains Mono"/>
              </a:rPr>
              <a:t>　→　</a:t>
            </a:r>
            <a:r>
              <a:rPr lang="en-US" sz="825">
                <a:solidFill>
                  <a:srgbClr val="22D3EE"/>
                </a:solidFill>
                <a:latin typeface="JetBrains Mono"/>
                <a:ea typeface="JetBrains Mono"/>
              </a:rPr>
              <a:t>200 + </a:t>
            </a:r>
            <a:r>
              <a:rPr lang="zh-CN" sz="825">
                <a:solidFill>
                  <a:srgbClr val="22D3EE"/>
                </a:solidFill>
                <a:latin typeface="JetBrains Mono"/>
                <a:ea typeface="JetBrains Mono"/>
              </a:rPr>
              <a:t>用户</a:t>
            </a:r>
            <a:r>
              <a:rPr lang="en-US" sz="825">
                <a:solidFill>
                  <a:srgbClr val="22D3EE"/>
                </a:solidFill>
                <a:latin typeface="JetBrains Mono"/>
                <a:ea typeface="JetBrains Mono"/>
              </a:rPr>
              <a:t> JSON</a:t>
            </a:r>
            <a:endParaRPr lang="en-US" sz="825">
              <a:solidFill>
                <a:srgbClr val="22D3EE"/>
              </a:solidFill>
              <a:latin typeface="JetBrains Mono"/>
              <a:ea typeface="JetBrains Mono"/>
            </a:endParaRPr>
          </a:p>
        </p:txBody>
      </p:sp>
      <p:sp>
        <p:nvSpPr>
          <p:cNvPr id="3013" name="圆角矩形 3012"/>
          <p:cNvSpPr/>
          <p:nvPr/>
        </p:nvSpPr>
        <p:spPr>
          <a:xfrm>
            <a:off x="609600" y="4400550"/>
            <a:ext cx="5334000" cy="2181225"/>
          </a:xfrm>
          <a:prstGeom prst="roundRect">
            <a:avLst>
              <a:gd name="adj" fmla="val 5240"/>
            </a:avLst>
          </a:prstGeom>
          <a:solidFill>
            <a:srgbClr val="111C2E"/>
          </a:solidFill>
          <a:ln w="12700">
            <a:solidFill>
              <a:srgbClr val="38BDF8"/>
            </a:solidFill>
            <a:prstDash val="solid"/>
          </a:ln>
        </p:spPr>
        <p:txBody>
          <a:bodyPr/>
          <a:p/>
        </p:txBody>
      </p:sp>
      <p:sp>
        <p:nvSpPr>
          <p:cNvPr id="3014" name="文本框 3013" descr="{&quot;isTemplate&quot;:true,&quot;type&quot;:&quot;text&quot;}"/>
          <p:cNvSpPr txBox="1"/>
          <p:nvPr/>
        </p:nvSpPr>
        <p:spPr>
          <a:xfrm>
            <a:off x="762000" y="4552950"/>
            <a:ext cx="5029200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38BDF8"/>
                </a:solidFill>
                <a:latin typeface="微软雅黑" panose="020B0503020204020204" charset="-122"/>
                <a:ea typeface="微软雅黑" panose="020B0503020204020204" charset="-122"/>
              </a:rPr>
              <a:t>调用链</a:t>
            </a:r>
            <a:endParaRPr lang="zh-CN" sz="1050" b="1">
              <a:solidFill>
                <a:srgbClr val="38BDF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015" name="文本框 3014" descr="{&quot;isTemplate&quot;:true,&quot;type&quot;:&quot;text&quot;}"/>
          <p:cNvSpPr txBox="1"/>
          <p:nvPr/>
        </p:nvSpPr>
        <p:spPr>
          <a:xfrm>
            <a:off x="762000" y="4714875"/>
            <a:ext cx="5029200" cy="17145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en-US" sz="825">
                <a:solidFill>
                  <a:srgbClr val="E2E8F0"/>
                </a:solidFill>
                <a:latin typeface="JetBrains Mono"/>
                <a:ea typeface="JetBrains Mono"/>
              </a:rPr>
              <a:t>HTTP </a:t>
            </a:r>
            <a:r>
              <a:rPr lang="zh-CN" sz="825">
                <a:solidFill>
                  <a:srgbClr val="E2E8F0"/>
                </a:solidFill>
                <a:latin typeface="JetBrains Mono"/>
                <a:ea typeface="JetBrains Mono"/>
              </a:rPr>
              <a:t>请求</a:t>
            </a:r>
            <a:r>
              <a:rPr lang="en-US" sz="825">
                <a:solidFill>
                  <a:srgbClr val="E2E8F0"/>
                </a:solidFill>
                <a:latin typeface="JetBrains Mono"/>
                <a:ea typeface="JetBrains Mono"/>
              </a:rPr>
              <a:t> → MVC </a:t>
            </a:r>
            <a:r>
              <a:rPr lang="zh-CN" sz="825">
                <a:solidFill>
                  <a:srgbClr val="E2E8F0"/>
                </a:solidFill>
                <a:latin typeface="JetBrains Mono"/>
                <a:ea typeface="JetBrains Mono"/>
              </a:rPr>
              <a:t>路由到</a:t>
            </a:r>
            <a:r>
              <a:rPr lang="en-US" sz="825">
                <a:solidFill>
                  <a:srgbClr val="E2E8F0"/>
                </a:solidFill>
                <a:latin typeface="JetBrains Mono"/>
                <a:ea typeface="JetBrains Mono"/>
              </a:rPr>
              <a:t> UserController.queryUser</a:t>
            </a:r>
            <a:endParaRPr lang="en-US" sz="825">
              <a:solidFill>
                <a:srgbClr val="E2E8F0"/>
              </a:solidFill>
              <a:latin typeface="JetBrains Mono"/>
              <a:ea typeface="JetBrains Mono"/>
            </a:endParaRPr>
          </a:p>
          <a:p>
            <a:pPr>
              <a:lnSpc>
                <a:spcPct val="170000"/>
              </a:lnSpc>
            </a:pPr>
            <a:r>
              <a:rPr lang="zh-CN" sz="825">
                <a:solidFill>
                  <a:srgbClr val="E2E8F0"/>
                </a:solidFill>
                <a:latin typeface="JetBrains Mono"/>
                <a:ea typeface="JetBrains Mono"/>
              </a:rPr>
              <a:t>　→</a:t>
            </a:r>
            <a:r>
              <a:rPr lang="en-US" sz="825">
                <a:solidFill>
                  <a:srgbClr val="E2E8F0"/>
                </a:solidFill>
                <a:latin typeface="JetBrains Mono"/>
                <a:ea typeface="JetBrains Mono"/>
              </a:rPr>
              <a:t> AuthHandlerProxy.check(AuthParam</a:t>
            </a:r>
            <a:r>
              <a:rPr lang="en-US" sz="825">
                <a:solidFill>
                  <a:srgbClr val="E2E8F0"/>
                </a:solidFill>
                <a:latin typeface="JetBrains Mono"/>
                <a:ea typeface="JetBrains Mono"/>
              </a:rPr>
              <a:t>{</a:t>
            </a:r>
            <a:r>
              <a:rPr lang="en-US" sz="825">
                <a:solidFill>
                  <a:srgbClr val="E2E8F0"/>
                </a:solidFill>
                <a:latin typeface="JetBrains Mono"/>
                <a:ea typeface="JetBrains Mono"/>
              </a:rPr>
              <a:t>ignoreAuth:false</a:t>
            </a:r>
            <a:r>
              <a:rPr lang="en-US" sz="825">
                <a:solidFill>
                  <a:srgbClr val="E2E8F0"/>
                </a:solidFill>
                <a:latin typeface="JetBrains Mono"/>
                <a:ea typeface="JetBrains Mono"/>
              </a:rPr>
              <a:t>}</a:t>
            </a:r>
            <a:r>
              <a:rPr lang="en-US" sz="825">
                <a:solidFill>
                  <a:srgbClr val="E2E8F0"/>
                </a:solidFill>
                <a:latin typeface="JetBrains Mono"/>
                <a:ea typeface="JetBrains Mono"/>
              </a:rPr>
              <a:t>)</a:t>
            </a:r>
            <a:endParaRPr lang="en-US" sz="825">
              <a:solidFill>
                <a:srgbClr val="E2E8F0"/>
              </a:solidFill>
              <a:latin typeface="JetBrains Mono"/>
              <a:ea typeface="JetBrains Mono"/>
            </a:endParaRPr>
          </a:p>
          <a:p>
            <a:pPr>
              <a:lnSpc>
                <a:spcPct val="170000"/>
              </a:lnSpc>
            </a:pPr>
            <a:r>
              <a:rPr lang="zh-CN" sz="825">
                <a:solidFill>
                  <a:srgbClr val="E2E8F0"/>
                </a:solidFill>
                <a:latin typeface="JetBrains Mono"/>
                <a:ea typeface="JetBrains Mono"/>
              </a:rPr>
              <a:t>　→</a:t>
            </a:r>
            <a:r>
              <a:rPr lang="en-US" sz="825">
                <a:solidFill>
                  <a:srgbClr val="E2E8F0"/>
                </a:solidFill>
                <a:latin typeface="JetBrains Mono"/>
                <a:ea typeface="JetBrains Mono"/>
              </a:rPr>
              <a:t> AuthCheckerImpl.check → UserSessionCache.verify()</a:t>
            </a:r>
            <a:endParaRPr lang="en-US" sz="825">
              <a:solidFill>
                <a:srgbClr val="E2E8F0"/>
              </a:solidFill>
              <a:latin typeface="JetBrains Mono"/>
              <a:ea typeface="JetBrains Mono"/>
            </a:endParaRPr>
          </a:p>
          <a:p>
            <a:pPr>
              <a:lnSpc>
                <a:spcPct val="170000"/>
              </a:lnSpc>
            </a:pPr>
            <a:r>
              <a:rPr lang="zh-CN" sz="825">
                <a:solidFill>
                  <a:srgbClr val="E2E8F0"/>
                </a:solidFill>
                <a:latin typeface="JetBrains Mono"/>
                <a:ea typeface="JetBrains Mono"/>
              </a:rPr>
              <a:t>　→</a:t>
            </a:r>
            <a:r>
              <a:rPr lang="en-US" sz="825">
                <a:solidFill>
                  <a:srgbClr val="E2E8F0"/>
                </a:solidFill>
                <a:latin typeface="JetBrains Mono"/>
                <a:ea typeface="JetBrains Mono"/>
              </a:rPr>
              <a:t> JWTSecurityContext.check(())</a:t>
            </a:r>
            <a:endParaRPr lang="en-US" sz="825">
              <a:solidFill>
                <a:srgbClr val="E2E8F0"/>
              </a:solidFill>
              <a:latin typeface="JetBrains Mono"/>
              <a:ea typeface="JetBrains Mono"/>
            </a:endParaRPr>
          </a:p>
          <a:p>
            <a:pPr>
              <a:lnSpc>
                <a:spcPct val="170000"/>
              </a:lnSpc>
            </a:pPr>
            <a:r>
              <a:rPr lang="zh-CN" sz="825">
                <a:solidFill>
                  <a:srgbClr val="E2E8F0"/>
                </a:solidFill>
                <a:latin typeface="JetBrains Mono"/>
                <a:ea typeface="JetBrains Mono"/>
              </a:rPr>
              <a:t>　　　├─</a:t>
            </a:r>
            <a:r>
              <a:rPr lang="en-US" sz="825">
                <a:solidFill>
                  <a:srgbClr val="E2E8F0"/>
                </a:solidFill>
                <a:latin typeface="JetBrains Mono"/>
                <a:ea typeface="JetBrains Mono"/>
              </a:rPr>
              <a:t> </a:t>
            </a:r>
            <a:r>
              <a:rPr lang="zh-CN" sz="825">
                <a:solidFill>
                  <a:srgbClr val="E2E8F0"/>
                </a:solidFill>
                <a:latin typeface="JetBrains Mono"/>
                <a:ea typeface="JetBrains Mono"/>
              </a:rPr>
              <a:t>从</a:t>
            </a:r>
            <a:r>
              <a:rPr lang="en-US" sz="825">
                <a:solidFill>
                  <a:srgbClr val="E2E8F0"/>
                </a:solidFill>
                <a:latin typeface="JetBrains Mono"/>
                <a:ea typeface="JetBrains Mono"/>
              </a:rPr>
              <a:t> CurrentHttpContext </a:t>
            </a:r>
            <a:r>
              <a:rPr lang="zh-CN" sz="825">
                <a:solidFill>
                  <a:srgbClr val="E2E8F0"/>
                </a:solidFill>
                <a:latin typeface="JetBrains Mono"/>
                <a:ea typeface="JetBrains Mono"/>
              </a:rPr>
              <a:t>拿</a:t>
            </a:r>
            <a:r>
              <a:rPr lang="en-US" sz="825">
                <a:solidFill>
                  <a:srgbClr val="E2E8F0"/>
                </a:solidFill>
                <a:latin typeface="JetBrains Mono"/>
                <a:ea typeface="JetBrains Mono"/>
              </a:rPr>
              <a:t> Authorization </a:t>
            </a:r>
            <a:r>
              <a:rPr lang="zh-CN" sz="825">
                <a:solidFill>
                  <a:srgbClr val="E2E8F0"/>
                </a:solidFill>
                <a:latin typeface="JetBrains Mono"/>
                <a:ea typeface="JetBrains Mono"/>
              </a:rPr>
              <a:t>头</a:t>
            </a:r>
            <a:endParaRPr lang="zh-CN" sz="825">
              <a:solidFill>
                <a:srgbClr val="E2E8F0"/>
              </a:solidFill>
              <a:latin typeface="JetBrains Mono"/>
              <a:ea typeface="JetBrains Mono"/>
            </a:endParaRPr>
          </a:p>
          <a:p>
            <a:pPr>
              <a:lnSpc>
                <a:spcPct val="170000"/>
              </a:lnSpc>
            </a:pPr>
            <a:r>
              <a:rPr lang="zh-CN" sz="825">
                <a:solidFill>
                  <a:srgbClr val="E2E8F0"/>
                </a:solidFill>
                <a:latin typeface="JetBrains Mono"/>
                <a:ea typeface="JetBrains Mono"/>
              </a:rPr>
              <a:t>　　　├─</a:t>
            </a:r>
            <a:r>
              <a:rPr lang="en-US" sz="825">
                <a:solidFill>
                  <a:srgbClr val="E2E8F0"/>
                </a:solidFill>
                <a:latin typeface="JetBrains Mono"/>
                <a:ea typeface="JetBrains Mono"/>
              </a:rPr>
              <a:t> JWT.verifier(token).verify()</a:t>
            </a:r>
            <a:r>
              <a:rPr lang="zh-CN" sz="825">
                <a:solidFill>
                  <a:srgbClr val="E2E8F0"/>
                </a:solidFill>
                <a:latin typeface="JetBrains Mono"/>
                <a:ea typeface="JetBrains Mono"/>
              </a:rPr>
              <a:t>（验签</a:t>
            </a:r>
            <a:r>
              <a:rPr lang="en-US" sz="825">
                <a:solidFill>
                  <a:srgbClr val="E2E8F0"/>
                </a:solidFill>
                <a:latin typeface="JetBrains Mono"/>
                <a:ea typeface="JetBrains Mono"/>
              </a:rPr>
              <a:t> + exp + nbf</a:t>
            </a:r>
            <a:r>
              <a:rPr lang="zh-CN" sz="825">
                <a:solidFill>
                  <a:srgbClr val="E2E8F0"/>
                </a:solidFill>
                <a:latin typeface="JetBrains Mono"/>
                <a:ea typeface="JetBrains Mono"/>
              </a:rPr>
              <a:t>）</a:t>
            </a:r>
            <a:endParaRPr lang="zh-CN" sz="825">
              <a:solidFill>
                <a:srgbClr val="E2E8F0"/>
              </a:solidFill>
              <a:latin typeface="JetBrains Mono"/>
              <a:ea typeface="JetBrains Mono"/>
            </a:endParaRPr>
          </a:p>
          <a:p>
            <a:pPr>
              <a:lnSpc>
                <a:spcPct val="170000"/>
              </a:lnSpc>
            </a:pPr>
            <a:r>
              <a:rPr lang="zh-CN" sz="825">
                <a:solidFill>
                  <a:srgbClr val="E2E8F0"/>
                </a:solidFill>
                <a:latin typeface="JetBrains Mono"/>
                <a:ea typeface="JetBrains Mono"/>
              </a:rPr>
              <a:t>　　　└─</a:t>
            </a:r>
            <a:r>
              <a:rPr lang="en-US" sz="825">
                <a:solidFill>
                  <a:srgbClr val="E2E8F0"/>
                </a:solidFill>
                <a:latin typeface="JetBrains Mono"/>
                <a:ea typeface="JetBrains Mono"/>
              </a:rPr>
              <a:t> </a:t>
            </a:r>
            <a:r>
              <a:rPr lang="zh-CN" sz="825">
                <a:solidFill>
                  <a:srgbClr val="E2E8F0"/>
                </a:solidFill>
                <a:latin typeface="JetBrains Mono"/>
                <a:ea typeface="JetBrains Mono"/>
              </a:rPr>
              <a:t>用</a:t>
            </a:r>
            <a:r>
              <a:rPr lang="en-US" sz="825">
                <a:solidFill>
                  <a:srgbClr val="E2E8F0"/>
                </a:solidFill>
                <a:latin typeface="JetBrains Mono"/>
                <a:ea typeface="JetBrains Mono"/>
              </a:rPr>
              <a:t> principal.key </a:t>
            </a:r>
            <a:r>
              <a:rPr lang="zh-CN" sz="825">
                <a:solidFill>
                  <a:srgbClr val="E2E8F0"/>
                </a:solidFill>
                <a:latin typeface="JetBrains Mono"/>
                <a:ea typeface="JetBrains Mono"/>
              </a:rPr>
              <a:t>做</a:t>
            </a:r>
            <a:r>
              <a:rPr lang="en-US" sz="825">
                <a:solidFill>
                  <a:srgbClr val="E2E8F0"/>
                </a:solidFill>
                <a:latin typeface="JetBrains Mono"/>
                <a:ea typeface="JetBrains Mono"/>
              </a:rPr>
              <a:t> HMAC </a:t>
            </a:r>
            <a:r>
              <a:rPr lang="zh-CN" sz="825">
                <a:solidFill>
                  <a:srgbClr val="E2E8F0"/>
                </a:solidFill>
                <a:latin typeface="JetBrains Mono"/>
                <a:ea typeface="JetBrains Mono"/>
              </a:rPr>
              <a:t>密钥</a:t>
            </a:r>
            <a:endParaRPr lang="zh-CN" sz="825">
              <a:solidFill>
                <a:srgbClr val="E2E8F0"/>
              </a:solidFill>
              <a:latin typeface="JetBrains Mono"/>
              <a:ea typeface="JetBrains Mono"/>
            </a:endParaRPr>
          </a:p>
          <a:p>
            <a:pPr>
              <a:lnSpc>
                <a:spcPct val="170000"/>
              </a:lnSpc>
            </a:pPr>
            <a:r>
              <a:rPr lang="zh-CN" sz="825">
                <a:solidFill>
                  <a:srgbClr val="E2E8F0"/>
                </a:solidFill>
                <a:latin typeface="JetBrains Mono"/>
                <a:ea typeface="JetBrains Mono"/>
              </a:rPr>
              <a:t>　→</a:t>
            </a:r>
            <a:r>
              <a:rPr lang="en-US" sz="825">
                <a:solidFill>
                  <a:srgbClr val="E2E8F0"/>
                </a:solidFill>
                <a:latin typeface="JetBrains Mono"/>
                <a:ea typeface="JetBrains Mono"/>
              </a:rPr>
              <a:t> OK → </a:t>
            </a:r>
            <a:r>
              <a:rPr lang="zh-CN" sz="825">
                <a:solidFill>
                  <a:srgbClr val="E2E8F0"/>
                </a:solidFill>
                <a:latin typeface="JetBrains Mono"/>
                <a:ea typeface="JetBrains Mono"/>
              </a:rPr>
              <a:t>才进入</a:t>
            </a:r>
            <a:r>
              <a:rPr lang="en-US" sz="825">
                <a:solidFill>
                  <a:srgbClr val="E2E8F0"/>
                </a:solidFill>
                <a:latin typeface="JetBrains Mono"/>
                <a:ea typeface="JetBrains Mono"/>
              </a:rPr>
              <a:t> queryUser → Service → DAO → DB</a:t>
            </a:r>
            <a:endParaRPr lang="en-US" sz="825">
              <a:solidFill>
                <a:srgbClr val="E2E8F0"/>
              </a:solidFill>
              <a:latin typeface="JetBrains Mono"/>
              <a:ea typeface="JetBrains Mono"/>
            </a:endParaRPr>
          </a:p>
        </p:txBody>
      </p:sp>
      <p:sp>
        <p:nvSpPr>
          <p:cNvPr id="3016" name="圆角矩形 3015"/>
          <p:cNvSpPr/>
          <p:nvPr/>
        </p:nvSpPr>
        <p:spPr>
          <a:xfrm>
            <a:off x="6134100" y="1143000"/>
            <a:ext cx="5448300" cy="5143500"/>
          </a:xfrm>
          <a:prstGeom prst="roundRect">
            <a:avLst>
              <a:gd name="adj" fmla="val 2222"/>
            </a:avLst>
          </a:prstGeom>
          <a:solidFill>
            <a:srgbClr val="111C2E"/>
          </a:solidFill>
          <a:ln w="12700">
            <a:solidFill>
              <a:srgbClr val="1E293B"/>
            </a:solidFill>
            <a:prstDash val="solid"/>
          </a:ln>
        </p:spPr>
        <p:txBody>
          <a:bodyPr/>
          <a:p/>
        </p:txBody>
      </p:sp>
      <p:sp>
        <p:nvSpPr>
          <p:cNvPr id="3017" name="文本框 3016" descr="{&quot;isTemplate&quot;:true,&quot;type&quot;:&quot;text&quot;}"/>
          <p:cNvSpPr txBox="1"/>
          <p:nvPr/>
        </p:nvSpPr>
        <p:spPr>
          <a:xfrm>
            <a:off x="6324600" y="1333500"/>
            <a:ext cx="5067300" cy="1905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这一条链就是安全的全部流程</a:t>
            </a:r>
            <a:endParaRPr lang="zh-CN" sz="1200" b="1">
              <a:solidFill>
                <a:srgbClr val="E2E8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018" name="文本框 3017" descr="{&quot;isTemplate&quot;:true,&quot;type&quot;:&quot;text&quot;}"/>
          <p:cNvSpPr txBox="1"/>
          <p:nvPr/>
        </p:nvSpPr>
        <p:spPr>
          <a:xfrm>
            <a:off x="6324600" y="1638300"/>
            <a:ext cx="5067300" cy="3048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85000"/>
              </a:lnSpc>
            </a:pPr>
            <a:r>
              <a:rPr lang="en-US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① </a:t>
            </a:r>
            <a:r>
              <a:rPr lang="zh-CN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路由到了</a:t>
            </a:r>
            <a:r>
              <a:rPr lang="en-US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controller</a:t>
            </a:r>
            <a:r>
              <a:rPr lang="zh-CN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，但先不走业务。</a:t>
            </a:r>
            <a:endParaRPr lang="zh-CN" sz="1050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019" name="文本框 3018" descr="{&quot;isTemplate&quot;:true,&quot;type&quot;:&quot;text&quot;}"/>
          <p:cNvSpPr txBox="1"/>
          <p:nvPr/>
        </p:nvSpPr>
        <p:spPr>
          <a:xfrm>
            <a:off x="6324600" y="2019300"/>
            <a:ext cx="5067300" cy="3048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85000"/>
              </a:lnSpc>
            </a:pPr>
            <a:r>
              <a:rPr lang="en-US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② </a:t>
            </a:r>
            <a:r>
              <a:rPr lang="zh-CN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代理拿</a:t>
            </a:r>
            <a:r>
              <a:rPr lang="en-US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AuthParam </a:t>
            </a:r>
            <a:r>
              <a:rPr lang="zh-CN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去问</a:t>
            </a:r>
            <a:r>
              <a:rPr lang="en-US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handler</a:t>
            </a:r>
            <a:r>
              <a:rPr lang="zh-CN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。</a:t>
            </a:r>
            <a:endParaRPr lang="zh-CN" sz="1050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020" name="文本框 3019" descr="{&quot;isTemplate&quot;:true,&quot;type&quot;:&quot;text&quot;}"/>
          <p:cNvSpPr txBox="1"/>
          <p:nvPr/>
        </p:nvSpPr>
        <p:spPr>
          <a:xfrm>
            <a:off x="6324600" y="2400300"/>
            <a:ext cx="5067300" cy="3048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85000"/>
              </a:lnSpc>
            </a:pPr>
            <a:r>
              <a:rPr lang="en-US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③ handler </a:t>
            </a:r>
            <a:r>
              <a:rPr lang="zh-CN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调</a:t>
            </a:r>
            <a:r>
              <a:rPr lang="en-US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verify</a:t>
            </a:r>
            <a:r>
              <a:rPr lang="zh-CN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，</a:t>
            </a:r>
            <a:r>
              <a:rPr lang="en-US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verify </a:t>
            </a:r>
            <a:r>
              <a:rPr lang="zh-CN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从当前请求上下文取头。</a:t>
            </a:r>
            <a:endParaRPr lang="zh-CN" sz="1050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021" name="文本框 3020" descr="{&quot;isTemplate&quot;:true,&quot;type&quot;:&quot;text&quot;}"/>
          <p:cNvSpPr txBox="1"/>
          <p:nvPr/>
        </p:nvSpPr>
        <p:spPr>
          <a:xfrm>
            <a:off x="6324600" y="2781300"/>
            <a:ext cx="5067300" cy="3048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85000"/>
              </a:lnSpc>
            </a:pPr>
            <a:r>
              <a:rPr lang="en-US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④ </a:t>
            </a:r>
            <a:r>
              <a:rPr lang="zh-CN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验签、验</a:t>
            </a:r>
            <a:r>
              <a:rPr lang="en-US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exp</a:t>
            </a:r>
            <a:r>
              <a:rPr lang="zh-CN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、验</a:t>
            </a:r>
            <a:r>
              <a:rPr lang="en-US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nbf</a:t>
            </a:r>
            <a:r>
              <a:rPr lang="zh-CN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，再用会话自己的密钥验</a:t>
            </a:r>
            <a:r>
              <a:rPr lang="en-US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HMAC</a:t>
            </a:r>
            <a:r>
              <a:rPr lang="zh-CN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。</a:t>
            </a:r>
            <a:endParaRPr lang="zh-CN" sz="1050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022" name="文本框 3021" descr="{&quot;isTemplate&quot;:true,&quot;type&quot;:&quot;text&quot;}"/>
          <p:cNvSpPr txBox="1"/>
          <p:nvPr/>
        </p:nvSpPr>
        <p:spPr>
          <a:xfrm>
            <a:off x="6324600" y="3200400"/>
            <a:ext cx="5067300" cy="600075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85000"/>
              </a:lnSpc>
            </a:pPr>
            <a:r>
              <a:rPr lang="zh-CN" sz="1050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全通过</a:t>
            </a:r>
            <a:r>
              <a:rPr lang="en-US" sz="1050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 → </a:t>
            </a:r>
            <a:r>
              <a:rPr lang="zh-CN" sz="1050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才进业务；任一步失败</a:t>
            </a:r>
            <a:r>
              <a:rPr lang="en-US" sz="1050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 → </a:t>
            </a:r>
            <a:r>
              <a:rPr lang="zh-CN" sz="1050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直接按</a:t>
            </a:r>
            <a:r>
              <a:rPr lang="en-US" sz="1050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 AuthStatus </a:t>
            </a:r>
            <a:r>
              <a:rPr lang="zh-CN" sz="1050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返回响应，业务代码一行都不执行。</a:t>
            </a:r>
            <a:endParaRPr lang="zh-CN" sz="1050">
              <a:solidFill>
                <a:srgbClr val="F59E0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023" name="文本框 3022" descr="{&quot;isTemplate&quot;:true,&quot;type&quot;:&quot;text&quot;}"/>
          <p:cNvSpPr txBox="1"/>
          <p:nvPr/>
        </p:nvSpPr>
        <p:spPr>
          <a:xfrm>
            <a:off x="6324600" y="5495925"/>
            <a:ext cx="5067300" cy="600075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85000"/>
              </a:lnSpc>
            </a:pPr>
            <a:r>
              <a:rPr lang="zh-CN" sz="105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放行的两种写法：</a:t>
            </a:r>
            <a:r>
              <a:rPr lang="en-US" sz="105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@IgnoreSecurity </a:t>
            </a:r>
            <a:r>
              <a:rPr lang="zh-CN" sz="105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注解，或</a:t>
            </a:r>
            <a:r>
              <a:rPr lang="en-US" sz="105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 Mapping </a:t>
            </a:r>
            <a:r>
              <a:rPr lang="zh-CN" sz="105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属性</a:t>
            </a:r>
            <a:r>
              <a:rPr lang="en-US" sz="105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 ignoreAuth / ignorePrivilege</a:t>
            </a:r>
            <a:r>
              <a:rPr lang="zh-CN" sz="105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。</a:t>
            </a:r>
            <a:endParaRPr lang="zh-CN" sz="105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024" name="任意多边形 3023"/>
          <p:cNvSpPr/>
          <p:nvPr/>
        </p:nvSpPr>
        <p:spPr>
          <a:xfrm>
            <a:off x="609600" y="6286500"/>
            <a:ext cx="10972800" cy="381000"/>
          </a:xfrm>
          <a:custGeom>
            <a:avLst/>
            <a:gdLst/>
            <a:ahLst/>
            <a:cxnLst/>
            <a:pathLst>
              <a:path w="1152" h="40">
                <a:moveTo>
                  <a:pt x="0" y="0"/>
                </a:moveTo>
                <a:lnTo>
                  <a:pt x="1152" y="0"/>
                </a:lnTo>
                <a:lnTo>
                  <a:pt x="1152" y="1"/>
                </a:lnTo>
                <a:lnTo>
                  <a:pt x="0" y="1"/>
                </a:lnTo>
                <a:close/>
              </a:path>
            </a:pathLst>
          </a:custGeom>
          <a:solidFill>
            <a:srgbClr val="1E293B"/>
          </a:solidFill>
        </p:spPr>
        <p:txBody>
          <a:bodyPr/>
          <a:p/>
        </p:txBody>
      </p:sp>
      <p:sp>
        <p:nvSpPr>
          <p:cNvPr id="3025" name="文本框 3024" descr="{&quot;isTemplate&quot;:true,&quot;type&quot;:&quot;text&quot;}"/>
          <p:cNvSpPr txBox="1"/>
          <p:nvPr/>
        </p:nvSpPr>
        <p:spPr>
          <a:xfrm>
            <a:off x="609600" y="6410325"/>
            <a:ext cx="2219325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fountain · 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一站式服务器应用开发工具库</a:t>
            </a:r>
            <a:endParaRPr lang="zh-CN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026" name="文本框 3025" descr="{&quot;isTemplate&quot;:true,&quot;type&quot;:&quot;text&quot;}"/>
          <p:cNvSpPr txBox="1"/>
          <p:nvPr/>
        </p:nvSpPr>
        <p:spPr>
          <a:xfrm>
            <a:off x="11087100" y="6410325"/>
            <a:ext cx="495300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91 / 116</a:t>
            </a:r>
            <a:endParaRPr lang="en-US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02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8" name="矩形 3027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220"/>
          </a:solidFill>
        </p:spPr>
        <p:txBody>
          <a:bodyPr/>
          <a:p/>
        </p:txBody>
      </p:sp>
      <p:sp>
        <p:nvSpPr>
          <p:cNvPr id="3029" name="矩形 3028"/>
          <p:cNvSpPr/>
          <p:nvPr/>
        </p:nvSpPr>
        <p:spPr>
          <a:xfrm>
            <a:off x="609600" y="476250"/>
            <a:ext cx="38100" cy="381000"/>
          </a:xfrm>
          <a:prstGeom prst="rect">
            <a:avLst/>
          </a:prstGeom>
          <a:solidFill>
            <a:srgbClr val="38BDF8"/>
          </a:solidFill>
        </p:spPr>
        <p:txBody>
          <a:bodyPr/>
          <a:p/>
        </p:txBody>
      </p:sp>
      <p:sp>
        <p:nvSpPr>
          <p:cNvPr id="3030" name="文本框 3029" descr="{&quot;isTemplate&quot;:true,&quot;type&quot;:&quot;text&quot;}"/>
          <p:cNvSpPr txBox="1"/>
          <p:nvPr/>
        </p:nvSpPr>
        <p:spPr>
          <a:xfrm>
            <a:off x="819150" y="304800"/>
            <a:ext cx="9848850" cy="2095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第</a:t>
            </a: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 14 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章</a:t>
            </a: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 · CRON 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定时任务</a:t>
            </a: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 f_ticktock</a:t>
            </a:r>
            <a:endParaRPr lang="en-US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031" name="文本框 3030" descr="{&quot;isTemplate&quot;:true,&quot;type&quot;:&quot;text&quot;}"/>
          <p:cNvSpPr txBox="1"/>
          <p:nvPr/>
        </p:nvSpPr>
        <p:spPr>
          <a:xfrm>
            <a:off x="819150" y="514350"/>
            <a:ext cx="9848850" cy="5143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en-US" sz="2550" b="1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f_ticktock </a:t>
            </a:r>
            <a:r>
              <a:rPr lang="zh-CN" sz="2550" b="1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定时任务</a:t>
            </a:r>
            <a:endParaRPr lang="zh-CN" sz="2550" b="1">
              <a:solidFill>
                <a:srgbClr val="E2E8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032" name="文本框 3031" descr="{&quot;isTemplate&quot;:true,&quot;type&quot;:&quot;text&quot;}"/>
          <p:cNvSpPr txBox="1"/>
          <p:nvPr/>
        </p:nvSpPr>
        <p:spPr>
          <a:xfrm>
            <a:off x="10839450" y="590550"/>
            <a:ext cx="742950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小心静默失效</a:t>
            </a:r>
            <a:endParaRPr lang="zh-CN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033" name="圆角矩形 3032"/>
          <p:cNvSpPr/>
          <p:nvPr/>
        </p:nvSpPr>
        <p:spPr>
          <a:xfrm>
            <a:off x="609600" y="1143000"/>
            <a:ext cx="5410200" cy="2552700"/>
          </a:xfrm>
          <a:prstGeom prst="roundRect">
            <a:avLst>
              <a:gd name="adj" fmla="val 4478"/>
            </a:avLst>
          </a:prstGeom>
          <a:solidFill>
            <a:srgbClr val="0B1220"/>
          </a:solidFill>
          <a:ln w="12700">
            <a:solidFill>
              <a:srgbClr val="38BDF8"/>
            </a:solidFill>
            <a:prstDash val="solid"/>
          </a:ln>
        </p:spPr>
        <p:txBody>
          <a:bodyPr/>
          <a:p/>
        </p:txBody>
      </p:sp>
      <p:sp>
        <p:nvSpPr>
          <p:cNvPr id="3034" name="文本框 3033" descr="{&quot;isTemplate&quot;:true,&quot;type&quot;:&quot;text&quot;}"/>
          <p:cNvSpPr txBox="1"/>
          <p:nvPr/>
        </p:nvSpPr>
        <p:spPr>
          <a:xfrm>
            <a:off x="781050" y="1314450"/>
            <a:ext cx="5067300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38BDF8"/>
                </a:solidFill>
                <a:latin typeface="微软雅黑" panose="020B0503020204020204" charset="-122"/>
                <a:ea typeface="微软雅黑" panose="020B0503020204020204" charset="-122"/>
              </a:rPr>
              <a:t>最小可用：实现接口</a:t>
            </a:r>
            <a:r>
              <a:rPr lang="en-US" sz="975">
                <a:solidFill>
                  <a:srgbClr val="38BDF8"/>
                </a:solidFill>
                <a:latin typeface="微软雅黑" panose="020B0503020204020204" charset="-122"/>
                <a:ea typeface="微软雅黑" panose="020B0503020204020204" charset="-122"/>
              </a:rPr>
              <a:t> + @Bean</a:t>
            </a:r>
            <a:endParaRPr lang="en-US" sz="975">
              <a:solidFill>
                <a:srgbClr val="38BDF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035" name="文本框 3034" descr="{&quot;isTemplate&quot;:true,&quot;type&quot;:&quot;text&quot;}"/>
          <p:cNvSpPr txBox="1"/>
          <p:nvPr/>
        </p:nvSpPr>
        <p:spPr>
          <a:xfrm>
            <a:off x="781050" y="1543050"/>
            <a:ext cx="5067300" cy="2381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en-US" sz="900">
                <a:solidFill>
                  <a:srgbClr val="E2E8F0"/>
                </a:solidFill>
                <a:latin typeface="JetBrains Mono"/>
                <a:ea typeface="JetBrains Mono"/>
              </a:rPr>
              <a:t>@Bean</a:t>
            </a:r>
            <a:endParaRPr lang="en-US" sz="900">
              <a:solidFill>
                <a:srgbClr val="E2E8F0"/>
              </a:solidFill>
              <a:latin typeface="JetBrains Mono"/>
              <a:ea typeface="JetBrains Mono"/>
            </a:endParaRPr>
          </a:p>
        </p:txBody>
      </p:sp>
      <p:sp>
        <p:nvSpPr>
          <p:cNvPr id="3036" name="文本框 3035" descr="{&quot;isTemplate&quot;:true,&quot;type&quot;:&quot;text&quot;}"/>
          <p:cNvSpPr txBox="1"/>
          <p:nvPr/>
        </p:nvSpPr>
        <p:spPr>
          <a:xfrm>
            <a:off x="781050" y="1781175"/>
            <a:ext cx="5067300" cy="2381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en-US" sz="900">
                <a:solidFill>
                  <a:srgbClr val="E2E8F0"/>
                </a:solidFill>
                <a:latin typeface="JetBrains Mono"/>
                <a:ea typeface="JetBrains Mono"/>
              </a:rPr>
              <a:t>public class TickTockTaskImpl &lt;: CronTicktockTask {</a:t>
            </a:r>
            <a:endParaRPr lang="en-US" sz="900">
              <a:solidFill>
                <a:srgbClr val="E2E8F0"/>
              </a:solidFill>
              <a:latin typeface="JetBrains Mono"/>
              <a:ea typeface="JetBrains Mono"/>
            </a:endParaRPr>
          </a:p>
        </p:txBody>
      </p:sp>
      <p:sp>
        <p:nvSpPr>
          <p:cNvPr id="3037" name="文本框 3036" descr="{&quot;isTemplate&quot;:true,&quot;type&quot;:&quot;text&quot;}"/>
          <p:cNvSpPr txBox="1"/>
          <p:nvPr/>
        </p:nvSpPr>
        <p:spPr>
          <a:xfrm>
            <a:off x="781050" y="2019300"/>
            <a:ext cx="5067300" cy="2381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en-US" sz="900">
                <a:solidFill>
                  <a:srgbClr val="22D3EE"/>
                </a:solidFill>
                <a:latin typeface="JetBrains Mono"/>
                <a:ea typeface="JetBrains Mono"/>
              </a:rPr>
              <a:t>    public prop cron: String { get() { '1/3-45' } }</a:t>
            </a:r>
            <a:endParaRPr lang="en-US" sz="900">
              <a:solidFill>
                <a:srgbClr val="22D3EE"/>
              </a:solidFill>
              <a:latin typeface="JetBrains Mono"/>
              <a:ea typeface="JetBrains Mono"/>
            </a:endParaRPr>
          </a:p>
        </p:txBody>
      </p:sp>
      <p:sp>
        <p:nvSpPr>
          <p:cNvPr id="3038" name="文本框 3037" descr="{&quot;isTemplate&quot;:true,&quot;type&quot;:&quot;text&quot;}"/>
          <p:cNvSpPr txBox="1"/>
          <p:nvPr/>
        </p:nvSpPr>
        <p:spPr>
          <a:xfrm>
            <a:off x="781050" y="2257425"/>
            <a:ext cx="5067300" cy="2381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en-US" sz="900">
                <a:solidFill>
                  <a:srgbClr val="E2E8F0"/>
                </a:solidFill>
                <a:latin typeface="JetBrains Mono"/>
                <a:ea typeface="JetBrains Mono"/>
              </a:rPr>
              <a:t>    public func execute(): Unit {</a:t>
            </a:r>
            <a:endParaRPr lang="en-US" sz="900">
              <a:solidFill>
                <a:srgbClr val="E2E8F0"/>
              </a:solidFill>
              <a:latin typeface="JetBrains Mono"/>
              <a:ea typeface="JetBrains Mono"/>
            </a:endParaRPr>
          </a:p>
        </p:txBody>
      </p:sp>
      <p:sp>
        <p:nvSpPr>
          <p:cNvPr id="3039" name="文本框 3038" descr="{&quot;isTemplate&quot;:true,&quot;type&quot;:&quot;text&quot;}"/>
          <p:cNvSpPr txBox="1"/>
          <p:nvPr/>
        </p:nvSpPr>
        <p:spPr>
          <a:xfrm>
            <a:off x="781050" y="2495550"/>
            <a:ext cx="5067300" cy="2381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en-US" sz="900">
                <a:solidFill>
                  <a:srgbClr val="F59E0B"/>
                </a:solidFill>
                <a:latin typeface="JetBrains Mono"/>
                <a:ea typeface="JetBrains Mono"/>
              </a:rPr>
              <a:t>        log.info('TickTockTaskImpl is executing')</a:t>
            </a:r>
            <a:endParaRPr lang="en-US" sz="900">
              <a:solidFill>
                <a:srgbClr val="F59E0B"/>
              </a:solidFill>
              <a:latin typeface="JetBrains Mono"/>
              <a:ea typeface="JetBrains Mono"/>
            </a:endParaRPr>
          </a:p>
        </p:txBody>
      </p:sp>
      <p:sp>
        <p:nvSpPr>
          <p:cNvPr id="3040" name="文本框 3039" descr="{&quot;isTemplate&quot;:true,&quot;type&quot;:&quot;text&quot;}"/>
          <p:cNvSpPr txBox="1"/>
          <p:nvPr/>
        </p:nvSpPr>
        <p:spPr>
          <a:xfrm>
            <a:off x="781050" y="2733675"/>
            <a:ext cx="5067300" cy="2381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en-US" sz="900">
                <a:solidFill>
                  <a:srgbClr val="E2E8F0"/>
                </a:solidFill>
                <a:latin typeface="JetBrains Mono"/>
                <a:ea typeface="JetBrains Mono"/>
              </a:rPr>
              <a:t>    }</a:t>
            </a:r>
            <a:endParaRPr lang="en-US" sz="900">
              <a:solidFill>
                <a:srgbClr val="E2E8F0"/>
              </a:solidFill>
              <a:latin typeface="JetBrains Mono"/>
              <a:ea typeface="JetBrains Mono"/>
            </a:endParaRPr>
          </a:p>
        </p:txBody>
      </p:sp>
      <p:sp>
        <p:nvSpPr>
          <p:cNvPr id="3041" name="文本框 3040" descr="{&quot;isTemplate&quot;:true,&quot;type&quot;:&quot;text&quot;}"/>
          <p:cNvSpPr txBox="1"/>
          <p:nvPr/>
        </p:nvSpPr>
        <p:spPr>
          <a:xfrm>
            <a:off x="781050" y="2971800"/>
            <a:ext cx="5067300" cy="2381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en-US" sz="900">
                <a:solidFill>
                  <a:srgbClr val="E2E8F0"/>
                </a:solidFill>
                <a:latin typeface="JetBrains Mono"/>
                <a:ea typeface="JetBrains Mono"/>
              </a:rPr>
              <a:t>}</a:t>
            </a:r>
            <a:endParaRPr lang="en-US" sz="900">
              <a:solidFill>
                <a:srgbClr val="E2E8F0"/>
              </a:solidFill>
              <a:latin typeface="JetBrains Mono"/>
              <a:ea typeface="JetBrains Mono"/>
            </a:endParaRPr>
          </a:p>
        </p:txBody>
      </p:sp>
      <p:sp>
        <p:nvSpPr>
          <p:cNvPr id="3042" name="文本框 3041" descr="{&quot;isTemplate&quot;:true,&quot;type&quot;:&quot;text&quot;}"/>
          <p:cNvSpPr txBox="1"/>
          <p:nvPr/>
        </p:nvSpPr>
        <p:spPr>
          <a:xfrm>
            <a:off x="781050" y="3286125"/>
            <a:ext cx="5067300" cy="2381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zh-CN" sz="900">
                <a:solidFill>
                  <a:srgbClr val="22D3EE"/>
                </a:solidFill>
                <a:latin typeface="微软雅黑" panose="020B0503020204020204" charset="-122"/>
                <a:ea typeface="微软雅黑" panose="020B0503020204020204" charset="-122"/>
              </a:rPr>
              <a:t>可读作：从第</a:t>
            </a:r>
            <a:r>
              <a:rPr lang="en-US" sz="900">
                <a:solidFill>
                  <a:srgbClr val="22D3EE"/>
                </a:solidFill>
                <a:latin typeface="微软雅黑" panose="020B0503020204020204" charset="-122"/>
                <a:ea typeface="微软雅黑" panose="020B0503020204020204" charset="-122"/>
              </a:rPr>
              <a:t> 1 </a:t>
            </a:r>
            <a:r>
              <a:rPr lang="zh-CN" sz="900">
                <a:solidFill>
                  <a:srgbClr val="22D3EE"/>
                </a:solidFill>
                <a:latin typeface="微软雅黑" panose="020B0503020204020204" charset="-122"/>
                <a:ea typeface="微软雅黑" panose="020B0503020204020204" charset="-122"/>
              </a:rPr>
              <a:t>秒开始、每</a:t>
            </a:r>
            <a:r>
              <a:rPr lang="en-US" sz="900">
                <a:solidFill>
                  <a:srgbClr val="22D3EE"/>
                </a:solidFill>
                <a:latin typeface="微软雅黑" panose="020B0503020204020204" charset="-122"/>
                <a:ea typeface="微软雅黑" panose="020B0503020204020204" charset="-122"/>
              </a:rPr>
              <a:t> 3 </a:t>
            </a:r>
            <a:r>
              <a:rPr lang="zh-CN" sz="900">
                <a:solidFill>
                  <a:srgbClr val="22D3EE"/>
                </a:solidFill>
                <a:latin typeface="微软雅黑" panose="020B0503020204020204" charset="-122"/>
                <a:ea typeface="微软雅黑" panose="020B0503020204020204" charset="-122"/>
              </a:rPr>
              <a:t>秒一次、直到第</a:t>
            </a:r>
            <a:r>
              <a:rPr lang="en-US" sz="900">
                <a:solidFill>
                  <a:srgbClr val="22D3EE"/>
                </a:solidFill>
                <a:latin typeface="微软雅黑" panose="020B0503020204020204" charset="-122"/>
                <a:ea typeface="微软雅黑" panose="020B0503020204020204" charset="-122"/>
              </a:rPr>
              <a:t> 45 </a:t>
            </a:r>
            <a:r>
              <a:rPr lang="zh-CN" sz="900">
                <a:solidFill>
                  <a:srgbClr val="22D3EE"/>
                </a:solidFill>
                <a:latin typeface="微软雅黑" panose="020B0503020204020204" charset="-122"/>
                <a:ea typeface="微软雅黑" panose="020B0503020204020204" charset="-122"/>
              </a:rPr>
              <a:t>秒。完整写法是</a:t>
            </a:r>
            <a:r>
              <a:rPr lang="en-US" sz="900">
                <a:solidFill>
                  <a:srgbClr val="22D3EE"/>
                </a:solidFill>
                <a:latin typeface="微软雅黑" panose="020B0503020204020204" charset="-122"/>
                <a:ea typeface="微软雅黑" panose="020B0503020204020204" charset="-122"/>
              </a:rPr>
              <a:t> 1/3-45 * * * * * *</a:t>
            </a:r>
            <a:r>
              <a:rPr lang="zh-CN" sz="900">
                <a:solidFill>
                  <a:srgbClr val="22D3EE"/>
                </a:solidFill>
                <a:latin typeface="微软雅黑" panose="020B0503020204020204" charset="-122"/>
                <a:ea typeface="微软雅黑" panose="020B0503020204020204" charset="-122"/>
              </a:rPr>
              <a:t>。</a:t>
            </a:r>
            <a:endParaRPr lang="zh-CN" sz="900">
              <a:solidFill>
                <a:srgbClr val="22D3EE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043" name="圆角矩形 3042"/>
          <p:cNvSpPr/>
          <p:nvPr/>
        </p:nvSpPr>
        <p:spPr>
          <a:xfrm>
            <a:off x="6172200" y="1143000"/>
            <a:ext cx="5410200" cy="2552700"/>
          </a:xfrm>
          <a:prstGeom prst="roundRect">
            <a:avLst>
              <a:gd name="adj" fmla="val 4478"/>
            </a:avLst>
          </a:prstGeom>
          <a:solidFill>
            <a:srgbClr val="F59E0B">
              <a:alpha val="7000"/>
            </a:srgbClr>
          </a:solidFill>
          <a:ln w="12700">
            <a:solidFill>
              <a:srgbClr val="F59E0B"/>
            </a:solidFill>
            <a:prstDash val="solid"/>
          </a:ln>
        </p:spPr>
        <p:txBody>
          <a:bodyPr/>
          <a:p/>
        </p:txBody>
      </p:sp>
      <p:sp>
        <p:nvSpPr>
          <p:cNvPr id="3044" name="文本框 3043" descr="{&quot;isTemplate&quot;:true,&quot;type&quot;:&quot;text&quot;}"/>
          <p:cNvSpPr txBox="1"/>
          <p:nvPr/>
        </p:nvSpPr>
        <p:spPr>
          <a:xfrm>
            <a:off x="6343650" y="1314450"/>
            <a:ext cx="5067300" cy="1714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静默失效的坑</a:t>
            </a:r>
            <a:endParaRPr lang="zh-CN" sz="1125" b="1">
              <a:solidFill>
                <a:srgbClr val="F59E0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045" name="文本框 3044" descr="{&quot;isTemplate&quot;:true,&quot;type&quot;:&quot;text&quot;}"/>
          <p:cNvSpPr txBox="1"/>
          <p:nvPr/>
        </p:nvSpPr>
        <p:spPr>
          <a:xfrm>
            <a:off x="6343650" y="1581150"/>
            <a:ext cx="5067300" cy="523875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75000"/>
              </a:lnSpc>
            </a:pPr>
            <a:r>
              <a:rPr lang="zh-CN" sz="975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它所在的包必须被</a:t>
            </a:r>
            <a:r>
              <a:rPr lang="en-US" sz="975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 --dylibPattern </a:t>
            </a:r>
            <a:r>
              <a:rPr lang="zh-CN" sz="975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匹配到。</a:t>
            </a:r>
            <a:r>
              <a:rPr lang="en-US" sz="975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fdemo </a:t>
            </a:r>
            <a:r>
              <a:rPr lang="zh-CN" sz="975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里它放在</a:t>
            </a:r>
            <a:r>
              <a:rPr lang="en-US" sz="975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 user/src/util/cron/ </a:t>
            </a:r>
            <a:r>
              <a:rPr lang="zh-CN" sz="975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下，所以</a:t>
            </a:r>
            <a:r>
              <a:rPr lang="en-US" sz="975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 boot.sh </a:t>
            </a:r>
            <a:r>
              <a:rPr lang="zh-CN" sz="975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的正则里专门有</a:t>
            </a:r>
            <a:r>
              <a:rPr lang="en-US" sz="975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 user\.util\.(auth|cron) </a:t>
            </a:r>
            <a:r>
              <a:rPr lang="zh-CN" sz="975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这一段。</a:t>
            </a:r>
            <a:endParaRPr lang="zh-CN" sz="975">
              <a:solidFill>
                <a:srgbClr val="E2E8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046" name="文本框 3045" descr="{&quot;isTemplate&quot;:true,&quot;type&quot;:&quot;text&quot;}"/>
          <p:cNvSpPr txBox="1"/>
          <p:nvPr/>
        </p:nvSpPr>
        <p:spPr>
          <a:xfrm>
            <a:off x="6343650" y="2200275"/>
            <a:ext cx="5067300" cy="2667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5000"/>
              </a:lnSpc>
            </a:pPr>
            <a:r>
              <a:rPr lang="zh-CN" sz="975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忘了这一段，定时任务不会报错，只是永远不执行</a:t>
            </a:r>
            <a:r>
              <a:rPr lang="en-US" sz="975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 —— </a:t>
            </a:r>
            <a:r>
              <a:rPr lang="zh-CN" sz="975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非常适合在视频里演示的一个坑。</a:t>
            </a:r>
            <a:endParaRPr lang="zh-CN" sz="975">
              <a:solidFill>
                <a:srgbClr val="E2E8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047" name="文本框 3046" descr="{&quot;isTemplate&quot;:true,&quot;type&quot;:&quot;text&quot;}"/>
          <p:cNvSpPr txBox="1"/>
          <p:nvPr/>
        </p:nvSpPr>
        <p:spPr>
          <a:xfrm>
            <a:off x="6343650" y="3000375"/>
            <a:ext cx="5067300" cy="523875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75000"/>
              </a:lnSpc>
            </a:pPr>
            <a:r>
              <a:rPr lang="zh-CN" sz="97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可选属性：</a:t>
            </a:r>
            <a:r>
              <a:rPr lang="en-US" sz="97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once </a:t>
            </a:r>
            <a:r>
              <a:rPr lang="zh-CN" sz="97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只执行一次；</a:t>
            </a:r>
            <a:r>
              <a:rPr lang="en-US" sz="97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concurrentable </a:t>
            </a:r>
            <a:r>
              <a:rPr lang="zh-CN" sz="97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上次没跑完也允许下次触发；</a:t>
            </a:r>
            <a:r>
              <a:rPr lang="en-US" sz="97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executing / reset </a:t>
            </a:r>
            <a:r>
              <a:rPr lang="zh-CN" sz="97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自定义执行状态判断；</a:t>
            </a:r>
            <a:r>
              <a:rPr lang="en-US" sz="97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name </a:t>
            </a:r>
            <a:r>
              <a:rPr lang="zh-CN" sz="97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默认取类型全限定名。</a:t>
            </a:r>
            <a:endParaRPr lang="zh-CN" sz="975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048" name="圆角矩形 3047"/>
          <p:cNvSpPr/>
          <p:nvPr/>
        </p:nvSpPr>
        <p:spPr>
          <a:xfrm>
            <a:off x="609600" y="3848100"/>
            <a:ext cx="5410200" cy="2438400"/>
          </a:xfrm>
          <a:prstGeom prst="roundRect">
            <a:avLst>
              <a:gd name="adj" fmla="val 4688"/>
            </a:avLst>
          </a:prstGeom>
          <a:solidFill>
            <a:srgbClr val="111C2E"/>
          </a:solidFill>
          <a:ln w="12700">
            <a:solidFill>
              <a:srgbClr val="1E293B"/>
            </a:solidFill>
            <a:prstDash val="solid"/>
          </a:ln>
        </p:spPr>
        <p:txBody>
          <a:bodyPr/>
          <a:p/>
        </p:txBody>
      </p:sp>
      <p:sp>
        <p:nvSpPr>
          <p:cNvPr id="3049" name="文本框 3048" descr="{&quot;isTemplate&quot;:true,&quot;type&quot;:&quot;text&quot;}"/>
          <p:cNvSpPr txBox="1"/>
          <p:nvPr/>
        </p:nvSpPr>
        <p:spPr>
          <a:xfrm>
            <a:off x="781050" y="4019550"/>
            <a:ext cx="5067300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CRON </a:t>
            </a:r>
            <a:r>
              <a:rPr lang="zh-CN" sz="1050" b="1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语法（秒</a:t>
            </a:r>
            <a:r>
              <a:rPr lang="en-US" sz="1050" b="1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 / </a:t>
            </a:r>
            <a:r>
              <a:rPr lang="zh-CN" sz="1050" b="1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分</a:t>
            </a:r>
            <a:r>
              <a:rPr lang="en-US" sz="1050" b="1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 / </a:t>
            </a:r>
            <a:r>
              <a:rPr lang="zh-CN" sz="1050" b="1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时</a:t>
            </a:r>
            <a:r>
              <a:rPr lang="en-US" sz="1050" b="1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 / </a:t>
            </a:r>
            <a:r>
              <a:rPr lang="zh-CN" sz="1050" b="1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日</a:t>
            </a:r>
            <a:r>
              <a:rPr lang="en-US" sz="1050" b="1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 / </a:t>
            </a:r>
            <a:r>
              <a:rPr lang="zh-CN" sz="1050" b="1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月</a:t>
            </a:r>
            <a:r>
              <a:rPr lang="en-US" sz="1050" b="1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 / </a:t>
            </a:r>
            <a:r>
              <a:rPr lang="zh-CN" sz="1050" b="1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周</a:t>
            </a:r>
            <a:r>
              <a:rPr lang="en-US" sz="1050" b="1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 / </a:t>
            </a:r>
            <a:r>
              <a:rPr lang="zh-CN" sz="1050" b="1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年）</a:t>
            </a:r>
            <a:endParaRPr lang="zh-CN" sz="1050" b="1">
              <a:solidFill>
                <a:srgbClr val="E2E8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050" name="文本框 3049" descr="{&quot;isTemplate&quot;:true,&quot;type&quot;:&quot;text&quot;}"/>
          <p:cNvSpPr txBox="1"/>
          <p:nvPr/>
        </p:nvSpPr>
        <p:spPr>
          <a:xfrm>
            <a:off x="781050" y="4257675"/>
            <a:ext cx="5067300" cy="2476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5000"/>
              </a:lnSpc>
            </a:pPr>
            <a:r>
              <a:rPr lang="en-US" sz="90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*</a:t>
            </a:r>
            <a:r>
              <a:rPr lang="zh-CN" sz="90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　任意值　　·　</a:t>
            </a:r>
            <a:r>
              <a:rPr lang="en-US" sz="90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start-end</a:t>
            </a:r>
            <a:r>
              <a:rPr lang="zh-CN" sz="90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　闭区间范围</a:t>
            </a:r>
            <a:endParaRPr lang="zh-CN" sz="900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051" name="文本框 3050" descr="{&quot;isTemplate&quot;:true,&quot;type&quot;:&quot;text&quot;}"/>
          <p:cNvSpPr txBox="1"/>
          <p:nvPr/>
        </p:nvSpPr>
        <p:spPr>
          <a:xfrm>
            <a:off x="781050" y="4543425"/>
            <a:ext cx="5067300" cy="2476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5000"/>
              </a:lnSpc>
            </a:pPr>
            <a:r>
              <a:rPr lang="en-US" sz="90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start/step</a:t>
            </a:r>
            <a:r>
              <a:rPr lang="zh-CN" sz="90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　从</a:t>
            </a:r>
            <a:r>
              <a:rPr lang="en-US" sz="90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start </a:t>
            </a:r>
            <a:r>
              <a:rPr lang="zh-CN" sz="90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开始、间隔</a:t>
            </a:r>
            <a:r>
              <a:rPr lang="en-US" sz="90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step</a:t>
            </a:r>
            <a:endParaRPr lang="en-US" sz="900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052" name="文本框 3051" descr="{&quot;isTemplate&quot;:true,&quot;type&quot;:&quot;text&quot;}"/>
          <p:cNvSpPr txBox="1"/>
          <p:nvPr/>
        </p:nvSpPr>
        <p:spPr>
          <a:xfrm>
            <a:off x="781050" y="4829175"/>
            <a:ext cx="5067300" cy="2476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5000"/>
              </a:lnSpc>
            </a:pPr>
            <a:r>
              <a:rPr lang="en-US" sz="90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start/step-end</a:t>
            </a:r>
            <a:r>
              <a:rPr lang="zh-CN" sz="90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　从</a:t>
            </a:r>
            <a:r>
              <a:rPr lang="en-US" sz="90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start </a:t>
            </a:r>
            <a:r>
              <a:rPr lang="zh-CN" sz="90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开始、间隔</a:t>
            </a:r>
            <a:r>
              <a:rPr lang="en-US" sz="90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step</a:t>
            </a:r>
            <a:r>
              <a:rPr lang="zh-CN" sz="90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、到</a:t>
            </a:r>
            <a:r>
              <a:rPr lang="en-US" sz="90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end </a:t>
            </a:r>
            <a:r>
              <a:rPr lang="zh-CN" sz="90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为止</a:t>
            </a:r>
            <a:endParaRPr lang="zh-CN" sz="900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053" name="文本框 3052" descr="{&quot;isTemplate&quot;:true,&quot;type&quot;:&quot;text&quot;}"/>
          <p:cNvSpPr txBox="1"/>
          <p:nvPr/>
        </p:nvSpPr>
        <p:spPr>
          <a:xfrm>
            <a:off x="781050" y="5114925"/>
            <a:ext cx="5067300" cy="2476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5000"/>
              </a:lnSpc>
            </a:pPr>
            <a:r>
              <a:rPr lang="en-US" sz="90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a,b,c</a:t>
            </a:r>
            <a:r>
              <a:rPr lang="zh-CN" sz="90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　取值列表，多种写法可组合</a:t>
            </a:r>
            <a:endParaRPr lang="zh-CN" sz="900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054" name="文本框 3053" descr="{&quot;isTemplate&quot;:true,&quot;type&quot;:&quot;text&quot;}"/>
          <p:cNvSpPr txBox="1"/>
          <p:nvPr/>
        </p:nvSpPr>
        <p:spPr>
          <a:xfrm>
            <a:off x="781050" y="5400675"/>
            <a:ext cx="5067300" cy="2476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5000"/>
              </a:lnSpc>
            </a:pPr>
            <a:r>
              <a:rPr lang="en-US" sz="90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L</a:t>
            </a:r>
            <a:r>
              <a:rPr lang="zh-CN" sz="90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　当前时间单位的最后一个值（对「日」即当月最后一天）</a:t>
            </a:r>
            <a:endParaRPr lang="zh-CN" sz="900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055" name="文本框 3054" descr="{&quot;isTemplate&quot;:true,&quot;type&quot;:&quot;text&quot;}"/>
          <p:cNvSpPr txBox="1"/>
          <p:nvPr/>
        </p:nvSpPr>
        <p:spPr>
          <a:xfrm>
            <a:off x="781050" y="5686425"/>
            <a:ext cx="5067300" cy="2476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5000"/>
              </a:lnSpc>
            </a:pPr>
            <a:r>
              <a:rPr lang="zh-CN" sz="900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尾部</a:t>
            </a:r>
            <a:r>
              <a:rPr lang="en-US" sz="900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 * </a:t>
            </a:r>
            <a:r>
              <a:rPr lang="zh-CN" sz="900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可以省略</a:t>
            </a:r>
            <a:endParaRPr lang="zh-CN" sz="900">
              <a:solidFill>
                <a:srgbClr val="F59E0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056" name="圆角矩形 3055"/>
          <p:cNvSpPr/>
          <p:nvPr/>
        </p:nvSpPr>
        <p:spPr>
          <a:xfrm>
            <a:off x="6172200" y="3848100"/>
            <a:ext cx="5410200" cy="2438400"/>
          </a:xfrm>
          <a:prstGeom prst="roundRect">
            <a:avLst>
              <a:gd name="adj" fmla="val 4688"/>
            </a:avLst>
          </a:prstGeom>
          <a:solidFill>
            <a:srgbClr val="111C2E"/>
          </a:solidFill>
          <a:ln w="12700">
            <a:solidFill>
              <a:srgbClr val="1E293B"/>
            </a:solidFill>
            <a:prstDash val="solid"/>
          </a:ln>
        </p:spPr>
        <p:txBody>
          <a:bodyPr/>
          <a:p/>
        </p:txBody>
      </p:sp>
      <p:sp>
        <p:nvSpPr>
          <p:cNvPr id="3057" name="文本框 3056" descr="{&quot;isTemplate&quot;:true,&quot;type&quot;:&quot;text&quot;}"/>
          <p:cNvSpPr txBox="1"/>
          <p:nvPr/>
        </p:nvSpPr>
        <p:spPr>
          <a:xfrm>
            <a:off x="6343650" y="4019550"/>
            <a:ext cx="5067300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延迟任务：</a:t>
            </a:r>
            <a:r>
              <a:rPr lang="en-US" sz="1050" b="1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DelayedTicktockTask</a:t>
            </a:r>
            <a:endParaRPr lang="en-US" sz="1050" b="1">
              <a:solidFill>
                <a:srgbClr val="E2E8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058" name="文本框 3057" descr="{&quot;isTemplate&quot;:true,&quot;type&quot;:&quot;text&quot;}"/>
          <p:cNvSpPr txBox="1"/>
          <p:nvPr/>
        </p:nvSpPr>
        <p:spPr>
          <a:xfrm>
            <a:off x="6343650" y="4257675"/>
            <a:ext cx="5067300" cy="2476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5000"/>
              </a:lnSpc>
            </a:pPr>
            <a:r>
              <a:rPr lang="en-US" sz="90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delayedPeriodic</a:t>
            </a:r>
            <a:r>
              <a:rPr lang="zh-CN" sz="90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　</a:t>
            </a:r>
            <a:r>
              <a:rPr lang="en-US" sz="90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FixedRate</a:t>
            </a:r>
            <a:r>
              <a:rPr lang="zh-CN" sz="90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（固定频率）或</a:t>
            </a:r>
            <a:r>
              <a:rPr lang="en-US" sz="90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FixedDelay</a:t>
            </a:r>
            <a:r>
              <a:rPr lang="zh-CN" sz="90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（上次结束后再间隔）</a:t>
            </a:r>
            <a:endParaRPr lang="zh-CN" sz="900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059" name="文本框 3058" descr="{&quot;isTemplate&quot;:true,&quot;type&quot;:&quot;text&quot;}"/>
          <p:cNvSpPr txBox="1"/>
          <p:nvPr/>
        </p:nvSpPr>
        <p:spPr>
          <a:xfrm>
            <a:off x="6343650" y="4562475"/>
            <a:ext cx="5067300" cy="2476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5000"/>
              </a:lnSpc>
            </a:pPr>
            <a:r>
              <a:rPr lang="en-US" sz="90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immediate</a:t>
            </a:r>
            <a:r>
              <a:rPr lang="zh-CN" sz="90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　注册后是否立即执行</a:t>
            </a:r>
            <a:endParaRPr lang="zh-CN" sz="900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060" name="文本框 3059" descr="{&quot;isTemplate&quot;:true,&quot;type&quot;:&quot;text&quot;}"/>
          <p:cNvSpPr txBox="1"/>
          <p:nvPr/>
        </p:nvSpPr>
        <p:spPr>
          <a:xfrm>
            <a:off x="6343650" y="4867275"/>
            <a:ext cx="5067300" cy="2476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5000"/>
              </a:lnSpc>
            </a:pPr>
            <a:r>
              <a:rPr lang="en-US" sz="90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delay</a:t>
            </a:r>
            <a:r>
              <a:rPr lang="zh-CN" sz="90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　延迟间隔（</a:t>
            </a:r>
            <a:r>
              <a:rPr lang="en-US" sz="90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Duration</a:t>
            </a:r>
            <a:r>
              <a:rPr lang="zh-CN" sz="90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）</a:t>
            </a:r>
            <a:endParaRPr lang="zh-CN" sz="900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061" name="文本框 3060" descr="{&quot;isTemplate&quot;:true,&quot;type&quot;:&quot;text&quot;}"/>
          <p:cNvSpPr txBox="1"/>
          <p:nvPr/>
        </p:nvSpPr>
        <p:spPr>
          <a:xfrm>
            <a:off x="6343650" y="5867400"/>
            <a:ext cx="5067300" cy="2476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5000"/>
              </a:lnSpc>
            </a:pPr>
            <a:r>
              <a:rPr lang="zh-CN" sz="900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演示：启动</a:t>
            </a:r>
            <a:r>
              <a:rPr lang="en-US" sz="900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 fdemo</a:t>
            </a:r>
            <a:r>
              <a:rPr lang="zh-CN" sz="900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，观察控制台每隔几秒打印一次</a:t>
            </a:r>
            <a:r>
              <a:rPr lang="en-US" sz="900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 TickTockTaskImpl is executing</a:t>
            </a:r>
            <a:r>
              <a:rPr lang="zh-CN" sz="900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。</a:t>
            </a:r>
            <a:endParaRPr lang="zh-CN" sz="900">
              <a:solidFill>
                <a:srgbClr val="F59E0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062" name="任意多边形 3061"/>
          <p:cNvSpPr/>
          <p:nvPr/>
        </p:nvSpPr>
        <p:spPr>
          <a:xfrm>
            <a:off x="609600" y="6286500"/>
            <a:ext cx="10972800" cy="381000"/>
          </a:xfrm>
          <a:custGeom>
            <a:avLst/>
            <a:gdLst/>
            <a:ahLst/>
            <a:cxnLst/>
            <a:pathLst>
              <a:path w="1152" h="40">
                <a:moveTo>
                  <a:pt x="0" y="0"/>
                </a:moveTo>
                <a:lnTo>
                  <a:pt x="1152" y="0"/>
                </a:lnTo>
                <a:lnTo>
                  <a:pt x="1152" y="1"/>
                </a:lnTo>
                <a:lnTo>
                  <a:pt x="0" y="1"/>
                </a:lnTo>
                <a:close/>
              </a:path>
            </a:pathLst>
          </a:custGeom>
          <a:solidFill>
            <a:srgbClr val="1E293B"/>
          </a:solidFill>
        </p:spPr>
        <p:txBody>
          <a:bodyPr/>
          <a:p/>
        </p:txBody>
      </p:sp>
      <p:sp>
        <p:nvSpPr>
          <p:cNvPr id="3063" name="文本框 3062" descr="{&quot;isTemplate&quot;:true,&quot;type&quot;:&quot;text&quot;}"/>
          <p:cNvSpPr txBox="1"/>
          <p:nvPr/>
        </p:nvSpPr>
        <p:spPr>
          <a:xfrm>
            <a:off x="609600" y="6410325"/>
            <a:ext cx="2219325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fountain · 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一站式服务器应用开发工具库</a:t>
            </a:r>
            <a:endParaRPr lang="zh-CN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064" name="文本框 3063" descr="{&quot;isTemplate&quot;:true,&quot;type&quot;:&quot;text&quot;}"/>
          <p:cNvSpPr txBox="1"/>
          <p:nvPr/>
        </p:nvSpPr>
        <p:spPr>
          <a:xfrm>
            <a:off x="11087100" y="6410325"/>
            <a:ext cx="495300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92 / 116</a:t>
            </a:r>
            <a:endParaRPr lang="en-US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06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6" name="矩形 3065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220"/>
          </a:solidFill>
        </p:spPr>
        <p:txBody>
          <a:bodyPr/>
          <a:p/>
        </p:txBody>
      </p:sp>
      <p:sp>
        <p:nvSpPr>
          <p:cNvPr id="3067" name="文本框 3066" descr="{&quot;isTemplate&quot;:true,&quot;type&quot;:&quot;text&quot;}"/>
          <p:cNvSpPr txBox="1"/>
          <p:nvPr/>
        </p:nvSpPr>
        <p:spPr>
          <a:xfrm>
            <a:off x="8239125" y="1143000"/>
            <a:ext cx="3571875" cy="36576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4000" b="1">
                <a:solidFill>
                  <a:srgbClr val="16233A"/>
                </a:solidFill>
                <a:latin typeface="JetBrains Mono"/>
                <a:ea typeface="JetBrains Mono"/>
              </a:rPr>
              <a:t>04</a:t>
            </a:r>
            <a:endParaRPr lang="en-US" sz="24000" b="1">
              <a:solidFill>
                <a:srgbClr val="16233A"/>
              </a:solidFill>
              <a:latin typeface="JetBrains Mono"/>
              <a:ea typeface="JetBrains Mono"/>
            </a:endParaRPr>
          </a:p>
        </p:txBody>
      </p:sp>
      <p:sp>
        <p:nvSpPr>
          <p:cNvPr id="3068" name="矩形 3067"/>
          <p:cNvSpPr/>
          <p:nvPr/>
        </p:nvSpPr>
        <p:spPr>
          <a:xfrm>
            <a:off x="0" y="0"/>
            <a:ext cx="76200" cy="6858000"/>
          </a:xfrm>
          <a:prstGeom prst="rect">
            <a:avLst/>
          </a:prstGeom>
          <a:gradFill>
            <a:gsLst>
              <a:gs pos="0">
                <a:srgbClr val="38BDF8"/>
              </a:gs>
              <a:gs pos="100000">
                <a:srgbClr val="22D3EE"/>
              </a:gs>
            </a:gsLst>
            <a:lin ang="2700000" scaled="1"/>
          </a:gradFill>
        </p:spPr>
        <p:txBody>
          <a:bodyPr/>
          <a:p/>
        </p:txBody>
      </p:sp>
      <p:sp>
        <p:nvSpPr>
          <p:cNvPr id="3069" name="文本框 3068" descr="{&quot;isTemplate&quot;:true,&quot;type&quot;:&quot;text&quot;}"/>
          <p:cNvSpPr txBox="1"/>
          <p:nvPr/>
        </p:nvSpPr>
        <p:spPr>
          <a:xfrm>
            <a:off x="1143000" y="2076450"/>
            <a:ext cx="1019175" cy="1905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spc="450">
                <a:solidFill>
                  <a:srgbClr val="38BDF8"/>
                </a:solidFill>
                <a:latin typeface="微软雅黑" panose="020B0503020204020204" charset="-122"/>
                <a:ea typeface="微软雅黑" panose="020B0503020204020204" charset="-122"/>
              </a:rPr>
              <a:t>PART 04</a:t>
            </a:r>
            <a:endParaRPr lang="en-US" sz="1200" spc="450">
              <a:solidFill>
                <a:srgbClr val="38BDF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070" name="文本框 3069" descr="{&quot;isTemplate&quot;:true,&quot;type&quot;:&quot;text&quot;}"/>
          <p:cNvSpPr txBox="1"/>
          <p:nvPr/>
        </p:nvSpPr>
        <p:spPr>
          <a:xfrm>
            <a:off x="1143000" y="2419350"/>
            <a:ext cx="4267200" cy="7429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15000"/>
              </a:lnSpc>
            </a:pPr>
            <a:r>
              <a:rPr lang="zh-CN" sz="42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日志、串讲与底座</a:t>
            </a:r>
            <a:endParaRPr lang="zh-CN" sz="42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071" name="矩形 3070"/>
          <p:cNvSpPr/>
          <p:nvPr/>
        </p:nvSpPr>
        <p:spPr>
          <a:xfrm>
            <a:off x="1143000" y="3276600"/>
            <a:ext cx="1524000" cy="57150"/>
          </a:xfrm>
          <a:prstGeom prst="rect">
            <a:avLst/>
          </a:prstGeom>
          <a:gradFill>
            <a:gsLst>
              <a:gs pos="0">
                <a:srgbClr val="38BDF8"/>
              </a:gs>
              <a:gs pos="100000">
                <a:srgbClr val="22D3EE"/>
              </a:gs>
            </a:gsLst>
            <a:lin ang="2700000" scaled="1"/>
          </a:gradFill>
        </p:spPr>
        <p:txBody>
          <a:bodyPr/>
          <a:p/>
        </p:txBody>
      </p:sp>
      <p:sp>
        <p:nvSpPr>
          <p:cNvPr id="3072" name="文本框 3071" descr="{&quot;isTemplate&quot;:true,&quot;type&quot;:&quot;text&quot;}"/>
          <p:cNvSpPr txBox="1"/>
          <p:nvPr/>
        </p:nvSpPr>
        <p:spPr>
          <a:xfrm>
            <a:off x="1143000" y="3733800"/>
            <a:ext cx="6886575" cy="4000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90000"/>
              </a:lnSpc>
            </a:pPr>
            <a:r>
              <a:rPr lang="en-US" sz="13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f_log </a:t>
            </a:r>
            <a:r>
              <a:rPr lang="zh-CN" sz="13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三条纪律与一条日志的旅程　·　一次请求穿过整个框架　·　运行时基础设施九个模块</a:t>
            </a:r>
            <a:endParaRPr lang="zh-CN" sz="1350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073" name="文本框 3072" descr="{&quot;isTemplate&quot;:true,&quot;type&quot;:&quot;text&quot;}"/>
          <p:cNvSpPr txBox="1"/>
          <p:nvPr/>
        </p:nvSpPr>
        <p:spPr>
          <a:xfrm>
            <a:off x="1143000" y="4076700"/>
            <a:ext cx="3419475" cy="4000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90000"/>
              </a:lnSpc>
            </a:pPr>
            <a:r>
              <a:rPr lang="zh-CN" sz="13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二十二个高频坑与预设</a:t>
            </a:r>
            <a:r>
              <a:rPr lang="en-US" sz="13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Q&amp;A</a:t>
            </a:r>
            <a:r>
              <a:rPr lang="zh-CN" sz="13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　·　三张速查表</a:t>
            </a:r>
            <a:endParaRPr lang="zh-CN" sz="1350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074" name="文本框 3073" descr="{&quot;isTemplate&quot;:true,&quot;type&quot;:&quot;text&quot;}"/>
          <p:cNvSpPr txBox="1"/>
          <p:nvPr/>
        </p:nvSpPr>
        <p:spPr>
          <a:xfrm>
            <a:off x="1143000" y="4876800"/>
            <a:ext cx="1181100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第</a:t>
            </a:r>
            <a:r>
              <a:rPr lang="en-US" sz="105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 15–18 </a:t>
            </a:r>
            <a:r>
              <a:rPr lang="zh-CN" sz="105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章</a:t>
            </a:r>
            <a:r>
              <a:rPr lang="en-US" sz="105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 + </a:t>
            </a:r>
            <a:r>
              <a:rPr lang="zh-CN" sz="105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附录</a:t>
            </a:r>
            <a:endParaRPr lang="zh-CN" sz="105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075" name="矩形 3074"/>
          <p:cNvSpPr/>
          <p:nvPr/>
        </p:nvSpPr>
        <p:spPr>
          <a:xfrm>
            <a:off x="2552700" y="4886325"/>
            <a:ext cx="9525" cy="152400"/>
          </a:xfrm>
          <a:prstGeom prst="rect">
            <a:avLst/>
          </a:prstGeom>
          <a:solidFill>
            <a:srgbClr val="1E293B"/>
          </a:solidFill>
        </p:spPr>
        <p:txBody>
          <a:bodyPr/>
          <a:p/>
        </p:txBody>
      </p:sp>
      <p:sp>
        <p:nvSpPr>
          <p:cNvPr id="3076" name="文本框 3075" descr="{&quot;isTemplate&quot;:true,&quot;type&quot;:&quot;text&quot;}"/>
          <p:cNvSpPr txBox="1"/>
          <p:nvPr/>
        </p:nvSpPr>
        <p:spPr>
          <a:xfrm>
            <a:off x="2790825" y="4876800"/>
            <a:ext cx="1076325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对应第</a:t>
            </a:r>
            <a:r>
              <a:rPr lang="en-US" sz="105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 94–115 </a:t>
            </a:r>
            <a:r>
              <a:rPr lang="zh-CN" sz="105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页</a:t>
            </a:r>
            <a:endParaRPr lang="zh-CN" sz="105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077" name="矩形 3076"/>
          <p:cNvSpPr/>
          <p:nvPr/>
        </p:nvSpPr>
        <p:spPr>
          <a:xfrm>
            <a:off x="4095750" y="4886325"/>
            <a:ext cx="9525" cy="152400"/>
          </a:xfrm>
          <a:prstGeom prst="rect">
            <a:avLst/>
          </a:prstGeom>
          <a:solidFill>
            <a:srgbClr val="1E293B"/>
          </a:solidFill>
        </p:spPr>
        <p:txBody>
          <a:bodyPr/>
          <a:p/>
        </p:txBody>
      </p:sp>
      <p:sp>
        <p:nvSpPr>
          <p:cNvPr id="3078" name="文本框 3077" descr="{&quot;isTemplate&quot;:true,&quot;type&quot;:&quot;text&quot;}"/>
          <p:cNvSpPr txBox="1"/>
          <p:nvPr/>
        </p:nvSpPr>
        <p:spPr>
          <a:xfrm>
            <a:off x="4333875" y="4876800"/>
            <a:ext cx="771525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建议</a:t>
            </a:r>
            <a:r>
              <a:rPr lang="en-US" sz="105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 60 </a:t>
            </a:r>
            <a:r>
              <a:rPr lang="zh-CN" sz="105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分钟</a:t>
            </a:r>
            <a:endParaRPr lang="zh-CN" sz="105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07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0" name="矩形 3079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220"/>
          </a:solidFill>
        </p:spPr>
        <p:txBody>
          <a:bodyPr/>
          <a:p/>
        </p:txBody>
      </p:sp>
      <p:sp>
        <p:nvSpPr>
          <p:cNvPr id="3081" name="矩形 3080"/>
          <p:cNvSpPr/>
          <p:nvPr/>
        </p:nvSpPr>
        <p:spPr>
          <a:xfrm>
            <a:off x="609600" y="476250"/>
            <a:ext cx="38100" cy="381000"/>
          </a:xfrm>
          <a:prstGeom prst="rect">
            <a:avLst/>
          </a:prstGeom>
          <a:solidFill>
            <a:srgbClr val="38BDF8"/>
          </a:solidFill>
        </p:spPr>
        <p:txBody>
          <a:bodyPr/>
          <a:p/>
        </p:txBody>
      </p:sp>
      <p:sp>
        <p:nvSpPr>
          <p:cNvPr id="3082" name="文本框 3081" descr="{&quot;isTemplate&quot;:true,&quot;type&quot;:&quot;text&quot;}"/>
          <p:cNvSpPr txBox="1"/>
          <p:nvPr/>
        </p:nvSpPr>
        <p:spPr>
          <a:xfrm>
            <a:off x="819150" y="304800"/>
            <a:ext cx="9229725" cy="2095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第</a:t>
            </a: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 15 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章</a:t>
            </a: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 · 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日志</a:t>
            </a: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 f_log · 15.1</a:t>
            </a:r>
            <a:endParaRPr lang="en-US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083" name="文本框 3082" descr="{&quot;isTemplate&quot;:true,&quot;type&quot;:&quot;text&quot;}"/>
          <p:cNvSpPr txBox="1"/>
          <p:nvPr/>
        </p:nvSpPr>
        <p:spPr>
          <a:xfrm>
            <a:off x="819150" y="514350"/>
            <a:ext cx="9229725" cy="5143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2550" b="1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为什么还要自己写一个日志模块</a:t>
            </a:r>
            <a:endParaRPr lang="zh-CN" sz="2550" b="1">
              <a:solidFill>
                <a:srgbClr val="E2E8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084" name="文本框 3083" descr="{&quot;isTemplate&quot;:true,&quot;type&quot;:&quot;text&quot;}"/>
          <p:cNvSpPr txBox="1"/>
          <p:nvPr/>
        </p:nvSpPr>
        <p:spPr>
          <a:xfrm>
            <a:off x="10220325" y="590550"/>
            <a:ext cx="1362075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f_log 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是</a:t>
            </a: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 stdx.log 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的实现</a:t>
            </a:r>
            <a:endParaRPr lang="zh-CN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085" name="圆角矩形 3084"/>
          <p:cNvSpPr/>
          <p:nvPr/>
        </p:nvSpPr>
        <p:spPr>
          <a:xfrm>
            <a:off x="609600" y="1143000"/>
            <a:ext cx="3552825" cy="2209800"/>
          </a:xfrm>
          <a:prstGeom prst="roundRect">
            <a:avLst>
              <a:gd name="adj" fmla="val 5172"/>
            </a:avLst>
          </a:prstGeom>
          <a:solidFill>
            <a:srgbClr val="111C2E"/>
          </a:solidFill>
          <a:ln w="12700">
            <a:solidFill>
              <a:srgbClr val="38BDF8"/>
            </a:solidFill>
            <a:prstDash val="solid"/>
          </a:ln>
        </p:spPr>
        <p:txBody>
          <a:bodyPr/>
          <a:p/>
        </p:txBody>
      </p:sp>
      <p:sp>
        <p:nvSpPr>
          <p:cNvPr id="3086" name="文本框 3085" descr="{&quot;isTemplate&quot;:true,&quot;type&quot;:&quot;text&quot;}"/>
          <p:cNvSpPr txBox="1"/>
          <p:nvPr/>
        </p:nvSpPr>
        <p:spPr>
          <a:xfrm>
            <a:off x="800100" y="1333500"/>
            <a:ext cx="3171825" cy="3714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400" b="1">
                <a:solidFill>
                  <a:srgbClr val="38BDF8"/>
                </a:solidFill>
                <a:latin typeface="JetBrains Mono"/>
                <a:ea typeface="JetBrains Mono"/>
              </a:rPr>
              <a:t>1</a:t>
            </a:r>
            <a:endParaRPr lang="en-US" sz="2400" b="1">
              <a:solidFill>
                <a:srgbClr val="38BDF8"/>
              </a:solidFill>
              <a:latin typeface="JetBrains Mono"/>
              <a:ea typeface="JetBrains Mono"/>
            </a:endParaRPr>
          </a:p>
        </p:txBody>
      </p:sp>
      <p:sp>
        <p:nvSpPr>
          <p:cNvPr id="3087" name="文本框 3086" descr="{&quot;isTemplate&quot;:true,&quot;type&quot;:&quot;text&quot;}"/>
          <p:cNvSpPr txBox="1"/>
          <p:nvPr/>
        </p:nvSpPr>
        <p:spPr>
          <a:xfrm>
            <a:off x="800100" y="1819275"/>
            <a:ext cx="3171825" cy="1905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是</a:t>
            </a:r>
            <a:r>
              <a:rPr lang="en-US" sz="1200" b="1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 stdx.log </a:t>
            </a:r>
            <a:r>
              <a:rPr lang="zh-CN" sz="1200" b="1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的实现，不是替代品</a:t>
            </a:r>
            <a:endParaRPr lang="zh-CN" sz="1200" b="1">
              <a:solidFill>
                <a:srgbClr val="E2E8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088" name="文本框 3087" descr="{&quot;isTemplate&quot;:true,&quot;type&quot;:&quot;text&quot;}"/>
          <p:cNvSpPr txBox="1"/>
          <p:nvPr/>
        </p:nvSpPr>
        <p:spPr>
          <a:xfrm>
            <a:off x="800100" y="2105025"/>
            <a:ext cx="3171825" cy="762000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en-US" sz="97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AbstractLogger </a:t>
            </a:r>
            <a:r>
              <a:rPr lang="zh-CN" sz="97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直接继承</a:t>
            </a:r>
            <a:r>
              <a:rPr lang="en-US" sz="97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stdx.log </a:t>
            </a:r>
            <a:r>
              <a:rPr lang="zh-CN" sz="97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的</a:t>
            </a:r>
            <a:r>
              <a:rPr lang="en-US" sz="97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Logger</a:t>
            </a:r>
            <a:r>
              <a:rPr lang="zh-CN" sz="97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；模块加载时接管全局</a:t>
            </a:r>
            <a:r>
              <a:rPr lang="en-US" sz="97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logger —— </a:t>
            </a:r>
            <a:r>
              <a:rPr lang="zh-CN" sz="97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第三方库的日志也进你的</a:t>
            </a:r>
            <a:r>
              <a:rPr lang="en-US" sz="97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appender</a:t>
            </a:r>
            <a:r>
              <a:rPr lang="zh-CN" sz="97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。</a:t>
            </a:r>
            <a:endParaRPr lang="zh-CN" sz="975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089" name="文本框 3088" descr="{&quot;isTemplate&quot;:true,&quot;type&quot;:&quot;text&quot;}"/>
          <p:cNvSpPr txBox="1"/>
          <p:nvPr/>
        </p:nvSpPr>
        <p:spPr>
          <a:xfrm>
            <a:off x="800100" y="2924175"/>
            <a:ext cx="4429125" cy="2381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en-US" sz="900">
                <a:solidFill>
                  <a:srgbClr val="F59E0B"/>
                </a:solidFill>
                <a:latin typeface="JetBrains Mono"/>
                <a:ea typeface="JetBrains Mono"/>
              </a:rPr>
              <a:t>setGlobalLogger(LoggerFactory.getLogger('fountain::f_log.global'))</a:t>
            </a:r>
            <a:endParaRPr lang="en-US" sz="900">
              <a:solidFill>
                <a:srgbClr val="F59E0B"/>
              </a:solidFill>
              <a:latin typeface="JetBrains Mono"/>
              <a:ea typeface="JetBrains Mono"/>
            </a:endParaRPr>
          </a:p>
        </p:txBody>
      </p:sp>
      <p:sp>
        <p:nvSpPr>
          <p:cNvPr id="3090" name="圆角矩形 3089"/>
          <p:cNvSpPr/>
          <p:nvPr/>
        </p:nvSpPr>
        <p:spPr>
          <a:xfrm>
            <a:off x="4314825" y="1143000"/>
            <a:ext cx="3562350" cy="2209800"/>
          </a:xfrm>
          <a:prstGeom prst="roundRect">
            <a:avLst>
              <a:gd name="adj" fmla="val 5172"/>
            </a:avLst>
          </a:prstGeom>
          <a:solidFill>
            <a:srgbClr val="111C2E"/>
          </a:solidFill>
          <a:ln w="12700">
            <a:solidFill>
              <a:srgbClr val="1E293B"/>
            </a:solidFill>
            <a:prstDash val="solid"/>
          </a:ln>
        </p:spPr>
        <p:txBody>
          <a:bodyPr/>
          <a:p/>
        </p:txBody>
      </p:sp>
      <p:sp>
        <p:nvSpPr>
          <p:cNvPr id="3091" name="文本框 3090" descr="{&quot;isTemplate&quot;:true,&quot;type&quot;:&quot;text&quot;}"/>
          <p:cNvSpPr txBox="1"/>
          <p:nvPr/>
        </p:nvSpPr>
        <p:spPr>
          <a:xfrm>
            <a:off x="4505325" y="1333500"/>
            <a:ext cx="3181350" cy="3714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400" b="1">
                <a:solidFill>
                  <a:srgbClr val="22D3EE"/>
                </a:solidFill>
                <a:latin typeface="JetBrains Mono"/>
                <a:ea typeface="JetBrains Mono"/>
              </a:rPr>
              <a:t>2</a:t>
            </a:r>
            <a:endParaRPr lang="en-US" sz="2400" b="1">
              <a:solidFill>
                <a:srgbClr val="22D3EE"/>
              </a:solidFill>
              <a:latin typeface="JetBrains Mono"/>
              <a:ea typeface="JetBrains Mono"/>
            </a:endParaRPr>
          </a:p>
        </p:txBody>
      </p:sp>
      <p:sp>
        <p:nvSpPr>
          <p:cNvPr id="3092" name="文本框 3091" descr="{&quot;isTemplate&quot;:true,&quot;type&quot;:&quot;text&quot;}"/>
          <p:cNvSpPr txBox="1"/>
          <p:nvPr/>
        </p:nvSpPr>
        <p:spPr>
          <a:xfrm>
            <a:off x="4505325" y="1819275"/>
            <a:ext cx="3181350" cy="1905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零配置、零注入，默认静默</a:t>
            </a:r>
            <a:endParaRPr lang="zh-CN" sz="1200" b="1">
              <a:solidFill>
                <a:srgbClr val="E2E8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093" name="文本框 3092" descr="{&quot;isTemplate&quot;:true,&quot;type&quot;:&quot;text&quot;}"/>
          <p:cNvSpPr txBox="1"/>
          <p:nvPr/>
        </p:nvSpPr>
        <p:spPr>
          <a:xfrm>
            <a:off x="4505325" y="2105025"/>
            <a:ext cx="3181350" cy="514350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zh-CN" sz="97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不需要启动器、不需要配置文件，一行</a:t>
            </a:r>
            <a:r>
              <a:rPr lang="en-US" sz="97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getLogger </a:t>
            </a:r>
            <a:r>
              <a:rPr lang="zh-CN" sz="97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就能用。</a:t>
            </a:r>
            <a:endParaRPr lang="zh-CN" sz="975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094" name="文本框 3093" descr="{&quot;isTemplate&quot;:true,&quot;type&quot;:&quot;text&quot;}"/>
          <p:cNvSpPr txBox="1"/>
          <p:nvPr/>
        </p:nvSpPr>
        <p:spPr>
          <a:xfrm>
            <a:off x="4505325" y="2905125"/>
            <a:ext cx="3181350" cy="2571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zh-CN" sz="975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不配</a:t>
            </a:r>
            <a:r>
              <a:rPr lang="en-US" sz="975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 appender </a:t>
            </a:r>
            <a:r>
              <a:rPr lang="zh-CN" sz="975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它什么都不输出，不会先刷一屏。</a:t>
            </a:r>
            <a:endParaRPr lang="zh-CN" sz="975">
              <a:solidFill>
                <a:srgbClr val="F59E0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095" name="圆角矩形 3094"/>
          <p:cNvSpPr/>
          <p:nvPr/>
        </p:nvSpPr>
        <p:spPr>
          <a:xfrm>
            <a:off x="8029575" y="1143000"/>
            <a:ext cx="3552825" cy="2209800"/>
          </a:xfrm>
          <a:prstGeom prst="roundRect">
            <a:avLst>
              <a:gd name="adj" fmla="val 5172"/>
            </a:avLst>
          </a:prstGeom>
          <a:solidFill>
            <a:srgbClr val="111C2E"/>
          </a:solidFill>
          <a:ln w="12700">
            <a:solidFill>
              <a:srgbClr val="1E293B"/>
            </a:solidFill>
            <a:prstDash val="solid"/>
          </a:ln>
        </p:spPr>
        <p:txBody>
          <a:bodyPr/>
          <a:p/>
        </p:txBody>
      </p:sp>
      <p:sp>
        <p:nvSpPr>
          <p:cNvPr id="3096" name="文本框 3095" descr="{&quot;isTemplate&quot;:true,&quot;type&quot;:&quot;text&quot;}"/>
          <p:cNvSpPr txBox="1"/>
          <p:nvPr/>
        </p:nvSpPr>
        <p:spPr>
          <a:xfrm>
            <a:off x="8220075" y="1333500"/>
            <a:ext cx="3171825" cy="3714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400" b="1">
                <a:solidFill>
                  <a:srgbClr val="F59E0B"/>
                </a:solidFill>
                <a:latin typeface="JetBrains Mono"/>
                <a:ea typeface="JetBrains Mono"/>
              </a:rPr>
              <a:t>3</a:t>
            </a:r>
            <a:endParaRPr lang="en-US" sz="2400" b="1">
              <a:solidFill>
                <a:srgbClr val="F59E0B"/>
              </a:solidFill>
              <a:latin typeface="JetBrains Mono"/>
              <a:ea typeface="JetBrains Mono"/>
            </a:endParaRPr>
          </a:p>
        </p:txBody>
      </p:sp>
      <p:sp>
        <p:nvSpPr>
          <p:cNvPr id="3097" name="文本框 3096" descr="{&quot;isTemplate&quot;:true,&quot;type&quot;:&quot;text&quot;}"/>
          <p:cNvSpPr txBox="1"/>
          <p:nvPr/>
        </p:nvSpPr>
        <p:spPr>
          <a:xfrm>
            <a:off x="8220075" y="1819275"/>
            <a:ext cx="3171825" cy="1905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异步</a:t>
            </a:r>
            <a:r>
              <a:rPr lang="en-US" sz="1200" b="1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 + </a:t>
            </a:r>
            <a:r>
              <a:rPr lang="zh-CN" sz="1200" b="1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模板化</a:t>
            </a:r>
            <a:endParaRPr lang="zh-CN" sz="1200" b="1">
              <a:solidFill>
                <a:srgbClr val="E2E8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098" name="文本框 3097" descr="{&quot;isTemplate&quot;:true,&quot;type&quot;:&quot;text&quot;}"/>
          <p:cNvSpPr txBox="1"/>
          <p:nvPr/>
        </p:nvSpPr>
        <p:spPr>
          <a:xfrm>
            <a:off x="8220075" y="2105025"/>
            <a:ext cx="3171825" cy="514350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zh-CN" sz="97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业务线程只负责记录时间与线程</a:t>
            </a:r>
            <a:r>
              <a:rPr lang="en-US" sz="97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ID</a:t>
            </a:r>
            <a:r>
              <a:rPr lang="zh-CN" sz="97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、把消息闭包排进队列；渲染与落盘在专属线程上做。</a:t>
            </a:r>
            <a:endParaRPr lang="zh-CN" sz="975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099" name="文本框 3098" descr="{&quot;isTemplate&quot;:true,&quot;type&quot;:&quot;text&quot;}"/>
          <p:cNvSpPr txBox="1"/>
          <p:nvPr/>
        </p:nvSpPr>
        <p:spPr>
          <a:xfrm>
            <a:off x="8220075" y="2647950"/>
            <a:ext cx="3171825" cy="514350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zh-CN" sz="975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消息支持</a:t>
            </a:r>
            <a:r>
              <a:rPr lang="en-US" sz="975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 </a:t>
            </a:r>
            <a:r>
              <a:rPr lang="en-US" sz="975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 </a:t>
            </a:r>
            <a:r>
              <a:rPr lang="zh-CN" sz="975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占位符，还能拿</a:t>
            </a:r>
            <a:r>
              <a:rPr lang="en-US" sz="975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 @DataAssist </a:t>
            </a:r>
            <a:r>
              <a:rPr lang="zh-CN" sz="975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对象做具名取值</a:t>
            </a:r>
            <a:r>
              <a:rPr lang="en-US" sz="975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 —— stdx.log </a:t>
            </a:r>
            <a:r>
              <a:rPr lang="zh-CN" sz="975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没有。</a:t>
            </a:r>
            <a:endParaRPr lang="zh-CN" sz="975">
              <a:solidFill>
                <a:srgbClr val="F59E0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100" name="圆角矩形 3099"/>
          <p:cNvSpPr/>
          <p:nvPr/>
        </p:nvSpPr>
        <p:spPr>
          <a:xfrm>
            <a:off x="609600" y="3505200"/>
            <a:ext cx="10972800" cy="2781300"/>
          </a:xfrm>
          <a:prstGeom prst="roundRect">
            <a:avLst>
              <a:gd name="adj" fmla="val 4110"/>
            </a:avLst>
          </a:prstGeom>
          <a:solidFill>
            <a:srgbClr val="0B1220"/>
          </a:solidFill>
          <a:ln w="12700">
            <a:solidFill>
              <a:srgbClr val="1E293B"/>
            </a:solidFill>
            <a:prstDash val="solid"/>
          </a:ln>
        </p:spPr>
        <p:txBody>
          <a:bodyPr/>
          <a:p/>
        </p:txBody>
      </p:sp>
      <p:sp>
        <p:nvSpPr>
          <p:cNvPr id="3101" name="文本框 3100" descr="{&quot;isTemplate&quot;:true,&quot;type&quot;:&quot;text&quot;}"/>
          <p:cNvSpPr txBox="1"/>
          <p:nvPr/>
        </p:nvSpPr>
        <p:spPr>
          <a:xfrm>
            <a:off x="781050" y="3676650"/>
            <a:ext cx="10629900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先看一页结构</a:t>
            </a:r>
            <a:endParaRPr lang="zh-CN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102" name="文本框 3101" descr="{&quot;isTemplate&quot;:true,&quot;type&quot;:&quot;text&quot;}"/>
          <p:cNvSpPr txBox="1"/>
          <p:nvPr/>
        </p:nvSpPr>
        <p:spPr>
          <a:xfrm>
            <a:off x="781050" y="3924300"/>
            <a:ext cx="10629900" cy="15240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85000"/>
              </a:lnSpc>
            </a:pPr>
            <a:r>
              <a:rPr lang="en-US" sz="900">
                <a:solidFill>
                  <a:srgbClr val="E2E8F0"/>
                </a:solidFill>
                <a:latin typeface="JetBrains Mono"/>
                <a:ea typeface="JetBrains Mono"/>
              </a:rPr>
              <a:t>LoggerFactory.getLogger&lt;T&gt;()</a:t>
            </a:r>
            <a:r>
              <a:rPr lang="zh-CN" sz="900">
                <a:solidFill>
                  <a:srgbClr val="E2E8F0"/>
                </a:solidFill>
                <a:latin typeface="JetBrains Mono"/>
                <a:ea typeface="JetBrains Mono"/>
              </a:rPr>
              <a:t>　</a:t>
            </a:r>
            <a:r>
              <a:rPr lang="en-US" sz="900">
                <a:solidFill>
                  <a:srgbClr val="E2E8F0"/>
                </a:solidFill>
                <a:latin typeface="JetBrains Mono"/>
                <a:ea typeface="JetBrains Mono"/>
              </a:rPr>
              <a:t> </a:t>
            </a:r>
            <a:r>
              <a:rPr lang="zh-CN" sz="900">
                <a:solidFill>
                  <a:srgbClr val="E2E8F0"/>
                </a:solidFill>
                <a:latin typeface="JetBrains Mono"/>
                <a:ea typeface="JetBrains Mono"/>
              </a:rPr>
              <a:t>名字</a:t>
            </a:r>
            <a:r>
              <a:rPr lang="en-US" sz="900">
                <a:solidFill>
                  <a:srgbClr val="E2E8F0"/>
                </a:solidFill>
                <a:latin typeface="JetBrains Mono"/>
                <a:ea typeface="JetBrains Mono"/>
              </a:rPr>
              <a:t> = T </a:t>
            </a:r>
            <a:r>
              <a:rPr lang="zh-CN" sz="900">
                <a:solidFill>
                  <a:srgbClr val="E2E8F0"/>
                </a:solidFill>
                <a:latin typeface="JetBrains Mono"/>
                <a:ea typeface="JetBrains Mono"/>
              </a:rPr>
              <a:t>的完整限定名</a:t>
            </a:r>
            <a:r>
              <a:rPr lang="zh-CN" sz="900">
                <a:solidFill>
                  <a:srgbClr val="E2E8F0"/>
                </a:solidFill>
                <a:latin typeface="JetBrains Mono"/>
                <a:ea typeface="JetBrains Mono"/>
              </a:rPr>
              <a:t>（如</a:t>
            </a:r>
            <a:r>
              <a:rPr lang="en-US" sz="900">
                <a:solidFill>
                  <a:srgbClr val="E2E8F0"/>
                </a:solidFill>
                <a:latin typeface="JetBrains Mono"/>
                <a:ea typeface="JetBrains Mono"/>
              </a:rPr>
              <a:t> fountain::f_orm.base.SqlExecutor</a:t>
            </a:r>
            <a:r>
              <a:rPr lang="zh-CN" sz="900">
                <a:solidFill>
                  <a:srgbClr val="E2E8F0"/>
                </a:solidFill>
                <a:latin typeface="JetBrains Mono"/>
                <a:ea typeface="JetBrains Mono"/>
              </a:rPr>
              <a:t>）</a:t>
            </a:r>
            <a:endParaRPr lang="zh-CN" sz="900">
              <a:solidFill>
                <a:srgbClr val="E2E8F0"/>
              </a:solidFill>
              <a:latin typeface="JetBrains Mono"/>
              <a:ea typeface="JetBrains Mono"/>
            </a:endParaRPr>
          </a:p>
          <a:p>
            <a:pPr>
              <a:lnSpc>
                <a:spcPct val="185000"/>
              </a:lnSpc>
            </a:pPr>
            <a:r>
              <a:rPr lang="zh-CN" sz="900">
                <a:solidFill>
                  <a:srgbClr val="E2E8F0"/>
                </a:solidFill>
                <a:latin typeface="JetBrains Mono"/>
                <a:ea typeface="JetBrains Mono"/>
              </a:rPr>
              <a:t>　└─</a:t>
            </a:r>
            <a:r>
              <a:rPr lang="en-US" sz="900">
                <a:solidFill>
                  <a:srgbClr val="E2E8F0"/>
                </a:solidFill>
                <a:latin typeface="JetBrains Mono"/>
                <a:ea typeface="JetBrains Mono"/>
              </a:rPr>
              <a:t> LoggerWrapper</a:t>
            </a:r>
            <a:r>
              <a:rPr lang="zh-CN" sz="900">
                <a:solidFill>
                  <a:srgbClr val="E2E8F0"/>
                </a:solidFill>
                <a:latin typeface="JetBrains Mono"/>
                <a:ea typeface="JetBrains Mono"/>
              </a:rPr>
              <a:t>　　　　　　</a:t>
            </a:r>
            <a:r>
              <a:rPr lang="en-US" sz="900">
                <a:solidFill>
                  <a:srgbClr val="E2E8F0"/>
                </a:solidFill>
                <a:latin typeface="JetBrains Mono"/>
                <a:ea typeface="JetBrains Mono"/>
              </a:rPr>
              <a:t> </a:t>
            </a:r>
            <a:r>
              <a:rPr lang="zh-CN" sz="900">
                <a:solidFill>
                  <a:srgbClr val="E2E8F0"/>
                </a:solidFill>
                <a:latin typeface="JetBrains Mono"/>
                <a:ea typeface="JetBrains Mono"/>
              </a:rPr>
              <a:t>持有</a:t>
            </a:r>
            <a:r>
              <a:rPr lang="en-US" sz="900">
                <a:solidFill>
                  <a:srgbClr val="E2E8F0"/>
                </a:solidFill>
                <a:latin typeface="JetBrains Mono"/>
                <a:ea typeface="JetBrains Mono"/>
              </a:rPr>
              <a:t> facade </a:t>
            </a:r>
            <a:r>
              <a:rPr lang="zh-CN" sz="900">
                <a:solidFill>
                  <a:srgbClr val="E2E8F0"/>
                </a:solidFill>
                <a:latin typeface="JetBrains Mono"/>
                <a:ea typeface="JetBrains Mono"/>
              </a:rPr>
              <a:t>的引用，可</a:t>
            </a:r>
            <a:r>
              <a:rPr lang="en-US" sz="900">
                <a:solidFill>
                  <a:srgbClr val="E2E8F0"/>
                </a:solidFill>
                <a:latin typeface="JetBrains Mono"/>
                <a:ea typeface="JetBrains Mono"/>
              </a:rPr>
              <a:t> CAS </a:t>
            </a:r>
            <a:r>
              <a:rPr lang="zh-CN" sz="900">
                <a:solidFill>
                  <a:srgbClr val="E2E8F0"/>
                </a:solidFill>
                <a:latin typeface="JetBrains Mono"/>
                <a:ea typeface="JetBrains Mono"/>
              </a:rPr>
              <a:t>热替换（</a:t>
            </a:r>
            <a:r>
              <a:rPr lang="en-US" sz="900">
                <a:solidFill>
                  <a:srgbClr val="E2E8F0"/>
                </a:solidFill>
                <a:latin typeface="JetBrains Mono"/>
                <a:ea typeface="JetBrains Mono"/>
              </a:rPr>
              <a:t>15.8</a:t>
            </a:r>
            <a:r>
              <a:rPr lang="zh-CN" sz="900">
                <a:solidFill>
                  <a:srgbClr val="E2E8F0"/>
                </a:solidFill>
                <a:latin typeface="JetBrains Mono"/>
                <a:ea typeface="JetBrains Mono"/>
              </a:rPr>
              <a:t>）</a:t>
            </a:r>
            <a:endParaRPr lang="zh-CN" sz="900">
              <a:solidFill>
                <a:srgbClr val="E2E8F0"/>
              </a:solidFill>
              <a:latin typeface="JetBrains Mono"/>
              <a:ea typeface="JetBrains Mono"/>
            </a:endParaRPr>
          </a:p>
          <a:p>
            <a:pPr>
              <a:lnSpc>
                <a:spcPct val="185000"/>
              </a:lnSpc>
            </a:pPr>
            <a:r>
              <a:rPr lang="zh-CN" sz="900">
                <a:solidFill>
                  <a:srgbClr val="E2E8F0"/>
                </a:solidFill>
                <a:latin typeface="JetBrains Mono"/>
                <a:ea typeface="JetBrains Mono"/>
              </a:rPr>
              <a:t>　　　└─</a:t>
            </a:r>
            <a:r>
              <a:rPr lang="en-US" sz="900">
                <a:solidFill>
                  <a:srgbClr val="E2E8F0"/>
                </a:solidFill>
                <a:latin typeface="JetBrains Mono"/>
                <a:ea typeface="JetBrains Mono"/>
              </a:rPr>
              <a:t> LoggerAppenderFacade</a:t>
            </a:r>
            <a:r>
              <a:rPr lang="zh-CN" sz="900">
                <a:solidFill>
                  <a:srgbClr val="E2E8F0"/>
                </a:solidFill>
                <a:latin typeface="JetBrains Mono"/>
                <a:ea typeface="JetBrains Mono"/>
              </a:rPr>
              <a:t>　　本身也是异步的：一个名字</a:t>
            </a:r>
            <a:r>
              <a:rPr lang="en-US" sz="900">
                <a:solidFill>
                  <a:srgbClr val="E2E8F0"/>
                </a:solidFill>
                <a:latin typeface="JetBrains Mono"/>
                <a:ea typeface="JetBrains Mono"/>
              </a:rPr>
              <a:t> → </a:t>
            </a:r>
            <a:r>
              <a:rPr lang="zh-CN" sz="900">
                <a:solidFill>
                  <a:srgbClr val="E2E8F0"/>
                </a:solidFill>
                <a:latin typeface="JetBrains Mono"/>
                <a:ea typeface="JetBrains Mono"/>
              </a:rPr>
              <a:t>一条队列</a:t>
            </a:r>
            <a:r>
              <a:rPr lang="en-US" sz="900">
                <a:solidFill>
                  <a:srgbClr val="E2E8F0"/>
                </a:solidFill>
                <a:latin typeface="JetBrains Mono"/>
                <a:ea typeface="JetBrains Mono"/>
              </a:rPr>
              <a:t> + </a:t>
            </a:r>
            <a:r>
              <a:rPr lang="zh-CN" sz="900">
                <a:solidFill>
                  <a:srgbClr val="E2E8F0"/>
                </a:solidFill>
                <a:latin typeface="JetBrains Mono"/>
                <a:ea typeface="JetBrains Mono"/>
              </a:rPr>
              <a:t>一个消费线程</a:t>
            </a:r>
            <a:endParaRPr lang="zh-CN" sz="900">
              <a:solidFill>
                <a:srgbClr val="E2E8F0"/>
              </a:solidFill>
              <a:latin typeface="JetBrains Mono"/>
              <a:ea typeface="JetBrains Mono"/>
            </a:endParaRPr>
          </a:p>
          <a:p>
            <a:pPr>
              <a:lnSpc>
                <a:spcPct val="185000"/>
              </a:lnSpc>
            </a:pPr>
            <a:r>
              <a:rPr lang="zh-CN" sz="900">
                <a:solidFill>
                  <a:srgbClr val="E2E8F0"/>
                </a:solidFill>
                <a:latin typeface="JetBrains Mono"/>
                <a:ea typeface="JetBrains Mono"/>
              </a:rPr>
              <a:t>　　　　　├─</a:t>
            </a:r>
            <a:r>
              <a:rPr lang="en-US" sz="900">
                <a:solidFill>
                  <a:srgbClr val="E2E8F0"/>
                </a:solidFill>
                <a:latin typeface="JetBrains Mono"/>
                <a:ea typeface="JetBrains Mono"/>
              </a:rPr>
              <a:t> ConsoleAppender</a:t>
            </a:r>
            <a:r>
              <a:rPr lang="zh-CN" sz="900">
                <a:solidFill>
                  <a:srgbClr val="E2E8F0"/>
                </a:solidFill>
                <a:latin typeface="JetBrains Mono"/>
                <a:ea typeface="JetBrains Mono"/>
              </a:rPr>
              <a:t>　</a:t>
            </a:r>
            <a:r>
              <a:rPr lang="en-US" sz="900">
                <a:solidFill>
                  <a:srgbClr val="E2E8F0"/>
                </a:solidFill>
                <a:latin typeface="JetBrains Mono"/>
                <a:ea typeface="JetBrains Mono"/>
              </a:rPr>
              <a:t> </a:t>
            </a:r>
            <a:r>
              <a:rPr lang="zh-CN" sz="900">
                <a:solidFill>
                  <a:srgbClr val="E2E8F0"/>
                </a:solidFill>
                <a:latin typeface="JetBrains Mono"/>
                <a:ea typeface="JetBrains Mono"/>
              </a:rPr>
              <a:t>队列</a:t>
            </a:r>
            <a:r>
              <a:rPr lang="en-US" sz="900">
                <a:solidFill>
                  <a:srgbClr val="E2E8F0"/>
                </a:solidFill>
                <a:latin typeface="JetBrains Mono"/>
                <a:ea typeface="JetBrains Mono"/>
              </a:rPr>
              <a:t> tag = console://</a:t>
            </a:r>
            <a:r>
              <a:rPr lang="zh-CN" sz="900">
                <a:solidFill>
                  <a:srgbClr val="E2E8F0"/>
                </a:solidFill>
                <a:latin typeface="JetBrains Mono"/>
                <a:ea typeface="JetBrains Mono"/>
              </a:rPr>
              <a:t>（所有</a:t>
            </a:r>
            <a:r>
              <a:rPr lang="en-US" sz="900">
                <a:solidFill>
                  <a:srgbClr val="E2E8F0"/>
                </a:solidFill>
                <a:latin typeface="JetBrains Mono"/>
                <a:ea typeface="JetBrains Mono"/>
              </a:rPr>
              <a:t> console </a:t>
            </a:r>
            <a:r>
              <a:rPr lang="zh-CN" sz="900">
                <a:solidFill>
                  <a:srgbClr val="E2E8F0"/>
                </a:solidFill>
                <a:latin typeface="JetBrains Mono"/>
                <a:ea typeface="JetBrains Mono"/>
              </a:rPr>
              <a:t>共享）</a:t>
            </a:r>
            <a:endParaRPr lang="zh-CN" sz="900">
              <a:solidFill>
                <a:srgbClr val="E2E8F0"/>
              </a:solidFill>
              <a:latin typeface="JetBrains Mono"/>
              <a:ea typeface="JetBrains Mono"/>
            </a:endParaRPr>
          </a:p>
          <a:p>
            <a:pPr>
              <a:lnSpc>
                <a:spcPct val="185000"/>
              </a:lnSpc>
            </a:pPr>
            <a:r>
              <a:rPr lang="zh-CN" sz="900">
                <a:solidFill>
                  <a:srgbClr val="E2E8F0"/>
                </a:solidFill>
                <a:latin typeface="JetBrains Mono"/>
                <a:ea typeface="JetBrains Mono"/>
              </a:rPr>
              <a:t>　　　　　├─</a:t>
            </a:r>
            <a:r>
              <a:rPr lang="en-US" sz="900">
                <a:solidFill>
                  <a:srgbClr val="E2E8F0"/>
                </a:solidFill>
                <a:latin typeface="JetBrains Mono"/>
                <a:ea typeface="JetBrains Mono"/>
              </a:rPr>
              <a:t> FileAppender</a:t>
            </a:r>
            <a:r>
              <a:rPr lang="zh-CN" sz="900">
                <a:solidFill>
                  <a:srgbClr val="E2E8F0"/>
                </a:solidFill>
                <a:latin typeface="JetBrains Mono"/>
                <a:ea typeface="JetBrains Mono"/>
              </a:rPr>
              <a:t>　　　队列</a:t>
            </a:r>
            <a:r>
              <a:rPr lang="en-US" sz="900">
                <a:solidFill>
                  <a:srgbClr val="E2E8F0"/>
                </a:solidFill>
                <a:latin typeface="JetBrains Mono"/>
                <a:ea typeface="JetBrains Mono"/>
              </a:rPr>
              <a:t> tag = file:///</a:t>
            </a:r>
            <a:r>
              <a:rPr lang="zh-CN" sz="900">
                <a:solidFill>
                  <a:srgbClr val="E2E8F0"/>
                </a:solidFill>
                <a:latin typeface="JetBrains Mono"/>
                <a:ea typeface="JetBrains Mono"/>
              </a:rPr>
              <a:t>【路径】（同路径共享）</a:t>
            </a:r>
            <a:endParaRPr lang="zh-CN" sz="900">
              <a:solidFill>
                <a:srgbClr val="E2E8F0"/>
              </a:solidFill>
              <a:latin typeface="JetBrains Mono"/>
              <a:ea typeface="JetBrains Mono"/>
            </a:endParaRPr>
          </a:p>
          <a:p>
            <a:pPr>
              <a:lnSpc>
                <a:spcPct val="185000"/>
              </a:lnSpc>
            </a:pPr>
            <a:r>
              <a:rPr lang="zh-CN" sz="900">
                <a:solidFill>
                  <a:srgbClr val="E2E8F0"/>
                </a:solidFill>
                <a:latin typeface="JetBrains Mono"/>
                <a:ea typeface="JetBrains Mono"/>
              </a:rPr>
              <a:t>　　　　　└─</a:t>
            </a:r>
            <a:r>
              <a:rPr lang="en-US" sz="900">
                <a:solidFill>
                  <a:srgbClr val="E2E8F0"/>
                </a:solidFill>
                <a:latin typeface="JetBrains Mono"/>
                <a:ea typeface="JetBrains Mono"/>
              </a:rPr>
              <a:t> Tcp / Udp / Unix / UnixDatagram Appender</a:t>
            </a:r>
            <a:endParaRPr lang="en-US" sz="900">
              <a:solidFill>
                <a:srgbClr val="E2E8F0"/>
              </a:solidFill>
              <a:latin typeface="JetBrains Mono"/>
              <a:ea typeface="JetBrains Mono"/>
            </a:endParaRPr>
          </a:p>
        </p:txBody>
      </p:sp>
      <p:sp>
        <p:nvSpPr>
          <p:cNvPr id="3103" name="任意多边形 3102"/>
          <p:cNvSpPr/>
          <p:nvPr/>
        </p:nvSpPr>
        <p:spPr>
          <a:xfrm>
            <a:off x="609600" y="6286500"/>
            <a:ext cx="10972800" cy="381000"/>
          </a:xfrm>
          <a:custGeom>
            <a:avLst/>
            <a:gdLst/>
            <a:ahLst/>
            <a:cxnLst/>
            <a:pathLst>
              <a:path w="1152" h="40">
                <a:moveTo>
                  <a:pt x="0" y="0"/>
                </a:moveTo>
                <a:lnTo>
                  <a:pt x="1152" y="0"/>
                </a:lnTo>
                <a:lnTo>
                  <a:pt x="1152" y="1"/>
                </a:lnTo>
                <a:lnTo>
                  <a:pt x="0" y="1"/>
                </a:lnTo>
                <a:close/>
              </a:path>
            </a:pathLst>
          </a:custGeom>
          <a:solidFill>
            <a:srgbClr val="1E293B"/>
          </a:solidFill>
        </p:spPr>
        <p:txBody>
          <a:bodyPr/>
          <a:p/>
        </p:txBody>
      </p:sp>
      <p:sp>
        <p:nvSpPr>
          <p:cNvPr id="3104" name="文本框 3103" descr="{&quot;isTemplate&quot;:true,&quot;type&quot;:&quot;text&quot;}"/>
          <p:cNvSpPr txBox="1"/>
          <p:nvPr/>
        </p:nvSpPr>
        <p:spPr>
          <a:xfrm>
            <a:off x="609600" y="6410325"/>
            <a:ext cx="2219325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fountain · 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一站式服务器应用开发工具库</a:t>
            </a:r>
            <a:endParaRPr lang="zh-CN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105" name="文本框 3104" descr="{&quot;isTemplate&quot;:true,&quot;type&quot;:&quot;text&quot;}"/>
          <p:cNvSpPr txBox="1"/>
          <p:nvPr/>
        </p:nvSpPr>
        <p:spPr>
          <a:xfrm>
            <a:off x="11087100" y="6410325"/>
            <a:ext cx="495300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94 / 116</a:t>
            </a:r>
            <a:endParaRPr lang="en-US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10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7" name="矩形 3106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220"/>
          </a:solidFill>
        </p:spPr>
        <p:txBody>
          <a:bodyPr/>
          <a:p/>
        </p:txBody>
      </p:sp>
      <p:sp>
        <p:nvSpPr>
          <p:cNvPr id="3108" name="矩形 3107"/>
          <p:cNvSpPr/>
          <p:nvPr/>
        </p:nvSpPr>
        <p:spPr>
          <a:xfrm>
            <a:off x="609600" y="476250"/>
            <a:ext cx="38100" cy="381000"/>
          </a:xfrm>
          <a:prstGeom prst="rect">
            <a:avLst/>
          </a:prstGeom>
          <a:solidFill>
            <a:srgbClr val="38BDF8"/>
          </a:solidFill>
        </p:spPr>
        <p:txBody>
          <a:bodyPr/>
          <a:p/>
        </p:txBody>
      </p:sp>
      <p:sp>
        <p:nvSpPr>
          <p:cNvPr id="3109" name="文本框 3108" descr="{&quot;isTemplate&quot;:true,&quot;type&quot;:&quot;text&quot;}"/>
          <p:cNvSpPr txBox="1"/>
          <p:nvPr/>
        </p:nvSpPr>
        <p:spPr>
          <a:xfrm>
            <a:off x="819150" y="304800"/>
            <a:ext cx="9848850" cy="2095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第</a:t>
            </a: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 15 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章</a:t>
            </a: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 · 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日志</a:t>
            </a: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 f_log · 15.2</a:t>
            </a:r>
            <a:endParaRPr lang="en-US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110" name="文本框 3109" descr="{&quot;isTemplate&quot;:true,&quot;type&quot;:&quot;text&quot;}"/>
          <p:cNvSpPr txBox="1"/>
          <p:nvPr/>
        </p:nvSpPr>
        <p:spPr>
          <a:xfrm>
            <a:off x="819150" y="514350"/>
            <a:ext cx="9848850" cy="5143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2550" b="1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三条纪律（先记这个）</a:t>
            </a:r>
            <a:endParaRPr lang="zh-CN" sz="2550" b="1">
              <a:solidFill>
                <a:srgbClr val="E2E8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111" name="文本框 3110" descr="{&quot;isTemplate&quot;:true,&quot;type&quot;:&quot;text&quot;}"/>
          <p:cNvSpPr txBox="1"/>
          <p:nvPr/>
        </p:nvSpPr>
        <p:spPr>
          <a:xfrm>
            <a:off x="10839450" y="590550"/>
            <a:ext cx="742950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后面都是细节</a:t>
            </a:r>
            <a:endParaRPr lang="zh-CN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112" name="圆角矩形 3111"/>
          <p:cNvSpPr/>
          <p:nvPr/>
        </p:nvSpPr>
        <p:spPr>
          <a:xfrm>
            <a:off x="609600" y="1143000"/>
            <a:ext cx="10972800" cy="1600200"/>
          </a:xfrm>
          <a:prstGeom prst="roundRect">
            <a:avLst>
              <a:gd name="adj" fmla="val 7143"/>
            </a:avLst>
          </a:prstGeom>
          <a:solidFill>
            <a:srgbClr val="111C2E"/>
          </a:solidFill>
          <a:ln w="12700">
            <a:solidFill>
              <a:srgbClr val="38BDF8"/>
            </a:solidFill>
            <a:prstDash val="solid"/>
          </a:ln>
        </p:spPr>
        <p:txBody>
          <a:bodyPr/>
          <a:p/>
        </p:txBody>
      </p:sp>
      <p:sp>
        <p:nvSpPr>
          <p:cNvPr id="3113" name="文本框 3112" descr="{&quot;isTemplate&quot;:true,&quot;type&quot;:&quot;text&quot;}"/>
          <p:cNvSpPr txBox="1"/>
          <p:nvPr/>
        </p:nvSpPr>
        <p:spPr>
          <a:xfrm>
            <a:off x="800100" y="1333500"/>
            <a:ext cx="542925" cy="12192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3600" b="1">
                <a:solidFill>
                  <a:srgbClr val="38BDF8"/>
                </a:solidFill>
                <a:latin typeface="JetBrains Mono"/>
                <a:ea typeface="JetBrains Mono"/>
              </a:rPr>
              <a:t>01</a:t>
            </a:r>
            <a:endParaRPr lang="en-US" sz="3600" b="1">
              <a:solidFill>
                <a:srgbClr val="38BDF8"/>
              </a:solidFill>
              <a:latin typeface="JetBrains Mono"/>
              <a:ea typeface="JetBrains Mono"/>
            </a:endParaRPr>
          </a:p>
        </p:txBody>
      </p:sp>
      <p:sp>
        <p:nvSpPr>
          <p:cNvPr id="3114" name="文本框 3113" descr="{&quot;isTemplate&quot;:true,&quot;type&quot;:&quot;text&quot;}"/>
          <p:cNvSpPr txBox="1"/>
          <p:nvPr/>
        </p:nvSpPr>
        <p:spPr>
          <a:xfrm>
            <a:off x="1533525" y="1333500"/>
            <a:ext cx="9858375" cy="2095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默认什么都不输出</a:t>
            </a:r>
            <a:endParaRPr lang="zh-CN" sz="1350" b="1">
              <a:solidFill>
                <a:srgbClr val="E2E8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115" name="文本框 3114" descr="{&quot;isTemplate&quot;:true,&quot;type&quot;:&quot;text&quot;}"/>
          <p:cNvSpPr txBox="1"/>
          <p:nvPr/>
        </p:nvSpPr>
        <p:spPr>
          <a:xfrm>
            <a:off x="1533525" y="1619250"/>
            <a:ext cx="9858375" cy="2857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5000"/>
              </a:lnSpc>
            </a:pPr>
            <a:r>
              <a:rPr lang="zh-CN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内置</a:t>
            </a:r>
            <a:r>
              <a:rPr lang="en-US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6 </a:t>
            </a:r>
            <a:r>
              <a:rPr lang="zh-CN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种</a:t>
            </a:r>
            <a:r>
              <a:rPr lang="en-US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appender</a:t>
            </a:r>
            <a:r>
              <a:rPr lang="zh-CN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：</a:t>
            </a:r>
            <a:r>
              <a:rPr lang="en-US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console / file / tcp / udp / unix / unixDatagram</a:t>
            </a:r>
            <a:r>
              <a:rPr lang="zh-CN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。但一个都不会自动启用</a:t>
            </a:r>
            <a:r>
              <a:rPr lang="en-US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—— </a:t>
            </a:r>
            <a:r>
              <a:rPr lang="zh-CN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没配就不存在。</a:t>
            </a:r>
            <a:endParaRPr lang="zh-CN" sz="1050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116" name="文本框 3115" descr="{&quot;isTemplate&quot;:true,&quot;type&quot;:&quot;text&quot;}"/>
          <p:cNvSpPr txBox="1"/>
          <p:nvPr/>
        </p:nvSpPr>
        <p:spPr>
          <a:xfrm>
            <a:off x="1533525" y="2286000"/>
            <a:ext cx="9858375" cy="2667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5000"/>
              </a:lnSpc>
            </a:pPr>
            <a:r>
              <a:rPr lang="en-US" sz="975">
                <a:solidFill>
                  <a:srgbClr val="F59E0B"/>
                </a:solidFill>
                <a:latin typeface="JetBrains Mono"/>
                <a:ea typeface="JetBrains Mono"/>
              </a:rPr>
              <a:t>export logger_appender_console=</a:t>
            </a:r>
            <a:r>
              <a:rPr lang="zh-CN" sz="975">
                <a:solidFill>
                  <a:srgbClr val="F59E0B"/>
                </a:solidFill>
                <a:latin typeface="JetBrains Mono"/>
                <a:ea typeface="JetBrains Mono"/>
              </a:rPr>
              <a:t>【你给这个</a:t>
            </a:r>
            <a:r>
              <a:rPr lang="en-US" sz="975">
                <a:solidFill>
                  <a:srgbClr val="F59E0B"/>
                </a:solidFill>
                <a:latin typeface="JetBrains Mono"/>
                <a:ea typeface="JetBrains Mono"/>
              </a:rPr>
              <a:t> appender </a:t>
            </a:r>
            <a:r>
              <a:rPr lang="zh-CN" sz="975">
                <a:solidFill>
                  <a:srgbClr val="F59E0B"/>
                </a:solidFill>
                <a:latin typeface="JetBrains Mono"/>
                <a:ea typeface="JetBrains Mono"/>
              </a:rPr>
              <a:t>起的名字】</a:t>
            </a:r>
            <a:endParaRPr lang="zh-CN" sz="975">
              <a:solidFill>
                <a:srgbClr val="F59E0B"/>
              </a:solidFill>
              <a:latin typeface="JetBrains Mono"/>
              <a:ea typeface="JetBrains Mono"/>
            </a:endParaRPr>
          </a:p>
        </p:txBody>
      </p:sp>
      <p:sp>
        <p:nvSpPr>
          <p:cNvPr id="3117" name="圆角矩形 3116"/>
          <p:cNvSpPr/>
          <p:nvPr/>
        </p:nvSpPr>
        <p:spPr>
          <a:xfrm>
            <a:off x="609600" y="2876550"/>
            <a:ext cx="10972800" cy="1600200"/>
          </a:xfrm>
          <a:prstGeom prst="roundRect">
            <a:avLst>
              <a:gd name="adj" fmla="val 7143"/>
            </a:avLst>
          </a:prstGeom>
          <a:solidFill>
            <a:srgbClr val="111C2E"/>
          </a:solidFill>
          <a:ln w="12700">
            <a:solidFill>
              <a:srgbClr val="38BDF8"/>
            </a:solidFill>
            <a:prstDash val="solid"/>
          </a:ln>
        </p:spPr>
        <p:txBody>
          <a:bodyPr/>
          <a:p/>
        </p:txBody>
      </p:sp>
      <p:sp>
        <p:nvSpPr>
          <p:cNvPr id="3118" name="文本框 3117" descr="{&quot;isTemplate&quot;:true,&quot;type&quot;:&quot;text&quot;}"/>
          <p:cNvSpPr txBox="1"/>
          <p:nvPr/>
        </p:nvSpPr>
        <p:spPr>
          <a:xfrm>
            <a:off x="800100" y="3067050"/>
            <a:ext cx="542925" cy="12192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3600" b="1">
                <a:solidFill>
                  <a:srgbClr val="22D3EE"/>
                </a:solidFill>
                <a:latin typeface="JetBrains Mono"/>
                <a:ea typeface="JetBrains Mono"/>
              </a:rPr>
              <a:t>02</a:t>
            </a:r>
            <a:endParaRPr lang="en-US" sz="3600" b="1">
              <a:solidFill>
                <a:srgbClr val="22D3EE"/>
              </a:solidFill>
              <a:latin typeface="JetBrains Mono"/>
              <a:ea typeface="JetBrains Mono"/>
            </a:endParaRPr>
          </a:p>
        </p:txBody>
      </p:sp>
      <p:sp>
        <p:nvSpPr>
          <p:cNvPr id="3119" name="文本框 3118" descr="{&quot;isTemplate&quot;:true,&quot;type&quot;:&quot;text&quot;}"/>
          <p:cNvSpPr txBox="1"/>
          <p:nvPr/>
        </p:nvSpPr>
        <p:spPr>
          <a:xfrm>
            <a:off x="1533525" y="3067050"/>
            <a:ext cx="9858375" cy="2095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级别和格式挂在</a:t>
            </a:r>
            <a:r>
              <a:rPr lang="en-US" sz="1350" b="1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 appender </a:t>
            </a:r>
            <a:r>
              <a:rPr lang="zh-CN" sz="1350" b="1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上，不挂在</a:t>
            </a:r>
            <a:r>
              <a:rPr lang="en-US" sz="1350" b="1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 logger </a:t>
            </a:r>
            <a:r>
              <a:rPr lang="zh-CN" sz="1350" b="1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名字上</a:t>
            </a:r>
            <a:endParaRPr lang="zh-CN" sz="1350" b="1">
              <a:solidFill>
                <a:srgbClr val="E2E8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120" name="文本框 3119" descr="{&quot;isTemplate&quot;:true,&quot;type&quot;:&quot;text&quot;}"/>
          <p:cNvSpPr txBox="1"/>
          <p:nvPr/>
        </p:nvSpPr>
        <p:spPr>
          <a:xfrm>
            <a:off x="1533525" y="3352800"/>
            <a:ext cx="9858375" cy="2667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5000"/>
              </a:lnSpc>
            </a:pPr>
            <a:r>
              <a:rPr lang="en-US" sz="975">
                <a:solidFill>
                  <a:srgbClr val="94A3B8"/>
                </a:solidFill>
                <a:latin typeface="JetBrains Mono"/>
                <a:ea typeface="JetBrains Mono"/>
              </a:rPr>
              <a:t>logger_appender_</a:t>
            </a:r>
            <a:r>
              <a:rPr lang="zh-CN" sz="975">
                <a:solidFill>
                  <a:srgbClr val="94A3B8"/>
                </a:solidFill>
                <a:latin typeface="JetBrains Mono"/>
                <a:ea typeface="JetBrains Mono"/>
              </a:rPr>
              <a:t>【</a:t>
            </a:r>
            <a:r>
              <a:rPr lang="en-US" sz="975">
                <a:solidFill>
                  <a:srgbClr val="94A3B8"/>
                </a:solidFill>
                <a:latin typeface="JetBrains Mono"/>
                <a:ea typeface="JetBrains Mono"/>
              </a:rPr>
              <a:t>kind</a:t>
            </a:r>
            <a:r>
              <a:rPr lang="zh-CN" sz="975">
                <a:solidFill>
                  <a:srgbClr val="94A3B8"/>
                </a:solidFill>
                <a:latin typeface="JetBrains Mono"/>
                <a:ea typeface="JetBrains Mono"/>
              </a:rPr>
              <a:t>】</a:t>
            </a:r>
            <a:r>
              <a:rPr lang="en-US" sz="975">
                <a:solidFill>
                  <a:srgbClr val="94A3B8"/>
                </a:solidFill>
                <a:latin typeface="JetBrains Mono"/>
                <a:ea typeface="JetBrains Mono"/>
              </a:rPr>
              <a:t>=</a:t>
            </a:r>
            <a:r>
              <a:rPr lang="zh-CN" sz="975">
                <a:solidFill>
                  <a:srgbClr val="94A3B8"/>
                </a:solidFill>
                <a:latin typeface="JetBrains Mono"/>
                <a:ea typeface="JetBrains Mono"/>
              </a:rPr>
              <a:t>【</a:t>
            </a:r>
            <a:r>
              <a:rPr lang="en-US" sz="975">
                <a:solidFill>
                  <a:srgbClr val="94A3B8"/>
                </a:solidFill>
                <a:latin typeface="JetBrains Mono"/>
                <a:ea typeface="JetBrains Mono"/>
              </a:rPr>
              <a:t>AppenderName</a:t>
            </a:r>
            <a:r>
              <a:rPr lang="zh-CN" sz="975">
                <a:solidFill>
                  <a:srgbClr val="94A3B8"/>
                </a:solidFill>
                <a:latin typeface="JetBrains Mono"/>
                <a:ea typeface="JetBrains Mono"/>
              </a:rPr>
              <a:t>】</a:t>
            </a:r>
            <a:r>
              <a:rPr lang="en-US" sz="975">
                <a:solidFill>
                  <a:srgbClr val="94A3B8"/>
                </a:solidFill>
                <a:latin typeface="JetBrains Mono"/>
                <a:ea typeface="JetBrains Mono"/>
              </a:rPr>
              <a:t>[,</a:t>
            </a:r>
            <a:r>
              <a:rPr lang="zh-CN" sz="975">
                <a:solidFill>
                  <a:srgbClr val="94A3B8"/>
                </a:solidFill>
                <a:latin typeface="JetBrains Mono"/>
                <a:ea typeface="JetBrains Mono"/>
              </a:rPr>
              <a:t>【</a:t>
            </a:r>
            <a:r>
              <a:rPr lang="en-US" sz="975">
                <a:solidFill>
                  <a:srgbClr val="94A3B8"/>
                </a:solidFill>
                <a:latin typeface="JetBrains Mono"/>
                <a:ea typeface="JetBrains Mono"/>
              </a:rPr>
              <a:t>AppenderName2</a:t>
            </a:r>
            <a:r>
              <a:rPr lang="zh-CN" sz="975">
                <a:solidFill>
                  <a:srgbClr val="94A3B8"/>
                </a:solidFill>
                <a:latin typeface="JetBrains Mono"/>
                <a:ea typeface="JetBrains Mono"/>
              </a:rPr>
              <a:t>】</a:t>
            </a:r>
            <a:r>
              <a:rPr lang="en-US" sz="975">
                <a:solidFill>
                  <a:srgbClr val="94A3B8"/>
                </a:solidFill>
                <a:latin typeface="JetBrains Mono"/>
                <a:ea typeface="JetBrains Mono"/>
              </a:rPr>
              <a:t>...]</a:t>
            </a:r>
            <a:r>
              <a:rPr lang="zh-CN" sz="975">
                <a:solidFill>
                  <a:srgbClr val="94A3B8"/>
                </a:solidFill>
                <a:latin typeface="JetBrains Mono"/>
                <a:ea typeface="JetBrains Mono"/>
              </a:rPr>
              <a:t>　先挂具名实例</a:t>
            </a:r>
            <a:endParaRPr lang="zh-CN" sz="975">
              <a:solidFill>
                <a:srgbClr val="94A3B8"/>
              </a:solidFill>
              <a:latin typeface="JetBrains Mono"/>
              <a:ea typeface="JetBrains Mono"/>
            </a:endParaRPr>
          </a:p>
        </p:txBody>
      </p:sp>
      <p:sp>
        <p:nvSpPr>
          <p:cNvPr id="3121" name="文本框 3120" descr="{&quot;isTemplate&quot;:true,&quot;type&quot;:&quot;text&quot;}"/>
          <p:cNvSpPr txBox="1"/>
          <p:nvPr/>
        </p:nvSpPr>
        <p:spPr>
          <a:xfrm>
            <a:off x="1533525" y="3619500"/>
            <a:ext cx="9858375" cy="2667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5000"/>
              </a:lnSpc>
            </a:pPr>
            <a:r>
              <a:rPr lang="en-US" sz="975">
                <a:solidFill>
                  <a:srgbClr val="94A3B8"/>
                </a:solidFill>
                <a:latin typeface="JetBrains Mono"/>
                <a:ea typeface="JetBrains Mono"/>
              </a:rPr>
              <a:t>logger_appender_</a:t>
            </a:r>
            <a:r>
              <a:rPr lang="zh-CN" sz="975">
                <a:solidFill>
                  <a:srgbClr val="94A3B8"/>
                </a:solidFill>
                <a:latin typeface="JetBrains Mono"/>
                <a:ea typeface="JetBrains Mono"/>
              </a:rPr>
              <a:t>【</a:t>
            </a:r>
            <a:r>
              <a:rPr lang="en-US" sz="975">
                <a:solidFill>
                  <a:srgbClr val="94A3B8"/>
                </a:solidFill>
                <a:latin typeface="JetBrains Mono"/>
                <a:ea typeface="JetBrains Mono"/>
              </a:rPr>
              <a:t>AppenderName</a:t>
            </a:r>
            <a:r>
              <a:rPr lang="zh-CN" sz="975">
                <a:solidFill>
                  <a:srgbClr val="94A3B8"/>
                </a:solidFill>
                <a:latin typeface="JetBrains Mono"/>
                <a:ea typeface="JetBrains Mono"/>
              </a:rPr>
              <a:t>】</a:t>
            </a:r>
            <a:r>
              <a:rPr lang="en-US" sz="975">
                <a:solidFill>
                  <a:srgbClr val="94A3B8"/>
                </a:solidFill>
                <a:latin typeface="JetBrains Mono"/>
                <a:ea typeface="JetBrains Mono"/>
              </a:rPr>
              <a:t>_level=DEBUG</a:t>
            </a:r>
            <a:r>
              <a:rPr lang="zh-CN" sz="975">
                <a:solidFill>
                  <a:srgbClr val="94A3B8"/>
                </a:solidFill>
                <a:latin typeface="JetBrains Mono"/>
                <a:ea typeface="JetBrains Mono"/>
              </a:rPr>
              <a:t>　</a:t>
            </a:r>
            <a:r>
              <a:rPr lang="en-US" sz="975">
                <a:solidFill>
                  <a:srgbClr val="94A3B8"/>
                </a:solidFill>
                <a:latin typeface="JetBrains Mono"/>
                <a:ea typeface="JetBrains Mono"/>
              </a:rPr>
              <a:t>logger_appender_</a:t>
            </a:r>
            <a:r>
              <a:rPr lang="zh-CN" sz="975">
                <a:solidFill>
                  <a:srgbClr val="94A3B8"/>
                </a:solidFill>
                <a:latin typeface="JetBrains Mono"/>
                <a:ea typeface="JetBrains Mono"/>
              </a:rPr>
              <a:t>【</a:t>
            </a:r>
            <a:r>
              <a:rPr lang="en-US" sz="975">
                <a:solidFill>
                  <a:srgbClr val="94A3B8"/>
                </a:solidFill>
                <a:latin typeface="JetBrains Mono"/>
                <a:ea typeface="JetBrains Mono"/>
              </a:rPr>
              <a:t>AppenderName</a:t>
            </a:r>
            <a:r>
              <a:rPr lang="zh-CN" sz="975">
                <a:solidFill>
                  <a:srgbClr val="94A3B8"/>
                </a:solidFill>
                <a:latin typeface="JetBrains Mono"/>
                <a:ea typeface="JetBrains Mono"/>
              </a:rPr>
              <a:t>】</a:t>
            </a:r>
            <a:r>
              <a:rPr lang="en-US" sz="975">
                <a:solidFill>
                  <a:srgbClr val="94A3B8"/>
                </a:solidFill>
                <a:latin typeface="JetBrains Mono"/>
                <a:ea typeface="JetBrains Mono"/>
              </a:rPr>
              <a:t>_pattern='...'</a:t>
            </a:r>
            <a:endParaRPr lang="en-US" sz="975">
              <a:solidFill>
                <a:srgbClr val="94A3B8"/>
              </a:solidFill>
              <a:latin typeface="JetBrains Mono"/>
              <a:ea typeface="JetBrains Mono"/>
            </a:endParaRPr>
          </a:p>
        </p:txBody>
      </p:sp>
      <p:sp>
        <p:nvSpPr>
          <p:cNvPr id="3122" name="文本框 3121" descr="{&quot;isTemplate&quot;:true,&quot;type&quot;:&quot;text&quot;}"/>
          <p:cNvSpPr txBox="1"/>
          <p:nvPr/>
        </p:nvSpPr>
        <p:spPr>
          <a:xfrm>
            <a:off x="1533525" y="4019550"/>
            <a:ext cx="9858375" cy="2667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5000"/>
              </a:lnSpc>
            </a:pPr>
            <a:r>
              <a:rPr lang="zh-CN" sz="975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没有</a:t>
            </a:r>
            <a:r>
              <a:rPr lang="en-US" sz="975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 logger </a:t>
            </a:r>
            <a:r>
              <a:rPr lang="zh-CN" sz="975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名字树</a:t>
            </a:r>
            <a:r>
              <a:rPr lang="en-US" sz="975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 —— </a:t>
            </a:r>
            <a:r>
              <a:rPr lang="zh-CN" sz="975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无法「只给某个包开</a:t>
            </a:r>
            <a:r>
              <a:rPr lang="en-US" sz="975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 DEBUG</a:t>
            </a:r>
            <a:r>
              <a:rPr lang="zh-CN" sz="975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」；级别是</a:t>
            </a:r>
            <a:r>
              <a:rPr lang="en-US" sz="975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 appender </a:t>
            </a:r>
            <a:r>
              <a:rPr lang="zh-CN" sz="975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全局的，要区分来源靠</a:t>
            </a:r>
            <a:r>
              <a:rPr lang="en-US" sz="975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 %name</a:t>
            </a:r>
            <a:r>
              <a:rPr lang="zh-CN" sz="975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。</a:t>
            </a:r>
            <a:endParaRPr lang="zh-CN" sz="975">
              <a:solidFill>
                <a:srgbClr val="F59E0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123" name="圆角矩形 3122"/>
          <p:cNvSpPr/>
          <p:nvPr/>
        </p:nvSpPr>
        <p:spPr>
          <a:xfrm>
            <a:off x="609600" y="4610100"/>
            <a:ext cx="10972800" cy="1676400"/>
          </a:xfrm>
          <a:prstGeom prst="roundRect">
            <a:avLst>
              <a:gd name="adj" fmla="val 6818"/>
            </a:avLst>
          </a:prstGeom>
          <a:solidFill>
            <a:srgbClr val="111C2E"/>
          </a:solidFill>
          <a:ln w="12700">
            <a:solidFill>
              <a:srgbClr val="F59E0B"/>
            </a:solidFill>
            <a:prstDash val="solid"/>
          </a:ln>
        </p:spPr>
        <p:txBody>
          <a:bodyPr/>
          <a:p/>
        </p:txBody>
      </p:sp>
      <p:sp>
        <p:nvSpPr>
          <p:cNvPr id="3124" name="文本框 3123" descr="{&quot;isTemplate&quot;:true,&quot;type&quot;:&quot;text&quot;}"/>
          <p:cNvSpPr txBox="1"/>
          <p:nvPr/>
        </p:nvSpPr>
        <p:spPr>
          <a:xfrm>
            <a:off x="800100" y="4800600"/>
            <a:ext cx="542925" cy="1295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3600" b="1">
                <a:solidFill>
                  <a:srgbClr val="F59E0B"/>
                </a:solidFill>
                <a:latin typeface="JetBrains Mono"/>
                <a:ea typeface="JetBrains Mono"/>
              </a:rPr>
              <a:t>03</a:t>
            </a:r>
            <a:endParaRPr lang="en-US" sz="3600" b="1">
              <a:solidFill>
                <a:srgbClr val="F59E0B"/>
              </a:solidFill>
              <a:latin typeface="JetBrains Mono"/>
              <a:ea typeface="JetBrains Mono"/>
            </a:endParaRPr>
          </a:p>
        </p:txBody>
      </p:sp>
      <p:sp>
        <p:nvSpPr>
          <p:cNvPr id="3125" name="文本框 3124" descr="{&quot;isTemplate&quot;:true,&quot;type&quot;:&quot;text&quot;}"/>
          <p:cNvSpPr txBox="1"/>
          <p:nvPr/>
        </p:nvSpPr>
        <p:spPr>
          <a:xfrm>
            <a:off x="1533525" y="4800600"/>
            <a:ext cx="9858375" cy="2095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业务线程只入队，渲染在后台；但默认「队列满就等」</a:t>
            </a:r>
            <a:endParaRPr lang="zh-CN" sz="1350" b="1">
              <a:solidFill>
                <a:srgbClr val="E2E8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126" name="文本框 3125" descr="{&quot;isTemplate&quot;:true,&quot;type&quot;:&quot;text&quot;}"/>
          <p:cNvSpPr txBox="1"/>
          <p:nvPr/>
        </p:nvSpPr>
        <p:spPr>
          <a:xfrm>
            <a:off x="1533525" y="5086350"/>
            <a:ext cx="9858375" cy="2857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5000"/>
              </a:lnSpc>
            </a:pPr>
            <a:r>
              <a:rPr lang="zh-CN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业务线程只做两件事：采集时间戳</a:t>
            </a:r>
            <a:r>
              <a:rPr lang="en-US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/ </a:t>
            </a:r>
            <a:r>
              <a:rPr lang="zh-CN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线程</a:t>
            </a:r>
            <a:r>
              <a:rPr lang="en-US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ID</a:t>
            </a:r>
            <a:r>
              <a:rPr lang="zh-CN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，把闭包投进队列。级别判断、字符串渲染、落盘都在后台线程。</a:t>
            </a:r>
            <a:endParaRPr lang="zh-CN" sz="1050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127" name="文本框 3126" descr="{&quot;isTemplate&quot;:true,&quot;type&quot;:&quot;text&quot;}"/>
          <p:cNvSpPr txBox="1"/>
          <p:nvPr/>
        </p:nvSpPr>
        <p:spPr>
          <a:xfrm>
            <a:off x="1533525" y="5448300"/>
            <a:ext cx="9858375" cy="2857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5000"/>
              </a:lnSpc>
            </a:pPr>
            <a:r>
              <a:rPr lang="en-US" sz="1050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loggerAsyncTimeout </a:t>
            </a:r>
            <a:r>
              <a:rPr lang="zh-CN" sz="1050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默认</a:t>
            </a:r>
            <a:r>
              <a:rPr lang="en-US" sz="1050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 Duration.Max —— </a:t>
            </a:r>
            <a:r>
              <a:rPr lang="zh-CN" sz="1050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队列满时入队方一直等，而不是丢日志。想丢就显式配</a:t>
            </a:r>
            <a:r>
              <a:rPr lang="en-US" sz="1050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 timeout + policy</a:t>
            </a:r>
            <a:r>
              <a:rPr lang="zh-CN" sz="1050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。</a:t>
            </a:r>
            <a:endParaRPr lang="zh-CN" sz="1050">
              <a:solidFill>
                <a:srgbClr val="F59E0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128" name="任意多边形 3127"/>
          <p:cNvSpPr/>
          <p:nvPr/>
        </p:nvSpPr>
        <p:spPr>
          <a:xfrm>
            <a:off x="609600" y="6286500"/>
            <a:ext cx="10972800" cy="381000"/>
          </a:xfrm>
          <a:custGeom>
            <a:avLst/>
            <a:gdLst/>
            <a:ahLst/>
            <a:cxnLst/>
            <a:pathLst>
              <a:path w="1152" h="40">
                <a:moveTo>
                  <a:pt x="0" y="0"/>
                </a:moveTo>
                <a:lnTo>
                  <a:pt x="1152" y="0"/>
                </a:lnTo>
                <a:lnTo>
                  <a:pt x="1152" y="1"/>
                </a:lnTo>
                <a:lnTo>
                  <a:pt x="0" y="1"/>
                </a:lnTo>
                <a:close/>
              </a:path>
            </a:pathLst>
          </a:custGeom>
          <a:solidFill>
            <a:srgbClr val="1E293B"/>
          </a:solidFill>
        </p:spPr>
        <p:txBody>
          <a:bodyPr/>
          <a:p/>
        </p:txBody>
      </p:sp>
      <p:sp>
        <p:nvSpPr>
          <p:cNvPr id="3129" name="文本框 3128" descr="{&quot;isTemplate&quot;:true,&quot;type&quot;:&quot;text&quot;}"/>
          <p:cNvSpPr txBox="1"/>
          <p:nvPr/>
        </p:nvSpPr>
        <p:spPr>
          <a:xfrm>
            <a:off x="609600" y="6410325"/>
            <a:ext cx="2219325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fountain · 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一站式服务器应用开发工具库</a:t>
            </a:r>
            <a:endParaRPr lang="zh-CN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130" name="文本框 3129" descr="{&quot;isTemplate&quot;:true,&quot;type&quot;:&quot;text&quot;}"/>
          <p:cNvSpPr txBox="1"/>
          <p:nvPr/>
        </p:nvSpPr>
        <p:spPr>
          <a:xfrm>
            <a:off x="11087100" y="6410325"/>
            <a:ext cx="495300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95 / 116</a:t>
            </a:r>
            <a:endParaRPr lang="en-US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13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2" name="矩形 313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220"/>
          </a:solidFill>
        </p:spPr>
        <p:txBody>
          <a:bodyPr/>
          <a:p/>
        </p:txBody>
      </p:sp>
      <p:sp>
        <p:nvSpPr>
          <p:cNvPr id="3133" name="矩形 3132"/>
          <p:cNvSpPr/>
          <p:nvPr/>
        </p:nvSpPr>
        <p:spPr>
          <a:xfrm>
            <a:off x="609600" y="476250"/>
            <a:ext cx="38100" cy="381000"/>
          </a:xfrm>
          <a:prstGeom prst="rect">
            <a:avLst/>
          </a:prstGeom>
          <a:solidFill>
            <a:srgbClr val="38BDF8"/>
          </a:solidFill>
        </p:spPr>
        <p:txBody>
          <a:bodyPr/>
          <a:p/>
        </p:txBody>
      </p:sp>
      <p:sp>
        <p:nvSpPr>
          <p:cNvPr id="3134" name="文本框 3133" descr="{&quot;isTemplate&quot;:true,&quot;type&quot;:&quot;text&quot;}"/>
          <p:cNvSpPr txBox="1"/>
          <p:nvPr/>
        </p:nvSpPr>
        <p:spPr>
          <a:xfrm>
            <a:off x="819150" y="304800"/>
            <a:ext cx="9477375" cy="2095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第</a:t>
            </a: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 15 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章</a:t>
            </a: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 · 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日志</a:t>
            </a: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 f_log · 15.3</a:t>
            </a:r>
            <a:endParaRPr lang="en-US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135" name="文本框 3134" descr="{&quot;isTemplate&quot;:true,&quot;type&quot;:&quot;text&quot;}"/>
          <p:cNvSpPr txBox="1"/>
          <p:nvPr/>
        </p:nvSpPr>
        <p:spPr>
          <a:xfrm>
            <a:off x="819150" y="514350"/>
            <a:ext cx="9477375" cy="5143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2550" b="1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配置项全表</a:t>
            </a:r>
            <a:endParaRPr lang="zh-CN" sz="2550" b="1">
              <a:solidFill>
                <a:srgbClr val="E2E8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136" name="文本框 3135" descr="{&quot;isTemplate&quot;:true,&quot;type&quot;:&quot;text&quot;}"/>
          <p:cNvSpPr txBox="1"/>
          <p:nvPr/>
        </p:nvSpPr>
        <p:spPr>
          <a:xfrm>
            <a:off x="10467975" y="590550"/>
            <a:ext cx="1114425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左边一列可以直接抄</a:t>
            </a:r>
            <a:endParaRPr lang="zh-CN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graphicFrame>
        <p:nvGraphicFramePr>
          <p:cNvPr id="3137" name="表格 3136"/>
          <p:cNvGraphicFramePr/>
          <p:nvPr/>
        </p:nvGraphicFramePr>
        <p:xfrm>
          <a:off x="609600" y="1143000"/>
          <a:ext cx="10972800" cy="4610100"/>
        </p:xfrm>
        <a:graphic>
          <a:graphicData uri="http://schemas.openxmlformats.org/drawingml/2006/table">
            <a:tbl>
              <a:tblPr/>
              <a:tblGrid>
                <a:gridCol w="3536716"/>
                <a:gridCol w="2733702"/>
                <a:gridCol w="4702382"/>
              </a:tblGrid>
              <a:tr h="258300"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00" b="1">
                          <a:solidFill>
                            <a:srgbClr val="22D3EE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配置项</a:t>
                      </a:r>
                      <a:endParaRPr sz="900" b="1">
                        <a:solidFill>
                          <a:srgbClr val="22D3EE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6233A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00" b="1">
                          <a:solidFill>
                            <a:srgbClr val="22D3EE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默认值</a:t>
                      </a:r>
                      <a:endParaRPr sz="900" b="1">
                        <a:solidFill>
                          <a:srgbClr val="22D3EE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6233A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00" b="1">
                          <a:solidFill>
                            <a:srgbClr val="22D3EE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说明</a:t>
                      </a:r>
                      <a:endParaRPr sz="900" b="1">
                        <a:solidFill>
                          <a:srgbClr val="22D3EE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6233A"/>
                    </a:solidFill>
                  </a:tcPr>
                </a:tc>
              </a:tr>
              <a:tr h="417398"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00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logger_appender_console / _file / _tcp / _udp / _unix / _unixDatagram</a:t>
                      </a:r>
                      <a:endParaRPr sz="900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00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无</a:t>
                      </a:r>
                      <a:endParaRPr sz="900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00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值 = 你起的 appender 名；逗号分隔可挂多个</a:t>
                      </a:r>
                      <a:endParaRPr sz="900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58300"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00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logger_appender_【Name】_level</a:t>
                      </a:r>
                      <a:endParaRPr sz="900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00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INFO</a:t>
                      </a:r>
                      <a:endParaRPr sz="900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00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OFF / ERROR / WARN / INFO / DEBUG / TRACE / ALL（无 FATAL）</a:t>
                      </a:r>
                      <a:endParaRPr sz="900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417398"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00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logger_appender_【Name】_pattern</a:t>
                      </a:r>
                      <a:endParaRPr sz="900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00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[%level-%name] %d{yyyy/MM/dd,HH:mm:ss.SSS}|%m</a:t>
                      </a:r>
                      <a:endParaRPr sz="900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00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见 15.4 占位符表</a:t>
                      </a:r>
                      <a:endParaRPr sz="900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58300"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00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logger_appender_【Name】_path</a:t>
                      </a:r>
                      <a:endParaRPr sz="900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00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${工作目录}/logs/${命令名}.log</a:t>
                      </a:r>
                      <a:endParaRPr sz="900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00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file 专用；目录自动创建</a:t>
                      </a:r>
                      <a:endParaRPr sz="900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58300"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00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logger_appender_【Name】_rotateDuration</a:t>
                      </a:r>
                      <a:endParaRPr sz="900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00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DAY</a:t>
                      </a:r>
                      <a:endParaRPr sz="900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00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file 专用；NANOSECOND…YEAR，别用亚秒级（见 15.6）</a:t>
                      </a:r>
                      <a:endParaRPr sz="900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58300"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00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logger_appender_【Name】_rotateSize</a:t>
                      </a:r>
                      <a:endParaRPr sz="900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00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Int64.Max</a:t>
                      </a:r>
                      <a:endParaRPr sz="900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00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file 专用；支持 100k / 100M / 1G</a:t>
                      </a:r>
                      <a:endParaRPr sz="900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58300"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00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logger_appender_【Name】_compressFormat</a:t>
                      </a:r>
                      <a:endParaRPr sz="900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00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''</a:t>
                      </a:r>
                      <a:endParaRPr sz="900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00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file 专用；Deflate / GZip，可带级别如 Deflate(9)</a:t>
                      </a:r>
                      <a:endParaRPr sz="900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417398"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00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logger_appender_【Name】_url</a:t>
                      </a:r>
                      <a:endParaRPr sz="900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00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无</a:t>
                      </a:r>
                      <a:endParaRPr sz="900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00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file 专用；file://【路径】?rotateSize=..&amp;rotateDuration=..&amp;compressFormat=..（url 参数优先）</a:t>
                      </a:r>
                      <a:endParaRPr sz="900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58300"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00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logger_appender_【Name】_host / _port</a:t>
                      </a:r>
                      <a:endParaRPr sz="900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00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无</a:t>
                      </a:r>
                      <a:endParaRPr sz="900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00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tcp / udp 专用</a:t>
                      </a:r>
                      <a:endParaRPr sz="900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58300"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00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logger_appender_【Name】_bufSize</a:t>
                      </a:r>
                      <a:endParaRPr sz="900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00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无</a:t>
                      </a:r>
                      <a:endParaRPr sz="900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00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tcp / unix 专用（发送缓冲字节数）</a:t>
                      </a:r>
                      <a:endParaRPr sz="900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58300"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00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logger_appender_【Name】_sendTimeout / _writeTimeout</a:t>
                      </a:r>
                      <a:endParaRPr sz="900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00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无</a:t>
                      </a:r>
                      <a:endParaRPr sz="900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00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udp / unix 专用（Duration 字符串）</a:t>
                      </a:r>
                      <a:endParaRPr sz="900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58300"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00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loggerAsyncBufsize</a:t>
                      </a:r>
                      <a:endParaRPr sz="900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00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1024</a:t>
                      </a:r>
                      <a:endParaRPr sz="900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00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异步队列容量，同时也是缓冲区池的大小</a:t>
                      </a:r>
                      <a:endParaRPr sz="900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58300"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00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loggerAsyncTimeout</a:t>
                      </a:r>
                      <a:endParaRPr sz="900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00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Duration.Max</a:t>
                      </a:r>
                      <a:endParaRPr sz="900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00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队列满时等待多久（超时后才轮到 policy 生效）</a:t>
                      </a:r>
                      <a:endParaRPr sz="900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58300"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00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loggerAsyncTimeoutPolicy</a:t>
                      </a:r>
                      <a:endParaRPr sz="900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00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discard</a:t>
                      </a:r>
                      <a:endParaRPr sz="900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00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discard 丢这条 / abort 抛 LogException / alwaysWaiting 死等</a:t>
                      </a:r>
                      <a:endParaRPr sz="900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58300"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00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logger_asyncWaitTimeout</a:t>
                      </a:r>
                      <a:endParaRPr sz="900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00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5ms</a:t>
                      </a:r>
                      <a:endParaRPr sz="900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00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借不到缓冲区时的等待时长；超时丢弃本条并打印 EmptyPool</a:t>
                      </a:r>
                      <a:endParaRPr sz="900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</a:tbl>
          </a:graphicData>
        </a:graphic>
      </p:graphicFrame>
      <p:sp>
        <p:nvSpPr>
          <p:cNvPr id="3138" name="任意多边形 3137"/>
          <p:cNvSpPr/>
          <p:nvPr/>
        </p:nvSpPr>
        <p:spPr>
          <a:xfrm>
            <a:off x="609600" y="6286500"/>
            <a:ext cx="10972800" cy="381000"/>
          </a:xfrm>
          <a:custGeom>
            <a:avLst/>
            <a:gdLst/>
            <a:ahLst/>
            <a:cxnLst/>
            <a:pathLst>
              <a:path w="1152" h="40">
                <a:moveTo>
                  <a:pt x="0" y="0"/>
                </a:moveTo>
                <a:lnTo>
                  <a:pt x="1152" y="0"/>
                </a:lnTo>
                <a:lnTo>
                  <a:pt x="1152" y="1"/>
                </a:lnTo>
                <a:lnTo>
                  <a:pt x="0" y="1"/>
                </a:lnTo>
                <a:close/>
              </a:path>
            </a:pathLst>
          </a:custGeom>
          <a:solidFill>
            <a:srgbClr val="1E293B"/>
          </a:solidFill>
        </p:spPr>
        <p:txBody>
          <a:bodyPr/>
          <a:p/>
        </p:txBody>
      </p:sp>
      <p:sp>
        <p:nvSpPr>
          <p:cNvPr id="3139" name="文本框 3138" descr="{&quot;isTemplate&quot;:true,&quot;type&quot;:&quot;text&quot;}"/>
          <p:cNvSpPr txBox="1"/>
          <p:nvPr/>
        </p:nvSpPr>
        <p:spPr>
          <a:xfrm>
            <a:off x="609600" y="6410325"/>
            <a:ext cx="2219325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fountain · 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一站式服务器应用开发工具库</a:t>
            </a:r>
            <a:endParaRPr lang="zh-CN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140" name="文本框 3139" descr="{&quot;isTemplate&quot;:true,&quot;type&quot;:&quot;text&quot;}"/>
          <p:cNvSpPr txBox="1"/>
          <p:nvPr/>
        </p:nvSpPr>
        <p:spPr>
          <a:xfrm>
            <a:off x="11087100" y="6410325"/>
            <a:ext cx="495300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96 / 116</a:t>
            </a:r>
            <a:endParaRPr lang="en-US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14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2" name="矩形 314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220"/>
          </a:solidFill>
        </p:spPr>
        <p:txBody>
          <a:bodyPr/>
          <a:p/>
        </p:txBody>
      </p:sp>
      <p:sp>
        <p:nvSpPr>
          <p:cNvPr id="3143" name="矩形 3142"/>
          <p:cNvSpPr/>
          <p:nvPr/>
        </p:nvSpPr>
        <p:spPr>
          <a:xfrm>
            <a:off x="609600" y="476250"/>
            <a:ext cx="38100" cy="381000"/>
          </a:xfrm>
          <a:prstGeom prst="rect">
            <a:avLst/>
          </a:prstGeom>
          <a:solidFill>
            <a:srgbClr val="38BDF8"/>
          </a:solidFill>
        </p:spPr>
        <p:txBody>
          <a:bodyPr/>
          <a:p/>
        </p:txBody>
      </p:sp>
      <p:sp>
        <p:nvSpPr>
          <p:cNvPr id="3144" name="文本框 3143" descr="{&quot;isTemplate&quot;:true,&quot;type&quot;:&quot;text&quot;}"/>
          <p:cNvSpPr txBox="1"/>
          <p:nvPr/>
        </p:nvSpPr>
        <p:spPr>
          <a:xfrm>
            <a:off x="819150" y="304800"/>
            <a:ext cx="9725025" cy="2095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第</a:t>
            </a: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 15 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章</a:t>
            </a: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 · 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日志</a:t>
            </a: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 f_log · 15.4</a:t>
            </a:r>
            <a:endParaRPr lang="en-US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145" name="文本框 3144" descr="{&quot;isTemplate&quot;:true,&quot;type&quot;:&quot;text&quot;}"/>
          <p:cNvSpPr txBox="1"/>
          <p:nvPr/>
        </p:nvSpPr>
        <p:spPr>
          <a:xfrm>
            <a:off x="819150" y="514350"/>
            <a:ext cx="9725025" cy="5143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2550" b="1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三种写法与占位符</a:t>
            </a:r>
            <a:endParaRPr lang="zh-CN" sz="2550" b="1">
              <a:solidFill>
                <a:srgbClr val="E2E8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146" name="文本框 3145" descr="{&quot;isTemplate&quot;:true,&quot;type&quot;:&quot;text&quot;}"/>
          <p:cNvSpPr txBox="1"/>
          <p:nvPr/>
        </p:nvSpPr>
        <p:spPr>
          <a:xfrm>
            <a:off x="10715625" y="590550"/>
            <a:ext cx="866775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其实就只有三种</a:t>
            </a:r>
            <a:endParaRPr lang="zh-CN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147" name="圆角矩形 3146"/>
          <p:cNvSpPr/>
          <p:nvPr/>
        </p:nvSpPr>
        <p:spPr>
          <a:xfrm>
            <a:off x="609600" y="1143000"/>
            <a:ext cx="5905500" cy="2628900"/>
          </a:xfrm>
          <a:prstGeom prst="roundRect">
            <a:avLst>
              <a:gd name="adj" fmla="val 4348"/>
            </a:avLst>
          </a:prstGeom>
          <a:solidFill>
            <a:srgbClr val="0B1220"/>
          </a:solidFill>
          <a:ln w="12700">
            <a:solidFill>
              <a:srgbClr val="38BDF8"/>
            </a:solidFill>
            <a:prstDash val="solid"/>
          </a:ln>
        </p:spPr>
        <p:txBody>
          <a:bodyPr/>
          <a:p/>
        </p:txBody>
      </p:sp>
      <p:sp>
        <p:nvSpPr>
          <p:cNvPr id="3148" name="文本框 3147" descr="{&quot;isTemplate&quot;:true,&quot;type&quot;:&quot;text&quot;}"/>
          <p:cNvSpPr txBox="1"/>
          <p:nvPr/>
        </p:nvSpPr>
        <p:spPr>
          <a:xfrm>
            <a:off x="781050" y="1314450"/>
            <a:ext cx="5562600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38BDF8"/>
                </a:solidFill>
                <a:latin typeface="微软雅黑" panose="020B0503020204020204" charset="-122"/>
                <a:ea typeface="微软雅黑" panose="020B0503020204020204" charset="-122"/>
              </a:rPr>
              <a:t>三种写法</a:t>
            </a:r>
            <a:endParaRPr lang="zh-CN" sz="975">
              <a:solidFill>
                <a:srgbClr val="38BDF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149" name="文本框 3148" descr="{&quot;isTemplate&quot;:true,&quot;type&quot;:&quot;text&quot;}"/>
          <p:cNvSpPr txBox="1"/>
          <p:nvPr/>
        </p:nvSpPr>
        <p:spPr>
          <a:xfrm>
            <a:off x="781050" y="1524000"/>
            <a:ext cx="5562600" cy="457200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65000"/>
              </a:lnSpc>
            </a:pPr>
            <a:r>
              <a:rPr lang="en-US" sz="900">
                <a:solidFill>
                  <a:srgbClr val="E2E8F0"/>
                </a:solidFill>
                <a:latin typeface="JetBrains Mono"/>
                <a:ea typeface="JetBrains Mono"/>
              </a:rPr>
              <a:t>private static let log = LoggerFactory.getLogger&lt;UserServiceImpl&gt;()   // </a:t>
            </a:r>
            <a:r>
              <a:rPr lang="zh-CN" sz="900">
                <a:solidFill>
                  <a:srgbClr val="E2E8F0"/>
                </a:solidFill>
                <a:latin typeface="JetBrains Mono"/>
                <a:ea typeface="JetBrains Mono"/>
              </a:rPr>
              <a:t>名字</a:t>
            </a:r>
            <a:r>
              <a:rPr lang="en-US" sz="900">
                <a:solidFill>
                  <a:srgbClr val="E2E8F0"/>
                </a:solidFill>
                <a:latin typeface="JetBrains Mono"/>
                <a:ea typeface="JetBrains Mono"/>
              </a:rPr>
              <a:t> = </a:t>
            </a:r>
            <a:r>
              <a:rPr lang="zh-CN" sz="900">
                <a:solidFill>
                  <a:srgbClr val="E2E8F0"/>
                </a:solidFill>
                <a:latin typeface="JetBrains Mono"/>
                <a:ea typeface="JetBrains Mono"/>
              </a:rPr>
              <a:t>完整限定名</a:t>
            </a:r>
            <a:endParaRPr lang="zh-CN" sz="900">
              <a:solidFill>
                <a:srgbClr val="E2E8F0"/>
              </a:solidFill>
              <a:latin typeface="JetBrains Mono"/>
              <a:ea typeface="JetBrains Mono"/>
            </a:endParaRPr>
          </a:p>
        </p:txBody>
      </p:sp>
      <p:sp>
        <p:nvSpPr>
          <p:cNvPr id="3150" name="文本框 3149" descr="{&quot;isTemplate&quot;:true,&quot;type&quot;:&quot;text&quot;}"/>
          <p:cNvSpPr txBox="1"/>
          <p:nvPr/>
        </p:nvSpPr>
        <p:spPr>
          <a:xfrm>
            <a:off x="781050" y="1981200"/>
            <a:ext cx="5562600" cy="457200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65000"/>
              </a:lnSpc>
            </a:pPr>
            <a:r>
              <a:rPr lang="en-US" sz="900">
                <a:solidFill>
                  <a:srgbClr val="94A3B8"/>
                </a:solidFill>
                <a:latin typeface="JetBrains Mono"/>
                <a:ea typeface="JetBrains Mono"/>
              </a:rPr>
              <a:t>LoggerFactory.getLogger('my.business')                           // </a:t>
            </a:r>
            <a:r>
              <a:rPr lang="zh-CN" sz="900">
                <a:solidFill>
                  <a:srgbClr val="94A3B8"/>
                </a:solidFill>
                <a:latin typeface="JetBrains Mono"/>
                <a:ea typeface="JetBrains Mono"/>
              </a:rPr>
              <a:t>名字</a:t>
            </a:r>
            <a:r>
              <a:rPr lang="en-US" sz="900">
                <a:solidFill>
                  <a:srgbClr val="94A3B8"/>
                </a:solidFill>
                <a:latin typeface="JetBrains Mono"/>
                <a:ea typeface="JetBrains Mono"/>
              </a:rPr>
              <a:t> = </a:t>
            </a:r>
            <a:r>
              <a:rPr lang="zh-CN" sz="900">
                <a:solidFill>
                  <a:srgbClr val="94A3B8"/>
                </a:solidFill>
                <a:latin typeface="JetBrains Mono"/>
                <a:ea typeface="JetBrains Mono"/>
              </a:rPr>
              <a:t>你写的字面量</a:t>
            </a:r>
            <a:endParaRPr lang="zh-CN" sz="900">
              <a:solidFill>
                <a:srgbClr val="94A3B8"/>
              </a:solidFill>
              <a:latin typeface="JetBrains Mono"/>
              <a:ea typeface="JetBrains Mono"/>
            </a:endParaRPr>
          </a:p>
        </p:txBody>
      </p:sp>
      <p:sp>
        <p:nvSpPr>
          <p:cNvPr id="3151" name="文本框 3150" descr="{&quot;isTemplate&quot;:true,&quot;type&quot;:&quot;text&quot;}"/>
          <p:cNvSpPr txBox="1"/>
          <p:nvPr/>
        </p:nvSpPr>
        <p:spPr>
          <a:xfrm>
            <a:off x="781050" y="2514600"/>
            <a:ext cx="5562600" cy="2286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65000"/>
              </a:lnSpc>
            </a:pPr>
            <a:r>
              <a:rPr lang="en-US" sz="900">
                <a:solidFill>
                  <a:srgbClr val="38BDF8"/>
                </a:solidFill>
                <a:latin typeface="JetBrains Mono"/>
                <a:ea typeface="JetBrains Mono"/>
              </a:rPr>
              <a:t>log.info{'start create user: ${name}'}      // ① </a:t>
            </a:r>
            <a:r>
              <a:rPr lang="zh-CN" sz="900">
                <a:solidFill>
                  <a:srgbClr val="38BDF8"/>
                </a:solidFill>
                <a:latin typeface="JetBrains Mono"/>
                <a:ea typeface="JetBrains Mono"/>
              </a:rPr>
              <a:t>惰性</a:t>
            </a:r>
            <a:r>
              <a:rPr lang="en-US" sz="900">
                <a:solidFill>
                  <a:srgbClr val="38BDF8"/>
                </a:solidFill>
                <a:latin typeface="JetBrains Mono"/>
                <a:ea typeface="JetBrains Mono"/>
              </a:rPr>
              <a:t> lambda</a:t>
            </a:r>
            <a:r>
              <a:rPr lang="zh-CN" sz="900">
                <a:solidFill>
                  <a:srgbClr val="38BDF8"/>
                </a:solidFill>
                <a:latin typeface="JetBrains Mono"/>
                <a:ea typeface="JetBrains Mono"/>
              </a:rPr>
              <a:t>（推荐）：级别不够不求值</a:t>
            </a:r>
            <a:endParaRPr lang="zh-CN" sz="900">
              <a:solidFill>
                <a:srgbClr val="38BDF8"/>
              </a:solidFill>
              <a:latin typeface="JetBrains Mono"/>
              <a:ea typeface="JetBrains Mono"/>
            </a:endParaRPr>
          </a:p>
        </p:txBody>
      </p:sp>
      <p:sp>
        <p:nvSpPr>
          <p:cNvPr id="3152" name="文本框 3151" descr="{&quot;isTemplate&quot;:true,&quot;type&quot;:&quot;text&quot;}"/>
          <p:cNvSpPr txBox="1"/>
          <p:nvPr/>
        </p:nvSpPr>
        <p:spPr>
          <a:xfrm>
            <a:off x="781050" y="2743200"/>
            <a:ext cx="5562600" cy="2286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65000"/>
              </a:lnSpc>
            </a:pPr>
            <a:r>
              <a:rPr lang="en-US" sz="900">
                <a:solidFill>
                  <a:srgbClr val="64748B"/>
                </a:solidFill>
                <a:latin typeface="JetBrains Mono"/>
                <a:ea typeface="JetBrains Mono"/>
              </a:rPr>
              <a:t>log.debug('args = ' + expensive())          // </a:t>
            </a:r>
            <a:r>
              <a:rPr lang="zh-CN" sz="900">
                <a:solidFill>
                  <a:srgbClr val="64748B"/>
                </a:solidFill>
                <a:latin typeface="JetBrains Mono"/>
                <a:ea typeface="JetBrains Mono"/>
              </a:rPr>
              <a:t>反例：拼字符串的成本跑不掉</a:t>
            </a:r>
            <a:endParaRPr lang="zh-CN" sz="900">
              <a:solidFill>
                <a:srgbClr val="64748B"/>
              </a:solidFill>
              <a:latin typeface="JetBrains Mono"/>
              <a:ea typeface="JetBrains Mono"/>
            </a:endParaRPr>
          </a:p>
        </p:txBody>
      </p:sp>
      <p:sp>
        <p:nvSpPr>
          <p:cNvPr id="3153" name="文本框 3152" descr="{&quot;isTemplate&quot;:true,&quot;type&quot;:&quot;text&quot;}"/>
          <p:cNvSpPr txBox="1"/>
          <p:nvPr/>
        </p:nvSpPr>
        <p:spPr>
          <a:xfrm>
            <a:off x="781050" y="3048000"/>
            <a:ext cx="5562600" cy="2286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65000"/>
              </a:lnSpc>
            </a:pPr>
            <a:r>
              <a:rPr lang="en-US" sz="900">
                <a:solidFill>
                  <a:srgbClr val="38BDF8"/>
                </a:solidFill>
                <a:latin typeface="JetBrains Mono"/>
                <a:ea typeface="JetBrains Mono"/>
              </a:rPr>
              <a:t>log.info('user {} login from {}', [name, ip])   // ② </a:t>
            </a:r>
            <a:r>
              <a:rPr lang="zh-CN" sz="900">
                <a:solidFill>
                  <a:srgbClr val="38BDF8"/>
                </a:solidFill>
                <a:latin typeface="JetBrains Mono"/>
                <a:ea typeface="JetBrains Mono"/>
              </a:rPr>
              <a:t>位置占位</a:t>
            </a:r>
            <a:endParaRPr lang="zh-CN" sz="900">
              <a:solidFill>
                <a:srgbClr val="38BDF8"/>
              </a:solidFill>
              <a:latin typeface="JetBrains Mono"/>
              <a:ea typeface="JetBrains Mono"/>
            </a:endParaRPr>
          </a:p>
        </p:txBody>
      </p:sp>
      <p:sp>
        <p:nvSpPr>
          <p:cNvPr id="3154" name="文本框 3153" descr="{&quot;isTemplate&quot;:true,&quot;type&quot;:&quot;text&quot;}"/>
          <p:cNvSpPr txBox="1"/>
          <p:nvPr/>
        </p:nvSpPr>
        <p:spPr>
          <a:xfrm>
            <a:off x="781050" y="3276600"/>
            <a:ext cx="5562600" cy="457200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65000"/>
              </a:lnSpc>
            </a:pPr>
            <a:r>
              <a:rPr lang="en-US" sz="900">
                <a:solidFill>
                  <a:srgbClr val="38BDF8"/>
                </a:solidFill>
                <a:latin typeface="JetBrains Mono"/>
                <a:ea typeface="JetBrains Mono"/>
              </a:rPr>
              <a:t>log.info('user {name} is {age}', user)         // ② </a:t>
            </a:r>
            <a:r>
              <a:rPr lang="zh-CN" sz="900">
                <a:solidFill>
                  <a:srgbClr val="38BDF8"/>
                </a:solidFill>
                <a:latin typeface="JetBrains Mono"/>
                <a:ea typeface="JetBrains Mono"/>
              </a:rPr>
              <a:t>具名占位（</a:t>
            </a:r>
            <a:r>
              <a:rPr lang="en-US" sz="900">
                <a:solidFill>
                  <a:srgbClr val="38BDF8"/>
                </a:solidFill>
                <a:latin typeface="JetBrains Mono"/>
                <a:ea typeface="JetBrains Mono"/>
              </a:rPr>
              <a:t>@DataAssist </a:t>
            </a:r>
            <a:r>
              <a:rPr lang="zh-CN" sz="900">
                <a:solidFill>
                  <a:srgbClr val="38BDF8"/>
                </a:solidFill>
                <a:latin typeface="JetBrains Mono"/>
                <a:ea typeface="JetBrains Mono"/>
              </a:rPr>
              <a:t>对象</a:t>
            </a:r>
            <a:r>
              <a:rPr lang="en-US" sz="900">
                <a:solidFill>
                  <a:srgbClr val="38BDF8"/>
                </a:solidFill>
                <a:latin typeface="JetBrains Mono"/>
                <a:ea typeface="JetBrains Mono"/>
              </a:rPr>
              <a:t> / Map</a:t>
            </a:r>
            <a:r>
              <a:rPr lang="zh-CN" sz="900">
                <a:solidFill>
                  <a:srgbClr val="38BDF8"/>
                </a:solidFill>
                <a:latin typeface="JetBrains Mono"/>
                <a:ea typeface="JetBrains Mono"/>
              </a:rPr>
              <a:t>）</a:t>
            </a:r>
            <a:endParaRPr lang="zh-CN" sz="900">
              <a:solidFill>
                <a:srgbClr val="38BDF8"/>
              </a:solidFill>
              <a:latin typeface="JetBrains Mono"/>
              <a:ea typeface="JetBrains Mono"/>
            </a:endParaRPr>
          </a:p>
        </p:txBody>
      </p:sp>
      <p:sp>
        <p:nvSpPr>
          <p:cNvPr id="3155" name="文本框 3154" descr="{&quot;isTemplate&quot;:true,&quot;type&quot;:&quot;text&quot;}"/>
          <p:cNvSpPr txBox="1"/>
          <p:nvPr/>
        </p:nvSpPr>
        <p:spPr>
          <a:xfrm>
            <a:off x="781050" y="3810000"/>
            <a:ext cx="5562600" cy="2286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65000"/>
              </a:lnSpc>
            </a:pPr>
            <a:r>
              <a:rPr lang="en-US" sz="900">
                <a:solidFill>
                  <a:srgbClr val="F59E0B"/>
                </a:solidFill>
                <a:latin typeface="JetBrains Mono"/>
                <a:ea typeface="JetBrains Mono"/>
              </a:rPr>
              <a:t>log.error(e){'query user failed: ${id}'}     // ③ </a:t>
            </a:r>
            <a:r>
              <a:rPr lang="zh-CN" sz="900">
                <a:solidFill>
                  <a:srgbClr val="F59E0B"/>
                </a:solidFill>
                <a:latin typeface="JetBrains Mono"/>
                <a:ea typeface="JetBrains Mono"/>
              </a:rPr>
              <a:t>异常（栈会一起写出去）</a:t>
            </a:r>
            <a:endParaRPr lang="zh-CN" sz="900">
              <a:solidFill>
                <a:srgbClr val="F59E0B"/>
              </a:solidFill>
              <a:latin typeface="JetBrains Mono"/>
              <a:ea typeface="JetBrains Mono"/>
            </a:endParaRPr>
          </a:p>
        </p:txBody>
      </p:sp>
      <p:sp>
        <p:nvSpPr>
          <p:cNvPr id="3156" name="文本框 3155" descr="{&quot;isTemplate&quot;:true,&quot;type&quot;:&quot;text&quot;}"/>
          <p:cNvSpPr txBox="1"/>
          <p:nvPr/>
        </p:nvSpPr>
        <p:spPr>
          <a:xfrm>
            <a:off x="781050" y="4038600"/>
            <a:ext cx="5562600" cy="2286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65000"/>
              </a:lnSpc>
            </a:pPr>
            <a:r>
              <a:rPr lang="en-US" sz="900">
                <a:solidFill>
                  <a:srgbClr val="F59E0B"/>
                </a:solidFill>
                <a:latin typeface="JetBrains Mono"/>
                <a:ea typeface="JetBrains Mono"/>
              </a:rPr>
              <a:t>log.error('query user failed', e)</a:t>
            </a:r>
            <a:endParaRPr lang="en-US" sz="900">
              <a:solidFill>
                <a:srgbClr val="F59E0B"/>
              </a:solidFill>
              <a:latin typeface="JetBrains Mono"/>
              <a:ea typeface="JetBrains Mono"/>
            </a:endParaRPr>
          </a:p>
        </p:txBody>
      </p:sp>
      <p:sp>
        <p:nvSpPr>
          <p:cNvPr id="3157" name="圆角矩形 3156"/>
          <p:cNvSpPr/>
          <p:nvPr/>
        </p:nvSpPr>
        <p:spPr>
          <a:xfrm>
            <a:off x="609600" y="3886200"/>
            <a:ext cx="5905500" cy="2400300"/>
          </a:xfrm>
          <a:prstGeom prst="roundRect">
            <a:avLst>
              <a:gd name="adj" fmla="val 4762"/>
            </a:avLst>
          </a:prstGeom>
          <a:solidFill>
            <a:srgbClr val="111C2E"/>
          </a:solidFill>
          <a:ln w="12700">
            <a:solidFill>
              <a:srgbClr val="1E293B"/>
            </a:solidFill>
            <a:prstDash val="solid"/>
          </a:ln>
        </p:spPr>
        <p:txBody>
          <a:bodyPr/>
          <a:p/>
        </p:txBody>
      </p:sp>
      <p:sp>
        <p:nvSpPr>
          <p:cNvPr id="3158" name="文本框 3157" descr="{&quot;isTemplate&quot;:true,&quot;type&quot;:&quot;text&quot;}"/>
          <p:cNvSpPr txBox="1"/>
          <p:nvPr/>
        </p:nvSpPr>
        <p:spPr>
          <a:xfrm>
            <a:off x="781050" y="4057650"/>
            <a:ext cx="5562600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该用哪个级别</a:t>
            </a:r>
            <a:endParaRPr lang="zh-CN" sz="1050" b="1">
              <a:solidFill>
                <a:srgbClr val="E2E8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159" name="文本框 3158" descr="{&quot;isTemplate&quot;:true,&quot;type&quot;:&quot;text&quot;}"/>
          <p:cNvSpPr txBox="1"/>
          <p:nvPr/>
        </p:nvSpPr>
        <p:spPr>
          <a:xfrm>
            <a:off x="781050" y="4295775"/>
            <a:ext cx="5562600" cy="485775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75000"/>
              </a:lnSpc>
            </a:pPr>
            <a:r>
              <a:rPr lang="en-US" sz="90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trace </a:t>
            </a:r>
            <a:r>
              <a:rPr lang="zh-CN" sz="90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只在本地调疑难杂症时开　·　</a:t>
            </a:r>
            <a:r>
              <a:rPr lang="en-US" sz="90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debug </a:t>
            </a:r>
            <a:r>
              <a:rPr lang="zh-CN" sz="90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框架自己的</a:t>
            </a:r>
            <a:r>
              <a:rPr lang="en-US" sz="90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SQL </a:t>
            </a:r>
            <a:r>
              <a:rPr lang="zh-CN" sz="90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与</a:t>
            </a:r>
            <a:r>
              <a:rPr lang="en-US" sz="90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MVC.accessLog</a:t>
            </a:r>
            <a:r>
              <a:rPr lang="zh-CN" sz="90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　·　</a:t>
            </a:r>
            <a:r>
              <a:rPr lang="en-US" sz="90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info </a:t>
            </a:r>
            <a:r>
              <a:rPr lang="zh-CN" sz="90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业务关键节点（注册、下单、状态变更）</a:t>
            </a:r>
            <a:endParaRPr lang="zh-CN" sz="900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160" name="文本框 3159" descr="{&quot;isTemplate&quot;:true,&quot;type&quot;:&quot;text&quot;}"/>
          <p:cNvSpPr txBox="1"/>
          <p:nvPr/>
        </p:nvSpPr>
        <p:spPr>
          <a:xfrm>
            <a:off x="781050" y="4838700"/>
            <a:ext cx="5562600" cy="485775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75000"/>
              </a:lnSpc>
            </a:pPr>
            <a:r>
              <a:rPr lang="en-US" sz="90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warn </a:t>
            </a:r>
            <a:r>
              <a:rPr lang="zh-CN" sz="90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可恢复的异常（重试、降级、参数被纠正）　·　</a:t>
            </a:r>
            <a:r>
              <a:rPr lang="en-US" sz="90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error </a:t>
            </a:r>
            <a:r>
              <a:rPr lang="zh-CN" sz="90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请求失败、依赖不可用（一定要带异常对象）　·　</a:t>
            </a:r>
            <a:r>
              <a:rPr lang="en-US" sz="90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fatal </a:t>
            </a:r>
            <a:r>
              <a:rPr lang="zh-CN" sz="90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进程级不可继续</a:t>
            </a:r>
            <a:endParaRPr lang="zh-CN" sz="900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161" name="文本框 3160" descr="{&quot;isTemplate&quot;:true,&quot;type&quot;:&quot;text&quot;}"/>
          <p:cNvSpPr txBox="1"/>
          <p:nvPr/>
        </p:nvSpPr>
        <p:spPr>
          <a:xfrm>
            <a:off x="781050" y="5629275"/>
            <a:ext cx="5562600" cy="485775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75000"/>
              </a:lnSpc>
            </a:pPr>
            <a:r>
              <a:rPr lang="zh-CN" sz="900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六个</a:t>
            </a:r>
            <a:r>
              <a:rPr lang="en-US" sz="900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 enabled </a:t>
            </a:r>
            <a:r>
              <a:rPr lang="zh-CN" sz="900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属性（</a:t>
            </a:r>
            <a:r>
              <a:rPr lang="en-US" sz="900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debugEnabled / infoEnabled…</a:t>
            </a:r>
            <a:r>
              <a:rPr lang="zh-CN" sz="900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）是给极端热路径做前置判断用的</a:t>
            </a:r>
            <a:r>
              <a:rPr lang="en-US" sz="900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 —— </a:t>
            </a:r>
            <a:r>
              <a:rPr lang="zh-CN" sz="900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在被调用次数极高的循环里能省掉那次入队。</a:t>
            </a:r>
            <a:endParaRPr lang="zh-CN" sz="900">
              <a:solidFill>
                <a:srgbClr val="F59E0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162" name="圆角矩形 3161"/>
          <p:cNvSpPr/>
          <p:nvPr/>
        </p:nvSpPr>
        <p:spPr>
          <a:xfrm>
            <a:off x="6705600" y="1143000"/>
            <a:ext cx="4876800" cy="5143500"/>
          </a:xfrm>
          <a:prstGeom prst="roundRect">
            <a:avLst>
              <a:gd name="adj" fmla="val 2344"/>
            </a:avLst>
          </a:prstGeom>
          <a:solidFill>
            <a:srgbClr val="111C2E"/>
          </a:solidFill>
          <a:ln w="12700">
            <a:solidFill>
              <a:srgbClr val="1E293B"/>
            </a:solidFill>
            <a:prstDash val="solid"/>
          </a:ln>
        </p:spPr>
        <p:txBody>
          <a:bodyPr/>
          <a:p/>
        </p:txBody>
      </p:sp>
      <p:sp>
        <p:nvSpPr>
          <p:cNvPr id="3163" name="文本框 3162" descr="{&quot;isTemplate&quot;:true,&quot;type&quot;:&quot;text&quot;}"/>
          <p:cNvSpPr txBox="1"/>
          <p:nvPr/>
        </p:nvSpPr>
        <p:spPr>
          <a:xfrm>
            <a:off x="6877050" y="1314450"/>
            <a:ext cx="4533900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占位符全表（</a:t>
            </a:r>
            <a:r>
              <a:rPr lang="en-US" sz="1050" b="1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pattern </a:t>
            </a:r>
            <a:r>
              <a:rPr lang="zh-CN" sz="1050" b="1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里能写什么）</a:t>
            </a:r>
            <a:endParaRPr lang="zh-CN" sz="1050" b="1">
              <a:solidFill>
                <a:srgbClr val="E2E8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164" name="文本框 3163" descr="{&quot;isTemplate&quot;:true,&quot;type&quot;:&quot;text&quot;}"/>
          <p:cNvSpPr txBox="1"/>
          <p:nvPr/>
        </p:nvSpPr>
        <p:spPr>
          <a:xfrm>
            <a:off x="6877050" y="1571625"/>
            <a:ext cx="4533900" cy="2381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en-US" sz="90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%level</a:t>
            </a:r>
            <a:r>
              <a:rPr lang="zh-CN" sz="90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　</a:t>
            </a:r>
            <a:r>
              <a:rPr lang="en-US" sz="90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DEBUG / INFO / WARN / ERROR / FATAL / TRACE</a:t>
            </a:r>
            <a:r>
              <a:rPr lang="zh-CN" sz="90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（纯文本，无颜色）</a:t>
            </a:r>
            <a:endParaRPr lang="zh-CN" sz="900">
              <a:solidFill>
                <a:srgbClr val="E2E8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165" name="文本框 3164" descr="{&quot;isTemplate&quot;:true,&quot;type&quot;:&quot;text&quot;}"/>
          <p:cNvSpPr txBox="1"/>
          <p:nvPr/>
        </p:nvSpPr>
        <p:spPr>
          <a:xfrm>
            <a:off x="6877050" y="1857375"/>
            <a:ext cx="4533900" cy="2381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en-US" sz="90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%name</a:t>
            </a:r>
            <a:r>
              <a:rPr lang="zh-CN" sz="90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　</a:t>
            </a:r>
            <a:r>
              <a:rPr lang="en-US" sz="90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logger </a:t>
            </a:r>
            <a:r>
              <a:rPr lang="zh-CN" sz="90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名字</a:t>
            </a:r>
            <a:r>
              <a:rPr lang="en-US" sz="90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 —— getLogger </a:t>
            </a:r>
            <a:r>
              <a:rPr lang="zh-CN" sz="90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泛型时是完整限定名，排查问题的第一线索</a:t>
            </a:r>
            <a:endParaRPr lang="zh-CN" sz="900">
              <a:solidFill>
                <a:srgbClr val="E2E8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166" name="文本框 3165" descr="{&quot;isTemplate&quot;:true,&quot;type&quot;:&quot;text&quot;}"/>
          <p:cNvSpPr txBox="1"/>
          <p:nvPr/>
        </p:nvSpPr>
        <p:spPr>
          <a:xfrm>
            <a:off x="6877050" y="2143125"/>
            <a:ext cx="4533900" cy="2381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en-US" sz="90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%m</a:t>
            </a:r>
            <a:r>
              <a:rPr lang="zh-CN" sz="90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　消息正文（若带了</a:t>
            </a:r>
            <a:r>
              <a:rPr lang="en-US" sz="90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 attrs</a:t>
            </a:r>
            <a:r>
              <a:rPr lang="zh-CN" sz="90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，会以</a:t>
            </a:r>
            <a:r>
              <a:rPr lang="en-US" sz="90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 ;</a:t>
            </a:r>
            <a:r>
              <a:rPr lang="en-US" sz="90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{</a:t>
            </a:r>
            <a:r>
              <a:rPr lang="en-US" sz="90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k:v</a:t>
            </a:r>
            <a:r>
              <a:rPr lang="en-US" sz="90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}</a:t>
            </a:r>
            <a:r>
              <a:rPr lang="en-US" sz="90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 </a:t>
            </a:r>
            <a:r>
              <a:rPr lang="zh-CN" sz="90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追加在消息后面）</a:t>
            </a:r>
            <a:endParaRPr lang="zh-CN" sz="900">
              <a:solidFill>
                <a:srgbClr val="E2E8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167" name="文本框 3166" descr="{&quot;isTemplate&quot;:true,&quot;type&quot;:&quot;text&quot;}"/>
          <p:cNvSpPr txBox="1"/>
          <p:nvPr/>
        </p:nvSpPr>
        <p:spPr>
          <a:xfrm>
            <a:off x="6877050" y="2428875"/>
            <a:ext cx="4533900" cy="2381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en-US" sz="90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%d </a:t>
            </a:r>
            <a:r>
              <a:rPr lang="zh-CN" sz="90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加大括号写时间格式　时间（不带参数时默认</a:t>
            </a:r>
            <a:r>
              <a:rPr lang="en-US" sz="90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 yyyy-MM-dd,HH:mm:ss.SSS</a:t>
            </a:r>
            <a:r>
              <a:rPr lang="zh-CN" sz="90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）</a:t>
            </a:r>
            <a:endParaRPr lang="zh-CN" sz="900">
              <a:solidFill>
                <a:srgbClr val="E2E8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168" name="文本框 3167" descr="{&quot;isTemplate&quot;:true,&quot;type&quot;:&quot;text&quot;}"/>
          <p:cNvSpPr txBox="1"/>
          <p:nvPr/>
        </p:nvSpPr>
        <p:spPr>
          <a:xfrm>
            <a:off x="6877050" y="2714625"/>
            <a:ext cx="4533900" cy="2381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en-US" sz="900">
                <a:solidFill>
                  <a:srgbClr val="38BDF8"/>
                </a:solidFill>
                <a:latin typeface="微软雅黑" panose="020B0503020204020204" charset="-122"/>
                <a:ea typeface="微软雅黑" panose="020B0503020204020204" charset="-122"/>
              </a:rPr>
              <a:t>%tid</a:t>
            </a:r>
            <a:r>
              <a:rPr lang="zh-CN" sz="900">
                <a:solidFill>
                  <a:srgbClr val="38BDF8"/>
                </a:solidFill>
                <a:latin typeface="微软雅黑" panose="020B0503020204020204" charset="-122"/>
                <a:ea typeface="微软雅黑" panose="020B0503020204020204" charset="-122"/>
              </a:rPr>
              <a:t>　线程</a:t>
            </a:r>
            <a:r>
              <a:rPr lang="en-US" sz="900">
                <a:solidFill>
                  <a:srgbClr val="38BDF8"/>
                </a:solidFill>
                <a:latin typeface="微软雅黑" panose="020B0503020204020204" charset="-122"/>
                <a:ea typeface="微软雅黑" panose="020B0503020204020204" charset="-122"/>
              </a:rPr>
              <a:t> ID —— </a:t>
            </a:r>
            <a:r>
              <a:rPr lang="zh-CN" sz="900">
                <a:solidFill>
                  <a:srgbClr val="38BDF8"/>
                </a:solidFill>
                <a:latin typeface="微软雅黑" panose="020B0503020204020204" charset="-122"/>
                <a:ea typeface="微软雅黑" panose="020B0503020204020204" charset="-122"/>
              </a:rPr>
              <a:t>在调用点采集（记录日志的那个线程）</a:t>
            </a:r>
            <a:endParaRPr lang="zh-CN" sz="900">
              <a:solidFill>
                <a:srgbClr val="38BDF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169" name="文本框 3168" descr="{&quot;isTemplate&quot;:true,&quot;type&quot;:&quot;text&quot;}"/>
          <p:cNvSpPr txBox="1"/>
          <p:nvPr/>
        </p:nvSpPr>
        <p:spPr>
          <a:xfrm>
            <a:off x="6877050" y="3000375"/>
            <a:ext cx="4533900" cy="2381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en-US" sz="900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%tname</a:t>
            </a:r>
            <a:r>
              <a:rPr lang="zh-CN" sz="900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　线程名</a:t>
            </a:r>
            <a:r>
              <a:rPr lang="en-US" sz="900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 —— </a:t>
            </a:r>
            <a:r>
              <a:rPr lang="zh-CN" sz="900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在写出时采集（消费线程）；排查问题请用</a:t>
            </a:r>
            <a:r>
              <a:rPr lang="en-US" sz="900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 %tid</a:t>
            </a:r>
            <a:endParaRPr lang="en-US" sz="900">
              <a:solidFill>
                <a:srgbClr val="F59E0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170" name="文本框 3169" descr="{&quot;isTemplate&quot;:true,&quot;type&quot;:&quot;text&quot;}"/>
          <p:cNvSpPr txBox="1"/>
          <p:nvPr/>
        </p:nvSpPr>
        <p:spPr>
          <a:xfrm>
            <a:off x="6877050" y="3286125"/>
            <a:ext cx="4533900" cy="2381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en-US" sz="90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%pid</a:t>
            </a:r>
            <a:r>
              <a:rPr lang="zh-CN" sz="90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　进程</a:t>
            </a:r>
            <a:r>
              <a:rPr lang="en-US" sz="90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 ID</a:t>
            </a:r>
            <a:r>
              <a:rPr lang="zh-CN" sz="90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（多副本部署时用来对号）</a:t>
            </a:r>
            <a:endParaRPr lang="zh-CN" sz="900">
              <a:solidFill>
                <a:srgbClr val="E2E8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171" name="文本框 3170" descr="{&quot;isTemplate&quot;:true,&quot;type&quot;:&quot;text&quot;}"/>
          <p:cNvSpPr txBox="1"/>
          <p:nvPr/>
        </p:nvSpPr>
        <p:spPr>
          <a:xfrm>
            <a:off x="6877050" y="3571875"/>
            <a:ext cx="4533900" cy="466725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en-US" sz="90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%app / %appver</a:t>
            </a:r>
            <a:r>
              <a:rPr lang="zh-CN" sz="90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　应用名</a:t>
            </a:r>
            <a:r>
              <a:rPr lang="en-US" sz="90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 / </a:t>
            </a:r>
            <a:r>
              <a:rPr lang="zh-CN" sz="90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应用版本（来自应用自己的</a:t>
            </a:r>
            <a:r>
              <a:rPr lang="en-US" sz="90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 cjpm.toml</a:t>
            </a:r>
            <a:r>
              <a:rPr lang="zh-CN" sz="90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，由</a:t>
            </a:r>
            <a:r>
              <a:rPr lang="en-US" sz="90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 fboot build </a:t>
            </a:r>
            <a:r>
              <a:rPr lang="zh-CN" sz="90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注入）</a:t>
            </a:r>
            <a:endParaRPr lang="zh-CN" sz="900">
              <a:solidFill>
                <a:srgbClr val="E2E8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172" name="文本框 3171" descr="{&quot;isTemplate&quot;:true,&quot;type&quot;:&quot;text&quot;}"/>
          <p:cNvSpPr txBox="1"/>
          <p:nvPr/>
        </p:nvSpPr>
        <p:spPr>
          <a:xfrm>
            <a:off x="6877050" y="4086225"/>
            <a:ext cx="4533900" cy="2381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en-US" sz="90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%fver</a:t>
            </a:r>
            <a:r>
              <a:rPr lang="zh-CN" sz="90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　</a:t>
            </a:r>
            <a:r>
              <a:rPr lang="en-US" sz="90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fountain(1.3.7) </a:t>
            </a:r>
            <a:r>
              <a:rPr lang="zh-CN" sz="90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框架版本</a:t>
            </a:r>
            <a:endParaRPr lang="zh-CN" sz="900">
              <a:solidFill>
                <a:srgbClr val="E2E8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173" name="文本框 3172" descr="{&quot;isTemplate&quot;:true,&quot;type&quot;:&quot;text&quot;}"/>
          <p:cNvSpPr txBox="1"/>
          <p:nvPr/>
        </p:nvSpPr>
        <p:spPr>
          <a:xfrm>
            <a:off x="6877050" y="4371975"/>
            <a:ext cx="4533900" cy="2381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zh-CN" sz="90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其它</a:t>
            </a:r>
            <a:r>
              <a:rPr lang="en-US" sz="90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 %x</a:t>
            </a:r>
            <a:r>
              <a:rPr lang="zh-CN" sz="90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　原样输出（不认识的占位符不会报错）</a:t>
            </a:r>
            <a:endParaRPr lang="zh-CN" sz="90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174" name="文本框 3173" descr="{&quot;isTemplate&quot;:true,&quot;type&quot;:&quot;text&quot;}"/>
          <p:cNvSpPr txBox="1"/>
          <p:nvPr/>
        </p:nvSpPr>
        <p:spPr>
          <a:xfrm>
            <a:off x="6877050" y="5648325"/>
            <a:ext cx="4533900" cy="4667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zh-CN" sz="900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两条实用规则：结尾会自动加换行，</a:t>
            </a:r>
            <a:r>
              <a:rPr lang="en-US" sz="900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pattern </a:t>
            </a:r>
            <a:r>
              <a:rPr lang="zh-CN" sz="900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里别自己写</a:t>
            </a:r>
            <a:r>
              <a:rPr lang="en-US" sz="900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 
</a:t>
            </a:r>
            <a:r>
              <a:rPr lang="zh-CN" sz="900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；</a:t>
            </a:r>
            <a:r>
              <a:rPr lang="en-US" sz="900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%d </a:t>
            </a:r>
            <a:r>
              <a:rPr lang="zh-CN" sz="900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里用的是仓颉</a:t>
            </a:r>
            <a:r>
              <a:rPr lang="en-US" sz="900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 DateTime.format </a:t>
            </a:r>
            <a:r>
              <a:rPr lang="zh-CN" sz="900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的格式串，大小写敏感。</a:t>
            </a:r>
            <a:endParaRPr lang="zh-CN" sz="900">
              <a:solidFill>
                <a:srgbClr val="F59E0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175" name="任意多边形 3174"/>
          <p:cNvSpPr/>
          <p:nvPr/>
        </p:nvSpPr>
        <p:spPr>
          <a:xfrm>
            <a:off x="609600" y="6286500"/>
            <a:ext cx="10972800" cy="381000"/>
          </a:xfrm>
          <a:custGeom>
            <a:avLst/>
            <a:gdLst/>
            <a:ahLst/>
            <a:cxnLst/>
            <a:pathLst>
              <a:path w="1152" h="40">
                <a:moveTo>
                  <a:pt x="0" y="0"/>
                </a:moveTo>
                <a:lnTo>
                  <a:pt x="1152" y="0"/>
                </a:lnTo>
                <a:lnTo>
                  <a:pt x="1152" y="1"/>
                </a:lnTo>
                <a:lnTo>
                  <a:pt x="0" y="1"/>
                </a:lnTo>
                <a:close/>
              </a:path>
            </a:pathLst>
          </a:custGeom>
          <a:solidFill>
            <a:srgbClr val="1E293B"/>
          </a:solidFill>
        </p:spPr>
        <p:txBody>
          <a:bodyPr/>
          <a:p/>
        </p:txBody>
      </p:sp>
      <p:sp>
        <p:nvSpPr>
          <p:cNvPr id="3176" name="文本框 3175" descr="{&quot;isTemplate&quot;:true,&quot;type&quot;:&quot;text&quot;}"/>
          <p:cNvSpPr txBox="1"/>
          <p:nvPr/>
        </p:nvSpPr>
        <p:spPr>
          <a:xfrm>
            <a:off x="609600" y="6410325"/>
            <a:ext cx="2219325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fountain · 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一站式服务器应用开发工具库</a:t>
            </a:r>
            <a:endParaRPr lang="zh-CN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177" name="文本框 3176" descr="{&quot;isTemplate&quot;:true,&quot;type&quot;:&quot;text&quot;}"/>
          <p:cNvSpPr txBox="1"/>
          <p:nvPr/>
        </p:nvSpPr>
        <p:spPr>
          <a:xfrm>
            <a:off x="11087100" y="6410325"/>
            <a:ext cx="495300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97 / 116</a:t>
            </a:r>
            <a:endParaRPr lang="en-US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17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9" name="矩形 3178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220"/>
          </a:solidFill>
        </p:spPr>
        <p:txBody>
          <a:bodyPr/>
          <a:p/>
        </p:txBody>
      </p:sp>
      <p:sp>
        <p:nvSpPr>
          <p:cNvPr id="3180" name="矩形 3179"/>
          <p:cNvSpPr/>
          <p:nvPr/>
        </p:nvSpPr>
        <p:spPr>
          <a:xfrm>
            <a:off x="609600" y="476250"/>
            <a:ext cx="38100" cy="381000"/>
          </a:xfrm>
          <a:prstGeom prst="rect">
            <a:avLst/>
          </a:prstGeom>
          <a:solidFill>
            <a:srgbClr val="38BDF8"/>
          </a:solidFill>
        </p:spPr>
        <p:txBody>
          <a:bodyPr/>
          <a:p/>
        </p:txBody>
      </p:sp>
      <p:sp>
        <p:nvSpPr>
          <p:cNvPr id="3181" name="文本框 3180" descr="{&quot;isTemplate&quot;:true,&quot;type&quot;:&quot;text&quot;}"/>
          <p:cNvSpPr txBox="1"/>
          <p:nvPr/>
        </p:nvSpPr>
        <p:spPr>
          <a:xfrm>
            <a:off x="819150" y="304800"/>
            <a:ext cx="9601200" cy="2095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第</a:t>
            </a: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 15 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章</a:t>
            </a: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 · 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日志</a:t>
            </a: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 f_log · 15.5</a:t>
            </a:r>
            <a:endParaRPr lang="en-US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182" name="文本框 3181" descr="{&quot;isTemplate&quot;:true,&quot;type&quot;:&quot;text&quot;}"/>
          <p:cNvSpPr txBox="1"/>
          <p:nvPr/>
        </p:nvSpPr>
        <p:spPr>
          <a:xfrm>
            <a:off x="819150" y="514350"/>
            <a:ext cx="9601200" cy="5143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2550" b="1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一条日志的旅程</a:t>
            </a:r>
            <a:endParaRPr lang="zh-CN" sz="2550" b="1">
              <a:solidFill>
                <a:srgbClr val="E2E8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183" name="文本框 3182" descr="{&quot;isTemplate&quot;:true,&quot;type&quot;:&quot;text&quot;}"/>
          <p:cNvSpPr txBox="1"/>
          <p:nvPr/>
        </p:nvSpPr>
        <p:spPr>
          <a:xfrm>
            <a:off x="10591800" y="590550"/>
            <a:ext cx="990600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全章最硬核的一节</a:t>
            </a:r>
            <a:endParaRPr lang="zh-CN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184" name="圆角矩形 3183"/>
          <p:cNvSpPr/>
          <p:nvPr/>
        </p:nvSpPr>
        <p:spPr>
          <a:xfrm>
            <a:off x="609600" y="1143000"/>
            <a:ext cx="10972800" cy="723900"/>
          </a:xfrm>
          <a:prstGeom prst="roundRect">
            <a:avLst>
              <a:gd name="adj" fmla="val 13158"/>
            </a:avLst>
          </a:prstGeom>
          <a:solidFill>
            <a:srgbClr val="111C2E"/>
          </a:solidFill>
        </p:spPr>
        <p:txBody>
          <a:bodyPr/>
          <a:p/>
        </p:txBody>
      </p:sp>
      <p:sp>
        <p:nvSpPr>
          <p:cNvPr id="3185" name="文本框 3184" descr="{&quot;isTemplate&quot;:true,&quot;type&quot;:&quot;text&quot;}"/>
          <p:cNvSpPr txBox="1"/>
          <p:nvPr/>
        </p:nvSpPr>
        <p:spPr>
          <a:xfrm>
            <a:off x="742950" y="1276350"/>
            <a:ext cx="876300" cy="4572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38BDF8"/>
                </a:solidFill>
                <a:latin typeface="微软雅黑" panose="020B0503020204020204" charset="-122"/>
                <a:ea typeface="微软雅黑" panose="020B0503020204020204" charset="-122"/>
              </a:rPr>
              <a:t>① </a:t>
            </a:r>
            <a:r>
              <a:rPr lang="zh-CN" sz="1050" b="1">
                <a:solidFill>
                  <a:srgbClr val="38BDF8"/>
                </a:solidFill>
                <a:latin typeface="微软雅黑" panose="020B0503020204020204" charset="-122"/>
                <a:ea typeface="微软雅黑" panose="020B0503020204020204" charset="-122"/>
              </a:rPr>
              <a:t>业务线程</a:t>
            </a:r>
            <a:endParaRPr lang="zh-CN" sz="1050" b="1">
              <a:solidFill>
                <a:srgbClr val="38BDF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186" name="文本框 3185" descr="{&quot;isTemplate&quot;:true,&quot;type&quot;:&quot;text&quot;}"/>
          <p:cNvSpPr txBox="1"/>
          <p:nvPr/>
        </p:nvSpPr>
        <p:spPr>
          <a:xfrm>
            <a:off x="1733550" y="1276350"/>
            <a:ext cx="9715500" cy="457200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65000"/>
              </a:lnSpc>
            </a:pPr>
            <a:r>
              <a:rPr lang="zh-CN" sz="90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先采集时间戳</a:t>
            </a:r>
            <a:r>
              <a:rPr lang="en-US" sz="90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 DateTime.now() </a:t>
            </a:r>
            <a:r>
              <a:rPr lang="zh-CN" sz="90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和</a:t>
            </a:r>
            <a:r>
              <a:rPr lang="en-US" sz="90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 %tid</a:t>
            </a:r>
            <a:r>
              <a:rPr lang="zh-CN" sz="90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（此刻的线程</a:t>
            </a:r>
            <a:r>
              <a:rPr lang="en-US" sz="90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 ID</a:t>
            </a:r>
            <a:r>
              <a:rPr lang="zh-CN" sz="90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）——</a:t>
            </a:r>
            <a:r>
              <a:rPr lang="en-US" sz="90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 </a:t>
            </a:r>
            <a:r>
              <a:rPr lang="zh-CN" sz="90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时间</a:t>
            </a:r>
            <a:r>
              <a:rPr lang="en-US" sz="90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 / </a:t>
            </a:r>
            <a:r>
              <a:rPr lang="zh-CN" sz="90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线程</a:t>
            </a:r>
            <a:r>
              <a:rPr lang="en-US" sz="90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 ID </a:t>
            </a:r>
            <a:r>
              <a:rPr lang="zh-CN" sz="90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是「调用点」的；然后把「广播给所有</a:t>
            </a:r>
            <a:r>
              <a:rPr lang="en-US" sz="90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 appender</a:t>
            </a:r>
            <a:r>
              <a:rPr lang="zh-CN" sz="90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」这个闭包投进队列（</a:t>
            </a:r>
            <a:r>
              <a:rPr lang="en-US" sz="90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tag = f_log.LoggerAppenderFacade_</a:t>
            </a:r>
            <a:r>
              <a:rPr lang="zh-CN" sz="90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【</a:t>
            </a:r>
            <a:r>
              <a:rPr lang="en-US" sz="90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logger </a:t>
            </a:r>
            <a:r>
              <a:rPr lang="zh-CN" sz="90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名字】）</a:t>
            </a:r>
            <a:endParaRPr lang="zh-CN" sz="900">
              <a:solidFill>
                <a:srgbClr val="E2E8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187" name="圆角矩形 3186"/>
          <p:cNvSpPr/>
          <p:nvPr/>
        </p:nvSpPr>
        <p:spPr>
          <a:xfrm>
            <a:off x="609600" y="1962150"/>
            <a:ext cx="10972800" cy="723900"/>
          </a:xfrm>
          <a:prstGeom prst="roundRect">
            <a:avLst>
              <a:gd name="adj" fmla="val 13158"/>
            </a:avLst>
          </a:prstGeom>
          <a:solidFill>
            <a:srgbClr val="111C2E"/>
          </a:solidFill>
          <a:ln w="12700">
            <a:solidFill>
              <a:srgbClr val="38BDF8"/>
            </a:solidFill>
            <a:prstDash val="solid"/>
          </a:ln>
        </p:spPr>
        <p:txBody>
          <a:bodyPr/>
          <a:p/>
        </p:txBody>
      </p:sp>
      <p:sp>
        <p:nvSpPr>
          <p:cNvPr id="3188" name="文本框 3187" descr="{&quot;isTemplate&quot;:true,&quot;type&quot;:&quot;text&quot;}"/>
          <p:cNvSpPr txBox="1"/>
          <p:nvPr/>
        </p:nvSpPr>
        <p:spPr>
          <a:xfrm>
            <a:off x="742950" y="2095500"/>
            <a:ext cx="876300" cy="457200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38BDF8"/>
                </a:solidFill>
                <a:latin typeface="微软雅黑" panose="020B0503020204020204" charset="-122"/>
                <a:ea typeface="微软雅黑" panose="020B0503020204020204" charset="-122"/>
              </a:rPr>
              <a:t>② facade </a:t>
            </a:r>
            <a:r>
              <a:rPr lang="zh-CN" sz="1050" b="1">
                <a:solidFill>
                  <a:srgbClr val="38BDF8"/>
                </a:solidFill>
                <a:latin typeface="微软雅黑" panose="020B0503020204020204" charset="-122"/>
                <a:ea typeface="微软雅黑" panose="020B0503020204020204" charset="-122"/>
              </a:rPr>
              <a:t>消费线程</a:t>
            </a:r>
            <a:endParaRPr lang="zh-CN" sz="1050" b="1">
              <a:solidFill>
                <a:srgbClr val="38BDF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189" name="文本框 3188" descr="{&quot;isTemplate&quot;:true,&quot;type&quot;:&quot;text&quot;}"/>
          <p:cNvSpPr txBox="1"/>
          <p:nvPr/>
        </p:nvSpPr>
        <p:spPr>
          <a:xfrm>
            <a:off x="1733550" y="2095500"/>
            <a:ext cx="9715500" cy="457200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65000"/>
              </a:lnSpc>
            </a:pPr>
            <a:r>
              <a:rPr lang="zh-CN" sz="90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取出闭包，遍历所有</a:t>
            </a:r>
            <a:r>
              <a:rPr lang="en-US" sz="90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 appender</a:t>
            </a:r>
            <a:r>
              <a:rPr lang="zh-CN" sz="90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，对每个</a:t>
            </a:r>
            <a:r>
              <a:rPr lang="en-US" sz="90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 appender </a:t>
            </a:r>
            <a:r>
              <a:rPr lang="zh-CN" sz="90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再</a:t>
            </a:r>
            <a:r>
              <a:rPr lang="en-US" sz="90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 append(level, message, now, tid, ex)</a:t>
            </a:r>
            <a:r>
              <a:rPr lang="zh-CN" sz="90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。这里才做级别判断、才求值</a:t>
            </a:r>
            <a:r>
              <a:rPr lang="en-US" sz="90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 lambda</a:t>
            </a:r>
            <a:r>
              <a:rPr lang="zh-CN" sz="90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（所以</a:t>
            </a:r>
            <a:r>
              <a:rPr lang="en-US" sz="90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 message </a:t>
            </a:r>
            <a:r>
              <a:rPr lang="zh-CN" sz="90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字符串是在消费线程上拼出来的）→</a:t>
            </a:r>
            <a:r>
              <a:rPr lang="en-US" sz="90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 AsyncLogger </a:t>
            </a:r>
            <a:r>
              <a:rPr lang="zh-CN" sz="90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把</a:t>
            </a:r>
            <a:r>
              <a:rPr lang="en-US" sz="90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 pattern + </a:t>
            </a:r>
            <a:r>
              <a:rPr lang="zh-CN" sz="90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消息渲染成字节写进</a:t>
            </a:r>
            <a:r>
              <a:rPr lang="en-US" sz="90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 SyncQueueOutputStream → </a:t>
            </a:r>
            <a:r>
              <a:rPr lang="zh-CN" sz="90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遇到</a:t>
            </a:r>
            <a:r>
              <a:rPr lang="en-US" sz="90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 \0 </a:t>
            </a:r>
            <a:r>
              <a:rPr lang="zh-CN" sz="90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结束符即一个批次</a:t>
            </a:r>
            <a:r>
              <a:rPr lang="en-US" sz="90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 → </a:t>
            </a:r>
            <a:r>
              <a:rPr lang="zh-CN" sz="90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往</a:t>
            </a:r>
            <a:r>
              <a:rPr lang="en-US" sz="90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 appender </a:t>
            </a:r>
            <a:r>
              <a:rPr lang="zh-CN" sz="90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自己的队列投闭包（</a:t>
            </a:r>
            <a:r>
              <a:rPr lang="en-US" sz="90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tag = console:// </a:t>
            </a:r>
            <a:r>
              <a:rPr lang="zh-CN" sz="90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或</a:t>
            </a:r>
            <a:r>
              <a:rPr lang="en-US" sz="90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 file:///</a:t>
            </a:r>
            <a:r>
              <a:rPr lang="zh-CN" sz="90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【</a:t>
            </a:r>
            <a:r>
              <a:rPr lang="en-US" sz="90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path</a:t>
            </a:r>
            <a:r>
              <a:rPr lang="zh-CN" sz="90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】）</a:t>
            </a:r>
            <a:endParaRPr lang="zh-CN" sz="900">
              <a:solidFill>
                <a:srgbClr val="E2E8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190" name="圆角矩形 3189"/>
          <p:cNvSpPr/>
          <p:nvPr/>
        </p:nvSpPr>
        <p:spPr>
          <a:xfrm>
            <a:off x="609600" y="2781300"/>
            <a:ext cx="10972800" cy="590550"/>
          </a:xfrm>
          <a:prstGeom prst="roundRect">
            <a:avLst>
              <a:gd name="adj" fmla="val 16129"/>
            </a:avLst>
          </a:prstGeom>
          <a:solidFill>
            <a:srgbClr val="111C2E"/>
          </a:solidFill>
        </p:spPr>
        <p:txBody>
          <a:bodyPr/>
          <a:p/>
        </p:txBody>
      </p:sp>
      <p:sp>
        <p:nvSpPr>
          <p:cNvPr id="3191" name="文本框 3190" descr="{&quot;isTemplate&quot;:true,&quot;type&quot;:&quot;text&quot;}"/>
          <p:cNvSpPr txBox="1"/>
          <p:nvPr/>
        </p:nvSpPr>
        <p:spPr>
          <a:xfrm>
            <a:off x="742950" y="2914650"/>
            <a:ext cx="876300" cy="323850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38BDF8"/>
                </a:solidFill>
                <a:latin typeface="微软雅黑" panose="020B0503020204020204" charset="-122"/>
                <a:ea typeface="微软雅黑" panose="020B0503020204020204" charset="-122"/>
              </a:rPr>
              <a:t>③ appender </a:t>
            </a:r>
            <a:r>
              <a:rPr lang="zh-CN" sz="1050" b="1">
                <a:solidFill>
                  <a:srgbClr val="38BDF8"/>
                </a:solidFill>
                <a:latin typeface="微软雅黑" panose="020B0503020204020204" charset="-122"/>
                <a:ea typeface="微软雅黑" panose="020B0503020204020204" charset="-122"/>
              </a:rPr>
              <a:t>消费线程</a:t>
            </a:r>
            <a:endParaRPr lang="zh-CN" sz="1050" b="1">
              <a:solidFill>
                <a:srgbClr val="38BDF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192" name="文本框 3191" descr="{&quot;isTemplate&quot;:true,&quot;type&quot;:&quot;text&quot;}"/>
          <p:cNvSpPr txBox="1"/>
          <p:nvPr/>
        </p:nvSpPr>
        <p:spPr>
          <a:xfrm>
            <a:off x="1733550" y="2914650"/>
            <a:ext cx="9715500" cy="3238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65000"/>
              </a:lnSpc>
            </a:pPr>
            <a:r>
              <a:rPr lang="zh-CN" sz="90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把批次按顺序写进真正的</a:t>
            </a:r>
            <a:r>
              <a:rPr lang="en-US" sz="90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 OutputStream</a:t>
            </a:r>
            <a:r>
              <a:rPr lang="zh-CN" sz="90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（终端</a:t>
            </a:r>
            <a:r>
              <a:rPr lang="en-US" sz="90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 / </a:t>
            </a:r>
            <a:r>
              <a:rPr lang="zh-CN" sz="90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文件），并</a:t>
            </a:r>
            <a:r>
              <a:rPr lang="en-US" sz="90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 flush</a:t>
            </a:r>
            <a:endParaRPr lang="en-US" sz="900">
              <a:solidFill>
                <a:srgbClr val="E2E8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193" name="圆角矩形 3192"/>
          <p:cNvSpPr/>
          <p:nvPr/>
        </p:nvSpPr>
        <p:spPr>
          <a:xfrm>
            <a:off x="609600" y="3771900"/>
            <a:ext cx="2647950" cy="2514600"/>
          </a:xfrm>
          <a:prstGeom prst="roundRect">
            <a:avLst>
              <a:gd name="adj" fmla="val 4545"/>
            </a:avLst>
          </a:prstGeom>
          <a:solidFill>
            <a:srgbClr val="111C2E"/>
          </a:solidFill>
          <a:ln w="12700">
            <a:solidFill>
              <a:srgbClr val="1E293B"/>
            </a:solidFill>
            <a:prstDash val="solid"/>
          </a:ln>
        </p:spPr>
        <p:txBody>
          <a:bodyPr/>
          <a:p/>
        </p:txBody>
      </p:sp>
      <p:sp>
        <p:nvSpPr>
          <p:cNvPr id="3194" name="文本框 3193" descr="{&quot;isTemplate&quot;:true,&quot;type&quot;:&quot;text&quot;}"/>
          <p:cNvSpPr txBox="1"/>
          <p:nvPr/>
        </p:nvSpPr>
        <p:spPr>
          <a:xfrm>
            <a:off x="762000" y="3924300"/>
            <a:ext cx="2343150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两级异步，两级队列</a:t>
            </a:r>
            <a:endParaRPr lang="zh-CN" sz="1050" b="1">
              <a:solidFill>
                <a:srgbClr val="E2E8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195" name="文本框 3194" descr="{&quot;isTemplate&quot;:true,&quot;type&quot;:&quot;text&quot;}"/>
          <p:cNvSpPr txBox="1"/>
          <p:nvPr/>
        </p:nvSpPr>
        <p:spPr>
          <a:xfrm>
            <a:off x="762000" y="4162425"/>
            <a:ext cx="2343150" cy="704850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en-US" sz="90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facade </a:t>
            </a:r>
            <a:r>
              <a:rPr lang="zh-CN" sz="90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一条队列（每个</a:t>
            </a:r>
            <a:r>
              <a:rPr lang="en-US" sz="90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logger </a:t>
            </a:r>
            <a:r>
              <a:rPr lang="zh-CN" sz="90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名字一条）；</a:t>
            </a:r>
            <a:r>
              <a:rPr lang="en-US" sz="90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appender </a:t>
            </a:r>
            <a:r>
              <a:rPr lang="zh-CN" sz="90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一条队列（</a:t>
            </a:r>
            <a:r>
              <a:rPr lang="en-US" sz="90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console </a:t>
            </a:r>
            <a:r>
              <a:rPr lang="zh-CN" sz="90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全局共享；</a:t>
            </a:r>
            <a:r>
              <a:rPr lang="en-US" sz="90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file </a:t>
            </a:r>
            <a:r>
              <a:rPr lang="zh-CN" sz="90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按路径共享）。</a:t>
            </a:r>
            <a:endParaRPr lang="zh-CN" sz="900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196" name="文本框 3195" descr="{&quot;isTemplate&quot;:true,&quot;type&quot;:&quot;text&quot;}"/>
          <p:cNvSpPr txBox="1"/>
          <p:nvPr/>
        </p:nvSpPr>
        <p:spPr>
          <a:xfrm>
            <a:off x="762000" y="5667375"/>
            <a:ext cx="2343150" cy="466725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zh-CN" sz="900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线程数</a:t>
            </a:r>
            <a:r>
              <a:rPr lang="en-US" sz="900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 ≈ </a:t>
            </a:r>
            <a:r>
              <a:rPr lang="zh-CN" sz="900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不同</a:t>
            </a:r>
            <a:r>
              <a:rPr lang="en-US" sz="900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 logger </a:t>
            </a:r>
            <a:r>
              <a:rPr lang="zh-CN" sz="900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名字的个数</a:t>
            </a:r>
            <a:r>
              <a:rPr lang="en-US" sz="900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 + appender </a:t>
            </a:r>
            <a:r>
              <a:rPr lang="zh-CN" sz="900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个数。</a:t>
            </a:r>
            <a:endParaRPr lang="zh-CN" sz="900">
              <a:solidFill>
                <a:srgbClr val="F59E0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197" name="圆角矩形 3196"/>
          <p:cNvSpPr/>
          <p:nvPr/>
        </p:nvSpPr>
        <p:spPr>
          <a:xfrm>
            <a:off x="3390900" y="3771900"/>
            <a:ext cx="2638425" cy="2514600"/>
          </a:xfrm>
          <a:prstGeom prst="roundRect">
            <a:avLst>
              <a:gd name="adj" fmla="val 4545"/>
            </a:avLst>
          </a:prstGeom>
          <a:solidFill>
            <a:srgbClr val="111C2E"/>
          </a:solidFill>
          <a:ln w="12700">
            <a:solidFill>
              <a:srgbClr val="1E293B"/>
            </a:solidFill>
            <a:prstDash val="solid"/>
          </a:ln>
        </p:spPr>
        <p:txBody>
          <a:bodyPr/>
          <a:p/>
        </p:txBody>
      </p:sp>
      <p:sp>
        <p:nvSpPr>
          <p:cNvPr id="3198" name="文本框 3197" descr="{&quot;isTemplate&quot;:true,&quot;type&quot;:&quot;text&quot;}"/>
          <p:cNvSpPr txBox="1"/>
          <p:nvPr/>
        </p:nvSpPr>
        <p:spPr>
          <a:xfrm>
            <a:off x="3543300" y="3924300"/>
            <a:ext cx="2333625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空字符是批次边界</a:t>
            </a:r>
            <a:endParaRPr lang="zh-CN" sz="1050" b="1">
              <a:solidFill>
                <a:srgbClr val="E2E8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199" name="文本框 3198" descr="{&quot;isTemplate&quot;:true,&quot;type&quot;:&quot;text&quot;}"/>
          <p:cNvSpPr txBox="1"/>
          <p:nvPr/>
        </p:nvSpPr>
        <p:spPr>
          <a:xfrm>
            <a:off x="3543300" y="4162425"/>
            <a:ext cx="2333625" cy="933450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zh-CN" sz="90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塞完字节写一个</a:t>
            </a:r>
            <a:r>
              <a:rPr lang="en-US" sz="90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\0</a:t>
            </a:r>
            <a:r>
              <a:rPr lang="zh-CN" sz="90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，</a:t>
            </a:r>
            <a:r>
              <a:rPr lang="en-US" sz="90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SyncQueueOutputStream </a:t>
            </a:r>
            <a:r>
              <a:rPr lang="zh-CN" sz="90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看到就整块提交换缓冲</a:t>
            </a:r>
            <a:r>
              <a:rPr lang="en-US" sz="90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—— </a:t>
            </a:r>
            <a:r>
              <a:rPr lang="zh-CN" sz="90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一条日志在文件里不会被别的线程切成两半。</a:t>
            </a:r>
            <a:r>
              <a:rPr lang="en-US" sz="90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\0 </a:t>
            </a:r>
            <a:r>
              <a:rPr lang="zh-CN" sz="90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本身不会写进文件。</a:t>
            </a:r>
            <a:endParaRPr lang="zh-CN" sz="900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200" name="圆角矩形 3199"/>
          <p:cNvSpPr/>
          <p:nvPr/>
        </p:nvSpPr>
        <p:spPr>
          <a:xfrm>
            <a:off x="6162675" y="3771900"/>
            <a:ext cx="2647950" cy="2514600"/>
          </a:xfrm>
          <a:prstGeom prst="roundRect">
            <a:avLst>
              <a:gd name="adj" fmla="val 4545"/>
            </a:avLst>
          </a:prstGeom>
          <a:solidFill>
            <a:srgbClr val="F59E0B">
              <a:alpha val="7000"/>
            </a:srgbClr>
          </a:solidFill>
          <a:ln w="12700">
            <a:solidFill>
              <a:srgbClr val="F59E0B"/>
            </a:solidFill>
            <a:prstDash val="solid"/>
          </a:ln>
        </p:spPr>
        <p:txBody>
          <a:bodyPr/>
          <a:p/>
        </p:txBody>
      </p:sp>
      <p:sp>
        <p:nvSpPr>
          <p:cNvPr id="3201" name="文本框 3200" descr="{&quot;isTemplate&quot;:true,&quot;type&quot;:&quot;text&quot;}"/>
          <p:cNvSpPr txBox="1"/>
          <p:nvPr/>
        </p:nvSpPr>
        <p:spPr>
          <a:xfrm>
            <a:off x="6315075" y="3924300"/>
            <a:ext cx="2343150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缓冲区池化，池空丢日志</a:t>
            </a:r>
            <a:endParaRPr lang="zh-CN" sz="1050" b="1">
              <a:solidFill>
                <a:srgbClr val="F59E0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202" name="文本框 3201" descr="{&quot;isTemplate&quot;:true,&quot;type&quot;:&quot;text&quot;}"/>
          <p:cNvSpPr txBox="1"/>
          <p:nvPr/>
        </p:nvSpPr>
        <p:spPr>
          <a:xfrm>
            <a:off x="6315075" y="4162425"/>
            <a:ext cx="2343150" cy="933450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zh-CN" sz="90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池大小</a:t>
            </a:r>
            <a:r>
              <a:rPr lang="en-US" sz="90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 = loggerAsyncBufsize</a:t>
            </a:r>
            <a:r>
              <a:rPr lang="zh-CN" sz="90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（默认</a:t>
            </a:r>
            <a:r>
              <a:rPr lang="en-US" sz="90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 1024</a:t>
            </a:r>
            <a:r>
              <a:rPr lang="zh-CN" sz="90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）。借用最多等</a:t>
            </a:r>
            <a:r>
              <a:rPr lang="en-US" sz="90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 logger_asyncWaitTimeout</a:t>
            </a:r>
            <a:r>
              <a:rPr lang="zh-CN" sz="90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（默认</a:t>
            </a:r>
            <a:r>
              <a:rPr lang="en-US" sz="90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 5ms</a:t>
            </a:r>
            <a:r>
              <a:rPr lang="zh-CN" sz="90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），借不到就打印</a:t>
            </a:r>
            <a:r>
              <a:rPr lang="en-US" sz="90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 EmptyPool </a:t>
            </a:r>
            <a:r>
              <a:rPr lang="zh-CN" sz="90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并丢掉本次写入。</a:t>
            </a:r>
            <a:endParaRPr lang="zh-CN" sz="900">
              <a:solidFill>
                <a:srgbClr val="E2E8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203" name="圆角矩形 3202"/>
          <p:cNvSpPr/>
          <p:nvPr/>
        </p:nvSpPr>
        <p:spPr>
          <a:xfrm>
            <a:off x="8943975" y="3771900"/>
            <a:ext cx="2638425" cy="2514600"/>
          </a:xfrm>
          <a:prstGeom prst="roundRect">
            <a:avLst>
              <a:gd name="adj" fmla="val 4545"/>
            </a:avLst>
          </a:prstGeom>
          <a:solidFill>
            <a:srgbClr val="F59E0B">
              <a:alpha val="7000"/>
            </a:srgbClr>
          </a:solidFill>
          <a:ln w="12700">
            <a:solidFill>
              <a:srgbClr val="F59E0B"/>
            </a:solidFill>
            <a:prstDash val="solid"/>
          </a:ln>
        </p:spPr>
        <p:txBody>
          <a:bodyPr/>
          <a:p/>
        </p:txBody>
      </p:sp>
      <p:sp>
        <p:nvSpPr>
          <p:cNvPr id="3204" name="文本框 3203" descr="{&quot;isTemplate&quot;:true,&quot;type&quot;:&quot;text&quot;}"/>
          <p:cNvSpPr txBox="1"/>
          <p:nvPr/>
        </p:nvSpPr>
        <p:spPr>
          <a:xfrm>
            <a:off x="9096375" y="3924300"/>
            <a:ext cx="2333625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队列满了怎么办</a:t>
            </a:r>
            <a:endParaRPr lang="zh-CN" sz="1050" b="1">
              <a:solidFill>
                <a:srgbClr val="F59E0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205" name="文本框 3204" descr="{&quot;isTemplate&quot;:true,&quot;type&quot;:&quot;text&quot;}"/>
          <p:cNvSpPr txBox="1"/>
          <p:nvPr/>
        </p:nvSpPr>
        <p:spPr>
          <a:xfrm>
            <a:off x="9096375" y="4162425"/>
            <a:ext cx="2333625" cy="933450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zh-CN" sz="90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默认</a:t>
            </a:r>
            <a:r>
              <a:rPr lang="en-US" sz="90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 timeout = Duration.Max → </a:t>
            </a:r>
            <a:r>
              <a:rPr lang="zh-CN" sz="90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入队方一直等，</a:t>
            </a:r>
            <a:r>
              <a:rPr lang="en-US" sz="90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policy </a:t>
            </a:r>
            <a:r>
              <a:rPr lang="zh-CN" sz="90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轮不到生效。想丢：</a:t>
            </a:r>
            <a:r>
              <a:rPr lang="en-US" sz="90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10ms + discard</a:t>
            </a:r>
            <a:r>
              <a:rPr lang="zh-CN" sz="90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；想一条不落：保持默认或写</a:t>
            </a:r>
            <a:r>
              <a:rPr lang="en-US" sz="90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 alwaysWaiting</a:t>
            </a:r>
            <a:r>
              <a:rPr lang="zh-CN" sz="90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。</a:t>
            </a:r>
            <a:endParaRPr lang="zh-CN" sz="900">
              <a:solidFill>
                <a:srgbClr val="E2E8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206" name="文本框 3205" descr="{&quot;isTemplate&quot;:true,&quot;type&quot;:&quot;text&quot;}"/>
          <p:cNvSpPr txBox="1"/>
          <p:nvPr/>
        </p:nvSpPr>
        <p:spPr>
          <a:xfrm>
            <a:off x="9096375" y="5667375"/>
            <a:ext cx="2333625" cy="466725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en-US" sz="90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atExit </a:t>
            </a:r>
            <a:r>
              <a:rPr lang="zh-CN" sz="90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里</a:t>
            </a:r>
            <a:r>
              <a:rPr lang="en-US" sz="90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close() </a:t>
            </a:r>
            <a:r>
              <a:rPr lang="zh-CN" sz="90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会先排空队列再关流</a:t>
            </a:r>
            <a:r>
              <a:rPr lang="en-US" sz="90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—— Ctrl-C </a:t>
            </a:r>
            <a:r>
              <a:rPr lang="zh-CN" sz="90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之后日志不会缺最后几条。</a:t>
            </a:r>
            <a:endParaRPr lang="zh-CN" sz="900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207" name="任意多边形 3206"/>
          <p:cNvSpPr/>
          <p:nvPr/>
        </p:nvSpPr>
        <p:spPr>
          <a:xfrm>
            <a:off x="609600" y="6286500"/>
            <a:ext cx="10972800" cy="381000"/>
          </a:xfrm>
          <a:custGeom>
            <a:avLst/>
            <a:gdLst/>
            <a:ahLst/>
            <a:cxnLst/>
            <a:pathLst>
              <a:path w="1152" h="40">
                <a:moveTo>
                  <a:pt x="0" y="0"/>
                </a:moveTo>
                <a:lnTo>
                  <a:pt x="1152" y="0"/>
                </a:lnTo>
                <a:lnTo>
                  <a:pt x="1152" y="1"/>
                </a:lnTo>
                <a:lnTo>
                  <a:pt x="0" y="1"/>
                </a:lnTo>
                <a:close/>
              </a:path>
            </a:pathLst>
          </a:custGeom>
          <a:solidFill>
            <a:srgbClr val="1E293B"/>
          </a:solidFill>
        </p:spPr>
        <p:txBody>
          <a:bodyPr/>
          <a:p/>
        </p:txBody>
      </p:sp>
      <p:sp>
        <p:nvSpPr>
          <p:cNvPr id="3208" name="文本框 3207" descr="{&quot;isTemplate&quot;:true,&quot;type&quot;:&quot;text&quot;}"/>
          <p:cNvSpPr txBox="1"/>
          <p:nvPr/>
        </p:nvSpPr>
        <p:spPr>
          <a:xfrm>
            <a:off x="609600" y="6410325"/>
            <a:ext cx="2219325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fountain · 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一站式服务器应用开发工具库</a:t>
            </a:r>
            <a:endParaRPr lang="zh-CN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209" name="文本框 3208" descr="{&quot;isTemplate&quot;:true,&quot;type&quot;:&quot;text&quot;}"/>
          <p:cNvSpPr txBox="1"/>
          <p:nvPr/>
        </p:nvSpPr>
        <p:spPr>
          <a:xfrm>
            <a:off x="11087100" y="6410325"/>
            <a:ext cx="495300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98 / 116</a:t>
            </a:r>
            <a:endParaRPr lang="en-US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21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1" name="矩形 321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220"/>
          </a:solidFill>
        </p:spPr>
        <p:txBody>
          <a:bodyPr/>
          <a:p/>
        </p:txBody>
      </p:sp>
      <p:sp>
        <p:nvSpPr>
          <p:cNvPr id="3212" name="矩形 3211"/>
          <p:cNvSpPr/>
          <p:nvPr/>
        </p:nvSpPr>
        <p:spPr>
          <a:xfrm>
            <a:off x="609600" y="476250"/>
            <a:ext cx="38100" cy="381000"/>
          </a:xfrm>
          <a:prstGeom prst="rect">
            <a:avLst/>
          </a:prstGeom>
          <a:solidFill>
            <a:srgbClr val="38BDF8"/>
          </a:solidFill>
        </p:spPr>
        <p:txBody>
          <a:bodyPr/>
          <a:p/>
        </p:txBody>
      </p:sp>
      <p:sp>
        <p:nvSpPr>
          <p:cNvPr id="3213" name="文本框 3212" descr="{&quot;isTemplate&quot;:true,&quot;type&quot;:&quot;text&quot;}"/>
          <p:cNvSpPr txBox="1"/>
          <p:nvPr/>
        </p:nvSpPr>
        <p:spPr>
          <a:xfrm>
            <a:off x="819150" y="304800"/>
            <a:ext cx="9972675" cy="2095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第</a:t>
            </a: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 15 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章</a:t>
            </a: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 · 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日志</a:t>
            </a: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 f_log · 15.6</a:t>
            </a:r>
            <a:endParaRPr lang="en-US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214" name="文本框 3213" descr="{&quot;isTemplate&quot;:true,&quot;type&quot;:&quot;text&quot;}"/>
          <p:cNvSpPr txBox="1"/>
          <p:nvPr/>
        </p:nvSpPr>
        <p:spPr>
          <a:xfrm>
            <a:off x="819150" y="514350"/>
            <a:ext cx="9972675" cy="5143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2550" b="1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文件切割与压缩</a:t>
            </a:r>
            <a:endParaRPr lang="zh-CN" sz="2550" b="1">
              <a:solidFill>
                <a:srgbClr val="E2E8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215" name="文本框 3214" descr="{&quot;isTemplate&quot;:true,&quot;type&quot;:&quot;text&quot;}"/>
          <p:cNvSpPr txBox="1"/>
          <p:nvPr/>
        </p:nvSpPr>
        <p:spPr>
          <a:xfrm>
            <a:off x="10963275" y="590550"/>
            <a:ext cx="619125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默认按天切</a:t>
            </a:r>
            <a:endParaRPr lang="zh-CN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216" name="圆角矩形 3215"/>
          <p:cNvSpPr/>
          <p:nvPr/>
        </p:nvSpPr>
        <p:spPr>
          <a:xfrm>
            <a:off x="609600" y="1143000"/>
            <a:ext cx="5905500" cy="1866900"/>
          </a:xfrm>
          <a:prstGeom prst="roundRect">
            <a:avLst>
              <a:gd name="adj" fmla="val 6122"/>
            </a:avLst>
          </a:prstGeom>
          <a:solidFill>
            <a:srgbClr val="0B1220"/>
          </a:solidFill>
          <a:ln w="12700">
            <a:solidFill>
              <a:srgbClr val="38BDF8"/>
            </a:solidFill>
            <a:prstDash val="solid"/>
          </a:ln>
        </p:spPr>
        <p:txBody>
          <a:bodyPr/>
          <a:p/>
        </p:txBody>
      </p:sp>
      <p:sp>
        <p:nvSpPr>
          <p:cNvPr id="3217" name="文本框 3216" descr="{&quot;isTemplate&quot;:true,&quot;type&quot;:&quot;text&quot;}"/>
          <p:cNvSpPr txBox="1"/>
          <p:nvPr/>
        </p:nvSpPr>
        <p:spPr>
          <a:xfrm>
            <a:off x="781050" y="1314450"/>
            <a:ext cx="5562600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38BDF8"/>
                </a:solidFill>
                <a:latin typeface="微软雅黑" panose="020B0503020204020204" charset="-122"/>
                <a:ea typeface="微软雅黑" panose="020B0503020204020204" charset="-122"/>
              </a:rPr>
              <a:t>切割时机与动作</a:t>
            </a:r>
            <a:endParaRPr lang="zh-CN" sz="975">
              <a:solidFill>
                <a:srgbClr val="38BDF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218" name="文本框 3217" descr="{&quot;isTemplate&quot;:true,&quot;type&quot;:&quot;text&quot;}"/>
          <p:cNvSpPr txBox="1"/>
          <p:nvPr/>
        </p:nvSpPr>
        <p:spPr>
          <a:xfrm>
            <a:off x="781050" y="1543050"/>
            <a:ext cx="5562600" cy="2381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zh-CN" sz="90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跨周期：文件创建时间早于当前时间单位的起点（按天切</a:t>
            </a:r>
            <a:r>
              <a:rPr lang="en-US" sz="90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 = </a:t>
            </a:r>
            <a:r>
              <a:rPr lang="zh-CN" sz="90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今天凌晨之前创建的）</a:t>
            </a:r>
            <a:endParaRPr lang="zh-CN" sz="900">
              <a:solidFill>
                <a:srgbClr val="E2E8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219" name="文本框 3218" descr="{&quot;isTemplate&quot;:true,&quot;type&quot;:&quot;text&quot;}"/>
          <p:cNvSpPr txBox="1"/>
          <p:nvPr/>
        </p:nvSpPr>
        <p:spPr>
          <a:xfrm>
            <a:off x="781050" y="1838325"/>
            <a:ext cx="5562600" cy="2381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zh-CN" sz="90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超大小：</a:t>
            </a:r>
            <a:r>
              <a:rPr lang="en-US" sz="90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size + </a:t>
            </a:r>
            <a:r>
              <a:rPr lang="zh-CN" sz="90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本批字节数</a:t>
            </a:r>
            <a:r>
              <a:rPr lang="en-US" sz="90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 ≥ rotateSize</a:t>
            </a:r>
            <a:r>
              <a:rPr lang="zh-CN" sz="90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（写在文件里的预判，不是事后检查）</a:t>
            </a:r>
            <a:endParaRPr lang="zh-CN" sz="900">
              <a:solidFill>
                <a:srgbClr val="E2E8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220" name="文本框 3219" descr="{&quot;isTemplate&quot;:true,&quot;type&quot;:&quot;text&quot;}"/>
          <p:cNvSpPr txBox="1"/>
          <p:nvPr/>
        </p:nvSpPr>
        <p:spPr>
          <a:xfrm>
            <a:off x="781050" y="2171700"/>
            <a:ext cx="5562600" cy="466725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zh-CN" sz="90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动作：关掉当前文件</a:t>
            </a:r>
            <a:r>
              <a:rPr lang="en-US" sz="90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→ rename </a:t>
            </a:r>
            <a:r>
              <a:rPr lang="zh-CN" sz="90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成「原路径</a:t>
            </a:r>
            <a:r>
              <a:rPr lang="en-US" sz="90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.</a:t>
            </a:r>
            <a:r>
              <a:rPr lang="zh-CN" sz="90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【上一周期时间戳】」→</a:t>
            </a:r>
            <a:r>
              <a:rPr lang="en-US" sz="90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</a:t>
            </a:r>
            <a:r>
              <a:rPr lang="zh-CN" sz="90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配了</a:t>
            </a:r>
            <a:r>
              <a:rPr lang="en-US" sz="90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compressFormat </a:t>
            </a:r>
            <a:r>
              <a:rPr lang="zh-CN" sz="90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就在独立线程里压缩（</a:t>
            </a:r>
            <a:r>
              <a:rPr lang="en-US" sz="90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Deflate → .lz</a:t>
            </a:r>
            <a:r>
              <a:rPr lang="zh-CN" sz="90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，</a:t>
            </a:r>
            <a:r>
              <a:rPr lang="en-US" sz="90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GZip → .gz</a:t>
            </a:r>
            <a:r>
              <a:rPr lang="zh-CN" sz="90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）→</a:t>
            </a:r>
            <a:r>
              <a:rPr lang="en-US" sz="90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</a:t>
            </a:r>
            <a:r>
              <a:rPr lang="zh-CN" sz="90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删掉原文件</a:t>
            </a:r>
            <a:r>
              <a:rPr lang="en-US" sz="90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→ </a:t>
            </a:r>
            <a:r>
              <a:rPr lang="zh-CN" sz="90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重新以</a:t>
            </a:r>
            <a:r>
              <a:rPr lang="en-US" sz="90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Append </a:t>
            </a:r>
            <a:r>
              <a:rPr lang="zh-CN" sz="90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模式打开原路径</a:t>
            </a:r>
            <a:endParaRPr lang="zh-CN" sz="900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221" name="圆角矩形 3220"/>
          <p:cNvSpPr/>
          <p:nvPr/>
        </p:nvSpPr>
        <p:spPr>
          <a:xfrm>
            <a:off x="609600" y="3143250"/>
            <a:ext cx="5905500" cy="3143250"/>
          </a:xfrm>
          <a:prstGeom prst="roundRect">
            <a:avLst>
              <a:gd name="adj" fmla="val 3636"/>
            </a:avLst>
          </a:prstGeom>
          <a:solidFill>
            <a:srgbClr val="0B1220"/>
          </a:solidFill>
          <a:ln w="12700">
            <a:solidFill>
              <a:srgbClr val="1E293B"/>
            </a:solidFill>
            <a:prstDash val="solid"/>
          </a:ln>
        </p:spPr>
        <p:txBody>
          <a:bodyPr/>
          <a:p/>
        </p:txBody>
      </p:sp>
      <p:sp>
        <p:nvSpPr>
          <p:cNvPr id="3222" name="文本框 3221" descr="{&quot;isTemplate&quot;:true,&quot;type&quot;:&quot;text&quot;}"/>
          <p:cNvSpPr txBox="1"/>
          <p:nvPr/>
        </p:nvSpPr>
        <p:spPr>
          <a:xfrm>
            <a:off x="781050" y="3314700"/>
            <a:ext cx="5562600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按天切、不压缩时看到的样子</a:t>
            </a:r>
            <a:endParaRPr lang="zh-CN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223" name="文本框 3222" descr="{&quot;isTemplate&quot;:true,&quot;type&quot;:&quot;text&quot;}"/>
          <p:cNvSpPr txBox="1"/>
          <p:nvPr/>
        </p:nvSpPr>
        <p:spPr>
          <a:xfrm>
            <a:off x="781050" y="3543300"/>
            <a:ext cx="5562600" cy="4857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5000"/>
              </a:lnSpc>
            </a:pPr>
            <a:r>
              <a:rPr lang="en-US" sz="900">
                <a:solidFill>
                  <a:srgbClr val="E2E8F0"/>
                </a:solidFill>
                <a:latin typeface="JetBrains Mono"/>
                <a:ea typeface="JetBrains Mono"/>
              </a:rPr>
              <a:t>log/fdemo.log</a:t>
            </a:r>
            <a:r>
              <a:rPr lang="zh-CN" sz="900">
                <a:solidFill>
                  <a:srgbClr val="E2E8F0"/>
                </a:solidFill>
                <a:latin typeface="JetBrains Mono"/>
                <a:ea typeface="JetBrains Mono"/>
              </a:rPr>
              <a:t>　　　　　←</a:t>
            </a:r>
            <a:r>
              <a:rPr lang="en-US" sz="900">
                <a:solidFill>
                  <a:srgbClr val="E2E8F0"/>
                </a:solidFill>
                <a:latin typeface="JetBrains Mono"/>
                <a:ea typeface="JetBrains Mono"/>
              </a:rPr>
              <a:t> </a:t>
            </a:r>
            <a:r>
              <a:rPr lang="zh-CN" sz="900">
                <a:solidFill>
                  <a:srgbClr val="E2E8F0"/>
                </a:solidFill>
                <a:latin typeface="JetBrains Mono"/>
                <a:ea typeface="JetBrains Mono"/>
              </a:rPr>
              <a:t>当前正在写</a:t>
            </a:r>
            <a:endParaRPr lang="zh-CN" sz="900">
              <a:solidFill>
                <a:srgbClr val="E2E8F0"/>
              </a:solidFill>
              <a:latin typeface="JetBrains Mono"/>
              <a:ea typeface="JetBrains Mono"/>
            </a:endParaRPr>
          </a:p>
          <a:p>
            <a:pPr>
              <a:lnSpc>
                <a:spcPct val="175000"/>
              </a:lnSpc>
            </a:pPr>
            <a:r>
              <a:rPr lang="en-US" sz="900">
                <a:solidFill>
                  <a:srgbClr val="E2E8F0"/>
                </a:solidFill>
                <a:latin typeface="JetBrains Mono"/>
                <a:ea typeface="JetBrains Mono"/>
              </a:rPr>
              <a:t>log/fdemo.log.20261001</a:t>
            </a:r>
            <a:r>
              <a:rPr lang="zh-CN" sz="900">
                <a:solidFill>
                  <a:srgbClr val="E2E8F0"/>
                </a:solidFill>
                <a:latin typeface="JetBrains Mono"/>
                <a:ea typeface="JetBrains Mono"/>
              </a:rPr>
              <a:t>　←</a:t>
            </a:r>
            <a:r>
              <a:rPr lang="en-US" sz="900">
                <a:solidFill>
                  <a:srgbClr val="E2E8F0"/>
                </a:solidFill>
                <a:latin typeface="JetBrains Mono"/>
                <a:ea typeface="JetBrains Mono"/>
              </a:rPr>
              <a:t> </a:t>
            </a:r>
            <a:r>
              <a:rPr lang="zh-CN" sz="900">
                <a:solidFill>
                  <a:srgbClr val="E2E8F0"/>
                </a:solidFill>
                <a:latin typeface="JetBrains Mono"/>
                <a:ea typeface="JetBrains Mono"/>
              </a:rPr>
              <a:t>昨天那份（后缀是「上一个周期」）</a:t>
            </a:r>
            <a:endParaRPr lang="zh-CN" sz="900">
              <a:solidFill>
                <a:srgbClr val="E2E8F0"/>
              </a:solidFill>
              <a:latin typeface="JetBrains Mono"/>
              <a:ea typeface="JetBrains Mono"/>
            </a:endParaRPr>
          </a:p>
        </p:txBody>
      </p:sp>
      <p:sp>
        <p:nvSpPr>
          <p:cNvPr id="3224" name="文本框 3223" descr="{&quot;isTemplate&quot;:true,&quot;type&quot;:&quot;text&quot;}"/>
          <p:cNvSpPr txBox="1"/>
          <p:nvPr/>
        </p:nvSpPr>
        <p:spPr>
          <a:xfrm>
            <a:off x="781050" y="4105275"/>
            <a:ext cx="5562600" cy="2190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en-US" sz="825">
                <a:solidFill>
                  <a:srgbClr val="22D3EE"/>
                </a:solidFill>
                <a:latin typeface="JetBrains Mono"/>
                <a:ea typeface="JetBrains Mono"/>
              </a:rPr>
              <a:t>export logger_appender_myfile_url=</a:t>
            </a:r>
            <a:endParaRPr lang="en-US" sz="825">
              <a:solidFill>
                <a:srgbClr val="22D3EE"/>
              </a:solidFill>
              <a:latin typeface="JetBrains Mono"/>
              <a:ea typeface="JetBrains Mono"/>
            </a:endParaRPr>
          </a:p>
        </p:txBody>
      </p:sp>
      <p:sp>
        <p:nvSpPr>
          <p:cNvPr id="3225" name="文本框 3224" descr="{&quot;isTemplate&quot;:true,&quot;type&quot;:&quot;text&quot;}"/>
          <p:cNvSpPr txBox="1"/>
          <p:nvPr/>
        </p:nvSpPr>
        <p:spPr>
          <a:xfrm>
            <a:off x="781050" y="4324350"/>
            <a:ext cx="5562600" cy="2190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zh-CN" sz="825">
                <a:solidFill>
                  <a:srgbClr val="22D3EE"/>
                </a:solidFill>
                <a:latin typeface="JetBrains Mono"/>
                <a:ea typeface="JetBrains Mono"/>
              </a:rPr>
              <a:t>　</a:t>
            </a:r>
            <a:r>
              <a:rPr lang="en-US" sz="825">
                <a:solidFill>
                  <a:srgbClr val="22D3EE"/>
                </a:solidFill>
                <a:latin typeface="JetBrains Mono"/>
                <a:ea typeface="JetBrains Mono"/>
              </a:rPr>
              <a:t>'file://./log/app.log?rotateSize=100M&amp;rotateDuration=HOUR&amp;compressFormat=GZip'</a:t>
            </a:r>
            <a:endParaRPr lang="en-US" sz="825">
              <a:solidFill>
                <a:srgbClr val="22D3EE"/>
              </a:solidFill>
              <a:latin typeface="JetBrains Mono"/>
              <a:ea typeface="JetBrains Mono"/>
            </a:endParaRPr>
          </a:p>
        </p:txBody>
      </p:sp>
      <p:sp>
        <p:nvSpPr>
          <p:cNvPr id="3226" name="文本框 3225" descr="{&quot;isTemplate&quot;:true,&quot;type&quot;:&quot;text&quot;}"/>
          <p:cNvSpPr txBox="1"/>
          <p:nvPr/>
        </p:nvSpPr>
        <p:spPr>
          <a:xfrm>
            <a:off x="781050" y="5867400"/>
            <a:ext cx="5562600" cy="2476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5000"/>
              </a:lnSpc>
            </a:pPr>
            <a:r>
              <a:rPr lang="en-US" sz="90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_url </a:t>
            </a:r>
            <a:r>
              <a:rPr lang="zh-CN" sz="90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是一个字符串替代四个配置项，</a:t>
            </a:r>
            <a:r>
              <a:rPr lang="en-US" sz="90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url </a:t>
            </a:r>
            <a:r>
              <a:rPr lang="zh-CN" sz="90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参数优先于独立配置项；</a:t>
            </a:r>
            <a:r>
              <a:rPr lang="en-US" sz="90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rotateSize </a:t>
            </a:r>
            <a:r>
              <a:rPr lang="zh-CN" sz="90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支持</a:t>
            </a:r>
            <a:r>
              <a:rPr lang="en-US" sz="90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100k / 10M / 1G</a:t>
            </a:r>
            <a:r>
              <a:rPr lang="zh-CN" sz="90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。</a:t>
            </a:r>
            <a:endParaRPr lang="zh-CN" sz="900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227" name="圆角矩形 3226"/>
          <p:cNvSpPr/>
          <p:nvPr/>
        </p:nvSpPr>
        <p:spPr>
          <a:xfrm>
            <a:off x="6705600" y="1143000"/>
            <a:ext cx="4876800" cy="2867025"/>
          </a:xfrm>
          <a:prstGeom prst="roundRect">
            <a:avLst>
              <a:gd name="adj" fmla="val 3987"/>
            </a:avLst>
          </a:prstGeom>
          <a:solidFill>
            <a:srgbClr val="111C2E"/>
          </a:solidFill>
          <a:ln w="12700">
            <a:solidFill>
              <a:srgbClr val="F59E0B"/>
            </a:solidFill>
            <a:prstDash val="solid"/>
          </a:ln>
        </p:spPr>
        <p:txBody>
          <a:bodyPr/>
          <a:p/>
        </p:txBody>
      </p:sp>
      <p:sp>
        <p:nvSpPr>
          <p:cNvPr id="3228" name="文本框 3227" descr="{&quot;isTemplate&quot;:true,&quot;type&quot;:&quot;text&quot;}"/>
          <p:cNvSpPr txBox="1"/>
          <p:nvPr/>
        </p:nvSpPr>
        <p:spPr>
          <a:xfrm>
            <a:off x="6877050" y="1314450"/>
            <a:ext cx="4533900" cy="1714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⚠ rotateDuration </a:t>
            </a:r>
            <a:r>
              <a:rPr lang="zh-CN" sz="1125" b="1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不要配亚秒级</a:t>
            </a:r>
            <a:endParaRPr lang="zh-CN" sz="1125" b="1">
              <a:solidFill>
                <a:srgbClr val="F59E0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229" name="文本框 3228" descr="{&quot;isTemplate&quot;:true,&quot;type&quot;:&quot;text&quot;}"/>
          <p:cNvSpPr txBox="1"/>
          <p:nvPr/>
        </p:nvSpPr>
        <p:spPr>
          <a:xfrm>
            <a:off x="6877050" y="1581150"/>
            <a:ext cx="4533900" cy="2667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5000"/>
              </a:lnSpc>
            </a:pPr>
            <a:r>
              <a:rPr lang="en-US" sz="975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MILLISECOND / MICROSECOND / NANOSECOND </a:t>
            </a:r>
            <a:r>
              <a:rPr lang="zh-CN" sz="975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都不要用。</a:t>
            </a:r>
            <a:endParaRPr lang="zh-CN" sz="975">
              <a:solidFill>
                <a:srgbClr val="E2E8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230" name="文本框 3229" descr="{&quot;isTemplate&quot;:true,&quot;type&quot;:&quot;text&quot;}"/>
          <p:cNvSpPr txBox="1"/>
          <p:nvPr/>
        </p:nvSpPr>
        <p:spPr>
          <a:xfrm>
            <a:off x="6877050" y="1943100"/>
            <a:ext cx="4533900" cy="523875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75000"/>
              </a:lnSpc>
            </a:pPr>
            <a:r>
              <a:rPr lang="zh-CN" sz="97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切割后文件名的后缀粒度只到秒，而「跨周期」判断几乎每次写入都会成立</a:t>
            </a:r>
            <a:r>
              <a:rPr lang="en-US" sz="97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—— </a:t>
            </a:r>
            <a:r>
              <a:rPr lang="zh-CN" sz="97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结果是每次写日志都</a:t>
            </a:r>
            <a:r>
              <a:rPr lang="en-US" sz="97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rename </a:t>
            </a:r>
            <a:r>
              <a:rPr lang="zh-CN" sz="97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一次加重开文件。</a:t>
            </a:r>
            <a:endParaRPr lang="zh-CN" sz="975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231" name="文本框 3230" descr="{&quot;isTemplate&quot;:true,&quot;type&quot;:&quot;text&quot;}"/>
          <p:cNvSpPr txBox="1"/>
          <p:nvPr/>
        </p:nvSpPr>
        <p:spPr>
          <a:xfrm>
            <a:off x="6877050" y="2562225"/>
            <a:ext cx="4533900" cy="2667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5000"/>
              </a:lnSpc>
            </a:pPr>
            <a:r>
              <a:rPr lang="zh-CN" sz="97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按</a:t>
            </a:r>
            <a:r>
              <a:rPr lang="en-US" sz="97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MINUTE </a:t>
            </a:r>
            <a:r>
              <a:rPr lang="zh-CN" sz="97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起步，常用</a:t>
            </a:r>
            <a:r>
              <a:rPr lang="en-US" sz="97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HOUR / DAY</a:t>
            </a:r>
            <a:r>
              <a:rPr lang="zh-CN" sz="97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。</a:t>
            </a:r>
            <a:endParaRPr lang="zh-CN" sz="975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232" name="圆角矩形 3231"/>
          <p:cNvSpPr/>
          <p:nvPr/>
        </p:nvSpPr>
        <p:spPr>
          <a:xfrm>
            <a:off x="6705600" y="4143375"/>
            <a:ext cx="4876800" cy="2143125"/>
          </a:xfrm>
          <a:prstGeom prst="roundRect">
            <a:avLst>
              <a:gd name="adj" fmla="val 5333"/>
            </a:avLst>
          </a:prstGeom>
          <a:solidFill>
            <a:srgbClr val="111C2E"/>
          </a:solidFill>
          <a:ln w="12700">
            <a:solidFill>
              <a:srgbClr val="F59E0B"/>
            </a:solidFill>
            <a:prstDash val="solid"/>
          </a:ln>
        </p:spPr>
        <p:txBody>
          <a:bodyPr/>
          <a:p/>
        </p:txBody>
      </p:sp>
      <p:sp>
        <p:nvSpPr>
          <p:cNvPr id="3233" name="文本框 3232" descr="{&quot;isTemplate&quot;:true,&quot;type&quot;:&quot;text&quot;}"/>
          <p:cNvSpPr txBox="1"/>
          <p:nvPr/>
        </p:nvSpPr>
        <p:spPr>
          <a:xfrm>
            <a:off x="6877050" y="4314825"/>
            <a:ext cx="4533900" cy="1714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⚠ </a:t>
            </a:r>
            <a:r>
              <a:rPr lang="zh-CN" sz="1125" b="1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压缩失败也会删掉原文件</a:t>
            </a:r>
            <a:endParaRPr lang="zh-CN" sz="1125" b="1">
              <a:solidFill>
                <a:srgbClr val="F59E0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234" name="文本框 3233" descr="{&quot;isTemplate&quot;:true,&quot;type&quot;:&quot;text&quot;}"/>
          <p:cNvSpPr txBox="1"/>
          <p:nvPr/>
        </p:nvSpPr>
        <p:spPr>
          <a:xfrm>
            <a:off x="6877050" y="4581525"/>
            <a:ext cx="4533900" cy="2667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5000"/>
              </a:lnSpc>
            </a:pPr>
            <a:r>
              <a:rPr lang="zh-CN" sz="975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压缩那段的</a:t>
            </a:r>
            <a:r>
              <a:rPr lang="en-US" sz="975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 finally </a:t>
            </a:r>
            <a:r>
              <a:rPr lang="zh-CN" sz="975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里直接</a:t>
            </a:r>
            <a:r>
              <a:rPr lang="en-US" sz="975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 removeIfExists(</a:t>
            </a:r>
            <a:r>
              <a:rPr lang="zh-CN" sz="975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原路径</a:t>
            </a:r>
            <a:r>
              <a:rPr lang="en-US" sz="975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)</a:t>
            </a:r>
            <a:r>
              <a:rPr lang="zh-CN" sz="975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，压缩过程中出的错只打印栈。</a:t>
            </a:r>
            <a:endParaRPr lang="zh-CN" sz="975">
              <a:solidFill>
                <a:srgbClr val="E2E8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235" name="文本框 3234" descr="{&quot;isTemplate&quot;:true,&quot;type&quot;:&quot;text&quot;}"/>
          <p:cNvSpPr txBox="1"/>
          <p:nvPr/>
        </p:nvSpPr>
        <p:spPr>
          <a:xfrm>
            <a:off x="6877050" y="5848350"/>
            <a:ext cx="4533900" cy="2667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5000"/>
              </a:lnSpc>
            </a:pPr>
            <a:r>
              <a:rPr lang="zh-CN" sz="97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日志是重要证据的场景（审计、计费）建议先不压缩，或者自测一遍压缩路径。</a:t>
            </a:r>
            <a:endParaRPr lang="zh-CN" sz="975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236" name="任意多边形 3235"/>
          <p:cNvSpPr/>
          <p:nvPr/>
        </p:nvSpPr>
        <p:spPr>
          <a:xfrm>
            <a:off x="609600" y="6286500"/>
            <a:ext cx="10972800" cy="381000"/>
          </a:xfrm>
          <a:custGeom>
            <a:avLst/>
            <a:gdLst/>
            <a:ahLst/>
            <a:cxnLst/>
            <a:pathLst>
              <a:path w="1152" h="40">
                <a:moveTo>
                  <a:pt x="0" y="0"/>
                </a:moveTo>
                <a:lnTo>
                  <a:pt x="1152" y="0"/>
                </a:lnTo>
                <a:lnTo>
                  <a:pt x="1152" y="1"/>
                </a:lnTo>
                <a:lnTo>
                  <a:pt x="0" y="1"/>
                </a:lnTo>
                <a:close/>
              </a:path>
            </a:pathLst>
          </a:custGeom>
          <a:solidFill>
            <a:srgbClr val="1E293B"/>
          </a:solidFill>
        </p:spPr>
        <p:txBody>
          <a:bodyPr/>
          <a:p/>
        </p:txBody>
      </p:sp>
      <p:sp>
        <p:nvSpPr>
          <p:cNvPr id="3237" name="文本框 3236" descr="{&quot;isTemplate&quot;:true,&quot;type&quot;:&quot;text&quot;}"/>
          <p:cNvSpPr txBox="1"/>
          <p:nvPr/>
        </p:nvSpPr>
        <p:spPr>
          <a:xfrm>
            <a:off x="609600" y="6410325"/>
            <a:ext cx="2219325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fountain · 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一站式服务器应用开发工具库</a:t>
            </a:r>
            <a:endParaRPr lang="zh-CN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238" name="文本框 3237" descr="{&quot;isTemplate&quot;:true,&quot;type&quot;:&quot;text&quot;}"/>
          <p:cNvSpPr txBox="1"/>
          <p:nvPr/>
        </p:nvSpPr>
        <p:spPr>
          <a:xfrm>
            <a:off x="11087100" y="6410325"/>
            <a:ext cx="495300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99 / 116</a:t>
            </a:r>
            <a:endParaRPr lang="en-US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4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矩形 48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220"/>
          </a:solidFill>
        </p:spPr>
        <p:txBody>
          <a:bodyPr/>
          <a:p/>
        </p:txBody>
      </p:sp>
      <p:sp>
        <p:nvSpPr>
          <p:cNvPr id="50" name="矩形 49"/>
          <p:cNvSpPr/>
          <p:nvPr/>
        </p:nvSpPr>
        <p:spPr>
          <a:xfrm>
            <a:off x="609600" y="476250"/>
            <a:ext cx="38100" cy="381000"/>
          </a:xfrm>
          <a:prstGeom prst="rect">
            <a:avLst/>
          </a:prstGeom>
          <a:solidFill>
            <a:srgbClr val="38BDF8"/>
          </a:solidFill>
        </p:spPr>
        <p:txBody>
          <a:bodyPr/>
          <a:p/>
        </p:txBody>
      </p:sp>
      <p:sp>
        <p:nvSpPr>
          <p:cNvPr id="51" name="文本框 50" descr="{&quot;isTemplate&quot;:true,&quot;type&quot;:&quot;text&quot;}"/>
          <p:cNvSpPr txBox="1"/>
          <p:nvPr/>
        </p:nvSpPr>
        <p:spPr>
          <a:xfrm>
            <a:off x="819150" y="304800"/>
            <a:ext cx="9363075" cy="2095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第</a:t>
            </a: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 15 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章</a:t>
            </a: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 · 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日志</a:t>
            </a: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 f_log · 15.7</a:t>
            </a:r>
            <a:endParaRPr lang="en-US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2" name="文本框 51" descr="{&quot;isTemplate&quot;:true,&quot;type&quot;:&quot;text&quot;}"/>
          <p:cNvSpPr txBox="1"/>
          <p:nvPr/>
        </p:nvSpPr>
        <p:spPr>
          <a:xfrm>
            <a:off x="819150" y="514350"/>
            <a:ext cx="9363075" cy="5143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2550" b="1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现场演示：把框架自己的日志调出来</a:t>
            </a:r>
            <a:endParaRPr lang="zh-CN" sz="2550" b="1">
              <a:solidFill>
                <a:srgbClr val="E2E8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3" name="文本框 52" descr="{&quot;isTemplate&quot;:true,&quot;type&quot;:&quot;text&quot;}"/>
          <p:cNvSpPr txBox="1"/>
          <p:nvPr/>
        </p:nvSpPr>
        <p:spPr>
          <a:xfrm>
            <a:off x="10353675" y="590550"/>
            <a:ext cx="1228725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%name 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是第一把钥匙</a:t>
            </a:r>
            <a:endParaRPr lang="zh-CN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4" name="圆角矩形 53"/>
          <p:cNvSpPr/>
          <p:nvPr/>
        </p:nvSpPr>
        <p:spPr>
          <a:xfrm>
            <a:off x="609600" y="1143000"/>
            <a:ext cx="4762500" cy="1524000"/>
          </a:xfrm>
          <a:prstGeom prst="roundRect">
            <a:avLst>
              <a:gd name="adj" fmla="val 7500"/>
            </a:avLst>
          </a:prstGeom>
          <a:solidFill>
            <a:srgbClr val="0B1220"/>
          </a:solidFill>
          <a:ln w="12700">
            <a:solidFill>
              <a:srgbClr val="38BDF8"/>
            </a:solidFill>
            <a:prstDash val="solid"/>
          </a:ln>
        </p:spPr>
        <p:txBody>
          <a:bodyPr/>
          <a:p/>
        </p:txBody>
      </p:sp>
      <p:sp>
        <p:nvSpPr>
          <p:cNvPr id="55" name="文本框 54" descr="{&quot;isTemplate&quot;:true,&quot;type&quot;:&quot;text&quot;}"/>
          <p:cNvSpPr txBox="1"/>
          <p:nvPr/>
        </p:nvSpPr>
        <p:spPr>
          <a:xfrm>
            <a:off x="762000" y="1295400"/>
            <a:ext cx="4457700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38BDF8"/>
                </a:solidFill>
                <a:latin typeface="微软雅黑" panose="020B0503020204020204" charset="-122"/>
                <a:ea typeface="微软雅黑" panose="020B0503020204020204" charset="-122"/>
              </a:rPr>
              <a:t>命令</a:t>
            </a:r>
            <a:endParaRPr lang="zh-CN" sz="975">
              <a:solidFill>
                <a:srgbClr val="38BDF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6" name="文本框 55" descr="{&quot;isTemplate&quot;:true,&quot;type&quot;:&quot;text&quot;}"/>
          <p:cNvSpPr txBox="1"/>
          <p:nvPr/>
        </p:nvSpPr>
        <p:spPr>
          <a:xfrm>
            <a:off x="762000" y="1524000"/>
            <a:ext cx="4457700" cy="2381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en-US" sz="900">
                <a:solidFill>
                  <a:srgbClr val="E2E8F0"/>
                </a:solidFill>
                <a:latin typeface="JetBrains Mono"/>
                <a:ea typeface="JetBrains Mono"/>
              </a:rPr>
              <a:t>cd fdemo &amp;&amp; ./boot.sh run</a:t>
            </a:r>
            <a:r>
              <a:rPr lang="zh-CN" sz="900">
                <a:solidFill>
                  <a:srgbClr val="E2E8F0"/>
                </a:solidFill>
                <a:latin typeface="JetBrains Mono"/>
                <a:ea typeface="JetBrains Mono"/>
              </a:rPr>
              <a:t>　　　</a:t>
            </a:r>
            <a:r>
              <a:rPr lang="en-US" sz="900">
                <a:solidFill>
                  <a:srgbClr val="E2E8F0"/>
                </a:solidFill>
                <a:latin typeface="JetBrains Mono"/>
                <a:ea typeface="JetBrains Mono"/>
              </a:rPr>
              <a:t># ① </a:t>
            </a:r>
            <a:r>
              <a:rPr lang="zh-CN" sz="900">
                <a:solidFill>
                  <a:srgbClr val="E2E8F0"/>
                </a:solidFill>
                <a:latin typeface="JetBrains Mono"/>
                <a:ea typeface="JetBrains Mono"/>
              </a:rPr>
              <a:t>启动</a:t>
            </a:r>
            <a:endParaRPr lang="zh-CN" sz="900">
              <a:solidFill>
                <a:srgbClr val="E2E8F0"/>
              </a:solidFill>
              <a:latin typeface="JetBrains Mono"/>
              <a:ea typeface="JetBrains Mono"/>
            </a:endParaRPr>
          </a:p>
        </p:txBody>
      </p:sp>
      <p:sp>
        <p:nvSpPr>
          <p:cNvPr id="57" name="文本框 56" descr="{&quot;isTemplate&quot;:true,&quot;type&quot;:&quot;text&quot;}"/>
          <p:cNvSpPr txBox="1"/>
          <p:nvPr/>
        </p:nvSpPr>
        <p:spPr>
          <a:xfrm>
            <a:off x="762000" y="1762125"/>
            <a:ext cx="4457700" cy="2381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en-US" sz="900">
                <a:solidFill>
                  <a:srgbClr val="E2E8F0"/>
                </a:solidFill>
                <a:latin typeface="JetBrains Mono"/>
                <a:ea typeface="JetBrains Mono"/>
              </a:rPr>
              <a:t>curl -X POST 'http://127.0.0.1:8080/api/user/register' \</a:t>
            </a:r>
            <a:endParaRPr lang="en-US" sz="900">
              <a:solidFill>
                <a:srgbClr val="E2E8F0"/>
              </a:solidFill>
              <a:latin typeface="JetBrains Mono"/>
              <a:ea typeface="JetBrains Mono"/>
            </a:endParaRPr>
          </a:p>
        </p:txBody>
      </p:sp>
      <p:sp>
        <p:nvSpPr>
          <p:cNvPr id="58" name="文本框 57" descr="{&quot;isTemplate&quot;:true,&quot;type&quot;:&quot;text&quot;}"/>
          <p:cNvSpPr txBox="1"/>
          <p:nvPr/>
        </p:nvSpPr>
        <p:spPr>
          <a:xfrm>
            <a:off x="762000" y="2000250"/>
            <a:ext cx="4457700" cy="2381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zh-CN" sz="900">
                <a:solidFill>
                  <a:srgbClr val="E2E8F0"/>
                </a:solidFill>
                <a:latin typeface="JetBrains Mono"/>
                <a:ea typeface="JetBrains Mono"/>
              </a:rPr>
              <a:t>　　</a:t>
            </a:r>
            <a:r>
              <a:rPr lang="en-US" sz="900">
                <a:solidFill>
                  <a:srgbClr val="E2E8F0"/>
                </a:solidFill>
                <a:latin typeface="JetBrains Mono"/>
                <a:ea typeface="JetBrains Mono"/>
              </a:rPr>
              <a:t> -d 'username=fountain&amp;password=123456'</a:t>
            </a:r>
            <a:r>
              <a:rPr lang="zh-CN" sz="900">
                <a:solidFill>
                  <a:srgbClr val="E2E8F0"/>
                </a:solidFill>
                <a:latin typeface="JetBrains Mono"/>
                <a:ea typeface="JetBrains Mono"/>
              </a:rPr>
              <a:t>　</a:t>
            </a:r>
            <a:r>
              <a:rPr lang="en-US" sz="900">
                <a:solidFill>
                  <a:srgbClr val="E2E8F0"/>
                </a:solidFill>
                <a:latin typeface="JetBrains Mono"/>
                <a:ea typeface="JetBrains Mono"/>
              </a:rPr>
              <a:t># ② </a:t>
            </a:r>
            <a:r>
              <a:rPr lang="zh-CN" sz="900">
                <a:solidFill>
                  <a:srgbClr val="E2E8F0"/>
                </a:solidFill>
                <a:latin typeface="JetBrains Mono"/>
                <a:ea typeface="JetBrains Mono"/>
              </a:rPr>
              <a:t>发注册请求</a:t>
            </a:r>
            <a:endParaRPr lang="zh-CN" sz="900">
              <a:solidFill>
                <a:srgbClr val="E2E8F0"/>
              </a:solidFill>
              <a:latin typeface="JetBrains Mono"/>
              <a:ea typeface="JetBrains Mono"/>
            </a:endParaRPr>
          </a:p>
        </p:txBody>
      </p:sp>
      <p:sp>
        <p:nvSpPr>
          <p:cNvPr id="59" name="文本框 58" descr="{&quot;isTemplate&quot;:true,&quot;type&quot;:&quot;text&quot;}"/>
          <p:cNvSpPr txBox="1"/>
          <p:nvPr/>
        </p:nvSpPr>
        <p:spPr>
          <a:xfrm>
            <a:off x="762000" y="2238375"/>
            <a:ext cx="4457700" cy="2381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en-US" sz="900">
                <a:solidFill>
                  <a:srgbClr val="F59E0B"/>
                </a:solidFill>
                <a:latin typeface="JetBrains Mono"/>
                <a:ea typeface="JetBrains Mono"/>
              </a:rPr>
              <a:t>tail -f ./log/fdemo.log</a:t>
            </a:r>
            <a:r>
              <a:rPr lang="zh-CN" sz="900">
                <a:solidFill>
                  <a:srgbClr val="F59E0B"/>
                </a:solidFill>
                <a:latin typeface="JetBrains Mono"/>
                <a:ea typeface="JetBrains Mono"/>
              </a:rPr>
              <a:t>　</a:t>
            </a:r>
            <a:r>
              <a:rPr lang="en-US" sz="900">
                <a:solidFill>
                  <a:srgbClr val="F59E0B"/>
                </a:solidFill>
                <a:latin typeface="JetBrains Mono"/>
                <a:ea typeface="JetBrains Mono"/>
              </a:rPr>
              <a:t># ③ </a:t>
            </a:r>
            <a:r>
              <a:rPr lang="zh-CN" sz="900">
                <a:solidFill>
                  <a:srgbClr val="F59E0B"/>
                </a:solidFill>
                <a:latin typeface="JetBrains Mono"/>
                <a:ea typeface="JetBrains Mono"/>
              </a:rPr>
              <a:t>看文件那份</a:t>
            </a:r>
            <a:endParaRPr lang="zh-CN" sz="900">
              <a:solidFill>
                <a:srgbClr val="F59E0B"/>
              </a:solidFill>
              <a:latin typeface="JetBrains Mono"/>
              <a:ea typeface="JetBrains Mono"/>
            </a:endParaRPr>
          </a:p>
        </p:txBody>
      </p:sp>
      <p:sp>
        <p:nvSpPr>
          <p:cNvPr id="60" name="圆角矩形 59"/>
          <p:cNvSpPr/>
          <p:nvPr/>
        </p:nvSpPr>
        <p:spPr>
          <a:xfrm>
            <a:off x="609600" y="2781300"/>
            <a:ext cx="4762500" cy="3505200"/>
          </a:xfrm>
          <a:prstGeom prst="roundRect">
            <a:avLst>
              <a:gd name="adj" fmla="val 3261"/>
            </a:avLst>
          </a:prstGeom>
          <a:solidFill>
            <a:srgbClr val="0B1220"/>
          </a:solidFill>
          <a:ln w="12700">
            <a:solidFill>
              <a:srgbClr val="1E293B"/>
            </a:solidFill>
            <a:prstDash val="solid"/>
          </a:ln>
        </p:spPr>
        <p:txBody>
          <a:bodyPr/>
          <a:p/>
        </p:txBody>
      </p:sp>
      <p:sp>
        <p:nvSpPr>
          <p:cNvPr id="61" name="文本框 60" descr="{&quot;isTemplate&quot;:true,&quot;type&quot;:&quot;text&quot;}"/>
          <p:cNvSpPr txBox="1"/>
          <p:nvPr/>
        </p:nvSpPr>
        <p:spPr>
          <a:xfrm>
            <a:off x="762000" y="2933700"/>
            <a:ext cx="4457700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预期（控制台</a:t>
            </a: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 FDemoConsole / DEBUG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）</a:t>
            </a:r>
            <a:endParaRPr lang="zh-CN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2" name="文本框 61" descr="{&quot;isTemplate&quot;:true,&quot;type&quot;:&quot;text&quot;}"/>
          <p:cNvSpPr txBox="1"/>
          <p:nvPr/>
        </p:nvSpPr>
        <p:spPr>
          <a:xfrm>
            <a:off x="762000" y="3162300"/>
            <a:ext cx="4457700" cy="857250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en-US" sz="825">
                <a:solidFill>
                  <a:srgbClr val="38BDF8"/>
                </a:solidFill>
                <a:latin typeface="JetBrains Mono"/>
                <a:ea typeface="JetBrains Mono"/>
              </a:rPr>
              <a:t>[DEBUG-std.reflect.TypeInfo.get("fountain::f_orm.base.SqlExecutor")]|12876;postgres is executing a sql: insert into user_info( "id" , "username" , "password" , "save_time" )values(?,?,?,?) returning id, args: […], consumed: 3ms200us101ns</a:t>
            </a:r>
            <a:endParaRPr lang="en-US" sz="825">
              <a:solidFill>
                <a:srgbClr val="38BDF8"/>
              </a:solidFill>
              <a:latin typeface="JetBrains Mono"/>
              <a:ea typeface="JetBrains Mono"/>
            </a:endParaRPr>
          </a:p>
        </p:txBody>
      </p:sp>
      <p:sp>
        <p:nvSpPr>
          <p:cNvPr id="63" name="文本框 62" descr="{&quot;isTemplate&quot;:true,&quot;type&quot;:&quot;text&quot;}"/>
          <p:cNvSpPr txBox="1"/>
          <p:nvPr/>
        </p:nvSpPr>
        <p:spPr>
          <a:xfrm>
            <a:off x="762000" y="4095750"/>
            <a:ext cx="4733925" cy="1076325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en-US" sz="825">
                <a:solidFill>
                  <a:srgbClr val="F59E0B"/>
                </a:solidFill>
                <a:latin typeface="JetBrains Mono"/>
                <a:ea typeface="JetBrains Mono"/>
              </a:rPr>
              <a:t>[INFO-std.reflect.TypeInfo.get("fountain::user.controller.CurrentUserController")]|12876;MVC.accessLog:POST:/api/user/register?username=…; consumes:Some(application/x-www-form-urlencoded); params:[…]; returned:…; status:200; elapsed:2ms300us123ns</a:t>
            </a:r>
            <a:endParaRPr lang="en-US" sz="825">
              <a:solidFill>
                <a:srgbClr val="F59E0B"/>
              </a:solidFill>
              <a:latin typeface="JetBrains Mono"/>
              <a:ea typeface="JetBrains Mono"/>
            </a:endParaRPr>
          </a:p>
        </p:txBody>
      </p:sp>
      <p:sp>
        <p:nvSpPr>
          <p:cNvPr id="64" name="文本框 63" descr="{&quot;isTemplate&quot;:true,&quot;type&quot;:&quot;text&quot;}"/>
          <p:cNvSpPr txBox="1"/>
          <p:nvPr/>
        </p:nvSpPr>
        <p:spPr>
          <a:xfrm>
            <a:off x="762000" y="5667375"/>
            <a:ext cx="4457700" cy="466725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zh-CN" sz="90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文件（</a:t>
            </a:r>
            <a:r>
              <a:rPr lang="en-US" sz="90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FDemoFile / INFO</a:t>
            </a:r>
            <a:r>
              <a:rPr lang="zh-CN" sz="90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）里只有第二行</a:t>
            </a:r>
            <a:r>
              <a:rPr lang="en-US" sz="90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—— </a:t>
            </a:r>
            <a:r>
              <a:rPr lang="zh-CN" sz="90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第一条是</a:t>
            </a:r>
            <a:r>
              <a:rPr lang="en-US" sz="90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DEBUG</a:t>
            </a:r>
            <a:r>
              <a:rPr lang="zh-CN" sz="90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，被文件</a:t>
            </a:r>
            <a:r>
              <a:rPr lang="en-US" sz="90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appender </a:t>
            </a:r>
            <a:r>
              <a:rPr lang="zh-CN" sz="90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过滤掉了。</a:t>
            </a:r>
            <a:endParaRPr lang="zh-CN" sz="900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5" name="圆角矩形 64"/>
          <p:cNvSpPr/>
          <p:nvPr/>
        </p:nvSpPr>
        <p:spPr>
          <a:xfrm>
            <a:off x="5562600" y="1143000"/>
            <a:ext cx="6019800" cy="1924050"/>
          </a:xfrm>
          <a:prstGeom prst="roundRect">
            <a:avLst>
              <a:gd name="adj" fmla="val 5941"/>
            </a:avLst>
          </a:prstGeom>
          <a:solidFill>
            <a:srgbClr val="111C2E"/>
          </a:solidFill>
          <a:ln w="12700">
            <a:solidFill>
              <a:srgbClr val="38BDF8"/>
            </a:solidFill>
            <a:prstDash val="solid"/>
          </a:ln>
        </p:spPr>
        <p:txBody>
          <a:bodyPr/>
          <a:p/>
        </p:txBody>
      </p:sp>
      <p:sp>
        <p:nvSpPr>
          <p:cNvPr id="66" name="文本框 65" descr="{&quot;isTemplate&quot;:true,&quot;type&quot;:&quot;text&quot;}"/>
          <p:cNvSpPr txBox="1"/>
          <p:nvPr/>
        </p:nvSpPr>
        <p:spPr>
          <a:xfrm>
            <a:off x="5715000" y="1295400"/>
            <a:ext cx="5715000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38BDF8"/>
                </a:solidFill>
                <a:latin typeface="微软雅黑" panose="020B0503020204020204" charset="-122"/>
                <a:ea typeface="微软雅黑" panose="020B0503020204020204" charset="-122"/>
              </a:rPr>
              <a:t>%name </a:t>
            </a:r>
            <a:r>
              <a:rPr lang="zh-CN" sz="1050" b="1">
                <a:solidFill>
                  <a:srgbClr val="38BDF8"/>
                </a:solidFill>
                <a:latin typeface="微软雅黑" panose="020B0503020204020204" charset="-122"/>
                <a:ea typeface="微软雅黑" panose="020B0503020204020204" charset="-122"/>
              </a:rPr>
              <a:t>是定位问题的第一把钥匙</a:t>
            </a:r>
            <a:endParaRPr lang="zh-CN" sz="1050" b="1">
              <a:solidFill>
                <a:srgbClr val="38BDF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7" name="文本框 66" descr="{&quot;isTemplate&quot;:true,&quot;type&quot;:&quot;text&quot;}"/>
          <p:cNvSpPr txBox="1"/>
          <p:nvPr/>
        </p:nvSpPr>
        <p:spPr>
          <a:xfrm>
            <a:off x="5715000" y="1533525"/>
            <a:ext cx="5715000" cy="466725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en-US" sz="90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std.reflect.TypeInfo.get("fountain::f_orm.base.SqlExecutor") </a:t>
            </a:r>
            <a:r>
              <a:rPr lang="zh-CN" sz="90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告诉你：这是</a:t>
            </a:r>
            <a:r>
              <a:rPr lang="en-US" sz="90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 ORM </a:t>
            </a:r>
            <a:r>
              <a:rPr lang="zh-CN" sz="90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在执行</a:t>
            </a:r>
            <a:r>
              <a:rPr lang="en-US" sz="90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 SQL</a:t>
            </a:r>
            <a:r>
              <a:rPr lang="zh-CN" sz="90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。</a:t>
            </a:r>
            <a:r>
              <a:rPr lang="en-US" sz="90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consumed </a:t>
            </a:r>
            <a:r>
              <a:rPr lang="zh-CN" sz="90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后面是这条</a:t>
            </a:r>
            <a:r>
              <a:rPr lang="en-US" sz="90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 SQL </a:t>
            </a:r>
            <a:r>
              <a:rPr lang="zh-CN" sz="90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的耗时。</a:t>
            </a:r>
            <a:endParaRPr lang="zh-CN" sz="900">
              <a:solidFill>
                <a:srgbClr val="E2E8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8" name="文本框 67" descr="{&quot;isTemplate&quot;:true,&quot;type&quot;:&quot;text&quot;}"/>
          <p:cNvSpPr txBox="1"/>
          <p:nvPr/>
        </p:nvSpPr>
        <p:spPr>
          <a:xfrm>
            <a:off x="5715000" y="2057400"/>
            <a:ext cx="5715000" cy="2381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en-US" sz="90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CurrentUserController </a:t>
            </a:r>
            <a:r>
              <a:rPr lang="zh-CN" sz="90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这一行是</a:t>
            </a:r>
            <a:r>
              <a:rPr lang="en-US" sz="90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MVC </a:t>
            </a:r>
            <a:r>
              <a:rPr lang="zh-CN" sz="90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的</a:t>
            </a:r>
            <a:r>
              <a:rPr lang="en-US" sz="90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access log —— </a:t>
            </a:r>
            <a:r>
              <a:rPr lang="zh-CN" sz="90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名字就是处理这个请求的</a:t>
            </a:r>
            <a:r>
              <a:rPr lang="en-US" sz="90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controller </a:t>
            </a:r>
            <a:r>
              <a:rPr lang="zh-CN" sz="90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类。</a:t>
            </a:r>
            <a:endParaRPr lang="zh-CN" sz="900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9" name="文本框 68" descr="{&quot;isTemplate&quot;:true,&quot;type&quot;:&quot;text&quot;}"/>
          <p:cNvSpPr txBox="1"/>
          <p:nvPr/>
        </p:nvSpPr>
        <p:spPr>
          <a:xfrm>
            <a:off x="5715000" y="2676525"/>
            <a:ext cx="5715000" cy="2381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zh-CN" sz="900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排查动作：把级别调成</a:t>
            </a:r>
            <a:r>
              <a:rPr lang="en-US" sz="900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 DEBUG</a:t>
            </a:r>
            <a:r>
              <a:rPr lang="zh-CN" sz="900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，然后按</a:t>
            </a:r>
            <a:r>
              <a:rPr lang="en-US" sz="900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 %name </a:t>
            </a:r>
            <a:r>
              <a:rPr lang="zh-CN" sz="900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去</a:t>
            </a:r>
            <a:r>
              <a:rPr lang="en-US" sz="900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 grep</a:t>
            </a:r>
            <a:r>
              <a:rPr lang="zh-CN" sz="900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。</a:t>
            </a:r>
            <a:endParaRPr lang="zh-CN" sz="900">
              <a:solidFill>
                <a:srgbClr val="F59E0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0" name="圆角矩形 69"/>
          <p:cNvSpPr/>
          <p:nvPr/>
        </p:nvSpPr>
        <p:spPr>
          <a:xfrm>
            <a:off x="5562600" y="3181350"/>
            <a:ext cx="6019800" cy="1847850"/>
          </a:xfrm>
          <a:prstGeom prst="roundRect">
            <a:avLst>
              <a:gd name="adj" fmla="val 6186"/>
            </a:avLst>
          </a:prstGeom>
          <a:solidFill>
            <a:srgbClr val="111C2E"/>
          </a:solidFill>
          <a:ln w="12700">
            <a:solidFill>
              <a:srgbClr val="1E293B"/>
            </a:solidFill>
            <a:prstDash val="solid"/>
          </a:ln>
        </p:spPr>
        <p:txBody>
          <a:bodyPr/>
          <a:p/>
        </p:txBody>
      </p:sp>
      <p:sp>
        <p:nvSpPr>
          <p:cNvPr id="71" name="文本框 70" descr="{&quot;isTemplate&quot;:true,&quot;type&quot;:&quot;text&quot;}"/>
          <p:cNvSpPr txBox="1"/>
          <p:nvPr/>
        </p:nvSpPr>
        <p:spPr>
          <a:xfrm>
            <a:off x="5715000" y="3333750"/>
            <a:ext cx="5715000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fboot </a:t>
            </a:r>
            <a:r>
              <a:rPr lang="zh-CN" sz="1050" b="1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生成的应用信息自动进了日志</a:t>
            </a:r>
            <a:endParaRPr lang="zh-CN" sz="1050" b="1">
              <a:solidFill>
                <a:srgbClr val="E2E8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2" name="文本框 71" descr="{&quot;isTemplate&quot;:true,&quot;type&quot;:&quot;text&quot;}"/>
          <p:cNvSpPr txBox="1"/>
          <p:nvPr/>
        </p:nvSpPr>
        <p:spPr>
          <a:xfrm>
            <a:off x="5715000" y="3571875"/>
            <a:ext cx="5715000" cy="466725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en-US" sz="90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%app / %appver </a:t>
            </a:r>
            <a:r>
              <a:rPr lang="zh-CN" sz="90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的值不来自任何配置文件</a:t>
            </a:r>
            <a:r>
              <a:rPr lang="en-US" sz="90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—— fboot build </a:t>
            </a:r>
            <a:r>
              <a:rPr lang="zh-CN" sz="90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读</a:t>
            </a:r>
            <a:r>
              <a:rPr lang="en-US" sz="90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cjpm.toml </a:t>
            </a:r>
            <a:r>
              <a:rPr lang="zh-CN" sz="90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生成版本模块，日志里的应用名与版本从这里来。</a:t>
            </a:r>
            <a:endParaRPr lang="zh-CN" sz="900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3" name="文本框 72" descr="{&quot;isTemplate&quot;:true,&quot;type&quot;:&quot;text&quot;}"/>
          <p:cNvSpPr txBox="1"/>
          <p:nvPr/>
        </p:nvSpPr>
        <p:spPr>
          <a:xfrm>
            <a:off x="5715000" y="4410075"/>
            <a:ext cx="5715000" cy="466725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zh-CN" sz="90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想只看文件不看控制台？把</a:t>
            </a:r>
            <a:r>
              <a:rPr lang="en-US" sz="90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logger_appender_console </a:t>
            </a:r>
            <a:r>
              <a:rPr lang="zh-CN" sz="90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那两行删掉重启即可</a:t>
            </a:r>
            <a:r>
              <a:rPr lang="en-US" sz="90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—— </a:t>
            </a:r>
            <a:r>
              <a:rPr lang="zh-CN" sz="90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没有配置就没有这个</a:t>
            </a:r>
            <a:r>
              <a:rPr lang="en-US" sz="90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appender</a:t>
            </a:r>
            <a:r>
              <a:rPr lang="zh-CN" sz="90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。</a:t>
            </a:r>
            <a:endParaRPr lang="zh-CN" sz="900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4" name="圆角矩形 73"/>
          <p:cNvSpPr/>
          <p:nvPr/>
        </p:nvSpPr>
        <p:spPr>
          <a:xfrm>
            <a:off x="5562600" y="5143500"/>
            <a:ext cx="6019800" cy="1143000"/>
          </a:xfrm>
          <a:prstGeom prst="roundRect">
            <a:avLst>
              <a:gd name="adj" fmla="val 10000"/>
            </a:avLst>
          </a:prstGeom>
          <a:solidFill>
            <a:srgbClr val="F59E0B">
              <a:alpha val="7000"/>
            </a:srgbClr>
          </a:solidFill>
          <a:ln w="12700">
            <a:solidFill>
              <a:srgbClr val="F59E0B"/>
            </a:solidFill>
            <a:prstDash val="solid"/>
          </a:ln>
        </p:spPr>
        <p:txBody>
          <a:bodyPr/>
          <a:p/>
        </p:txBody>
      </p:sp>
      <p:sp>
        <p:nvSpPr>
          <p:cNvPr id="75" name="文本框 74" descr="{&quot;isTemplate&quot;:true,&quot;type&quot;:&quot;text&quot;}"/>
          <p:cNvSpPr txBox="1"/>
          <p:nvPr/>
        </p:nvSpPr>
        <p:spPr>
          <a:xfrm>
            <a:off x="5715000" y="5295900"/>
            <a:ext cx="5715000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再演示一次「按小时切</a:t>
            </a:r>
            <a:r>
              <a:rPr lang="en-US" sz="1050" b="1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 + </a:t>
            </a:r>
            <a:r>
              <a:rPr lang="zh-CN" sz="1050" b="1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压缩」</a:t>
            </a:r>
            <a:endParaRPr lang="zh-CN" sz="1050" b="1">
              <a:solidFill>
                <a:srgbClr val="F59E0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6" name="文本框 75" descr="{&quot;isTemplate&quot;:true,&quot;type&quot;:&quot;text&quot;}"/>
          <p:cNvSpPr txBox="1"/>
          <p:nvPr/>
        </p:nvSpPr>
        <p:spPr>
          <a:xfrm>
            <a:off x="5715000" y="5534025"/>
            <a:ext cx="5715000" cy="466725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en-US" sz="90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rotateDuration=HOUR / rotateSize=10M / compressFormat=GZip</a:t>
            </a:r>
            <a:r>
              <a:rPr lang="zh-CN" sz="90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，重启后</a:t>
            </a:r>
            <a:r>
              <a:rPr lang="en-US" sz="90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 log </a:t>
            </a:r>
            <a:r>
              <a:rPr lang="zh-CN" sz="90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目录会积累</a:t>
            </a:r>
            <a:r>
              <a:rPr lang="en-US" sz="90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 fdemo.log.</a:t>
            </a:r>
            <a:r>
              <a:rPr lang="zh-CN" sz="90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【时间】</a:t>
            </a:r>
            <a:r>
              <a:rPr lang="en-US" sz="90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.gz</a:t>
            </a:r>
            <a:r>
              <a:rPr lang="zh-CN" sz="90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。</a:t>
            </a:r>
            <a:endParaRPr lang="zh-CN" sz="900">
              <a:solidFill>
                <a:srgbClr val="E2E8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7" name="文本框 76" descr="{&quot;isTemplate&quot;:true,&quot;type&quot;:&quot;text&quot;}"/>
          <p:cNvSpPr txBox="1"/>
          <p:nvPr/>
        </p:nvSpPr>
        <p:spPr>
          <a:xfrm>
            <a:off x="5715000" y="6038850"/>
            <a:ext cx="5715000" cy="2381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zh-CN" sz="90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演示完记得把这三行撤掉，否则一小时一个文件。</a:t>
            </a:r>
            <a:endParaRPr lang="zh-CN" sz="900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8" name="任意多边形 77"/>
          <p:cNvSpPr/>
          <p:nvPr/>
        </p:nvSpPr>
        <p:spPr>
          <a:xfrm>
            <a:off x="609600" y="6286500"/>
            <a:ext cx="10972800" cy="381000"/>
          </a:xfrm>
          <a:custGeom>
            <a:avLst/>
            <a:gdLst/>
            <a:ahLst/>
            <a:cxnLst/>
            <a:pathLst>
              <a:path w="1152" h="40">
                <a:moveTo>
                  <a:pt x="0" y="0"/>
                </a:moveTo>
                <a:lnTo>
                  <a:pt x="1152" y="0"/>
                </a:lnTo>
                <a:lnTo>
                  <a:pt x="1152" y="1"/>
                </a:lnTo>
                <a:lnTo>
                  <a:pt x="0" y="1"/>
                </a:lnTo>
                <a:close/>
              </a:path>
            </a:pathLst>
          </a:custGeom>
          <a:solidFill>
            <a:srgbClr val="1E293B"/>
          </a:solidFill>
        </p:spPr>
        <p:txBody>
          <a:bodyPr/>
          <a:p/>
        </p:txBody>
      </p:sp>
      <p:sp>
        <p:nvSpPr>
          <p:cNvPr id="79" name="文本框 78" descr="{&quot;isTemplate&quot;:true,&quot;type&quot;:&quot;text&quot;}"/>
          <p:cNvSpPr txBox="1"/>
          <p:nvPr/>
        </p:nvSpPr>
        <p:spPr>
          <a:xfrm>
            <a:off x="609600" y="6410325"/>
            <a:ext cx="2219325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fountain · 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一站式服务器应用开发工具库</a:t>
            </a:r>
            <a:endParaRPr lang="zh-CN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0" name="文本框 79" descr="{&quot;isTemplate&quot;:true,&quot;type&quot;:&quot;text&quot;}"/>
          <p:cNvSpPr txBox="1"/>
          <p:nvPr/>
        </p:nvSpPr>
        <p:spPr>
          <a:xfrm>
            <a:off x="11020425" y="6410325"/>
            <a:ext cx="561975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100 / 116</a:t>
            </a:r>
            <a:endParaRPr lang="en-US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8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矩形 8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220"/>
          </a:solidFill>
        </p:spPr>
        <p:txBody>
          <a:bodyPr/>
          <a:p/>
        </p:txBody>
      </p:sp>
      <p:sp>
        <p:nvSpPr>
          <p:cNvPr id="83" name="矩形 82"/>
          <p:cNvSpPr/>
          <p:nvPr/>
        </p:nvSpPr>
        <p:spPr>
          <a:xfrm>
            <a:off x="609600" y="476250"/>
            <a:ext cx="38100" cy="381000"/>
          </a:xfrm>
          <a:prstGeom prst="rect">
            <a:avLst/>
          </a:prstGeom>
          <a:solidFill>
            <a:srgbClr val="38BDF8"/>
          </a:solidFill>
        </p:spPr>
        <p:txBody>
          <a:bodyPr/>
          <a:p/>
        </p:txBody>
      </p:sp>
      <p:sp>
        <p:nvSpPr>
          <p:cNvPr id="84" name="文本框 83" descr="{&quot;isTemplate&quot;:true,&quot;type&quot;:&quot;text&quot;}"/>
          <p:cNvSpPr txBox="1"/>
          <p:nvPr/>
        </p:nvSpPr>
        <p:spPr>
          <a:xfrm>
            <a:off x="819150" y="304800"/>
            <a:ext cx="9401175" cy="2095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第</a:t>
            </a: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 15 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章</a:t>
            </a: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 · 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日志</a:t>
            </a: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 f_log · 15.8 / 15.9</a:t>
            </a:r>
            <a:endParaRPr lang="en-US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5" name="文本框 84" descr="{&quot;isTemplate&quot;:true,&quot;type&quot;:&quot;text&quot;}"/>
          <p:cNvSpPr txBox="1"/>
          <p:nvPr/>
        </p:nvSpPr>
        <p:spPr>
          <a:xfrm>
            <a:off x="819150" y="514350"/>
            <a:ext cx="9401175" cy="5143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2550" b="1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运行期刷新与八个坑</a:t>
            </a:r>
            <a:endParaRPr lang="zh-CN" sz="2550" b="1">
              <a:solidFill>
                <a:srgbClr val="E2E8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6" name="文本框 85" descr="{&quot;isTemplate&quot;:true,&quot;type&quot;:&quot;text&quot;}"/>
          <p:cNvSpPr txBox="1"/>
          <p:nvPr/>
        </p:nvSpPr>
        <p:spPr>
          <a:xfrm>
            <a:off x="10391775" y="590550"/>
            <a:ext cx="1190625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改完记得手动</a:t>
            </a: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 refresh</a:t>
            </a:r>
            <a:endParaRPr lang="en-US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graphicFrame>
        <p:nvGraphicFramePr>
          <p:cNvPr id="87" name="表格 86"/>
          <p:cNvGraphicFramePr/>
          <p:nvPr/>
        </p:nvGraphicFramePr>
        <p:xfrm>
          <a:off x="609600" y="1143000"/>
          <a:ext cx="10972800" cy="1238252"/>
        </p:xfrm>
        <a:graphic>
          <a:graphicData uri="http://schemas.openxmlformats.org/drawingml/2006/table">
            <a:tbl>
              <a:tblPr/>
              <a:tblGrid>
                <a:gridCol w="4981117"/>
                <a:gridCol w="5991683"/>
              </a:tblGrid>
              <a:tr h="309563"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00" b="1">
                          <a:solidFill>
                            <a:srgbClr val="22D3EE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配置</a:t>
                      </a:r>
                      <a:endParaRPr sz="900" b="1">
                        <a:solidFill>
                          <a:srgbClr val="22D3EE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6233A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00" b="1">
                          <a:solidFill>
                            <a:srgbClr val="22D3EE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生效方式</a:t>
                      </a:r>
                      <a:endParaRPr sz="900" b="1">
                        <a:solidFill>
                          <a:srgbClr val="22D3EE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6233A"/>
                    </a:solidFill>
                  </a:tcPr>
                </a:tc>
              </a:tr>
              <a:tr h="309563"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00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appender 的名字、级别、pattern、路径、切割、压缩</a:t>
                      </a:r>
                      <a:endParaRPr sz="900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00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LoggerFactory.refresh() 生效（重建 facade 与 appender）</a:t>
                      </a:r>
                      <a:endParaRPr sz="900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309563"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00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loggerAsyncTimeout / TimeoutPolicy / 异步队列容量</a:t>
                      </a:r>
                      <a:endParaRPr sz="900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00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在 logger / appender 构造时读取，refresh() 生效</a:t>
                      </a:r>
                      <a:endParaRPr sz="900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309563"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00">
                          <a:solidFill>
                            <a:srgbClr val="F59E0B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loggerAsyncBufsize 的「池大小」那一半</a:t>
                      </a:r>
                      <a:endParaRPr sz="900">
                        <a:solidFill>
                          <a:srgbClr val="F59E0B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00">
                          <a:solidFill>
                            <a:srgbClr val="F59E0B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缓冲区池是进程级静态单例，只在首次用到时建一次 —— 只能重启</a:t>
                      </a:r>
                      <a:endParaRPr sz="900">
                        <a:solidFill>
                          <a:srgbClr val="F59E0B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</a:tbl>
          </a:graphicData>
        </a:graphic>
      </p:graphicFrame>
      <p:graphicFrame>
        <p:nvGraphicFramePr>
          <p:cNvPr id="88" name="表格 87"/>
          <p:cNvGraphicFramePr/>
          <p:nvPr/>
        </p:nvGraphicFramePr>
        <p:xfrm>
          <a:off x="609600" y="2495550"/>
          <a:ext cx="10972800" cy="3676653"/>
        </p:xfrm>
        <a:graphic>
          <a:graphicData uri="http://schemas.openxmlformats.org/drawingml/2006/table">
            <a:tbl>
              <a:tblPr/>
              <a:tblGrid>
                <a:gridCol w="218265"/>
                <a:gridCol w="3070598"/>
                <a:gridCol w="7683936"/>
              </a:tblGrid>
              <a:tr h="408517"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00" b="1">
                          <a:solidFill>
                            <a:srgbClr val="22D3EE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#</a:t>
                      </a:r>
                      <a:endParaRPr sz="900" b="1">
                        <a:solidFill>
                          <a:srgbClr val="22D3EE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6233A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00" b="1">
                          <a:solidFill>
                            <a:srgbClr val="22D3EE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现象</a:t>
                      </a:r>
                      <a:endParaRPr sz="900" b="1">
                        <a:solidFill>
                          <a:srgbClr val="22D3EE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6233A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00" b="1">
                          <a:solidFill>
                            <a:srgbClr val="22D3EE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原因 / 解法</a:t>
                      </a:r>
                      <a:endParaRPr sz="900" b="1">
                        <a:solidFill>
                          <a:srgbClr val="22D3EE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6233A"/>
                    </a:solidFill>
                  </a:tcPr>
                </a:tc>
              </a:tr>
              <a:tr h="408517"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00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1</a:t>
                      </a:r>
                      <a:endParaRPr sz="900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00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日志一条都不输出</a:t>
                      </a:r>
                      <a:endParaRPr sz="900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00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没配任何 appender。fountain 默认静默，至少要 logger_appender_console=【名字】</a:t>
                      </a:r>
                      <a:endParaRPr sz="900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408517"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00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2</a:t>
                      </a:r>
                      <a:endParaRPr sz="900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00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配了级别没生效</a:t>
                      </a:r>
                      <a:endParaRPr sz="900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00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写成了 logger_appender_console_level。级别挂在「你起的名字」上：logger_appender_FDemoConsole_level</a:t>
                      </a:r>
                      <a:endParaRPr sz="900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408517"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00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3</a:t>
                      </a:r>
                      <a:endParaRPr sz="900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00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想只给某个包开 DEBUG，做不到</a:t>
                      </a:r>
                      <a:endParaRPr sz="900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00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级别挂在 appender 上，没有 logger 名字树。要分来源就加一个 appender 配不同 pattern，用 %name 区分</a:t>
                      </a:r>
                      <a:endParaRPr sz="900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408517"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00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4</a:t>
                      </a:r>
                      <a:endParaRPr sz="900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00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高并发时丢日志，控制台出现 EmptyPool</a:t>
                      </a:r>
                      <a:endParaRPr sz="900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00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缓冲区池（默认 1024）被占满且 5ms 内没借到。加大 loggerAsyncBufsize，或接受丢弃</a:t>
                      </a:r>
                      <a:endParaRPr sz="900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408517"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00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5</a:t>
                      </a:r>
                      <a:endParaRPr sz="900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00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业务线程偶发变慢 / 卡顿</a:t>
                      </a:r>
                      <a:endParaRPr sz="900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00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队列满时默认 timeout=Duration.Max 会一直等。要「宁可丢日志」就设 10ms + discard</a:t>
                      </a:r>
                      <a:endParaRPr sz="900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408517"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00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6</a:t>
                      </a:r>
                      <a:endParaRPr sz="900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00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日志按秒切割，文件爆炸</a:t>
                      </a:r>
                      <a:endParaRPr sz="900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00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rotateDuration 配了亚秒级。按 MINUTE 起步，常用 HOUR / DAY</a:t>
                      </a:r>
                      <a:endParaRPr sz="900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408517"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00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7</a:t>
                      </a:r>
                      <a:endParaRPr sz="900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00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改了 loggerAsyncBufsize 没生效</a:t>
                      </a:r>
                      <a:endParaRPr sz="900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00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它同时是缓冲区池的大小，而池是进程级静态单例 —— 只能重启</a:t>
                      </a:r>
                      <a:endParaRPr sz="900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408517"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00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8</a:t>
                      </a:r>
                      <a:endParaRPr sz="900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00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改了 loggerAsyncTimeout / _policy 没生效</a:t>
                      </a:r>
                      <a:endParaRPr sz="900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00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这两个值在构造时读取，改完要 LoggerFactory.refresh()</a:t>
                      </a:r>
                      <a:endParaRPr sz="900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</a:tbl>
          </a:graphicData>
        </a:graphic>
      </p:graphicFrame>
      <p:sp>
        <p:nvSpPr>
          <p:cNvPr id="89" name="任意多边形 88"/>
          <p:cNvSpPr/>
          <p:nvPr/>
        </p:nvSpPr>
        <p:spPr>
          <a:xfrm>
            <a:off x="609600" y="6286500"/>
            <a:ext cx="10972800" cy="381000"/>
          </a:xfrm>
          <a:custGeom>
            <a:avLst/>
            <a:gdLst/>
            <a:ahLst/>
            <a:cxnLst/>
            <a:pathLst>
              <a:path w="1152" h="40">
                <a:moveTo>
                  <a:pt x="0" y="0"/>
                </a:moveTo>
                <a:lnTo>
                  <a:pt x="1152" y="0"/>
                </a:lnTo>
                <a:lnTo>
                  <a:pt x="1152" y="1"/>
                </a:lnTo>
                <a:lnTo>
                  <a:pt x="0" y="1"/>
                </a:lnTo>
                <a:close/>
              </a:path>
            </a:pathLst>
          </a:custGeom>
          <a:solidFill>
            <a:srgbClr val="1E293B"/>
          </a:solidFill>
        </p:spPr>
        <p:txBody>
          <a:bodyPr/>
          <a:p/>
        </p:txBody>
      </p:sp>
      <p:sp>
        <p:nvSpPr>
          <p:cNvPr id="90" name="文本框 89" descr="{&quot;isTemplate&quot;:true,&quot;type&quot;:&quot;text&quot;}"/>
          <p:cNvSpPr txBox="1"/>
          <p:nvPr/>
        </p:nvSpPr>
        <p:spPr>
          <a:xfrm>
            <a:off x="609600" y="6410325"/>
            <a:ext cx="2219325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fountain · 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一站式服务器应用开发工具库</a:t>
            </a:r>
            <a:endParaRPr lang="zh-CN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1" name="文本框 90" descr="{&quot;isTemplate&quot;:true,&quot;type&quot;:&quot;text&quot;}"/>
          <p:cNvSpPr txBox="1"/>
          <p:nvPr/>
        </p:nvSpPr>
        <p:spPr>
          <a:xfrm>
            <a:off x="11020425" y="6410325"/>
            <a:ext cx="561975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101 / 116</a:t>
            </a:r>
            <a:endParaRPr lang="en-US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9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矩形 9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220"/>
          </a:solidFill>
        </p:spPr>
        <p:txBody>
          <a:bodyPr/>
          <a:p/>
        </p:txBody>
      </p:sp>
      <p:sp>
        <p:nvSpPr>
          <p:cNvPr id="94" name="矩形 93"/>
          <p:cNvSpPr/>
          <p:nvPr/>
        </p:nvSpPr>
        <p:spPr>
          <a:xfrm>
            <a:off x="609600" y="476250"/>
            <a:ext cx="38100" cy="381000"/>
          </a:xfrm>
          <a:prstGeom prst="rect">
            <a:avLst/>
          </a:prstGeom>
          <a:solidFill>
            <a:srgbClr val="38BDF8"/>
          </a:solidFill>
        </p:spPr>
        <p:txBody>
          <a:bodyPr/>
          <a:p/>
        </p:txBody>
      </p:sp>
      <p:sp>
        <p:nvSpPr>
          <p:cNvPr id="95" name="文本框 94" descr="{&quot;isTemplate&quot;:true,&quot;type&quot;:&quot;text&quot;}"/>
          <p:cNvSpPr txBox="1"/>
          <p:nvPr/>
        </p:nvSpPr>
        <p:spPr>
          <a:xfrm>
            <a:off x="819150" y="304800"/>
            <a:ext cx="9725025" cy="2095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第</a:t>
            </a: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 15 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章</a:t>
            </a: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 · 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日志</a:t>
            </a: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 f_log · 15.10</a:t>
            </a:r>
            <a:endParaRPr lang="en-US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6" name="文本框 95" descr="{&quot;isTemplate&quot;:true,&quot;type&quot;:&quot;text&quot;}"/>
          <p:cNvSpPr txBox="1"/>
          <p:nvPr/>
        </p:nvSpPr>
        <p:spPr>
          <a:xfrm>
            <a:off x="819150" y="514350"/>
            <a:ext cx="9725025" cy="5143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2550" b="1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速查卡</a:t>
            </a:r>
            <a:endParaRPr lang="zh-CN" sz="2550" b="1">
              <a:solidFill>
                <a:srgbClr val="E2E8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7" name="文本框 96" descr="{&quot;isTemplate&quot;:true,&quot;type&quot;:&quot;text&quot;}"/>
          <p:cNvSpPr txBox="1"/>
          <p:nvPr/>
        </p:nvSpPr>
        <p:spPr>
          <a:xfrm>
            <a:off x="10715625" y="590550"/>
            <a:ext cx="866775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左边可以直接抄</a:t>
            </a:r>
            <a:endParaRPr lang="zh-CN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8" name="圆角矩形 97"/>
          <p:cNvSpPr/>
          <p:nvPr/>
        </p:nvSpPr>
        <p:spPr>
          <a:xfrm>
            <a:off x="609600" y="1143000"/>
            <a:ext cx="5391150" cy="5143500"/>
          </a:xfrm>
          <a:prstGeom prst="roundRect">
            <a:avLst>
              <a:gd name="adj" fmla="val 2222"/>
            </a:avLst>
          </a:prstGeom>
          <a:solidFill>
            <a:srgbClr val="0B1220"/>
          </a:solidFill>
          <a:ln w="12700">
            <a:solidFill>
              <a:srgbClr val="38BDF8"/>
            </a:solidFill>
            <a:prstDash val="solid"/>
          </a:ln>
        </p:spPr>
        <p:txBody>
          <a:bodyPr/>
          <a:p/>
        </p:txBody>
      </p:sp>
      <p:sp>
        <p:nvSpPr>
          <p:cNvPr id="99" name="文本框 98" descr="{&quot;isTemplate&quot;:true,&quot;type&quot;:&quot;text&quot;}"/>
          <p:cNvSpPr txBox="1"/>
          <p:nvPr/>
        </p:nvSpPr>
        <p:spPr>
          <a:xfrm>
            <a:off x="781050" y="1314450"/>
            <a:ext cx="5048250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38BDF8"/>
                </a:solidFill>
                <a:latin typeface="微软雅黑" panose="020B0503020204020204" charset="-122"/>
                <a:ea typeface="微软雅黑" panose="020B0503020204020204" charset="-122"/>
              </a:rPr>
              <a:t>代码</a:t>
            </a:r>
            <a:endParaRPr lang="zh-CN" sz="975">
              <a:solidFill>
                <a:srgbClr val="38BDF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0" name="文本框 99" descr="{&quot;isTemplate&quot;:true,&quot;type&quot;:&quot;text&quot;}"/>
          <p:cNvSpPr txBox="1"/>
          <p:nvPr/>
        </p:nvSpPr>
        <p:spPr>
          <a:xfrm>
            <a:off x="781050" y="1543050"/>
            <a:ext cx="5048250" cy="2381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en-US" sz="900">
                <a:solidFill>
                  <a:srgbClr val="94A3B8"/>
                </a:solidFill>
                <a:latin typeface="JetBrains Mono"/>
                <a:ea typeface="JetBrains Mono"/>
              </a:rPr>
              <a:t>// </a:t>
            </a:r>
            <a:r>
              <a:rPr lang="zh-CN" sz="900">
                <a:solidFill>
                  <a:srgbClr val="94A3B8"/>
                </a:solidFill>
                <a:latin typeface="JetBrains Mono"/>
                <a:ea typeface="JetBrains Mono"/>
              </a:rPr>
              <a:t>拿</a:t>
            </a:r>
            <a:r>
              <a:rPr lang="en-US" sz="900">
                <a:solidFill>
                  <a:srgbClr val="94A3B8"/>
                </a:solidFill>
                <a:latin typeface="JetBrains Mono"/>
                <a:ea typeface="JetBrains Mono"/>
              </a:rPr>
              <a:t> logger</a:t>
            </a:r>
            <a:r>
              <a:rPr lang="zh-CN" sz="900">
                <a:solidFill>
                  <a:srgbClr val="94A3B8"/>
                </a:solidFill>
                <a:latin typeface="JetBrains Mono"/>
                <a:ea typeface="JetBrains Mono"/>
              </a:rPr>
              <a:t>：名字</a:t>
            </a:r>
            <a:r>
              <a:rPr lang="en-US" sz="900">
                <a:solidFill>
                  <a:srgbClr val="94A3B8"/>
                </a:solidFill>
                <a:latin typeface="JetBrains Mono"/>
                <a:ea typeface="JetBrains Mono"/>
              </a:rPr>
              <a:t> = </a:t>
            </a:r>
            <a:r>
              <a:rPr lang="zh-CN" sz="900">
                <a:solidFill>
                  <a:srgbClr val="94A3B8"/>
                </a:solidFill>
                <a:latin typeface="JetBrains Mono"/>
                <a:ea typeface="JetBrains Mono"/>
              </a:rPr>
              <a:t>完整限定名（推荐）</a:t>
            </a:r>
            <a:r>
              <a:rPr lang="en-US" sz="900">
                <a:solidFill>
                  <a:srgbClr val="94A3B8"/>
                </a:solidFill>
                <a:latin typeface="JetBrains Mono"/>
                <a:ea typeface="JetBrains Mono"/>
              </a:rPr>
              <a:t>/ </a:t>
            </a:r>
            <a:r>
              <a:rPr lang="zh-CN" sz="900">
                <a:solidFill>
                  <a:srgbClr val="94A3B8"/>
                </a:solidFill>
                <a:latin typeface="JetBrains Mono"/>
                <a:ea typeface="JetBrains Mono"/>
              </a:rPr>
              <a:t>或任意字面量</a:t>
            </a:r>
            <a:endParaRPr lang="zh-CN" sz="900">
              <a:solidFill>
                <a:srgbClr val="94A3B8"/>
              </a:solidFill>
              <a:latin typeface="JetBrains Mono"/>
              <a:ea typeface="JetBrains Mono"/>
            </a:endParaRPr>
          </a:p>
        </p:txBody>
      </p:sp>
      <p:sp>
        <p:nvSpPr>
          <p:cNvPr id="101" name="文本框 100" descr="{&quot;isTemplate&quot;:true,&quot;type&quot;:&quot;text&quot;}"/>
          <p:cNvSpPr txBox="1"/>
          <p:nvPr/>
        </p:nvSpPr>
        <p:spPr>
          <a:xfrm>
            <a:off x="781050" y="1781175"/>
            <a:ext cx="5048250" cy="2381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en-US" sz="900">
                <a:solidFill>
                  <a:srgbClr val="E2E8F0"/>
                </a:solidFill>
                <a:latin typeface="JetBrains Mono"/>
                <a:ea typeface="JetBrains Mono"/>
              </a:rPr>
              <a:t>private static let log = LoggerFactory.getLogger&lt;UserServiceImpl&gt;()</a:t>
            </a:r>
            <a:endParaRPr lang="en-US" sz="900">
              <a:solidFill>
                <a:srgbClr val="E2E8F0"/>
              </a:solidFill>
              <a:latin typeface="JetBrains Mono"/>
              <a:ea typeface="JetBrains Mono"/>
            </a:endParaRPr>
          </a:p>
        </p:txBody>
      </p:sp>
      <p:sp>
        <p:nvSpPr>
          <p:cNvPr id="102" name="文本框 101" descr="{&quot;isTemplate&quot;:true,&quot;type&quot;:&quot;text&quot;}"/>
          <p:cNvSpPr txBox="1"/>
          <p:nvPr/>
        </p:nvSpPr>
        <p:spPr>
          <a:xfrm>
            <a:off x="781050" y="2019300"/>
            <a:ext cx="5048250" cy="2381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en-US" sz="900">
                <a:solidFill>
                  <a:srgbClr val="E2E8F0"/>
                </a:solidFill>
                <a:latin typeface="JetBrains Mono"/>
                <a:ea typeface="JetBrains Mono"/>
              </a:rPr>
              <a:t>private static let log2 = LoggerFactory.getLogger('my.business')</a:t>
            </a:r>
            <a:endParaRPr lang="en-US" sz="900">
              <a:solidFill>
                <a:srgbClr val="E2E8F0"/>
              </a:solidFill>
              <a:latin typeface="JetBrains Mono"/>
              <a:ea typeface="JetBrains Mono"/>
            </a:endParaRPr>
          </a:p>
        </p:txBody>
      </p:sp>
      <p:sp>
        <p:nvSpPr>
          <p:cNvPr id="103" name="文本框 102" descr="{&quot;isTemplate&quot;:true,&quot;type&quot;:&quot;text&quot;}"/>
          <p:cNvSpPr txBox="1"/>
          <p:nvPr/>
        </p:nvSpPr>
        <p:spPr>
          <a:xfrm>
            <a:off x="781050" y="2352675"/>
            <a:ext cx="5048250" cy="2381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en-US" sz="900">
                <a:solidFill>
                  <a:srgbClr val="94A3B8"/>
                </a:solidFill>
                <a:latin typeface="JetBrains Mono"/>
                <a:ea typeface="JetBrains Mono"/>
              </a:rPr>
              <a:t>// </a:t>
            </a:r>
            <a:r>
              <a:rPr lang="zh-CN" sz="900">
                <a:solidFill>
                  <a:srgbClr val="94A3B8"/>
                </a:solidFill>
                <a:latin typeface="JetBrains Mono"/>
                <a:ea typeface="JetBrains Mono"/>
              </a:rPr>
              <a:t>写日志：惰性</a:t>
            </a:r>
            <a:r>
              <a:rPr lang="en-US" sz="900">
                <a:solidFill>
                  <a:srgbClr val="94A3B8"/>
                </a:solidFill>
                <a:latin typeface="JetBrains Mono"/>
                <a:ea typeface="JetBrains Mono"/>
              </a:rPr>
              <a:t> lambda / </a:t>
            </a:r>
            <a:r>
              <a:rPr lang="zh-CN" sz="900">
                <a:solidFill>
                  <a:srgbClr val="94A3B8"/>
                </a:solidFill>
                <a:latin typeface="JetBrains Mono"/>
                <a:ea typeface="JetBrains Mono"/>
              </a:rPr>
              <a:t>模板</a:t>
            </a:r>
            <a:r>
              <a:rPr lang="en-US" sz="900">
                <a:solidFill>
                  <a:srgbClr val="94A3B8"/>
                </a:solidFill>
                <a:latin typeface="JetBrains Mono"/>
                <a:ea typeface="JetBrains Mono"/>
              </a:rPr>
              <a:t> / </a:t>
            </a:r>
            <a:r>
              <a:rPr lang="zh-CN" sz="900">
                <a:solidFill>
                  <a:srgbClr val="94A3B8"/>
                </a:solidFill>
                <a:latin typeface="JetBrains Mono"/>
                <a:ea typeface="JetBrains Mono"/>
              </a:rPr>
              <a:t>异常</a:t>
            </a:r>
            <a:endParaRPr lang="zh-CN" sz="900">
              <a:solidFill>
                <a:srgbClr val="94A3B8"/>
              </a:solidFill>
              <a:latin typeface="JetBrains Mono"/>
              <a:ea typeface="JetBrains Mono"/>
            </a:endParaRPr>
          </a:p>
        </p:txBody>
      </p:sp>
      <p:sp>
        <p:nvSpPr>
          <p:cNvPr id="104" name="文本框 103" descr="{&quot;isTemplate&quot;:true,&quot;type&quot;:&quot;text&quot;}"/>
          <p:cNvSpPr txBox="1"/>
          <p:nvPr/>
        </p:nvSpPr>
        <p:spPr>
          <a:xfrm>
            <a:off x="781050" y="2590800"/>
            <a:ext cx="5048250" cy="2381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en-US" sz="900">
                <a:solidFill>
                  <a:srgbClr val="38BDF8"/>
                </a:solidFill>
                <a:latin typeface="JetBrains Mono"/>
                <a:ea typeface="JetBrains Mono"/>
              </a:rPr>
              <a:t>log.info{'start create user: ${name}'}</a:t>
            </a:r>
            <a:endParaRPr lang="en-US" sz="900">
              <a:solidFill>
                <a:srgbClr val="38BDF8"/>
              </a:solidFill>
              <a:latin typeface="JetBrains Mono"/>
              <a:ea typeface="JetBrains Mono"/>
            </a:endParaRPr>
          </a:p>
        </p:txBody>
      </p:sp>
      <p:sp>
        <p:nvSpPr>
          <p:cNvPr id="105" name="文本框 104" descr="{&quot;isTemplate&quot;:true,&quot;type&quot;:&quot;text&quot;}"/>
          <p:cNvSpPr txBox="1"/>
          <p:nvPr/>
        </p:nvSpPr>
        <p:spPr>
          <a:xfrm>
            <a:off x="781050" y="2828925"/>
            <a:ext cx="5048250" cy="2381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en-US" sz="900">
                <a:solidFill>
                  <a:srgbClr val="38BDF8"/>
                </a:solidFill>
                <a:latin typeface="JetBrains Mono"/>
                <a:ea typeface="JetBrains Mono"/>
              </a:rPr>
              <a:t>log.info('user {} login from {}', [name, ip])</a:t>
            </a:r>
            <a:endParaRPr lang="en-US" sz="900">
              <a:solidFill>
                <a:srgbClr val="38BDF8"/>
              </a:solidFill>
              <a:latin typeface="JetBrains Mono"/>
              <a:ea typeface="JetBrains Mono"/>
            </a:endParaRPr>
          </a:p>
        </p:txBody>
      </p:sp>
      <p:sp>
        <p:nvSpPr>
          <p:cNvPr id="106" name="文本框 105" descr="{&quot;isTemplate&quot;:true,&quot;type&quot;:&quot;text&quot;}"/>
          <p:cNvSpPr txBox="1"/>
          <p:nvPr/>
        </p:nvSpPr>
        <p:spPr>
          <a:xfrm>
            <a:off x="781050" y="3067050"/>
            <a:ext cx="5048250" cy="2381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en-US" sz="900">
                <a:solidFill>
                  <a:srgbClr val="38BDF8"/>
                </a:solidFill>
                <a:latin typeface="JetBrains Mono"/>
                <a:ea typeface="JetBrains Mono"/>
              </a:rPr>
              <a:t>log.info('user {name} is {age}', userPo)   // @DataAssist[fields] </a:t>
            </a:r>
            <a:r>
              <a:rPr lang="zh-CN" sz="900">
                <a:solidFill>
                  <a:srgbClr val="38BDF8"/>
                </a:solidFill>
                <a:latin typeface="JetBrains Mono"/>
                <a:ea typeface="JetBrains Mono"/>
              </a:rPr>
              <a:t>对象</a:t>
            </a:r>
            <a:endParaRPr lang="zh-CN" sz="900">
              <a:solidFill>
                <a:srgbClr val="38BDF8"/>
              </a:solidFill>
              <a:latin typeface="JetBrains Mono"/>
              <a:ea typeface="JetBrains Mono"/>
            </a:endParaRPr>
          </a:p>
        </p:txBody>
      </p:sp>
      <p:sp>
        <p:nvSpPr>
          <p:cNvPr id="107" name="文本框 106" descr="{&quot;isTemplate&quot;:true,&quot;type&quot;:&quot;text&quot;}"/>
          <p:cNvSpPr txBox="1"/>
          <p:nvPr/>
        </p:nvSpPr>
        <p:spPr>
          <a:xfrm>
            <a:off x="781050" y="3305175"/>
            <a:ext cx="5048250" cy="2381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en-US" sz="900">
                <a:solidFill>
                  <a:srgbClr val="F59E0B"/>
                </a:solidFill>
                <a:latin typeface="JetBrains Mono"/>
                <a:ea typeface="JetBrains Mono"/>
              </a:rPr>
              <a:t>log.error(e){'query user failed: ${id}'}</a:t>
            </a:r>
            <a:r>
              <a:rPr lang="zh-CN" sz="900">
                <a:solidFill>
                  <a:srgbClr val="F59E0B"/>
                </a:solidFill>
                <a:latin typeface="JetBrains Mono"/>
                <a:ea typeface="JetBrains Mono"/>
              </a:rPr>
              <a:t>　·　</a:t>
            </a:r>
            <a:r>
              <a:rPr lang="en-US" sz="900">
                <a:solidFill>
                  <a:srgbClr val="F59E0B"/>
                </a:solidFill>
                <a:latin typeface="JetBrains Mono"/>
                <a:ea typeface="JetBrains Mono"/>
              </a:rPr>
              <a:t>log.error('...', e)</a:t>
            </a:r>
            <a:endParaRPr lang="en-US" sz="900">
              <a:solidFill>
                <a:srgbClr val="F59E0B"/>
              </a:solidFill>
              <a:latin typeface="JetBrains Mono"/>
              <a:ea typeface="JetBrains Mono"/>
            </a:endParaRPr>
          </a:p>
        </p:txBody>
      </p:sp>
      <p:sp>
        <p:nvSpPr>
          <p:cNvPr id="108" name="文本框 107" descr="{&quot;isTemplate&quot;:true,&quot;type&quot;:&quot;text&quot;}"/>
          <p:cNvSpPr txBox="1"/>
          <p:nvPr/>
        </p:nvSpPr>
        <p:spPr>
          <a:xfrm>
            <a:off x="781050" y="3638550"/>
            <a:ext cx="5048250" cy="2381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en-US" sz="900">
                <a:solidFill>
                  <a:srgbClr val="94A3B8"/>
                </a:solidFill>
                <a:latin typeface="JetBrains Mono"/>
                <a:ea typeface="JetBrains Mono"/>
              </a:rPr>
              <a:t>// </a:t>
            </a:r>
            <a:r>
              <a:rPr lang="zh-CN" sz="900">
                <a:solidFill>
                  <a:srgbClr val="94A3B8"/>
                </a:solidFill>
                <a:latin typeface="JetBrains Mono"/>
                <a:ea typeface="JetBrains Mono"/>
              </a:rPr>
              <a:t>脱敏</a:t>
            </a:r>
            <a:r>
              <a:rPr lang="en-US" sz="900">
                <a:solidFill>
                  <a:srgbClr val="94A3B8"/>
                </a:solidFill>
                <a:latin typeface="JetBrains Mono"/>
                <a:ea typeface="JetBrains Mono"/>
              </a:rPr>
              <a:t> / </a:t>
            </a:r>
            <a:r>
              <a:rPr lang="zh-CN" sz="900">
                <a:solidFill>
                  <a:srgbClr val="94A3B8"/>
                </a:solidFill>
                <a:latin typeface="JetBrains Mono"/>
                <a:ea typeface="JetBrains Mono"/>
              </a:rPr>
              <a:t>附带属性</a:t>
            </a:r>
            <a:endParaRPr lang="zh-CN" sz="900">
              <a:solidFill>
                <a:srgbClr val="94A3B8"/>
              </a:solidFill>
              <a:latin typeface="JetBrains Mono"/>
              <a:ea typeface="JetBrains Mono"/>
            </a:endParaRPr>
          </a:p>
        </p:txBody>
      </p:sp>
      <p:sp>
        <p:nvSpPr>
          <p:cNvPr id="109" name="文本框 108" descr="{&quot;isTemplate&quot;:true,&quot;type&quot;:&quot;text&quot;}"/>
          <p:cNvSpPr txBox="1"/>
          <p:nvPr/>
        </p:nvSpPr>
        <p:spPr>
          <a:xfrm>
            <a:off x="781050" y="3876675"/>
            <a:ext cx="5048250" cy="2381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en-US" sz="900">
                <a:solidFill>
                  <a:srgbClr val="E2E8F0"/>
                </a:solidFill>
                <a:latin typeface="JetBrains Mono"/>
                <a:ea typeface="JetBrains Mono"/>
              </a:rPr>
              <a:t>LoggerConfig.filter = MyLogFilter()   // LogFilter </a:t>
            </a:r>
            <a:r>
              <a:rPr lang="zh-CN" sz="900">
                <a:solidFill>
                  <a:srgbClr val="E2E8F0"/>
                </a:solidFill>
                <a:latin typeface="JetBrains Mono"/>
                <a:ea typeface="JetBrains Mono"/>
              </a:rPr>
              <a:t>接口</a:t>
            </a:r>
            <a:endParaRPr lang="zh-CN" sz="900">
              <a:solidFill>
                <a:srgbClr val="E2E8F0"/>
              </a:solidFill>
              <a:latin typeface="JetBrains Mono"/>
              <a:ea typeface="JetBrains Mono"/>
            </a:endParaRPr>
          </a:p>
        </p:txBody>
      </p:sp>
      <p:sp>
        <p:nvSpPr>
          <p:cNvPr id="110" name="文本框 109" descr="{&quot;isTemplate&quot;:true,&quot;type&quot;:&quot;text&quot;}"/>
          <p:cNvSpPr txBox="1"/>
          <p:nvPr/>
        </p:nvSpPr>
        <p:spPr>
          <a:xfrm>
            <a:off x="781050" y="4114800"/>
            <a:ext cx="5048250" cy="2381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en-US" sz="900">
                <a:solidFill>
                  <a:srgbClr val="E2E8F0"/>
                </a:solidFill>
                <a:latin typeface="JetBrains Mono"/>
                <a:ea typeface="JetBrains Mono"/>
              </a:rPr>
              <a:t>log.withAttrs([Attr('traceId', LogValue('...'))])</a:t>
            </a:r>
            <a:endParaRPr lang="en-US" sz="900">
              <a:solidFill>
                <a:srgbClr val="E2E8F0"/>
              </a:solidFill>
              <a:latin typeface="JetBrains Mono"/>
              <a:ea typeface="JetBrains Mono"/>
            </a:endParaRPr>
          </a:p>
        </p:txBody>
      </p:sp>
      <p:sp>
        <p:nvSpPr>
          <p:cNvPr id="111" name="文本框 110" descr="{&quot;isTemplate&quot;:true,&quot;type&quot;:&quot;text&quot;}"/>
          <p:cNvSpPr txBox="1"/>
          <p:nvPr/>
        </p:nvSpPr>
        <p:spPr>
          <a:xfrm>
            <a:off x="781050" y="4448175"/>
            <a:ext cx="5048250" cy="2381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en-US" sz="900">
                <a:solidFill>
                  <a:srgbClr val="F59E0B"/>
                </a:solidFill>
                <a:latin typeface="JetBrains Mono"/>
                <a:ea typeface="JetBrains Mono"/>
              </a:rPr>
              <a:t>LoggerFactory.refresh()   // f_config </a:t>
            </a:r>
            <a:r>
              <a:rPr lang="zh-CN" sz="900">
                <a:solidFill>
                  <a:srgbClr val="F59E0B"/>
                </a:solidFill>
                <a:latin typeface="JetBrains Mono"/>
                <a:ea typeface="JetBrains Mono"/>
              </a:rPr>
              <a:t>的</a:t>
            </a:r>
            <a:r>
              <a:rPr lang="en-US" sz="900">
                <a:solidFill>
                  <a:srgbClr val="F59E0B"/>
                </a:solidFill>
                <a:latin typeface="JetBrains Mono"/>
                <a:ea typeface="JetBrains Mono"/>
              </a:rPr>
              <a:t> refresher </a:t>
            </a:r>
            <a:r>
              <a:rPr lang="zh-CN" sz="900">
                <a:solidFill>
                  <a:srgbClr val="F59E0B"/>
                </a:solidFill>
                <a:latin typeface="JetBrains Mono"/>
                <a:ea typeface="JetBrains Mono"/>
              </a:rPr>
              <a:t>目前不会自动触发，要手动调</a:t>
            </a:r>
            <a:endParaRPr lang="zh-CN" sz="900">
              <a:solidFill>
                <a:srgbClr val="F59E0B"/>
              </a:solidFill>
              <a:latin typeface="JetBrains Mono"/>
              <a:ea typeface="JetBrains Mono"/>
            </a:endParaRPr>
          </a:p>
        </p:txBody>
      </p:sp>
      <p:sp>
        <p:nvSpPr>
          <p:cNvPr id="112" name="文本框 111" descr="{&quot;isTemplate&quot;:true,&quot;type&quot;:&quot;text&quot;}"/>
          <p:cNvSpPr txBox="1"/>
          <p:nvPr/>
        </p:nvSpPr>
        <p:spPr>
          <a:xfrm>
            <a:off x="781050" y="5648325"/>
            <a:ext cx="5048250" cy="466725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zh-CN" sz="90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六个</a:t>
            </a:r>
            <a:r>
              <a:rPr lang="en-US" sz="90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 enabled </a:t>
            </a:r>
            <a:r>
              <a:rPr lang="zh-CN" sz="90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属性（</a:t>
            </a:r>
            <a:r>
              <a:rPr lang="en-US" sz="90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debugEnabled / infoEnabled / warnEnabled / errorEnabled / fatalEnabled / logLevelEnabled</a:t>
            </a:r>
            <a:r>
              <a:rPr lang="zh-CN" sz="90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）用于热路径前置判断。</a:t>
            </a:r>
            <a:endParaRPr lang="zh-CN" sz="90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3" name="圆角矩形 112"/>
          <p:cNvSpPr/>
          <p:nvPr/>
        </p:nvSpPr>
        <p:spPr>
          <a:xfrm>
            <a:off x="6191250" y="1143000"/>
            <a:ext cx="5391150" cy="5143500"/>
          </a:xfrm>
          <a:prstGeom prst="roundRect">
            <a:avLst>
              <a:gd name="adj" fmla="val 2222"/>
            </a:avLst>
          </a:prstGeom>
          <a:solidFill>
            <a:srgbClr val="0B1220"/>
          </a:solidFill>
          <a:ln w="12700">
            <a:solidFill>
              <a:srgbClr val="1E293B"/>
            </a:solidFill>
            <a:prstDash val="solid"/>
          </a:ln>
        </p:spPr>
        <p:txBody>
          <a:bodyPr/>
          <a:p/>
        </p:txBody>
      </p:sp>
      <p:sp>
        <p:nvSpPr>
          <p:cNvPr id="114" name="文本框 113" descr="{&quot;isTemplate&quot;:true,&quot;type&quot;:&quot;text&quot;}"/>
          <p:cNvSpPr txBox="1"/>
          <p:nvPr/>
        </p:nvSpPr>
        <p:spPr>
          <a:xfrm>
            <a:off x="6362700" y="1314450"/>
            <a:ext cx="5048250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配置：一类</a:t>
            </a: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 appender 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挂若干具名实例，实例各自配级别</a:t>
            </a: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 / 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格式</a:t>
            </a:r>
            <a:endParaRPr lang="zh-CN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5" name="文本框 114" descr="{&quot;isTemplate&quot;:true,&quot;type&quot;:&quot;text&quot;}"/>
          <p:cNvSpPr txBox="1"/>
          <p:nvPr/>
        </p:nvSpPr>
        <p:spPr>
          <a:xfrm>
            <a:off x="6362700" y="1543050"/>
            <a:ext cx="5048250" cy="2381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en-US" sz="900">
                <a:solidFill>
                  <a:srgbClr val="E2E8F0"/>
                </a:solidFill>
                <a:latin typeface="JetBrains Mono"/>
                <a:ea typeface="JetBrains Mono"/>
              </a:rPr>
              <a:t>export logger_appender_console=FDemoConsole</a:t>
            </a:r>
            <a:endParaRPr lang="en-US" sz="900">
              <a:solidFill>
                <a:srgbClr val="E2E8F0"/>
              </a:solidFill>
              <a:latin typeface="JetBrains Mono"/>
              <a:ea typeface="JetBrains Mono"/>
            </a:endParaRPr>
          </a:p>
        </p:txBody>
      </p:sp>
      <p:sp>
        <p:nvSpPr>
          <p:cNvPr id="116" name="文本框 115" descr="{&quot;isTemplate&quot;:true,&quot;type&quot;:&quot;text&quot;}"/>
          <p:cNvSpPr txBox="1"/>
          <p:nvPr/>
        </p:nvSpPr>
        <p:spPr>
          <a:xfrm>
            <a:off x="6362700" y="1781175"/>
            <a:ext cx="5048250" cy="2381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en-US" sz="900">
                <a:solidFill>
                  <a:srgbClr val="E2E8F0"/>
                </a:solidFill>
                <a:latin typeface="JetBrains Mono"/>
                <a:ea typeface="JetBrains Mono"/>
              </a:rPr>
              <a:t>export logger_appender_FDemoConsole_level=DEBUG</a:t>
            </a:r>
            <a:endParaRPr lang="en-US" sz="900">
              <a:solidFill>
                <a:srgbClr val="E2E8F0"/>
              </a:solidFill>
              <a:latin typeface="JetBrains Mono"/>
              <a:ea typeface="JetBrains Mono"/>
            </a:endParaRPr>
          </a:p>
        </p:txBody>
      </p:sp>
      <p:sp>
        <p:nvSpPr>
          <p:cNvPr id="117" name="文本框 116" descr="{&quot;isTemplate&quot;:true,&quot;type&quot;:&quot;text&quot;}"/>
          <p:cNvSpPr txBox="1"/>
          <p:nvPr/>
        </p:nvSpPr>
        <p:spPr>
          <a:xfrm>
            <a:off x="6362700" y="2019300"/>
            <a:ext cx="5048250" cy="466725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en-US" sz="900">
                <a:solidFill>
                  <a:srgbClr val="38BDF8"/>
                </a:solidFill>
                <a:latin typeface="JetBrains Mono"/>
                <a:ea typeface="JetBrains Mono"/>
              </a:rPr>
              <a:t>export logger_appender_FDemoConsole_pattern='[%level-%name]%d{yyyy/MM/dd,HH:mm:ss.SSS}|%tid;%m'</a:t>
            </a:r>
            <a:endParaRPr lang="en-US" sz="900">
              <a:solidFill>
                <a:srgbClr val="38BDF8"/>
              </a:solidFill>
              <a:latin typeface="JetBrains Mono"/>
              <a:ea typeface="JetBrains Mono"/>
            </a:endParaRPr>
          </a:p>
        </p:txBody>
      </p:sp>
      <p:sp>
        <p:nvSpPr>
          <p:cNvPr id="118" name="文本框 117" descr="{&quot;isTemplate&quot;:true,&quot;type&quot;:&quot;text&quot;}"/>
          <p:cNvSpPr txBox="1"/>
          <p:nvPr/>
        </p:nvSpPr>
        <p:spPr>
          <a:xfrm>
            <a:off x="6362700" y="2562225"/>
            <a:ext cx="5048250" cy="2381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en-US" sz="900">
                <a:solidFill>
                  <a:srgbClr val="E2E8F0"/>
                </a:solidFill>
                <a:latin typeface="JetBrains Mono"/>
                <a:ea typeface="JetBrains Mono"/>
              </a:rPr>
              <a:t>export logger_appender_file=FDemoFile</a:t>
            </a:r>
            <a:endParaRPr lang="en-US" sz="900">
              <a:solidFill>
                <a:srgbClr val="E2E8F0"/>
              </a:solidFill>
              <a:latin typeface="JetBrains Mono"/>
              <a:ea typeface="JetBrains Mono"/>
            </a:endParaRPr>
          </a:p>
        </p:txBody>
      </p:sp>
      <p:sp>
        <p:nvSpPr>
          <p:cNvPr id="119" name="文本框 118" descr="{&quot;isTemplate&quot;:true,&quot;type&quot;:&quot;text&quot;}"/>
          <p:cNvSpPr txBox="1"/>
          <p:nvPr/>
        </p:nvSpPr>
        <p:spPr>
          <a:xfrm>
            <a:off x="6362700" y="2800350"/>
            <a:ext cx="5048250" cy="2381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en-US" sz="900">
                <a:solidFill>
                  <a:srgbClr val="E2E8F0"/>
                </a:solidFill>
                <a:latin typeface="JetBrains Mono"/>
                <a:ea typeface="JetBrains Mono"/>
              </a:rPr>
              <a:t>export logger_appender_FDemoFile_level=INFO</a:t>
            </a:r>
            <a:endParaRPr lang="en-US" sz="900">
              <a:solidFill>
                <a:srgbClr val="E2E8F0"/>
              </a:solidFill>
              <a:latin typeface="JetBrains Mono"/>
              <a:ea typeface="JetBrains Mono"/>
            </a:endParaRPr>
          </a:p>
        </p:txBody>
      </p:sp>
      <p:sp>
        <p:nvSpPr>
          <p:cNvPr id="120" name="文本框 119" descr="{&quot;isTemplate&quot;:true,&quot;type&quot;:&quot;text&quot;}"/>
          <p:cNvSpPr txBox="1"/>
          <p:nvPr/>
        </p:nvSpPr>
        <p:spPr>
          <a:xfrm>
            <a:off x="6362700" y="3038475"/>
            <a:ext cx="5048250" cy="2381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en-US" sz="900">
                <a:solidFill>
                  <a:srgbClr val="E2E8F0"/>
                </a:solidFill>
                <a:latin typeface="JetBrains Mono"/>
                <a:ea typeface="JetBrains Mono"/>
              </a:rPr>
              <a:t>export logger_appender_FDemoFile_path=./log/fdemo.log</a:t>
            </a:r>
            <a:endParaRPr lang="en-US" sz="900">
              <a:solidFill>
                <a:srgbClr val="E2E8F0"/>
              </a:solidFill>
              <a:latin typeface="JetBrains Mono"/>
              <a:ea typeface="JetBrains Mono"/>
            </a:endParaRPr>
          </a:p>
        </p:txBody>
      </p:sp>
      <p:sp>
        <p:nvSpPr>
          <p:cNvPr id="121" name="文本框 120" descr="{&quot;isTemplate&quot;:true,&quot;type&quot;:&quot;text&quot;}"/>
          <p:cNvSpPr txBox="1"/>
          <p:nvPr/>
        </p:nvSpPr>
        <p:spPr>
          <a:xfrm>
            <a:off x="6362700" y="3276600"/>
            <a:ext cx="5048250" cy="2381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en-US" sz="900">
                <a:solidFill>
                  <a:srgbClr val="F59E0B"/>
                </a:solidFill>
                <a:latin typeface="JetBrains Mono"/>
                <a:ea typeface="JetBrains Mono"/>
              </a:rPr>
              <a:t>export logger_appender_FDemoFile_rotateDuration=DAY    # </a:t>
            </a:r>
            <a:r>
              <a:rPr lang="zh-CN" sz="900">
                <a:solidFill>
                  <a:srgbClr val="F59E0B"/>
                </a:solidFill>
                <a:latin typeface="JetBrains Mono"/>
                <a:ea typeface="JetBrains Mono"/>
              </a:rPr>
              <a:t>别用亚秒级</a:t>
            </a:r>
            <a:endParaRPr lang="zh-CN" sz="900">
              <a:solidFill>
                <a:srgbClr val="F59E0B"/>
              </a:solidFill>
              <a:latin typeface="JetBrains Mono"/>
              <a:ea typeface="JetBrains Mono"/>
            </a:endParaRPr>
          </a:p>
        </p:txBody>
      </p:sp>
      <p:sp>
        <p:nvSpPr>
          <p:cNvPr id="122" name="文本框 121" descr="{&quot;isTemplate&quot;:true,&quot;type&quot;:&quot;text&quot;}"/>
          <p:cNvSpPr txBox="1"/>
          <p:nvPr/>
        </p:nvSpPr>
        <p:spPr>
          <a:xfrm>
            <a:off x="6362700" y="3514725"/>
            <a:ext cx="5048250" cy="466725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en-US" sz="900">
                <a:solidFill>
                  <a:srgbClr val="94A3B8"/>
                </a:solidFill>
                <a:latin typeface="JetBrains Mono"/>
                <a:ea typeface="JetBrains Mono"/>
              </a:rPr>
              <a:t>export logger_appender_FDemoFile_rotateSize=100M      # </a:t>
            </a:r>
            <a:r>
              <a:rPr lang="zh-CN" sz="900">
                <a:solidFill>
                  <a:srgbClr val="94A3B8"/>
                </a:solidFill>
                <a:latin typeface="JetBrains Mono"/>
                <a:ea typeface="JetBrains Mono"/>
              </a:rPr>
              <a:t>可选，支持</a:t>
            </a:r>
            <a:r>
              <a:rPr lang="en-US" sz="900">
                <a:solidFill>
                  <a:srgbClr val="94A3B8"/>
                </a:solidFill>
                <a:latin typeface="JetBrains Mono"/>
                <a:ea typeface="JetBrains Mono"/>
              </a:rPr>
              <a:t> 100k/100M/1G</a:t>
            </a:r>
            <a:endParaRPr lang="en-US" sz="900">
              <a:solidFill>
                <a:srgbClr val="94A3B8"/>
              </a:solidFill>
              <a:latin typeface="JetBrains Mono"/>
              <a:ea typeface="JetBrains Mono"/>
            </a:endParaRPr>
          </a:p>
        </p:txBody>
      </p:sp>
      <p:sp>
        <p:nvSpPr>
          <p:cNvPr id="123" name="文本框 122" descr="{&quot;isTemplate&quot;:true,&quot;type&quot;:&quot;text&quot;}"/>
          <p:cNvSpPr txBox="1"/>
          <p:nvPr/>
        </p:nvSpPr>
        <p:spPr>
          <a:xfrm>
            <a:off x="6362700" y="3981450"/>
            <a:ext cx="5048250" cy="2381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en-US" sz="900">
                <a:solidFill>
                  <a:srgbClr val="94A3B8"/>
                </a:solidFill>
                <a:latin typeface="JetBrains Mono"/>
                <a:ea typeface="JetBrains Mono"/>
              </a:rPr>
              <a:t>export logger_appender_FDemoFile_compressFormat=GZip  # </a:t>
            </a:r>
            <a:r>
              <a:rPr lang="zh-CN" sz="900">
                <a:solidFill>
                  <a:srgbClr val="94A3B8"/>
                </a:solidFill>
                <a:latin typeface="JetBrains Mono"/>
                <a:ea typeface="JetBrains Mono"/>
              </a:rPr>
              <a:t>可选：</a:t>
            </a:r>
            <a:r>
              <a:rPr lang="en-US" sz="900">
                <a:solidFill>
                  <a:srgbClr val="94A3B8"/>
                </a:solidFill>
                <a:latin typeface="JetBrains Mono"/>
                <a:ea typeface="JetBrains Mono"/>
              </a:rPr>
              <a:t>Deflate / GZip</a:t>
            </a:r>
            <a:endParaRPr lang="en-US" sz="900">
              <a:solidFill>
                <a:srgbClr val="94A3B8"/>
              </a:solidFill>
              <a:latin typeface="JetBrains Mono"/>
              <a:ea typeface="JetBrains Mono"/>
            </a:endParaRPr>
          </a:p>
        </p:txBody>
      </p:sp>
      <p:sp>
        <p:nvSpPr>
          <p:cNvPr id="124" name="文本框 123" descr="{&quot;isTemplate&quot;:true,&quot;type&quot;:&quot;text&quot;}"/>
          <p:cNvSpPr txBox="1"/>
          <p:nvPr/>
        </p:nvSpPr>
        <p:spPr>
          <a:xfrm>
            <a:off x="6362700" y="4219575"/>
            <a:ext cx="5048250" cy="2381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en-US" sz="900">
                <a:solidFill>
                  <a:srgbClr val="94A3B8"/>
                </a:solidFill>
                <a:latin typeface="JetBrains Mono"/>
                <a:ea typeface="JetBrains Mono"/>
              </a:rPr>
              <a:t>export logger_asyncWaitTimeout=5ms   # </a:t>
            </a:r>
            <a:r>
              <a:rPr lang="zh-CN" sz="900">
                <a:solidFill>
                  <a:srgbClr val="94A3B8"/>
                </a:solidFill>
                <a:latin typeface="JetBrains Mono"/>
                <a:ea typeface="JetBrains Mono"/>
              </a:rPr>
              <a:t>借不到缓冲区</a:t>
            </a:r>
            <a:r>
              <a:rPr lang="en-US" sz="900">
                <a:solidFill>
                  <a:srgbClr val="94A3B8"/>
                </a:solidFill>
                <a:latin typeface="JetBrains Mono"/>
                <a:ea typeface="JetBrains Mono"/>
              </a:rPr>
              <a:t> → </a:t>
            </a:r>
            <a:r>
              <a:rPr lang="zh-CN" sz="900">
                <a:solidFill>
                  <a:srgbClr val="94A3B8"/>
                </a:solidFill>
                <a:latin typeface="JetBrains Mono"/>
                <a:ea typeface="JetBrains Mono"/>
              </a:rPr>
              <a:t>丢弃本条</a:t>
            </a:r>
            <a:endParaRPr lang="zh-CN" sz="900">
              <a:solidFill>
                <a:srgbClr val="94A3B8"/>
              </a:solidFill>
              <a:latin typeface="JetBrains Mono"/>
              <a:ea typeface="JetBrains Mono"/>
            </a:endParaRPr>
          </a:p>
        </p:txBody>
      </p:sp>
      <p:sp>
        <p:nvSpPr>
          <p:cNvPr id="125" name="文本框 124" descr="{&quot;isTemplate&quot;:true,&quot;type&quot;:&quot;text&quot;}"/>
          <p:cNvSpPr txBox="1"/>
          <p:nvPr/>
        </p:nvSpPr>
        <p:spPr>
          <a:xfrm>
            <a:off x="6362700" y="4457700"/>
            <a:ext cx="5048250" cy="2381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en-US" sz="900">
                <a:solidFill>
                  <a:srgbClr val="64748B"/>
                </a:solidFill>
                <a:latin typeface="JetBrains Mono"/>
                <a:ea typeface="JetBrains Mono"/>
              </a:rPr>
              <a:t># export loggerAsyncBufsize=1024      # </a:t>
            </a:r>
            <a:r>
              <a:rPr lang="zh-CN" sz="900">
                <a:solidFill>
                  <a:srgbClr val="64748B"/>
                </a:solidFill>
                <a:latin typeface="JetBrains Mono"/>
                <a:ea typeface="JetBrains Mono"/>
              </a:rPr>
              <a:t>队列容量</a:t>
            </a:r>
            <a:r>
              <a:rPr lang="en-US" sz="900">
                <a:solidFill>
                  <a:srgbClr val="64748B"/>
                </a:solidFill>
                <a:latin typeface="JetBrains Mono"/>
                <a:ea typeface="JetBrains Mono"/>
              </a:rPr>
              <a:t> &amp; </a:t>
            </a:r>
            <a:r>
              <a:rPr lang="zh-CN" sz="900">
                <a:solidFill>
                  <a:srgbClr val="64748B"/>
                </a:solidFill>
                <a:latin typeface="JetBrains Mono"/>
                <a:ea typeface="JetBrains Mono"/>
              </a:rPr>
              <a:t>缓冲区池大小</a:t>
            </a:r>
            <a:endParaRPr lang="zh-CN" sz="900">
              <a:solidFill>
                <a:srgbClr val="64748B"/>
              </a:solidFill>
              <a:latin typeface="JetBrains Mono"/>
              <a:ea typeface="JetBrains Mono"/>
            </a:endParaRPr>
          </a:p>
        </p:txBody>
      </p:sp>
      <p:sp>
        <p:nvSpPr>
          <p:cNvPr id="126" name="文本框 125" descr="{&quot;isTemplate&quot;:true,&quot;type&quot;:&quot;text&quot;}"/>
          <p:cNvSpPr txBox="1"/>
          <p:nvPr/>
        </p:nvSpPr>
        <p:spPr>
          <a:xfrm>
            <a:off x="6362700" y="4695825"/>
            <a:ext cx="5048250" cy="466725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en-US" sz="900">
                <a:solidFill>
                  <a:srgbClr val="64748B"/>
                </a:solidFill>
                <a:latin typeface="JetBrains Mono"/>
                <a:ea typeface="JetBrains Mono"/>
              </a:rPr>
              <a:t># export loggerAsyncTimeout=10ms      # </a:t>
            </a:r>
            <a:r>
              <a:rPr lang="zh-CN" sz="900">
                <a:solidFill>
                  <a:srgbClr val="64748B"/>
                </a:solidFill>
                <a:latin typeface="JetBrains Mono"/>
                <a:ea typeface="JetBrains Mono"/>
              </a:rPr>
              <a:t>队列满时的等待（默认</a:t>
            </a:r>
            <a:r>
              <a:rPr lang="en-US" sz="900">
                <a:solidFill>
                  <a:srgbClr val="64748B"/>
                </a:solidFill>
                <a:latin typeface="JetBrains Mono"/>
                <a:ea typeface="JetBrains Mono"/>
              </a:rPr>
              <a:t> Duration.Max</a:t>
            </a:r>
            <a:r>
              <a:rPr lang="zh-CN" sz="900">
                <a:solidFill>
                  <a:srgbClr val="64748B"/>
                </a:solidFill>
                <a:latin typeface="JetBrains Mono"/>
                <a:ea typeface="JetBrains Mono"/>
              </a:rPr>
              <a:t>＝死等）</a:t>
            </a:r>
            <a:endParaRPr lang="zh-CN" sz="900">
              <a:solidFill>
                <a:srgbClr val="64748B"/>
              </a:solidFill>
              <a:latin typeface="JetBrains Mono"/>
              <a:ea typeface="JetBrains Mono"/>
            </a:endParaRPr>
          </a:p>
        </p:txBody>
      </p:sp>
      <p:sp>
        <p:nvSpPr>
          <p:cNvPr id="127" name="文本框 126" descr="{&quot;isTemplate&quot;:true,&quot;type&quot;:&quot;text&quot;}"/>
          <p:cNvSpPr txBox="1"/>
          <p:nvPr/>
        </p:nvSpPr>
        <p:spPr>
          <a:xfrm>
            <a:off x="6362700" y="5162550"/>
            <a:ext cx="5048250" cy="466725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en-US" sz="900">
                <a:solidFill>
                  <a:srgbClr val="64748B"/>
                </a:solidFill>
                <a:latin typeface="JetBrains Mono"/>
                <a:ea typeface="JetBrains Mono"/>
              </a:rPr>
              <a:t># export loggerAsyncTimeoutPolicy=discard   # discard / abort / alwaysWaiting</a:t>
            </a:r>
            <a:endParaRPr lang="en-US" sz="900">
              <a:solidFill>
                <a:srgbClr val="64748B"/>
              </a:solidFill>
              <a:latin typeface="JetBrains Mono"/>
              <a:ea typeface="JetBrains Mono"/>
            </a:endParaRPr>
          </a:p>
        </p:txBody>
      </p:sp>
      <p:sp>
        <p:nvSpPr>
          <p:cNvPr id="128" name="文本框 127" descr="{&quot;isTemplate&quot;:true,&quot;type&quot;:&quot;text&quot;}"/>
          <p:cNvSpPr txBox="1"/>
          <p:nvPr/>
        </p:nvSpPr>
        <p:spPr>
          <a:xfrm>
            <a:off x="6362700" y="5876925"/>
            <a:ext cx="5048250" cy="2381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zh-CN" sz="900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核心两句话：</a:t>
            </a:r>
            <a:r>
              <a:rPr lang="en-US" sz="900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f_log </a:t>
            </a:r>
            <a:r>
              <a:rPr lang="zh-CN" sz="900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是</a:t>
            </a:r>
            <a:r>
              <a:rPr lang="en-US" sz="900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 stdx.log </a:t>
            </a:r>
            <a:r>
              <a:rPr lang="zh-CN" sz="900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的实现且默认静默；调试靠</a:t>
            </a:r>
            <a:r>
              <a:rPr lang="en-US" sz="900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 %name + </a:t>
            </a:r>
            <a:r>
              <a:rPr lang="zh-CN" sz="900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级别，落盘靠</a:t>
            </a:r>
            <a:r>
              <a:rPr lang="en-US" sz="900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 appender</a:t>
            </a:r>
            <a:r>
              <a:rPr lang="zh-CN" sz="900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。</a:t>
            </a:r>
            <a:endParaRPr lang="zh-CN" sz="900">
              <a:solidFill>
                <a:srgbClr val="F59E0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9" name="任意多边形 128"/>
          <p:cNvSpPr/>
          <p:nvPr/>
        </p:nvSpPr>
        <p:spPr>
          <a:xfrm>
            <a:off x="609600" y="6286500"/>
            <a:ext cx="10972800" cy="381000"/>
          </a:xfrm>
          <a:custGeom>
            <a:avLst/>
            <a:gdLst/>
            <a:ahLst/>
            <a:cxnLst/>
            <a:pathLst>
              <a:path w="1152" h="40">
                <a:moveTo>
                  <a:pt x="0" y="0"/>
                </a:moveTo>
                <a:lnTo>
                  <a:pt x="1152" y="0"/>
                </a:lnTo>
                <a:lnTo>
                  <a:pt x="1152" y="1"/>
                </a:lnTo>
                <a:lnTo>
                  <a:pt x="0" y="1"/>
                </a:lnTo>
                <a:close/>
              </a:path>
            </a:pathLst>
          </a:custGeom>
          <a:solidFill>
            <a:srgbClr val="1E293B"/>
          </a:solidFill>
        </p:spPr>
        <p:txBody>
          <a:bodyPr/>
          <a:p/>
        </p:txBody>
      </p:sp>
      <p:sp>
        <p:nvSpPr>
          <p:cNvPr id="130" name="文本框 129" descr="{&quot;isTemplate&quot;:true,&quot;type&quot;:&quot;text&quot;}"/>
          <p:cNvSpPr txBox="1"/>
          <p:nvPr/>
        </p:nvSpPr>
        <p:spPr>
          <a:xfrm>
            <a:off x="609600" y="6410325"/>
            <a:ext cx="2219325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fountain · 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一站式服务器应用开发工具库</a:t>
            </a:r>
            <a:endParaRPr lang="zh-CN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1" name="文本框 130" descr="{&quot;isTemplate&quot;:true,&quot;type&quot;:&quot;text&quot;}"/>
          <p:cNvSpPr txBox="1"/>
          <p:nvPr/>
        </p:nvSpPr>
        <p:spPr>
          <a:xfrm>
            <a:off x="11020425" y="6410325"/>
            <a:ext cx="561975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102 / 116</a:t>
            </a:r>
            <a:endParaRPr lang="en-US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3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矩形 13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220"/>
          </a:solidFill>
        </p:spPr>
        <p:txBody>
          <a:bodyPr/>
          <a:p/>
        </p:txBody>
      </p:sp>
      <p:sp>
        <p:nvSpPr>
          <p:cNvPr id="134" name="矩形 133"/>
          <p:cNvSpPr/>
          <p:nvPr/>
        </p:nvSpPr>
        <p:spPr>
          <a:xfrm>
            <a:off x="609600" y="476250"/>
            <a:ext cx="38100" cy="381000"/>
          </a:xfrm>
          <a:prstGeom prst="rect">
            <a:avLst/>
          </a:prstGeom>
          <a:solidFill>
            <a:srgbClr val="38BDF8"/>
          </a:solidFill>
        </p:spPr>
        <p:txBody>
          <a:bodyPr/>
          <a:p/>
        </p:txBody>
      </p:sp>
      <p:sp>
        <p:nvSpPr>
          <p:cNvPr id="135" name="文本框 134" descr="{&quot;isTemplate&quot;:true,&quot;type&quot;:&quot;text&quot;}"/>
          <p:cNvSpPr txBox="1"/>
          <p:nvPr/>
        </p:nvSpPr>
        <p:spPr>
          <a:xfrm>
            <a:off x="819150" y="304800"/>
            <a:ext cx="9191625" cy="2095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第</a:t>
            </a: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 16 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章</a:t>
            </a: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 · 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串讲</a:t>
            </a:r>
            <a:endParaRPr lang="zh-CN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6" name="文本框 135" descr="{&quot;isTemplate&quot;:true,&quot;type&quot;:&quot;text&quot;}"/>
          <p:cNvSpPr txBox="1"/>
          <p:nvPr/>
        </p:nvSpPr>
        <p:spPr>
          <a:xfrm>
            <a:off x="819150" y="514350"/>
            <a:ext cx="9191625" cy="5143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2550" b="1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一次请求穿过整个框架</a:t>
            </a:r>
            <a:endParaRPr lang="zh-CN" sz="2550" b="1">
              <a:solidFill>
                <a:srgbClr val="E2E8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7" name="文本框 136" descr="{&quot;isTemplate&quot;:true,&quot;type&quot;:&quot;text&quot;}"/>
          <p:cNvSpPr txBox="1"/>
          <p:nvPr/>
        </p:nvSpPr>
        <p:spPr>
          <a:xfrm>
            <a:off x="10182225" y="590550"/>
            <a:ext cx="1400175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POST /api/user/register</a:t>
            </a:r>
            <a:endParaRPr lang="en-US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8" name="圆角矩形 137"/>
          <p:cNvSpPr/>
          <p:nvPr/>
        </p:nvSpPr>
        <p:spPr>
          <a:xfrm>
            <a:off x="609600" y="1143000"/>
            <a:ext cx="10972800" cy="457200"/>
          </a:xfrm>
          <a:prstGeom prst="roundRect">
            <a:avLst>
              <a:gd name="adj" fmla="val 20833"/>
            </a:avLst>
          </a:prstGeom>
          <a:solidFill>
            <a:srgbClr val="38BDF8">
              <a:alpha val="6000"/>
            </a:srgbClr>
          </a:solidFill>
          <a:ln w="12700">
            <a:solidFill>
              <a:srgbClr val="38BDF8"/>
            </a:solidFill>
            <a:prstDash val="solid"/>
          </a:ln>
        </p:spPr>
        <p:txBody>
          <a:bodyPr/>
          <a:p/>
        </p:txBody>
      </p:sp>
      <p:sp>
        <p:nvSpPr>
          <p:cNvPr id="139" name="文本框 138" descr="{&quot;isTemplate&quot;:true,&quot;type&quot;:&quot;text&quot;}"/>
          <p:cNvSpPr txBox="1"/>
          <p:nvPr/>
        </p:nvSpPr>
        <p:spPr>
          <a:xfrm>
            <a:off x="723900" y="1257300"/>
            <a:ext cx="285750" cy="2286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200" b="1">
                <a:solidFill>
                  <a:srgbClr val="38BDF8"/>
                </a:solidFill>
                <a:latin typeface="微软雅黑" panose="020B0503020204020204" charset="-122"/>
                <a:ea typeface="微软雅黑" panose="020B0503020204020204" charset="-122"/>
              </a:rPr>
              <a:t>⓪</a:t>
            </a:r>
            <a:endParaRPr sz="1200" b="1">
              <a:solidFill>
                <a:srgbClr val="38BDF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0" name="文本框 139" descr="{&quot;isTemplate&quot;:true,&quot;type&quot;:&quot;text&quot;}"/>
          <p:cNvSpPr txBox="1"/>
          <p:nvPr/>
        </p:nvSpPr>
        <p:spPr>
          <a:xfrm>
            <a:off x="1123950" y="1257300"/>
            <a:ext cx="10344150" cy="2286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90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进程启动：</a:t>
            </a:r>
            <a:r>
              <a:rPr lang="en-US" sz="90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f_config </a:t>
            </a:r>
            <a:r>
              <a:rPr lang="zh-CN" sz="90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的</a:t>
            </a:r>
            <a:r>
              <a:rPr lang="en-US" sz="90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 static init </a:t>
            </a:r>
            <a:r>
              <a:rPr lang="zh-CN" sz="90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装载环境变量</a:t>
            </a:r>
            <a:r>
              <a:rPr lang="en-US" sz="90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 + </a:t>
            </a:r>
            <a:r>
              <a:rPr lang="zh-CN" sz="90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命令行参数（命令行覆盖环境变量），并准备</a:t>
            </a:r>
            <a:r>
              <a:rPr lang="en-US" sz="90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 sensitiveMap</a:t>
            </a:r>
            <a:r>
              <a:rPr lang="zh-CN" sz="90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（编译期内嵌的敏感配置，配了</a:t>
            </a:r>
            <a:r>
              <a:rPr lang="en-US" sz="90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 SM4 </a:t>
            </a:r>
            <a:r>
              <a:rPr lang="zh-CN" sz="90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则运行期解密）</a:t>
            </a:r>
            <a:endParaRPr lang="zh-CN" sz="900">
              <a:solidFill>
                <a:srgbClr val="E2E8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1" name="圆角矩形 140"/>
          <p:cNvSpPr/>
          <p:nvPr/>
        </p:nvSpPr>
        <p:spPr>
          <a:xfrm>
            <a:off x="609600" y="1676400"/>
            <a:ext cx="10972800" cy="676275"/>
          </a:xfrm>
          <a:prstGeom prst="roundRect">
            <a:avLst>
              <a:gd name="adj" fmla="val 14085"/>
            </a:avLst>
          </a:prstGeom>
          <a:solidFill>
            <a:srgbClr val="111C2E"/>
          </a:solidFill>
        </p:spPr>
        <p:txBody>
          <a:bodyPr/>
          <a:p/>
        </p:txBody>
      </p:sp>
      <p:sp>
        <p:nvSpPr>
          <p:cNvPr id="142" name="文本框 141" descr="{&quot;isTemplate&quot;:true,&quot;type&quot;:&quot;text&quot;}"/>
          <p:cNvSpPr txBox="1"/>
          <p:nvPr/>
        </p:nvSpPr>
        <p:spPr>
          <a:xfrm>
            <a:off x="723900" y="1790700"/>
            <a:ext cx="285750" cy="4476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200" b="1">
                <a:solidFill>
                  <a:srgbClr val="38BDF8"/>
                </a:solidFill>
                <a:latin typeface="微软雅黑" panose="020B0503020204020204" charset="-122"/>
                <a:ea typeface="微软雅黑" panose="020B0503020204020204" charset="-122"/>
              </a:rPr>
              <a:t>①</a:t>
            </a:r>
            <a:endParaRPr sz="1200" b="1">
              <a:solidFill>
                <a:srgbClr val="38BDF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3" name="文本框 142" descr="{&quot;isTemplate&quot;:true,&quot;type&quot;:&quot;text&quot;}"/>
          <p:cNvSpPr txBox="1"/>
          <p:nvPr/>
        </p:nvSpPr>
        <p:spPr>
          <a:xfrm>
            <a:off x="1123950" y="1790700"/>
            <a:ext cx="10344150" cy="447675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en-US" sz="90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fboot run </a:t>
            </a:r>
            <a:r>
              <a:rPr lang="zh-CN" sz="90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加载动态链接库</a:t>
            </a:r>
            <a:r>
              <a:rPr lang="en-US" sz="90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 → static init()</a:t>
            </a:r>
            <a:r>
              <a:rPr lang="zh-CN" sz="90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：</a:t>
            </a:r>
            <a:r>
              <a:rPr lang="en-US" sz="90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@Bean </a:t>
            </a:r>
            <a:r>
              <a:rPr lang="zh-CN" sz="90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进</a:t>
            </a:r>
            <a:r>
              <a:rPr lang="en-US" sz="90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 BeanFactory</a:t>
            </a:r>
            <a:r>
              <a:rPr lang="zh-CN" sz="90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、</a:t>
            </a:r>
            <a:r>
              <a:rPr lang="en-US" sz="90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Initializer </a:t>
            </a:r>
            <a:r>
              <a:rPr lang="zh-CN" sz="90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进</a:t>
            </a:r>
            <a:r>
              <a:rPr lang="en-US" sz="90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 InitializerCollection → </a:t>
            </a:r>
            <a:r>
              <a:rPr lang="zh-CN" sz="90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拓扑排序</a:t>
            </a:r>
            <a:r>
              <a:rPr lang="en-US" sz="90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 initialize()</a:t>
            </a:r>
            <a:r>
              <a:rPr lang="zh-CN" sz="90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（</a:t>
            </a:r>
            <a:r>
              <a:rPr lang="en-US" sz="90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BeanInitializer → ORMInitializer → MVCInitializer → TickTockInitializer …</a:t>
            </a:r>
            <a:r>
              <a:rPr lang="zh-CN" sz="90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）→</a:t>
            </a:r>
            <a:r>
              <a:rPr lang="en-US" sz="90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 </a:t>
            </a:r>
            <a:r>
              <a:rPr lang="zh-CN" sz="90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各</a:t>
            </a:r>
            <a:r>
              <a:rPr lang="en-US" sz="90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 start() spawn </a:t>
            </a:r>
            <a:r>
              <a:rPr lang="zh-CN" sz="90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到新线程：</a:t>
            </a:r>
            <a:r>
              <a:rPr lang="en-US" sz="90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MVC </a:t>
            </a:r>
            <a:r>
              <a:rPr lang="zh-CN" sz="90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启动</a:t>
            </a:r>
            <a:r>
              <a:rPr lang="en-US" sz="90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 HTTP </a:t>
            </a:r>
            <a:r>
              <a:rPr lang="zh-CN" sz="90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服务（阻塞）、</a:t>
            </a:r>
            <a:r>
              <a:rPr lang="en-US" sz="90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TickTock </a:t>
            </a:r>
            <a:r>
              <a:rPr lang="zh-CN" sz="90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启动定时器</a:t>
            </a:r>
            <a:endParaRPr lang="zh-CN" sz="900">
              <a:solidFill>
                <a:srgbClr val="E2E8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4" name="圆角矩形 143"/>
          <p:cNvSpPr/>
          <p:nvPr/>
        </p:nvSpPr>
        <p:spPr>
          <a:xfrm>
            <a:off x="609600" y="2428875"/>
            <a:ext cx="10972800" cy="2057400"/>
          </a:xfrm>
          <a:prstGeom prst="roundRect">
            <a:avLst>
              <a:gd name="adj" fmla="val 4630"/>
            </a:avLst>
          </a:prstGeom>
          <a:solidFill>
            <a:srgbClr val="111C2E"/>
          </a:solidFill>
          <a:ln w="12700">
            <a:solidFill>
              <a:srgbClr val="38BDF8"/>
            </a:solidFill>
            <a:prstDash val="solid"/>
          </a:ln>
        </p:spPr>
        <p:txBody>
          <a:bodyPr/>
          <a:p/>
        </p:txBody>
      </p:sp>
      <p:sp>
        <p:nvSpPr>
          <p:cNvPr id="145" name="文本框 144" descr="{&quot;isTemplate&quot;:true,&quot;type&quot;:&quot;text&quot;}"/>
          <p:cNvSpPr txBox="1"/>
          <p:nvPr/>
        </p:nvSpPr>
        <p:spPr>
          <a:xfrm>
            <a:off x="723900" y="2543175"/>
            <a:ext cx="285750" cy="18288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200" b="1">
                <a:solidFill>
                  <a:srgbClr val="38BDF8"/>
                </a:solidFill>
                <a:latin typeface="微软雅黑" panose="020B0503020204020204" charset="-122"/>
                <a:ea typeface="微软雅黑" panose="020B0503020204020204" charset="-122"/>
              </a:rPr>
              <a:t>②</a:t>
            </a:r>
            <a:endParaRPr sz="1200" b="1">
              <a:solidFill>
                <a:srgbClr val="38BDF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6" name="文本框 145" descr="{&quot;isTemplate&quot;:true,&quot;type&quot;:&quot;text&quot;}"/>
          <p:cNvSpPr txBox="1"/>
          <p:nvPr/>
        </p:nvSpPr>
        <p:spPr>
          <a:xfrm>
            <a:off x="1123950" y="2543175"/>
            <a:ext cx="10344150" cy="2286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65000"/>
              </a:lnSpc>
            </a:pPr>
            <a:r>
              <a:rPr lang="en-US" sz="90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curl -XPOST /api/user/register → MVC </a:t>
            </a:r>
            <a:r>
              <a:rPr lang="zh-CN" sz="90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路由匹配（</a:t>
            </a:r>
            <a:r>
              <a:rPr lang="en-US" sz="90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@PostMapping + consumes / produces / params / headers</a:t>
            </a:r>
            <a:r>
              <a:rPr lang="zh-CN" sz="90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）</a:t>
            </a:r>
            <a:endParaRPr lang="zh-CN" sz="900">
              <a:solidFill>
                <a:srgbClr val="E2E8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7" name="文本框 146" descr="{&quot;isTemplate&quot;:true,&quot;type&quot;:&quot;text&quot;}"/>
          <p:cNvSpPr txBox="1"/>
          <p:nvPr/>
        </p:nvSpPr>
        <p:spPr>
          <a:xfrm>
            <a:off x="1123950" y="2771775"/>
            <a:ext cx="10344150" cy="2286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65000"/>
              </a:lnSpc>
            </a:pPr>
            <a:r>
              <a:rPr lang="zh-CN" sz="90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　→</a:t>
            </a:r>
            <a:r>
              <a:rPr lang="en-US" sz="90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 </a:t>
            </a:r>
            <a:r>
              <a:rPr lang="zh-CN" sz="90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参数绑定：</a:t>
            </a:r>
            <a:r>
              <a:rPr lang="en-US" sz="90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f_http </a:t>
            </a:r>
            <a:r>
              <a:rPr lang="zh-CN" sz="90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把请求体字节转成</a:t>
            </a:r>
            <a:r>
              <a:rPr lang="en-US" sz="90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 Data</a:t>
            </a:r>
            <a:r>
              <a:rPr lang="zh-CN" sz="90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；</a:t>
            </a:r>
            <a:r>
              <a:rPr lang="en-US" sz="90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f_data </a:t>
            </a:r>
            <a:r>
              <a:rPr lang="zh-CN" sz="90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把</a:t>
            </a:r>
            <a:r>
              <a:rPr lang="en-US" sz="90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 Data </a:t>
            </a:r>
            <a:r>
              <a:rPr lang="zh-CN" sz="90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转成对象并触发校验</a:t>
            </a:r>
            <a:endParaRPr lang="zh-CN" sz="900">
              <a:solidFill>
                <a:srgbClr val="E2E8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8" name="文本框 147" descr="{&quot;isTemplate&quot;:true,&quot;type&quot;:&quot;text&quot;}"/>
          <p:cNvSpPr txBox="1"/>
          <p:nvPr/>
        </p:nvSpPr>
        <p:spPr>
          <a:xfrm>
            <a:off x="1123950" y="3000375"/>
            <a:ext cx="10344150" cy="2286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65000"/>
              </a:lnSpc>
            </a:pPr>
            <a:r>
              <a:rPr lang="zh-CN" sz="90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　→</a:t>
            </a:r>
            <a:r>
              <a:rPr lang="en-US" sz="90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 AuthHandlerProxy.check</a:t>
            </a:r>
            <a:r>
              <a:rPr lang="zh-CN" sz="90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：</a:t>
            </a:r>
            <a:r>
              <a:rPr lang="en-US" sz="90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ignoreAuth=true → </a:t>
            </a:r>
            <a:r>
              <a:rPr lang="zh-CN" sz="90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直接</a:t>
            </a:r>
            <a:r>
              <a:rPr lang="en-US" sz="90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 OK</a:t>
            </a:r>
            <a:endParaRPr lang="en-US" sz="900">
              <a:solidFill>
                <a:srgbClr val="E2E8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9" name="文本框 148" descr="{&quot;isTemplate&quot;:true,&quot;type&quot;:&quot;text&quot;}"/>
          <p:cNvSpPr txBox="1"/>
          <p:nvPr/>
        </p:nvSpPr>
        <p:spPr>
          <a:xfrm>
            <a:off x="1123950" y="3228975"/>
            <a:ext cx="10344150" cy="2286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65000"/>
              </a:lnSpc>
            </a:pPr>
            <a:r>
              <a:rPr lang="zh-CN" sz="900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　→</a:t>
            </a:r>
            <a:r>
              <a:rPr lang="en-US" sz="900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 </a:t>
            </a:r>
            <a:r>
              <a:rPr lang="zh-CN" sz="900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【</a:t>
            </a:r>
            <a:r>
              <a:rPr lang="en-US" sz="900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AOP</a:t>
            </a:r>
            <a:r>
              <a:rPr lang="zh-CN" sz="900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】</a:t>
            </a:r>
            <a:r>
              <a:rPr lang="en-US" sz="900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ControllerAspect.around</a:t>
            </a:r>
            <a:r>
              <a:rPr lang="zh-CN" sz="900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（</a:t>
            </a:r>
            <a:r>
              <a:rPr lang="en-US" sz="900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controllerPointcut </a:t>
            </a:r>
            <a:r>
              <a:rPr lang="zh-CN" sz="900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命中）→</a:t>
            </a:r>
            <a:r>
              <a:rPr lang="en-US" sz="900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 </a:t>
            </a:r>
            <a:r>
              <a:rPr lang="zh-CN" sz="900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原函数体</a:t>
            </a:r>
            <a:r>
              <a:rPr lang="en-US" sz="900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 register()</a:t>
            </a:r>
            <a:endParaRPr lang="en-US" sz="900">
              <a:solidFill>
                <a:srgbClr val="F59E0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0" name="文本框 149" descr="{&quot;isTemplate&quot;:true,&quot;type&quot;:&quot;text&quot;}"/>
          <p:cNvSpPr txBox="1"/>
          <p:nvPr/>
        </p:nvSpPr>
        <p:spPr>
          <a:xfrm>
            <a:off x="1123950" y="3457575"/>
            <a:ext cx="10344150" cy="2286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65000"/>
              </a:lnSpc>
            </a:pPr>
            <a:r>
              <a:rPr lang="zh-CN" sz="90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　　　→</a:t>
            </a:r>
            <a:r>
              <a:rPr lang="en-US" sz="90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 lookup </a:t>
            </a:r>
            <a:r>
              <a:rPr lang="zh-CN" sz="90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泛型</a:t>
            </a:r>
            <a:r>
              <a:rPr lang="en-US" sz="90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 UserService </a:t>
            </a:r>
            <a:r>
              <a:rPr lang="zh-CN" sz="90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拿到</a:t>
            </a:r>
            <a:r>
              <a:rPr lang="en-US" sz="90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 UserServiceImpl</a:t>
            </a:r>
            <a:endParaRPr lang="en-US" sz="900">
              <a:solidFill>
                <a:srgbClr val="E2E8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1" name="文本框 150" descr="{&quot;isTemplate&quot;:true,&quot;type&quot;:&quot;text&quot;}"/>
          <p:cNvSpPr txBox="1"/>
          <p:nvPr/>
        </p:nvSpPr>
        <p:spPr>
          <a:xfrm>
            <a:off x="1123950" y="3686175"/>
            <a:ext cx="10344150" cy="2286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65000"/>
              </a:lnSpc>
            </a:pPr>
            <a:r>
              <a:rPr lang="zh-CN" sz="900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　　　→</a:t>
            </a:r>
            <a:r>
              <a:rPr lang="en-US" sz="900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 </a:t>
            </a:r>
            <a:r>
              <a:rPr lang="zh-CN" sz="900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【</a:t>
            </a:r>
            <a:r>
              <a:rPr lang="en-US" sz="900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AOP</a:t>
            </a:r>
            <a:r>
              <a:rPr lang="zh-CN" sz="900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】</a:t>
            </a:r>
            <a:r>
              <a:rPr lang="en-US" sz="900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TransactionAspect</a:t>
            </a:r>
            <a:r>
              <a:rPr lang="zh-CN" sz="900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（</a:t>
            </a:r>
            <a:r>
              <a:rPr lang="en-US" sz="900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orm_transactionalFuncExecution </a:t>
            </a:r>
            <a:r>
              <a:rPr lang="zh-CN" sz="900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命中</a:t>
            </a:r>
            <a:r>
              <a:rPr lang="en-US" sz="900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 register*</a:t>
            </a:r>
            <a:r>
              <a:rPr lang="zh-CN" sz="900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）</a:t>
            </a:r>
            <a:endParaRPr lang="zh-CN" sz="900">
              <a:solidFill>
                <a:srgbClr val="F59E0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2" name="文本框 151" descr="{&quot;isTemplate&quot;:true,&quot;type&quot;:&quot;text&quot;}"/>
          <p:cNvSpPr txBox="1"/>
          <p:nvPr/>
        </p:nvSpPr>
        <p:spPr>
          <a:xfrm>
            <a:off x="1123950" y="3914775"/>
            <a:ext cx="10344150" cy="457200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65000"/>
              </a:lnSpc>
            </a:pPr>
            <a:r>
              <a:rPr lang="zh-CN" sz="90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　　　→</a:t>
            </a:r>
            <a:r>
              <a:rPr lang="en-US" sz="90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 orm execute</a:t>
            </a:r>
            <a:r>
              <a:rPr lang="zh-CN" sz="90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：</a:t>
            </a:r>
            <a:r>
              <a:rPr lang="en-US" sz="90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newTxAndBegin → beforeTx → executor().register(...)</a:t>
            </a:r>
            <a:r>
              <a:rPr lang="zh-CN" sz="90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（</a:t>
            </a:r>
            <a:r>
              <a:rPr lang="en-US" sz="90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SqlExecutor </a:t>
            </a:r>
            <a:r>
              <a:rPr lang="zh-CN" sz="90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即</a:t>
            </a:r>
            <a:r>
              <a:rPr lang="en-US" sz="90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 UserDAO</a:t>
            </a:r>
            <a:r>
              <a:rPr lang="zh-CN" sz="90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；</a:t>
            </a:r>
            <a:r>
              <a:rPr lang="en-US" sz="90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INSERT_INTO </a:t>
            </a:r>
            <a:r>
              <a:rPr lang="zh-CN" sz="90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绑参执行）→</a:t>
            </a:r>
            <a:r>
              <a:rPr lang="en-US" sz="90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 beforeCommit → commit → afterCommit → afterComplete(Committed)</a:t>
            </a:r>
            <a:endParaRPr lang="en-US" sz="900">
              <a:solidFill>
                <a:srgbClr val="E2E8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3" name="圆角矩形 152"/>
          <p:cNvSpPr/>
          <p:nvPr/>
        </p:nvSpPr>
        <p:spPr>
          <a:xfrm>
            <a:off x="609600" y="4562475"/>
            <a:ext cx="10972800" cy="457200"/>
          </a:xfrm>
          <a:prstGeom prst="roundRect">
            <a:avLst>
              <a:gd name="adj" fmla="val 20833"/>
            </a:avLst>
          </a:prstGeom>
          <a:solidFill>
            <a:srgbClr val="111C2E"/>
          </a:solidFill>
        </p:spPr>
        <p:txBody>
          <a:bodyPr/>
          <a:p/>
        </p:txBody>
      </p:sp>
      <p:sp>
        <p:nvSpPr>
          <p:cNvPr id="154" name="文本框 153" descr="{&quot;isTemplate&quot;:true,&quot;type&quot;:&quot;text&quot;}"/>
          <p:cNvSpPr txBox="1"/>
          <p:nvPr/>
        </p:nvSpPr>
        <p:spPr>
          <a:xfrm>
            <a:off x="723900" y="4676775"/>
            <a:ext cx="285750" cy="2286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200" b="1">
                <a:solidFill>
                  <a:srgbClr val="38BDF8"/>
                </a:solidFill>
                <a:latin typeface="微软雅黑" panose="020B0503020204020204" charset="-122"/>
                <a:ea typeface="微软雅黑" panose="020B0503020204020204" charset="-122"/>
              </a:rPr>
              <a:t>③</a:t>
            </a:r>
            <a:endParaRPr sz="1200" b="1">
              <a:solidFill>
                <a:srgbClr val="38BDF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5" name="文本框 154" descr="{&quot;isTemplate&quot;:true,&quot;type&quot;:&quot;text&quot;}"/>
          <p:cNvSpPr txBox="1"/>
          <p:nvPr/>
        </p:nvSpPr>
        <p:spPr>
          <a:xfrm>
            <a:off x="1123950" y="4676775"/>
            <a:ext cx="10344150" cy="2286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90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定时线程：</a:t>
            </a:r>
            <a:r>
              <a:rPr lang="en-US" sz="90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TickTockTaskImpl </a:t>
            </a:r>
            <a:r>
              <a:rPr lang="zh-CN" sz="90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按</a:t>
            </a:r>
            <a:r>
              <a:rPr lang="en-US" sz="90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 cron </a:t>
            </a:r>
            <a:r>
              <a:rPr lang="zh-CN" sz="90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触发（独立线程，与请求互不干扰）</a:t>
            </a:r>
            <a:endParaRPr lang="zh-CN" sz="900">
              <a:solidFill>
                <a:srgbClr val="E2E8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6" name="圆角矩形 155"/>
          <p:cNvSpPr/>
          <p:nvPr/>
        </p:nvSpPr>
        <p:spPr>
          <a:xfrm>
            <a:off x="609600" y="5095875"/>
            <a:ext cx="10972800" cy="457200"/>
          </a:xfrm>
          <a:prstGeom prst="roundRect">
            <a:avLst>
              <a:gd name="adj" fmla="val 20833"/>
            </a:avLst>
          </a:prstGeom>
          <a:solidFill>
            <a:srgbClr val="111C2E"/>
          </a:solidFill>
        </p:spPr>
        <p:txBody>
          <a:bodyPr/>
          <a:p/>
        </p:txBody>
      </p:sp>
      <p:sp>
        <p:nvSpPr>
          <p:cNvPr id="157" name="文本框 156" descr="{&quot;isTemplate&quot;:true,&quot;type&quot;:&quot;text&quot;}"/>
          <p:cNvSpPr txBox="1"/>
          <p:nvPr/>
        </p:nvSpPr>
        <p:spPr>
          <a:xfrm>
            <a:off x="723900" y="5210175"/>
            <a:ext cx="285750" cy="2286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200" b="1">
                <a:solidFill>
                  <a:srgbClr val="38BDF8"/>
                </a:solidFill>
                <a:latin typeface="微软雅黑" panose="020B0503020204020204" charset="-122"/>
                <a:ea typeface="微软雅黑" panose="020B0503020204020204" charset="-122"/>
              </a:rPr>
              <a:t>④</a:t>
            </a:r>
            <a:endParaRPr sz="1200" b="1">
              <a:solidFill>
                <a:srgbClr val="38BDF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8" name="文本框 157" descr="{&quot;isTemplate&quot;:true,&quot;type&quot;:&quot;text&quot;}"/>
          <p:cNvSpPr txBox="1"/>
          <p:nvPr/>
        </p:nvSpPr>
        <p:spPr>
          <a:xfrm>
            <a:off x="1123950" y="5210175"/>
            <a:ext cx="10344150" cy="2286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90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旁路：</a:t>
            </a:r>
            <a:r>
              <a:rPr lang="en-US" sz="90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f_util.UUID + f_random </a:t>
            </a:r>
            <a:r>
              <a:rPr lang="zh-CN" sz="90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给会话发密钥；</a:t>
            </a:r>
            <a:r>
              <a:rPr lang="en-US" sz="90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f_http </a:t>
            </a:r>
            <a:r>
              <a:rPr lang="zh-CN" sz="90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的</a:t>
            </a:r>
            <a:r>
              <a:rPr lang="en-US" sz="90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 MediaType </a:t>
            </a:r>
            <a:r>
              <a:rPr lang="zh-CN" sz="90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配合</a:t>
            </a:r>
            <a:r>
              <a:rPr lang="en-US" sz="90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 f_data </a:t>
            </a:r>
            <a:r>
              <a:rPr lang="zh-CN" sz="90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做序列化；</a:t>
            </a:r>
            <a:r>
              <a:rPr lang="en-US" sz="90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f_util </a:t>
            </a:r>
            <a:r>
              <a:rPr lang="zh-CN" sz="90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的</a:t>
            </a:r>
            <a:r>
              <a:rPr lang="en-US" sz="90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 PathPattern </a:t>
            </a:r>
            <a:r>
              <a:rPr lang="zh-CN" sz="90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是</a:t>
            </a:r>
            <a:r>
              <a:rPr lang="en-US" sz="90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 ② </a:t>
            </a:r>
            <a:r>
              <a:rPr lang="zh-CN" sz="90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里「路由匹配</a:t>
            </a:r>
            <a:r>
              <a:rPr lang="en-US" sz="90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 + </a:t>
            </a:r>
            <a:r>
              <a:rPr lang="zh-CN" sz="90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抽路径变量」的引擎</a:t>
            </a:r>
            <a:endParaRPr lang="zh-CN" sz="900">
              <a:solidFill>
                <a:srgbClr val="E2E8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9" name="圆角矩形 158"/>
          <p:cNvSpPr/>
          <p:nvPr/>
        </p:nvSpPr>
        <p:spPr>
          <a:xfrm>
            <a:off x="609600" y="5629275"/>
            <a:ext cx="10972800" cy="676275"/>
          </a:xfrm>
          <a:prstGeom prst="roundRect">
            <a:avLst>
              <a:gd name="adj" fmla="val 14085"/>
            </a:avLst>
          </a:prstGeom>
          <a:solidFill>
            <a:srgbClr val="F59E0B">
              <a:alpha val="7000"/>
            </a:srgbClr>
          </a:solidFill>
          <a:ln w="12700">
            <a:solidFill>
              <a:srgbClr val="F59E0B"/>
            </a:solidFill>
            <a:prstDash val="solid"/>
          </a:ln>
        </p:spPr>
        <p:txBody>
          <a:bodyPr/>
          <a:p/>
        </p:txBody>
      </p:sp>
      <p:sp>
        <p:nvSpPr>
          <p:cNvPr id="160" name="文本框 159" descr="{&quot;isTemplate&quot;:true,&quot;type&quot;:&quot;text&quot;}"/>
          <p:cNvSpPr txBox="1"/>
          <p:nvPr/>
        </p:nvSpPr>
        <p:spPr>
          <a:xfrm>
            <a:off x="723900" y="5743575"/>
            <a:ext cx="285750" cy="4476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200" b="1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⑤</a:t>
            </a:r>
            <a:endParaRPr sz="1200" b="1">
              <a:solidFill>
                <a:srgbClr val="F59E0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1" name="文本框 160" descr="{&quot;isTemplate&quot;:true,&quot;type&quot;:&quot;text&quot;}"/>
          <p:cNvSpPr txBox="1"/>
          <p:nvPr/>
        </p:nvSpPr>
        <p:spPr>
          <a:xfrm>
            <a:off x="1123950" y="5743575"/>
            <a:ext cx="10344150" cy="447675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90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底座：</a:t>
            </a:r>
            <a:r>
              <a:rPr lang="en-US" sz="90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f_cache </a:t>
            </a:r>
            <a:r>
              <a:rPr lang="zh-CN" sz="90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存登录状态、</a:t>
            </a:r>
            <a:r>
              <a:rPr lang="en-US" sz="90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f_pool </a:t>
            </a:r>
            <a:r>
              <a:rPr lang="zh-CN" sz="90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撑起数据库连接池、</a:t>
            </a:r>
            <a:r>
              <a:rPr lang="en-US" sz="90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f_regex </a:t>
            </a:r>
            <a:r>
              <a:rPr lang="zh-CN" sz="90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缓存路径正则、</a:t>
            </a:r>
            <a:r>
              <a:rPr lang="en-US" sz="90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f_time </a:t>
            </a:r>
            <a:r>
              <a:rPr lang="zh-CN" sz="90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解析所有</a:t>
            </a:r>
            <a:r>
              <a:rPr lang="en-US" sz="90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 Duration </a:t>
            </a:r>
            <a:r>
              <a:rPr lang="zh-CN" sz="90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型配置；</a:t>
            </a:r>
            <a:r>
              <a:rPr lang="en-US" sz="90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f_log </a:t>
            </a:r>
            <a:r>
              <a:rPr lang="zh-CN" sz="90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在</a:t>
            </a:r>
            <a:r>
              <a:rPr lang="en-US" sz="90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 ② </a:t>
            </a:r>
            <a:r>
              <a:rPr lang="zh-CN" sz="90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的每一步上落日志（</a:t>
            </a:r>
            <a:r>
              <a:rPr lang="en-US" sz="90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SQL </a:t>
            </a:r>
            <a:r>
              <a:rPr lang="zh-CN" sz="90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的</a:t>
            </a:r>
            <a:r>
              <a:rPr lang="en-US" sz="90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 DEBUG</a:t>
            </a:r>
            <a:r>
              <a:rPr lang="zh-CN" sz="90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、</a:t>
            </a:r>
            <a:r>
              <a:rPr lang="en-US" sz="90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accessLog </a:t>
            </a:r>
            <a:r>
              <a:rPr lang="zh-CN" sz="90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的</a:t>
            </a:r>
            <a:r>
              <a:rPr lang="en-US" sz="90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 INFO</a:t>
            </a:r>
            <a:r>
              <a:rPr lang="zh-CN" sz="90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）；</a:t>
            </a:r>
            <a:r>
              <a:rPr lang="en-US" sz="90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f_io </a:t>
            </a:r>
            <a:r>
              <a:rPr lang="zh-CN" sz="90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的</a:t>
            </a:r>
            <a:r>
              <a:rPr lang="en-US" sz="90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 ByteBuffer </a:t>
            </a:r>
            <a:r>
              <a:rPr lang="zh-CN" sz="90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是报文与下载管道的字节缓冲；</a:t>
            </a:r>
            <a:r>
              <a:rPr lang="en-US" sz="90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f_base </a:t>
            </a:r>
            <a:r>
              <a:rPr lang="zh-CN" sz="90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在进程退出时按权重依次收掉（先停服务、最后关数据库）</a:t>
            </a:r>
            <a:endParaRPr lang="zh-CN" sz="900">
              <a:solidFill>
                <a:srgbClr val="E2E8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2" name="任意多边形 161"/>
          <p:cNvSpPr/>
          <p:nvPr/>
        </p:nvSpPr>
        <p:spPr>
          <a:xfrm>
            <a:off x="609600" y="6286500"/>
            <a:ext cx="10972800" cy="381000"/>
          </a:xfrm>
          <a:custGeom>
            <a:avLst/>
            <a:gdLst/>
            <a:ahLst/>
            <a:cxnLst/>
            <a:pathLst>
              <a:path w="1152" h="40">
                <a:moveTo>
                  <a:pt x="0" y="0"/>
                </a:moveTo>
                <a:lnTo>
                  <a:pt x="1152" y="0"/>
                </a:lnTo>
                <a:lnTo>
                  <a:pt x="1152" y="1"/>
                </a:lnTo>
                <a:lnTo>
                  <a:pt x="0" y="1"/>
                </a:lnTo>
                <a:close/>
              </a:path>
            </a:pathLst>
          </a:custGeom>
          <a:solidFill>
            <a:srgbClr val="1E293B"/>
          </a:solidFill>
        </p:spPr>
        <p:txBody>
          <a:bodyPr/>
          <a:p/>
        </p:txBody>
      </p:sp>
      <p:sp>
        <p:nvSpPr>
          <p:cNvPr id="163" name="文本框 162" descr="{&quot;isTemplate&quot;:true,&quot;type&quot;:&quot;text&quot;}"/>
          <p:cNvSpPr txBox="1"/>
          <p:nvPr/>
        </p:nvSpPr>
        <p:spPr>
          <a:xfrm>
            <a:off x="609600" y="6410325"/>
            <a:ext cx="2219325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fountain · 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一站式服务器应用开发工具库</a:t>
            </a:r>
            <a:endParaRPr lang="zh-CN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4" name="文本框 163" descr="{&quot;isTemplate&quot;:true,&quot;type&quot;:&quot;text&quot;}"/>
          <p:cNvSpPr txBox="1"/>
          <p:nvPr/>
        </p:nvSpPr>
        <p:spPr>
          <a:xfrm>
            <a:off x="11020425" y="6410325"/>
            <a:ext cx="561975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103 / 116</a:t>
            </a:r>
            <a:endParaRPr lang="en-US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6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矩形 165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220"/>
          </a:solidFill>
        </p:spPr>
        <p:txBody>
          <a:bodyPr/>
          <a:p/>
        </p:txBody>
      </p:sp>
      <p:sp>
        <p:nvSpPr>
          <p:cNvPr id="167" name="矩形 166"/>
          <p:cNvSpPr/>
          <p:nvPr/>
        </p:nvSpPr>
        <p:spPr>
          <a:xfrm>
            <a:off x="609600" y="476250"/>
            <a:ext cx="38100" cy="381000"/>
          </a:xfrm>
          <a:prstGeom prst="rect">
            <a:avLst/>
          </a:prstGeom>
          <a:solidFill>
            <a:srgbClr val="38BDF8"/>
          </a:solidFill>
        </p:spPr>
        <p:txBody>
          <a:bodyPr/>
          <a:p/>
        </p:txBody>
      </p:sp>
      <p:sp>
        <p:nvSpPr>
          <p:cNvPr id="168" name="文本框 167" descr="{&quot;isTemplate&quot;:true,&quot;type&quot;:&quot;text&quot;}"/>
          <p:cNvSpPr txBox="1"/>
          <p:nvPr/>
        </p:nvSpPr>
        <p:spPr>
          <a:xfrm>
            <a:off x="819150" y="304800"/>
            <a:ext cx="9105900" cy="2095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第</a:t>
            </a: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 17 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章</a:t>
            </a: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 · 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运行时基础设施</a:t>
            </a: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 · 17.1</a:t>
            </a:r>
            <a:endParaRPr lang="en-US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9" name="文本框 168" descr="{&quot;isTemplate&quot;:true,&quot;type&quot;:&quot;text&quot;}"/>
          <p:cNvSpPr txBox="1"/>
          <p:nvPr/>
        </p:nvSpPr>
        <p:spPr>
          <a:xfrm>
            <a:off x="819150" y="514350"/>
            <a:ext cx="9105900" cy="5143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2550" b="1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框架之下的那一层</a:t>
            </a:r>
            <a:endParaRPr lang="zh-CN" sz="2550" b="1">
              <a:solidFill>
                <a:srgbClr val="E2E8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70" name="文本框 169" descr="{&quot;isTemplate&quot;:true,&quot;type&quot;:&quot;text&quot;}"/>
          <p:cNvSpPr txBox="1"/>
          <p:nvPr/>
        </p:nvSpPr>
        <p:spPr>
          <a:xfrm>
            <a:off x="10096500" y="590550"/>
            <a:ext cx="1485900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当零部件手册单独翻也可以</a:t>
            </a:r>
            <a:endParaRPr lang="zh-CN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graphicFrame>
        <p:nvGraphicFramePr>
          <p:cNvPr id="171" name="表格 170"/>
          <p:cNvGraphicFramePr/>
          <p:nvPr/>
        </p:nvGraphicFramePr>
        <p:xfrm>
          <a:off x="609600" y="1143000"/>
          <a:ext cx="10972800" cy="4705352"/>
        </p:xfrm>
        <a:graphic>
          <a:graphicData uri="http://schemas.openxmlformats.org/drawingml/2006/table">
            <a:tbl>
              <a:tblPr/>
              <a:tblGrid>
                <a:gridCol w="662749"/>
                <a:gridCol w="4940117"/>
                <a:gridCol w="5369934"/>
              </a:tblGrid>
              <a:tr h="415349"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 b="1">
                          <a:solidFill>
                            <a:srgbClr val="22D3EE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模块</a:t>
                      </a:r>
                      <a:endParaRPr sz="975" b="1">
                        <a:solidFill>
                          <a:srgbClr val="22D3EE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6233A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 b="1">
                          <a:solidFill>
                            <a:srgbClr val="22D3EE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一句话</a:t>
                      </a:r>
                      <a:endParaRPr sz="975" b="1">
                        <a:solidFill>
                          <a:srgbClr val="22D3EE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6233A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 b="1">
                          <a:solidFill>
                            <a:srgbClr val="22D3EE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在 fountain 里被谁用了</a:t>
                      </a:r>
                      <a:endParaRPr sz="975" b="1">
                        <a:solidFill>
                          <a:srgbClr val="22D3EE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6233A"/>
                    </a:solidFill>
                  </a:tcPr>
                </a:tc>
              </a:tr>
              <a:tr h="691280"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38BDF8"/>
                          </a:solidFill>
                          <a:latin typeface="JetBrains Mono"/>
                          <a:ea typeface="JetBrains Mono"/>
                        </a:rPr>
                        <a:t>f_base</a:t>
                      </a:r>
                      <a:endParaRPr sz="975">
                        <a:solidFill>
                          <a:srgbClr val="38BDF8"/>
                        </a:solidFill>
                        <a:latin typeface="JetBrains Mono"/>
                        <a:ea typeface="JetBrains Mono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所有模块的公共底座：进程优雅退出、Result / Option 与集合迭代器扩展、Comparator、StringGenerator、FutureTask</a:t>
                      </a:r>
                      <a:endParaRPr sz="975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全部模块；f_app 启动时调 ExitCallbacks.toExitGracefully()，f_mvc / f_pool / f_cache / f_orm / f_bean / f_rpc 用 atExit 登记清理</a:t>
                      </a:r>
                      <a:endParaRPr sz="975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691280"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38BDF8"/>
                          </a:solidFill>
                          <a:latin typeface="JetBrains Mono"/>
                          <a:ea typeface="JetBrains Mono"/>
                        </a:rPr>
                        <a:t>f_io</a:t>
                      </a:r>
                      <a:endParaRPr sz="975">
                        <a:solidFill>
                          <a:srgbClr val="38BDF8"/>
                        </a:solidFill>
                        <a:latin typeface="JetBrains Mono"/>
                        <a:ea typeface="JetBrains Mono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I/O 工具库；本节讲 ByteBuffer / SyncByteBuffer —— 读写双偏移的字节缓冲，以及加锁版</a:t>
                      </a:r>
                      <a:endParaRPr sz="975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f_rpc 打异常堆栈、fleet 接编码结果、f_mvc 的 FileDownload 用 SyncByteBuffer 当下载管道</a:t>
                      </a:r>
                      <a:endParaRPr sz="975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415349"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38BDF8"/>
                          </a:solidFill>
                          <a:latin typeface="JetBrains Mono"/>
                          <a:ea typeface="JetBrains Mono"/>
                        </a:rPr>
                        <a:t>f_cache</a:t>
                      </a:r>
                      <a:endParaRPr sz="975">
                        <a:solidFill>
                          <a:srgbClr val="38BDF8"/>
                        </a:solidFill>
                        <a:latin typeface="JetBrains Mono"/>
                        <a:ea typeface="JetBrains Mono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堆缓存（强引用 / 弱引用），可设寿命与容量</a:t>
                      </a:r>
                      <a:endParaRPr sz="975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f_security 的 JWTHeapCacheStore、f_data 的 DataPath.cache、f_orm 的结果缓存</a:t>
                      </a:r>
                      <a:endParaRPr sz="975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415349"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38BDF8"/>
                          </a:solidFill>
                          <a:latin typeface="JetBrains Mono"/>
                          <a:ea typeface="JetBrains Mono"/>
                        </a:rPr>
                        <a:t>f_pool</a:t>
                      </a:r>
                      <a:endParaRPr sz="975">
                        <a:solidFill>
                          <a:srgbClr val="38BDF8"/>
                        </a:solidFill>
                        <a:latin typeface="JetBrains Mono"/>
                        <a:ea typeface="JetBrains Mono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通用对象池、键池、数组池</a:t>
                      </a:r>
                      <a:endParaRPr sz="975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f_orm 的 DatabasePool（orm_databasePool* 那批配置项）</a:t>
                      </a:r>
                      <a:endParaRPr sz="975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415349"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38BDF8"/>
                          </a:solidFill>
                          <a:latin typeface="JetBrains Mono"/>
                          <a:ea typeface="JetBrains Mono"/>
                        </a:rPr>
                        <a:t>f_collection</a:t>
                      </a:r>
                      <a:endParaRPr sz="975">
                        <a:solidFill>
                          <a:srgbClr val="38BDF8"/>
                        </a:solidFill>
                        <a:latin typeface="JetBrains Mono"/>
                        <a:ea typeface="JetBrains Mono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标准库没有的集合 + 集合扩展</a:t>
                      </a:r>
                      <a:endParaRPr sz="975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f_store（LSM-Tree）、f_concurrent、ORM 分页</a:t>
                      </a:r>
                      <a:endParaRPr sz="975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415349"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38BDF8"/>
                          </a:solidFill>
                          <a:latin typeface="JetBrains Mono"/>
                          <a:ea typeface="JetBrains Mono"/>
                        </a:rPr>
                        <a:t>f_time</a:t>
                      </a:r>
                      <a:endParaRPr sz="975">
                        <a:solidFill>
                          <a:srgbClr val="38BDF8"/>
                        </a:solidFill>
                        <a:latin typeface="JetBrains Mono"/>
                        <a:ea typeface="JetBrains Mono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std.time 扩展：TimeUnit + Int64 时间 DSL</a:t>
                      </a:r>
                      <a:endParaRPr sz="975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所有用 Duration 作配置项的地方（mvc_readTimeout 等）</a:t>
                      </a:r>
                      <a:endParaRPr sz="975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415349"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38BDF8"/>
                          </a:solidFill>
                          <a:latin typeface="JetBrains Mono"/>
                          <a:ea typeface="JetBrains Mono"/>
                        </a:rPr>
                        <a:t>f_regex</a:t>
                      </a:r>
                      <a:endParaRPr sz="975">
                        <a:solidFill>
                          <a:srgbClr val="38BDF8"/>
                        </a:solidFill>
                        <a:latin typeface="JetBrains Mono"/>
                        <a:ea typeface="JetBrains Mono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正则扩展 + 正则缓存</a:t>
                      </a:r>
                      <a:endParaRPr sz="975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f_util 的 PathPattern、f_data 的校验器</a:t>
                      </a:r>
                      <a:endParaRPr sz="975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415349"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38BDF8"/>
                          </a:solidFill>
                          <a:latin typeface="JetBrains Mono"/>
                          <a:ea typeface="JetBrains Mono"/>
                        </a:rPr>
                        <a:t>f_rx</a:t>
                      </a:r>
                      <a:endParaRPr sz="975">
                        <a:solidFill>
                          <a:srgbClr val="38BDF8"/>
                        </a:solidFill>
                        <a:latin typeface="JetBrains Mono"/>
                        <a:ea typeface="JetBrains Mono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反应式编程（Observable / Observer / 背压）</a:t>
                      </a:r>
                      <a:endParaRPr sz="975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流式数据处理场景</a:t>
                      </a:r>
                      <a:endParaRPr sz="975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415349"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38BDF8"/>
                          </a:solidFill>
                          <a:latin typeface="JetBrains Mono"/>
                          <a:ea typeface="JetBrains Mono"/>
                        </a:rPr>
                        <a:t>f_random</a:t>
                      </a:r>
                      <a:endParaRPr sz="975">
                        <a:solidFill>
                          <a:srgbClr val="38BDF8"/>
                        </a:solidFill>
                        <a:latin typeface="JetBrains Mono"/>
                        <a:ea typeface="JetBrains Mono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随机数扩展：区间随机、随机流、随机字符串、蓄水池抽样</a:t>
                      </a:r>
                      <a:endParaRPr sz="975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f_app 的 fboot randhex、fdemo 的 UserSessionCache 会话密钥</a:t>
                      </a:r>
                      <a:endParaRPr sz="975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</a:tbl>
          </a:graphicData>
        </a:graphic>
      </p:graphicFrame>
      <p:sp>
        <p:nvSpPr>
          <p:cNvPr id="172" name="文本框 171" descr="{&quot;isTemplate&quot;:true,&quot;type&quot;:&quot;text&quot;}"/>
          <p:cNvSpPr txBox="1"/>
          <p:nvPr/>
        </p:nvSpPr>
        <p:spPr>
          <a:xfrm>
            <a:off x="609600" y="5962650"/>
            <a:ext cx="10972800" cy="2762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zh-CN" sz="1050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共同特点：零配置、可以单独引入、不绑架你的架构</a:t>
            </a:r>
            <a:r>
              <a:rPr lang="en-US" sz="1050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 —— </a:t>
            </a:r>
            <a:r>
              <a:rPr lang="zh-CN" sz="1050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就算不用</a:t>
            </a:r>
            <a:r>
              <a:rPr lang="en-US" sz="1050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 fountain </a:t>
            </a:r>
            <a:r>
              <a:rPr lang="zh-CN" sz="1050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的框架部分，把它们当工具库用也完全没问题。</a:t>
            </a:r>
            <a:endParaRPr lang="zh-CN" sz="1050">
              <a:solidFill>
                <a:srgbClr val="F59E0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73" name="任意多边形 172"/>
          <p:cNvSpPr/>
          <p:nvPr/>
        </p:nvSpPr>
        <p:spPr>
          <a:xfrm>
            <a:off x="609600" y="6286500"/>
            <a:ext cx="10972800" cy="381000"/>
          </a:xfrm>
          <a:custGeom>
            <a:avLst/>
            <a:gdLst/>
            <a:ahLst/>
            <a:cxnLst/>
            <a:pathLst>
              <a:path w="1152" h="40">
                <a:moveTo>
                  <a:pt x="0" y="0"/>
                </a:moveTo>
                <a:lnTo>
                  <a:pt x="1152" y="0"/>
                </a:lnTo>
                <a:lnTo>
                  <a:pt x="1152" y="1"/>
                </a:lnTo>
                <a:lnTo>
                  <a:pt x="0" y="1"/>
                </a:lnTo>
                <a:close/>
              </a:path>
            </a:pathLst>
          </a:custGeom>
          <a:solidFill>
            <a:srgbClr val="1E293B"/>
          </a:solidFill>
        </p:spPr>
        <p:txBody>
          <a:bodyPr/>
          <a:p/>
        </p:txBody>
      </p:sp>
      <p:sp>
        <p:nvSpPr>
          <p:cNvPr id="174" name="文本框 173" descr="{&quot;isTemplate&quot;:true,&quot;type&quot;:&quot;text&quot;}"/>
          <p:cNvSpPr txBox="1"/>
          <p:nvPr/>
        </p:nvSpPr>
        <p:spPr>
          <a:xfrm>
            <a:off x="609600" y="6410325"/>
            <a:ext cx="2219325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fountain · 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一站式服务器应用开发工具库</a:t>
            </a:r>
            <a:endParaRPr lang="zh-CN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75" name="文本框 174" descr="{&quot;isTemplate&quot;:true,&quot;type&quot;:&quot;text&quot;}"/>
          <p:cNvSpPr txBox="1"/>
          <p:nvPr/>
        </p:nvSpPr>
        <p:spPr>
          <a:xfrm>
            <a:off x="11020425" y="6410325"/>
            <a:ext cx="561975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104 / 116</a:t>
            </a:r>
            <a:endParaRPr lang="en-US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7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矩形 176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220"/>
          </a:solidFill>
        </p:spPr>
        <p:txBody>
          <a:bodyPr/>
          <a:p/>
        </p:txBody>
      </p:sp>
      <p:sp>
        <p:nvSpPr>
          <p:cNvPr id="178" name="矩形 177"/>
          <p:cNvSpPr/>
          <p:nvPr/>
        </p:nvSpPr>
        <p:spPr>
          <a:xfrm>
            <a:off x="609600" y="476250"/>
            <a:ext cx="38100" cy="381000"/>
          </a:xfrm>
          <a:prstGeom prst="rect">
            <a:avLst/>
          </a:prstGeom>
          <a:solidFill>
            <a:srgbClr val="38BDF8"/>
          </a:solidFill>
        </p:spPr>
        <p:txBody>
          <a:bodyPr/>
          <a:p/>
        </p:txBody>
      </p:sp>
      <p:sp>
        <p:nvSpPr>
          <p:cNvPr id="179" name="文本框 178" descr="{&quot;isTemplate&quot;:true,&quot;type&quot;:&quot;text&quot;}"/>
          <p:cNvSpPr txBox="1"/>
          <p:nvPr/>
        </p:nvSpPr>
        <p:spPr>
          <a:xfrm>
            <a:off x="819150" y="304800"/>
            <a:ext cx="9848850" cy="2095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第</a:t>
            </a: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 17 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章</a:t>
            </a: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 · 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运行时基础设施</a:t>
            </a: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 · 17.2 / 17.3</a:t>
            </a:r>
            <a:endParaRPr lang="en-US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80" name="文本框 179" descr="{&quot;isTemplate&quot;:true,&quot;type&quot;:&quot;text&quot;}"/>
          <p:cNvSpPr txBox="1"/>
          <p:nvPr/>
        </p:nvSpPr>
        <p:spPr>
          <a:xfrm>
            <a:off x="819150" y="514350"/>
            <a:ext cx="9848850" cy="5143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en-US" sz="2550" b="1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f_base </a:t>
            </a:r>
            <a:r>
              <a:rPr lang="zh-CN" sz="2550" b="1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与</a:t>
            </a:r>
            <a:r>
              <a:rPr lang="en-US" sz="2550" b="1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 f_io</a:t>
            </a:r>
            <a:endParaRPr lang="en-US" sz="2550" b="1">
              <a:solidFill>
                <a:srgbClr val="E2E8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81" name="文本框 180" descr="{&quot;isTemplate&quot;:true,&quot;type&quot;:&quot;text&quot;}"/>
          <p:cNvSpPr txBox="1"/>
          <p:nvPr/>
        </p:nvSpPr>
        <p:spPr>
          <a:xfrm>
            <a:off x="10839450" y="590550"/>
            <a:ext cx="742950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脚下的那一层</a:t>
            </a:r>
            <a:endParaRPr lang="zh-CN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82" name="圆角矩形 181"/>
          <p:cNvSpPr/>
          <p:nvPr/>
        </p:nvSpPr>
        <p:spPr>
          <a:xfrm>
            <a:off x="609600" y="1143000"/>
            <a:ext cx="5391150" cy="2171700"/>
          </a:xfrm>
          <a:prstGeom prst="roundRect">
            <a:avLst>
              <a:gd name="adj" fmla="val 5263"/>
            </a:avLst>
          </a:prstGeom>
          <a:solidFill>
            <a:srgbClr val="0B1220"/>
          </a:solidFill>
          <a:ln w="12700">
            <a:solidFill>
              <a:srgbClr val="38BDF8"/>
            </a:solidFill>
            <a:prstDash val="solid"/>
          </a:ln>
        </p:spPr>
        <p:txBody>
          <a:bodyPr/>
          <a:p/>
        </p:txBody>
      </p:sp>
      <p:sp>
        <p:nvSpPr>
          <p:cNvPr id="183" name="文本框 182" descr="{&quot;isTemplate&quot;:true,&quot;type&quot;:&quot;text&quot;}"/>
          <p:cNvSpPr txBox="1"/>
          <p:nvPr/>
        </p:nvSpPr>
        <p:spPr>
          <a:xfrm>
            <a:off x="762000" y="1295400"/>
            <a:ext cx="5086350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38BDF8"/>
                </a:solidFill>
                <a:latin typeface="微软雅黑" panose="020B0503020204020204" charset="-122"/>
                <a:ea typeface="微软雅黑" panose="020B0503020204020204" charset="-122"/>
              </a:rPr>
              <a:t>f_base · </a:t>
            </a:r>
            <a:r>
              <a:rPr lang="zh-CN" sz="975">
                <a:solidFill>
                  <a:srgbClr val="38BDF8"/>
                </a:solidFill>
                <a:latin typeface="微软雅黑" panose="020B0503020204020204" charset="-122"/>
                <a:ea typeface="微软雅黑" panose="020B0503020204020204" charset="-122"/>
              </a:rPr>
              <a:t>一个</a:t>
            </a:r>
            <a:r>
              <a:rPr lang="en-US" sz="975">
                <a:solidFill>
                  <a:srgbClr val="38BDF8"/>
                </a:solidFill>
                <a:latin typeface="微软雅黑" panose="020B0503020204020204" charset="-122"/>
                <a:ea typeface="微软雅黑" panose="020B0503020204020204" charset="-122"/>
              </a:rPr>
              <a:t> import </a:t>
            </a:r>
            <a:r>
              <a:rPr lang="zh-CN" sz="975">
                <a:solidFill>
                  <a:srgbClr val="38BDF8"/>
                </a:solidFill>
                <a:latin typeface="微软雅黑" panose="020B0503020204020204" charset="-122"/>
                <a:ea typeface="微软雅黑" panose="020B0503020204020204" charset="-122"/>
              </a:rPr>
              <a:t>打底</a:t>
            </a:r>
            <a:endParaRPr lang="zh-CN" sz="975">
              <a:solidFill>
                <a:srgbClr val="38BDF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84" name="文本框 183" descr="{&quot;isTemplate&quot;:true,&quot;type&quot;:&quot;text&quot;}"/>
          <p:cNvSpPr txBox="1"/>
          <p:nvPr/>
        </p:nvSpPr>
        <p:spPr>
          <a:xfrm>
            <a:off x="762000" y="1524000"/>
            <a:ext cx="5086350" cy="2381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en-US" sz="900">
                <a:solidFill>
                  <a:srgbClr val="E2E8F0"/>
                </a:solidFill>
                <a:latin typeface="JetBrains Mono"/>
                <a:ea typeface="JetBrains Mono"/>
              </a:rPr>
              <a:t>import fountain::f_base.*</a:t>
            </a:r>
            <a:endParaRPr lang="en-US" sz="900">
              <a:solidFill>
                <a:srgbClr val="E2E8F0"/>
              </a:solidFill>
              <a:latin typeface="JetBrains Mono"/>
              <a:ea typeface="JetBrains Mono"/>
            </a:endParaRPr>
          </a:p>
        </p:txBody>
      </p:sp>
      <p:sp>
        <p:nvSpPr>
          <p:cNvPr id="185" name="文本框 184" descr="{&quot;isTemplate&quot;:true,&quot;type&quot;:&quot;text&quot;}"/>
          <p:cNvSpPr txBox="1"/>
          <p:nvPr/>
        </p:nvSpPr>
        <p:spPr>
          <a:xfrm>
            <a:off x="762000" y="1838325"/>
            <a:ext cx="5086350" cy="704850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zh-CN" sz="90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它</a:t>
            </a:r>
            <a:r>
              <a:rPr lang="en-US" sz="90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public import </a:t>
            </a:r>
            <a:r>
              <a:rPr lang="zh-CN" sz="90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了</a:t>
            </a:r>
            <a:r>
              <a:rPr lang="en-US" sz="90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std.collection / reflect / regex / time </a:t>
            </a:r>
            <a:r>
              <a:rPr lang="zh-CN" sz="90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与</a:t>
            </a:r>
            <a:r>
              <a:rPr lang="en-US" sz="90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std.math.MathExtension —— ArrayList</a:t>
            </a:r>
            <a:r>
              <a:rPr lang="zh-CN" sz="90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、</a:t>
            </a:r>
            <a:r>
              <a:rPr lang="en-US" sz="90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HashMap</a:t>
            </a:r>
            <a:r>
              <a:rPr lang="zh-CN" sz="90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、</a:t>
            </a:r>
            <a:r>
              <a:rPr lang="en-US" sz="90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Regex</a:t>
            </a:r>
            <a:r>
              <a:rPr lang="zh-CN" sz="90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、</a:t>
            </a:r>
            <a:r>
              <a:rPr lang="en-US" sz="90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Duration</a:t>
            </a:r>
            <a:r>
              <a:rPr lang="zh-CN" sz="90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、</a:t>
            </a:r>
            <a:r>
              <a:rPr lang="en-US" sz="90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DateTime </a:t>
            </a:r>
            <a:r>
              <a:rPr lang="zh-CN" sz="90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都不用再引。这也是</a:t>
            </a:r>
            <a:r>
              <a:rPr lang="en-US" sz="90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fboot workspace </a:t>
            </a:r>
            <a:r>
              <a:rPr lang="zh-CN" sz="90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生成的</a:t>
            </a:r>
            <a:r>
              <a:rPr lang="en-US" sz="90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cjpm.toml </a:t>
            </a:r>
            <a:r>
              <a:rPr lang="zh-CN" sz="90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默认带</a:t>
            </a:r>
            <a:r>
              <a:rPr lang="en-US" sz="90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f_base </a:t>
            </a:r>
            <a:r>
              <a:rPr lang="zh-CN" sz="90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的原因。</a:t>
            </a:r>
            <a:endParaRPr lang="zh-CN" sz="900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86" name="圆角矩形 185"/>
          <p:cNvSpPr/>
          <p:nvPr/>
        </p:nvSpPr>
        <p:spPr>
          <a:xfrm>
            <a:off x="609600" y="3429000"/>
            <a:ext cx="5391150" cy="2857500"/>
          </a:xfrm>
          <a:prstGeom prst="roundRect">
            <a:avLst>
              <a:gd name="adj" fmla="val 4000"/>
            </a:avLst>
          </a:prstGeom>
          <a:solidFill>
            <a:srgbClr val="0B1220"/>
          </a:solidFill>
          <a:ln w="12700">
            <a:solidFill>
              <a:srgbClr val="1E293B"/>
            </a:solidFill>
            <a:prstDash val="solid"/>
          </a:ln>
        </p:spPr>
        <p:txBody>
          <a:bodyPr/>
          <a:p/>
        </p:txBody>
      </p:sp>
      <p:sp>
        <p:nvSpPr>
          <p:cNvPr id="187" name="文本框 186" descr="{&quot;isTemplate&quot;:true,&quot;type&quot;:&quot;text&quot;}"/>
          <p:cNvSpPr txBox="1"/>
          <p:nvPr/>
        </p:nvSpPr>
        <p:spPr>
          <a:xfrm>
            <a:off x="762000" y="3581400"/>
            <a:ext cx="5086350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进程退出（最容易被低估的一段）</a:t>
            </a:r>
            <a:endParaRPr lang="zh-CN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88" name="文本框 187" descr="{&quot;isTemplate&quot;:true,&quot;type&quot;:&quot;text&quot;}"/>
          <p:cNvSpPr txBox="1"/>
          <p:nvPr/>
        </p:nvSpPr>
        <p:spPr>
          <a:xfrm>
            <a:off x="762000" y="3810000"/>
            <a:ext cx="5086350" cy="466725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en-US" sz="900">
                <a:solidFill>
                  <a:srgbClr val="38BDF8"/>
                </a:solidFill>
                <a:latin typeface="JetBrains Mono"/>
                <a:ea typeface="JetBrains Mono"/>
              </a:rPr>
              <a:t>ExitCallbacks.toExitGracefully()</a:t>
            </a:r>
            <a:r>
              <a:rPr lang="zh-CN" sz="900">
                <a:solidFill>
                  <a:srgbClr val="38BDF8"/>
                </a:solidFill>
                <a:latin typeface="JetBrains Mono"/>
                <a:ea typeface="JetBrains Mono"/>
              </a:rPr>
              <a:t>　</a:t>
            </a:r>
            <a:r>
              <a:rPr lang="en-US" sz="900">
                <a:solidFill>
                  <a:srgbClr val="38BDF8"/>
                </a:solidFill>
                <a:latin typeface="JetBrains Mono"/>
                <a:ea typeface="JetBrains Mono"/>
              </a:rPr>
              <a:t>// </a:t>
            </a:r>
            <a:r>
              <a:rPr lang="zh-CN" sz="900">
                <a:solidFill>
                  <a:srgbClr val="38BDF8"/>
                </a:solidFill>
                <a:latin typeface="JetBrains Mono"/>
                <a:ea typeface="JetBrains Mono"/>
              </a:rPr>
              <a:t>重置并注册</a:t>
            </a:r>
            <a:r>
              <a:rPr lang="en-US" sz="900">
                <a:solidFill>
                  <a:srgbClr val="38BDF8"/>
                </a:solidFill>
                <a:latin typeface="JetBrains Mono"/>
                <a:ea typeface="JetBrains Mono"/>
              </a:rPr>
              <a:t> SIGTERM / SIGINT</a:t>
            </a:r>
            <a:r>
              <a:rPr lang="zh-CN" sz="900">
                <a:solidFill>
                  <a:srgbClr val="38BDF8"/>
                </a:solidFill>
                <a:latin typeface="JetBrains Mono"/>
                <a:ea typeface="JetBrains Mono"/>
              </a:rPr>
              <a:t>，回调跑完</a:t>
            </a:r>
            <a:r>
              <a:rPr lang="en-US" sz="900">
                <a:solidFill>
                  <a:srgbClr val="38BDF8"/>
                </a:solidFill>
                <a:latin typeface="JetBrains Mono"/>
                <a:ea typeface="JetBrains Mono"/>
              </a:rPr>
              <a:t> exit(0)</a:t>
            </a:r>
            <a:endParaRPr lang="en-US" sz="900">
              <a:solidFill>
                <a:srgbClr val="38BDF8"/>
              </a:solidFill>
              <a:latin typeface="JetBrains Mono"/>
              <a:ea typeface="JetBrains Mono"/>
            </a:endParaRPr>
          </a:p>
        </p:txBody>
      </p:sp>
      <p:sp>
        <p:nvSpPr>
          <p:cNvPr id="189" name="文本框 188" descr="{&quot;isTemplate&quot;:true,&quot;type&quot;:&quot;text&quot;}"/>
          <p:cNvSpPr txBox="1"/>
          <p:nvPr/>
        </p:nvSpPr>
        <p:spPr>
          <a:xfrm>
            <a:off x="762000" y="4276725"/>
            <a:ext cx="5086350" cy="2381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en-US" sz="900">
                <a:solidFill>
                  <a:srgbClr val="38BDF8"/>
                </a:solidFill>
                <a:latin typeface="JetBrains Mono"/>
                <a:ea typeface="JetBrains Mono"/>
              </a:rPr>
              <a:t>ExitCallbacks.atExit(priority: UInt16, atexit: () -&gt; Unit)</a:t>
            </a:r>
            <a:endParaRPr lang="en-US" sz="900">
              <a:solidFill>
                <a:srgbClr val="38BDF8"/>
              </a:solidFill>
              <a:latin typeface="JetBrains Mono"/>
              <a:ea typeface="JetBrains Mono"/>
            </a:endParaRPr>
          </a:p>
        </p:txBody>
      </p:sp>
      <p:sp>
        <p:nvSpPr>
          <p:cNvPr id="190" name="文本框 189" descr="{&quot;isTemplate&quot;:true,&quot;type&quot;:&quot;text&quot;}"/>
          <p:cNvSpPr txBox="1"/>
          <p:nvPr/>
        </p:nvSpPr>
        <p:spPr>
          <a:xfrm>
            <a:off x="762000" y="4591050"/>
            <a:ext cx="5086350" cy="466725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zh-CN" sz="90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回调按权重升序执行，权重相同的按注册顺序。用了</a:t>
            </a:r>
            <a:r>
              <a:rPr lang="en-US" sz="90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f_app </a:t>
            </a:r>
            <a:r>
              <a:rPr lang="zh-CN" sz="90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就不需要自己调；只有「只引</a:t>
            </a:r>
            <a:r>
              <a:rPr lang="en-US" sz="90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f_base</a:t>
            </a:r>
            <a:r>
              <a:rPr lang="zh-CN" sz="90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」的独立工具才会漏掉。</a:t>
            </a:r>
            <a:endParaRPr lang="zh-CN" sz="900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91" name="文本框 190" descr="{&quot;isTemplate&quot;:true,&quot;type&quot;:&quot;text&quot;}"/>
          <p:cNvSpPr txBox="1"/>
          <p:nvPr/>
        </p:nvSpPr>
        <p:spPr>
          <a:xfrm>
            <a:off x="762000" y="5667375"/>
            <a:ext cx="5086350" cy="466725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en-US" sz="900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Ctrl-C </a:t>
            </a:r>
            <a:r>
              <a:rPr lang="zh-CN" sz="900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顺序：</a:t>
            </a:r>
            <a:r>
              <a:rPr lang="en-US" sz="900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f_mvc </a:t>
            </a:r>
            <a:r>
              <a:rPr lang="zh-CN" sz="900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关服务器</a:t>
            </a:r>
            <a:r>
              <a:rPr lang="en-US" sz="900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(0) → f_bean(253) → f_pool / f_cache(254) → f_orm </a:t>
            </a:r>
            <a:r>
              <a:rPr lang="zh-CN" sz="900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关数据库</a:t>
            </a:r>
            <a:r>
              <a:rPr lang="en-US" sz="900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(255)</a:t>
            </a:r>
            <a:r>
              <a:rPr lang="zh-CN" sz="900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。</a:t>
            </a:r>
            <a:r>
              <a:rPr lang="en-US" sz="900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Windows </a:t>
            </a:r>
            <a:r>
              <a:rPr lang="zh-CN" sz="900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上是条件编译出来的空实现。</a:t>
            </a:r>
            <a:endParaRPr lang="zh-CN" sz="900">
              <a:solidFill>
                <a:srgbClr val="F59E0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92" name="圆角矩形 191"/>
          <p:cNvSpPr/>
          <p:nvPr/>
        </p:nvSpPr>
        <p:spPr>
          <a:xfrm>
            <a:off x="6191250" y="1143000"/>
            <a:ext cx="5391150" cy="2990850"/>
          </a:xfrm>
          <a:prstGeom prst="roundRect">
            <a:avLst>
              <a:gd name="adj" fmla="val 3822"/>
            </a:avLst>
          </a:prstGeom>
          <a:solidFill>
            <a:srgbClr val="0B1220"/>
          </a:solidFill>
          <a:ln w="12700">
            <a:solidFill>
              <a:srgbClr val="38BDF8"/>
            </a:solidFill>
            <a:prstDash val="solid"/>
          </a:ln>
        </p:spPr>
        <p:txBody>
          <a:bodyPr/>
          <a:p/>
        </p:txBody>
      </p:sp>
      <p:sp>
        <p:nvSpPr>
          <p:cNvPr id="193" name="文本框 192" descr="{&quot;isTemplate&quot;:true,&quot;type&quot;:&quot;text&quot;}"/>
          <p:cNvSpPr txBox="1"/>
          <p:nvPr/>
        </p:nvSpPr>
        <p:spPr>
          <a:xfrm>
            <a:off x="6343650" y="1295400"/>
            <a:ext cx="5086350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38BDF8"/>
                </a:solidFill>
                <a:latin typeface="微软雅黑" panose="020B0503020204020204" charset="-122"/>
                <a:ea typeface="微软雅黑" panose="020B0503020204020204" charset="-122"/>
              </a:rPr>
              <a:t>f_io · ByteBuffer</a:t>
            </a:r>
            <a:r>
              <a:rPr lang="zh-CN" sz="975">
                <a:solidFill>
                  <a:srgbClr val="38BDF8"/>
                </a:solidFill>
                <a:latin typeface="微软雅黑" panose="020B0503020204020204" charset="-122"/>
                <a:ea typeface="微软雅黑" panose="020B0503020204020204" charset="-122"/>
              </a:rPr>
              <a:t>（读写双偏移）</a:t>
            </a:r>
            <a:endParaRPr lang="zh-CN" sz="975">
              <a:solidFill>
                <a:srgbClr val="38BDF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94" name="文本框 193" descr="{&quot;isTemplate&quot;:true,&quot;type&quot;:&quot;text&quot;}"/>
          <p:cNvSpPr txBox="1"/>
          <p:nvPr/>
        </p:nvSpPr>
        <p:spPr>
          <a:xfrm>
            <a:off x="6343650" y="1524000"/>
            <a:ext cx="5086350" cy="2381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en-US" sz="900">
                <a:solidFill>
                  <a:srgbClr val="E2E8F0"/>
                </a:solidFill>
                <a:latin typeface="JetBrains Mono"/>
                <a:ea typeface="JetBrains Mono"/>
              </a:rPr>
              <a:t>ByteBuffer(initialCapacity! = 32, toOverwriteOnClearing! = false)</a:t>
            </a:r>
            <a:endParaRPr lang="en-US" sz="900">
              <a:solidFill>
                <a:srgbClr val="E2E8F0"/>
              </a:solidFill>
              <a:latin typeface="JetBrains Mono"/>
              <a:ea typeface="JetBrains Mono"/>
            </a:endParaRPr>
          </a:p>
        </p:txBody>
      </p:sp>
      <p:sp>
        <p:nvSpPr>
          <p:cNvPr id="195" name="文本框 194" descr="{&quot;isTemplate&quot;:true,&quot;type&quot;:&quot;text&quot;}"/>
          <p:cNvSpPr txBox="1"/>
          <p:nvPr/>
        </p:nvSpPr>
        <p:spPr>
          <a:xfrm>
            <a:off x="6343650" y="1762125"/>
            <a:ext cx="5086350" cy="2381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en-US" sz="900">
                <a:solidFill>
                  <a:srgbClr val="94A3B8"/>
                </a:solidFill>
                <a:latin typeface="JetBrains Mono"/>
                <a:ea typeface="JetBrains Mono"/>
              </a:rPr>
              <a:t>capacity / writeOffset / readOffset</a:t>
            </a:r>
            <a:r>
              <a:rPr lang="zh-CN" sz="900">
                <a:solidFill>
                  <a:srgbClr val="94A3B8"/>
                </a:solidFill>
                <a:latin typeface="JetBrains Mono"/>
                <a:ea typeface="JetBrains Mono"/>
              </a:rPr>
              <a:t>　·　</a:t>
            </a:r>
            <a:r>
              <a:rPr lang="en-US" sz="900">
                <a:solidFill>
                  <a:srgbClr val="94A3B8"/>
                </a:solidFill>
                <a:latin typeface="JetBrains Mono"/>
                <a:ea typeface="JetBrains Mono"/>
              </a:rPr>
              <a:t>bytes()</a:t>
            </a:r>
            <a:r>
              <a:rPr lang="zh-CN" sz="900">
                <a:solidFill>
                  <a:srgbClr val="94A3B8"/>
                </a:solidFill>
                <a:latin typeface="JetBrains Mono"/>
                <a:ea typeface="JetBrains Mono"/>
              </a:rPr>
              <a:t>　·　</a:t>
            </a:r>
            <a:r>
              <a:rPr lang="en-US" sz="900">
                <a:solidFill>
                  <a:srgbClr val="94A3B8"/>
                </a:solidFill>
                <a:latin typeface="JetBrains Mono"/>
                <a:ea typeface="JetBrains Mono"/>
              </a:rPr>
              <a:t>readByte() / read(buf)</a:t>
            </a:r>
            <a:endParaRPr lang="en-US" sz="900">
              <a:solidFill>
                <a:srgbClr val="94A3B8"/>
              </a:solidFill>
              <a:latin typeface="JetBrains Mono"/>
              <a:ea typeface="JetBrains Mono"/>
            </a:endParaRPr>
          </a:p>
        </p:txBody>
      </p:sp>
      <p:sp>
        <p:nvSpPr>
          <p:cNvPr id="196" name="文本框 195" descr="{&quot;isTemplate&quot;:true,&quot;type&quot;:&quot;text&quot;}"/>
          <p:cNvSpPr txBox="1"/>
          <p:nvPr/>
        </p:nvSpPr>
        <p:spPr>
          <a:xfrm>
            <a:off x="6343650" y="2000250"/>
            <a:ext cx="5086350" cy="2381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en-US" sz="900">
                <a:solidFill>
                  <a:srgbClr val="94A3B8"/>
                </a:solidFill>
                <a:latin typeface="JetBrains Mono"/>
                <a:ea typeface="JetBrains Mono"/>
              </a:rPr>
              <a:t>writeByte(b)</a:t>
            </a:r>
            <a:r>
              <a:rPr lang="zh-CN" sz="900">
                <a:solidFill>
                  <a:srgbClr val="94A3B8"/>
                </a:solidFill>
                <a:latin typeface="JetBrains Mono"/>
                <a:ea typeface="JetBrains Mono"/>
              </a:rPr>
              <a:t>（写满自动扩容，约</a:t>
            </a:r>
            <a:r>
              <a:rPr lang="en-US" sz="900">
                <a:solidFill>
                  <a:srgbClr val="94A3B8"/>
                </a:solidFill>
                <a:latin typeface="JetBrains Mono"/>
                <a:ea typeface="JetBrains Mono"/>
              </a:rPr>
              <a:t> 1.5 </a:t>
            </a:r>
            <a:r>
              <a:rPr lang="zh-CN" sz="900">
                <a:solidFill>
                  <a:srgbClr val="94A3B8"/>
                </a:solidFill>
                <a:latin typeface="JetBrains Mono"/>
                <a:ea typeface="JetBrains Mono"/>
              </a:rPr>
              <a:t>倍）</a:t>
            </a:r>
            <a:r>
              <a:rPr lang="en-US" sz="900">
                <a:solidFill>
                  <a:srgbClr val="94A3B8"/>
                </a:solidFill>
                <a:latin typeface="JetBrains Mono"/>
                <a:ea typeface="JetBrains Mono"/>
              </a:rPr>
              <a:t> / write(buf)</a:t>
            </a:r>
            <a:endParaRPr lang="en-US" sz="900">
              <a:solidFill>
                <a:srgbClr val="94A3B8"/>
              </a:solidFill>
              <a:latin typeface="JetBrains Mono"/>
              <a:ea typeface="JetBrains Mono"/>
            </a:endParaRPr>
          </a:p>
        </p:txBody>
      </p:sp>
      <p:sp>
        <p:nvSpPr>
          <p:cNvPr id="197" name="文本框 196" descr="{&quot;isTemplate&quot;:true,&quot;type&quot;:&quot;text&quot;}"/>
          <p:cNvSpPr txBox="1"/>
          <p:nvPr/>
        </p:nvSpPr>
        <p:spPr>
          <a:xfrm>
            <a:off x="6343650" y="2238375"/>
            <a:ext cx="5086350" cy="2381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en-US" sz="900">
                <a:solidFill>
                  <a:srgbClr val="94A3B8"/>
                </a:solidFill>
                <a:latin typeface="JetBrains Mono"/>
                <a:ea typeface="JetBrains Mono"/>
              </a:rPr>
              <a:t>reserve(n) / seekReading(pos) / seekWriting(pos) / clear() / clone()</a:t>
            </a:r>
            <a:endParaRPr lang="en-US" sz="900">
              <a:solidFill>
                <a:srgbClr val="94A3B8"/>
              </a:solidFill>
              <a:latin typeface="JetBrains Mono"/>
              <a:ea typeface="JetBrains Mono"/>
            </a:endParaRPr>
          </a:p>
        </p:txBody>
      </p:sp>
      <p:sp>
        <p:nvSpPr>
          <p:cNvPr id="198" name="文本框 197" descr="{&quot;isTemplate&quot;:true,&quot;type&quot;:&quot;text&quot;}"/>
          <p:cNvSpPr txBox="1"/>
          <p:nvPr/>
        </p:nvSpPr>
        <p:spPr>
          <a:xfrm>
            <a:off x="6343650" y="2552700"/>
            <a:ext cx="5086350" cy="466725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zh-CN" sz="90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它实现</a:t>
            </a:r>
            <a:r>
              <a:rPr lang="en-US" sz="90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IOStream</a:t>
            </a:r>
            <a:r>
              <a:rPr lang="zh-CN" sz="90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（可读</a:t>
            </a:r>
            <a:r>
              <a:rPr lang="en-US" sz="90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+ </a:t>
            </a:r>
            <a:r>
              <a:rPr lang="zh-CN" sz="90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可写），最常用姿势是把它当内存里的输出目标：</a:t>
            </a:r>
            <a:r>
              <a:rPr lang="en-US" sz="90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printStackTrace(e, buffer)</a:t>
            </a:r>
            <a:r>
              <a:rPr lang="zh-CN" sz="90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、</a:t>
            </a:r>
            <a:r>
              <a:rPr lang="en-US" sz="90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codec.encode(data).copy(to: buffer)</a:t>
            </a:r>
            <a:r>
              <a:rPr lang="zh-CN" sz="90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，写完一个</a:t>
            </a:r>
            <a:r>
              <a:rPr lang="en-US" sz="90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bytes() </a:t>
            </a:r>
            <a:r>
              <a:rPr lang="zh-CN" sz="90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取走。</a:t>
            </a:r>
            <a:endParaRPr lang="zh-CN" sz="900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99" name="文本框 198" descr="{&quot;isTemplate&quot;:true,&quot;type&quot;:&quot;text&quot;}"/>
          <p:cNvSpPr txBox="1"/>
          <p:nvPr/>
        </p:nvSpPr>
        <p:spPr>
          <a:xfrm>
            <a:off x="6343650" y="3276600"/>
            <a:ext cx="5086350" cy="704850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en-US" sz="900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reserve </a:t>
            </a:r>
            <a:r>
              <a:rPr lang="zh-CN" sz="900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的「扩容」分两步：剩余空间够就只把未读数据挪到头部；够才真开新数组。</a:t>
            </a:r>
            <a:r>
              <a:rPr lang="en-US" sz="900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toOverwriteOnClearing </a:t>
            </a:r>
            <a:r>
              <a:rPr lang="zh-CN" sz="900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打开后，</a:t>
            </a:r>
            <a:r>
              <a:rPr lang="en-US" sz="900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clear() </a:t>
            </a:r>
            <a:r>
              <a:rPr lang="zh-CN" sz="900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会把已写区域</a:t>
            </a:r>
            <a:r>
              <a:rPr lang="en-US" sz="900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 fill(0) </a:t>
            </a:r>
            <a:r>
              <a:rPr lang="zh-CN" sz="900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抹掉</a:t>
            </a:r>
            <a:r>
              <a:rPr lang="en-US" sz="900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 —— </a:t>
            </a:r>
            <a:r>
              <a:rPr lang="zh-CN" sz="900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装密钥、令牌的缓冲记得打开。</a:t>
            </a:r>
            <a:endParaRPr lang="zh-CN" sz="900">
              <a:solidFill>
                <a:srgbClr val="F59E0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00" name="圆角矩形 199"/>
          <p:cNvSpPr/>
          <p:nvPr/>
        </p:nvSpPr>
        <p:spPr>
          <a:xfrm>
            <a:off x="6191250" y="4248150"/>
            <a:ext cx="5391150" cy="2038350"/>
          </a:xfrm>
          <a:prstGeom prst="roundRect">
            <a:avLst>
              <a:gd name="adj" fmla="val 5607"/>
            </a:avLst>
          </a:prstGeom>
          <a:solidFill>
            <a:srgbClr val="0B1220"/>
          </a:solidFill>
          <a:ln w="12700">
            <a:solidFill>
              <a:srgbClr val="1E293B"/>
            </a:solidFill>
            <a:prstDash val="solid"/>
          </a:ln>
        </p:spPr>
        <p:txBody>
          <a:bodyPr/>
          <a:p/>
        </p:txBody>
      </p:sp>
      <p:sp>
        <p:nvSpPr>
          <p:cNvPr id="201" name="文本框 200" descr="{&quot;isTemplate&quot;:true,&quot;type&quot;:&quot;text&quot;}"/>
          <p:cNvSpPr txBox="1"/>
          <p:nvPr/>
        </p:nvSpPr>
        <p:spPr>
          <a:xfrm>
            <a:off x="6343650" y="4400550"/>
            <a:ext cx="5086350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加锁版：</a:t>
            </a: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SyncByteBuffer</a:t>
            </a:r>
            <a:endParaRPr lang="en-US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02" name="文本框 201" descr="{&quot;isTemplate&quot;:true,&quot;type&quot;:&quot;text&quot;}"/>
          <p:cNvSpPr txBox="1"/>
          <p:nvPr/>
        </p:nvSpPr>
        <p:spPr>
          <a:xfrm>
            <a:off x="6343650" y="4629150"/>
            <a:ext cx="5086350" cy="2381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en-US" sz="900">
                <a:solidFill>
                  <a:srgbClr val="E2E8F0"/>
                </a:solidFill>
                <a:latin typeface="JetBrains Mono"/>
                <a:ea typeface="JetBrains Mono"/>
              </a:rPr>
              <a:t>readByte()</a:t>
            </a:r>
            <a:r>
              <a:rPr lang="zh-CN" sz="900">
                <a:solidFill>
                  <a:srgbClr val="E2E8F0"/>
                </a:solidFill>
                <a:latin typeface="JetBrains Mono"/>
                <a:ea typeface="JetBrains Mono"/>
              </a:rPr>
              <a:t>（没数据立即返回</a:t>
            </a:r>
            <a:r>
              <a:rPr lang="en-US" sz="900">
                <a:solidFill>
                  <a:srgbClr val="E2E8F0"/>
                </a:solidFill>
                <a:latin typeface="JetBrains Mono"/>
                <a:ea typeface="JetBrains Mono"/>
              </a:rPr>
              <a:t> None</a:t>
            </a:r>
            <a:r>
              <a:rPr lang="zh-CN" sz="900">
                <a:solidFill>
                  <a:srgbClr val="E2E8F0"/>
                </a:solidFill>
                <a:latin typeface="JetBrains Mono"/>
                <a:ea typeface="JetBrains Mono"/>
              </a:rPr>
              <a:t>）</a:t>
            </a:r>
            <a:r>
              <a:rPr lang="en-US" sz="900">
                <a:solidFill>
                  <a:srgbClr val="E2E8F0"/>
                </a:solidFill>
                <a:latin typeface="JetBrains Mono"/>
                <a:ea typeface="JetBrains Mono"/>
              </a:rPr>
              <a:t> / readByte(timeout: Duration)</a:t>
            </a:r>
            <a:endParaRPr lang="en-US" sz="900">
              <a:solidFill>
                <a:srgbClr val="E2E8F0"/>
              </a:solidFill>
              <a:latin typeface="JetBrains Mono"/>
              <a:ea typeface="JetBrains Mono"/>
            </a:endParaRPr>
          </a:p>
        </p:txBody>
      </p:sp>
      <p:sp>
        <p:nvSpPr>
          <p:cNvPr id="203" name="文本框 202" descr="{&quot;isTemplate&quot;:true,&quot;type&quot;:&quot;text&quot;}"/>
          <p:cNvSpPr txBox="1"/>
          <p:nvPr/>
        </p:nvSpPr>
        <p:spPr>
          <a:xfrm>
            <a:off x="6343650" y="4867275"/>
            <a:ext cx="5086350" cy="2381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en-US" sz="900">
                <a:solidFill>
                  <a:srgbClr val="E2E8F0"/>
                </a:solidFill>
                <a:latin typeface="JetBrains Mono"/>
                <a:ea typeface="JetBrains Mono"/>
              </a:rPr>
              <a:t>writeByte(b) / write(bytes)</a:t>
            </a:r>
            <a:r>
              <a:rPr lang="zh-CN" sz="900">
                <a:solidFill>
                  <a:srgbClr val="E2E8F0"/>
                </a:solidFill>
                <a:latin typeface="JetBrains Mono"/>
                <a:ea typeface="JetBrains Mono"/>
              </a:rPr>
              <a:t>（写完</a:t>
            </a:r>
            <a:r>
              <a:rPr lang="en-US" sz="900">
                <a:solidFill>
                  <a:srgbClr val="E2E8F0"/>
                </a:solidFill>
                <a:latin typeface="JetBrains Mono"/>
                <a:ea typeface="JetBrains Mono"/>
              </a:rPr>
              <a:t> notify</a:t>
            </a:r>
            <a:r>
              <a:rPr lang="zh-CN" sz="900">
                <a:solidFill>
                  <a:srgbClr val="E2E8F0"/>
                </a:solidFill>
                <a:latin typeface="JetBrains Mono"/>
                <a:ea typeface="JetBrains Mono"/>
              </a:rPr>
              <a:t>）　·　</a:t>
            </a:r>
            <a:r>
              <a:rPr lang="en-US" sz="900">
                <a:solidFill>
                  <a:srgbClr val="E2E8F0"/>
                </a:solidFill>
                <a:latin typeface="JetBrains Mono"/>
                <a:ea typeface="JetBrains Mono"/>
              </a:rPr>
              <a:t>end()</a:t>
            </a:r>
            <a:r>
              <a:rPr lang="zh-CN" sz="900">
                <a:solidFill>
                  <a:srgbClr val="E2E8F0"/>
                </a:solidFill>
                <a:latin typeface="JetBrains Mono"/>
                <a:ea typeface="JetBrains Mono"/>
              </a:rPr>
              <a:t>　·　</a:t>
            </a:r>
            <a:r>
              <a:rPr lang="en-US" sz="900">
                <a:solidFill>
                  <a:srgbClr val="E2E8F0"/>
                </a:solidFill>
                <a:latin typeface="JetBrains Mono"/>
                <a:ea typeface="JetBrains Mono"/>
              </a:rPr>
              <a:t>batch(fn)</a:t>
            </a:r>
            <a:endParaRPr lang="en-US" sz="900">
              <a:solidFill>
                <a:srgbClr val="E2E8F0"/>
              </a:solidFill>
              <a:latin typeface="JetBrains Mono"/>
              <a:ea typeface="JetBrains Mono"/>
            </a:endParaRPr>
          </a:p>
        </p:txBody>
      </p:sp>
      <p:sp>
        <p:nvSpPr>
          <p:cNvPr id="204" name="文本框 203" descr="{&quot;isTemplate&quot;:true,&quot;type&quot;:&quot;text&quot;}"/>
          <p:cNvSpPr txBox="1"/>
          <p:nvPr/>
        </p:nvSpPr>
        <p:spPr>
          <a:xfrm>
            <a:off x="6343650" y="5181600"/>
            <a:ext cx="5086350" cy="466725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en-US" sz="90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Mutex + Condition </a:t>
            </a:r>
            <a:r>
              <a:rPr lang="zh-CN" sz="90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包装：写方</a:t>
            </a:r>
            <a:r>
              <a:rPr lang="en-US" sz="90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notify</a:t>
            </a:r>
            <a:r>
              <a:rPr lang="zh-CN" sz="90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，读方没数据就</a:t>
            </a:r>
            <a:r>
              <a:rPr lang="en-US" sz="90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wait(timeout)</a:t>
            </a:r>
            <a:r>
              <a:rPr lang="zh-CN" sz="90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；</a:t>
            </a:r>
            <a:r>
              <a:rPr lang="en-US" sz="90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end() </a:t>
            </a:r>
            <a:r>
              <a:rPr lang="zh-CN" sz="90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之后读侧拿到</a:t>
            </a:r>
            <a:r>
              <a:rPr lang="en-US" sz="90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EOF </a:t>
            </a:r>
            <a:r>
              <a:rPr lang="zh-CN" sz="90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语义。它是一个无界、自动扩容的字节队列</a:t>
            </a:r>
            <a:r>
              <a:rPr lang="en-US" sz="90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—— f_mvc </a:t>
            </a:r>
            <a:r>
              <a:rPr lang="zh-CN" sz="90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的</a:t>
            </a:r>
            <a:r>
              <a:rPr lang="en-US" sz="90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FileDownload </a:t>
            </a:r>
            <a:r>
              <a:rPr lang="zh-CN" sz="90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内部就有一个当下载管道。</a:t>
            </a:r>
            <a:endParaRPr lang="zh-CN" sz="900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05" name="文本框 204" descr="{&quot;isTemplate&quot;:true,&quot;type&quot;:&quot;text&quot;}"/>
          <p:cNvSpPr txBox="1"/>
          <p:nvPr/>
        </p:nvSpPr>
        <p:spPr>
          <a:xfrm>
            <a:off x="6343650" y="5895975"/>
            <a:ext cx="5086350" cy="2381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zh-CN" sz="900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唯一的</a:t>
            </a:r>
            <a:r>
              <a:rPr lang="en-US" sz="900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 unsafe </a:t>
            </a:r>
            <a:r>
              <a:rPr lang="zh-CN" sz="900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方法</a:t>
            </a:r>
            <a:r>
              <a:rPr lang="en-US" sz="900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 bytes() </a:t>
            </a:r>
            <a:r>
              <a:rPr lang="zh-CN" sz="900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留给「此刻确定没有并发写」的场景；要安全就用</a:t>
            </a:r>
            <a:r>
              <a:rPr lang="en-US" sz="900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 clone() </a:t>
            </a:r>
            <a:r>
              <a:rPr lang="zh-CN" sz="900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或</a:t>
            </a:r>
            <a:r>
              <a:rPr lang="en-US" sz="900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 batch</a:t>
            </a:r>
            <a:r>
              <a:rPr lang="zh-CN" sz="900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。</a:t>
            </a:r>
            <a:endParaRPr lang="zh-CN" sz="900">
              <a:solidFill>
                <a:srgbClr val="F59E0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06" name="任意多边形 205"/>
          <p:cNvSpPr/>
          <p:nvPr/>
        </p:nvSpPr>
        <p:spPr>
          <a:xfrm>
            <a:off x="609600" y="6286500"/>
            <a:ext cx="10972800" cy="381000"/>
          </a:xfrm>
          <a:custGeom>
            <a:avLst/>
            <a:gdLst/>
            <a:ahLst/>
            <a:cxnLst/>
            <a:pathLst>
              <a:path w="1152" h="40">
                <a:moveTo>
                  <a:pt x="0" y="0"/>
                </a:moveTo>
                <a:lnTo>
                  <a:pt x="1152" y="0"/>
                </a:lnTo>
                <a:lnTo>
                  <a:pt x="1152" y="1"/>
                </a:lnTo>
                <a:lnTo>
                  <a:pt x="0" y="1"/>
                </a:lnTo>
                <a:close/>
              </a:path>
            </a:pathLst>
          </a:custGeom>
          <a:solidFill>
            <a:srgbClr val="1E293B"/>
          </a:solidFill>
        </p:spPr>
        <p:txBody>
          <a:bodyPr/>
          <a:p/>
        </p:txBody>
      </p:sp>
      <p:sp>
        <p:nvSpPr>
          <p:cNvPr id="207" name="文本框 206" descr="{&quot;isTemplate&quot;:true,&quot;type&quot;:&quot;text&quot;}"/>
          <p:cNvSpPr txBox="1"/>
          <p:nvPr/>
        </p:nvSpPr>
        <p:spPr>
          <a:xfrm>
            <a:off x="609600" y="6410325"/>
            <a:ext cx="2219325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fountain · 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一站式服务器应用开发工具库</a:t>
            </a:r>
            <a:endParaRPr lang="zh-CN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08" name="文本框 207" descr="{&quot;isTemplate&quot;:true,&quot;type&quot;:&quot;text&quot;}"/>
          <p:cNvSpPr txBox="1"/>
          <p:nvPr/>
        </p:nvSpPr>
        <p:spPr>
          <a:xfrm>
            <a:off x="11020425" y="6410325"/>
            <a:ext cx="561975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105 / 116</a:t>
            </a:r>
            <a:endParaRPr lang="en-US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0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矩形 209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220"/>
          </a:solidFill>
        </p:spPr>
        <p:txBody>
          <a:bodyPr/>
          <a:p/>
        </p:txBody>
      </p:sp>
      <p:sp>
        <p:nvSpPr>
          <p:cNvPr id="211" name="矩形 210"/>
          <p:cNvSpPr/>
          <p:nvPr/>
        </p:nvSpPr>
        <p:spPr>
          <a:xfrm>
            <a:off x="609600" y="476250"/>
            <a:ext cx="38100" cy="381000"/>
          </a:xfrm>
          <a:prstGeom prst="rect">
            <a:avLst/>
          </a:prstGeom>
          <a:solidFill>
            <a:srgbClr val="38BDF8"/>
          </a:solidFill>
        </p:spPr>
        <p:txBody>
          <a:bodyPr/>
          <a:p/>
        </p:txBody>
      </p:sp>
      <p:sp>
        <p:nvSpPr>
          <p:cNvPr id="212" name="文本框 211" descr="{&quot;isTemplate&quot;:true,&quot;type&quot;:&quot;text&quot;}"/>
          <p:cNvSpPr txBox="1"/>
          <p:nvPr/>
        </p:nvSpPr>
        <p:spPr>
          <a:xfrm>
            <a:off x="819150" y="304800"/>
            <a:ext cx="9620250" cy="2095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第</a:t>
            </a: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 17 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章</a:t>
            </a: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 · 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运行时基础设施</a:t>
            </a: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 · 17.4 / 17.5</a:t>
            </a:r>
            <a:endParaRPr lang="en-US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13" name="文本框 212" descr="{&quot;isTemplate&quot;:true,&quot;type&quot;:&quot;text&quot;}"/>
          <p:cNvSpPr txBox="1"/>
          <p:nvPr/>
        </p:nvSpPr>
        <p:spPr>
          <a:xfrm>
            <a:off x="819150" y="514350"/>
            <a:ext cx="9620250" cy="5143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en-US" sz="2550" b="1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f_cache </a:t>
            </a:r>
            <a:r>
              <a:rPr lang="zh-CN" sz="2550" b="1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与</a:t>
            </a:r>
            <a:r>
              <a:rPr lang="en-US" sz="2550" b="1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 f_pool</a:t>
            </a:r>
            <a:endParaRPr lang="en-US" sz="2550" b="1">
              <a:solidFill>
                <a:srgbClr val="E2E8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14" name="文本框 213" descr="{&quot;isTemplate&quot;:true,&quot;type&quot;:&quot;text&quot;}"/>
          <p:cNvSpPr txBox="1"/>
          <p:nvPr/>
        </p:nvSpPr>
        <p:spPr>
          <a:xfrm>
            <a:off x="10610850" y="590550"/>
            <a:ext cx="971550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滑动续期</a:t>
            </a: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 · 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对象池</a:t>
            </a:r>
            <a:endParaRPr lang="zh-CN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15" name="圆角矩形 214"/>
          <p:cNvSpPr/>
          <p:nvPr/>
        </p:nvSpPr>
        <p:spPr>
          <a:xfrm>
            <a:off x="609600" y="1143000"/>
            <a:ext cx="5391150" cy="4019550"/>
          </a:xfrm>
          <a:prstGeom prst="roundRect">
            <a:avLst>
              <a:gd name="adj" fmla="val 2844"/>
            </a:avLst>
          </a:prstGeom>
          <a:solidFill>
            <a:srgbClr val="0B1220"/>
          </a:solidFill>
          <a:ln w="12700">
            <a:solidFill>
              <a:srgbClr val="38BDF8"/>
            </a:solidFill>
            <a:prstDash val="solid"/>
          </a:ln>
        </p:spPr>
        <p:txBody>
          <a:bodyPr/>
          <a:p/>
        </p:txBody>
      </p:sp>
      <p:sp>
        <p:nvSpPr>
          <p:cNvPr id="216" name="文本框 215" descr="{&quot;isTemplate&quot;:true,&quot;type&quot;:&quot;text&quot;}"/>
          <p:cNvSpPr txBox="1"/>
          <p:nvPr/>
        </p:nvSpPr>
        <p:spPr>
          <a:xfrm>
            <a:off x="762000" y="1295400"/>
            <a:ext cx="5086350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38BDF8"/>
                </a:solidFill>
                <a:latin typeface="微软雅黑" panose="020B0503020204020204" charset="-122"/>
                <a:ea typeface="微软雅黑" panose="020B0503020204020204" charset="-122"/>
              </a:rPr>
              <a:t>f_cache · HeapCache</a:t>
            </a:r>
            <a:r>
              <a:rPr lang="zh-CN" sz="975">
                <a:solidFill>
                  <a:srgbClr val="38BDF8"/>
                </a:solidFill>
                <a:latin typeface="微软雅黑" panose="020B0503020204020204" charset="-122"/>
                <a:ea typeface="微软雅黑" panose="020B0503020204020204" charset="-122"/>
              </a:rPr>
              <a:t>（强引用）</a:t>
            </a:r>
            <a:endParaRPr lang="zh-CN" sz="975">
              <a:solidFill>
                <a:srgbClr val="38BDF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17" name="文本框 216" descr="{&quot;isTemplate&quot;:true,&quot;type&quot;:&quot;text&quot;}"/>
          <p:cNvSpPr txBox="1"/>
          <p:nvPr/>
        </p:nvSpPr>
        <p:spPr>
          <a:xfrm>
            <a:off x="762000" y="1524000"/>
            <a:ext cx="5086350" cy="2381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en-US" sz="900">
                <a:solidFill>
                  <a:srgbClr val="E2E8F0"/>
                </a:solidFill>
                <a:latin typeface="JetBrains Mono"/>
                <a:ea typeface="JetBrains Mono"/>
              </a:rPr>
              <a:t>HeapCache&lt;V&gt;(concurrencyLevel! = 128, maxLife!, maxSize!,</a:t>
            </a:r>
            <a:endParaRPr lang="en-US" sz="900">
              <a:solidFill>
                <a:srgbClr val="E2E8F0"/>
              </a:solidFill>
              <a:latin typeface="JetBrains Mono"/>
              <a:ea typeface="JetBrains Mono"/>
            </a:endParaRPr>
          </a:p>
        </p:txBody>
      </p:sp>
      <p:sp>
        <p:nvSpPr>
          <p:cNvPr id="218" name="文本框 217" descr="{&quot;isTemplate&quot;:true,&quot;type&quot;:&quot;text&quot;}"/>
          <p:cNvSpPr txBox="1"/>
          <p:nvPr/>
        </p:nvSpPr>
        <p:spPr>
          <a:xfrm>
            <a:off x="762000" y="1762125"/>
            <a:ext cx="5086350" cy="2381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en-US" sz="900">
                <a:solidFill>
                  <a:srgbClr val="E2E8F0"/>
                </a:solidFill>
                <a:latin typeface="JetBrains Mono"/>
                <a:ea typeface="JetBrains Mono"/>
              </a:rPr>
              <a:t>                checkDuration!, evictionCallback!)</a:t>
            </a:r>
            <a:endParaRPr lang="en-US" sz="900">
              <a:solidFill>
                <a:srgbClr val="E2E8F0"/>
              </a:solidFill>
              <a:latin typeface="JetBrains Mono"/>
              <a:ea typeface="JetBrains Mono"/>
            </a:endParaRPr>
          </a:p>
        </p:txBody>
      </p:sp>
      <p:sp>
        <p:nvSpPr>
          <p:cNvPr id="219" name="文本框 218" descr="{&quot;isTemplate&quot;:true,&quot;type&quot;:&quot;text&quot;}"/>
          <p:cNvSpPr txBox="1"/>
          <p:nvPr/>
        </p:nvSpPr>
        <p:spPr>
          <a:xfrm>
            <a:off x="762000" y="2057400"/>
            <a:ext cx="5086350" cy="2381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en-US" sz="900">
                <a:solidFill>
                  <a:srgbClr val="94A3B8"/>
                </a:solidFill>
                <a:latin typeface="JetBrains Mono"/>
                <a:ea typeface="JetBrains Mono"/>
              </a:rPr>
              <a:t>get / set(life!, once!) / prolong / getOrCompute / getOrStore</a:t>
            </a:r>
            <a:endParaRPr lang="en-US" sz="900">
              <a:solidFill>
                <a:srgbClr val="94A3B8"/>
              </a:solidFill>
              <a:latin typeface="JetBrains Mono"/>
              <a:ea typeface="JetBrains Mono"/>
            </a:endParaRPr>
          </a:p>
        </p:txBody>
      </p:sp>
      <p:sp>
        <p:nvSpPr>
          <p:cNvPr id="220" name="文本框 219" descr="{&quot;isTemplate&quot;:true,&quot;type&quot;:&quot;text&quot;}"/>
          <p:cNvSpPr txBox="1"/>
          <p:nvPr/>
        </p:nvSpPr>
        <p:spPr>
          <a:xfrm>
            <a:off x="762000" y="2295525"/>
            <a:ext cx="5086350" cy="2381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en-US" sz="900">
                <a:solidFill>
                  <a:srgbClr val="94A3B8"/>
                </a:solidFill>
                <a:latin typeface="JetBrains Mono"/>
                <a:ea typeface="JetBrains Mono"/>
              </a:rPr>
              <a:t>getOrDefault / removeIf / once(key) / destroy / builder()</a:t>
            </a:r>
            <a:endParaRPr lang="en-US" sz="900">
              <a:solidFill>
                <a:srgbClr val="94A3B8"/>
              </a:solidFill>
              <a:latin typeface="JetBrains Mono"/>
              <a:ea typeface="JetBrains Mono"/>
            </a:endParaRPr>
          </a:p>
        </p:txBody>
      </p:sp>
      <p:sp>
        <p:nvSpPr>
          <p:cNvPr id="221" name="文本框 220" descr="{&quot;isTemplate&quot;:true,&quot;type&quot;:&quot;text&quot;}"/>
          <p:cNvSpPr txBox="1"/>
          <p:nvPr/>
        </p:nvSpPr>
        <p:spPr>
          <a:xfrm>
            <a:off x="762000" y="2609850"/>
            <a:ext cx="5086350" cy="485775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75000"/>
              </a:lnSpc>
            </a:pPr>
            <a:r>
              <a:rPr lang="zh-CN" sz="900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默认是「非一次性」的：每次</a:t>
            </a:r>
            <a:r>
              <a:rPr lang="en-US" sz="900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 get </a:t>
            </a:r>
            <a:r>
              <a:rPr lang="zh-CN" sz="900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都会把过期时间重新计时（滑动窗口）。</a:t>
            </a:r>
            <a:r>
              <a:rPr lang="en-US" sz="900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once </a:t>
            </a:r>
            <a:r>
              <a:rPr lang="zh-CN" sz="900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为</a:t>
            </a:r>
            <a:r>
              <a:rPr lang="en-US" sz="900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 true </a:t>
            </a:r>
            <a:r>
              <a:rPr lang="zh-CN" sz="900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则取用不续期，到点就走</a:t>
            </a:r>
            <a:r>
              <a:rPr lang="en-US" sz="900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 —— </a:t>
            </a:r>
            <a:r>
              <a:rPr lang="zh-CN" sz="900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适合绝对过期的会话、验证码。</a:t>
            </a:r>
            <a:endParaRPr lang="zh-CN" sz="900">
              <a:solidFill>
                <a:srgbClr val="F59E0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22" name="文本框 221" descr="{&quot;isTemplate&quot;:true,&quot;type&quot;:&quot;text&quot;}"/>
          <p:cNvSpPr txBox="1"/>
          <p:nvPr/>
        </p:nvSpPr>
        <p:spPr>
          <a:xfrm>
            <a:off x="762000" y="4524375"/>
            <a:ext cx="5086350" cy="485775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75000"/>
              </a:lnSpc>
            </a:pPr>
            <a:r>
              <a:rPr lang="en-US" sz="90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WeakHeapCache</a:t>
            </a:r>
            <a:r>
              <a:rPr lang="zh-CN" sz="90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：键与值都被弱引用包装，定时清除已被</a:t>
            </a:r>
            <a:r>
              <a:rPr lang="en-US" sz="90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GC </a:t>
            </a:r>
            <a:r>
              <a:rPr lang="zh-CN" sz="90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的弱引用</a:t>
            </a:r>
            <a:r>
              <a:rPr lang="en-US" sz="90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—— </a:t>
            </a:r>
            <a:r>
              <a:rPr lang="zh-CN" sz="90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适合缓存「可被重建的大对象」，不会内存泄漏。</a:t>
            </a:r>
            <a:endParaRPr lang="zh-CN" sz="900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23" name="圆角矩形 222"/>
          <p:cNvSpPr/>
          <p:nvPr/>
        </p:nvSpPr>
        <p:spPr>
          <a:xfrm>
            <a:off x="609600" y="5276850"/>
            <a:ext cx="5391150" cy="1009650"/>
          </a:xfrm>
          <a:prstGeom prst="roundRect">
            <a:avLst>
              <a:gd name="adj" fmla="val 11321"/>
            </a:avLst>
          </a:prstGeom>
          <a:solidFill>
            <a:srgbClr val="111C2E"/>
          </a:solidFill>
          <a:ln w="12700">
            <a:solidFill>
              <a:srgbClr val="1E293B"/>
            </a:solidFill>
            <a:prstDash val="solid"/>
          </a:ln>
        </p:spPr>
        <p:txBody>
          <a:bodyPr/>
          <a:p/>
        </p:txBody>
      </p:sp>
      <p:sp>
        <p:nvSpPr>
          <p:cNvPr id="224" name="文本框 223" descr="{&quot;isTemplate&quot;:true,&quot;type&quot;:&quot;text&quot;}"/>
          <p:cNvSpPr txBox="1"/>
          <p:nvPr/>
        </p:nvSpPr>
        <p:spPr>
          <a:xfrm>
            <a:off x="742950" y="5410200"/>
            <a:ext cx="5124450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在</a:t>
            </a: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 fdemo 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里</a:t>
            </a:r>
            <a:endParaRPr lang="zh-CN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25" name="文本框 224" descr="{&quot;isTemplate&quot;:true,&quot;type&quot;:&quot;text&quot;}"/>
          <p:cNvSpPr txBox="1"/>
          <p:nvPr/>
        </p:nvSpPr>
        <p:spPr>
          <a:xfrm>
            <a:off x="742950" y="5619750"/>
            <a:ext cx="5124450" cy="2381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en-US" sz="900">
                <a:solidFill>
                  <a:srgbClr val="E2E8F0"/>
                </a:solidFill>
                <a:latin typeface="JetBrains Mono"/>
                <a:ea typeface="JetBrains Mono"/>
              </a:rPr>
              <a:t>JWTSecurityContext&lt;String&gt;(JWTHeapCacheStore(Duration.hour), ...)</a:t>
            </a:r>
            <a:endParaRPr lang="en-US" sz="900">
              <a:solidFill>
                <a:srgbClr val="E2E8F0"/>
              </a:solidFill>
              <a:latin typeface="JetBrains Mono"/>
              <a:ea typeface="JetBrains Mono"/>
            </a:endParaRPr>
          </a:p>
        </p:txBody>
      </p:sp>
      <p:sp>
        <p:nvSpPr>
          <p:cNvPr id="226" name="文本框 225" descr="{&quot;isTemplate&quot;:true,&quot;type&quot;:&quot;text&quot;}"/>
          <p:cNvSpPr txBox="1"/>
          <p:nvPr/>
        </p:nvSpPr>
        <p:spPr>
          <a:xfrm>
            <a:off x="742950" y="5895975"/>
            <a:ext cx="5124450" cy="2381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zh-CN" sz="90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第十三章「登录状态存</a:t>
            </a:r>
            <a:r>
              <a:rPr lang="en-US" sz="90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1 </a:t>
            </a:r>
            <a:r>
              <a:rPr lang="zh-CN" sz="90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小时」的能力，根源在这里。</a:t>
            </a:r>
            <a:endParaRPr lang="zh-CN" sz="900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27" name="圆角矩形 226"/>
          <p:cNvSpPr/>
          <p:nvPr/>
        </p:nvSpPr>
        <p:spPr>
          <a:xfrm>
            <a:off x="6191250" y="1143000"/>
            <a:ext cx="5391150" cy="3771900"/>
          </a:xfrm>
          <a:prstGeom prst="roundRect">
            <a:avLst>
              <a:gd name="adj" fmla="val 3030"/>
            </a:avLst>
          </a:prstGeom>
          <a:solidFill>
            <a:srgbClr val="0B1220"/>
          </a:solidFill>
          <a:ln w="12700">
            <a:solidFill>
              <a:srgbClr val="38BDF8"/>
            </a:solidFill>
            <a:prstDash val="solid"/>
          </a:ln>
        </p:spPr>
        <p:txBody>
          <a:bodyPr/>
          <a:p/>
        </p:txBody>
      </p:sp>
      <p:sp>
        <p:nvSpPr>
          <p:cNvPr id="228" name="文本框 227" descr="{&quot;isTemplate&quot;:true,&quot;type&quot;:&quot;text&quot;}"/>
          <p:cNvSpPr txBox="1"/>
          <p:nvPr/>
        </p:nvSpPr>
        <p:spPr>
          <a:xfrm>
            <a:off x="6343650" y="1295400"/>
            <a:ext cx="5086350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38BDF8"/>
                </a:solidFill>
                <a:latin typeface="微软雅黑" panose="020B0503020204020204" charset="-122"/>
                <a:ea typeface="微软雅黑" panose="020B0503020204020204" charset="-122"/>
              </a:rPr>
              <a:t>f_pool · Pool </a:t>
            </a:r>
            <a:r>
              <a:rPr lang="zh-CN" sz="975">
                <a:solidFill>
                  <a:srgbClr val="38BDF8"/>
                </a:solidFill>
                <a:latin typeface="微软雅黑" panose="020B0503020204020204" charset="-122"/>
                <a:ea typeface="微软雅黑" panose="020B0503020204020204" charset="-122"/>
              </a:rPr>
              <a:t>泛型</a:t>
            </a:r>
            <a:r>
              <a:rPr lang="en-US" sz="975">
                <a:solidFill>
                  <a:srgbClr val="38BDF8"/>
                </a:solidFill>
                <a:latin typeface="微软雅黑" panose="020B0503020204020204" charset="-122"/>
                <a:ea typeface="微软雅黑" panose="020B0503020204020204" charset="-122"/>
              </a:rPr>
              <a:t> V</a:t>
            </a:r>
            <a:r>
              <a:rPr lang="zh-CN" sz="975">
                <a:solidFill>
                  <a:srgbClr val="38BDF8"/>
                </a:solidFill>
                <a:latin typeface="微软雅黑" panose="020B0503020204020204" charset="-122"/>
                <a:ea typeface="微软雅黑" panose="020B0503020204020204" charset="-122"/>
              </a:rPr>
              <a:t>（通用对象池）</a:t>
            </a:r>
            <a:endParaRPr lang="zh-CN" sz="975">
              <a:solidFill>
                <a:srgbClr val="38BDF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29" name="文本框 228" descr="{&quot;isTemplate&quot;:true,&quot;type&quot;:&quot;text&quot;}"/>
          <p:cNvSpPr txBox="1"/>
          <p:nvPr/>
        </p:nvSpPr>
        <p:spPr>
          <a:xfrm>
            <a:off x="6343650" y="1524000"/>
            <a:ext cx="5086350" cy="2381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en-US" sz="900">
                <a:solidFill>
                  <a:srgbClr val="E2E8F0"/>
                </a:solidFill>
                <a:latin typeface="JetBrains Mono"/>
                <a:ea typeface="JetBrains Mono"/>
              </a:rPr>
              <a:t>Pool&lt;V&gt;(mode! = Mode.Fifo, initSize!, minSize! = 0, maxSize! = 10,</a:t>
            </a:r>
            <a:endParaRPr lang="en-US" sz="900">
              <a:solidFill>
                <a:srgbClr val="E2E8F0"/>
              </a:solidFill>
              <a:latin typeface="JetBrains Mono"/>
              <a:ea typeface="JetBrains Mono"/>
            </a:endParaRPr>
          </a:p>
        </p:txBody>
      </p:sp>
      <p:sp>
        <p:nvSpPr>
          <p:cNvPr id="230" name="文本框 229" descr="{&quot;isTemplate&quot;:true,&quot;type&quot;:&quot;text&quot;}"/>
          <p:cNvSpPr txBox="1"/>
          <p:nvPr/>
        </p:nvSpPr>
        <p:spPr>
          <a:xfrm>
            <a:off x="6343650" y="1762125"/>
            <a:ext cx="5086350" cy="2381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en-US" sz="900">
                <a:solidFill>
                  <a:srgbClr val="E2E8F0"/>
                </a:solidFill>
                <a:latin typeface="JetBrains Mono"/>
                <a:ea typeface="JetBrains Mono"/>
              </a:rPr>
              <a:t>        idleTimeout! = Duration.hour, checkOnCreation! = false,</a:t>
            </a:r>
            <a:endParaRPr lang="en-US" sz="900">
              <a:solidFill>
                <a:srgbClr val="E2E8F0"/>
              </a:solidFill>
              <a:latin typeface="JetBrains Mono"/>
              <a:ea typeface="JetBrains Mono"/>
            </a:endParaRPr>
          </a:p>
        </p:txBody>
      </p:sp>
      <p:sp>
        <p:nvSpPr>
          <p:cNvPr id="231" name="文本框 230" descr="{&quot;isTemplate&quot;:true,&quot;type&quot;:&quot;text&quot;}"/>
          <p:cNvSpPr txBox="1"/>
          <p:nvPr/>
        </p:nvSpPr>
        <p:spPr>
          <a:xfrm>
            <a:off x="6343650" y="2000250"/>
            <a:ext cx="5086350" cy="2381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en-US" sz="900">
                <a:solidFill>
                  <a:srgbClr val="E2E8F0"/>
                </a:solidFill>
                <a:latin typeface="JetBrains Mono"/>
                <a:ea typeface="JetBrains Mono"/>
              </a:rPr>
              <a:t>        checkOnBorrowing! = true, checkOnReturning! = true,</a:t>
            </a:r>
            <a:endParaRPr lang="en-US" sz="900">
              <a:solidFill>
                <a:srgbClr val="E2E8F0"/>
              </a:solidFill>
              <a:latin typeface="JetBrains Mono"/>
              <a:ea typeface="JetBrains Mono"/>
            </a:endParaRPr>
          </a:p>
        </p:txBody>
      </p:sp>
      <p:sp>
        <p:nvSpPr>
          <p:cNvPr id="232" name="文本框 231" descr="{&quot;isTemplate&quot;:true,&quot;type&quot;:&quot;text&quot;}"/>
          <p:cNvSpPr txBox="1"/>
          <p:nvPr/>
        </p:nvSpPr>
        <p:spPr>
          <a:xfrm>
            <a:off x="6343650" y="2238375"/>
            <a:ext cx="5086350" cy="2381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en-US" sz="900">
                <a:solidFill>
                  <a:srgbClr val="E2E8F0"/>
                </a:solidFill>
                <a:latin typeface="JetBrains Mono"/>
                <a:ea typeface="JetBrains Mono"/>
              </a:rPr>
              <a:t>        clearOnReturning! = false, checkInterval! = Duration.minute,</a:t>
            </a:r>
            <a:endParaRPr lang="en-US" sz="900">
              <a:solidFill>
                <a:srgbClr val="E2E8F0"/>
              </a:solidFill>
              <a:latin typeface="JetBrains Mono"/>
              <a:ea typeface="JetBrains Mono"/>
            </a:endParaRPr>
          </a:p>
        </p:txBody>
      </p:sp>
      <p:sp>
        <p:nvSpPr>
          <p:cNvPr id="233" name="文本框 232" descr="{&quot;isTemplate&quot;:true,&quot;type&quot;:&quot;text&quot;}"/>
          <p:cNvSpPr txBox="1"/>
          <p:nvPr/>
        </p:nvSpPr>
        <p:spPr>
          <a:xfrm>
            <a:off x="6343650" y="2476500"/>
            <a:ext cx="5086350" cy="2381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en-US" sz="900">
                <a:solidFill>
                  <a:srgbClr val="E2E8F0"/>
                </a:solidFill>
                <a:latin typeface="JetBrains Mono"/>
                <a:ea typeface="JetBrains Mono"/>
              </a:rPr>
              <a:t>        creator!, checker!, destroier!, clear!)</a:t>
            </a:r>
            <a:endParaRPr lang="en-US" sz="900">
              <a:solidFill>
                <a:srgbClr val="E2E8F0"/>
              </a:solidFill>
              <a:latin typeface="JetBrains Mono"/>
              <a:ea typeface="JetBrains Mono"/>
            </a:endParaRPr>
          </a:p>
        </p:txBody>
      </p:sp>
      <p:sp>
        <p:nvSpPr>
          <p:cNvPr id="234" name="文本框 233" descr="{&quot;isTemplate&quot;:true,&quot;type&quot;:&quot;text&quot;}"/>
          <p:cNvSpPr txBox="1"/>
          <p:nvPr/>
        </p:nvSpPr>
        <p:spPr>
          <a:xfrm>
            <a:off x="6343650" y="2771775"/>
            <a:ext cx="5086350" cy="2381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en-US" sz="900">
                <a:solidFill>
                  <a:srgbClr val="94A3B8"/>
                </a:solidFill>
                <a:latin typeface="JetBrains Mono"/>
                <a:ea typeface="JetBrains Mono"/>
              </a:rPr>
              <a:t>get(timeout! = Duration.Max)</a:t>
            </a:r>
            <a:r>
              <a:rPr lang="zh-CN" sz="900">
                <a:solidFill>
                  <a:srgbClr val="94A3B8"/>
                </a:solidFill>
                <a:latin typeface="JetBrains Mono"/>
                <a:ea typeface="JetBrains Mono"/>
              </a:rPr>
              <a:t>　</a:t>
            </a:r>
            <a:r>
              <a:rPr lang="en-US" sz="900">
                <a:solidFill>
                  <a:srgbClr val="94A3B8"/>
                </a:solidFill>
                <a:latin typeface="JetBrains Mono"/>
                <a:ea typeface="JetBrains Mono"/>
              </a:rPr>
              <a:t>// timeout &lt;= 0 </a:t>
            </a:r>
            <a:r>
              <a:rPr lang="zh-CN" sz="900">
                <a:solidFill>
                  <a:srgbClr val="94A3B8"/>
                </a:solidFill>
                <a:latin typeface="JetBrains Mono"/>
                <a:ea typeface="JetBrains Mono"/>
              </a:rPr>
              <a:t>时不等待立即返回</a:t>
            </a:r>
            <a:endParaRPr lang="zh-CN" sz="900">
              <a:solidFill>
                <a:srgbClr val="94A3B8"/>
              </a:solidFill>
              <a:latin typeface="JetBrains Mono"/>
              <a:ea typeface="JetBrains Mono"/>
            </a:endParaRPr>
          </a:p>
        </p:txBody>
      </p:sp>
      <p:sp>
        <p:nvSpPr>
          <p:cNvPr id="235" name="文本框 234" descr="{&quot;isTemplate&quot;:true,&quot;type&quot;:&quot;text&quot;}"/>
          <p:cNvSpPr txBox="1"/>
          <p:nvPr/>
        </p:nvSpPr>
        <p:spPr>
          <a:xfrm>
            <a:off x="6343650" y="3009900"/>
            <a:ext cx="5086350" cy="2381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en-US" sz="900">
                <a:solidFill>
                  <a:srgbClr val="38BDF8"/>
                </a:solidFill>
                <a:latin typeface="JetBrains Mono"/>
                <a:ea typeface="JetBrains Mono"/>
              </a:rPr>
              <a:t>giveBack(value: V)</a:t>
            </a:r>
            <a:r>
              <a:rPr lang="zh-CN" sz="900">
                <a:solidFill>
                  <a:srgbClr val="38BDF8"/>
                </a:solidFill>
                <a:latin typeface="JetBrains Mono"/>
                <a:ea typeface="JetBrains Mono"/>
              </a:rPr>
              <a:t>　·　</a:t>
            </a:r>
            <a:r>
              <a:rPr lang="en-US" sz="900">
                <a:solidFill>
                  <a:srgbClr val="38BDF8"/>
                </a:solidFill>
                <a:latin typeface="JetBrains Mono"/>
                <a:ea typeface="JetBrains Mono"/>
              </a:rPr>
              <a:t>Mode: Fifo / Lifo / WeakFifo / WeakLifo</a:t>
            </a:r>
            <a:endParaRPr lang="en-US" sz="900">
              <a:solidFill>
                <a:srgbClr val="38BDF8"/>
              </a:solidFill>
              <a:latin typeface="JetBrains Mono"/>
              <a:ea typeface="JetBrains Mono"/>
            </a:endParaRPr>
          </a:p>
        </p:txBody>
      </p:sp>
      <p:sp>
        <p:nvSpPr>
          <p:cNvPr id="236" name="文本框 235" descr="{&quot;isTemplate&quot;:true,&quot;type&quot;:&quot;text&quot;}"/>
          <p:cNvSpPr txBox="1"/>
          <p:nvPr/>
        </p:nvSpPr>
        <p:spPr>
          <a:xfrm>
            <a:off x="6343650" y="3324225"/>
            <a:ext cx="5086350" cy="485775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75000"/>
              </a:lnSpc>
            </a:pPr>
            <a:r>
              <a:rPr lang="zh-CN" sz="900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这八个参数就是第十二章</a:t>
            </a:r>
            <a:r>
              <a:rPr lang="en-US" sz="900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 ORM </a:t>
            </a:r>
            <a:r>
              <a:rPr lang="zh-CN" sz="900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那批</a:t>
            </a:r>
            <a:r>
              <a:rPr lang="en-US" sz="900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 orm_databasePool* </a:t>
            </a:r>
            <a:r>
              <a:rPr lang="zh-CN" sz="900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配置项</a:t>
            </a:r>
            <a:r>
              <a:rPr lang="en-US" sz="900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 —— ORM </a:t>
            </a:r>
            <a:r>
              <a:rPr lang="zh-CN" sz="900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的</a:t>
            </a:r>
            <a:r>
              <a:rPr lang="en-US" sz="900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 DatabasePool </a:t>
            </a:r>
            <a:r>
              <a:rPr lang="zh-CN" sz="900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就是</a:t>
            </a:r>
            <a:r>
              <a:rPr lang="en-US" sz="900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 f_pool </a:t>
            </a:r>
            <a:r>
              <a:rPr lang="zh-CN" sz="900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的一个应用，手感完全一样。</a:t>
            </a:r>
            <a:r>
              <a:rPr lang="en-US" sz="900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Pool </a:t>
            </a:r>
            <a:r>
              <a:rPr lang="zh-CN" sz="900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实现</a:t>
            </a:r>
            <a:r>
              <a:rPr lang="en-US" sz="900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 Resource</a:t>
            </a:r>
            <a:r>
              <a:rPr lang="zh-CN" sz="900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，用完</a:t>
            </a:r>
            <a:r>
              <a:rPr lang="en-US" sz="900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 close()</a:t>
            </a:r>
            <a:r>
              <a:rPr lang="zh-CN" sz="900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。</a:t>
            </a:r>
            <a:endParaRPr lang="zh-CN" sz="900">
              <a:solidFill>
                <a:srgbClr val="F59E0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37" name="圆角矩形 236"/>
          <p:cNvSpPr/>
          <p:nvPr/>
        </p:nvSpPr>
        <p:spPr>
          <a:xfrm>
            <a:off x="6191250" y="5029200"/>
            <a:ext cx="5391150" cy="1257300"/>
          </a:xfrm>
          <a:prstGeom prst="roundRect">
            <a:avLst>
              <a:gd name="adj" fmla="val 9091"/>
            </a:avLst>
          </a:prstGeom>
          <a:solidFill>
            <a:srgbClr val="111C2E"/>
          </a:solidFill>
          <a:ln w="12700">
            <a:solidFill>
              <a:srgbClr val="1E293B"/>
            </a:solidFill>
            <a:prstDash val="solid"/>
          </a:ln>
        </p:spPr>
        <p:txBody>
          <a:bodyPr/>
          <a:p/>
        </p:txBody>
      </p:sp>
      <p:sp>
        <p:nvSpPr>
          <p:cNvPr id="238" name="文本框 237" descr="{&quot;isTemplate&quot;:true,&quot;type&quot;:&quot;text&quot;}"/>
          <p:cNvSpPr txBox="1"/>
          <p:nvPr/>
        </p:nvSpPr>
        <p:spPr>
          <a:xfrm>
            <a:off x="6324600" y="5162550"/>
            <a:ext cx="5124450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b="1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KeyPool </a:t>
            </a:r>
            <a:r>
              <a:rPr lang="zh-CN" sz="975" b="1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与数组池</a:t>
            </a:r>
            <a:endParaRPr lang="zh-CN" sz="975" b="1">
              <a:solidFill>
                <a:srgbClr val="E2E8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39" name="文本框 238" descr="{&quot;isTemplate&quot;:true,&quot;type&quot;:&quot;text&quot;}"/>
          <p:cNvSpPr txBox="1"/>
          <p:nvPr/>
        </p:nvSpPr>
        <p:spPr>
          <a:xfrm>
            <a:off x="6324600" y="5372100"/>
            <a:ext cx="5124450" cy="2381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en-US" sz="900">
                <a:solidFill>
                  <a:srgbClr val="94A3B8"/>
                </a:solidFill>
                <a:latin typeface="JetBrains Mono"/>
                <a:ea typeface="JetBrains Mono"/>
              </a:rPr>
              <a:t>KeyPool&lt;K, V&gt;.get(key, timeout!) / giveBack(key, object)</a:t>
            </a:r>
            <a:endParaRPr lang="en-US" sz="900">
              <a:solidFill>
                <a:srgbClr val="94A3B8"/>
              </a:solidFill>
              <a:latin typeface="JetBrains Mono"/>
              <a:ea typeface="JetBrains Mono"/>
            </a:endParaRPr>
          </a:p>
        </p:txBody>
      </p:sp>
      <p:sp>
        <p:nvSpPr>
          <p:cNvPr id="240" name="文本框 239" descr="{&quot;isTemplate&quot;:true,&quot;type&quot;:&quot;text&quot;}"/>
          <p:cNvSpPr txBox="1"/>
          <p:nvPr/>
        </p:nvSpPr>
        <p:spPr>
          <a:xfrm>
            <a:off x="6324600" y="5622925"/>
            <a:ext cx="5124450" cy="2476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5000"/>
              </a:lnSpc>
            </a:pPr>
            <a:r>
              <a:rPr lang="zh-CN" sz="90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只有池对象需要销毁，键不需要销毁</a:t>
            </a:r>
            <a:r>
              <a:rPr lang="en-US" sz="90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—— </a:t>
            </a:r>
            <a:r>
              <a:rPr lang="zh-CN" sz="90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典型场景是多数据源</a:t>
            </a:r>
            <a:r>
              <a:rPr lang="en-US" sz="90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/ </a:t>
            </a:r>
            <a:r>
              <a:rPr lang="zh-CN" sz="90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多租户，每个库一个连接池。</a:t>
            </a:r>
            <a:endParaRPr lang="zh-CN" sz="900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41" name="文本框 240" descr="{&quot;isTemplate&quot;:true,&quot;type&quot;:&quot;text&quot;}"/>
          <p:cNvSpPr txBox="1"/>
          <p:nvPr/>
        </p:nvSpPr>
        <p:spPr>
          <a:xfrm>
            <a:off x="6324600" y="5915025"/>
            <a:ext cx="5124450" cy="487045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75000"/>
              </a:lnSpc>
            </a:pPr>
            <a:r>
              <a:rPr lang="en-US" sz="900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ArrayPool / ArrayListPool</a:t>
            </a:r>
            <a:r>
              <a:rPr lang="zh-CN" sz="900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：高频临时缓冲区不再每次</a:t>
            </a:r>
            <a:r>
              <a:rPr lang="en-US" sz="900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 new</a:t>
            </a:r>
            <a:endParaRPr lang="zh-CN" sz="900">
              <a:solidFill>
                <a:srgbClr val="F59E0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42" name="任意多边形 241"/>
          <p:cNvSpPr/>
          <p:nvPr/>
        </p:nvSpPr>
        <p:spPr>
          <a:xfrm>
            <a:off x="609600" y="6286500"/>
            <a:ext cx="10972800" cy="381000"/>
          </a:xfrm>
          <a:custGeom>
            <a:avLst/>
            <a:gdLst/>
            <a:ahLst/>
            <a:cxnLst/>
            <a:pathLst>
              <a:path w="1152" h="40">
                <a:moveTo>
                  <a:pt x="0" y="0"/>
                </a:moveTo>
                <a:lnTo>
                  <a:pt x="1152" y="0"/>
                </a:lnTo>
                <a:lnTo>
                  <a:pt x="1152" y="1"/>
                </a:lnTo>
                <a:lnTo>
                  <a:pt x="0" y="1"/>
                </a:lnTo>
                <a:close/>
              </a:path>
            </a:pathLst>
          </a:custGeom>
          <a:solidFill>
            <a:srgbClr val="1E293B"/>
          </a:solidFill>
        </p:spPr>
        <p:txBody>
          <a:bodyPr/>
          <a:p/>
        </p:txBody>
      </p:sp>
      <p:sp>
        <p:nvSpPr>
          <p:cNvPr id="243" name="文本框 242" descr="{&quot;isTemplate&quot;:true,&quot;type&quot;:&quot;text&quot;}"/>
          <p:cNvSpPr txBox="1"/>
          <p:nvPr/>
        </p:nvSpPr>
        <p:spPr>
          <a:xfrm>
            <a:off x="609600" y="6410325"/>
            <a:ext cx="2219325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fountain · 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一站式服务器应用开发工具库</a:t>
            </a:r>
            <a:endParaRPr lang="zh-CN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44" name="文本框 243" descr="{&quot;isTemplate&quot;:true,&quot;type&quot;:&quot;text&quot;}"/>
          <p:cNvSpPr txBox="1"/>
          <p:nvPr/>
        </p:nvSpPr>
        <p:spPr>
          <a:xfrm>
            <a:off x="11020425" y="6410325"/>
            <a:ext cx="561975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106 / 116</a:t>
            </a:r>
            <a:endParaRPr lang="en-US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4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矩形 245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220"/>
          </a:solidFill>
        </p:spPr>
        <p:txBody>
          <a:bodyPr/>
          <a:p/>
        </p:txBody>
      </p:sp>
      <p:sp>
        <p:nvSpPr>
          <p:cNvPr id="247" name="矩形 246"/>
          <p:cNvSpPr/>
          <p:nvPr/>
        </p:nvSpPr>
        <p:spPr>
          <a:xfrm>
            <a:off x="609600" y="476250"/>
            <a:ext cx="38100" cy="381000"/>
          </a:xfrm>
          <a:prstGeom prst="rect">
            <a:avLst/>
          </a:prstGeom>
          <a:solidFill>
            <a:srgbClr val="38BDF8"/>
          </a:solidFill>
        </p:spPr>
        <p:txBody>
          <a:bodyPr/>
          <a:p/>
        </p:txBody>
      </p:sp>
      <p:sp>
        <p:nvSpPr>
          <p:cNvPr id="248" name="文本框 247" descr="{&quot;isTemplate&quot;:true,&quot;type&quot;:&quot;text&quot;}"/>
          <p:cNvSpPr txBox="1"/>
          <p:nvPr/>
        </p:nvSpPr>
        <p:spPr>
          <a:xfrm>
            <a:off x="819150" y="304800"/>
            <a:ext cx="9229725" cy="2095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第</a:t>
            </a: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 17 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章</a:t>
            </a: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 · 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运行时基础设施</a:t>
            </a: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 · 17.6 / 17.7</a:t>
            </a:r>
            <a:endParaRPr lang="en-US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49" name="文本框 248" descr="{&quot;isTemplate&quot;:true,&quot;type&quot;:&quot;text&quot;}"/>
          <p:cNvSpPr txBox="1"/>
          <p:nvPr/>
        </p:nvSpPr>
        <p:spPr>
          <a:xfrm>
            <a:off x="819150" y="514350"/>
            <a:ext cx="9229725" cy="5143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en-US" sz="2550" b="1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f_collection </a:t>
            </a:r>
            <a:r>
              <a:rPr lang="zh-CN" sz="2550" b="1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与</a:t>
            </a:r>
            <a:r>
              <a:rPr lang="en-US" sz="2550" b="1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 f_time</a:t>
            </a:r>
            <a:endParaRPr lang="en-US" sz="2550" b="1">
              <a:solidFill>
                <a:srgbClr val="E2E8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50" name="文本框 249" descr="{&quot;isTemplate&quot;:true,&quot;type&quot;:&quot;text&quot;}"/>
          <p:cNvSpPr txBox="1"/>
          <p:nvPr/>
        </p:nvSpPr>
        <p:spPr>
          <a:xfrm>
            <a:off x="10220325" y="590550"/>
            <a:ext cx="1362075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补标准库的位</a:t>
            </a: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 · 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时间</a:t>
            </a: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 DSL</a:t>
            </a:r>
            <a:endParaRPr lang="en-US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51" name="圆角矩形 250"/>
          <p:cNvSpPr/>
          <p:nvPr/>
        </p:nvSpPr>
        <p:spPr>
          <a:xfrm>
            <a:off x="609600" y="1143000"/>
            <a:ext cx="5391150" cy="5143500"/>
          </a:xfrm>
          <a:prstGeom prst="roundRect">
            <a:avLst>
              <a:gd name="adj" fmla="val 2222"/>
            </a:avLst>
          </a:prstGeom>
          <a:solidFill>
            <a:srgbClr val="0B1220"/>
          </a:solidFill>
          <a:ln w="12700">
            <a:solidFill>
              <a:srgbClr val="38BDF8"/>
            </a:solidFill>
            <a:prstDash val="solid"/>
          </a:ln>
        </p:spPr>
        <p:txBody>
          <a:bodyPr/>
          <a:p/>
        </p:txBody>
      </p:sp>
      <p:sp>
        <p:nvSpPr>
          <p:cNvPr id="252" name="文本框 251" descr="{&quot;isTemplate&quot;:true,&quot;type&quot;:&quot;text&quot;}"/>
          <p:cNvSpPr txBox="1"/>
          <p:nvPr/>
        </p:nvSpPr>
        <p:spPr>
          <a:xfrm>
            <a:off x="762000" y="1295400"/>
            <a:ext cx="5086350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38BDF8"/>
                </a:solidFill>
                <a:latin typeface="微软雅黑" panose="020B0503020204020204" charset="-122"/>
                <a:ea typeface="微软雅黑" panose="020B0503020204020204" charset="-122"/>
              </a:rPr>
              <a:t>f_collection · </a:t>
            </a:r>
            <a:r>
              <a:rPr lang="zh-CN" sz="975">
                <a:solidFill>
                  <a:srgbClr val="38BDF8"/>
                </a:solidFill>
                <a:latin typeface="微软雅黑" panose="020B0503020204020204" charset="-122"/>
                <a:ea typeface="微软雅黑" panose="020B0503020204020204" charset="-122"/>
              </a:rPr>
              <a:t>挑四个解决痛点的讲</a:t>
            </a:r>
            <a:endParaRPr lang="zh-CN" sz="975">
              <a:solidFill>
                <a:srgbClr val="38BDF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53" name="文本框 252" descr="{&quot;isTemplate&quot;:true,&quot;type&quot;:&quot;text&quot;}"/>
          <p:cNvSpPr txBox="1"/>
          <p:nvPr/>
        </p:nvSpPr>
        <p:spPr>
          <a:xfrm>
            <a:off x="762000" y="1524000"/>
            <a:ext cx="5086350" cy="466725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en-US" sz="90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BitSet</a:t>
            </a:r>
            <a:r>
              <a:rPr lang="zh-CN" sz="90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：默认</a:t>
            </a:r>
            <a:r>
              <a:rPr lang="en-US" sz="90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 64 </a:t>
            </a:r>
            <a:r>
              <a:rPr lang="zh-CN" sz="90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位或</a:t>
            </a:r>
            <a:r>
              <a:rPr lang="en-US" sz="90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 init(capacity) </a:t>
            </a:r>
            <a:r>
              <a:rPr lang="zh-CN" sz="90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指定；</a:t>
            </a:r>
            <a:r>
              <a:rPr lang="en-US" sz="90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contains / set / remove </a:t>
            </a:r>
            <a:r>
              <a:rPr lang="zh-CN" sz="90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是泛型方法，用哈希判断存在</a:t>
            </a:r>
            <a:r>
              <a:rPr lang="en-US" sz="90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 —— </a:t>
            </a:r>
            <a:r>
              <a:rPr lang="zh-CN" sz="90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布隆过滤器的底座（</a:t>
            </a:r>
            <a:r>
              <a:rPr lang="en-US" sz="90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f_bloom </a:t>
            </a:r>
            <a:r>
              <a:rPr lang="zh-CN" sz="90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依赖它）、权限位、标记位、去重集合。</a:t>
            </a:r>
            <a:endParaRPr lang="zh-CN" sz="900">
              <a:solidFill>
                <a:srgbClr val="E2E8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54" name="文本框 253" descr="{&quot;isTemplate&quot;:true,&quot;type&quot;:&quot;text&quot;}"/>
          <p:cNvSpPr txBox="1"/>
          <p:nvPr/>
        </p:nvSpPr>
        <p:spPr>
          <a:xfrm>
            <a:off x="762000" y="2066925"/>
            <a:ext cx="5086350" cy="2381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en-US" sz="90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HashDict&lt;K, V&gt;(hasher: (K) -&gt; Int64, equals: (K, K) -&gt; Bool)</a:t>
            </a:r>
            <a:r>
              <a:rPr lang="zh-CN" sz="90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　</a:t>
            </a:r>
            <a:r>
              <a:rPr lang="en-US" sz="90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// key </a:t>
            </a:r>
            <a:r>
              <a:rPr lang="zh-CN" sz="90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不要求</a:t>
            </a:r>
            <a:r>
              <a:rPr lang="en-US" sz="90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 Hashable</a:t>
            </a:r>
            <a:endParaRPr lang="en-US" sz="900">
              <a:solidFill>
                <a:srgbClr val="E2E8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55" name="文本框 254" descr="{&quot;isTemplate&quot;:true,&quot;type&quot;:&quot;text&quot;}"/>
          <p:cNvSpPr txBox="1"/>
          <p:nvPr/>
        </p:nvSpPr>
        <p:spPr>
          <a:xfrm>
            <a:off x="762000" y="2343150"/>
            <a:ext cx="5086350" cy="466725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en-US" sz="90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LinkedHashDict </a:t>
            </a:r>
            <a:r>
              <a:rPr lang="zh-CN" sz="90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按最近访问顺序遍历；</a:t>
            </a:r>
            <a:r>
              <a:rPr lang="en-US" sz="90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TreeDict </a:t>
            </a:r>
            <a:r>
              <a:rPr lang="zh-CN" sz="90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传</a:t>
            </a:r>
            <a:r>
              <a:rPr lang="en-US" sz="90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cmp —— </a:t>
            </a:r>
            <a:r>
              <a:rPr lang="zh-CN" sz="90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现实中大量</a:t>
            </a:r>
            <a:r>
              <a:rPr lang="en-US" sz="90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key</a:t>
            </a:r>
            <a:r>
              <a:rPr lang="zh-CN" sz="90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（第三方库类型、接口类型）两个都不实现，这就是解法。</a:t>
            </a:r>
            <a:endParaRPr lang="zh-CN" sz="900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56" name="文本框 255" descr="{&quot;isTemplate&quot;:true,&quot;type&quot;:&quot;text&quot;}"/>
          <p:cNvSpPr txBox="1"/>
          <p:nvPr/>
        </p:nvSpPr>
        <p:spPr>
          <a:xfrm>
            <a:off x="762000" y="2886075"/>
            <a:ext cx="5086350" cy="2381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en-US" sz="90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LinkedHashMap / LinkedHashSet</a:t>
            </a:r>
            <a:r>
              <a:rPr lang="zh-CN" sz="90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：按最近访问顺序遍历</a:t>
            </a:r>
            <a:r>
              <a:rPr lang="en-US" sz="90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 —— LRU </a:t>
            </a:r>
            <a:r>
              <a:rPr lang="zh-CN" sz="90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缓存只差一层封装。</a:t>
            </a:r>
            <a:endParaRPr lang="zh-CN" sz="900">
              <a:solidFill>
                <a:srgbClr val="E2E8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57" name="文本框 256" descr="{&quot;isTemplate&quot;:true,&quot;type&quot;:&quot;text&quot;}"/>
          <p:cNvSpPr txBox="1"/>
          <p:nvPr/>
        </p:nvSpPr>
        <p:spPr>
          <a:xfrm>
            <a:off x="762000" y="3200400"/>
            <a:ext cx="5086350" cy="2381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en-US" sz="90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PriorityQueue.create </a:t>
            </a:r>
            <a:r>
              <a:rPr lang="zh-CN" sz="90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泛型</a:t>
            </a:r>
            <a:r>
              <a:rPr lang="en-US" sz="90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 T</a:t>
            </a:r>
            <a:r>
              <a:rPr lang="zh-CN" sz="90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：容量满时自动扩容，也可给</a:t>
            </a:r>
            <a:r>
              <a:rPr lang="en-US" sz="90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 OverSizePolicy </a:t>
            </a:r>
            <a:r>
              <a:rPr lang="zh-CN" sz="90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做拒绝策略。</a:t>
            </a:r>
            <a:endParaRPr lang="zh-CN" sz="900">
              <a:solidFill>
                <a:srgbClr val="E2E8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58" name="文本框 257" descr="{&quot;isTemplate&quot;:true,&quot;type&quot;:&quot;text&quot;}"/>
          <p:cNvSpPr txBox="1"/>
          <p:nvPr/>
        </p:nvSpPr>
        <p:spPr>
          <a:xfrm>
            <a:off x="762000" y="3514725"/>
            <a:ext cx="5086350" cy="485775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75000"/>
              </a:lnSpc>
            </a:pPr>
            <a:r>
              <a:rPr lang="en-US" sz="900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SetOp</a:t>
            </a:r>
            <a:r>
              <a:rPr lang="zh-CN" sz="900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：</a:t>
            </a:r>
            <a:r>
              <a:rPr lang="en-US" sz="900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intersection / union / difference </a:t>
            </a:r>
            <a:r>
              <a:rPr lang="zh-CN" sz="900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返回只读视图（</a:t>
            </a:r>
            <a:r>
              <a:rPr lang="en-US" sz="900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IntersectionSetView / UnionSetView / DifferenceSetView</a:t>
            </a:r>
            <a:r>
              <a:rPr lang="zh-CN" sz="900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）——</a:t>
            </a:r>
            <a:r>
              <a:rPr lang="en-US" sz="900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 </a:t>
            </a:r>
            <a:r>
              <a:rPr lang="zh-CN" sz="900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做集合运算不产生拷贝。</a:t>
            </a:r>
            <a:endParaRPr lang="zh-CN" sz="900">
              <a:solidFill>
                <a:srgbClr val="F59E0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59" name="圆角矩形 258"/>
          <p:cNvSpPr/>
          <p:nvPr/>
        </p:nvSpPr>
        <p:spPr>
          <a:xfrm>
            <a:off x="6191250" y="1143000"/>
            <a:ext cx="5391150" cy="2295525"/>
          </a:xfrm>
          <a:prstGeom prst="roundRect">
            <a:avLst>
              <a:gd name="adj" fmla="val 4979"/>
            </a:avLst>
          </a:prstGeom>
          <a:solidFill>
            <a:srgbClr val="0B1220"/>
          </a:solidFill>
          <a:ln w="12700">
            <a:solidFill>
              <a:srgbClr val="38BDF8"/>
            </a:solidFill>
            <a:prstDash val="solid"/>
          </a:ln>
        </p:spPr>
        <p:txBody>
          <a:bodyPr/>
          <a:p/>
        </p:txBody>
      </p:sp>
      <p:sp>
        <p:nvSpPr>
          <p:cNvPr id="260" name="文本框 259" descr="{&quot;isTemplate&quot;:true,&quot;type&quot;:&quot;text&quot;}"/>
          <p:cNvSpPr txBox="1"/>
          <p:nvPr/>
        </p:nvSpPr>
        <p:spPr>
          <a:xfrm>
            <a:off x="6343650" y="1295400"/>
            <a:ext cx="5086350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38BDF8"/>
                </a:solidFill>
                <a:latin typeface="微软雅黑" panose="020B0503020204020204" charset="-122"/>
                <a:ea typeface="微软雅黑" panose="020B0503020204020204" charset="-122"/>
              </a:rPr>
              <a:t>f_time · TimeUnit</a:t>
            </a:r>
            <a:r>
              <a:rPr lang="zh-CN" sz="975">
                <a:solidFill>
                  <a:srgbClr val="38BDF8"/>
                </a:solidFill>
                <a:latin typeface="微软雅黑" panose="020B0503020204020204" charset="-122"/>
                <a:ea typeface="微软雅黑" panose="020B0503020204020204" charset="-122"/>
              </a:rPr>
              <a:t>（</a:t>
            </a:r>
            <a:r>
              <a:rPr lang="en-US" sz="975">
                <a:solidFill>
                  <a:srgbClr val="38BDF8"/>
                </a:solidFill>
                <a:latin typeface="微软雅黑" panose="020B0503020204020204" charset="-122"/>
                <a:ea typeface="微软雅黑" panose="020B0503020204020204" charset="-122"/>
              </a:rPr>
              <a:t>10 </a:t>
            </a:r>
            <a:r>
              <a:rPr lang="zh-CN" sz="975">
                <a:solidFill>
                  <a:srgbClr val="38BDF8"/>
                </a:solidFill>
                <a:latin typeface="微软雅黑" panose="020B0503020204020204" charset="-122"/>
                <a:ea typeface="微软雅黑" panose="020B0503020204020204" charset="-122"/>
              </a:rPr>
              <a:t>个粒度）</a:t>
            </a:r>
            <a:endParaRPr lang="zh-CN" sz="975">
              <a:solidFill>
                <a:srgbClr val="38BDF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61" name="文本框 260" descr="{&quot;isTemplate&quot;:true,&quot;type&quot;:&quot;text&quot;}"/>
          <p:cNvSpPr txBox="1"/>
          <p:nvPr/>
        </p:nvSpPr>
        <p:spPr>
          <a:xfrm>
            <a:off x="6343650" y="1524000"/>
            <a:ext cx="5086350" cy="2381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en-US" sz="900">
                <a:solidFill>
                  <a:srgbClr val="E2E8F0"/>
                </a:solidFill>
                <a:latin typeface="JetBrains Mono"/>
                <a:ea typeface="JetBrains Mono"/>
              </a:rPr>
              <a:t>NANOSECOND MICROSECOND MILLISECOND SECOND MINUTE HOUR DAY WEEK MONTH YEAR</a:t>
            </a:r>
            <a:endParaRPr lang="en-US" sz="900">
              <a:solidFill>
                <a:srgbClr val="E2E8F0"/>
              </a:solidFill>
              <a:latin typeface="JetBrains Mono"/>
              <a:ea typeface="JetBrains Mono"/>
            </a:endParaRPr>
          </a:p>
        </p:txBody>
      </p:sp>
      <p:sp>
        <p:nvSpPr>
          <p:cNvPr id="262" name="文本框 261" descr="{&quot;isTemplate&quot;:true,&quot;type&quot;:&quot;text&quot;}"/>
          <p:cNvSpPr txBox="1"/>
          <p:nvPr/>
        </p:nvSpPr>
        <p:spPr>
          <a:xfrm>
            <a:off x="6343650" y="1838325"/>
            <a:ext cx="5086350" cy="704850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en-US" sz="90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trim(t) </a:t>
            </a:r>
            <a:r>
              <a:rPr lang="zh-CN" sz="90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截断到当前单位整点（</a:t>
            </a:r>
            <a:r>
              <a:rPr lang="en-US" sz="90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WEEK </a:t>
            </a:r>
            <a:r>
              <a:rPr lang="zh-CN" sz="90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对齐周一、</a:t>
            </a:r>
            <a:r>
              <a:rPr lang="en-US" sz="90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MONTH </a:t>
            </a:r>
            <a:r>
              <a:rPr lang="zh-CN" sz="90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对齐</a:t>
            </a:r>
            <a:r>
              <a:rPr lang="en-US" sz="90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1 </a:t>
            </a:r>
            <a:r>
              <a:rPr lang="zh-CN" sz="90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号、</a:t>
            </a:r>
            <a:r>
              <a:rPr lang="en-US" sz="90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YEAR </a:t>
            </a:r>
            <a:r>
              <a:rPr lang="zh-CN" sz="90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对齐</a:t>
            </a:r>
            <a:r>
              <a:rPr lang="en-US" sz="90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1 </a:t>
            </a:r>
            <a:r>
              <a:rPr lang="zh-CN" sz="90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月</a:t>
            </a:r>
            <a:r>
              <a:rPr lang="en-US" sz="90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1 </a:t>
            </a:r>
            <a:r>
              <a:rPr lang="zh-CN" sz="90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日）；</a:t>
            </a:r>
            <a:r>
              <a:rPr lang="en-US" sz="90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next / prev </a:t>
            </a:r>
            <a:r>
              <a:rPr lang="zh-CN" sz="90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取未来</a:t>
            </a:r>
            <a:r>
              <a:rPr lang="en-US" sz="90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/ </a:t>
            </a:r>
            <a:r>
              <a:rPr lang="zh-CN" sz="90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过去第</a:t>
            </a:r>
            <a:r>
              <a:rPr lang="en-US" sz="90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n </a:t>
            </a:r>
            <a:r>
              <a:rPr lang="zh-CN" sz="90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个整点；</a:t>
            </a:r>
            <a:r>
              <a:rPr lang="en-US" sz="90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since </a:t>
            </a:r>
            <a:r>
              <a:rPr lang="zh-CN" sz="90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返回距离未来整点的</a:t>
            </a:r>
            <a:r>
              <a:rPr lang="en-US" sz="90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Duration</a:t>
            </a:r>
            <a:r>
              <a:rPr lang="zh-CN" sz="90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；</a:t>
            </a:r>
            <a:r>
              <a:rPr lang="en-US" sz="90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ago / later </a:t>
            </a:r>
            <a:r>
              <a:rPr lang="zh-CN" sz="90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以当前时间为基准；</a:t>
            </a:r>
            <a:r>
              <a:rPr lang="en-US" sz="90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before / after </a:t>
            </a:r>
            <a:r>
              <a:rPr lang="zh-CN" sz="90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以指定时间为基准。</a:t>
            </a:r>
            <a:endParaRPr lang="zh-CN" sz="900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63" name="文本框 262" descr="{&quot;isTemplate&quot;:true,&quot;type&quot;:&quot;text&quot;}"/>
          <p:cNvSpPr txBox="1"/>
          <p:nvPr/>
        </p:nvSpPr>
        <p:spPr>
          <a:xfrm>
            <a:off x="6343650" y="2619375"/>
            <a:ext cx="5086350" cy="2476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5000"/>
              </a:lnSpc>
            </a:pPr>
            <a:r>
              <a:rPr lang="en-US" sz="900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duration(n)</a:t>
            </a:r>
            <a:r>
              <a:rPr lang="zh-CN" sz="900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：</a:t>
            </a:r>
            <a:r>
              <a:rPr lang="en-US" sz="900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n </a:t>
            </a:r>
            <a:r>
              <a:rPr lang="zh-CN" sz="900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个单位</a:t>
            </a:r>
            <a:r>
              <a:rPr lang="en-US" sz="900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 → Duration</a:t>
            </a:r>
            <a:r>
              <a:rPr lang="zh-CN" sz="900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；</a:t>
            </a:r>
            <a:r>
              <a:rPr lang="en-US" sz="900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WEEK / MONTH / YEAR </a:t>
            </a:r>
            <a:r>
              <a:rPr lang="zh-CN" sz="900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不定长，返回</a:t>
            </a:r>
            <a:r>
              <a:rPr lang="en-US" sz="900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 None</a:t>
            </a:r>
            <a:r>
              <a:rPr lang="zh-CN" sz="900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。</a:t>
            </a:r>
            <a:endParaRPr lang="zh-CN" sz="900">
              <a:solidFill>
                <a:srgbClr val="F59E0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64" name="文本框 263" descr="{&quot;isTemplate&quot;:true,&quot;type&quot;:&quot;text&quot;}"/>
          <p:cNvSpPr txBox="1"/>
          <p:nvPr/>
        </p:nvSpPr>
        <p:spPr>
          <a:xfrm>
            <a:off x="6343650" y="2943225"/>
            <a:ext cx="5086350" cy="2381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en-US" sz="900">
                <a:solidFill>
                  <a:srgbClr val="94A3B8"/>
                </a:solidFill>
                <a:latin typeface="JetBrains Mono"/>
                <a:ea typeface="JetBrains Mono"/>
              </a:rPr>
              <a:t>TimeUnit.MINUTE.next(datetime: '2023-10-11 12:31:32.568900')  // → 12:32:00</a:t>
            </a:r>
            <a:endParaRPr lang="en-US" sz="900">
              <a:solidFill>
                <a:srgbClr val="94A3B8"/>
              </a:solidFill>
              <a:latin typeface="JetBrains Mono"/>
              <a:ea typeface="JetBrains Mono"/>
            </a:endParaRPr>
          </a:p>
        </p:txBody>
      </p:sp>
      <p:sp>
        <p:nvSpPr>
          <p:cNvPr id="265" name="圆角矩形 264"/>
          <p:cNvSpPr/>
          <p:nvPr/>
        </p:nvSpPr>
        <p:spPr>
          <a:xfrm>
            <a:off x="6191250" y="3552825"/>
            <a:ext cx="5391150" cy="2733675"/>
          </a:xfrm>
          <a:prstGeom prst="roundRect">
            <a:avLst>
              <a:gd name="adj" fmla="val 4181"/>
            </a:avLst>
          </a:prstGeom>
          <a:solidFill>
            <a:srgbClr val="111C2E"/>
          </a:solidFill>
          <a:ln w="12700">
            <a:solidFill>
              <a:srgbClr val="1E293B"/>
            </a:solidFill>
            <a:prstDash val="solid"/>
          </a:ln>
        </p:spPr>
        <p:txBody>
          <a:bodyPr/>
          <a:p/>
        </p:txBody>
      </p:sp>
      <p:sp>
        <p:nvSpPr>
          <p:cNvPr id="266" name="文本框 265" descr="{&quot;isTemplate&quot;:true,&quot;type&quot;:&quot;text&quot;}"/>
          <p:cNvSpPr txBox="1"/>
          <p:nvPr/>
        </p:nvSpPr>
        <p:spPr>
          <a:xfrm>
            <a:off x="6343650" y="3705225"/>
            <a:ext cx="5086350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b="1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Int64 </a:t>
            </a:r>
            <a:r>
              <a:rPr lang="zh-CN" sz="975" b="1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的时间</a:t>
            </a:r>
            <a:r>
              <a:rPr lang="en-US" sz="975" b="1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 DSL</a:t>
            </a:r>
            <a:r>
              <a:rPr lang="zh-CN" sz="975" b="1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（读起来就是自然语言）</a:t>
            </a:r>
            <a:endParaRPr lang="zh-CN" sz="975" b="1">
              <a:solidFill>
                <a:srgbClr val="E2E8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67" name="文本框 266" descr="{&quot;isTemplate&quot;:true,&quot;type&quot;:&quot;text&quot;}"/>
          <p:cNvSpPr txBox="1"/>
          <p:nvPr/>
        </p:nvSpPr>
        <p:spPr>
          <a:xfrm>
            <a:off x="6343650" y="3933825"/>
            <a:ext cx="5086350" cy="2476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5000"/>
              </a:lnSpc>
            </a:pPr>
            <a:r>
              <a:rPr lang="en-US" sz="900">
                <a:solidFill>
                  <a:srgbClr val="38BDF8"/>
                </a:solidFill>
                <a:latin typeface="JetBrains Mono"/>
                <a:ea typeface="JetBrains Mono"/>
              </a:rPr>
              <a:t>let d1  = 5.seconds.later    // 5 </a:t>
            </a:r>
            <a:r>
              <a:rPr lang="zh-CN" sz="900">
                <a:solidFill>
                  <a:srgbClr val="38BDF8"/>
                </a:solidFill>
                <a:latin typeface="JetBrains Mono"/>
                <a:ea typeface="JetBrains Mono"/>
              </a:rPr>
              <a:t>秒后的</a:t>
            </a:r>
            <a:r>
              <a:rPr lang="en-US" sz="900">
                <a:solidFill>
                  <a:srgbClr val="38BDF8"/>
                </a:solidFill>
                <a:latin typeface="JetBrains Mono"/>
                <a:ea typeface="JetBrains Mono"/>
              </a:rPr>
              <a:t> DateTime</a:t>
            </a:r>
            <a:endParaRPr lang="en-US" sz="900">
              <a:solidFill>
                <a:srgbClr val="38BDF8"/>
              </a:solidFill>
              <a:latin typeface="JetBrains Mono"/>
              <a:ea typeface="JetBrains Mono"/>
            </a:endParaRPr>
          </a:p>
        </p:txBody>
      </p:sp>
      <p:sp>
        <p:nvSpPr>
          <p:cNvPr id="268" name="文本框 267" descr="{&quot;isTemplate&quot;:true,&quot;type&quot;:&quot;text&quot;}"/>
          <p:cNvSpPr txBox="1"/>
          <p:nvPr/>
        </p:nvSpPr>
        <p:spPr>
          <a:xfrm>
            <a:off x="6343650" y="4181475"/>
            <a:ext cx="5086350" cy="2476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5000"/>
              </a:lnSpc>
            </a:pPr>
            <a:r>
              <a:rPr lang="en-US" sz="900">
                <a:solidFill>
                  <a:srgbClr val="38BDF8"/>
                </a:solidFill>
                <a:latin typeface="JetBrains Mono"/>
                <a:ea typeface="JetBrains Mono"/>
              </a:rPr>
              <a:t>let d2  = 2.minutes.ago      // 2 </a:t>
            </a:r>
            <a:r>
              <a:rPr lang="zh-CN" sz="900">
                <a:solidFill>
                  <a:srgbClr val="38BDF8"/>
                </a:solidFill>
                <a:latin typeface="JetBrains Mono"/>
                <a:ea typeface="JetBrains Mono"/>
              </a:rPr>
              <a:t>分钟前的</a:t>
            </a:r>
            <a:r>
              <a:rPr lang="en-US" sz="900">
                <a:solidFill>
                  <a:srgbClr val="38BDF8"/>
                </a:solidFill>
                <a:latin typeface="JetBrains Mono"/>
                <a:ea typeface="JetBrains Mono"/>
              </a:rPr>
              <a:t> DateTime</a:t>
            </a:r>
            <a:endParaRPr lang="en-US" sz="900">
              <a:solidFill>
                <a:srgbClr val="38BDF8"/>
              </a:solidFill>
              <a:latin typeface="JetBrains Mono"/>
              <a:ea typeface="JetBrains Mono"/>
            </a:endParaRPr>
          </a:p>
        </p:txBody>
      </p:sp>
      <p:sp>
        <p:nvSpPr>
          <p:cNvPr id="269" name="文本框 268" descr="{&quot;isTemplate&quot;:true,&quot;type&quot;:&quot;text&quot;}"/>
          <p:cNvSpPr txBox="1"/>
          <p:nvPr/>
        </p:nvSpPr>
        <p:spPr>
          <a:xfrm>
            <a:off x="6343650" y="4429125"/>
            <a:ext cx="5086350" cy="2476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5000"/>
              </a:lnSpc>
            </a:pPr>
            <a:r>
              <a:rPr lang="en-US" sz="900">
                <a:solidFill>
                  <a:srgbClr val="38BDF8"/>
                </a:solidFill>
                <a:latin typeface="JetBrains Mono"/>
                <a:ea typeface="JetBrains Mono"/>
              </a:rPr>
              <a:t>let dur = 1.day.duration     // Some(Duration.day)</a:t>
            </a:r>
            <a:endParaRPr lang="en-US" sz="900">
              <a:solidFill>
                <a:srgbClr val="38BDF8"/>
              </a:solidFill>
              <a:latin typeface="JetBrains Mono"/>
              <a:ea typeface="JetBrains Mono"/>
            </a:endParaRPr>
          </a:p>
        </p:txBody>
      </p:sp>
      <p:sp>
        <p:nvSpPr>
          <p:cNvPr id="270" name="文本框 269" descr="{&quot;isTemplate&quot;:true,&quot;type&quot;:&quot;text&quot;}"/>
          <p:cNvSpPr txBox="1"/>
          <p:nvPr/>
        </p:nvSpPr>
        <p:spPr>
          <a:xfrm>
            <a:off x="6343650" y="4676775"/>
            <a:ext cx="5086350" cy="2476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5000"/>
              </a:lnSpc>
            </a:pPr>
            <a:r>
              <a:rPr lang="en-US" sz="900">
                <a:solidFill>
                  <a:srgbClr val="F59E0B"/>
                </a:solidFill>
                <a:latin typeface="JetBrains Mono"/>
                <a:ea typeface="JetBrains Mono"/>
              </a:rPr>
              <a:t>let bad = 1.month.duration   // None&lt;Duration&gt; ← MONTH </a:t>
            </a:r>
            <a:r>
              <a:rPr lang="zh-CN" sz="900">
                <a:solidFill>
                  <a:srgbClr val="F59E0B"/>
                </a:solidFill>
                <a:latin typeface="JetBrains Mono"/>
                <a:ea typeface="JetBrains Mono"/>
              </a:rPr>
              <a:t>不定长</a:t>
            </a:r>
            <a:endParaRPr lang="zh-CN" sz="900">
              <a:solidFill>
                <a:srgbClr val="F59E0B"/>
              </a:solidFill>
              <a:latin typeface="JetBrains Mono"/>
              <a:ea typeface="JetBrains Mono"/>
            </a:endParaRPr>
          </a:p>
        </p:txBody>
      </p:sp>
      <p:sp>
        <p:nvSpPr>
          <p:cNvPr id="271" name="文本框 270" descr="{&quot;isTemplate&quot;:true,&quot;type&quot;:&quot;text&quot;}"/>
          <p:cNvSpPr txBox="1"/>
          <p:nvPr/>
        </p:nvSpPr>
        <p:spPr>
          <a:xfrm>
            <a:off x="6343650" y="5000625"/>
            <a:ext cx="5086350" cy="485775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75000"/>
              </a:lnSpc>
            </a:pPr>
            <a:r>
              <a:rPr lang="en-US" sz="90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DateTime</a:t>
            </a:r>
            <a:r>
              <a:rPr lang="zh-CN" sz="90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：</a:t>
            </a:r>
            <a:r>
              <a:rPr lang="en-US" sz="90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today / yesterday / tomorrow / isLeapYear / isLastMonthDay / toUnixEpochSeconds·Millis·Micros·Nanos / setYear·setMonth·setDay / addMilliseconds</a:t>
            </a:r>
            <a:r>
              <a:rPr lang="zh-CN" sz="90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。</a:t>
            </a:r>
            <a:endParaRPr lang="zh-CN" sz="900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72" name="文本框 271" descr="{&quot;isTemplate&quot;:true,&quot;type&quot;:&quot;text&quot;}"/>
          <p:cNvSpPr txBox="1"/>
          <p:nvPr/>
        </p:nvSpPr>
        <p:spPr>
          <a:xfrm>
            <a:off x="6343650" y="5543550"/>
            <a:ext cx="5086350" cy="485775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75000"/>
              </a:lnSpc>
            </a:pPr>
            <a:r>
              <a:rPr lang="en-US" sz="90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Duration</a:t>
            </a:r>
            <a:r>
              <a:rPr lang="zh-CN" sz="90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：</a:t>
            </a:r>
            <a:r>
              <a:rPr lang="en-US" sz="90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minute.ago / hour.later / day.before(t) / day.after(t)</a:t>
            </a:r>
            <a:r>
              <a:rPr lang="zh-CN" sz="90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。</a:t>
            </a:r>
            <a:r>
              <a:rPr lang="en-US" sz="90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DayOfWeek </a:t>
            </a:r>
            <a:r>
              <a:rPr lang="zh-CN" sz="90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与</a:t>
            </a:r>
            <a:r>
              <a:rPr lang="en-US" sz="90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Month </a:t>
            </a:r>
            <a:r>
              <a:rPr lang="zh-CN" sz="90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支持相减；</a:t>
            </a:r>
            <a:r>
              <a:rPr lang="en-US" sz="90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TimeZone.Z </a:t>
            </a:r>
            <a:r>
              <a:rPr lang="zh-CN" sz="90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是</a:t>
            </a:r>
            <a:r>
              <a:rPr lang="en-US" sz="90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UTC </a:t>
            </a:r>
            <a:r>
              <a:rPr lang="zh-CN" sz="90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常量。</a:t>
            </a:r>
            <a:endParaRPr lang="zh-CN" sz="900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73" name="任意多边形 272"/>
          <p:cNvSpPr/>
          <p:nvPr/>
        </p:nvSpPr>
        <p:spPr>
          <a:xfrm>
            <a:off x="609600" y="6286500"/>
            <a:ext cx="10972800" cy="381000"/>
          </a:xfrm>
          <a:custGeom>
            <a:avLst/>
            <a:gdLst/>
            <a:ahLst/>
            <a:cxnLst/>
            <a:pathLst>
              <a:path w="1152" h="40">
                <a:moveTo>
                  <a:pt x="0" y="0"/>
                </a:moveTo>
                <a:lnTo>
                  <a:pt x="1152" y="0"/>
                </a:lnTo>
                <a:lnTo>
                  <a:pt x="1152" y="1"/>
                </a:lnTo>
                <a:lnTo>
                  <a:pt x="0" y="1"/>
                </a:lnTo>
                <a:close/>
              </a:path>
            </a:pathLst>
          </a:custGeom>
          <a:solidFill>
            <a:srgbClr val="1E293B"/>
          </a:solidFill>
        </p:spPr>
        <p:txBody>
          <a:bodyPr/>
          <a:p/>
        </p:txBody>
      </p:sp>
      <p:sp>
        <p:nvSpPr>
          <p:cNvPr id="274" name="文本框 273" descr="{&quot;isTemplate&quot;:true,&quot;type&quot;:&quot;text&quot;}"/>
          <p:cNvSpPr txBox="1"/>
          <p:nvPr/>
        </p:nvSpPr>
        <p:spPr>
          <a:xfrm>
            <a:off x="609600" y="6410325"/>
            <a:ext cx="2219325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fountain · 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一站式服务器应用开发工具库</a:t>
            </a:r>
            <a:endParaRPr lang="zh-CN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75" name="文本框 274" descr="{&quot;isTemplate&quot;:true,&quot;type&quot;:&quot;text&quot;}"/>
          <p:cNvSpPr txBox="1"/>
          <p:nvPr/>
        </p:nvSpPr>
        <p:spPr>
          <a:xfrm>
            <a:off x="11020425" y="6410325"/>
            <a:ext cx="561975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107 / 116</a:t>
            </a:r>
            <a:endParaRPr lang="en-US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7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矩形 276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220"/>
          </a:solidFill>
        </p:spPr>
        <p:txBody>
          <a:bodyPr/>
          <a:p/>
        </p:txBody>
      </p:sp>
      <p:sp>
        <p:nvSpPr>
          <p:cNvPr id="278" name="矩形 277"/>
          <p:cNvSpPr/>
          <p:nvPr/>
        </p:nvSpPr>
        <p:spPr>
          <a:xfrm>
            <a:off x="609600" y="476250"/>
            <a:ext cx="38100" cy="381000"/>
          </a:xfrm>
          <a:prstGeom prst="rect">
            <a:avLst/>
          </a:prstGeom>
          <a:solidFill>
            <a:srgbClr val="38BDF8"/>
          </a:solidFill>
        </p:spPr>
        <p:txBody>
          <a:bodyPr/>
          <a:p/>
        </p:txBody>
      </p:sp>
      <p:sp>
        <p:nvSpPr>
          <p:cNvPr id="279" name="文本框 278" descr="{&quot;isTemplate&quot;:true,&quot;type&quot;:&quot;text&quot;}"/>
          <p:cNvSpPr txBox="1"/>
          <p:nvPr/>
        </p:nvSpPr>
        <p:spPr>
          <a:xfrm>
            <a:off x="819150" y="304800"/>
            <a:ext cx="9267825" cy="2095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第</a:t>
            </a: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 17 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章</a:t>
            </a: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 · 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运行时基础设施</a:t>
            </a: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 · 17.8 / 17.9 / 17.10</a:t>
            </a:r>
            <a:endParaRPr lang="en-US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80" name="文本框 279" descr="{&quot;isTemplate&quot;:true,&quot;type&quot;:&quot;text&quot;}"/>
          <p:cNvSpPr txBox="1"/>
          <p:nvPr/>
        </p:nvSpPr>
        <p:spPr>
          <a:xfrm>
            <a:off x="819150" y="514350"/>
            <a:ext cx="9267825" cy="5143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en-US" sz="2550" b="1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f_regex / f_rx / f_random</a:t>
            </a:r>
            <a:endParaRPr lang="en-US" sz="2550" b="1">
              <a:solidFill>
                <a:srgbClr val="E2E8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81" name="文本框 280" descr="{&quot;isTemplate&quot;:true,&quot;type&quot;:&quot;text&quot;}"/>
          <p:cNvSpPr txBox="1"/>
          <p:nvPr/>
        </p:nvSpPr>
        <p:spPr>
          <a:xfrm>
            <a:off x="10258425" y="590550"/>
            <a:ext cx="1323975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正则缓存</a:t>
            </a: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 · 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背压</a:t>
            </a: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 · 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随机数</a:t>
            </a:r>
            <a:endParaRPr lang="zh-CN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82" name="圆角矩形 281"/>
          <p:cNvSpPr/>
          <p:nvPr/>
        </p:nvSpPr>
        <p:spPr>
          <a:xfrm>
            <a:off x="609600" y="1143000"/>
            <a:ext cx="3552825" cy="5143500"/>
          </a:xfrm>
          <a:prstGeom prst="roundRect">
            <a:avLst>
              <a:gd name="adj" fmla="val 3217"/>
            </a:avLst>
          </a:prstGeom>
          <a:solidFill>
            <a:srgbClr val="111C2E"/>
          </a:solidFill>
          <a:ln w="12700">
            <a:solidFill>
              <a:srgbClr val="38BDF8"/>
            </a:solidFill>
            <a:prstDash val="solid"/>
          </a:ln>
        </p:spPr>
        <p:txBody>
          <a:bodyPr/>
          <a:p/>
        </p:txBody>
      </p:sp>
      <p:sp>
        <p:nvSpPr>
          <p:cNvPr id="283" name="文本框 282" descr="{&quot;isTemplate&quot;:true,&quot;type&quot;:&quot;text&quot;}"/>
          <p:cNvSpPr txBox="1"/>
          <p:nvPr/>
        </p:nvSpPr>
        <p:spPr>
          <a:xfrm>
            <a:off x="781050" y="1314450"/>
            <a:ext cx="3209925" cy="2095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 b="1">
                <a:solidFill>
                  <a:srgbClr val="38BDF8"/>
                </a:solidFill>
                <a:latin typeface="微软雅黑" panose="020B0503020204020204" charset="-122"/>
                <a:ea typeface="微软雅黑" panose="020B0503020204020204" charset="-122"/>
              </a:rPr>
              <a:t>f_regex</a:t>
            </a:r>
            <a:endParaRPr lang="en-US" sz="1350" b="1">
              <a:solidFill>
                <a:srgbClr val="38BDF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84" name="文本框 283" descr="{&quot;isTemplate&quot;:true,&quot;type&quot;:&quot;text&quot;}"/>
          <p:cNvSpPr txBox="1"/>
          <p:nvPr/>
        </p:nvSpPr>
        <p:spPr>
          <a:xfrm>
            <a:off x="781050" y="1638300"/>
            <a:ext cx="3209925" cy="704850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zh-CN" sz="90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常用正则常量：</a:t>
            </a:r>
            <a:r>
              <a:rPr lang="en-US" sz="90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INTEGER / DECIMAL / REAL_NUMBER / EMAIL / DURATION / IDENTIFIER / BASE64 / wildcard(</a:t>
            </a:r>
            <a:r>
              <a:rPr lang="zh-CN" sz="90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通配符串</a:t>
            </a:r>
            <a:r>
              <a:rPr lang="en-US" sz="90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)</a:t>
            </a:r>
            <a:endParaRPr lang="en-US" sz="900">
              <a:solidFill>
                <a:srgbClr val="E2E8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85" name="文本框 284" descr="{&quot;isTemplate&quot;:true,&quot;type&quot;:&quot;text&quot;}"/>
          <p:cNvSpPr txBox="1"/>
          <p:nvPr/>
        </p:nvSpPr>
        <p:spPr>
          <a:xfrm>
            <a:off x="781050" y="2419350"/>
            <a:ext cx="3209925" cy="704850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en-US" sz="90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doReplace / doReplaceAll </a:t>
            </a:r>
            <a:r>
              <a:rPr lang="zh-CN" sz="90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比标准库多了「起始下标」和「按匹配内容动态决定替换值」（回调返回</a:t>
            </a:r>
            <a:r>
              <a:rPr lang="en-US" sz="90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None </a:t>
            </a:r>
            <a:r>
              <a:rPr lang="zh-CN" sz="90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就不替换）——</a:t>
            </a:r>
            <a:r>
              <a:rPr lang="en-US" sz="90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</a:t>
            </a:r>
            <a:r>
              <a:rPr lang="zh-CN" sz="90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模板渲染、脱敏很顺手。</a:t>
            </a:r>
            <a:endParaRPr lang="zh-CN" sz="900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86" name="圆角矩形 285"/>
          <p:cNvSpPr/>
          <p:nvPr/>
        </p:nvSpPr>
        <p:spPr>
          <a:xfrm>
            <a:off x="781050" y="3238500"/>
            <a:ext cx="3209925" cy="466725"/>
          </a:xfrm>
          <a:prstGeom prst="roundRect">
            <a:avLst>
              <a:gd name="adj" fmla="val 16327"/>
            </a:avLst>
          </a:prstGeom>
          <a:solidFill>
            <a:srgbClr val="0B1220"/>
          </a:solidFill>
          <a:ln w="12700">
            <a:solidFill>
              <a:srgbClr val="1E293B"/>
            </a:solidFill>
            <a:prstDash val="solid"/>
          </a:ln>
        </p:spPr>
        <p:txBody>
          <a:bodyPr/>
          <a:p/>
        </p:txBody>
      </p:sp>
      <p:sp>
        <p:nvSpPr>
          <p:cNvPr id="287" name="文本框 286" descr="{&quot;isTemplate&quot;:true,&quot;type&quot;:&quot;text&quot;}"/>
          <p:cNvSpPr txBox="1"/>
          <p:nvPr/>
        </p:nvSpPr>
        <p:spPr>
          <a:xfrm>
            <a:off x="895350" y="3352800"/>
            <a:ext cx="2981325" cy="2381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en-US" sz="900">
                <a:solidFill>
                  <a:srgbClr val="38BDF8"/>
                </a:solidFill>
                <a:latin typeface="JetBrains Mono"/>
                <a:ea typeface="JetBrains Mono"/>
              </a:rPr>
              <a:t>let r = '^/api/.*'.regex(solid: false)</a:t>
            </a:r>
            <a:endParaRPr lang="en-US" sz="900">
              <a:solidFill>
                <a:srgbClr val="38BDF8"/>
              </a:solidFill>
              <a:latin typeface="JetBrains Mono"/>
              <a:ea typeface="JetBrains Mono"/>
            </a:endParaRPr>
          </a:p>
        </p:txBody>
      </p:sp>
      <p:sp>
        <p:nvSpPr>
          <p:cNvPr id="288" name="文本框 287" descr="{&quot;isTemplate&quot;:true,&quot;type&quot;:&quot;text&quot;}"/>
          <p:cNvSpPr txBox="1"/>
          <p:nvPr/>
        </p:nvSpPr>
        <p:spPr>
          <a:xfrm>
            <a:off x="781050" y="3800475"/>
            <a:ext cx="3209925" cy="466725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en-US" sz="90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solid: true → </a:t>
            </a:r>
            <a:r>
              <a:rPr lang="zh-CN" sz="90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正则在进程生命周期内存在；</a:t>
            </a:r>
            <a:r>
              <a:rPr lang="en-US" sz="90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solid: false → </a:t>
            </a:r>
            <a:r>
              <a:rPr lang="zh-CN" sz="90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用</a:t>
            </a:r>
            <a:r>
              <a:rPr lang="en-US" sz="90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f_cache.HeapCache </a:t>
            </a:r>
            <a:r>
              <a:rPr lang="zh-CN" sz="90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缓存，最多</a:t>
            </a:r>
            <a:r>
              <a:rPr lang="en-US" sz="90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10000 </a:t>
            </a:r>
            <a:r>
              <a:rPr lang="zh-CN" sz="90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个、寿命一天。</a:t>
            </a:r>
            <a:endParaRPr lang="zh-CN" sz="900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89" name="文本框 288" descr="{&quot;isTemplate&quot;:true,&quot;type&quot;:&quot;text&quot;}"/>
          <p:cNvSpPr txBox="1"/>
          <p:nvPr/>
        </p:nvSpPr>
        <p:spPr>
          <a:xfrm>
            <a:off x="781050" y="5153025"/>
            <a:ext cx="3209925" cy="962025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75000"/>
              </a:lnSpc>
            </a:pPr>
            <a:r>
              <a:rPr lang="zh-CN" sz="900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编译正则是有成本的。热路径上反复</a:t>
            </a:r>
            <a:r>
              <a:rPr lang="en-US" sz="900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 str.regex() </a:t>
            </a:r>
            <a:r>
              <a:rPr lang="zh-CN" sz="900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而不用缓存，是很多服务的隐形</a:t>
            </a:r>
            <a:r>
              <a:rPr lang="en-US" sz="900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 CPU </a:t>
            </a:r>
            <a:r>
              <a:rPr lang="zh-CN" sz="900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杀手。</a:t>
            </a:r>
            <a:r>
              <a:rPr lang="en-US" sz="900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f_util.PathPattern </a:t>
            </a:r>
            <a:r>
              <a:rPr lang="zh-CN" sz="900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编译路径时的正则预处理就是用</a:t>
            </a:r>
            <a:r>
              <a:rPr lang="en-US" sz="900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 solid: true </a:t>
            </a:r>
            <a:r>
              <a:rPr lang="zh-CN" sz="900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建的</a:t>
            </a:r>
            <a:r>
              <a:rPr lang="en-US" sz="900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 —— </a:t>
            </a:r>
            <a:r>
              <a:rPr lang="zh-CN" sz="900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进程内编译一次、复用一生。</a:t>
            </a:r>
            <a:endParaRPr lang="zh-CN" sz="900">
              <a:solidFill>
                <a:srgbClr val="F59E0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90" name="圆角矩形 289"/>
          <p:cNvSpPr/>
          <p:nvPr/>
        </p:nvSpPr>
        <p:spPr>
          <a:xfrm>
            <a:off x="4314825" y="1143000"/>
            <a:ext cx="3562350" cy="5143500"/>
          </a:xfrm>
          <a:prstGeom prst="roundRect">
            <a:avLst>
              <a:gd name="adj" fmla="val 3209"/>
            </a:avLst>
          </a:prstGeom>
          <a:solidFill>
            <a:srgbClr val="111C2E"/>
          </a:solidFill>
          <a:ln w="12700">
            <a:solidFill>
              <a:srgbClr val="1E293B"/>
            </a:solidFill>
            <a:prstDash val="solid"/>
          </a:ln>
        </p:spPr>
        <p:txBody>
          <a:bodyPr/>
          <a:p/>
        </p:txBody>
      </p:sp>
      <p:sp>
        <p:nvSpPr>
          <p:cNvPr id="291" name="文本框 290" descr="{&quot;isTemplate&quot;:true,&quot;type&quot;:&quot;text&quot;}"/>
          <p:cNvSpPr txBox="1"/>
          <p:nvPr/>
        </p:nvSpPr>
        <p:spPr>
          <a:xfrm>
            <a:off x="4486275" y="1314450"/>
            <a:ext cx="3219450" cy="2095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 b="1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f_rx</a:t>
            </a:r>
            <a:endParaRPr lang="en-US" sz="1350" b="1">
              <a:solidFill>
                <a:srgbClr val="E2E8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92" name="文本框 291" descr="{&quot;isTemplate&quot;:true,&quot;type&quot;:&quot;text&quot;}"/>
          <p:cNvSpPr txBox="1"/>
          <p:nvPr/>
        </p:nvSpPr>
        <p:spPr>
          <a:xfrm>
            <a:off x="4486275" y="1619250"/>
            <a:ext cx="3219450" cy="466725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zh-CN" sz="90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价值不在「又一套</a:t>
            </a:r>
            <a:r>
              <a:rPr lang="en-US" sz="90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Rx</a:t>
            </a:r>
            <a:r>
              <a:rPr lang="zh-CN" sz="90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」，而在于把线程模型、背压策略、错误恢复都显式化了。</a:t>
            </a:r>
            <a:endParaRPr lang="zh-CN" sz="900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93" name="文本框 292" descr="{&quot;isTemplate&quot;:true,&quot;type&quot;:&quot;text&quot;}"/>
          <p:cNvSpPr txBox="1"/>
          <p:nvPr/>
        </p:nvSpPr>
        <p:spPr>
          <a:xfrm>
            <a:off x="4486275" y="2162175"/>
            <a:ext cx="3219450" cy="466725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zh-CN" sz="90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六种创建：</a:t>
            </a:r>
            <a:r>
              <a:rPr lang="en-US" sz="90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iterable / emitter / single / maybe / empty / concat</a:t>
            </a:r>
            <a:endParaRPr lang="en-US" sz="900">
              <a:solidFill>
                <a:srgbClr val="E2E8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94" name="文本框 293" descr="{&quot;isTemplate&quot;:true,&quot;type&quot;:&quot;text&quot;}"/>
          <p:cNvSpPr txBox="1"/>
          <p:nvPr/>
        </p:nvSpPr>
        <p:spPr>
          <a:xfrm>
            <a:off x="4486275" y="2686050"/>
            <a:ext cx="3219450" cy="704850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zh-CN" sz="90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四种处理策略：</a:t>
            </a:r>
            <a:r>
              <a:rPr lang="en-US" sz="90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withAlwaysNew</a:t>
            </a:r>
            <a:r>
              <a:rPr lang="zh-CN" sz="90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（每条数据开新线程）</a:t>
            </a:r>
            <a:r>
              <a:rPr lang="en-US" sz="90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/ withCurrent</a:t>
            </a:r>
            <a:r>
              <a:rPr lang="zh-CN" sz="90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（当前线程）</a:t>
            </a:r>
            <a:r>
              <a:rPr lang="en-US" sz="90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/ withSingle</a:t>
            </a:r>
            <a:r>
              <a:rPr lang="zh-CN" sz="90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（固定一个线程）</a:t>
            </a:r>
            <a:r>
              <a:rPr lang="en-US" sz="90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/ withFixed</a:t>
            </a:r>
            <a:r>
              <a:rPr lang="zh-CN" sz="90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（固定若干线程，支持背压）</a:t>
            </a:r>
            <a:endParaRPr lang="zh-CN" sz="900">
              <a:solidFill>
                <a:srgbClr val="E2E8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95" name="文本框 294" descr="{&quot;isTemplate&quot;:true,&quot;type&quot;:&quot;text&quot;}"/>
          <p:cNvSpPr txBox="1"/>
          <p:nvPr/>
        </p:nvSpPr>
        <p:spPr>
          <a:xfrm>
            <a:off x="4486275" y="3467100"/>
            <a:ext cx="3219450" cy="933450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zh-CN" sz="900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背压只有</a:t>
            </a:r>
            <a:r>
              <a:rPr lang="en-US" sz="900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 withSingle / withFixed </a:t>
            </a:r>
            <a:r>
              <a:rPr lang="zh-CN" sz="900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支持</a:t>
            </a:r>
            <a:r>
              <a:rPr lang="en-US" sz="900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 —— </a:t>
            </a:r>
            <a:r>
              <a:rPr lang="zh-CN" sz="900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只有固定线程池才有「队列满了」这件事。策略八个：</a:t>
            </a:r>
            <a:r>
              <a:rPr lang="en-US" sz="900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Discarding / ToDropOldest / AlwaysBlocking / Throwing / Current / NewThread / Action / AfterBlockingOrCurrent</a:t>
            </a:r>
            <a:r>
              <a:rPr lang="zh-CN" sz="900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。</a:t>
            </a:r>
            <a:endParaRPr lang="zh-CN" sz="900">
              <a:solidFill>
                <a:srgbClr val="F59E0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96" name="文本框 295" descr="{&quot;isTemplate&quot;:true,&quot;type&quot;:&quot;text&quot;}"/>
          <p:cNvSpPr txBox="1"/>
          <p:nvPr/>
        </p:nvSpPr>
        <p:spPr>
          <a:xfrm>
            <a:off x="4486275" y="4476750"/>
            <a:ext cx="3219450" cy="704850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en-US" sz="90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setErrorResumer </a:t>
            </a:r>
            <a:r>
              <a:rPr lang="zh-CN" sz="90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五个重载做错误恢复；</a:t>
            </a:r>
            <a:r>
              <a:rPr lang="en-US" sz="90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replaySize(capacity) </a:t>
            </a:r>
            <a:r>
              <a:rPr lang="zh-CN" sz="90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做重放；每个创建函数都有</a:t>
            </a:r>
            <a:r>
              <a:rPr lang="en-US" sz="90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asyncCombined </a:t>
            </a:r>
            <a:r>
              <a:rPr lang="zh-CN" sz="90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命名参数，决定多观察者各自开线程还是共用。</a:t>
            </a:r>
            <a:endParaRPr lang="zh-CN" sz="900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97" name="文本框 296" descr="{&quot;isTemplate&quot;:true,&quot;type&quot;:&quot;text&quot;}"/>
          <p:cNvSpPr txBox="1"/>
          <p:nvPr/>
        </p:nvSpPr>
        <p:spPr>
          <a:xfrm>
            <a:off x="4486275" y="5648325"/>
            <a:ext cx="3219450" cy="466725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zh-CN" sz="90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没有观察者时会自动暂停产出，直到注册新观察者并重新启动；</a:t>
            </a:r>
            <a:r>
              <a:rPr lang="en-US" sz="90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disposed_ </a:t>
            </a:r>
            <a:r>
              <a:rPr lang="zh-CN" sz="90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是</a:t>
            </a:r>
            <a:r>
              <a:rPr lang="en-US" sz="90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 AtomicBool</a:t>
            </a:r>
            <a:r>
              <a:rPr lang="zh-CN" sz="90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，每次取下一批数据前检查。</a:t>
            </a:r>
            <a:endParaRPr lang="zh-CN" sz="90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98" name="圆角矩形 297"/>
          <p:cNvSpPr/>
          <p:nvPr/>
        </p:nvSpPr>
        <p:spPr>
          <a:xfrm>
            <a:off x="8029575" y="1143000"/>
            <a:ext cx="3552825" cy="5143500"/>
          </a:xfrm>
          <a:prstGeom prst="roundRect">
            <a:avLst>
              <a:gd name="adj" fmla="val 3217"/>
            </a:avLst>
          </a:prstGeom>
          <a:solidFill>
            <a:srgbClr val="38BDF8">
              <a:alpha val="6000"/>
            </a:srgbClr>
          </a:solidFill>
          <a:ln w="12700">
            <a:solidFill>
              <a:srgbClr val="38BDF8"/>
            </a:solidFill>
            <a:prstDash val="solid"/>
          </a:ln>
        </p:spPr>
        <p:txBody>
          <a:bodyPr/>
          <a:p/>
        </p:txBody>
      </p:sp>
      <p:sp>
        <p:nvSpPr>
          <p:cNvPr id="299" name="文本框 298" descr="{&quot;isTemplate&quot;:true,&quot;type&quot;:&quot;text&quot;}"/>
          <p:cNvSpPr txBox="1"/>
          <p:nvPr/>
        </p:nvSpPr>
        <p:spPr>
          <a:xfrm>
            <a:off x="8201025" y="1314450"/>
            <a:ext cx="3209925" cy="2095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 b="1">
                <a:solidFill>
                  <a:srgbClr val="38BDF8"/>
                </a:solidFill>
                <a:latin typeface="微软雅黑" panose="020B0503020204020204" charset="-122"/>
                <a:ea typeface="微软雅黑" panose="020B0503020204020204" charset="-122"/>
              </a:rPr>
              <a:t>f_random</a:t>
            </a:r>
            <a:endParaRPr lang="en-US" sz="1350" b="1">
              <a:solidFill>
                <a:srgbClr val="38BDF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00" name="文本框 299" descr="{&quot;isTemplate&quot;:true,&quot;type&quot;:&quot;text&quot;}"/>
          <p:cNvSpPr txBox="1"/>
          <p:nvPr/>
        </p:nvSpPr>
        <p:spPr>
          <a:xfrm>
            <a:off x="8201025" y="1638300"/>
            <a:ext cx="3209925" cy="933450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zh-CN" sz="90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补标准库缺的三样：区间随机数、随机数流、随机字符串。它用</a:t>
            </a:r>
            <a:r>
              <a:rPr lang="en-US" sz="90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 extend </a:t>
            </a:r>
            <a:r>
              <a:rPr lang="zh-CN" sz="90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把能力扩展到</a:t>
            </a:r>
            <a:r>
              <a:rPr lang="en-US" sz="90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 std.random.Random </a:t>
            </a:r>
            <a:r>
              <a:rPr lang="zh-CN" sz="90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与</a:t>
            </a:r>
            <a:r>
              <a:rPr lang="en-US" sz="90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 SecureRandom </a:t>
            </a:r>
            <a:r>
              <a:rPr lang="zh-CN" sz="90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上</a:t>
            </a:r>
            <a:r>
              <a:rPr lang="en-US" sz="90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 —— API </a:t>
            </a:r>
            <a:r>
              <a:rPr lang="zh-CN" sz="90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是「加在原类上」的，不用换类型。</a:t>
            </a:r>
            <a:endParaRPr lang="zh-CN" sz="900">
              <a:solidFill>
                <a:srgbClr val="E2E8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01" name="文本框 300" descr="{&quot;isTemplate&quot;:true,&quot;type&quot;:&quot;text&quot;}"/>
          <p:cNvSpPr txBox="1"/>
          <p:nvPr/>
        </p:nvSpPr>
        <p:spPr>
          <a:xfrm>
            <a:off x="8201025" y="2647950"/>
            <a:ext cx="3209925" cy="466725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zh-CN" sz="90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区间随机：</a:t>
            </a:r>
            <a:r>
              <a:rPr lang="en-US" sz="90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nextInt64 / nextUInt64 / nextInt32 / nextUInt32 / nextFloat64 / nextFloat32(min, max, closed!)</a:t>
            </a:r>
            <a:r>
              <a:rPr lang="zh-CN" sz="90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。</a:t>
            </a:r>
            <a:endParaRPr lang="zh-CN" sz="900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02" name="文本框 301" descr="{&quot;isTemplate&quot;:true,&quot;type&quot;:&quot;text&quot;}"/>
          <p:cNvSpPr txBox="1"/>
          <p:nvPr/>
        </p:nvSpPr>
        <p:spPr>
          <a:xfrm>
            <a:off x="8201025" y="3171825"/>
            <a:ext cx="3209925" cy="466725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zh-CN" sz="90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随机流：</a:t>
            </a:r>
            <a:r>
              <a:rPr lang="en-US" sz="90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rand.randomInt64(0, 10) </a:t>
            </a:r>
            <a:r>
              <a:rPr lang="zh-CN" sz="90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返回无限</a:t>
            </a:r>
            <a:r>
              <a:rPr lang="en-US" sz="90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Iterator</a:t>
            </a:r>
            <a:r>
              <a:rPr lang="zh-CN" sz="90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，</a:t>
            </a:r>
            <a:r>
              <a:rPr lang="en-US" sz="90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next() </a:t>
            </a:r>
            <a:r>
              <a:rPr lang="zh-CN" sz="90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永远返回</a:t>
            </a:r>
            <a:r>
              <a:rPr lang="en-US" sz="90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Some</a:t>
            </a:r>
            <a:r>
              <a:rPr lang="zh-CN" sz="90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；也有高斯分布流。</a:t>
            </a:r>
            <a:endParaRPr lang="zh-CN" sz="900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03" name="文本框 302" descr="{&quot;isTemplate&quot;:true,&quot;type&quot;:&quot;text&quot;}"/>
          <p:cNvSpPr txBox="1"/>
          <p:nvPr/>
        </p:nvSpPr>
        <p:spPr>
          <a:xfrm>
            <a:off x="8201025" y="3695700"/>
            <a:ext cx="3209925" cy="466725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zh-CN" sz="90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随机字符串：</a:t>
            </a:r>
            <a:r>
              <a:rPr lang="en-US" sz="90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RandomString().randomLowerHex(32) </a:t>
            </a:r>
            <a:r>
              <a:rPr lang="zh-CN" sz="90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就是</a:t>
            </a:r>
            <a:r>
              <a:rPr lang="en-US" sz="90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fboot randhex </a:t>
            </a:r>
            <a:r>
              <a:rPr lang="zh-CN" sz="90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的实现。</a:t>
            </a:r>
            <a:endParaRPr lang="zh-CN" sz="900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04" name="文本框 303" descr="{&quot;isTemplate&quot;:true,&quot;type&quot;:&quot;text&quot;}"/>
          <p:cNvSpPr txBox="1"/>
          <p:nvPr/>
        </p:nvSpPr>
        <p:spPr>
          <a:xfrm>
            <a:off x="8201025" y="4238625"/>
            <a:ext cx="3209925" cy="704850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en-US" sz="900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ThreadLocalRandom.current </a:t>
            </a:r>
            <a:r>
              <a:rPr lang="zh-CN" sz="900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是线程本地</a:t>
            </a:r>
            <a:r>
              <a:rPr lang="en-US" sz="900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 SecureRandom</a:t>
            </a:r>
            <a:r>
              <a:rPr lang="zh-CN" sz="900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；</a:t>
            </a:r>
            <a:r>
              <a:rPr lang="en-US" sz="900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RandomString </a:t>
            </a:r>
            <a:r>
              <a:rPr lang="zh-CN" sz="900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无参构造默认就用它</a:t>
            </a:r>
            <a:r>
              <a:rPr lang="en-US" sz="900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 —— </a:t>
            </a:r>
            <a:r>
              <a:rPr lang="zh-CN" sz="900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所以默认实例天然线程安全，高并发生成</a:t>
            </a:r>
            <a:r>
              <a:rPr lang="en-US" sz="900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 token / </a:t>
            </a:r>
            <a:r>
              <a:rPr lang="zh-CN" sz="900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验证码</a:t>
            </a:r>
            <a:r>
              <a:rPr lang="en-US" sz="900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 / </a:t>
            </a:r>
            <a:r>
              <a:rPr lang="zh-CN" sz="900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盐值用它就对了。</a:t>
            </a:r>
            <a:endParaRPr lang="zh-CN" sz="900">
              <a:solidFill>
                <a:srgbClr val="F59E0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05" name="文本框 304" descr="{&quot;isTemplate&quot;:true,&quot;type&quot;:&quot;text&quot;}"/>
          <p:cNvSpPr txBox="1"/>
          <p:nvPr/>
        </p:nvSpPr>
        <p:spPr>
          <a:xfrm>
            <a:off x="8201025" y="4943475"/>
            <a:ext cx="3209925" cy="1171575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en-US" sz="90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randomReservoir(count, source) </a:t>
            </a:r>
            <a:r>
              <a:rPr lang="zh-CN" sz="90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只需遍历一次就能随机取</a:t>
            </a:r>
            <a:r>
              <a:rPr lang="en-US" sz="90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count </a:t>
            </a:r>
            <a:r>
              <a:rPr lang="zh-CN" sz="90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个，不需要事先知道总数</a:t>
            </a:r>
            <a:r>
              <a:rPr lang="en-US" sz="90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—— </a:t>
            </a:r>
            <a:r>
              <a:rPr lang="zh-CN" sz="90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适合流式数据或超大集合抽样。注意它的已知行为：浮点</a:t>
            </a:r>
            <a:r>
              <a:rPr lang="en-US" sz="90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closed </a:t>
            </a:r>
            <a:r>
              <a:rPr lang="zh-CN" sz="90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可能超过上界、整数版先转浮点会丢精度、区间参数不校验、</a:t>
            </a:r>
            <a:r>
              <a:rPr lang="en-US" sz="90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(min, max) </a:t>
            </a:r>
            <a:r>
              <a:rPr lang="zh-CN" sz="90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重载有三处字符集与命名不符、</a:t>
            </a:r>
            <a:r>
              <a:rPr lang="en-US" sz="90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randomReservoir </a:t>
            </a:r>
            <a:r>
              <a:rPr lang="zh-CN" sz="90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的抽样并非严格均匀。</a:t>
            </a:r>
            <a:endParaRPr lang="zh-CN" sz="900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06" name="任意多边形 305"/>
          <p:cNvSpPr/>
          <p:nvPr/>
        </p:nvSpPr>
        <p:spPr>
          <a:xfrm>
            <a:off x="609600" y="6286500"/>
            <a:ext cx="10972800" cy="381000"/>
          </a:xfrm>
          <a:custGeom>
            <a:avLst/>
            <a:gdLst/>
            <a:ahLst/>
            <a:cxnLst/>
            <a:pathLst>
              <a:path w="1152" h="40">
                <a:moveTo>
                  <a:pt x="0" y="0"/>
                </a:moveTo>
                <a:lnTo>
                  <a:pt x="1152" y="0"/>
                </a:lnTo>
                <a:lnTo>
                  <a:pt x="1152" y="1"/>
                </a:lnTo>
                <a:lnTo>
                  <a:pt x="0" y="1"/>
                </a:lnTo>
                <a:close/>
              </a:path>
            </a:pathLst>
          </a:custGeom>
          <a:solidFill>
            <a:srgbClr val="1E293B"/>
          </a:solidFill>
        </p:spPr>
        <p:txBody>
          <a:bodyPr/>
          <a:p/>
        </p:txBody>
      </p:sp>
      <p:sp>
        <p:nvSpPr>
          <p:cNvPr id="307" name="文本框 306" descr="{&quot;isTemplate&quot;:true,&quot;type&quot;:&quot;text&quot;}"/>
          <p:cNvSpPr txBox="1"/>
          <p:nvPr/>
        </p:nvSpPr>
        <p:spPr>
          <a:xfrm>
            <a:off x="609600" y="6410325"/>
            <a:ext cx="2219325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fountain · 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一站式服务器应用开发工具库</a:t>
            </a:r>
            <a:endParaRPr lang="zh-CN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08" name="文本框 307" descr="{&quot;isTemplate&quot;:true,&quot;type&quot;:&quot;text&quot;}"/>
          <p:cNvSpPr txBox="1"/>
          <p:nvPr/>
        </p:nvSpPr>
        <p:spPr>
          <a:xfrm>
            <a:off x="11020425" y="6410325"/>
            <a:ext cx="561975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108 / 116</a:t>
            </a:r>
            <a:endParaRPr lang="en-US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0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矩形 309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220"/>
          </a:solidFill>
        </p:spPr>
        <p:txBody>
          <a:bodyPr/>
          <a:p/>
        </p:txBody>
      </p:sp>
      <p:sp>
        <p:nvSpPr>
          <p:cNvPr id="311" name="矩形 310"/>
          <p:cNvSpPr/>
          <p:nvPr/>
        </p:nvSpPr>
        <p:spPr>
          <a:xfrm>
            <a:off x="609600" y="476250"/>
            <a:ext cx="38100" cy="381000"/>
          </a:xfrm>
          <a:prstGeom prst="rect">
            <a:avLst/>
          </a:prstGeom>
          <a:solidFill>
            <a:srgbClr val="38BDF8"/>
          </a:solidFill>
        </p:spPr>
        <p:txBody>
          <a:bodyPr/>
          <a:p/>
        </p:txBody>
      </p:sp>
      <p:sp>
        <p:nvSpPr>
          <p:cNvPr id="312" name="文本框 311" descr="{&quot;isTemplate&quot;:true,&quot;type&quot;:&quot;text&quot;}"/>
          <p:cNvSpPr txBox="1"/>
          <p:nvPr/>
        </p:nvSpPr>
        <p:spPr>
          <a:xfrm>
            <a:off x="819150" y="304800"/>
            <a:ext cx="9725025" cy="2095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第</a:t>
            </a: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 18 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章</a:t>
            </a: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 · 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常见坑与</a:t>
            </a: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 Q&amp;A · 18.1</a:t>
            </a:r>
            <a:endParaRPr lang="en-US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13" name="文本框 312" descr="{&quot;isTemplate&quot;:true,&quot;type&quot;:&quot;text&quot;}"/>
          <p:cNvSpPr txBox="1"/>
          <p:nvPr/>
        </p:nvSpPr>
        <p:spPr>
          <a:xfrm>
            <a:off x="819150" y="514350"/>
            <a:ext cx="9725025" cy="5143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2550" b="1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二十二个高频坑（</a:t>
            </a:r>
            <a:r>
              <a:rPr lang="en-US" sz="2550" b="1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1–11</a:t>
            </a:r>
            <a:r>
              <a:rPr lang="zh-CN" sz="2550" b="1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）</a:t>
            </a:r>
            <a:endParaRPr lang="zh-CN" sz="2550" b="1">
              <a:solidFill>
                <a:srgbClr val="E2E8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14" name="文本框 313" descr="{&quot;isTemplate&quot;:true,&quot;type&quot;:&quot;text&quot;}"/>
          <p:cNvSpPr txBox="1"/>
          <p:nvPr/>
        </p:nvSpPr>
        <p:spPr>
          <a:xfrm>
            <a:off x="10715625" y="590550"/>
            <a:ext cx="866775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每一条都省半天</a:t>
            </a:r>
            <a:endParaRPr lang="zh-CN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graphicFrame>
        <p:nvGraphicFramePr>
          <p:cNvPr id="315" name="表格 314"/>
          <p:cNvGraphicFramePr/>
          <p:nvPr/>
        </p:nvGraphicFramePr>
        <p:xfrm>
          <a:off x="609600" y="1143000"/>
          <a:ext cx="10972800" cy="5143500"/>
        </p:xfrm>
        <a:graphic>
          <a:graphicData uri="http://schemas.openxmlformats.org/drawingml/2006/table">
            <a:tbl>
              <a:tblPr/>
              <a:tblGrid>
                <a:gridCol w="231235"/>
                <a:gridCol w="3564263"/>
                <a:gridCol w="7177302"/>
              </a:tblGrid>
              <a:tr h="385897"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 b="1">
                          <a:solidFill>
                            <a:srgbClr val="22D3EE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#</a:t>
                      </a:r>
                      <a:endParaRPr sz="975" b="1">
                        <a:solidFill>
                          <a:srgbClr val="22D3EE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6233A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 b="1">
                          <a:solidFill>
                            <a:srgbClr val="22D3EE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现象</a:t>
                      </a:r>
                      <a:endParaRPr sz="975" b="1">
                        <a:solidFill>
                          <a:srgbClr val="22D3EE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6233A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 b="1">
                          <a:solidFill>
                            <a:srgbClr val="22D3EE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原因 / 解法</a:t>
                      </a:r>
                      <a:endParaRPr sz="975" b="1">
                        <a:solidFill>
                          <a:srgbClr val="22D3EE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6233A"/>
                    </a:solidFill>
                  </a:tcPr>
                </a:tc>
              </a:tr>
              <a:tr h="385897"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1</a:t>
                      </a:r>
                      <a:endParaRPr sz="975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fboot 起不来，报找不到动态链接库</a:t>
                      </a:r>
                      <a:endParaRPr sz="975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LD_LIBRARY_PATH 没带 ~/.cjpm/libs/fboot 和 stdx 动态链接库路径</a:t>
                      </a:r>
                      <a:endParaRPr sz="975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385897"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2</a:t>
                      </a:r>
                      <a:endParaRPr sz="975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F59E0B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bean 明明写了却不生效</a:t>
                      </a:r>
                      <a:endParaRPr sz="975">
                        <a:solidFill>
                          <a:srgbClr val="F59E0B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F59E0B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它所在的动态链接库没被 --dylibPattern 匹配到（鉴权器、切面、定时任务尤其致命）</a:t>
                      </a:r>
                      <a:endParaRPr sz="975">
                        <a:solidFill>
                          <a:srgbClr val="F59E0B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385897"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3</a:t>
                      </a:r>
                      <a:endParaRPr sz="975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改了依赖后各种诡异错误</a:t>
                      </a:r>
                      <a:endParaRPr sz="975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fboot cleanUpdate 一把梭</a:t>
                      </a:r>
                      <a:endParaRPr sz="975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385897"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4</a:t>
                      </a:r>
                      <a:endParaRPr sz="975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定时任务不执行</a:t>
                      </a:r>
                      <a:endParaRPr sz="975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同第 2 条</a:t>
                      </a:r>
                      <a:endParaRPr sz="975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642263"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5</a:t>
                      </a:r>
                      <a:endParaRPr sz="975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F59E0B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事务没生效</a:t>
                      </a:r>
                      <a:endParaRPr sz="975">
                        <a:solidFill>
                          <a:srgbClr val="F59E0B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F59E0B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Service 用了 @Bean 而不是 @TransactionalService；或方法名没被 orm_transactionalFuncExecution 命中；也没加 @Transactional</a:t>
                      </a:r>
                      <a:endParaRPr sz="975">
                        <a:solidFill>
                          <a:srgbClr val="F59E0B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642263"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6</a:t>
                      </a:r>
                      <a:endParaRPr sz="975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cannot execute SQL while a previous query result is still active</a:t>
                      </a:r>
                      <a:endParaRPr sz="975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同一个 SqlExecutor 上一次结果没关闭就又执行</a:t>
                      </a:r>
                      <a:endParaRPr sz="975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385897"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7</a:t>
                      </a:r>
                      <a:endParaRPr sz="975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DAO 报「不是 select」</a:t>
                      </a:r>
                      <a:endParaRPr sz="975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page 系列要求 SQL 以 select 开头</a:t>
                      </a:r>
                      <a:endParaRPr sz="975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385897"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8</a:t>
                      </a:r>
                      <a:endParaRPr sz="975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tableColumns().xxx 找不到</a:t>
                      </a:r>
                      <a:endParaRPr sz="975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属性名是列名（save_time），不是成员名（saveTime）</a:t>
                      </a:r>
                      <a:endParaRPr sz="975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385897"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9</a:t>
                      </a:r>
                      <a:endParaRPr sz="975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宏报 must be modified by public var or public mut prop</a:t>
                      </a:r>
                      <a:endParaRPr sz="975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@ORMField 的约束</a:t>
                      </a:r>
                      <a:endParaRPr sz="975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385897"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10</a:t>
                      </a:r>
                      <a:endParaRPr sz="975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fboot run 卡住不动</a:t>
                      </a:r>
                      <a:endParaRPr sz="975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这是预期行为，它永久阻塞；另开终端发请求</a:t>
                      </a:r>
                      <a:endParaRPr sz="975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385897"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11</a:t>
                      </a:r>
                      <a:endParaRPr sz="975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populate 之后目标对象字段是空的</a:t>
                      </a:r>
                      <a:endParaRPr sz="975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目标类没加 @DataAssist[fields]；或默认 SILENCE 把「字段不存在 / 类型不匹配 / 无法转换」静默跳过了（见第八章）</a:t>
                      </a:r>
                      <a:endParaRPr sz="975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</a:tbl>
          </a:graphicData>
        </a:graphic>
      </p:graphicFrame>
      <p:sp>
        <p:nvSpPr>
          <p:cNvPr id="316" name="任意多边形 315"/>
          <p:cNvSpPr/>
          <p:nvPr/>
        </p:nvSpPr>
        <p:spPr>
          <a:xfrm>
            <a:off x="609600" y="6286500"/>
            <a:ext cx="10972800" cy="381000"/>
          </a:xfrm>
          <a:custGeom>
            <a:avLst/>
            <a:gdLst/>
            <a:ahLst/>
            <a:cxnLst/>
            <a:pathLst>
              <a:path w="1152" h="40">
                <a:moveTo>
                  <a:pt x="0" y="0"/>
                </a:moveTo>
                <a:lnTo>
                  <a:pt x="1152" y="0"/>
                </a:lnTo>
                <a:lnTo>
                  <a:pt x="1152" y="1"/>
                </a:lnTo>
                <a:lnTo>
                  <a:pt x="0" y="1"/>
                </a:lnTo>
                <a:close/>
              </a:path>
            </a:pathLst>
          </a:custGeom>
          <a:solidFill>
            <a:srgbClr val="1E293B"/>
          </a:solidFill>
        </p:spPr>
        <p:txBody>
          <a:bodyPr/>
          <a:p/>
        </p:txBody>
      </p:sp>
      <p:sp>
        <p:nvSpPr>
          <p:cNvPr id="317" name="文本框 316" descr="{&quot;isTemplate&quot;:true,&quot;type&quot;:&quot;text&quot;}"/>
          <p:cNvSpPr txBox="1"/>
          <p:nvPr/>
        </p:nvSpPr>
        <p:spPr>
          <a:xfrm>
            <a:off x="609600" y="6410325"/>
            <a:ext cx="2219325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fountain · 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一站式服务器应用开发工具库</a:t>
            </a:r>
            <a:endParaRPr lang="zh-CN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18" name="文本框 317" descr="{&quot;isTemplate&quot;:true,&quot;type&quot;:&quot;text&quot;}"/>
          <p:cNvSpPr txBox="1"/>
          <p:nvPr/>
        </p:nvSpPr>
        <p:spPr>
          <a:xfrm>
            <a:off x="11020425" y="6410325"/>
            <a:ext cx="561975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109 / 116</a:t>
            </a:r>
            <a:endParaRPr lang="en-US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4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矩形 34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220"/>
          </a:solidFill>
        </p:spPr>
        <p:txBody>
          <a:bodyPr/>
          <a:p/>
        </p:txBody>
      </p:sp>
      <p:sp>
        <p:nvSpPr>
          <p:cNvPr id="343" name="矩形 342"/>
          <p:cNvSpPr/>
          <p:nvPr/>
        </p:nvSpPr>
        <p:spPr>
          <a:xfrm>
            <a:off x="609600" y="476250"/>
            <a:ext cx="38100" cy="381000"/>
          </a:xfrm>
          <a:prstGeom prst="rect">
            <a:avLst/>
          </a:prstGeom>
          <a:solidFill>
            <a:srgbClr val="38BDF8"/>
          </a:solidFill>
        </p:spPr>
        <p:txBody>
          <a:bodyPr/>
          <a:p/>
        </p:txBody>
      </p:sp>
      <p:sp>
        <p:nvSpPr>
          <p:cNvPr id="344" name="文本框 343" descr="{&quot;isTemplate&quot;:true,&quot;type&quot;:&quot;text&quot;}"/>
          <p:cNvSpPr txBox="1"/>
          <p:nvPr/>
        </p:nvSpPr>
        <p:spPr>
          <a:xfrm>
            <a:off x="819150" y="304800"/>
            <a:ext cx="9972675" cy="2095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第</a:t>
            </a: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 18 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章</a:t>
            </a: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 · 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常见坑与</a:t>
            </a: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 Q&amp;A · 18.1</a:t>
            </a:r>
            <a:endParaRPr lang="en-US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45" name="文本框 344" descr="{&quot;isTemplate&quot;:true,&quot;type&quot;:&quot;text&quot;}"/>
          <p:cNvSpPr txBox="1"/>
          <p:nvPr/>
        </p:nvSpPr>
        <p:spPr>
          <a:xfrm>
            <a:off x="819150" y="514350"/>
            <a:ext cx="9972675" cy="5143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2550" b="1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二十二个高频坑（</a:t>
            </a:r>
            <a:r>
              <a:rPr lang="en-US" sz="2550" b="1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12–22</a:t>
            </a:r>
            <a:r>
              <a:rPr lang="zh-CN" sz="2550" b="1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）</a:t>
            </a:r>
            <a:endParaRPr lang="zh-CN" sz="2550" b="1">
              <a:solidFill>
                <a:srgbClr val="E2E8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46" name="文本框 345" descr="{&quot;isTemplate&quot;:true,&quot;type&quot;:&quot;text&quot;}"/>
          <p:cNvSpPr txBox="1"/>
          <p:nvPr/>
        </p:nvSpPr>
        <p:spPr>
          <a:xfrm>
            <a:off x="10963275" y="590550"/>
            <a:ext cx="619125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压轴十一条</a:t>
            </a:r>
            <a:endParaRPr lang="zh-CN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graphicFrame>
        <p:nvGraphicFramePr>
          <p:cNvPr id="347" name="表格 346"/>
          <p:cNvGraphicFramePr/>
          <p:nvPr/>
        </p:nvGraphicFramePr>
        <p:xfrm>
          <a:off x="609600" y="1143000"/>
          <a:ext cx="10972800" cy="5143500"/>
        </p:xfrm>
        <a:graphic>
          <a:graphicData uri="http://schemas.openxmlformats.org/drawingml/2006/table">
            <a:tbl>
              <a:tblPr/>
              <a:tblGrid>
                <a:gridCol w="228786"/>
                <a:gridCol w="3169046"/>
                <a:gridCol w="7574968"/>
              </a:tblGrid>
              <a:tr h="385897"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 b="1">
                          <a:solidFill>
                            <a:srgbClr val="22D3EE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#</a:t>
                      </a:r>
                      <a:endParaRPr sz="975" b="1">
                        <a:solidFill>
                          <a:srgbClr val="22D3EE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6233A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 b="1">
                          <a:solidFill>
                            <a:srgbClr val="22D3EE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现象</a:t>
                      </a:r>
                      <a:endParaRPr sz="975" b="1">
                        <a:solidFill>
                          <a:srgbClr val="22D3EE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6233A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 b="1">
                          <a:solidFill>
                            <a:srgbClr val="22D3EE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原因 / 解法</a:t>
                      </a:r>
                      <a:endParaRPr sz="975" b="1">
                        <a:solidFill>
                          <a:srgbClr val="22D3EE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6233A"/>
                    </a:solidFill>
                  </a:tcPr>
                </a:tc>
              </a:tr>
              <a:tr h="385897"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12</a:t>
                      </a:r>
                      <a:endParaRPr sz="975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endParaRPr sz="975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endParaRPr sz="975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385897"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13</a:t>
                      </a:r>
                      <a:endParaRPr sz="975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F59E0B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自定义格式报 is an illegal MediaType string</a:t>
                      </a:r>
                      <a:endParaRPr sz="975">
                        <a:solidFill>
                          <a:srgbClr val="F59E0B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F59E0B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自定义 MediaType 漏了 @Bean，或它所在的动态库没被 --dylibPattern 匹配到（见第十一章）</a:t>
                      </a:r>
                      <a:endParaRPr sz="975">
                        <a:solidFill>
                          <a:srgbClr val="F59E0B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385897"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14</a:t>
                      </a:r>
                      <a:endParaRPr sz="975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上传的文件在磁盘上堆积</a:t>
                      </a:r>
                      <a:endParaRPr sz="975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MultipartFile 是 Resource，用完必须 close() —— close() 才会删掉临时文件</a:t>
                      </a:r>
                      <a:endParaRPr sz="975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385897"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15</a:t>
                      </a:r>
                      <a:endParaRPr sz="975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改了配置却不生效</a:t>
                      </a:r>
                      <a:endParaRPr sz="975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有编译期内嵌值被运行期覆盖了（或反过来）；或用了 fountain_ 前缀却写成了原名。按第四章四级优先级逐层排查</a:t>
                      </a:r>
                      <a:endParaRPr sz="975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385897"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16</a:t>
                      </a:r>
                      <a:endParaRPr sz="975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Config.set 之后相关模块没刷新</a:t>
                      </a:r>
                      <a:endParaRPr sz="975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已知问题：refresher 的前缀匹配恒不成立，set 不会触发任何刷新回调（见 4.8）</a:t>
                      </a:r>
                      <a:endParaRPr sz="975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642263"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17</a:t>
                      </a:r>
                      <a:endParaRPr sz="975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TreeTransformer.transform 抛 IllegalArgumentException</a:t>
                      </a:r>
                      <a:endParaRPr sz="975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源数据里有重复 id（ignoreDuplicate 默认 false），或 transferFn 返回了 None（见第九章）</a:t>
                      </a:r>
                      <a:endParaRPr sz="975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385897"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18</a:t>
                      </a:r>
                      <a:endParaRPr sz="975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endParaRPr sz="975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endParaRPr sz="975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385897"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19</a:t>
                      </a:r>
                      <a:endParaRPr sz="975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缓存对象「取了就续期」，永远不过期</a:t>
                      </a:r>
                      <a:endParaRPr sz="975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HeapCache 默认是非一次性对象（滑动窗口）。要绝对过期请 set(..., once: true) 或用 prolong(key, deathTime)</a:t>
                      </a:r>
                      <a:endParaRPr sz="975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385897"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20</a:t>
                      </a:r>
                      <a:endParaRPr sz="975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热路径上反复 str.regex() 导致 CPU 高</a:t>
                      </a:r>
                      <a:endParaRPr sz="975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正则编译没走缓存。用 regex(solid: true)（进程内常驻）或 solid: false（HeapCache，1 万条 / 1 天）</a:t>
                      </a:r>
                      <a:endParaRPr sz="975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385897"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21</a:t>
                      </a:r>
                      <a:endParaRPr sz="975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F59E0B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日志一条都不输出</a:t>
                      </a:r>
                      <a:endParaRPr sz="975">
                        <a:solidFill>
                          <a:srgbClr val="F59E0B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F59E0B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f_log 默认静默：不配 appender 就没有输出通道。至少 logger_appender_console=【你起的名字】（见 15.2）</a:t>
                      </a:r>
                      <a:endParaRPr sz="975">
                        <a:solidFill>
                          <a:srgbClr val="F59E0B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642263"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22</a:t>
                      </a:r>
                      <a:endParaRPr sz="975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想只给某个包开 DEBUG，配不出来</a:t>
                      </a:r>
                      <a:endParaRPr sz="975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级别挂在 appender 上（logger_appender_【你起的名字】_level），不是挂在 logger 名字上，没有名字树；来源用 pattern 里的 %name 区分</a:t>
                      </a:r>
                      <a:endParaRPr sz="975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</a:tbl>
          </a:graphicData>
        </a:graphic>
      </p:graphicFrame>
      <p:sp>
        <p:nvSpPr>
          <p:cNvPr id="348" name="任意多边形 347"/>
          <p:cNvSpPr/>
          <p:nvPr/>
        </p:nvSpPr>
        <p:spPr>
          <a:xfrm>
            <a:off x="609600" y="6286500"/>
            <a:ext cx="10972800" cy="381000"/>
          </a:xfrm>
          <a:custGeom>
            <a:avLst/>
            <a:gdLst/>
            <a:ahLst/>
            <a:cxnLst/>
            <a:pathLst>
              <a:path w="1152" h="40">
                <a:moveTo>
                  <a:pt x="0" y="0"/>
                </a:moveTo>
                <a:lnTo>
                  <a:pt x="1152" y="0"/>
                </a:lnTo>
                <a:lnTo>
                  <a:pt x="1152" y="1"/>
                </a:lnTo>
                <a:lnTo>
                  <a:pt x="0" y="1"/>
                </a:lnTo>
                <a:close/>
              </a:path>
            </a:pathLst>
          </a:custGeom>
          <a:solidFill>
            <a:srgbClr val="1E293B"/>
          </a:solidFill>
        </p:spPr>
        <p:txBody>
          <a:bodyPr/>
          <a:p/>
        </p:txBody>
      </p:sp>
      <p:sp>
        <p:nvSpPr>
          <p:cNvPr id="349" name="文本框 348" descr="{&quot;isTemplate&quot;:true,&quot;type&quot;:&quot;text&quot;}"/>
          <p:cNvSpPr txBox="1"/>
          <p:nvPr/>
        </p:nvSpPr>
        <p:spPr>
          <a:xfrm>
            <a:off x="609600" y="6410325"/>
            <a:ext cx="2219325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fountain · 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一站式服务器应用开发工具库</a:t>
            </a:r>
            <a:endParaRPr lang="zh-CN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50" name="文本框 349" descr="{&quot;isTemplate&quot;:true,&quot;type&quot;:&quot;text&quot;}"/>
          <p:cNvSpPr txBox="1"/>
          <p:nvPr/>
        </p:nvSpPr>
        <p:spPr>
          <a:xfrm>
            <a:off x="11020425" y="6410325"/>
            <a:ext cx="561975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110 / 116</a:t>
            </a:r>
            <a:endParaRPr lang="en-US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5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矩形 35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220"/>
          </a:solidFill>
        </p:spPr>
        <p:txBody>
          <a:bodyPr/>
          <a:p/>
        </p:txBody>
      </p:sp>
      <p:sp>
        <p:nvSpPr>
          <p:cNvPr id="353" name="矩形 352"/>
          <p:cNvSpPr/>
          <p:nvPr/>
        </p:nvSpPr>
        <p:spPr>
          <a:xfrm>
            <a:off x="609600" y="476250"/>
            <a:ext cx="38100" cy="381000"/>
          </a:xfrm>
          <a:prstGeom prst="rect">
            <a:avLst/>
          </a:prstGeom>
          <a:solidFill>
            <a:srgbClr val="38BDF8"/>
          </a:solidFill>
        </p:spPr>
        <p:txBody>
          <a:bodyPr/>
          <a:p/>
        </p:txBody>
      </p:sp>
      <p:sp>
        <p:nvSpPr>
          <p:cNvPr id="354" name="文本框 353" descr="{&quot;isTemplate&quot;:true,&quot;type&quot;:&quot;text&quot;}"/>
          <p:cNvSpPr txBox="1"/>
          <p:nvPr/>
        </p:nvSpPr>
        <p:spPr>
          <a:xfrm>
            <a:off x="819150" y="304800"/>
            <a:ext cx="9601200" cy="2095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第</a:t>
            </a: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 18 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章</a:t>
            </a: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 · 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常见坑与</a:t>
            </a: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 Q&amp;A · 18.2</a:t>
            </a:r>
            <a:endParaRPr lang="en-US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55" name="文本框 354" descr="{&quot;isTemplate&quot;:true,&quot;type&quot;:&quot;text&quot;}"/>
          <p:cNvSpPr txBox="1"/>
          <p:nvPr/>
        </p:nvSpPr>
        <p:spPr>
          <a:xfrm>
            <a:off x="819150" y="514350"/>
            <a:ext cx="9601200" cy="5143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2550" b="1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预设</a:t>
            </a:r>
            <a:r>
              <a:rPr lang="en-US" sz="2550" b="1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 Q&amp;A</a:t>
            </a:r>
            <a:r>
              <a:rPr lang="zh-CN" sz="2550" b="1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（一）</a:t>
            </a:r>
            <a:endParaRPr lang="zh-CN" sz="2550" b="1">
              <a:solidFill>
                <a:srgbClr val="E2E8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56" name="文本框 355" descr="{&quot;isTemplate&quot;:true,&quot;type&quot;:&quot;text&quot;}"/>
          <p:cNvSpPr txBox="1"/>
          <p:nvPr/>
        </p:nvSpPr>
        <p:spPr>
          <a:xfrm>
            <a:off x="10591800" y="590550"/>
            <a:ext cx="990600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现场出现概率最高</a:t>
            </a:r>
            <a:endParaRPr lang="zh-CN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57" name="圆角矩形 356"/>
          <p:cNvSpPr/>
          <p:nvPr/>
        </p:nvSpPr>
        <p:spPr>
          <a:xfrm>
            <a:off x="609600" y="1143000"/>
            <a:ext cx="3552825" cy="5143500"/>
          </a:xfrm>
          <a:prstGeom prst="roundRect">
            <a:avLst>
              <a:gd name="adj" fmla="val 3217"/>
            </a:avLst>
          </a:prstGeom>
          <a:solidFill>
            <a:srgbClr val="111C2E"/>
          </a:solidFill>
          <a:ln w="12700">
            <a:solidFill>
              <a:srgbClr val="38BDF8"/>
            </a:solidFill>
            <a:prstDash val="solid"/>
          </a:ln>
        </p:spPr>
        <p:txBody>
          <a:bodyPr/>
          <a:p/>
        </p:txBody>
      </p:sp>
      <p:sp>
        <p:nvSpPr>
          <p:cNvPr id="358" name="文本框 357" descr="{&quot;isTemplate&quot;:true,&quot;type&quot;:&quot;text&quot;}"/>
          <p:cNvSpPr txBox="1"/>
          <p:nvPr/>
        </p:nvSpPr>
        <p:spPr>
          <a:xfrm>
            <a:off x="819150" y="1352550"/>
            <a:ext cx="3133725" cy="1714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38BDF8"/>
                </a:solidFill>
                <a:latin typeface="微软雅黑" panose="020B0503020204020204" charset="-122"/>
                <a:ea typeface="微软雅黑" panose="020B0503020204020204" charset="-122"/>
              </a:rPr>
              <a:t>Q</a:t>
            </a:r>
            <a:r>
              <a:rPr lang="zh-CN" sz="1125" b="1">
                <a:solidFill>
                  <a:srgbClr val="38BDF8"/>
                </a:solidFill>
                <a:latin typeface="微软雅黑" panose="020B0503020204020204" charset="-122"/>
                <a:ea typeface="微软雅黑" panose="020B0503020204020204" charset="-122"/>
              </a:rPr>
              <a:t>：能不用动态链接库吗？</a:t>
            </a:r>
            <a:endParaRPr lang="zh-CN" sz="1125" b="1">
              <a:solidFill>
                <a:srgbClr val="38BDF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59" name="文本框 358" descr="{&quot;isTemplate&quot;:true,&quot;type&quot;:&quot;text&quot;}"/>
          <p:cNvSpPr txBox="1"/>
          <p:nvPr/>
        </p:nvSpPr>
        <p:spPr>
          <a:xfrm>
            <a:off x="819150" y="1657350"/>
            <a:ext cx="3133725" cy="581025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80000"/>
              </a:lnSpc>
            </a:pPr>
            <a:r>
              <a:rPr lang="en-US" sz="105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IOC / AOP / ORM </a:t>
            </a:r>
            <a:r>
              <a:rPr lang="zh-CN" sz="105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这些能力本身不依赖动态链接库，但</a:t>
            </a:r>
            <a:r>
              <a:rPr lang="en-US" sz="105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 fboot run </a:t>
            </a:r>
            <a:r>
              <a:rPr lang="zh-CN" sz="105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的「扫描加载」机制依赖它。</a:t>
            </a:r>
            <a:endParaRPr lang="zh-CN" sz="1050">
              <a:solidFill>
                <a:srgbClr val="E2E8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60" name="文本框 359" descr="{&quot;isTemplate&quot;:true,&quot;type&quot;:&quot;text&quot;}"/>
          <p:cNvSpPr txBox="1"/>
          <p:nvPr/>
        </p:nvSpPr>
        <p:spPr>
          <a:xfrm>
            <a:off x="819150" y="2333625"/>
            <a:ext cx="3133725" cy="581025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80000"/>
              </a:lnSpc>
            </a:pPr>
            <a:r>
              <a:rPr lang="zh-CN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用</a:t>
            </a:r>
            <a:r>
              <a:rPr lang="en-US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App(..., dynamic: false) </a:t>
            </a:r>
            <a:r>
              <a:rPr lang="zh-CN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可以不扫描，此时只有内置命令和静态链接进来的子命令可用。</a:t>
            </a:r>
            <a:endParaRPr lang="zh-CN" sz="1050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61" name="文本框 360" descr="{&quot;isTemplate&quot;:true,&quot;type&quot;:&quot;text&quot;}"/>
          <p:cNvSpPr txBox="1"/>
          <p:nvPr/>
        </p:nvSpPr>
        <p:spPr>
          <a:xfrm>
            <a:off x="819150" y="5781675"/>
            <a:ext cx="3133725" cy="2952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80000"/>
              </a:lnSpc>
            </a:pPr>
            <a:r>
              <a:rPr lang="zh-CN" sz="1050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代价：业务</a:t>
            </a:r>
            <a:r>
              <a:rPr lang="en-US" sz="1050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 bean </a:t>
            </a:r>
            <a:r>
              <a:rPr lang="zh-CN" sz="1050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需要你自己保证已被加载。</a:t>
            </a:r>
            <a:endParaRPr lang="zh-CN" sz="1050">
              <a:solidFill>
                <a:srgbClr val="F59E0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62" name="圆角矩形 361"/>
          <p:cNvSpPr/>
          <p:nvPr/>
        </p:nvSpPr>
        <p:spPr>
          <a:xfrm>
            <a:off x="4314825" y="1143000"/>
            <a:ext cx="3562350" cy="5143500"/>
          </a:xfrm>
          <a:prstGeom prst="roundRect">
            <a:avLst>
              <a:gd name="adj" fmla="val 3209"/>
            </a:avLst>
          </a:prstGeom>
          <a:solidFill>
            <a:srgbClr val="111C2E"/>
          </a:solidFill>
          <a:ln w="12700">
            <a:solidFill>
              <a:srgbClr val="1E293B"/>
            </a:solidFill>
            <a:prstDash val="solid"/>
          </a:ln>
        </p:spPr>
        <p:txBody>
          <a:bodyPr/>
          <a:p/>
        </p:txBody>
      </p:sp>
      <p:sp>
        <p:nvSpPr>
          <p:cNvPr id="363" name="文本框 362" descr="{&quot;isTemplate&quot;:true,&quot;type&quot;:&quot;text&quot;}"/>
          <p:cNvSpPr txBox="1"/>
          <p:nvPr/>
        </p:nvSpPr>
        <p:spPr>
          <a:xfrm>
            <a:off x="4524375" y="1352550"/>
            <a:ext cx="3143250" cy="1714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Q</a:t>
            </a:r>
            <a:r>
              <a:rPr lang="zh-CN" sz="1125" b="1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：性能如何？</a:t>
            </a:r>
            <a:endParaRPr lang="zh-CN" sz="1125" b="1">
              <a:solidFill>
                <a:srgbClr val="E2E8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64" name="文本框 363" descr="{&quot;isTemplate&quot;:true,&quot;type&quot;:&quot;text&quot;}"/>
          <p:cNvSpPr txBox="1"/>
          <p:nvPr/>
        </p:nvSpPr>
        <p:spPr>
          <a:xfrm>
            <a:off x="4524375" y="1657350"/>
            <a:ext cx="3143250" cy="2952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80000"/>
              </a:lnSpc>
            </a:pPr>
            <a:r>
              <a:rPr lang="en-US" sz="105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fboot build </a:t>
            </a:r>
            <a:r>
              <a:rPr lang="zh-CN" sz="105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默认带</a:t>
            </a:r>
            <a:r>
              <a:rPr lang="en-US" sz="105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 -O2 --lto=full</a:t>
            </a:r>
            <a:r>
              <a:rPr lang="zh-CN" sz="105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。</a:t>
            </a:r>
            <a:endParaRPr lang="zh-CN" sz="1050">
              <a:solidFill>
                <a:srgbClr val="E2E8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65" name="文本框 364" descr="{&quot;isTemplate&quot;:true,&quot;type&quot;:&quot;text&quot;}"/>
          <p:cNvSpPr txBox="1"/>
          <p:nvPr/>
        </p:nvSpPr>
        <p:spPr>
          <a:xfrm>
            <a:off x="4524375" y="2028825"/>
            <a:ext cx="3143250" cy="581025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80000"/>
              </a:lnSpc>
            </a:pPr>
            <a:r>
              <a:rPr lang="en-US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ORM </a:t>
            </a:r>
            <a:r>
              <a:rPr lang="zh-CN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有结果缓存（可按驱动关）；连接池可选</a:t>
            </a:r>
            <a:r>
              <a:rPr lang="en-US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fountain </a:t>
            </a:r>
            <a:r>
              <a:rPr lang="zh-CN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池</a:t>
            </a:r>
            <a:r>
              <a:rPr lang="en-US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/ </a:t>
            </a:r>
            <a:r>
              <a:rPr lang="zh-CN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标准库池</a:t>
            </a:r>
            <a:r>
              <a:rPr lang="en-US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/ </a:t>
            </a:r>
            <a:r>
              <a:rPr lang="zh-CN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第三方池。</a:t>
            </a:r>
            <a:endParaRPr lang="zh-CN" sz="1050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66" name="文本框 365" descr="{&quot;isTemplate&quot;:true,&quot;type&quot;:&quot;text&quot;}"/>
          <p:cNvSpPr txBox="1"/>
          <p:nvPr/>
        </p:nvSpPr>
        <p:spPr>
          <a:xfrm>
            <a:off x="4524375" y="2686050"/>
            <a:ext cx="3143250" cy="581025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80000"/>
              </a:lnSpc>
            </a:pPr>
            <a:r>
              <a:rPr lang="en-US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boot.sh </a:t>
            </a:r>
            <a:r>
              <a:rPr lang="zh-CN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里还有</a:t>
            </a:r>
            <a:r>
              <a:rPr lang="en-US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perfRecord / perfReport</a:t>
            </a:r>
            <a:r>
              <a:rPr lang="zh-CN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（</a:t>
            </a:r>
            <a:r>
              <a:rPr lang="en-US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cjprof</a:t>
            </a:r>
            <a:r>
              <a:rPr lang="zh-CN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）和</a:t>
            </a:r>
            <a:r>
              <a:rPr lang="en-US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loop / ab</a:t>
            </a:r>
            <a:r>
              <a:rPr lang="zh-CN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，可以直接做基线测量。</a:t>
            </a:r>
            <a:endParaRPr lang="zh-CN" sz="1050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67" name="文本框 366" descr="{&quot;isTemplate&quot;:true,&quot;type&quot;:&quot;text&quot;}"/>
          <p:cNvSpPr txBox="1"/>
          <p:nvPr/>
        </p:nvSpPr>
        <p:spPr>
          <a:xfrm>
            <a:off x="4524375" y="5781675"/>
            <a:ext cx="3143250" cy="2952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80000"/>
              </a:lnSpc>
            </a:pPr>
            <a:r>
              <a:rPr lang="zh-CN" sz="1050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不要凭感觉谈性能，先跑</a:t>
            </a:r>
            <a:r>
              <a:rPr lang="en-US" sz="1050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 ./boot.sh ab 16 10000</a:t>
            </a:r>
            <a:r>
              <a:rPr lang="zh-CN" sz="1050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。</a:t>
            </a:r>
            <a:endParaRPr lang="zh-CN" sz="1050">
              <a:solidFill>
                <a:srgbClr val="F59E0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68" name="圆角矩形 367"/>
          <p:cNvSpPr/>
          <p:nvPr/>
        </p:nvSpPr>
        <p:spPr>
          <a:xfrm>
            <a:off x="8029575" y="1143000"/>
            <a:ext cx="3552825" cy="5143500"/>
          </a:xfrm>
          <a:prstGeom prst="roundRect">
            <a:avLst>
              <a:gd name="adj" fmla="val 3217"/>
            </a:avLst>
          </a:prstGeom>
          <a:solidFill>
            <a:srgbClr val="111C2E"/>
          </a:solidFill>
          <a:ln w="12700">
            <a:solidFill>
              <a:srgbClr val="1E293B"/>
            </a:solidFill>
            <a:prstDash val="solid"/>
          </a:ln>
        </p:spPr>
        <p:txBody>
          <a:bodyPr/>
          <a:p/>
        </p:txBody>
      </p:sp>
      <p:sp>
        <p:nvSpPr>
          <p:cNvPr id="369" name="文本框 368" descr="{&quot;isTemplate&quot;:true,&quot;type&quot;:&quot;text&quot;}"/>
          <p:cNvSpPr txBox="1"/>
          <p:nvPr/>
        </p:nvSpPr>
        <p:spPr>
          <a:xfrm>
            <a:off x="8239125" y="1352550"/>
            <a:ext cx="3133725" cy="1714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Q</a:t>
            </a:r>
            <a:r>
              <a:rPr lang="zh-CN" sz="1125" b="1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：能只用一个模块吗？</a:t>
            </a:r>
            <a:endParaRPr lang="zh-CN" sz="1125" b="1">
              <a:solidFill>
                <a:srgbClr val="E2E8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70" name="文本框 369" descr="{&quot;isTemplate&quot;:true,&quot;type&quot;:&quot;text&quot;}"/>
          <p:cNvSpPr txBox="1"/>
          <p:nvPr/>
        </p:nvSpPr>
        <p:spPr>
          <a:xfrm>
            <a:off x="8239125" y="1657350"/>
            <a:ext cx="3133725" cy="581025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80000"/>
              </a:lnSpc>
            </a:pPr>
            <a:r>
              <a:rPr lang="zh-CN" sz="105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可以。</a:t>
            </a:r>
            <a:r>
              <a:rPr lang="en-US" sz="105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f_base</a:t>
            </a:r>
            <a:r>
              <a:rPr lang="zh-CN" sz="105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、</a:t>
            </a:r>
            <a:r>
              <a:rPr lang="en-US" sz="105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f_io</a:t>
            </a:r>
            <a:r>
              <a:rPr lang="zh-CN" sz="105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、</a:t>
            </a:r>
            <a:r>
              <a:rPr lang="en-US" sz="105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f_util</a:t>
            </a:r>
            <a:r>
              <a:rPr lang="zh-CN" sz="105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、</a:t>
            </a:r>
            <a:r>
              <a:rPr lang="en-US" sz="105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f_collection</a:t>
            </a:r>
            <a:r>
              <a:rPr lang="zh-CN" sz="105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、</a:t>
            </a:r>
            <a:r>
              <a:rPr lang="en-US" sz="105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f_crypto</a:t>
            </a:r>
            <a:r>
              <a:rPr lang="zh-CN" sz="105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、</a:t>
            </a:r>
            <a:r>
              <a:rPr lang="en-US" sz="105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f_random </a:t>
            </a:r>
            <a:r>
              <a:rPr lang="zh-CN" sz="105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等都是独立可用的工具库。</a:t>
            </a:r>
            <a:endParaRPr lang="zh-CN" sz="1050">
              <a:solidFill>
                <a:srgbClr val="E2E8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71" name="文本框 370" descr="{&quot;isTemplate&quot;:true,&quot;type&quot;:&quot;text&quot;}"/>
          <p:cNvSpPr txBox="1"/>
          <p:nvPr/>
        </p:nvSpPr>
        <p:spPr>
          <a:xfrm>
            <a:off x="8239125" y="2333625"/>
            <a:ext cx="3133725" cy="2952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80000"/>
              </a:lnSpc>
            </a:pPr>
            <a:r>
              <a:rPr lang="zh-CN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在</a:t>
            </a:r>
            <a:r>
              <a:rPr lang="en-US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cjpm.toml </a:t>
            </a:r>
            <a:r>
              <a:rPr lang="zh-CN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里只加你需要的那一个即可。</a:t>
            </a:r>
            <a:endParaRPr lang="zh-CN" sz="1050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72" name="文本框 371" descr="{&quot;isTemplate&quot;:true,&quot;type&quot;:&quot;text&quot;}"/>
          <p:cNvSpPr txBox="1"/>
          <p:nvPr/>
        </p:nvSpPr>
        <p:spPr>
          <a:xfrm>
            <a:off x="8239125" y="5495925"/>
            <a:ext cx="3133725" cy="581025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80000"/>
              </a:lnSpc>
            </a:pPr>
            <a:r>
              <a:rPr lang="zh-CN" sz="1050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比如只想要随机字符串和区间随机数，就只引</a:t>
            </a:r>
            <a:r>
              <a:rPr lang="en-US" sz="1050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 f_random —— </a:t>
            </a:r>
            <a:r>
              <a:rPr lang="zh-CN" sz="1050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它只依赖</a:t>
            </a:r>
            <a:r>
              <a:rPr lang="en-US" sz="1050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 f_base</a:t>
            </a:r>
            <a:r>
              <a:rPr lang="zh-CN" sz="1050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。</a:t>
            </a:r>
            <a:endParaRPr lang="zh-CN" sz="1050">
              <a:solidFill>
                <a:srgbClr val="F59E0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73" name="任意多边形 372"/>
          <p:cNvSpPr/>
          <p:nvPr/>
        </p:nvSpPr>
        <p:spPr>
          <a:xfrm>
            <a:off x="609600" y="6286500"/>
            <a:ext cx="10972800" cy="381000"/>
          </a:xfrm>
          <a:custGeom>
            <a:avLst/>
            <a:gdLst/>
            <a:ahLst/>
            <a:cxnLst/>
            <a:pathLst>
              <a:path w="1152" h="40">
                <a:moveTo>
                  <a:pt x="0" y="0"/>
                </a:moveTo>
                <a:lnTo>
                  <a:pt x="1152" y="0"/>
                </a:lnTo>
                <a:lnTo>
                  <a:pt x="1152" y="1"/>
                </a:lnTo>
                <a:lnTo>
                  <a:pt x="0" y="1"/>
                </a:lnTo>
                <a:close/>
              </a:path>
            </a:pathLst>
          </a:custGeom>
          <a:solidFill>
            <a:srgbClr val="1E293B"/>
          </a:solidFill>
        </p:spPr>
        <p:txBody>
          <a:bodyPr/>
          <a:p/>
        </p:txBody>
      </p:sp>
      <p:sp>
        <p:nvSpPr>
          <p:cNvPr id="374" name="文本框 373" descr="{&quot;isTemplate&quot;:true,&quot;type&quot;:&quot;text&quot;}"/>
          <p:cNvSpPr txBox="1"/>
          <p:nvPr/>
        </p:nvSpPr>
        <p:spPr>
          <a:xfrm>
            <a:off x="609600" y="6410325"/>
            <a:ext cx="2219325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fountain · 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一站式服务器应用开发工具库</a:t>
            </a:r>
            <a:endParaRPr lang="zh-CN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75" name="文本框 374" descr="{&quot;isTemplate&quot;:true,&quot;type&quot;:&quot;text&quot;}"/>
          <p:cNvSpPr txBox="1"/>
          <p:nvPr/>
        </p:nvSpPr>
        <p:spPr>
          <a:xfrm>
            <a:off x="11020425" y="6410325"/>
            <a:ext cx="561975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111 / 116</a:t>
            </a:r>
            <a:endParaRPr lang="en-US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7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" name="矩形 376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220"/>
          </a:solidFill>
        </p:spPr>
        <p:txBody>
          <a:bodyPr/>
          <a:p/>
        </p:txBody>
      </p:sp>
      <p:sp>
        <p:nvSpPr>
          <p:cNvPr id="378" name="矩形 377"/>
          <p:cNvSpPr/>
          <p:nvPr/>
        </p:nvSpPr>
        <p:spPr>
          <a:xfrm>
            <a:off x="609600" y="476250"/>
            <a:ext cx="38100" cy="381000"/>
          </a:xfrm>
          <a:prstGeom prst="rect">
            <a:avLst/>
          </a:prstGeom>
          <a:solidFill>
            <a:srgbClr val="38BDF8"/>
          </a:solidFill>
        </p:spPr>
        <p:txBody>
          <a:bodyPr/>
          <a:p/>
        </p:txBody>
      </p:sp>
      <p:sp>
        <p:nvSpPr>
          <p:cNvPr id="379" name="文本框 378" descr="{&quot;isTemplate&quot;:true,&quot;type&quot;:&quot;text&quot;}"/>
          <p:cNvSpPr txBox="1"/>
          <p:nvPr/>
        </p:nvSpPr>
        <p:spPr>
          <a:xfrm>
            <a:off x="819150" y="304800"/>
            <a:ext cx="9848850" cy="2095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第</a:t>
            </a: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 18 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章</a:t>
            </a: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 · 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常见坑与</a:t>
            </a: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 Q&amp;A · 18.2 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续</a:t>
            </a:r>
            <a:endParaRPr lang="zh-CN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80" name="文本框 379" descr="{&quot;isTemplate&quot;:true,&quot;type&quot;:&quot;text&quot;}"/>
          <p:cNvSpPr txBox="1"/>
          <p:nvPr/>
        </p:nvSpPr>
        <p:spPr>
          <a:xfrm>
            <a:off x="819150" y="514350"/>
            <a:ext cx="9848850" cy="5143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2550" b="1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预设</a:t>
            </a:r>
            <a:r>
              <a:rPr lang="en-US" sz="2550" b="1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 Q&amp;A</a:t>
            </a:r>
            <a:r>
              <a:rPr lang="zh-CN" sz="2550" b="1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（二）</a:t>
            </a:r>
            <a:endParaRPr lang="zh-CN" sz="2550" b="1">
              <a:solidFill>
                <a:srgbClr val="E2E8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81" name="文本框 380" descr="{&quot;isTemplate&quot;:true,&quot;type&quot;:&quot;text&quot;}"/>
          <p:cNvSpPr txBox="1"/>
          <p:nvPr/>
        </p:nvSpPr>
        <p:spPr>
          <a:xfrm>
            <a:off x="10839450" y="590550"/>
            <a:ext cx="742950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与第四章呼应</a:t>
            </a:r>
            <a:endParaRPr lang="zh-CN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82" name="圆角矩形 381"/>
          <p:cNvSpPr/>
          <p:nvPr/>
        </p:nvSpPr>
        <p:spPr>
          <a:xfrm>
            <a:off x="609600" y="1143000"/>
            <a:ext cx="3552825" cy="5143500"/>
          </a:xfrm>
          <a:prstGeom prst="roundRect">
            <a:avLst>
              <a:gd name="adj" fmla="val 3217"/>
            </a:avLst>
          </a:prstGeom>
          <a:solidFill>
            <a:srgbClr val="111C2E"/>
          </a:solidFill>
          <a:ln w="12700">
            <a:solidFill>
              <a:srgbClr val="38BDF8"/>
            </a:solidFill>
            <a:prstDash val="solid"/>
          </a:ln>
        </p:spPr>
        <p:txBody>
          <a:bodyPr/>
          <a:p/>
        </p:txBody>
      </p:sp>
      <p:sp>
        <p:nvSpPr>
          <p:cNvPr id="383" name="文本框 382" descr="{&quot;isTemplate&quot;:true,&quot;type&quot;:&quot;text&quot;}"/>
          <p:cNvSpPr txBox="1"/>
          <p:nvPr/>
        </p:nvSpPr>
        <p:spPr>
          <a:xfrm>
            <a:off x="819150" y="1352550"/>
            <a:ext cx="3133725" cy="342900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38BDF8"/>
                </a:solidFill>
                <a:latin typeface="微软雅黑" panose="020B0503020204020204" charset="-122"/>
                <a:ea typeface="微软雅黑" panose="020B0503020204020204" charset="-122"/>
              </a:rPr>
              <a:t>Q</a:t>
            </a:r>
            <a:r>
              <a:rPr lang="zh-CN" sz="1125" b="1">
                <a:solidFill>
                  <a:srgbClr val="38BDF8"/>
                </a:solidFill>
                <a:latin typeface="微软雅黑" panose="020B0503020204020204" charset="-122"/>
                <a:ea typeface="微软雅黑" panose="020B0503020204020204" charset="-122"/>
              </a:rPr>
              <a:t>：没有配置文件，本地开发怎么管理几十个配置项？</a:t>
            </a:r>
            <a:endParaRPr lang="zh-CN" sz="1125" b="1">
              <a:solidFill>
                <a:srgbClr val="38BDF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84" name="文本框 383" descr="{&quot;isTemplate&quot;:true,&quot;type&quot;:&quot;text&quot;}"/>
          <p:cNvSpPr txBox="1"/>
          <p:nvPr/>
        </p:nvSpPr>
        <p:spPr>
          <a:xfrm>
            <a:off x="819150" y="1828800"/>
            <a:ext cx="3133725" cy="866775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80000"/>
              </a:lnSpc>
            </a:pPr>
            <a:r>
              <a:rPr lang="zh-CN" sz="105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写进启动脚本。</a:t>
            </a:r>
            <a:r>
              <a:rPr lang="en-US" sz="105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fdemo/boot.sh </a:t>
            </a:r>
            <a:r>
              <a:rPr lang="zh-CN" sz="105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的</a:t>
            </a:r>
            <a:r>
              <a:rPr lang="en-US" sz="105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 exports() </a:t>
            </a:r>
            <a:r>
              <a:rPr lang="zh-CN" sz="105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函数就是标准答案</a:t>
            </a:r>
            <a:r>
              <a:rPr lang="en-US" sz="105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 —— </a:t>
            </a:r>
            <a:r>
              <a:rPr lang="zh-CN" sz="105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所有</a:t>
            </a:r>
            <a:r>
              <a:rPr lang="en-US" sz="105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 export </a:t>
            </a:r>
            <a:r>
              <a:rPr lang="zh-CN" sz="105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集中在一个地方，</a:t>
            </a:r>
            <a:r>
              <a:rPr lang="en-US" sz="105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fboot run </a:t>
            </a:r>
            <a:r>
              <a:rPr lang="zh-CN" sz="105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之前</a:t>
            </a:r>
            <a:r>
              <a:rPr lang="en-US" sz="105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 source </a:t>
            </a:r>
            <a:r>
              <a:rPr lang="zh-CN" sz="105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一下。</a:t>
            </a:r>
            <a:endParaRPr lang="zh-CN" sz="1050">
              <a:solidFill>
                <a:srgbClr val="E2E8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85" name="文本框 384" descr="{&quot;isTemplate&quot;:true,&quot;type&quot;:&quot;text&quot;}"/>
          <p:cNvSpPr txBox="1"/>
          <p:nvPr/>
        </p:nvSpPr>
        <p:spPr>
          <a:xfrm>
            <a:off x="819150" y="5495925"/>
            <a:ext cx="3133725" cy="581025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80000"/>
              </a:lnSpc>
            </a:pPr>
            <a:r>
              <a:rPr lang="zh-CN" sz="1050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容器化时这些</a:t>
            </a:r>
            <a:r>
              <a:rPr lang="en-US" sz="1050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 export </a:t>
            </a:r>
            <a:r>
              <a:rPr lang="zh-CN" sz="1050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换成</a:t>
            </a:r>
            <a:r>
              <a:rPr lang="en-US" sz="1050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 ConfigMap / Secret </a:t>
            </a:r>
            <a:r>
              <a:rPr lang="zh-CN" sz="1050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即可，</a:t>
            </a:r>
            <a:r>
              <a:rPr lang="en-US" sz="1050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f_config </a:t>
            </a:r>
            <a:r>
              <a:rPr lang="zh-CN" sz="1050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的读取逻辑一行不用改。</a:t>
            </a:r>
            <a:endParaRPr lang="zh-CN" sz="1050">
              <a:solidFill>
                <a:srgbClr val="F59E0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86" name="圆角矩形 385"/>
          <p:cNvSpPr/>
          <p:nvPr/>
        </p:nvSpPr>
        <p:spPr>
          <a:xfrm>
            <a:off x="4314825" y="1143000"/>
            <a:ext cx="3562350" cy="5143500"/>
          </a:xfrm>
          <a:prstGeom prst="roundRect">
            <a:avLst>
              <a:gd name="adj" fmla="val 3209"/>
            </a:avLst>
          </a:prstGeom>
          <a:solidFill>
            <a:srgbClr val="111C2E"/>
          </a:solidFill>
          <a:ln w="12700">
            <a:solidFill>
              <a:srgbClr val="1E293B"/>
            </a:solidFill>
            <a:prstDash val="solid"/>
          </a:ln>
        </p:spPr>
        <p:txBody>
          <a:bodyPr/>
          <a:p/>
        </p:txBody>
      </p:sp>
      <p:sp>
        <p:nvSpPr>
          <p:cNvPr id="387" name="文本框 386" descr="{&quot;isTemplate&quot;:true,&quot;type&quot;:&quot;text&quot;}"/>
          <p:cNvSpPr txBox="1"/>
          <p:nvPr/>
        </p:nvSpPr>
        <p:spPr>
          <a:xfrm>
            <a:off x="4524375" y="1352550"/>
            <a:ext cx="3143250" cy="342900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Q</a:t>
            </a:r>
            <a:r>
              <a:rPr lang="zh-CN" sz="1125" b="1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：</a:t>
            </a:r>
            <a:r>
              <a:rPr lang="en-US" sz="1125" b="1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--key=value </a:t>
            </a:r>
            <a:r>
              <a:rPr lang="zh-CN" sz="1125" b="1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是</a:t>
            </a:r>
            <a:r>
              <a:rPr lang="en-US" sz="1125" b="1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 fboot </a:t>
            </a:r>
            <a:r>
              <a:rPr lang="zh-CN" sz="1125" b="1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的功能吗？我自己写的程序能用吗？</a:t>
            </a:r>
            <a:endParaRPr lang="zh-CN" sz="1125" b="1">
              <a:solidFill>
                <a:srgbClr val="E2E8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88" name="文本框 387" descr="{&quot;isTemplate&quot;:true,&quot;type&quot;:&quot;text&quot;}"/>
          <p:cNvSpPr txBox="1"/>
          <p:nvPr/>
        </p:nvSpPr>
        <p:spPr>
          <a:xfrm>
            <a:off x="4524375" y="1828800"/>
            <a:ext cx="3143250" cy="1152525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80000"/>
              </a:lnSpc>
            </a:pPr>
            <a:r>
              <a:rPr lang="zh-CN" sz="105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能用，而且不需要做任何事。这不是</a:t>
            </a:r>
            <a:r>
              <a:rPr lang="en-US" sz="105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 fboot </a:t>
            </a:r>
            <a:r>
              <a:rPr lang="zh-CN" sz="105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的开关，而是</a:t>
            </a:r>
            <a:r>
              <a:rPr lang="en-US" sz="105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 f_config </a:t>
            </a:r>
            <a:r>
              <a:rPr lang="zh-CN" sz="105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模块的能力：任何链接了</a:t>
            </a:r>
            <a:r>
              <a:rPr lang="en-US" sz="105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 f_config </a:t>
            </a:r>
            <a:r>
              <a:rPr lang="zh-CN" sz="105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的仓颉进程，在</a:t>
            </a:r>
            <a:r>
              <a:rPr lang="en-US" sz="105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 static init </a:t>
            </a:r>
            <a:r>
              <a:rPr lang="zh-CN" sz="105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时都会读</a:t>
            </a:r>
            <a:r>
              <a:rPr lang="en-US" sz="105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 env.getCommandLine() </a:t>
            </a:r>
            <a:r>
              <a:rPr lang="zh-CN" sz="105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并装载</a:t>
            </a:r>
            <a:r>
              <a:rPr lang="en-US" sz="105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 --key=value</a:t>
            </a:r>
            <a:r>
              <a:rPr lang="zh-CN" sz="105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。</a:t>
            </a:r>
            <a:endParaRPr lang="zh-CN" sz="1050">
              <a:solidFill>
                <a:srgbClr val="E2E8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89" name="文本框 388" descr="{&quot;isTemplate&quot;:true,&quot;type&quot;:&quot;text&quot;}"/>
          <p:cNvSpPr txBox="1"/>
          <p:nvPr/>
        </p:nvSpPr>
        <p:spPr>
          <a:xfrm>
            <a:off x="4524375" y="3076575"/>
            <a:ext cx="3143250" cy="1152525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80000"/>
              </a:lnSpc>
            </a:pPr>
            <a:r>
              <a:rPr lang="en-US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fboot </a:t>
            </a:r>
            <a:r>
              <a:rPr lang="zh-CN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只是恰好也用了</a:t>
            </a:r>
            <a:r>
              <a:rPr lang="en-US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f_config </a:t>
            </a:r>
            <a:r>
              <a:rPr lang="zh-CN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而已</a:t>
            </a:r>
            <a:r>
              <a:rPr lang="en-US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—— fboot build / fboot run</a:t>
            </a:r>
            <a:r>
              <a:rPr lang="zh-CN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、你自己</a:t>
            </a:r>
            <a:r>
              <a:rPr lang="en-US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import f_config </a:t>
            </a:r>
            <a:r>
              <a:rPr lang="zh-CN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的</a:t>
            </a:r>
            <a:r>
              <a:rPr lang="en-US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main</a:t>
            </a:r>
            <a:r>
              <a:rPr lang="zh-CN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、甚至只是间接依赖（比如引了</a:t>
            </a:r>
            <a:r>
              <a:rPr lang="en-US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f_orm</a:t>
            </a:r>
            <a:r>
              <a:rPr lang="zh-CN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）都一视同仁。</a:t>
            </a:r>
            <a:endParaRPr lang="zh-CN" sz="1050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90" name="文本框 389" descr="{&quot;isTemplate&quot;:true,&quot;type&quot;:&quot;text&quot;}"/>
          <p:cNvSpPr txBox="1"/>
          <p:nvPr/>
        </p:nvSpPr>
        <p:spPr>
          <a:xfrm>
            <a:off x="4524375" y="5781675"/>
            <a:ext cx="3143250" cy="2952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80000"/>
              </a:lnSpc>
            </a:pPr>
            <a:r>
              <a:rPr lang="zh-CN" sz="1050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所以它是</a:t>
            </a:r>
            <a:r>
              <a:rPr lang="en-US" sz="1050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 f_config </a:t>
            </a:r>
            <a:r>
              <a:rPr lang="zh-CN" sz="1050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的能力，不是某个命令的开关。</a:t>
            </a:r>
            <a:endParaRPr lang="zh-CN" sz="1050">
              <a:solidFill>
                <a:srgbClr val="F59E0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91" name="圆角矩形 390"/>
          <p:cNvSpPr/>
          <p:nvPr/>
        </p:nvSpPr>
        <p:spPr>
          <a:xfrm>
            <a:off x="8029575" y="1143000"/>
            <a:ext cx="3552825" cy="5143500"/>
          </a:xfrm>
          <a:prstGeom prst="roundRect">
            <a:avLst>
              <a:gd name="adj" fmla="val 3217"/>
            </a:avLst>
          </a:prstGeom>
          <a:solidFill>
            <a:srgbClr val="111C2E"/>
          </a:solidFill>
          <a:ln w="12700">
            <a:solidFill>
              <a:srgbClr val="1E293B"/>
            </a:solidFill>
            <a:prstDash val="solid"/>
          </a:ln>
        </p:spPr>
        <p:txBody>
          <a:bodyPr/>
          <a:p/>
        </p:txBody>
      </p:sp>
      <p:sp>
        <p:nvSpPr>
          <p:cNvPr id="392" name="文本框 391" descr="{&quot;isTemplate&quot;:true,&quot;type&quot;:&quot;text&quot;}"/>
          <p:cNvSpPr txBox="1"/>
          <p:nvPr/>
        </p:nvSpPr>
        <p:spPr>
          <a:xfrm>
            <a:off x="8239125" y="1352550"/>
            <a:ext cx="3133725" cy="342900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Q</a:t>
            </a:r>
            <a:r>
              <a:rPr lang="zh-CN" sz="1125" b="1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：</a:t>
            </a:r>
            <a:r>
              <a:rPr lang="en-US" sz="1125" b="1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fboot build --k=v </a:t>
            </a:r>
            <a:r>
              <a:rPr lang="zh-CN" sz="1125" b="1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和</a:t>
            </a:r>
            <a:r>
              <a:rPr lang="en-US" sz="1125" b="1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 fboot run --k=v </a:t>
            </a:r>
            <a:r>
              <a:rPr lang="zh-CN" sz="1125" b="1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有什么区别？</a:t>
            </a:r>
            <a:endParaRPr lang="zh-CN" sz="1125" b="1">
              <a:solidFill>
                <a:srgbClr val="E2E8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93" name="文本框 392" descr="{&quot;isTemplate&quot;:true,&quot;type&quot;:&quot;text&quot;}"/>
          <p:cNvSpPr txBox="1"/>
          <p:nvPr/>
        </p:nvSpPr>
        <p:spPr>
          <a:xfrm>
            <a:off x="8239125" y="1828800"/>
            <a:ext cx="3133725" cy="581025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80000"/>
              </a:lnSpc>
            </a:pPr>
            <a:r>
              <a:rPr lang="zh-CN" sz="1050">
                <a:solidFill>
                  <a:srgbClr val="38BDF8"/>
                </a:solidFill>
                <a:latin typeface="微软雅黑" panose="020B0503020204020204" charset="-122"/>
                <a:ea typeface="微软雅黑" panose="020B0503020204020204" charset="-122"/>
              </a:rPr>
              <a:t>在配置的解析方式上没有任何区别</a:t>
            </a:r>
            <a:r>
              <a:rPr lang="en-US" sz="1050">
                <a:solidFill>
                  <a:srgbClr val="38BDF8"/>
                </a:solidFill>
                <a:latin typeface="微软雅黑" panose="020B0503020204020204" charset="-122"/>
                <a:ea typeface="微软雅黑" panose="020B0503020204020204" charset="-122"/>
              </a:rPr>
              <a:t> —— </a:t>
            </a:r>
            <a:r>
              <a:rPr lang="zh-CN" sz="1050">
                <a:solidFill>
                  <a:srgbClr val="38BDF8"/>
                </a:solidFill>
                <a:latin typeface="微软雅黑" panose="020B0503020204020204" charset="-122"/>
                <a:ea typeface="微软雅黑" panose="020B0503020204020204" charset="-122"/>
              </a:rPr>
              <a:t>都是</a:t>
            </a:r>
            <a:r>
              <a:rPr lang="en-US" sz="1050">
                <a:solidFill>
                  <a:srgbClr val="38BDF8"/>
                </a:solidFill>
                <a:latin typeface="微软雅黑" panose="020B0503020204020204" charset="-122"/>
                <a:ea typeface="微软雅黑" panose="020B0503020204020204" charset="-122"/>
              </a:rPr>
              <a:t> f_config </a:t>
            </a:r>
            <a:r>
              <a:rPr lang="zh-CN" sz="1050">
                <a:solidFill>
                  <a:srgbClr val="38BDF8"/>
                </a:solidFill>
                <a:latin typeface="微软雅黑" panose="020B0503020204020204" charset="-122"/>
                <a:ea typeface="微软雅黑" panose="020B0503020204020204" charset="-122"/>
              </a:rPr>
              <a:t>读当前进程的</a:t>
            </a:r>
            <a:r>
              <a:rPr lang="en-US" sz="1050">
                <a:solidFill>
                  <a:srgbClr val="38BDF8"/>
                </a:solidFill>
                <a:latin typeface="微软雅黑" panose="020B0503020204020204" charset="-122"/>
                <a:ea typeface="微软雅黑" panose="020B0503020204020204" charset="-122"/>
              </a:rPr>
              <a:t> argv</a:t>
            </a:r>
            <a:r>
              <a:rPr lang="zh-CN" sz="1050">
                <a:solidFill>
                  <a:srgbClr val="38BDF8"/>
                </a:solidFill>
                <a:latin typeface="微软雅黑" panose="020B0503020204020204" charset="-122"/>
                <a:ea typeface="微软雅黑" panose="020B0503020204020204" charset="-122"/>
              </a:rPr>
              <a:t>。</a:t>
            </a:r>
            <a:endParaRPr lang="zh-CN" sz="1050">
              <a:solidFill>
                <a:srgbClr val="38BDF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94" name="文本框 393" descr="{&quot;isTemplate&quot;:true,&quot;type&quot;:&quot;text&quot;}"/>
          <p:cNvSpPr txBox="1"/>
          <p:nvPr/>
        </p:nvSpPr>
        <p:spPr>
          <a:xfrm>
            <a:off x="8239125" y="2505075"/>
            <a:ext cx="3133725" cy="2952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80000"/>
              </a:lnSpc>
            </a:pPr>
            <a:r>
              <a:rPr lang="zh-CN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区别在这个进程要拿配置干什么：</a:t>
            </a:r>
            <a:endParaRPr lang="zh-CN" sz="1050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95" name="文本框 394" descr="{&quot;isTemplate&quot;:true,&quot;type&quot;:&quot;text&quot;}"/>
          <p:cNvSpPr txBox="1"/>
          <p:nvPr/>
        </p:nvSpPr>
        <p:spPr>
          <a:xfrm>
            <a:off x="8239125" y="2876550"/>
            <a:ext cx="3133725" cy="866775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80000"/>
              </a:lnSpc>
            </a:pPr>
            <a:r>
              <a:rPr lang="en-US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· fboot build </a:t>
            </a:r>
            <a:r>
              <a:rPr lang="zh-CN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把它转成</a:t>
            </a:r>
            <a:r>
              <a:rPr lang="en-US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cjpm build </a:t>
            </a:r>
            <a:r>
              <a:rPr lang="zh-CN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子进程的环境变量，供编译期宏（</a:t>
            </a:r>
            <a:r>
              <a:rPr lang="en-US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@EmbedSensitive</a:t>
            </a:r>
            <a:r>
              <a:rPr lang="zh-CN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、</a:t>
            </a:r>
            <a:r>
              <a:rPr lang="en-US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ORMConfig</a:t>
            </a:r>
            <a:r>
              <a:rPr lang="zh-CN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）读取并嵌入产物</a:t>
            </a:r>
            <a:endParaRPr lang="zh-CN" sz="1050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96" name="文本框 395" descr="{&quot;isTemplate&quot;:true,&quot;type&quot;:&quot;text&quot;}"/>
          <p:cNvSpPr txBox="1"/>
          <p:nvPr/>
        </p:nvSpPr>
        <p:spPr>
          <a:xfrm>
            <a:off x="8239125" y="3819525"/>
            <a:ext cx="3133725" cy="2952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80000"/>
              </a:lnSpc>
            </a:pPr>
            <a:r>
              <a:rPr lang="en-US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· fboot run </a:t>
            </a:r>
            <a:r>
              <a:rPr lang="zh-CN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让应用运行期直接读到</a:t>
            </a:r>
            <a:endParaRPr lang="zh-CN" sz="1050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97" name="文本框 396" descr="{&quot;isTemplate&quot;:true,&quot;type&quot;:&quot;text&quot;}"/>
          <p:cNvSpPr txBox="1"/>
          <p:nvPr/>
        </p:nvSpPr>
        <p:spPr>
          <a:xfrm>
            <a:off x="8239125" y="5781675"/>
            <a:ext cx="3133725" cy="2952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80000"/>
              </a:lnSpc>
            </a:pPr>
            <a:r>
              <a:rPr lang="zh-CN" sz="1050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一个影响产物，一个影响运行。</a:t>
            </a:r>
            <a:endParaRPr lang="zh-CN" sz="1050">
              <a:solidFill>
                <a:srgbClr val="F59E0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98" name="任意多边形 397"/>
          <p:cNvSpPr/>
          <p:nvPr/>
        </p:nvSpPr>
        <p:spPr>
          <a:xfrm>
            <a:off x="609600" y="6286500"/>
            <a:ext cx="10972800" cy="381000"/>
          </a:xfrm>
          <a:custGeom>
            <a:avLst/>
            <a:gdLst/>
            <a:ahLst/>
            <a:cxnLst/>
            <a:pathLst>
              <a:path w="1152" h="40">
                <a:moveTo>
                  <a:pt x="0" y="0"/>
                </a:moveTo>
                <a:lnTo>
                  <a:pt x="1152" y="0"/>
                </a:lnTo>
                <a:lnTo>
                  <a:pt x="1152" y="1"/>
                </a:lnTo>
                <a:lnTo>
                  <a:pt x="0" y="1"/>
                </a:lnTo>
                <a:close/>
              </a:path>
            </a:pathLst>
          </a:custGeom>
          <a:solidFill>
            <a:srgbClr val="1E293B"/>
          </a:solidFill>
        </p:spPr>
        <p:txBody>
          <a:bodyPr/>
          <a:p/>
        </p:txBody>
      </p:sp>
      <p:sp>
        <p:nvSpPr>
          <p:cNvPr id="399" name="文本框 398" descr="{&quot;isTemplate&quot;:true,&quot;type&quot;:&quot;text&quot;}"/>
          <p:cNvSpPr txBox="1"/>
          <p:nvPr/>
        </p:nvSpPr>
        <p:spPr>
          <a:xfrm>
            <a:off x="609600" y="6410325"/>
            <a:ext cx="2219325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fountain · 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一站式服务器应用开发工具库</a:t>
            </a:r>
            <a:endParaRPr lang="zh-CN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00" name="文本框 399" descr="{&quot;isTemplate&quot;:true,&quot;type&quot;:&quot;text&quot;}"/>
          <p:cNvSpPr txBox="1"/>
          <p:nvPr/>
        </p:nvSpPr>
        <p:spPr>
          <a:xfrm>
            <a:off x="11020425" y="6410325"/>
            <a:ext cx="561975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112 / 116</a:t>
            </a:r>
            <a:endParaRPr lang="en-US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40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" name="矩形 40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220"/>
          </a:solidFill>
        </p:spPr>
        <p:txBody>
          <a:bodyPr/>
          <a:p/>
        </p:txBody>
      </p:sp>
      <p:sp>
        <p:nvSpPr>
          <p:cNvPr id="403" name="矩形 402"/>
          <p:cNvSpPr/>
          <p:nvPr/>
        </p:nvSpPr>
        <p:spPr>
          <a:xfrm>
            <a:off x="609600" y="476250"/>
            <a:ext cx="38100" cy="381000"/>
          </a:xfrm>
          <a:prstGeom prst="rect">
            <a:avLst/>
          </a:prstGeom>
          <a:solidFill>
            <a:srgbClr val="38BDF8"/>
          </a:solidFill>
        </p:spPr>
        <p:txBody>
          <a:bodyPr/>
          <a:p/>
        </p:txBody>
      </p:sp>
      <p:sp>
        <p:nvSpPr>
          <p:cNvPr id="404" name="文本框 403" descr="{&quot;isTemplate&quot;:true,&quot;type&quot;:&quot;text&quot;}"/>
          <p:cNvSpPr txBox="1"/>
          <p:nvPr/>
        </p:nvSpPr>
        <p:spPr>
          <a:xfrm>
            <a:off x="819150" y="304800"/>
            <a:ext cx="9601200" cy="2095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附录</a:t>
            </a: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 A · 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一页速查表</a:t>
            </a:r>
            <a:endParaRPr lang="zh-CN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05" name="文本框 404" descr="{&quot;isTemplate&quot;:true,&quot;type&quot;:&quot;text&quot;}"/>
          <p:cNvSpPr txBox="1"/>
          <p:nvPr/>
        </p:nvSpPr>
        <p:spPr>
          <a:xfrm>
            <a:off x="819150" y="514350"/>
            <a:ext cx="9601200" cy="5143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2550" b="1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命令速查</a:t>
            </a:r>
            <a:endParaRPr lang="zh-CN" sz="2550" b="1">
              <a:solidFill>
                <a:srgbClr val="E2E8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06" name="文本框 405" descr="{&quot;isTemplate&quot;:true,&quot;type&quot;:&quot;text&quot;}"/>
          <p:cNvSpPr txBox="1"/>
          <p:nvPr/>
        </p:nvSpPr>
        <p:spPr>
          <a:xfrm>
            <a:off x="10591800" y="590550"/>
            <a:ext cx="990600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建议贴显示器边上</a:t>
            </a:r>
            <a:endParaRPr lang="zh-CN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07" name="圆角矩形 406"/>
          <p:cNvSpPr/>
          <p:nvPr/>
        </p:nvSpPr>
        <p:spPr>
          <a:xfrm>
            <a:off x="609600" y="1143000"/>
            <a:ext cx="10972800" cy="5143500"/>
          </a:xfrm>
          <a:prstGeom prst="roundRect">
            <a:avLst>
              <a:gd name="adj" fmla="val 2222"/>
            </a:avLst>
          </a:prstGeom>
          <a:solidFill>
            <a:srgbClr val="0B1220"/>
          </a:solidFill>
          <a:ln w="12700">
            <a:solidFill>
              <a:srgbClr val="1E293B"/>
            </a:solidFill>
            <a:prstDash val="solid"/>
          </a:ln>
        </p:spPr>
        <p:txBody>
          <a:bodyPr/>
          <a:p/>
        </p:txBody>
      </p:sp>
      <p:sp>
        <p:nvSpPr>
          <p:cNvPr id="408" name="文本框 407" descr="{&quot;isTemplate&quot;:true,&quot;type&quot;:&quot;text&quot;}"/>
          <p:cNvSpPr txBox="1"/>
          <p:nvPr/>
        </p:nvSpPr>
        <p:spPr>
          <a:xfrm>
            <a:off x="838200" y="1371600"/>
            <a:ext cx="10515600" cy="3333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205000"/>
              </a:lnSpc>
            </a:pPr>
            <a:r>
              <a:rPr lang="en-US" sz="1050">
                <a:solidFill>
                  <a:srgbClr val="E2E8F0"/>
                </a:solidFill>
                <a:latin typeface="JetBrains Mono"/>
                <a:ea typeface="JetBrains Mono"/>
              </a:rPr>
              <a:t>fboot workspace [</a:t>
            </a:r>
            <a:r>
              <a:rPr lang="zh-CN" sz="1050">
                <a:solidFill>
                  <a:srgbClr val="E2E8F0"/>
                </a:solidFill>
                <a:latin typeface="JetBrains Mono"/>
                <a:ea typeface="JetBrains Mono"/>
              </a:rPr>
              <a:t>【</a:t>
            </a:r>
            <a:r>
              <a:rPr lang="en-US" sz="1050">
                <a:solidFill>
                  <a:srgbClr val="E2E8F0"/>
                </a:solidFill>
                <a:latin typeface="JetBrains Mono"/>
                <a:ea typeface="JetBrains Mono"/>
              </a:rPr>
              <a:t>dir</a:t>
            </a:r>
            <a:r>
              <a:rPr lang="zh-CN" sz="1050">
                <a:solidFill>
                  <a:srgbClr val="E2E8F0"/>
                </a:solidFill>
                <a:latin typeface="JetBrains Mono"/>
                <a:ea typeface="JetBrains Mono"/>
              </a:rPr>
              <a:t>】</a:t>
            </a:r>
            <a:r>
              <a:rPr lang="en-US" sz="1050">
                <a:solidFill>
                  <a:srgbClr val="E2E8F0"/>
                </a:solidFill>
                <a:latin typeface="JetBrains Mono"/>
                <a:ea typeface="JetBrains Mono"/>
              </a:rPr>
              <a:t>] [x.y.z]</a:t>
            </a:r>
            <a:r>
              <a:rPr lang="zh-CN" sz="1050">
                <a:solidFill>
                  <a:srgbClr val="E2E8F0"/>
                </a:solidFill>
                <a:latin typeface="JetBrains Mono"/>
                <a:ea typeface="JetBrains Mono"/>
              </a:rPr>
              <a:t>　　　　</a:t>
            </a:r>
            <a:r>
              <a:rPr lang="en-US" sz="1050">
                <a:solidFill>
                  <a:srgbClr val="E2E8F0"/>
                </a:solidFill>
                <a:latin typeface="JetBrains Mono"/>
                <a:ea typeface="JetBrains Mono"/>
              </a:rPr>
              <a:t> # </a:t>
            </a:r>
            <a:r>
              <a:rPr lang="zh-CN" sz="1050">
                <a:solidFill>
                  <a:srgbClr val="E2E8F0"/>
                </a:solidFill>
                <a:latin typeface="JetBrains Mono"/>
                <a:ea typeface="JetBrains Mono"/>
              </a:rPr>
              <a:t>初始化</a:t>
            </a:r>
            <a:r>
              <a:rPr lang="en-US" sz="1050">
                <a:solidFill>
                  <a:srgbClr val="E2E8F0"/>
                </a:solidFill>
                <a:latin typeface="JetBrains Mono"/>
                <a:ea typeface="JetBrains Mono"/>
              </a:rPr>
              <a:t> workspace</a:t>
            </a:r>
            <a:r>
              <a:rPr lang="zh-CN" sz="1050">
                <a:solidFill>
                  <a:srgbClr val="E2E8F0"/>
                </a:solidFill>
                <a:latin typeface="JetBrains Mono"/>
                <a:ea typeface="JetBrains Mono"/>
              </a:rPr>
              <a:t>（重写</a:t>
            </a:r>
            <a:r>
              <a:rPr lang="en-US" sz="1050">
                <a:solidFill>
                  <a:srgbClr val="E2E8F0"/>
                </a:solidFill>
                <a:latin typeface="JetBrains Mono"/>
                <a:ea typeface="JetBrains Mono"/>
              </a:rPr>
              <a:t> cjpm.toml</a:t>
            </a:r>
            <a:r>
              <a:rPr lang="zh-CN" sz="1050">
                <a:solidFill>
                  <a:srgbClr val="E2E8F0"/>
                </a:solidFill>
                <a:latin typeface="JetBrains Mono"/>
                <a:ea typeface="JetBrains Mono"/>
              </a:rPr>
              <a:t>）</a:t>
            </a:r>
            <a:endParaRPr lang="zh-CN" sz="1050">
              <a:solidFill>
                <a:srgbClr val="E2E8F0"/>
              </a:solidFill>
              <a:latin typeface="JetBrains Mono"/>
              <a:ea typeface="JetBrains Mono"/>
            </a:endParaRPr>
          </a:p>
        </p:txBody>
      </p:sp>
      <p:sp>
        <p:nvSpPr>
          <p:cNvPr id="409" name="文本框 408" descr="{&quot;isTemplate&quot;:true,&quot;type&quot;:&quot;text&quot;}"/>
          <p:cNvSpPr txBox="1"/>
          <p:nvPr/>
        </p:nvSpPr>
        <p:spPr>
          <a:xfrm>
            <a:off x="838200" y="1704975"/>
            <a:ext cx="10515600" cy="3333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205000"/>
              </a:lnSpc>
            </a:pPr>
            <a:r>
              <a:rPr lang="en-US" sz="1050">
                <a:solidFill>
                  <a:srgbClr val="E2E8F0"/>
                </a:solidFill>
                <a:latin typeface="JetBrains Mono"/>
                <a:ea typeface="JetBrains Mono"/>
              </a:rPr>
              <a:t>fboot module [</a:t>
            </a:r>
            <a:r>
              <a:rPr lang="zh-CN" sz="1050">
                <a:solidFill>
                  <a:srgbClr val="E2E8F0"/>
                </a:solidFill>
                <a:latin typeface="JetBrains Mono"/>
                <a:ea typeface="JetBrains Mono"/>
              </a:rPr>
              <a:t>【</a:t>
            </a:r>
            <a:r>
              <a:rPr lang="en-US" sz="1050">
                <a:solidFill>
                  <a:srgbClr val="E2E8F0"/>
                </a:solidFill>
                <a:latin typeface="JetBrains Mono"/>
                <a:ea typeface="JetBrains Mono"/>
              </a:rPr>
              <a:t>name</a:t>
            </a:r>
            <a:r>
              <a:rPr lang="zh-CN" sz="1050">
                <a:solidFill>
                  <a:srgbClr val="E2E8F0"/>
                </a:solidFill>
                <a:latin typeface="JetBrains Mono"/>
                <a:ea typeface="JetBrains Mono"/>
              </a:rPr>
              <a:t>】</a:t>
            </a:r>
            <a:r>
              <a:rPr lang="en-US" sz="1050">
                <a:solidFill>
                  <a:srgbClr val="E2E8F0"/>
                </a:solidFill>
                <a:latin typeface="JetBrains Mono"/>
                <a:ea typeface="JetBrains Mono"/>
              </a:rPr>
              <a:t>]</a:t>
            </a:r>
            <a:r>
              <a:rPr lang="zh-CN" sz="1050">
                <a:solidFill>
                  <a:srgbClr val="E2E8F0"/>
                </a:solidFill>
                <a:latin typeface="JetBrains Mono"/>
                <a:ea typeface="JetBrains Mono"/>
              </a:rPr>
              <a:t>　　　　　　　　　</a:t>
            </a:r>
            <a:r>
              <a:rPr lang="en-US" sz="1050">
                <a:solidFill>
                  <a:srgbClr val="E2E8F0"/>
                </a:solidFill>
                <a:latin typeface="JetBrains Mono"/>
                <a:ea typeface="JetBrains Mono"/>
              </a:rPr>
              <a:t># </a:t>
            </a:r>
            <a:r>
              <a:rPr lang="zh-CN" sz="1050">
                <a:solidFill>
                  <a:srgbClr val="E2E8F0"/>
                </a:solidFill>
                <a:latin typeface="JetBrains Mono"/>
                <a:ea typeface="JetBrains Mono"/>
              </a:rPr>
              <a:t>初始化</a:t>
            </a:r>
            <a:r>
              <a:rPr lang="en-US" sz="1050">
                <a:solidFill>
                  <a:srgbClr val="E2E8F0"/>
                </a:solidFill>
                <a:latin typeface="JetBrains Mono"/>
                <a:ea typeface="JetBrains Mono"/>
              </a:rPr>
              <a:t> / </a:t>
            </a:r>
            <a:r>
              <a:rPr lang="zh-CN" sz="1050">
                <a:solidFill>
                  <a:srgbClr val="E2E8F0"/>
                </a:solidFill>
                <a:latin typeface="JetBrains Mono"/>
                <a:ea typeface="JetBrains Mono"/>
              </a:rPr>
              <a:t>新增</a:t>
            </a:r>
            <a:r>
              <a:rPr lang="en-US" sz="1050">
                <a:solidFill>
                  <a:srgbClr val="E2E8F0"/>
                </a:solidFill>
                <a:latin typeface="JetBrains Mono"/>
                <a:ea typeface="JetBrains Mono"/>
              </a:rPr>
              <a:t> dynamic </a:t>
            </a:r>
            <a:r>
              <a:rPr lang="zh-CN" sz="1050">
                <a:solidFill>
                  <a:srgbClr val="E2E8F0"/>
                </a:solidFill>
                <a:latin typeface="JetBrains Mono"/>
                <a:ea typeface="JetBrains Mono"/>
              </a:rPr>
              <a:t>模块并挂进</a:t>
            </a:r>
            <a:r>
              <a:rPr lang="en-US" sz="1050">
                <a:solidFill>
                  <a:srgbClr val="E2E8F0"/>
                </a:solidFill>
                <a:latin typeface="JetBrains Mono"/>
                <a:ea typeface="JetBrains Mono"/>
              </a:rPr>
              <a:t> members</a:t>
            </a:r>
            <a:endParaRPr lang="en-US" sz="1050">
              <a:solidFill>
                <a:srgbClr val="E2E8F0"/>
              </a:solidFill>
              <a:latin typeface="JetBrains Mono"/>
              <a:ea typeface="JetBrains Mono"/>
            </a:endParaRPr>
          </a:p>
        </p:txBody>
      </p:sp>
      <p:sp>
        <p:nvSpPr>
          <p:cNvPr id="410" name="文本框 409" descr="{&quot;isTemplate&quot;:true,&quot;type&quot;:&quot;text&quot;}"/>
          <p:cNvSpPr txBox="1"/>
          <p:nvPr/>
        </p:nvSpPr>
        <p:spPr>
          <a:xfrm>
            <a:off x="838200" y="2038350"/>
            <a:ext cx="10515600" cy="3333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205000"/>
              </a:lnSpc>
            </a:pPr>
            <a:r>
              <a:rPr lang="en-US" sz="1050">
                <a:solidFill>
                  <a:srgbClr val="F59E0B"/>
                </a:solidFill>
                <a:latin typeface="JetBrains Mono"/>
                <a:ea typeface="JetBrains Mono"/>
              </a:rPr>
              <a:t>fboot build [PATH] [--k=v ...]</a:t>
            </a:r>
            <a:r>
              <a:rPr lang="zh-CN" sz="1050">
                <a:solidFill>
                  <a:srgbClr val="F59E0B"/>
                </a:solidFill>
                <a:latin typeface="JetBrains Mono"/>
                <a:ea typeface="JetBrains Mono"/>
              </a:rPr>
              <a:t>　　　　　</a:t>
            </a:r>
            <a:r>
              <a:rPr lang="en-US" sz="1050">
                <a:solidFill>
                  <a:srgbClr val="F59E0B"/>
                </a:solidFill>
                <a:latin typeface="JetBrains Mono"/>
                <a:ea typeface="JetBrains Mono"/>
              </a:rPr>
              <a:t># </a:t>
            </a:r>
            <a:r>
              <a:rPr lang="zh-CN" sz="1050">
                <a:solidFill>
                  <a:srgbClr val="F59E0B"/>
                </a:solidFill>
                <a:latin typeface="JetBrains Mono"/>
                <a:ea typeface="JetBrains Mono"/>
              </a:rPr>
              <a:t>编译；</a:t>
            </a:r>
            <a:r>
              <a:rPr lang="en-US" sz="1050">
                <a:solidFill>
                  <a:srgbClr val="F59E0B"/>
                </a:solidFill>
                <a:latin typeface="JetBrains Mono"/>
                <a:ea typeface="JetBrains Mono"/>
              </a:rPr>
              <a:t>--k=v </a:t>
            </a:r>
            <a:r>
              <a:rPr lang="zh-CN" sz="1050">
                <a:solidFill>
                  <a:srgbClr val="F59E0B"/>
                </a:solidFill>
                <a:latin typeface="JetBrains Mono"/>
                <a:ea typeface="JetBrains Mono"/>
              </a:rPr>
              <a:t>作为编译期环境变量注入产物</a:t>
            </a:r>
            <a:endParaRPr lang="zh-CN" sz="1050">
              <a:solidFill>
                <a:srgbClr val="F59E0B"/>
              </a:solidFill>
              <a:latin typeface="JetBrains Mono"/>
              <a:ea typeface="JetBrains Mono"/>
            </a:endParaRPr>
          </a:p>
        </p:txBody>
      </p:sp>
      <p:sp>
        <p:nvSpPr>
          <p:cNvPr id="411" name="文本框 410" descr="{&quot;isTemplate&quot;:true,&quot;type&quot;:&quot;text&quot;}"/>
          <p:cNvSpPr txBox="1"/>
          <p:nvPr/>
        </p:nvSpPr>
        <p:spPr>
          <a:xfrm>
            <a:off x="838200" y="2371725"/>
            <a:ext cx="10515600" cy="3333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205000"/>
              </a:lnSpc>
            </a:pPr>
            <a:r>
              <a:rPr lang="en-US" sz="1050">
                <a:solidFill>
                  <a:srgbClr val="E2E8F0"/>
                </a:solidFill>
                <a:latin typeface="JetBrains Mono"/>
                <a:ea typeface="JetBrains Mono"/>
              </a:rPr>
              <a:t>fboot cleanUpdate [PATH]</a:t>
            </a:r>
            <a:r>
              <a:rPr lang="zh-CN" sz="1050">
                <a:solidFill>
                  <a:srgbClr val="E2E8F0"/>
                </a:solidFill>
                <a:latin typeface="JetBrains Mono"/>
                <a:ea typeface="JetBrains Mono"/>
              </a:rPr>
              <a:t>　　　　　　　　</a:t>
            </a:r>
            <a:r>
              <a:rPr lang="en-US" sz="1050">
                <a:solidFill>
                  <a:srgbClr val="E2E8F0"/>
                </a:solidFill>
                <a:latin typeface="JetBrains Mono"/>
                <a:ea typeface="JetBrains Mono"/>
              </a:rPr>
              <a:t># cjpm clean + </a:t>
            </a:r>
            <a:r>
              <a:rPr lang="zh-CN" sz="1050">
                <a:solidFill>
                  <a:srgbClr val="E2E8F0"/>
                </a:solidFill>
                <a:latin typeface="JetBrains Mono"/>
                <a:ea typeface="JetBrains Mono"/>
              </a:rPr>
              <a:t>删</a:t>
            </a:r>
            <a:r>
              <a:rPr lang="en-US" sz="1050">
                <a:solidFill>
                  <a:srgbClr val="E2E8F0"/>
                </a:solidFill>
                <a:latin typeface="JetBrains Mono"/>
                <a:ea typeface="JetBrains Mono"/>
              </a:rPr>
              <a:t> cjpm.lock + cjpm update</a:t>
            </a:r>
            <a:endParaRPr lang="en-US" sz="1050">
              <a:solidFill>
                <a:srgbClr val="E2E8F0"/>
              </a:solidFill>
              <a:latin typeface="JetBrains Mono"/>
              <a:ea typeface="JetBrains Mono"/>
            </a:endParaRPr>
          </a:p>
        </p:txBody>
      </p:sp>
      <p:sp>
        <p:nvSpPr>
          <p:cNvPr id="412" name="文本框 411" descr="{&quot;isTemplate&quot;:true,&quot;type&quot;:&quot;text&quot;}"/>
          <p:cNvSpPr txBox="1"/>
          <p:nvPr/>
        </p:nvSpPr>
        <p:spPr>
          <a:xfrm>
            <a:off x="838200" y="2705100"/>
            <a:ext cx="10515600" cy="3333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205000"/>
              </a:lnSpc>
            </a:pPr>
            <a:r>
              <a:rPr lang="en-US" sz="1050">
                <a:solidFill>
                  <a:srgbClr val="F59E0B"/>
                </a:solidFill>
                <a:latin typeface="JetBrains Mono"/>
                <a:ea typeface="JetBrains Mono"/>
              </a:rPr>
              <a:t>fboot run [PATH] --dylibPattern=</a:t>
            </a:r>
            <a:r>
              <a:rPr lang="zh-CN" sz="1050">
                <a:solidFill>
                  <a:srgbClr val="F59E0B"/>
                </a:solidFill>
                <a:latin typeface="JetBrains Mono"/>
                <a:ea typeface="JetBrains Mono"/>
              </a:rPr>
              <a:t>【正则】</a:t>
            </a:r>
            <a:r>
              <a:rPr lang="en-US" sz="1050">
                <a:solidFill>
                  <a:srgbClr val="F59E0B"/>
                </a:solidFill>
                <a:latin typeface="JetBrains Mono"/>
                <a:ea typeface="JetBrains Mono"/>
              </a:rPr>
              <a:t> # </a:t>
            </a:r>
            <a:r>
              <a:rPr lang="zh-CN" sz="1050">
                <a:solidFill>
                  <a:srgbClr val="F59E0B"/>
                </a:solidFill>
                <a:latin typeface="JetBrains Mono"/>
                <a:ea typeface="JetBrains Mono"/>
              </a:rPr>
              <a:t>启动（永久阻塞）</a:t>
            </a:r>
            <a:endParaRPr lang="zh-CN" sz="1050">
              <a:solidFill>
                <a:srgbClr val="F59E0B"/>
              </a:solidFill>
              <a:latin typeface="JetBrains Mono"/>
              <a:ea typeface="JetBrains Mono"/>
            </a:endParaRPr>
          </a:p>
        </p:txBody>
      </p:sp>
      <p:sp>
        <p:nvSpPr>
          <p:cNvPr id="413" name="文本框 412" descr="{&quot;isTemplate&quot;:true,&quot;type&quot;:&quot;text&quot;}"/>
          <p:cNvSpPr txBox="1"/>
          <p:nvPr/>
        </p:nvSpPr>
        <p:spPr>
          <a:xfrm>
            <a:off x="838200" y="3038475"/>
            <a:ext cx="10515600" cy="3333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205000"/>
              </a:lnSpc>
            </a:pPr>
            <a:r>
              <a:rPr lang="en-US" sz="1050">
                <a:solidFill>
                  <a:srgbClr val="E2E8F0"/>
                </a:solidFill>
                <a:latin typeface="JetBrains Mono"/>
                <a:ea typeface="JetBrains Mono"/>
              </a:rPr>
              <a:t>fboot randhex </a:t>
            </a:r>
            <a:r>
              <a:rPr lang="zh-CN" sz="1050">
                <a:solidFill>
                  <a:srgbClr val="E2E8F0"/>
                </a:solidFill>
                <a:latin typeface="JetBrains Mono"/>
                <a:ea typeface="JetBrains Mono"/>
              </a:rPr>
              <a:t>【</a:t>
            </a:r>
            <a:r>
              <a:rPr lang="en-US" sz="1050">
                <a:solidFill>
                  <a:srgbClr val="E2E8F0"/>
                </a:solidFill>
                <a:latin typeface="JetBrains Mono"/>
                <a:ea typeface="JetBrains Mono"/>
              </a:rPr>
              <a:t>n</a:t>
            </a:r>
            <a:r>
              <a:rPr lang="zh-CN" sz="1050">
                <a:solidFill>
                  <a:srgbClr val="E2E8F0"/>
                </a:solidFill>
                <a:latin typeface="JetBrains Mono"/>
                <a:ea typeface="JetBrains Mono"/>
              </a:rPr>
              <a:t>】　　　　　　　　　　　</a:t>
            </a:r>
            <a:r>
              <a:rPr lang="en-US" sz="1050">
                <a:solidFill>
                  <a:srgbClr val="E2E8F0"/>
                </a:solidFill>
                <a:latin typeface="JetBrains Mono"/>
                <a:ea typeface="JetBrains Mono"/>
              </a:rPr>
              <a:t># n </a:t>
            </a:r>
            <a:r>
              <a:rPr lang="zh-CN" sz="1050">
                <a:solidFill>
                  <a:srgbClr val="E2E8F0"/>
                </a:solidFill>
                <a:latin typeface="JetBrains Mono"/>
                <a:ea typeface="JetBrains Mono"/>
              </a:rPr>
              <a:t>位随机小写</a:t>
            </a:r>
            <a:r>
              <a:rPr lang="en-US" sz="1050">
                <a:solidFill>
                  <a:srgbClr val="E2E8F0"/>
                </a:solidFill>
                <a:latin typeface="JetBrains Mono"/>
                <a:ea typeface="JetBrains Mono"/>
              </a:rPr>
              <a:t> 16 </a:t>
            </a:r>
            <a:r>
              <a:rPr lang="zh-CN" sz="1050">
                <a:solidFill>
                  <a:srgbClr val="E2E8F0"/>
                </a:solidFill>
                <a:latin typeface="JetBrains Mono"/>
                <a:ea typeface="JetBrains Mono"/>
              </a:rPr>
              <a:t>进制（</a:t>
            </a:r>
            <a:r>
              <a:rPr lang="en-US" sz="1050">
                <a:solidFill>
                  <a:srgbClr val="E2E8F0"/>
                </a:solidFill>
                <a:latin typeface="JetBrains Mono"/>
                <a:ea typeface="JetBrains Mono"/>
              </a:rPr>
              <a:t>SM4 key </a:t>
            </a:r>
            <a:r>
              <a:rPr lang="zh-CN" sz="1050">
                <a:solidFill>
                  <a:srgbClr val="E2E8F0"/>
                </a:solidFill>
                <a:latin typeface="JetBrains Mono"/>
                <a:ea typeface="JetBrains Mono"/>
              </a:rPr>
              <a:t>用</a:t>
            </a:r>
            <a:r>
              <a:rPr lang="en-US" sz="1050">
                <a:solidFill>
                  <a:srgbClr val="E2E8F0"/>
                </a:solidFill>
                <a:latin typeface="JetBrains Mono"/>
                <a:ea typeface="JetBrains Mono"/>
              </a:rPr>
              <a:t> 32</a:t>
            </a:r>
            <a:r>
              <a:rPr lang="zh-CN" sz="1050">
                <a:solidFill>
                  <a:srgbClr val="E2E8F0"/>
                </a:solidFill>
                <a:latin typeface="JetBrains Mono"/>
                <a:ea typeface="JetBrains Mono"/>
              </a:rPr>
              <a:t>）</a:t>
            </a:r>
            <a:endParaRPr lang="zh-CN" sz="1050">
              <a:solidFill>
                <a:srgbClr val="E2E8F0"/>
              </a:solidFill>
              <a:latin typeface="JetBrains Mono"/>
              <a:ea typeface="JetBrains Mono"/>
            </a:endParaRPr>
          </a:p>
        </p:txBody>
      </p:sp>
      <p:sp>
        <p:nvSpPr>
          <p:cNvPr id="414" name="文本框 413" descr="{&quot;isTemplate&quot;:true,&quot;type&quot;:&quot;text&quot;}"/>
          <p:cNvSpPr txBox="1"/>
          <p:nvPr/>
        </p:nvSpPr>
        <p:spPr>
          <a:xfrm>
            <a:off x="838200" y="3371850"/>
            <a:ext cx="10515600" cy="3333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205000"/>
              </a:lnSpc>
            </a:pPr>
            <a:r>
              <a:rPr lang="en-US" sz="1050">
                <a:solidFill>
                  <a:srgbClr val="E2E8F0"/>
                </a:solidFill>
                <a:latin typeface="JetBrains Mono"/>
                <a:ea typeface="JetBrains Mono"/>
              </a:rPr>
              <a:t>fboot count [PATH]</a:t>
            </a:r>
            <a:r>
              <a:rPr lang="zh-CN" sz="1050">
                <a:solidFill>
                  <a:srgbClr val="E2E8F0"/>
                </a:solidFill>
                <a:latin typeface="JetBrains Mono"/>
                <a:ea typeface="JetBrains Mono"/>
              </a:rPr>
              <a:t>　　　　　　　　　　　</a:t>
            </a:r>
            <a:r>
              <a:rPr lang="en-US" sz="1050">
                <a:solidFill>
                  <a:srgbClr val="E2E8F0"/>
                </a:solidFill>
                <a:latin typeface="JetBrains Mono"/>
                <a:ea typeface="JetBrains Mono"/>
              </a:rPr>
              <a:t># </a:t>
            </a:r>
            <a:r>
              <a:rPr lang="zh-CN" sz="1050">
                <a:solidFill>
                  <a:srgbClr val="E2E8F0"/>
                </a:solidFill>
                <a:latin typeface="JetBrains Mono"/>
                <a:ea typeface="JetBrains Mono"/>
              </a:rPr>
              <a:t>代码统计</a:t>
            </a:r>
            <a:endParaRPr lang="zh-CN" sz="1050">
              <a:solidFill>
                <a:srgbClr val="E2E8F0"/>
              </a:solidFill>
              <a:latin typeface="JetBrains Mono"/>
              <a:ea typeface="JetBrains Mono"/>
            </a:endParaRPr>
          </a:p>
        </p:txBody>
      </p:sp>
      <p:sp>
        <p:nvSpPr>
          <p:cNvPr id="415" name="文本框 414" descr="{&quot;isTemplate&quot;:true,&quot;type&quot;:&quot;text&quot;}"/>
          <p:cNvSpPr txBox="1"/>
          <p:nvPr/>
        </p:nvSpPr>
        <p:spPr>
          <a:xfrm>
            <a:off x="838200" y="3705225"/>
            <a:ext cx="10515600" cy="3333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205000"/>
              </a:lnSpc>
            </a:pPr>
            <a:r>
              <a:rPr lang="en-US" sz="1050">
                <a:solidFill>
                  <a:srgbClr val="E2E8F0"/>
                </a:solidFill>
                <a:latin typeface="JetBrains Mono"/>
                <a:ea typeface="JetBrains Mono"/>
              </a:rPr>
              <a:t>fboot test [PATH] --dylibPattern=</a:t>
            </a:r>
            <a:r>
              <a:rPr lang="zh-CN" sz="1050">
                <a:solidFill>
                  <a:srgbClr val="E2E8F0"/>
                </a:solidFill>
                <a:latin typeface="JetBrains Mono"/>
                <a:ea typeface="JetBrains Mono"/>
              </a:rPr>
              <a:t>【正则】</a:t>
            </a:r>
            <a:r>
              <a:rPr lang="en-US" sz="1050">
                <a:solidFill>
                  <a:srgbClr val="E2E8F0"/>
                </a:solidFill>
                <a:latin typeface="JetBrains Mono"/>
                <a:ea typeface="JetBrains Mono"/>
              </a:rPr>
              <a:t># test/cjpm.toml </a:t>
            </a:r>
            <a:r>
              <a:rPr lang="zh-CN" sz="1050">
                <a:solidFill>
                  <a:srgbClr val="E2E8F0"/>
                </a:solidFill>
                <a:latin typeface="JetBrains Mono"/>
                <a:ea typeface="JetBrains Mono"/>
              </a:rPr>
              <a:t>覆盖后</a:t>
            </a:r>
            <a:r>
              <a:rPr lang="en-US" sz="1050">
                <a:solidFill>
                  <a:srgbClr val="E2E8F0"/>
                </a:solidFill>
                <a:latin typeface="JetBrains Mono"/>
                <a:ea typeface="JetBrains Mono"/>
              </a:rPr>
              <a:t> build + run</a:t>
            </a:r>
            <a:endParaRPr lang="en-US" sz="1050">
              <a:solidFill>
                <a:srgbClr val="E2E8F0"/>
              </a:solidFill>
              <a:latin typeface="JetBrains Mono"/>
              <a:ea typeface="JetBrains Mono"/>
            </a:endParaRPr>
          </a:p>
        </p:txBody>
      </p:sp>
      <p:sp>
        <p:nvSpPr>
          <p:cNvPr id="416" name="文本框 415" descr="{&quot;isTemplate&quot;:true,&quot;type&quot;:&quot;text&quot;}"/>
          <p:cNvSpPr txBox="1"/>
          <p:nvPr/>
        </p:nvSpPr>
        <p:spPr>
          <a:xfrm>
            <a:off x="838200" y="4038600"/>
            <a:ext cx="10515600" cy="3333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205000"/>
              </a:lnSpc>
            </a:pPr>
            <a:r>
              <a:rPr lang="en-US" sz="1050">
                <a:solidFill>
                  <a:srgbClr val="E2E8F0"/>
                </a:solidFill>
                <a:latin typeface="JetBrains Mono"/>
                <a:ea typeface="JetBrains Mono"/>
              </a:rPr>
              <a:t>fboot pub </a:t>
            </a:r>
            <a:r>
              <a:rPr lang="zh-CN" sz="1050">
                <a:solidFill>
                  <a:srgbClr val="E2E8F0"/>
                </a:solidFill>
                <a:latin typeface="JetBrains Mono"/>
                <a:ea typeface="JetBrains Mono"/>
              </a:rPr>
              <a:t>【</a:t>
            </a:r>
            <a:r>
              <a:rPr lang="en-US" sz="1050">
                <a:solidFill>
                  <a:srgbClr val="E2E8F0"/>
                </a:solidFill>
                <a:latin typeface="JetBrains Mono"/>
                <a:ea typeface="JetBrains Mono"/>
              </a:rPr>
              <a:t>x.y.z</a:t>
            </a:r>
            <a:r>
              <a:rPr lang="zh-CN" sz="1050">
                <a:solidFill>
                  <a:srgbClr val="E2E8F0"/>
                </a:solidFill>
                <a:latin typeface="JetBrains Mono"/>
                <a:ea typeface="JetBrains Mono"/>
              </a:rPr>
              <a:t>】</a:t>
            </a:r>
            <a:r>
              <a:rPr lang="en-US" sz="1050">
                <a:solidFill>
                  <a:srgbClr val="E2E8F0"/>
                </a:solidFill>
                <a:latin typeface="JetBrains Mono"/>
                <a:ea typeface="JetBrains Mono"/>
              </a:rPr>
              <a:t> [--skip-lint] [--skip-test]</a:t>
            </a:r>
            <a:r>
              <a:rPr lang="zh-CN" sz="1050">
                <a:solidFill>
                  <a:srgbClr val="E2E8F0"/>
                </a:solidFill>
                <a:latin typeface="JetBrains Mono"/>
                <a:ea typeface="JetBrains Mono"/>
              </a:rPr>
              <a:t>　</a:t>
            </a:r>
            <a:r>
              <a:rPr lang="en-US" sz="1050">
                <a:solidFill>
                  <a:srgbClr val="E2E8F0"/>
                </a:solidFill>
                <a:latin typeface="JetBrains Mono"/>
                <a:ea typeface="JetBrains Mono"/>
              </a:rPr>
              <a:t># </a:t>
            </a:r>
            <a:r>
              <a:rPr lang="zh-CN" sz="1050">
                <a:solidFill>
                  <a:srgbClr val="E2E8F0"/>
                </a:solidFill>
                <a:latin typeface="JetBrains Mono"/>
                <a:ea typeface="JetBrains Mono"/>
              </a:rPr>
              <a:t>批量发布模块</a:t>
            </a:r>
            <a:endParaRPr lang="zh-CN" sz="1050">
              <a:solidFill>
                <a:srgbClr val="E2E8F0"/>
              </a:solidFill>
              <a:latin typeface="JetBrains Mono"/>
              <a:ea typeface="JetBrains Mono"/>
            </a:endParaRPr>
          </a:p>
        </p:txBody>
      </p:sp>
      <p:sp>
        <p:nvSpPr>
          <p:cNvPr id="417" name="文本框 416" descr="{&quot;isTemplate&quot;:true,&quot;type&quot;:&quot;text&quot;}"/>
          <p:cNvSpPr txBox="1"/>
          <p:nvPr/>
        </p:nvSpPr>
        <p:spPr>
          <a:xfrm>
            <a:off x="838200" y="4371975"/>
            <a:ext cx="10515600" cy="3333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205000"/>
              </a:lnSpc>
            </a:pPr>
            <a:endParaRPr lang="zh-CN" sz="1050">
              <a:solidFill>
                <a:srgbClr val="94A3B8"/>
              </a:solidFill>
              <a:latin typeface="JetBrains Mono"/>
              <a:ea typeface="JetBrains Mono"/>
            </a:endParaRPr>
          </a:p>
        </p:txBody>
      </p:sp>
      <p:sp>
        <p:nvSpPr>
          <p:cNvPr id="418" name="文本框 417" descr="{&quot;isTemplate&quot;:true,&quot;type&quot;:&quot;text&quot;}"/>
          <p:cNvSpPr txBox="1"/>
          <p:nvPr/>
        </p:nvSpPr>
        <p:spPr>
          <a:xfrm>
            <a:off x="838200" y="4705350"/>
            <a:ext cx="10515600" cy="3333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205000"/>
              </a:lnSpc>
            </a:pPr>
            <a:endParaRPr lang="en-US" sz="1050">
              <a:solidFill>
                <a:srgbClr val="94A3B8"/>
              </a:solidFill>
              <a:latin typeface="JetBrains Mono"/>
              <a:ea typeface="JetBrains Mono"/>
            </a:endParaRPr>
          </a:p>
        </p:txBody>
      </p:sp>
      <p:sp>
        <p:nvSpPr>
          <p:cNvPr id="419" name="文本框 418" descr="{&quot;isTemplate&quot;:true,&quot;type&quot;:&quot;text&quot;}"/>
          <p:cNvSpPr txBox="1"/>
          <p:nvPr/>
        </p:nvSpPr>
        <p:spPr>
          <a:xfrm>
            <a:off x="838200" y="5038725"/>
            <a:ext cx="10515600" cy="3333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205000"/>
              </a:lnSpc>
            </a:pPr>
            <a:r>
              <a:rPr lang="en-US" sz="1050">
                <a:solidFill>
                  <a:srgbClr val="94A3B8"/>
                </a:solidFill>
                <a:latin typeface="JetBrains Mono"/>
                <a:ea typeface="JetBrains Mono"/>
              </a:rPr>
              <a:t>fboot help</a:t>
            </a:r>
            <a:endParaRPr lang="en-US" sz="1050">
              <a:solidFill>
                <a:srgbClr val="94A3B8"/>
              </a:solidFill>
              <a:latin typeface="JetBrains Mono"/>
              <a:ea typeface="JetBrains Mono"/>
            </a:endParaRPr>
          </a:p>
        </p:txBody>
      </p:sp>
      <p:sp>
        <p:nvSpPr>
          <p:cNvPr id="420" name="矩形 419"/>
          <p:cNvSpPr/>
          <p:nvPr/>
        </p:nvSpPr>
        <p:spPr>
          <a:xfrm>
            <a:off x="838200" y="5543550"/>
            <a:ext cx="10515600" cy="9525"/>
          </a:xfrm>
          <a:prstGeom prst="rect">
            <a:avLst/>
          </a:prstGeom>
          <a:solidFill>
            <a:srgbClr val="1E293B"/>
          </a:solidFill>
        </p:spPr>
        <p:txBody>
          <a:bodyPr/>
          <a:p/>
        </p:txBody>
      </p:sp>
      <p:sp>
        <p:nvSpPr>
          <p:cNvPr id="421" name="文本框 420" descr="{&quot;isTemplate&quot;:true,&quot;type&quot;:&quot;text&quot;}"/>
          <p:cNvSpPr txBox="1"/>
          <p:nvPr/>
        </p:nvSpPr>
        <p:spPr>
          <a:xfrm>
            <a:off x="838200" y="5686425"/>
            <a:ext cx="10515600" cy="2952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80000"/>
              </a:lnSpc>
            </a:pPr>
            <a:r>
              <a:rPr lang="zh-CN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所有方括号里的部分都是占位符，需要替换成实际值。特别是</a:t>
            </a:r>
            <a:r>
              <a:rPr lang="en-US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--dylibPattern </a:t>
            </a:r>
            <a:r>
              <a:rPr lang="zh-CN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后面的正则</a:t>
            </a:r>
            <a:r>
              <a:rPr lang="en-US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—— </a:t>
            </a:r>
            <a:r>
              <a:rPr lang="zh-CN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它决定哪些动态链接库会被加载，是</a:t>
            </a:r>
            <a:r>
              <a:rPr lang="en-US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fountain </a:t>
            </a:r>
            <a:r>
              <a:rPr lang="zh-CN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里最容易出错的一个参数。</a:t>
            </a:r>
            <a:endParaRPr lang="zh-CN" sz="1050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22" name="任意多边形 421"/>
          <p:cNvSpPr/>
          <p:nvPr/>
        </p:nvSpPr>
        <p:spPr>
          <a:xfrm>
            <a:off x="609600" y="6286500"/>
            <a:ext cx="10972800" cy="381000"/>
          </a:xfrm>
          <a:custGeom>
            <a:avLst/>
            <a:gdLst/>
            <a:ahLst/>
            <a:cxnLst/>
            <a:pathLst>
              <a:path w="1152" h="40">
                <a:moveTo>
                  <a:pt x="0" y="0"/>
                </a:moveTo>
                <a:lnTo>
                  <a:pt x="1152" y="0"/>
                </a:lnTo>
                <a:lnTo>
                  <a:pt x="1152" y="1"/>
                </a:lnTo>
                <a:lnTo>
                  <a:pt x="0" y="1"/>
                </a:lnTo>
                <a:close/>
              </a:path>
            </a:pathLst>
          </a:custGeom>
          <a:solidFill>
            <a:srgbClr val="1E293B"/>
          </a:solidFill>
        </p:spPr>
        <p:txBody>
          <a:bodyPr/>
          <a:p/>
        </p:txBody>
      </p:sp>
      <p:sp>
        <p:nvSpPr>
          <p:cNvPr id="423" name="文本框 422" descr="{&quot;isTemplate&quot;:true,&quot;type&quot;:&quot;text&quot;}"/>
          <p:cNvSpPr txBox="1"/>
          <p:nvPr/>
        </p:nvSpPr>
        <p:spPr>
          <a:xfrm>
            <a:off x="609600" y="6410325"/>
            <a:ext cx="2219325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fountain · 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一站式服务器应用开发工具库</a:t>
            </a:r>
            <a:endParaRPr lang="zh-CN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24" name="文本框 423" descr="{&quot;isTemplate&quot;:true,&quot;type&quot;:&quot;text&quot;}"/>
          <p:cNvSpPr txBox="1"/>
          <p:nvPr/>
        </p:nvSpPr>
        <p:spPr>
          <a:xfrm>
            <a:off x="11020425" y="6410325"/>
            <a:ext cx="561975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113 / 116</a:t>
            </a:r>
            <a:endParaRPr lang="en-US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42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6" name="矩形 425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220"/>
          </a:solidFill>
        </p:spPr>
        <p:txBody>
          <a:bodyPr/>
          <a:p/>
        </p:txBody>
      </p:sp>
      <p:sp>
        <p:nvSpPr>
          <p:cNvPr id="427" name="矩形 426"/>
          <p:cNvSpPr/>
          <p:nvPr/>
        </p:nvSpPr>
        <p:spPr>
          <a:xfrm>
            <a:off x="609600" y="476250"/>
            <a:ext cx="38100" cy="381000"/>
          </a:xfrm>
          <a:prstGeom prst="rect">
            <a:avLst/>
          </a:prstGeom>
          <a:solidFill>
            <a:srgbClr val="38BDF8"/>
          </a:solidFill>
        </p:spPr>
        <p:txBody>
          <a:bodyPr/>
          <a:p/>
        </p:txBody>
      </p:sp>
      <p:sp>
        <p:nvSpPr>
          <p:cNvPr id="428" name="文本框 427" descr="{&quot;isTemplate&quot;:true,&quot;type&quot;:&quot;text&quot;}"/>
          <p:cNvSpPr txBox="1"/>
          <p:nvPr/>
        </p:nvSpPr>
        <p:spPr>
          <a:xfrm>
            <a:off x="819150" y="304800"/>
            <a:ext cx="9353550" cy="2095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附录</a:t>
            </a: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 A · 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一页速查表</a:t>
            </a:r>
            <a:endParaRPr lang="zh-CN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29" name="文本框 428" descr="{&quot;isTemplate&quot;:true,&quot;type&quot;:&quot;text&quot;}"/>
          <p:cNvSpPr txBox="1"/>
          <p:nvPr/>
        </p:nvSpPr>
        <p:spPr>
          <a:xfrm>
            <a:off x="819150" y="514350"/>
            <a:ext cx="9353550" cy="5143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2550" b="1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配置速查</a:t>
            </a:r>
            <a:endParaRPr lang="zh-CN" sz="2550" b="1">
              <a:solidFill>
                <a:srgbClr val="E2E8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30" name="文本框 429" descr="{&quot;isTemplate&quot;:true,&quot;type&quot;:&quot;text&quot;}"/>
          <p:cNvSpPr txBox="1"/>
          <p:nvPr/>
        </p:nvSpPr>
        <p:spPr>
          <a:xfrm>
            <a:off x="10344150" y="590550"/>
            <a:ext cx="1238250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可以直接抄进启动脚本</a:t>
            </a:r>
            <a:endParaRPr lang="zh-CN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31" name="圆角矩形 430"/>
          <p:cNvSpPr/>
          <p:nvPr/>
        </p:nvSpPr>
        <p:spPr>
          <a:xfrm>
            <a:off x="609600" y="1143000"/>
            <a:ext cx="5391150" cy="5143500"/>
          </a:xfrm>
          <a:prstGeom prst="roundRect">
            <a:avLst>
              <a:gd name="adj" fmla="val 2222"/>
            </a:avLst>
          </a:prstGeom>
          <a:solidFill>
            <a:srgbClr val="0B1220"/>
          </a:solidFill>
          <a:ln w="12700">
            <a:solidFill>
              <a:srgbClr val="38BDF8"/>
            </a:solidFill>
            <a:prstDash val="solid"/>
          </a:ln>
        </p:spPr>
        <p:txBody>
          <a:bodyPr/>
          <a:p/>
        </p:txBody>
      </p:sp>
      <p:sp>
        <p:nvSpPr>
          <p:cNvPr id="432" name="文本框 431" descr="{&quot;isTemplate&quot;:true,&quot;type&quot;:&quot;text&quot;}"/>
          <p:cNvSpPr txBox="1"/>
          <p:nvPr/>
        </p:nvSpPr>
        <p:spPr>
          <a:xfrm>
            <a:off x="800100" y="1333500"/>
            <a:ext cx="5010150" cy="2190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en-US" sz="900">
                <a:solidFill>
                  <a:srgbClr val="64748B"/>
                </a:solidFill>
                <a:latin typeface="JetBrains Mono"/>
                <a:ea typeface="JetBrains Mono"/>
              </a:rPr>
              <a:t># </a:t>
            </a:r>
            <a:r>
              <a:rPr lang="zh-CN" sz="900">
                <a:solidFill>
                  <a:srgbClr val="64748B"/>
                </a:solidFill>
                <a:latin typeface="JetBrains Mono"/>
                <a:ea typeface="JetBrains Mono"/>
              </a:rPr>
              <a:t>优先级：命令行参数</a:t>
            </a:r>
            <a:r>
              <a:rPr lang="en-US" sz="900">
                <a:solidFill>
                  <a:srgbClr val="64748B"/>
                </a:solidFill>
                <a:latin typeface="JetBrains Mono"/>
                <a:ea typeface="JetBrains Mono"/>
              </a:rPr>
              <a:t> &gt; </a:t>
            </a:r>
            <a:r>
              <a:rPr lang="zh-CN" sz="900">
                <a:solidFill>
                  <a:srgbClr val="64748B"/>
                </a:solidFill>
                <a:latin typeface="JetBrains Mono"/>
                <a:ea typeface="JetBrains Mono"/>
              </a:rPr>
              <a:t>环境变量</a:t>
            </a:r>
            <a:r>
              <a:rPr lang="en-US" sz="900">
                <a:solidFill>
                  <a:srgbClr val="64748B"/>
                </a:solidFill>
                <a:latin typeface="JetBrains Mono"/>
                <a:ea typeface="JetBrains Mono"/>
              </a:rPr>
              <a:t> &gt; </a:t>
            </a:r>
            <a:r>
              <a:rPr lang="zh-CN" sz="900">
                <a:solidFill>
                  <a:srgbClr val="64748B"/>
                </a:solidFill>
                <a:latin typeface="JetBrains Mono"/>
                <a:ea typeface="JetBrains Mono"/>
              </a:rPr>
              <a:t>编译期内嵌（</a:t>
            </a:r>
            <a:r>
              <a:rPr lang="en-US" sz="900">
                <a:solidFill>
                  <a:srgbClr val="64748B"/>
                </a:solidFill>
                <a:latin typeface="JetBrains Mono"/>
                <a:ea typeface="JetBrains Mono"/>
              </a:rPr>
              <a:t>fountain_ </a:t>
            </a:r>
            <a:r>
              <a:rPr lang="zh-CN" sz="900">
                <a:solidFill>
                  <a:srgbClr val="64748B"/>
                </a:solidFill>
                <a:latin typeface="JetBrains Mono"/>
                <a:ea typeface="JetBrains Mono"/>
              </a:rPr>
              <a:t>前缀为等价回退）</a:t>
            </a:r>
            <a:endParaRPr lang="zh-CN" sz="900">
              <a:solidFill>
                <a:srgbClr val="64748B"/>
              </a:solidFill>
              <a:latin typeface="JetBrains Mono"/>
              <a:ea typeface="JetBrains Mono"/>
            </a:endParaRPr>
          </a:p>
        </p:txBody>
      </p:sp>
      <p:sp>
        <p:nvSpPr>
          <p:cNvPr id="433" name="文本框 432" descr="{&quot;isTemplate&quot;:true,&quot;type&quot;:&quot;text&quot;}"/>
          <p:cNvSpPr txBox="1"/>
          <p:nvPr/>
        </p:nvSpPr>
        <p:spPr>
          <a:xfrm>
            <a:off x="800100" y="1552575"/>
            <a:ext cx="5010150" cy="2190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en-US" sz="900">
                <a:solidFill>
                  <a:srgbClr val="64748B"/>
                </a:solidFill>
                <a:latin typeface="JetBrains Mono"/>
                <a:ea typeface="JetBrains Mono"/>
              </a:rPr>
              <a:t># </a:t>
            </a:r>
            <a:r>
              <a:rPr lang="zh-CN" sz="900">
                <a:solidFill>
                  <a:srgbClr val="64748B"/>
                </a:solidFill>
                <a:latin typeface="JetBrains Mono"/>
                <a:ea typeface="JetBrains Mono"/>
              </a:rPr>
              <a:t>命令行参数对「任何链接了</a:t>
            </a:r>
            <a:r>
              <a:rPr lang="en-US" sz="900">
                <a:solidFill>
                  <a:srgbClr val="64748B"/>
                </a:solidFill>
                <a:latin typeface="JetBrains Mono"/>
                <a:ea typeface="JetBrains Mono"/>
              </a:rPr>
              <a:t> f_config </a:t>
            </a:r>
            <a:r>
              <a:rPr lang="zh-CN" sz="900">
                <a:solidFill>
                  <a:srgbClr val="64748B"/>
                </a:solidFill>
                <a:latin typeface="JetBrains Mono"/>
                <a:ea typeface="JetBrains Mono"/>
              </a:rPr>
              <a:t>的仓颉进程」都生效（不限于</a:t>
            </a:r>
            <a:r>
              <a:rPr lang="en-US" sz="900">
                <a:solidFill>
                  <a:srgbClr val="64748B"/>
                </a:solidFill>
                <a:latin typeface="JetBrains Mono"/>
                <a:ea typeface="JetBrains Mono"/>
              </a:rPr>
              <a:t> fboot</a:t>
            </a:r>
            <a:r>
              <a:rPr lang="zh-CN" sz="900">
                <a:solidFill>
                  <a:srgbClr val="64748B"/>
                </a:solidFill>
                <a:latin typeface="JetBrains Mono"/>
                <a:ea typeface="JetBrains Mono"/>
              </a:rPr>
              <a:t>）</a:t>
            </a:r>
            <a:endParaRPr lang="zh-CN" sz="900">
              <a:solidFill>
                <a:srgbClr val="64748B"/>
              </a:solidFill>
              <a:latin typeface="JetBrains Mono"/>
              <a:ea typeface="JetBrains Mono"/>
            </a:endParaRPr>
          </a:p>
        </p:txBody>
      </p:sp>
      <p:sp>
        <p:nvSpPr>
          <p:cNvPr id="434" name="文本框 433" descr="{&quot;isTemplate&quot;:true,&quot;type&quot;:&quot;text&quot;}"/>
          <p:cNvSpPr txBox="1"/>
          <p:nvPr/>
        </p:nvSpPr>
        <p:spPr>
          <a:xfrm>
            <a:off x="800100" y="1771650"/>
            <a:ext cx="5010150" cy="2190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en-US" sz="900">
                <a:solidFill>
                  <a:srgbClr val="E2E8F0"/>
                </a:solidFill>
                <a:latin typeface="JetBrains Mono"/>
                <a:ea typeface="JetBrains Mono"/>
              </a:rPr>
              <a:t>--argName=argValue | --argName | -argName argVal | -argName</a:t>
            </a:r>
            <a:endParaRPr lang="en-US" sz="900">
              <a:solidFill>
                <a:srgbClr val="E2E8F0"/>
              </a:solidFill>
              <a:latin typeface="JetBrains Mono"/>
              <a:ea typeface="JetBrains Mono"/>
            </a:endParaRPr>
          </a:p>
        </p:txBody>
      </p:sp>
      <p:sp>
        <p:nvSpPr>
          <p:cNvPr id="435" name="文本框 434" descr="{&quot;isTemplate&quot;:true,&quot;type&quot;:&quot;text&quot;}"/>
          <p:cNvSpPr txBox="1"/>
          <p:nvPr/>
        </p:nvSpPr>
        <p:spPr>
          <a:xfrm>
            <a:off x="800100" y="2066925"/>
            <a:ext cx="5010150" cy="2381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en-US" sz="900">
                <a:solidFill>
                  <a:srgbClr val="F59E0B"/>
                </a:solidFill>
                <a:latin typeface="JetBrains Mono"/>
                <a:ea typeface="JetBrains Mono"/>
              </a:rPr>
              <a:t>export sm4Key=$(fboot randhex 32)   # 16 </a:t>
            </a:r>
            <a:r>
              <a:rPr lang="zh-CN" sz="900">
                <a:solidFill>
                  <a:srgbClr val="F59E0B"/>
                </a:solidFill>
                <a:latin typeface="JetBrains Mono"/>
                <a:ea typeface="JetBrains Mono"/>
              </a:rPr>
              <a:t>字节；</a:t>
            </a:r>
            <a:r>
              <a:rPr lang="en-US" sz="900">
                <a:solidFill>
                  <a:srgbClr val="F59E0B"/>
                </a:solidFill>
                <a:latin typeface="JetBrains Mono"/>
                <a:ea typeface="JetBrains Mono"/>
              </a:rPr>
              <a:t>GCM </a:t>
            </a:r>
            <a:r>
              <a:rPr lang="zh-CN" sz="900">
                <a:solidFill>
                  <a:srgbClr val="F59E0B"/>
                </a:solidFill>
                <a:latin typeface="JetBrains Mono"/>
                <a:ea typeface="JetBrains Mono"/>
              </a:rPr>
              <a:t>的</a:t>
            </a:r>
            <a:r>
              <a:rPr lang="en-US" sz="900">
                <a:solidFill>
                  <a:srgbClr val="F59E0B"/>
                </a:solidFill>
                <a:latin typeface="JetBrains Mono"/>
                <a:ea typeface="JetBrains Mono"/>
              </a:rPr>
              <a:t> IV </a:t>
            </a:r>
            <a:r>
              <a:rPr lang="zh-CN" sz="900">
                <a:solidFill>
                  <a:srgbClr val="F59E0B"/>
                </a:solidFill>
                <a:latin typeface="JetBrains Mono"/>
                <a:ea typeface="JetBrains Mono"/>
              </a:rPr>
              <a:t>用</a:t>
            </a:r>
            <a:r>
              <a:rPr lang="en-US" sz="900">
                <a:solidFill>
                  <a:srgbClr val="F59E0B"/>
                </a:solidFill>
                <a:latin typeface="JetBrains Mono"/>
                <a:ea typeface="JetBrains Mono"/>
              </a:rPr>
              <a:t> fboot randhex 24</a:t>
            </a:r>
            <a:endParaRPr lang="en-US" sz="900">
              <a:solidFill>
                <a:srgbClr val="F59E0B"/>
              </a:solidFill>
              <a:latin typeface="JetBrains Mono"/>
              <a:ea typeface="JetBrains Mono"/>
            </a:endParaRPr>
          </a:p>
        </p:txBody>
      </p:sp>
      <p:sp>
        <p:nvSpPr>
          <p:cNvPr id="436" name="文本框 435" descr="{&quot;isTemplate&quot;:true,&quot;type&quot;:&quot;text&quot;}"/>
          <p:cNvSpPr txBox="1"/>
          <p:nvPr/>
        </p:nvSpPr>
        <p:spPr>
          <a:xfrm>
            <a:off x="800100" y="2305050"/>
            <a:ext cx="5010150" cy="2190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en-US" sz="900">
                <a:solidFill>
                  <a:srgbClr val="F59E0B"/>
                </a:solidFill>
                <a:latin typeface="JetBrains Mono"/>
                <a:ea typeface="JetBrains Mono"/>
              </a:rPr>
              <a:t>export sm4Iv=$(fboot randhex 32)</a:t>
            </a:r>
            <a:endParaRPr lang="en-US" sz="900">
              <a:solidFill>
                <a:srgbClr val="F59E0B"/>
              </a:solidFill>
              <a:latin typeface="JetBrains Mono"/>
              <a:ea typeface="JetBrains Mono"/>
            </a:endParaRPr>
          </a:p>
        </p:txBody>
      </p:sp>
      <p:sp>
        <p:nvSpPr>
          <p:cNvPr id="437" name="文本框 436" descr="{&quot;isTemplate&quot;:true,&quot;type&quot;:&quot;text&quot;}"/>
          <p:cNvSpPr txBox="1"/>
          <p:nvPr/>
        </p:nvSpPr>
        <p:spPr>
          <a:xfrm>
            <a:off x="800100" y="2524125"/>
            <a:ext cx="5010150" cy="2190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en-US" sz="900">
                <a:solidFill>
                  <a:srgbClr val="94A3B8"/>
                </a:solidFill>
                <a:latin typeface="JetBrains Mono"/>
                <a:ea typeface="JetBrains Mono"/>
              </a:rPr>
              <a:t>export sm4Operation=CBC             # CBC CFB CTR GCM OFB</a:t>
            </a:r>
            <a:r>
              <a:rPr lang="zh-CN" sz="900">
                <a:solidFill>
                  <a:srgbClr val="94A3B8"/>
                </a:solidFill>
                <a:latin typeface="JetBrains Mono"/>
                <a:ea typeface="JetBrains Mono"/>
              </a:rPr>
              <a:t>（</a:t>
            </a:r>
            <a:r>
              <a:rPr lang="en-US" sz="900">
                <a:solidFill>
                  <a:srgbClr val="94A3B8"/>
                </a:solidFill>
                <a:latin typeface="JetBrains Mono"/>
                <a:ea typeface="JetBrains Mono"/>
              </a:rPr>
              <a:t>ECB </a:t>
            </a:r>
            <a:r>
              <a:rPr lang="zh-CN" sz="900">
                <a:solidFill>
                  <a:srgbClr val="94A3B8"/>
                </a:solidFill>
                <a:latin typeface="JetBrains Mono"/>
                <a:ea typeface="JetBrains Mono"/>
              </a:rPr>
              <a:t>明确不支持）</a:t>
            </a:r>
            <a:endParaRPr lang="zh-CN" sz="900">
              <a:solidFill>
                <a:srgbClr val="94A3B8"/>
              </a:solidFill>
              <a:latin typeface="JetBrains Mono"/>
              <a:ea typeface="JetBrains Mono"/>
            </a:endParaRPr>
          </a:p>
        </p:txBody>
      </p:sp>
      <p:sp>
        <p:nvSpPr>
          <p:cNvPr id="438" name="文本框 437" descr="{&quot;isTemplate&quot;:true,&quot;type&quot;:&quot;text&quot;}"/>
          <p:cNvSpPr txBox="1"/>
          <p:nvPr/>
        </p:nvSpPr>
        <p:spPr>
          <a:xfrm>
            <a:off x="800100" y="2743200"/>
            <a:ext cx="5010150" cy="2190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en-US" sz="900">
                <a:solidFill>
                  <a:srgbClr val="94A3B8"/>
                </a:solidFill>
                <a:latin typeface="JetBrains Mono"/>
                <a:ea typeface="JetBrains Mono"/>
              </a:rPr>
              <a:t>export sm4Padding=PKCS7Padding      # NoPadding PKCS7Padding</a:t>
            </a:r>
            <a:endParaRPr lang="en-US" sz="900">
              <a:solidFill>
                <a:srgbClr val="94A3B8"/>
              </a:solidFill>
              <a:latin typeface="JetBrains Mono"/>
              <a:ea typeface="JetBrains Mono"/>
            </a:endParaRPr>
          </a:p>
        </p:txBody>
      </p:sp>
      <p:sp>
        <p:nvSpPr>
          <p:cNvPr id="439" name="矩形 438"/>
          <p:cNvSpPr/>
          <p:nvPr/>
        </p:nvSpPr>
        <p:spPr>
          <a:xfrm>
            <a:off x="800100" y="3076575"/>
            <a:ext cx="5010150" cy="9525"/>
          </a:xfrm>
          <a:prstGeom prst="rect">
            <a:avLst/>
          </a:prstGeom>
          <a:solidFill>
            <a:srgbClr val="1E293B"/>
          </a:solidFill>
        </p:spPr>
        <p:txBody>
          <a:bodyPr/>
          <a:p/>
        </p:txBody>
      </p:sp>
      <p:sp>
        <p:nvSpPr>
          <p:cNvPr id="440" name="文本框 439" descr="{&quot;isTemplate&quot;:true,&quot;type&quot;:&quot;text&quot;}"/>
          <p:cNvSpPr txBox="1"/>
          <p:nvPr/>
        </p:nvSpPr>
        <p:spPr>
          <a:xfrm>
            <a:off x="800100" y="3181350"/>
            <a:ext cx="5010150" cy="428625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en-US" sz="900">
                <a:solidFill>
                  <a:srgbClr val="E2E8F0"/>
                </a:solidFill>
                <a:latin typeface="JetBrains Mono"/>
                <a:ea typeface="JetBrains Mono"/>
              </a:rPr>
              <a:t>Config.getString(key) / getValue&lt;T&gt;(key) / getData&lt;T&gt;(key)   // </a:t>
            </a:r>
            <a:r>
              <a:rPr lang="zh-CN" sz="900">
                <a:solidFill>
                  <a:srgbClr val="E2E8F0"/>
                </a:solidFill>
                <a:latin typeface="JetBrains Mono"/>
                <a:ea typeface="JetBrains Mono"/>
              </a:rPr>
              <a:t>单数：失败返回</a:t>
            </a:r>
            <a:r>
              <a:rPr lang="en-US" sz="900">
                <a:solidFill>
                  <a:srgbClr val="E2E8F0"/>
                </a:solidFill>
                <a:latin typeface="JetBrains Mono"/>
                <a:ea typeface="JetBrains Mono"/>
              </a:rPr>
              <a:t> None</a:t>
            </a:r>
            <a:endParaRPr lang="en-US" sz="900">
              <a:solidFill>
                <a:srgbClr val="E2E8F0"/>
              </a:solidFill>
              <a:latin typeface="JetBrains Mono"/>
              <a:ea typeface="JetBrains Mono"/>
            </a:endParaRPr>
          </a:p>
        </p:txBody>
      </p:sp>
      <p:sp>
        <p:nvSpPr>
          <p:cNvPr id="441" name="文本框 440" descr="{&quot;isTemplate&quot;:true,&quot;type&quot;:&quot;text&quot;}"/>
          <p:cNvSpPr txBox="1"/>
          <p:nvPr/>
        </p:nvSpPr>
        <p:spPr>
          <a:xfrm>
            <a:off x="800100" y="3609975"/>
            <a:ext cx="5010150" cy="428625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en-US" sz="900">
                <a:solidFill>
                  <a:srgbClr val="E2E8F0"/>
                </a:solidFill>
                <a:latin typeface="JetBrains Mono"/>
                <a:ea typeface="JetBrains Mono"/>
              </a:rPr>
              <a:t>Config.getValues&lt;T&gt;(key, delim:) / getDatas&lt;T&gt;(key, delim:)  // </a:t>
            </a:r>
            <a:r>
              <a:rPr lang="zh-CN" sz="900">
                <a:solidFill>
                  <a:srgbClr val="E2E8F0"/>
                </a:solidFill>
                <a:latin typeface="JetBrains Mono"/>
                <a:ea typeface="JetBrains Mono"/>
              </a:rPr>
              <a:t>复数：失败抛异常</a:t>
            </a:r>
            <a:endParaRPr lang="zh-CN" sz="900">
              <a:solidFill>
                <a:srgbClr val="E2E8F0"/>
              </a:solidFill>
              <a:latin typeface="JetBrains Mono"/>
              <a:ea typeface="JetBrains Mono"/>
            </a:endParaRPr>
          </a:p>
        </p:txBody>
      </p:sp>
      <p:sp>
        <p:nvSpPr>
          <p:cNvPr id="442" name="文本框 441" descr="{&quot;isTemplate&quot;:true,&quot;type&quot;:&quot;text&quot;}"/>
          <p:cNvSpPr txBox="1"/>
          <p:nvPr/>
        </p:nvSpPr>
        <p:spPr>
          <a:xfrm>
            <a:off x="800100" y="4038600"/>
            <a:ext cx="5010150" cy="428625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en-US" sz="900">
                <a:solidFill>
                  <a:srgbClr val="94A3B8"/>
                </a:solidFill>
                <a:latin typeface="JetBrains Mono"/>
                <a:ea typeface="JetBrains Mono"/>
              </a:rPr>
              <a:t>Config.getStringArray(key, delim:) / getDuration(key) / getDateTime(key, format:)</a:t>
            </a:r>
            <a:endParaRPr lang="en-US" sz="900">
              <a:solidFill>
                <a:srgbClr val="94A3B8"/>
              </a:solidFill>
              <a:latin typeface="JetBrains Mono"/>
              <a:ea typeface="JetBrains Mono"/>
            </a:endParaRPr>
          </a:p>
        </p:txBody>
      </p:sp>
      <p:sp>
        <p:nvSpPr>
          <p:cNvPr id="443" name="文本框 442" descr="{&quot;isTemplate&quot;:true,&quot;type&quot;:&quot;text&quot;}"/>
          <p:cNvSpPr txBox="1"/>
          <p:nvPr/>
        </p:nvSpPr>
        <p:spPr>
          <a:xfrm>
            <a:off x="800100" y="4467225"/>
            <a:ext cx="5010150" cy="2190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en-US" sz="900">
                <a:solidFill>
                  <a:srgbClr val="94A3B8"/>
                </a:solidFill>
                <a:latin typeface="JetBrains Mono"/>
                <a:ea typeface="JetBrains Mono"/>
              </a:rPr>
              <a:t>Config.bufferSize(key, default:, debugging:)   // </a:t>
            </a:r>
            <a:r>
              <a:rPr lang="zh-CN" sz="900">
                <a:solidFill>
                  <a:srgbClr val="94A3B8"/>
                </a:solidFill>
                <a:latin typeface="JetBrains Mono"/>
                <a:ea typeface="JetBrains Mono"/>
              </a:rPr>
              <a:t>向上取到</a:t>
            </a:r>
            <a:r>
              <a:rPr lang="en-US" sz="900">
                <a:solidFill>
                  <a:srgbClr val="94A3B8"/>
                </a:solidFill>
                <a:latin typeface="JetBrains Mono"/>
                <a:ea typeface="JetBrains Mono"/>
              </a:rPr>
              <a:t> 2 </a:t>
            </a:r>
            <a:r>
              <a:rPr lang="zh-CN" sz="900">
                <a:solidFill>
                  <a:srgbClr val="94A3B8"/>
                </a:solidFill>
                <a:latin typeface="JetBrains Mono"/>
                <a:ea typeface="JetBrains Mono"/>
              </a:rPr>
              <a:t>的幂</a:t>
            </a:r>
            <a:endParaRPr lang="zh-CN" sz="900">
              <a:solidFill>
                <a:srgbClr val="94A3B8"/>
              </a:solidFill>
              <a:latin typeface="JetBrains Mono"/>
              <a:ea typeface="JetBrains Mono"/>
            </a:endParaRPr>
          </a:p>
        </p:txBody>
      </p:sp>
      <p:sp>
        <p:nvSpPr>
          <p:cNvPr id="444" name="文本框 443" descr="{&quot;isTemplate&quot;:true,&quot;type&quot;:&quot;text&quot;}"/>
          <p:cNvSpPr txBox="1"/>
          <p:nvPr/>
        </p:nvSpPr>
        <p:spPr>
          <a:xfrm>
            <a:off x="800100" y="4686300"/>
            <a:ext cx="5010150" cy="428625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en-US" sz="900">
                <a:solidFill>
                  <a:srgbClr val="94A3B8"/>
                </a:solidFill>
                <a:latin typeface="JetBrains Mono"/>
                <a:ea typeface="JetBrains Mono"/>
              </a:rPr>
              <a:t>Config.getAll(prefix) / getAll() / set&lt;T&gt;(tuples, ifAbsent:) / refresher(prefix, fn)</a:t>
            </a:r>
            <a:endParaRPr lang="en-US" sz="900">
              <a:solidFill>
                <a:srgbClr val="94A3B8"/>
              </a:solidFill>
              <a:latin typeface="JetBrains Mono"/>
              <a:ea typeface="JetBrains Mono"/>
            </a:endParaRPr>
          </a:p>
        </p:txBody>
      </p:sp>
      <p:sp>
        <p:nvSpPr>
          <p:cNvPr id="445" name="文本框 444" descr="{&quot;isTemplate&quot;:true,&quot;type&quot;:&quot;text&quot;}"/>
          <p:cNvSpPr txBox="1"/>
          <p:nvPr/>
        </p:nvSpPr>
        <p:spPr>
          <a:xfrm>
            <a:off x="800100" y="5114925"/>
            <a:ext cx="5010150" cy="2190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en-US" sz="900">
                <a:solidFill>
                  <a:srgbClr val="94A3B8"/>
                </a:solidFill>
                <a:latin typeface="JetBrains Mono"/>
                <a:ea typeface="JetBrains Mono"/>
              </a:rPr>
              <a:t>Config.getSM4() / Config.registerSensitive(key, value)</a:t>
            </a:r>
            <a:endParaRPr lang="en-US" sz="900">
              <a:solidFill>
                <a:srgbClr val="94A3B8"/>
              </a:solidFill>
              <a:latin typeface="JetBrains Mono"/>
              <a:ea typeface="JetBrains Mono"/>
            </a:endParaRPr>
          </a:p>
        </p:txBody>
      </p:sp>
      <p:sp>
        <p:nvSpPr>
          <p:cNvPr id="446" name="文本框 445" descr="{&quot;isTemplate&quot;:true,&quot;type&quot;:&quot;text&quot;}"/>
          <p:cNvSpPr txBox="1"/>
          <p:nvPr/>
        </p:nvSpPr>
        <p:spPr>
          <a:xfrm>
            <a:off x="800100" y="5391150"/>
            <a:ext cx="5010150" cy="2381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en-US" sz="900">
                <a:solidFill>
                  <a:srgbClr val="38BDF8"/>
                </a:solidFill>
                <a:latin typeface="JetBrains Mono"/>
                <a:ea typeface="JetBrains Mono"/>
              </a:rPr>
              <a:t>@EmbedSensitive(paySecretKey pushToken)   // </a:t>
            </a:r>
            <a:r>
              <a:rPr lang="zh-CN" sz="900">
                <a:solidFill>
                  <a:srgbClr val="38BDF8"/>
                </a:solidFill>
                <a:latin typeface="JetBrains Mono"/>
                <a:ea typeface="JetBrains Mono"/>
              </a:rPr>
              <a:t>编译期把敏感值嵌入产物</a:t>
            </a:r>
            <a:endParaRPr lang="zh-CN" sz="900">
              <a:solidFill>
                <a:srgbClr val="38BDF8"/>
              </a:solidFill>
              <a:latin typeface="JetBrains Mono"/>
              <a:ea typeface="JetBrains Mono"/>
            </a:endParaRPr>
          </a:p>
        </p:txBody>
      </p:sp>
      <p:sp>
        <p:nvSpPr>
          <p:cNvPr id="447" name="文本框 446" descr="{&quot;isTemplate&quot;:true,&quot;type&quot;:&quot;text&quot;}"/>
          <p:cNvSpPr txBox="1"/>
          <p:nvPr/>
        </p:nvSpPr>
        <p:spPr>
          <a:xfrm>
            <a:off x="800100" y="5629275"/>
            <a:ext cx="5010150" cy="2190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en-US" sz="900">
                <a:solidFill>
                  <a:srgbClr val="38BDF8"/>
                </a:solidFill>
                <a:latin typeface="JetBrains Mono"/>
                <a:ea typeface="JetBrains Mono"/>
              </a:rPr>
              <a:t>@DateTimeConfConverter[myDateFormat]      // </a:t>
            </a:r>
            <a:r>
              <a:rPr lang="zh-CN" sz="900">
                <a:solidFill>
                  <a:srgbClr val="38BDF8"/>
                </a:solidFill>
                <a:latin typeface="JetBrains Mono"/>
                <a:ea typeface="JetBrains Mono"/>
              </a:rPr>
              <a:t>时间格式本身也可配置</a:t>
            </a:r>
            <a:endParaRPr lang="zh-CN" sz="900">
              <a:solidFill>
                <a:srgbClr val="38BDF8"/>
              </a:solidFill>
              <a:latin typeface="JetBrains Mono"/>
              <a:ea typeface="JetBrains Mono"/>
            </a:endParaRPr>
          </a:p>
        </p:txBody>
      </p:sp>
      <p:sp>
        <p:nvSpPr>
          <p:cNvPr id="448" name="圆角矩形 447"/>
          <p:cNvSpPr/>
          <p:nvPr/>
        </p:nvSpPr>
        <p:spPr>
          <a:xfrm>
            <a:off x="6191250" y="1143000"/>
            <a:ext cx="5391150" cy="5143500"/>
          </a:xfrm>
          <a:prstGeom prst="roundRect">
            <a:avLst>
              <a:gd name="adj" fmla="val 2222"/>
            </a:avLst>
          </a:prstGeom>
          <a:solidFill>
            <a:srgbClr val="0B1220"/>
          </a:solidFill>
          <a:ln w="12700">
            <a:solidFill>
              <a:srgbClr val="1E293B"/>
            </a:solidFill>
            <a:prstDash val="solid"/>
          </a:ln>
        </p:spPr>
        <p:txBody>
          <a:bodyPr/>
          <a:p/>
        </p:txBody>
      </p:sp>
      <p:sp>
        <p:nvSpPr>
          <p:cNvPr id="449" name="文本框 448" descr="{&quot;isTemplate&quot;:true,&quot;type&quot;:&quot;text&quot;}"/>
          <p:cNvSpPr txBox="1"/>
          <p:nvPr/>
        </p:nvSpPr>
        <p:spPr>
          <a:xfrm>
            <a:off x="6381750" y="1333500"/>
            <a:ext cx="5010150" cy="2190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en-US" sz="900">
                <a:solidFill>
                  <a:srgbClr val="F59E0B"/>
                </a:solidFill>
                <a:latin typeface="JetBrains Mono"/>
                <a:ea typeface="JetBrains Mono"/>
              </a:rPr>
              <a:t># </a:t>
            </a:r>
            <a:r>
              <a:rPr lang="zh-CN" sz="900">
                <a:solidFill>
                  <a:srgbClr val="F59E0B"/>
                </a:solidFill>
                <a:latin typeface="JetBrains Mono"/>
                <a:ea typeface="JetBrains Mono"/>
              </a:rPr>
              <a:t>日志（</a:t>
            </a:r>
            <a:r>
              <a:rPr lang="en-US" sz="900">
                <a:solidFill>
                  <a:srgbClr val="F59E0B"/>
                </a:solidFill>
                <a:latin typeface="JetBrains Mono"/>
                <a:ea typeface="JetBrains Mono"/>
              </a:rPr>
              <a:t>f_log</a:t>
            </a:r>
            <a:r>
              <a:rPr lang="zh-CN" sz="900">
                <a:solidFill>
                  <a:srgbClr val="F59E0B"/>
                </a:solidFill>
                <a:latin typeface="JetBrains Mono"/>
                <a:ea typeface="JetBrains Mono"/>
              </a:rPr>
              <a:t>）：默认静默</a:t>
            </a:r>
            <a:r>
              <a:rPr lang="en-US" sz="900">
                <a:solidFill>
                  <a:srgbClr val="F59E0B"/>
                </a:solidFill>
                <a:latin typeface="JetBrains Mono"/>
                <a:ea typeface="JetBrains Mono"/>
              </a:rPr>
              <a:t> —— </a:t>
            </a:r>
            <a:r>
              <a:rPr lang="zh-CN" sz="900">
                <a:solidFill>
                  <a:srgbClr val="F59E0B"/>
                </a:solidFill>
                <a:latin typeface="JetBrains Mono"/>
                <a:ea typeface="JetBrains Mono"/>
              </a:rPr>
              <a:t>不配</a:t>
            </a:r>
            <a:r>
              <a:rPr lang="en-US" sz="900">
                <a:solidFill>
                  <a:srgbClr val="F59E0B"/>
                </a:solidFill>
                <a:latin typeface="JetBrains Mono"/>
                <a:ea typeface="JetBrains Mono"/>
              </a:rPr>
              <a:t> appender </a:t>
            </a:r>
            <a:r>
              <a:rPr lang="zh-CN" sz="900">
                <a:solidFill>
                  <a:srgbClr val="F59E0B"/>
                </a:solidFill>
                <a:latin typeface="JetBrains Mono"/>
                <a:ea typeface="JetBrains Mono"/>
              </a:rPr>
              <a:t>就没有任何输出</a:t>
            </a:r>
            <a:endParaRPr lang="zh-CN" sz="900">
              <a:solidFill>
                <a:srgbClr val="F59E0B"/>
              </a:solidFill>
              <a:latin typeface="JetBrains Mono"/>
              <a:ea typeface="JetBrains Mono"/>
            </a:endParaRPr>
          </a:p>
        </p:txBody>
      </p:sp>
      <p:sp>
        <p:nvSpPr>
          <p:cNvPr id="450" name="文本框 449" descr="{&quot;isTemplate&quot;:true,&quot;type&quot;:&quot;text&quot;}"/>
          <p:cNvSpPr txBox="1"/>
          <p:nvPr/>
        </p:nvSpPr>
        <p:spPr>
          <a:xfrm>
            <a:off x="6381750" y="1552575"/>
            <a:ext cx="5010150" cy="428625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en-US" sz="900">
                <a:solidFill>
                  <a:srgbClr val="E2E8F0"/>
                </a:solidFill>
                <a:latin typeface="JetBrains Mono"/>
                <a:ea typeface="JetBrains Mono"/>
              </a:rPr>
              <a:t>export logger_appender_console=MyConsole      # </a:t>
            </a:r>
            <a:r>
              <a:rPr lang="zh-CN" sz="900">
                <a:solidFill>
                  <a:srgbClr val="E2E8F0"/>
                </a:solidFill>
                <a:latin typeface="JetBrains Mono"/>
                <a:ea typeface="JetBrains Mono"/>
              </a:rPr>
              <a:t>值</a:t>
            </a:r>
            <a:r>
              <a:rPr lang="en-US" sz="900">
                <a:solidFill>
                  <a:srgbClr val="E2E8F0"/>
                </a:solidFill>
                <a:latin typeface="JetBrains Mono"/>
                <a:ea typeface="JetBrains Mono"/>
              </a:rPr>
              <a:t> = </a:t>
            </a:r>
            <a:r>
              <a:rPr lang="zh-CN" sz="900">
                <a:solidFill>
                  <a:srgbClr val="E2E8F0"/>
                </a:solidFill>
                <a:latin typeface="JetBrains Mono"/>
                <a:ea typeface="JetBrains Mono"/>
              </a:rPr>
              <a:t>你起的</a:t>
            </a:r>
            <a:r>
              <a:rPr lang="en-US" sz="900">
                <a:solidFill>
                  <a:srgbClr val="E2E8F0"/>
                </a:solidFill>
                <a:latin typeface="JetBrains Mono"/>
                <a:ea typeface="JetBrains Mono"/>
              </a:rPr>
              <a:t> appender </a:t>
            </a:r>
            <a:r>
              <a:rPr lang="zh-CN" sz="900">
                <a:solidFill>
                  <a:srgbClr val="E2E8F0"/>
                </a:solidFill>
                <a:latin typeface="JetBrains Mono"/>
                <a:ea typeface="JetBrains Mono"/>
              </a:rPr>
              <a:t>名，逗号分隔可多个</a:t>
            </a:r>
            <a:endParaRPr lang="zh-CN" sz="900">
              <a:solidFill>
                <a:srgbClr val="E2E8F0"/>
              </a:solidFill>
              <a:latin typeface="JetBrains Mono"/>
              <a:ea typeface="JetBrains Mono"/>
            </a:endParaRPr>
          </a:p>
        </p:txBody>
      </p:sp>
      <p:sp>
        <p:nvSpPr>
          <p:cNvPr id="451" name="文本框 450" descr="{&quot;isTemplate&quot;:true,&quot;type&quot;:&quot;text&quot;}"/>
          <p:cNvSpPr txBox="1"/>
          <p:nvPr/>
        </p:nvSpPr>
        <p:spPr>
          <a:xfrm>
            <a:off x="6381750" y="1981200"/>
            <a:ext cx="5010150" cy="428625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en-US" sz="900">
                <a:solidFill>
                  <a:srgbClr val="E2E8F0"/>
                </a:solidFill>
                <a:latin typeface="JetBrains Mono"/>
                <a:ea typeface="JetBrains Mono"/>
              </a:rPr>
              <a:t>export logger_appender_MyConsole_level=INFO   # OFF/ERROR/WARN/INFO/DEBUG/TRACE/ALL</a:t>
            </a:r>
            <a:r>
              <a:rPr lang="zh-CN" sz="900">
                <a:solidFill>
                  <a:srgbClr val="E2E8F0"/>
                </a:solidFill>
                <a:latin typeface="JetBrains Mono"/>
                <a:ea typeface="JetBrains Mono"/>
              </a:rPr>
              <a:t>（无</a:t>
            </a:r>
            <a:r>
              <a:rPr lang="en-US" sz="900">
                <a:solidFill>
                  <a:srgbClr val="E2E8F0"/>
                </a:solidFill>
                <a:latin typeface="JetBrains Mono"/>
                <a:ea typeface="JetBrains Mono"/>
              </a:rPr>
              <a:t> FATAL</a:t>
            </a:r>
            <a:r>
              <a:rPr lang="zh-CN" sz="900">
                <a:solidFill>
                  <a:srgbClr val="E2E8F0"/>
                </a:solidFill>
                <a:latin typeface="JetBrains Mono"/>
                <a:ea typeface="JetBrains Mono"/>
              </a:rPr>
              <a:t>）</a:t>
            </a:r>
            <a:endParaRPr lang="zh-CN" sz="900">
              <a:solidFill>
                <a:srgbClr val="E2E8F0"/>
              </a:solidFill>
              <a:latin typeface="JetBrains Mono"/>
              <a:ea typeface="JetBrains Mono"/>
            </a:endParaRPr>
          </a:p>
        </p:txBody>
      </p:sp>
      <p:sp>
        <p:nvSpPr>
          <p:cNvPr id="452" name="文本框 451" descr="{&quot;isTemplate&quot;:true,&quot;type&quot;:&quot;text&quot;}"/>
          <p:cNvSpPr txBox="1"/>
          <p:nvPr/>
        </p:nvSpPr>
        <p:spPr>
          <a:xfrm>
            <a:off x="6381750" y="2409825"/>
            <a:ext cx="5010150" cy="428625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en-US" sz="900">
                <a:solidFill>
                  <a:srgbClr val="38BDF8"/>
                </a:solidFill>
                <a:latin typeface="JetBrains Mono"/>
                <a:ea typeface="JetBrains Mono"/>
              </a:rPr>
              <a:t>export logger_appender_MyConsole_pattern='[%level-%name]%d{yyyy/MM/dd,HH:mm:ss.SSS}|%tid;%m'</a:t>
            </a:r>
            <a:endParaRPr lang="en-US" sz="900">
              <a:solidFill>
                <a:srgbClr val="38BDF8"/>
              </a:solidFill>
              <a:latin typeface="JetBrains Mono"/>
              <a:ea typeface="JetBrains Mono"/>
            </a:endParaRPr>
          </a:p>
        </p:txBody>
      </p:sp>
      <p:sp>
        <p:nvSpPr>
          <p:cNvPr id="453" name="文本框 452" descr="{&quot;isTemplate&quot;:true,&quot;type&quot;:&quot;text&quot;}"/>
          <p:cNvSpPr txBox="1"/>
          <p:nvPr/>
        </p:nvSpPr>
        <p:spPr>
          <a:xfrm>
            <a:off x="6381750" y="2838450"/>
            <a:ext cx="5010150" cy="2190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en-US" sz="900">
                <a:solidFill>
                  <a:srgbClr val="E2E8F0"/>
                </a:solidFill>
                <a:latin typeface="JetBrains Mono"/>
                <a:ea typeface="JetBrains Mono"/>
              </a:rPr>
              <a:t>export logger_appender_file=MyFile</a:t>
            </a:r>
            <a:endParaRPr lang="en-US" sz="900">
              <a:solidFill>
                <a:srgbClr val="E2E8F0"/>
              </a:solidFill>
              <a:latin typeface="JetBrains Mono"/>
              <a:ea typeface="JetBrains Mono"/>
            </a:endParaRPr>
          </a:p>
        </p:txBody>
      </p:sp>
      <p:sp>
        <p:nvSpPr>
          <p:cNvPr id="454" name="文本框 453" descr="{&quot;isTemplate&quot;:true,&quot;type&quot;:&quot;text&quot;}"/>
          <p:cNvSpPr txBox="1"/>
          <p:nvPr/>
        </p:nvSpPr>
        <p:spPr>
          <a:xfrm>
            <a:off x="6381750" y="3057525"/>
            <a:ext cx="5010150" cy="2190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en-US" sz="900">
                <a:solidFill>
                  <a:srgbClr val="E2E8F0"/>
                </a:solidFill>
                <a:latin typeface="JetBrains Mono"/>
                <a:ea typeface="JetBrains Mono"/>
              </a:rPr>
              <a:t>export logger_appender_MyFile_level=INFO</a:t>
            </a:r>
            <a:endParaRPr lang="en-US" sz="900">
              <a:solidFill>
                <a:srgbClr val="E2E8F0"/>
              </a:solidFill>
              <a:latin typeface="JetBrains Mono"/>
              <a:ea typeface="JetBrains Mono"/>
            </a:endParaRPr>
          </a:p>
        </p:txBody>
      </p:sp>
      <p:sp>
        <p:nvSpPr>
          <p:cNvPr id="455" name="文本框 454" descr="{&quot;isTemplate&quot;:true,&quot;type&quot;:&quot;text&quot;}"/>
          <p:cNvSpPr txBox="1"/>
          <p:nvPr/>
        </p:nvSpPr>
        <p:spPr>
          <a:xfrm>
            <a:off x="6381750" y="3276600"/>
            <a:ext cx="5010150" cy="428625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en-US" sz="900">
                <a:solidFill>
                  <a:srgbClr val="E2E8F0"/>
                </a:solidFill>
                <a:latin typeface="JetBrains Mono"/>
                <a:ea typeface="JetBrains Mono"/>
              </a:rPr>
              <a:t>export logger_appender_MyFile_path=./log/app.log   # </a:t>
            </a:r>
            <a:r>
              <a:rPr lang="zh-CN" sz="900">
                <a:solidFill>
                  <a:srgbClr val="E2E8F0"/>
                </a:solidFill>
                <a:latin typeface="JetBrains Mono"/>
                <a:ea typeface="JetBrains Mono"/>
              </a:rPr>
              <a:t>默认</a:t>
            </a:r>
            <a:r>
              <a:rPr lang="en-US" sz="900">
                <a:solidFill>
                  <a:srgbClr val="E2E8F0"/>
                </a:solidFill>
                <a:latin typeface="JetBrains Mono"/>
                <a:ea typeface="JetBrains Mono"/>
              </a:rPr>
              <a:t> </a:t>
            </a:r>
            <a:r>
              <a:rPr lang="zh-CN" sz="900">
                <a:solidFill>
                  <a:srgbClr val="E2E8F0"/>
                </a:solidFill>
                <a:latin typeface="JetBrains Mono"/>
                <a:ea typeface="JetBrains Mono"/>
              </a:rPr>
              <a:t>工作目录</a:t>
            </a:r>
            <a:r>
              <a:rPr lang="en-US" sz="900">
                <a:solidFill>
                  <a:srgbClr val="E2E8F0"/>
                </a:solidFill>
                <a:latin typeface="JetBrains Mono"/>
                <a:ea typeface="JetBrains Mono"/>
              </a:rPr>
              <a:t>/logs/</a:t>
            </a:r>
            <a:r>
              <a:rPr lang="zh-CN" sz="900">
                <a:solidFill>
                  <a:srgbClr val="E2E8F0"/>
                </a:solidFill>
                <a:latin typeface="JetBrains Mono"/>
                <a:ea typeface="JetBrains Mono"/>
              </a:rPr>
              <a:t>命令名</a:t>
            </a:r>
            <a:r>
              <a:rPr lang="en-US" sz="900">
                <a:solidFill>
                  <a:srgbClr val="E2E8F0"/>
                </a:solidFill>
                <a:latin typeface="JetBrains Mono"/>
                <a:ea typeface="JetBrains Mono"/>
              </a:rPr>
              <a:t>.log</a:t>
            </a:r>
            <a:endParaRPr lang="en-US" sz="900">
              <a:solidFill>
                <a:srgbClr val="E2E8F0"/>
              </a:solidFill>
              <a:latin typeface="JetBrains Mono"/>
              <a:ea typeface="JetBrains Mono"/>
            </a:endParaRPr>
          </a:p>
        </p:txBody>
      </p:sp>
      <p:sp>
        <p:nvSpPr>
          <p:cNvPr id="456" name="文本框 455" descr="{&quot;isTemplate&quot;:true,&quot;type&quot;:&quot;text&quot;}"/>
          <p:cNvSpPr txBox="1"/>
          <p:nvPr/>
        </p:nvSpPr>
        <p:spPr>
          <a:xfrm>
            <a:off x="6381750" y="3705225"/>
            <a:ext cx="5010150" cy="428625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en-US" sz="900">
                <a:solidFill>
                  <a:srgbClr val="F59E0B"/>
                </a:solidFill>
                <a:latin typeface="JetBrains Mono"/>
                <a:ea typeface="JetBrains Mono"/>
              </a:rPr>
              <a:t>export logger_appender_MyFile_rotateDuration=DAY   # NANOSECOND..YEAR</a:t>
            </a:r>
            <a:r>
              <a:rPr lang="zh-CN" sz="900">
                <a:solidFill>
                  <a:srgbClr val="F59E0B"/>
                </a:solidFill>
                <a:latin typeface="JetBrains Mono"/>
                <a:ea typeface="JetBrains Mono"/>
              </a:rPr>
              <a:t>，别用亚秒级</a:t>
            </a:r>
            <a:endParaRPr lang="zh-CN" sz="900">
              <a:solidFill>
                <a:srgbClr val="F59E0B"/>
              </a:solidFill>
              <a:latin typeface="JetBrains Mono"/>
              <a:ea typeface="JetBrains Mono"/>
            </a:endParaRPr>
          </a:p>
        </p:txBody>
      </p:sp>
      <p:sp>
        <p:nvSpPr>
          <p:cNvPr id="457" name="文本框 456" descr="{&quot;isTemplate&quot;:true,&quot;type&quot;:&quot;text&quot;}"/>
          <p:cNvSpPr txBox="1"/>
          <p:nvPr/>
        </p:nvSpPr>
        <p:spPr>
          <a:xfrm>
            <a:off x="6381750" y="4133850"/>
            <a:ext cx="5010150" cy="2190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en-US" sz="900">
                <a:solidFill>
                  <a:srgbClr val="94A3B8"/>
                </a:solidFill>
                <a:latin typeface="JetBrains Mono"/>
                <a:ea typeface="JetBrains Mono"/>
              </a:rPr>
              <a:t>export logger_appender_MyFile_rotateSize=100M      # </a:t>
            </a:r>
            <a:r>
              <a:rPr lang="zh-CN" sz="900">
                <a:solidFill>
                  <a:srgbClr val="94A3B8"/>
                </a:solidFill>
                <a:latin typeface="JetBrains Mono"/>
                <a:ea typeface="JetBrains Mono"/>
              </a:rPr>
              <a:t>可选，支持</a:t>
            </a:r>
            <a:r>
              <a:rPr lang="en-US" sz="900">
                <a:solidFill>
                  <a:srgbClr val="94A3B8"/>
                </a:solidFill>
                <a:latin typeface="JetBrains Mono"/>
                <a:ea typeface="JetBrains Mono"/>
              </a:rPr>
              <a:t> 100k/100M/1G</a:t>
            </a:r>
            <a:endParaRPr lang="en-US" sz="900">
              <a:solidFill>
                <a:srgbClr val="94A3B8"/>
              </a:solidFill>
              <a:latin typeface="JetBrains Mono"/>
              <a:ea typeface="JetBrains Mono"/>
            </a:endParaRPr>
          </a:p>
        </p:txBody>
      </p:sp>
      <p:sp>
        <p:nvSpPr>
          <p:cNvPr id="458" name="文本框 457" descr="{&quot;isTemplate&quot;:true,&quot;type&quot;:&quot;text&quot;}"/>
          <p:cNvSpPr txBox="1"/>
          <p:nvPr/>
        </p:nvSpPr>
        <p:spPr>
          <a:xfrm>
            <a:off x="6381750" y="4352925"/>
            <a:ext cx="5010150" cy="2190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en-US" sz="900">
                <a:solidFill>
                  <a:srgbClr val="94A3B8"/>
                </a:solidFill>
                <a:latin typeface="JetBrains Mono"/>
                <a:ea typeface="JetBrains Mono"/>
              </a:rPr>
              <a:t>export logger_appender_MyFile_compressFormat=GZip  # </a:t>
            </a:r>
            <a:r>
              <a:rPr lang="zh-CN" sz="900">
                <a:solidFill>
                  <a:srgbClr val="94A3B8"/>
                </a:solidFill>
                <a:latin typeface="JetBrains Mono"/>
                <a:ea typeface="JetBrains Mono"/>
              </a:rPr>
              <a:t>可选：</a:t>
            </a:r>
            <a:r>
              <a:rPr lang="en-US" sz="900">
                <a:solidFill>
                  <a:srgbClr val="94A3B8"/>
                </a:solidFill>
                <a:latin typeface="JetBrains Mono"/>
                <a:ea typeface="JetBrains Mono"/>
              </a:rPr>
              <a:t>Deflate / GZip</a:t>
            </a:r>
            <a:endParaRPr lang="en-US" sz="900">
              <a:solidFill>
                <a:srgbClr val="94A3B8"/>
              </a:solidFill>
              <a:latin typeface="JetBrains Mono"/>
              <a:ea typeface="JetBrains Mono"/>
            </a:endParaRPr>
          </a:p>
        </p:txBody>
      </p:sp>
      <p:sp>
        <p:nvSpPr>
          <p:cNvPr id="459" name="文本框 458" descr="{&quot;isTemplate&quot;:true,&quot;type&quot;:&quot;text&quot;}"/>
          <p:cNvSpPr txBox="1"/>
          <p:nvPr/>
        </p:nvSpPr>
        <p:spPr>
          <a:xfrm>
            <a:off x="6381750" y="4572000"/>
            <a:ext cx="5010150" cy="2190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en-US" sz="900">
                <a:solidFill>
                  <a:srgbClr val="64748B"/>
                </a:solidFill>
                <a:latin typeface="JetBrains Mono"/>
                <a:ea typeface="JetBrains Mono"/>
              </a:rPr>
              <a:t># export loggerAsyncBufsize=1024      # </a:t>
            </a:r>
            <a:r>
              <a:rPr lang="zh-CN" sz="900">
                <a:solidFill>
                  <a:srgbClr val="64748B"/>
                </a:solidFill>
                <a:latin typeface="JetBrains Mono"/>
                <a:ea typeface="JetBrains Mono"/>
              </a:rPr>
              <a:t>异步队列容量</a:t>
            </a:r>
            <a:r>
              <a:rPr lang="en-US" sz="900">
                <a:solidFill>
                  <a:srgbClr val="64748B"/>
                </a:solidFill>
                <a:latin typeface="JetBrains Mono"/>
                <a:ea typeface="JetBrains Mono"/>
              </a:rPr>
              <a:t> &amp; </a:t>
            </a:r>
            <a:r>
              <a:rPr lang="zh-CN" sz="900">
                <a:solidFill>
                  <a:srgbClr val="64748B"/>
                </a:solidFill>
                <a:latin typeface="JetBrains Mono"/>
                <a:ea typeface="JetBrains Mono"/>
              </a:rPr>
              <a:t>缓冲区池大小</a:t>
            </a:r>
            <a:endParaRPr lang="zh-CN" sz="900">
              <a:solidFill>
                <a:srgbClr val="64748B"/>
              </a:solidFill>
              <a:latin typeface="JetBrains Mono"/>
              <a:ea typeface="JetBrains Mono"/>
            </a:endParaRPr>
          </a:p>
        </p:txBody>
      </p:sp>
      <p:sp>
        <p:nvSpPr>
          <p:cNvPr id="460" name="圆角矩形 459"/>
          <p:cNvSpPr/>
          <p:nvPr/>
        </p:nvSpPr>
        <p:spPr>
          <a:xfrm>
            <a:off x="6381750" y="4924425"/>
            <a:ext cx="5010150" cy="1171575"/>
          </a:xfrm>
          <a:prstGeom prst="roundRect">
            <a:avLst>
              <a:gd name="adj" fmla="val 8130"/>
            </a:avLst>
          </a:prstGeom>
          <a:solidFill>
            <a:srgbClr val="F59E0B">
              <a:alpha val="7000"/>
            </a:srgbClr>
          </a:solidFill>
          <a:ln w="12700">
            <a:solidFill>
              <a:srgbClr val="F59E0B"/>
            </a:solidFill>
            <a:prstDash val="solid"/>
          </a:ln>
        </p:spPr>
        <p:txBody>
          <a:bodyPr/>
          <a:p/>
        </p:txBody>
      </p:sp>
      <p:sp>
        <p:nvSpPr>
          <p:cNvPr id="461" name="文本框 460" descr="{&quot;isTemplate&quot;:true,&quot;type&quot;:&quot;text&quot;}"/>
          <p:cNvSpPr txBox="1"/>
          <p:nvPr/>
        </p:nvSpPr>
        <p:spPr>
          <a:xfrm>
            <a:off x="6515100" y="5057775"/>
            <a:ext cx="4743450" cy="485775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75000"/>
              </a:lnSpc>
            </a:pPr>
            <a:r>
              <a:rPr lang="zh-CN" sz="900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三件事：默认静默；级别挂在「你起的名字」上（不是</a:t>
            </a:r>
            <a:r>
              <a:rPr lang="en-US" sz="900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 console / file </a:t>
            </a:r>
            <a:r>
              <a:rPr lang="zh-CN" sz="900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这种类型名）；</a:t>
            </a:r>
            <a:r>
              <a:rPr lang="en-US" sz="900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rotateDuration </a:t>
            </a:r>
            <a:r>
              <a:rPr lang="zh-CN" sz="900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别用亚秒级。</a:t>
            </a:r>
            <a:endParaRPr lang="zh-CN" sz="900">
              <a:solidFill>
                <a:srgbClr val="F59E0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62" name="任意多边形 461"/>
          <p:cNvSpPr/>
          <p:nvPr/>
        </p:nvSpPr>
        <p:spPr>
          <a:xfrm>
            <a:off x="609600" y="6286500"/>
            <a:ext cx="10972800" cy="381000"/>
          </a:xfrm>
          <a:custGeom>
            <a:avLst/>
            <a:gdLst/>
            <a:ahLst/>
            <a:cxnLst/>
            <a:pathLst>
              <a:path w="1152" h="40">
                <a:moveTo>
                  <a:pt x="0" y="0"/>
                </a:moveTo>
                <a:lnTo>
                  <a:pt x="1152" y="0"/>
                </a:lnTo>
                <a:lnTo>
                  <a:pt x="1152" y="1"/>
                </a:lnTo>
                <a:lnTo>
                  <a:pt x="0" y="1"/>
                </a:lnTo>
                <a:close/>
              </a:path>
            </a:pathLst>
          </a:custGeom>
          <a:solidFill>
            <a:srgbClr val="1E293B"/>
          </a:solidFill>
        </p:spPr>
        <p:txBody>
          <a:bodyPr/>
          <a:p/>
        </p:txBody>
      </p:sp>
      <p:sp>
        <p:nvSpPr>
          <p:cNvPr id="463" name="文本框 462" descr="{&quot;isTemplate&quot;:true,&quot;type&quot;:&quot;text&quot;}"/>
          <p:cNvSpPr txBox="1"/>
          <p:nvPr/>
        </p:nvSpPr>
        <p:spPr>
          <a:xfrm>
            <a:off x="609600" y="6410325"/>
            <a:ext cx="2219325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fountain · 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一站式服务器应用开发工具库</a:t>
            </a:r>
            <a:endParaRPr lang="zh-CN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64" name="文本框 463" descr="{&quot;isTemplate&quot;:true,&quot;type&quot;:&quot;text&quot;}"/>
          <p:cNvSpPr txBox="1"/>
          <p:nvPr/>
        </p:nvSpPr>
        <p:spPr>
          <a:xfrm>
            <a:off x="11020425" y="6410325"/>
            <a:ext cx="561975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114 / 116</a:t>
            </a:r>
            <a:endParaRPr lang="en-US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46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6" name="矩形 465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220"/>
          </a:solidFill>
        </p:spPr>
        <p:txBody>
          <a:bodyPr/>
          <a:p/>
        </p:txBody>
      </p:sp>
      <p:sp>
        <p:nvSpPr>
          <p:cNvPr id="467" name="矩形 466"/>
          <p:cNvSpPr/>
          <p:nvPr/>
        </p:nvSpPr>
        <p:spPr>
          <a:xfrm>
            <a:off x="609600" y="476250"/>
            <a:ext cx="38100" cy="381000"/>
          </a:xfrm>
          <a:prstGeom prst="rect">
            <a:avLst/>
          </a:prstGeom>
          <a:solidFill>
            <a:srgbClr val="38BDF8"/>
          </a:solidFill>
        </p:spPr>
        <p:txBody>
          <a:bodyPr/>
          <a:p/>
        </p:txBody>
      </p:sp>
      <p:sp>
        <p:nvSpPr>
          <p:cNvPr id="468" name="文本框 467" descr="{&quot;isTemplate&quot;:true,&quot;type&quot;:&quot;text&quot;}"/>
          <p:cNvSpPr txBox="1"/>
          <p:nvPr/>
        </p:nvSpPr>
        <p:spPr>
          <a:xfrm>
            <a:off x="819150" y="304800"/>
            <a:ext cx="9725025" cy="2095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附录</a:t>
            </a: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 A · 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一页速查表</a:t>
            </a:r>
            <a:endParaRPr lang="zh-CN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69" name="文本框 468" descr="{&quot;isTemplate&quot;:true,&quot;type&quot;:&quot;text&quot;}"/>
          <p:cNvSpPr txBox="1"/>
          <p:nvPr/>
        </p:nvSpPr>
        <p:spPr>
          <a:xfrm>
            <a:off x="819150" y="514350"/>
            <a:ext cx="9725025" cy="5143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2550" b="1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关键</a:t>
            </a:r>
            <a:r>
              <a:rPr lang="en-US" sz="2550" b="1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 API </a:t>
            </a:r>
            <a:r>
              <a:rPr lang="zh-CN" sz="2550" b="1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速查</a:t>
            </a:r>
            <a:endParaRPr lang="zh-CN" sz="2550" b="1">
              <a:solidFill>
                <a:srgbClr val="E2E8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70" name="文本框 469" descr="{&quot;isTemplate&quot;:true,&quot;type&quot;:&quot;text&quot;}"/>
          <p:cNvSpPr txBox="1"/>
          <p:nvPr/>
        </p:nvSpPr>
        <p:spPr>
          <a:xfrm>
            <a:off x="10715625" y="590550"/>
            <a:ext cx="866775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整个讲稿的索引</a:t>
            </a:r>
            <a:endParaRPr lang="zh-CN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71" name="圆角矩形 470"/>
          <p:cNvSpPr/>
          <p:nvPr/>
        </p:nvSpPr>
        <p:spPr>
          <a:xfrm>
            <a:off x="609600" y="1143000"/>
            <a:ext cx="5391150" cy="5143500"/>
          </a:xfrm>
          <a:prstGeom prst="roundRect">
            <a:avLst>
              <a:gd name="adj" fmla="val 2222"/>
            </a:avLst>
          </a:prstGeom>
          <a:solidFill>
            <a:srgbClr val="0B1220"/>
          </a:solidFill>
          <a:ln w="12700">
            <a:solidFill>
              <a:srgbClr val="38BDF8"/>
            </a:solidFill>
            <a:prstDash val="solid"/>
          </a:ln>
        </p:spPr>
        <p:txBody>
          <a:bodyPr/>
          <a:p/>
        </p:txBody>
      </p:sp>
      <p:sp>
        <p:nvSpPr>
          <p:cNvPr id="472" name="文本框 471" descr="{&quot;isTemplate&quot;:true,&quot;type&quot;:&quot;text&quot;}"/>
          <p:cNvSpPr txBox="1"/>
          <p:nvPr/>
        </p:nvSpPr>
        <p:spPr>
          <a:xfrm>
            <a:off x="781050" y="1314450"/>
            <a:ext cx="5048250" cy="1905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en-US" sz="825">
                <a:solidFill>
                  <a:srgbClr val="94A3B8"/>
                </a:solidFill>
                <a:latin typeface="JetBrains Mono"/>
                <a:ea typeface="JetBrains Mono"/>
              </a:rPr>
              <a:t>// f_bean</a:t>
            </a:r>
            <a:r>
              <a:rPr lang="zh-CN" sz="825">
                <a:solidFill>
                  <a:srgbClr val="94A3B8"/>
                </a:solidFill>
                <a:latin typeface="JetBrains Mono"/>
                <a:ea typeface="JetBrains Mono"/>
              </a:rPr>
              <a:t>：</a:t>
            </a:r>
            <a:r>
              <a:rPr lang="en-US" sz="825">
                <a:solidFill>
                  <a:srgbClr val="94A3B8"/>
                </a:solidFill>
                <a:latin typeface="JetBrains Mono"/>
                <a:ea typeface="JetBrains Mono"/>
              </a:rPr>
              <a:t>IOC</a:t>
            </a:r>
            <a:endParaRPr lang="en-US" sz="825">
              <a:solidFill>
                <a:srgbClr val="94A3B8"/>
              </a:solidFill>
              <a:latin typeface="JetBrains Mono"/>
              <a:ea typeface="JetBrains Mono"/>
            </a:endParaRPr>
          </a:p>
        </p:txBody>
      </p:sp>
      <p:sp>
        <p:nvSpPr>
          <p:cNvPr id="473" name="文本框 472" descr="{&quot;isTemplate&quot;:true,&quot;type&quot;:&quot;text&quot;}"/>
          <p:cNvSpPr txBox="1"/>
          <p:nvPr/>
        </p:nvSpPr>
        <p:spPr>
          <a:xfrm>
            <a:off x="781050" y="1504950"/>
            <a:ext cx="5048250" cy="371475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45000"/>
              </a:lnSpc>
            </a:pPr>
            <a:r>
              <a:rPr lang="en-US" sz="825">
                <a:solidFill>
                  <a:srgbClr val="E2E8F0"/>
                </a:solidFill>
                <a:latin typeface="JetBrains Mono"/>
                <a:ea typeface="JetBrains Mono"/>
              </a:rPr>
              <a:t>lookup&lt;T&gt;() / lookup&lt;T&gt;(name) / lookup&lt;T&gt;(cond) / lookupOption / lookupList / lookupHashMap</a:t>
            </a:r>
            <a:endParaRPr lang="en-US" sz="825">
              <a:solidFill>
                <a:srgbClr val="E2E8F0"/>
              </a:solidFill>
              <a:latin typeface="JetBrains Mono"/>
              <a:ea typeface="JetBrains Mono"/>
            </a:endParaRPr>
          </a:p>
        </p:txBody>
      </p:sp>
      <p:sp>
        <p:nvSpPr>
          <p:cNvPr id="474" name="文本框 473" descr="{&quot;isTemplate&quot;:true,&quot;type&quot;:&quot;text&quot;}"/>
          <p:cNvSpPr txBox="1"/>
          <p:nvPr/>
        </p:nvSpPr>
        <p:spPr>
          <a:xfrm>
            <a:off x="781050" y="1952625"/>
            <a:ext cx="5048250" cy="2190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en-US" sz="825">
                <a:solidFill>
                  <a:srgbClr val="64748B"/>
                </a:solidFill>
                <a:latin typeface="JetBrains Mono"/>
                <a:ea typeface="JetBrains Mono"/>
              </a:rPr>
              <a:t>// f_orm</a:t>
            </a:r>
            <a:endParaRPr lang="en-US" sz="825">
              <a:solidFill>
                <a:srgbClr val="64748B"/>
              </a:solidFill>
              <a:latin typeface="JetBrains Mono"/>
              <a:ea typeface="JetBrains Mono"/>
            </a:endParaRPr>
          </a:p>
        </p:txBody>
      </p:sp>
      <p:sp>
        <p:nvSpPr>
          <p:cNvPr id="475" name="文本框 474" descr="{&quot;isTemplate&quot;:true,&quot;type&quot;:&quot;text&quot;}"/>
          <p:cNvSpPr txBox="1"/>
          <p:nvPr/>
        </p:nvSpPr>
        <p:spPr>
          <a:xfrm>
            <a:off x="781050" y="2171700"/>
            <a:ext cx="5048250" cy="1905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en-US" sz="825">
                <a:solidFill>
                  <a:srgbClr val="E2E8F0"/>
                </a:solidFill>
                <a:latin typeface="JetBrains Mono"/>
                <a:ea typeface="JetBrains Mono"/>
              </a:rPr>
              <a:t>ORM.initialize() / register(...) / executor() / executor(driver)</a:t>
            </a:r>
            <a:endParaRPr lang="en-US" sz="825">
              <a:solidFill>
                <a:srgbClr val="E2E8F0"/>
              </a:solidFill>
              <a:latin typeface="JetBrains Mono"/>
              <a:ea typeface="JetBrains Mono"/>
            </a:endParaRPr>
          </a:p>
        </p:txBody>
      </p:sp>
      <p:sp>
        <p:nvSpPr>
          <p:cNvPr id="476" name="文本框 475" descr="{&quot;isTemplate&quot;:true,&quot;type&quot;:&quot;text&quot;}"/>
          <p:cNvSpPr txBox="1"/>
          <p:nvPr/>
        </p:nvSpPr>
        <p:spPr>
          <a:xfrm>
            <a:off x="781050" y="2362200"/>
            <a:ext cx="5048250" cy="1905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en-US" sz="825">
                <a:solidFill>
                  <a:srgbClr val="E2E8F0"/>
                </a:solidFill>
                <a:latin typeface="JetBrains Mono"/>
                <a:ea typeface="JetBrains Mono"/>
              </a:rPr>
              <a:t>executor.setSql(...).update / .insert / .delete</a:t>
            </a:r>
            <a:endParaRPr lang="en-US" sz="825">
              <a:solidFill>
                <a:srgbClr val="E2E8F0"/>
              </a:solidFill>
              <a:latin typeface="JetBrains Mono"/>
              <a:ea typeface="JetBrains Mono"/>
            </a:endParaRPr>
          </a:p>
        </p:txBody>
      </p:sp>
      <p:sp>
        <p:nvSpPr>
          <p:cNvPr id="477" name="文本框 476" descr="{&quot;isTemplate&quot;:true,&quot;type&quot;:&quot;text&quot;}"/>
          <p:cNvSpPr txBox="1"/>
          <p:nvPr/>
        </p:nvSpPr>
        <p:spPr>
          <a:xfrm>
            <a:off x="781050" y="2552700"/>
            <a:ext cx="5048250" cy="1905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en-US" sz="825">
                <a:solidFill>
                  <a:srgbClr val="E2E8F0"/>
                </a:solidFill>
                <a:latin typeface="JetBrains Mono"/>
                <a:ea typeface="JetBrains Mono"/>
              </a:rPr>
              <a:t>executor.FROM&lt;T&gt;().WHERE(...).ORDER_BY(...).page&lt;T&gt;(size, page:)</a:t>
            </a:r>
            <a:endParaRPr lang="en-US" sz="825">
              <a:solidFill>
                <a:srgbClr val="E2E8F0"/>
              </a:solidFill>
              <a:latin typeface="JetBrains Mono"/>
              <a:ea typeface="JetBrains Mono"/>
            </a:endParaRPr>
          </a:p>
        </p:txBody>
      </p:sp>
      <p:sp>
        <p:nvSpPr>
          <p:cNvPr id="478" name="文本框 477" descr="{&quot;isTemplate&quot;:true,&quot;type&quot;:&quot;text&quot;}"/>
          <p:cNvSpPr txBox="1"/>
          <p:nvPr/>
        </p:nvSpPr>
        <p:spPr>
          <a:xfrm>
            <a:off x="781050" y="2743200"/>
            <a:ext cx="5048250" cy="1905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en-US" sz="825">
                <a:solidFill>
                  <a:srgbClr val="E2E8F0"/>
                </a:solidFill>
                <a:latin typeface="JetBrains Mono"/>
                <a:ea typeface="JetBrains Mono"/>
              </a:rPr>
              <a:t>executor.INSERT_INTO&lt;T&gt;(po) / UPDATE&lt;T&gt;(map|po, dirty:)</a:t>
            </a:r>
            <a:endParaRPr lang="en-US" sz="825">
              <a:solidFill>
                <a:srgbClr val="E2E8F0"/>
              </a:solidFill>
              <a:latin typeface="JetBrains Mono"/>
              <a:ea typeface="JetBrains Mono"/>
            </a:endParaRPr>
          </a:p>
        </p:txBody>
      </p:sp>
      <p:sp>
        <p:nvSpPr>
          <p:cNvPr id="479" name="文本框 478" descr="{&quot;isTemplate&quot;:true,&quot;type&quot;:&quot;text&quot;}"/>
          <p:cNvSpPr txBox="1"/>
          <p:nvPr/>
        </p:nvSpPr>
        <p:spPr>
          <a:xfrm>
            <a:off x="781050" y="2933700"/>
            <a:ext cx="5048250" cy="1905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en-US" sz="825">
                <a:solidFill>
                  <a:srgbClr val="E2E8F0"/>
                </a:solidFill>
                <a:latin typeface="JetBrains Mono"/>
                <a:ea typeface="JetBrains Mono"/>
              </a:rPr>
              <a:t>executor.execute&lt;T&gt;(propagation:, rollbackFor:) { exec =&gt; (result, true) }</a:t>
            </a:r>
            <a:endParaRPr lang="en-US" sz="825">
              <a:solidFill>
                <a:srgbClr val="E2E8F0"/>
              </a:solidFill>
              <a:latin typeface="JetBrains Mono"/>
              <a:ea typeface="JetBrains Mono"/>
            </a:endParaRPr>
          </a:p>
        </p:txBody>
      </p:sp>
      <p:sp>
        <p:nvSpPr>
          <p:cNvPr id="480" name="文本框 479" descr="{&quot;isTemplate&quot;:true,&quot;type&quot;:&quot;text&quot;}"/>
          <p:cNvSpPr txBox="1"/>
          <p:nvPr/>
        </p:nvSpPr>
        <p:spPr>
          <a:xfrm>
            <a:off x="781050" y="3124200"/>
            <a:ext cx="5048250" cy="1905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en-US" sz="825">
                <a:solidFill>
                  <a:srgbClr val="E2E8F0"/>
                </a:solidFill>
                <a:latin typeface="JetBrains Mono"/>
                <a:ea typeface="JetBrains Mono"/>
              </a:rPr>
              <a:t>CurrentHttpContext.instance</a:t>
            </a:r>
            <a:endParaRPr lang="en-US" sz="825">
              <a:solidFill>
                <a:srgbClr val="E2E8F0"/>
              </a:solidFill>
              <a:latin typeface="JetBrains Mono"/>
              <a:ea typeface="JetBrains Mono"/>
            </a:endParaRPr>
          </a:p>
        </p:txBody>
      </p:sp>
      <p:sp>
        <p:nvSpPr>
          <p:cNvPr id="481" name="文本框 480" descr="{&quot;isTemplate&quot;:true,&quot;type&quot;:&quot;text&quot;}"/>
          <p:cNvSpPr txBox="1"/>
          <p:nvPr/>
        </p:nvSpPr>
        <p:spPr>
          <a:xfrm>
            <a:off x="781050" y="3314700"/>
            <a:ext cx="5048250" cy="1905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en-US" sz="825">
                <a:solidFill>
                  <a:srgbClr val="E2E8F0"/>
                </a:solidFill>
                <a:latin typeface="JetBrains Mono"/>
                <a:ea typeface="JetBrains Mono"/>
              </a:rPr>
              <a:t>JWT.encoder()....sign() / JWT.verifier(token).verify()</a:t>
            </a:r>
            <a:endParaRPr lang="en-US" sz="825">
              <a:solidFill>
                <a:srgbClr val="E2E8F0"/>
              </a:solidFill>
              <a:latin typeface="JetBrains Mono"/>
              <a:ea typeface="JetBrains Mono"/>
            </a:endParaRPr>
          </a:p>
        </p:txBody>
      </p:sp>
      <p:sp>
        <p:nvSpPr>
          <p:cNvPr id="482" name="文本框 481" descr="{&quot;isTemplate&quot;:true,&quot;type&quot;:&quot;text&quot;}"/>
          <p:cNvSpPr txBox="1"/>
          <p:nvPr/>
        </p:nvSpPr>
        <p:spPr>
          <a:xfrm>
            <a:off x="781050" y="3581400"/>
            <a:ext cx="5048250" cy="2190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en-US" sz="825">
                <a:solidFill>
                  <a:srgbClr val="64748B"/>
                </a:solidFill>
                <a:latin typeface="JetBrains Mono"/>
                <a:ea typeface="JetBrains Mono"/>
              </a:rPr>
              <a:t>// f_log</a:t>
            </a:r>
            <a:r>
              <a:rPr lang="zh-CN" sz="825">
                <a:solidFill>
                  <a:srgbClr val="64748B"/>
                </a:solidFill>
                <a:latin typeface="JetBrains Mono"/>
                <a:ea typeface="JetBrains Mono"/>
              </a:rPr>
              <a:t>（默认静默；级别</a:t>
            </a:r>
            <a:r>
              <a:rPr lang="en-US" sz="825">
                <a:solidFill>
                  <a:srgbClr val="64748B"/>
                </a:solidFill>
                <a:latin typeface="JetBrains Mono"/>
                <a:ea typeface="JetBrains Mono"/>
              </a:rPr>
              <a:t> / </a:t>
            </a:r>
            <a:r>
              <a:rPr lang="zh-CN" sz="825">
                <a:solidFill>
                  <a:srgbClr val="64748B"/>
                </a:solidFill>
                <a:latin typeface="JetBrains Mono"/>
                <a:ea typeface="JetBrains Mono"/>
              </a:rPr>
              <a:t>格式挂在</a:t>
            </a:r>
            <a:r>
              <a:rPr lang="en-US" sz="825">
                <a:solidFill>
                  <a:srgbClr val="64748B"/>
                </a:solidFill>
                <a:latin typeface="JetBrains Mono"/>
                <a:ea typeface="JetBrains Mono"/>
              </a:rPr>
              <a:t> appender </a:t>
            </a:r>
            <a:r>
              <a:rPr lang="zh-CN" sz="825">
                <a:solidFill>
                  <a:srgbClr val="64748B"/>
                </a:solidFill>
                <a:latin typeface="JetBrains Mono"/>
                <a:ea typeface="JetBrains Mono"/>
              </a:rPr>
              <a:t>上）</a:t>
            </a:r>
            <a:endParaRPr lang="zh-CN" sz="825">
              <a:solidFill>
                <a:srgbClr val="64748B"/>
              </a:solidFill>
              <a:latin typeface="JetBrains Mono"/>
              <a:ea typeface="JetBrains Mono"/>
            </a:endParaRPr>
          </a:p>
        </p:txBody>
      </p:sp>
      <p:sp>
        <p:nvSpPr>
          <p:cNvPr id="483" name="文本框 482" descr="{&quot;isTemplate&quot;:true,&quot;type&quot;:&quot;text&quot;}"/>
          <p:cNvSpPr txBox="1"/>
          <p:nvPr/>
        </p:nvSpPr>
        <p:spPr>
          <a:xfrm>
            <a:off x="781050" y="3800475"/>
            <a:ext cx="5048250" cy="1905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en-US" sz="825">
                <a:solidFill>
                  <a:srgbClr val="E2E8F0"/>
                </a:solidFill>
                <a:latin typeface="JetBrains Mono"/>
                <a:ea typeface="JetBrains Mono"/>
              </a:rPr>
              <a:t>LoggerFactory.getLogger&lt;T&gt;() / getLogger('</a:t>
            </a:r>
            <a:r>
              <a:rPr lang="zh-CN" sz="825">
                <a:solidFill>
                  <a:srgbClr val="E2E8F0"/>
                </a:solidFill>
                <a:latin typeface="JetBrains Mono"/>
                <a:ea typeface="JetBrains Mono"/>
              </a:rPr>
              <a:t>任意名字</a:t>
            </a:r>
            <a:r>
              <a:rPr lang="en-US" sz="825">
                <a:solidFill>
                  <a:srgbClr val="E2E8F0"/>
                </a:solidFill>
                <a:latin typeface="JetBrains Mono"/>
                <a:ea typeface="JetBrains Mono"/>
              </a:rPr>
              <a:t>')</a:t>
            </a:r>
            <a:endParaRPr lang="en-US" sz="825">
              <a:solidFill>
                <a:srgbClr val="E2E8F0"/>
              </a:solidFill>
              <a:latin typeface="JetBrains Mono"/>
              <a:ea typeface="JetBrains Mono"/>
            </a:endParaRPr>
          </a:p>
        </p:txBody>
      </p:sp>
      <p:sp>
        <p:nvSpPr>
          <p:cNvPr id="484" name="文本框 483" descr="{&quot;isTemplate&quot;:true,&quot;type&quot;:&quot;text&quot;}"/>
          <p:cNvSpPr txBox="1"/>
          <p:nvPr/>
        </p:nvSpPr>
        <p:spPr>
          <a:xfrm>
            <a:off x="781050" y="3990975"/>
            <a:ext cx="5048250" cy="1905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en-US" sz="825">
                <a:solidFill>
                  <a:srgbClr val="38BDF8"/>
                </a:solidFill>
                <a:latin typeface="JetBrains Mono"/>
                <a:ea typeface="JetBrains Mono"/>
              </a:rPr>
              <a:t>log.info{'...${name}'} / log.debug{'...'}   // lambda</a:t>
            </a:r>
            <a:r>
              <a:rPr lang="zh-CN" sz="825">
                <a:solidFill>
                  <a:srgbClr val="38BDF8"/>
                </a:solidFill>
                <a:latin typeface="JetBrains Mono"/>
                <a:ea typeface="JetBrains Mono"/>
              </a:rPr>
              <a:t>：级别不够不求值</a:t>
            </a:r>
            <a:endParaRPr lang="zh-CN" sz="825">
              <a:solidFill>
                <a:srgbClr val="38BDF8"/>
              </a:solidFill>
              <a:latin typeface="JetBrains Mono"/>
              <a:ea typeface="JetBrains Mono"/>
            </a:endParaRPr>
          </a:p>
        </p:txBody>
      </p:sp>
      <p:sp>
        <p:nvSpPr>
          <p:cNvPr id="485" name="文本框 484" descr="{&quot;isTemplate&quot;:true,&quot;type&quot;:&quot;text&quot;}"/>
          <p:cNvSpPr txBox="1"/>
          <p:nvPr/>
        </p:nvSpPr>
        <p:spPr>
          <a:xfrm>
            <a:off x="781050" y="4181475"/>
            <a:ext cx="5048250" cy="1905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en-US" sz="825">
                <a:solidFill>
                  <a:srgbClr val="38BDF8"/>
                </a:solidFill>
                <a:latin typeface="JetBrains Mono"/>
                <a:ea typeface="JetBrains Mono"/>
              </a:rPr>
              <a:t>log.info('user {} login', [name, ip]) / log.info('user {name}', data)</a:t>
            </a:r>
            <a:endParaRPr lang="en-US" sz="825">
              <a:solidFill>
                <a:srgbClr val="38BDF8"/>
              </a:solidFill>
              <a:latin typeface="JetBrains Mono"/>
              <a:ea typeface="JetBrains Mono"/>
            </a:endParaRPr>
          </a:p>
        </p:txBody>
      </p:sp>
      <p:sp>
        <p:nvSpPr>
          <p:cNvPr id="486" name="文本框 485" descr="{&quot;isTemplate&quot;:true,&quot;type&quot;:&quot;text&quot;}"/>
          <p:cNvSpPr txBox="1"/>
          <p:nvPr/>
        </p:nvSpPr>
        <p:spPr>
          <a:xfrm>
            <a:off x="781050" y="4371975"/>
            <a:ext cx="5048250" cy="1905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en-US" sz="825">
                <a:solidFill>
                  <a:srgbClr val="E2E8F0"/>
                </a:solidFill>
                <a:latin typeface="JetBrains Mono"/>
                <a:ea typeface="JetBrains Mono"/>
              </a:rPr>
              <a:t>log.error(e){'...'} / log.error('...', e) / log.withAttrs([...])</a:t>
            </a:r>
            <a:endParaRPr lang="en-US" sz="825">
              <a:solidFill>
                <a:srgbClr val="E2E8F0"/>
              </a:solidFill>
              <a:latin typeface="JetBrains Mono"/>
              <a:ea typeface="JetBrains Mono"/>
            </a:endParaRPr>
          </a:p>
        </p:txBody>
      </p:sp>
      <p:sp>
        <p:nvSpPr>
          <p:cNvPr id="487" name="文本框 486" descr="{&quot;isTemplate&quot;:true,&quot;type&quot;:&quot;text&quot;}"/>
          <p:cNvSpPr txBox="1"/>
          <p:nvPr/>
        </p:nvSpPr>
        <p:spPr>
          <a:xfrm>
            <a:off x="781050" y="4562475"/>
            <a:ext cx="5048250" cy="1905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en-US" sz="825">
                <a:solidFill>
                  <a:srgbClr val="E2E8F0"/>
                </a:solidFill>
                <a:latin typeface="JetBrains Mono"/>
                <a:ea typeface="JetBrains Mono"/>
              </a:rPr>
              <a:t>log.debugEnabled / infoEnabled / warnEnabled / errorEnabled / fatalEnabled</a:t>
            </a:r>
            <a:endParaRPr lang="en-US" sz="825">
              <a:solidFill>
                <a:srgbClr val="E2E8F0"/>
              </a:solidFill>
              <a:latin typeface="JetBrains Mono"/>
              <a:ea typeface="JetBrains Mono"/>
            </a:endParaRPr>
          </a:p>
        </p:txBody>
      </p:sp>
      <p:sp>
        <p:nvSpPr>
          <p:cNvPr id="488" name="文本框 487" descr="{&quot;isTemplate&quot;:true,&quot;type&quot;:&quot;text&quot;}"/>
          <p:cNvSpPr txBox="1"/>
          <p:nvPr/>
        </p:nvSpPr>
        <p:spPr>
          <a:xfrm>
            <a:off x="781050" y="4752975"/>
            <a:ext cx="5048250" cy="1905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en-US" sz="825">
                <a:solidFill>
                  <a:srgbClr val="F59E0B"/>
                </a:solidFill>
                <a:latin typeface="JetBrains Mono"/>
                <a:ea typeface="JetBrains Mono"/>
              </a:rPr>
              <a:t>LoggerConfig.filter = MyLogFilter() / LoggerFactory.refresh()</a:t>
            </a:r>
            <a:endParaRPr lang="en-US" sz="825">
              <a:solidFill>
                <a:srgbClr val="F59E0B"/>
              </a:solidFill>
              <a:latin typeface="JetBrains Mono"/>
              <a:ea typeface="JetBrains Mono"/>
            </a:endParaRPr>
          </a:p>
        </p:txBody>
      </p:sp>
      <p:sp>
        <p:nvSpPr>
          <p:cNvPr id="489" name="圆角矩形 488"/>
          <p:cNvSpPr/>
          <p:nvPr/>
        </p:nvSpPr>
        <p:spPr>
          <a:xfrm>
            <a:off x="6191250" y="1143000"/>
            <a:ext cx="5391150" cy="5143500"/>
          </a:xfrm>
          <a:prstGeom prst="roundRect">
            <a:avLst>
              <a:gd name="adj" fmla="val 2222"/>
            </a:avLst>
          </a:prstGeom>
          <a:solidFill>
            <a:srgbClr val="0B1220"/>
          </a:solidFill>
          <a:ln w="12700">
            <a:solidFill>
              <a:srgbClr val="1E293B"/>
            </a:solidFill>
            <a:prstDash val="solid"/>
          </a:ln>
        </p:spPr>
        <p:txBody>
          <a:bodyPr/>
          <a:p/>
        </p:txBody>
      </p:sp>
      <p:sp>
        <p:nvSpPr>
          <p:cNvPr id="490" name="文本框 489" descr="{&quot;isTemplate&quot;:true,&quot;type&quot;:&quot;text&quot;}"/>
          <p:cNvSpPr txBox="1"/>
          <p:nvPr/>
        </p:nvSpPr>
        <p:spPr>
          <a:xfrm>
            <a:off x="6362700" y="1314450"/>
            <a:ext cx="5048250" cy="1905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en-US" sz="825">
                <a:solidFill>
                  <a:srgbClr val="64748B"/>
                </a:solidFill>
                <a:latin typeface="JetBrains Mono"/>
                <a:ea typeface="JetBrains Mono"/>
              </a:rPr>
              <a:t>// f_data</a:t>
            </a:r>
            <a:r>
              <a:rPr lang="zh-CN" sz="825">
                <a:solidFill>
                  <a:srgbClr val="64748B"/>
                </a:solidFill>
                <a:latin typeface="JetBrains Mono"/>
                <a:ea typeface="JetBrains Mono"/>
              </a:rPr>
              <a:t>：对象</a:t>
            </a:r>
            <a:r>
              <a:rPr lang="en-US" sz="825">
                <a:solidFill>
                  <a:srgbClr val="64748B"/>
                </a:solidFill>
                <a:latin typeface="JetBrains Mono"/>
                <a:ea typeface="JetBrains Mono"/>
              </a:rPr>
              <a:t> / JSON / Map </a:t>
            </a:r>
            <a:r>
              <a:rPr lang="zh-CN" sz="825">
                <a:solidFill>
                  <a:srgbClr val="64748B"/>
                </a:solidFill>
                <a:latin typeface="JetBrains Mono"/>
                <a:ea typeface="JetBrains Mono"/>
              </a:rPr>
              <a:t>互转</a:t>
            </a:r>
            <a:endParaRPr lang="zh-CN" sz="825">
              <a:solidFill>
                <a:srgbClr val="64748B"/>
              </a:solidFill>
              <a:latin typeface="JetBrains Mono"/>
              <a:ea typeface="JetBrains Mono"/>
            </a:endParaRPr>
          </a:p>
        </p:txBody>
      </p:sp>
      <p:sp>
        <p:nvSpPr>
          <p:cNvPr id="491" name="文本框 490" descr="{&quot;isTemplate&quot;:true,&quot;type&quot;:&quot;text&quot;}"/>
          <p:cNvSpPr txBox="1"/>
          <p:nvPr/>
        </p:nvSpPr>
        <p:spPr>
          <a:xfrm>
            <a:off x="6362700" y="1504950"/>
            <a:ext cx="5048250" cy="1905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en-US" sz="825">
                <a:solidFill>
                  <a:srgbClr val="E2E8F0"/>
                </a:solidFill>
                <a:latin typeface="JetBrains Mono"/>
                <a:ea typeface="JetBrains Mono"/>
              </a:rPr>
              <a:t>DataObject&lt;T&gt;.populate(src, flag: DEFAULT_DATA_FLAG) / DataObject&lt;T&gt;(obj)['field']</a:t>
            </a:r>
            <a:endParaRPr lang="en-US" sz="825">
              <a:solidFill>
                <a:srgbClr val="E2E8F0"/>
              </a:solidFill>
              <a:latin typeface="JetBrains Mono"/>
              <a:ea typeface="JetBrains Mono"/>
            </a:endParaRPr>
          </a:p>
        </p:txBody>
      </p:sp>
      <p:sp>
        <p:nvSpPr>
          <p:cNvPr id="492" name="文本框 491" descr="{&quot;isTemplate&quot;:true,&quot;type&quot;:&quot;text&quot;}"/>
          <p:cNvSpPr txBox="1"/>
          <p:nvPr/>
        </p:nvSpPr>
        <p:spPr>
          <a:xfrm>
            <a:off x="6362700" y="1695450"/>
            <a:ext cx="5048250" cy="1905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en-US" sz="825">
                <a:solidFill>
                  <a:srgbClr val="E2E8F0"/>
                </a:solidFill>
                <a:latin typeface="JetBrains Mono"/>
                <a:ea typeface="JetBrains Mono"/>
              </a:rPr>
              <a:t>toJson(obj) / fromJson&lt;T&gt;(jsonString) / JsonValue.from(...) / fromStr(s)</a:t>
            </a:r>
            <a:endParaRPr lang="en-US" sz="825">
              <a:solidFill>
                <a:srgbClr val="E2E8F0"/>
              </a:solidFill>
              <a:latin typeface="JetBrains Mono"/>
              <a:ea typeface="JetBrains Mono"/>
            </a:endParaRPr>
          </a:p>
        </p:txBody>
      </p:sp>
      <p:sp>
        <p:nvSpPr>
          <p:cNvPr id="493" name="文本框 492" descr="{&quot;isTemplate&quot;:true,&quot;type&quot;:&quot;text&quot;}"/>
          <p:cNvSpPr txBox="1"/>
          <p:nvPr/>
        </p:nvSpPr>
        <p:spPr>
          <a:xfrm>
            <a:off x="6362700" y="1885950"/>
            <a:ext cx="5048250" cy="1905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en-US" sz="825">
                <a:solidFill>
                  <a:srgbClr val="E2E8F0"/>
                </a:solidFill>
                <a:latin typeface="JetBrains Mono"/>
                <a:ea typeface="JetBrains Mono"/>
              </a:rPr>
              <a:t>DataPath.cache("$.a[?(@.b &gt; 1)].c").get(data)   // JSONPath</a:t>
            </a:r>
            <a:endParaRPr lang="en-US" sz="825">
              <a:solidFill>
                <a:srgbClr val="E2E8F0"/>
              </a:solidFill>
              <a:latin typeface="JetBrains Mono"/>
              <a:ea typeface="JetBrains Mono"/>
            </a:endParaRPr>
          </a:p>
        </p:txBody>
      </p:sp>
      <p:sp>
        <p:nvSpPr>
          <p:cNvPr id="494" name="文本框 493" descr="{&quot;isTemplate&quot;:true,&quot;type&quot;:&quot;text&quot;}"/>
          <p:cNvSpPr txBox="1"/>
          <p:nvPr/>
        </p:nvSpPr>
        <p:spPr>
          <a:xfrm>
            <a:off x="6362700" y="2152650"/>
            <a:ext cx="5048250" cy="2190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en-US" sz="825">
                <a:solidFill>
                  <a:srgbClr val="64748B"/>
                </a:solidFill>
                <a:latin typeface="JetBrains Mono"/>
                <a:ea typeface="JetBrains Mono"/>
              </a:rPr>
              <a:t>// f_random</a:t>
            </a:r>
            <a:endParaRPr lang="en-US" sz="825">
              <a:solidFill>
                <a:srgbClr val="64748B"/>
              </a:solidFill>
              <a:latin typeface="JetBrains Mono"/>
              <a:ea typeface="JetBrains Mono"/>
            </a:endParaRPr>
          </a:p>
        </p:txBody>
      </p:sp>
      <p:sp>
        <p:nvSpPr>
          <p:cNvPr id="495" name="文本框 494" descr="{&quot;isTemplate&quot;:true,&quot;type&quot;:&quot;text&quot;}"/>
          <p:cNvSpPr txBox="1"/>
          <p:nvPr/>
        </p:nvSpPr>
        <p:spPr>
          <a:xfrm>
            <a:off x="6362700" y="2371725"/>
            <a:ext cx="5048250" cy="1905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en-US" sz="825">
                <a:solidFill>
                  <a:srgbClr val="E2E8F0"/>
                </a:solidFill>
                <a:latin typeface="JetBrains Mono"/>
                <a:ea typeface="JetBrains Mono"/>
              </a:rPr>
              <a:t>rand.nextInt64(1, 100, closed: true) / randomInt64(0, 10)</a:t>
            </a:r>
            <a:r>
              <a:rPr lang="zh-CN" sz="825">
                <a:solidFill>
                  <a:srgbClr val="E2E8F0"/>
                </a:solidFill>
                <a:latin typeface="JetBrains Mono"/>
                <a:ea typeface="JetBrains Mono"/>
              </a:rPr>
              <a:t>（无限流）</a:t>
            </a:r>
            <a:endParaRPr lang="zh-CN" sz="825">
              <a:solidFill>
                <a:srgbClr val="E2E8F0"/>
              </a:solidFill>
              <a:latin typeface="JetBrains Mono"/>
              <a:ea typeface="JetBrains Mono"/>
            </a:endParaRPr>
          </a:p>
        </p:txBody>
      </p:sp>
      <p:sp>
        <p:nvSpPr>
          <p:cNvPr id="496" name="文本框 495" descr="{&quot;isTemplate&quot;:true,&quot;type&quot;:&quot;text&quot;}"/>
          <p:cNvSpPr txBox="1"/>
          <p:nvPr/>
        </p:nvSpPr>
        <p:spPr>
          <a:xfrm>
            <a:off x="6362700" y="2562225"/>
            <a:ext cx="5048250" cy="1905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en-US" sz="825">
                <a:solidFill>
                  <a:srgbClr val="E2E8F0"/>
                </a:solidFill>
                <a:latin typeface="JetBrains Mono"/>
                <a:ea typeface="JetBrains Mono"/>
              </a:rPr>
              <a:t>RandomString().randomLowerHex(32) / ThreadLocalRandom.current</a:t>
            </a:r>
            <a:endParaRPr lang="en-US" sz="825">
              <a:solidFill>
                <a:srgbClr val="E2E8F0"/>
              </a:solidFill>
              <a:latin typeface="JetBrains Mono"/>
              <a:ea typeface="JetBrains Mono"/>
            </a:endParaRPr>
          </a:p>
        </p:txBody>
      </p:sp>
      <p:sp>
        <p:nvSpPr>
          <p:cNvPr id="497" name="文本框 496" descr="{&quot;isTemplate&quot;:true,&quot;type&quot;:&quot;text&quot;}"/>
          <p:cNvSpPr txBox="1"/>
          <p:nvPr/>
        </p:nvSpPr>
        <p:spPr>
          <a:xfrm>
            <a:off x="6362700" y="2828925"/>
            <a:ext cx="5048250" cy="2190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en-US" sz="825">
                <a:solidFill>
                  <a:srgbClr val="64748B"/>
                </a:solidFill>
                <a:latin typeface="JetBrains Mono"/>
                <a:ea typeface="JetBrains Mono"/>
              </a:rPr>
              <a:t>// f_util</a:t>
            </a:r>
            <a:endParaRPr lang="en-US" sz="825">
              <a:solidFill>
                <a:srgbClr val="64748B"/>
              </a:solidFill>
              <a:latin typeface="JetBrains Mono"/>
              <a:ea typeface="JetBrains Mono"/>
            </a:endParaRPr>
          </a:p>
        </p:txBody>
      </p:sp>
      <p:sp>
        <p:nvSpPr>
          <p:cNvPr id="498" name="文本框 497" descr="{&quot;isTemplate&quot;:true,&quot;type&quot;:&quot;text&quot;}"/>
          <p:cNvSpPr txBox="1"/>
          <p:nvPr/>
        </p:nvSpPr>
        <p:spPr>
          <a:xfrm>
            <a:off x="6362700" y="3048000"/>
            <a:ext cx="5048250" cy="1905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en-US" sz="825">
                <a:solidFill>
                  <a:srgbClr val="E2E8F0"/>
                </a:solidFill>
                <a:latin typeface="JetBrains Mono"/>
                <a:ea typeface="JetBrains Mono"/>
              </a:rPr>
              <a:t>UUID.random() / unixTimeBased() / md5(s) / sha1(s) / parse(s) / toHexString()</a:t>
            </a:r>
            <a:endParaRPr lang="en-US" sz="825">
              <a:solidFill>
                <a:srgbClr val="E2E8F0"/>
              </a:solidFill>
              <a:latin typeface="JetBrains Mono"/>
              <a:ea typeface="JetBrains Mono"/>
            </a:endParaRPr>
          </a:p>
        </p:txBody>
      </p:sp>
      <p:sp>
        <p:nvSpPr>
          <p:cNvPr id="499" name="文本框 498" descr="{&quot;isTemplate&quot;:true,&quot;type&quot;:&quot;text&quot;}"/>
          <p:cNvSpPr txBox="1"/>
          <p:nvPr/>
        </p:nvSpPr>
        <p:spPr>
          <a:xfrm>
            <a:off x="6362700" y="3238500"/>
            <a:ext cx="5048250" cy="1905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en-US" sz="825">
                <a:solidFill>
                  <a:srgbClr val="E2E8F0"/>
                </a:solidFill>
                <a:latin typeface="JetBrains Mono"/>
                <a:ea typeface="JetBrains Mono"/>
              </a:rPr>
              <a:t>CaseFormat.Camel.convert('userName', to: CaseFormat.LowerUnderScore)</a:t>
            </a:r>
            <a:endParaRPr lang="en-US" sz="825">
              <a:solidFill>
                <a:srgbClr val="E2E8F0"/>
              </a:solidFill>
              <a:latin typeface="JetBrains Mono"/>
              <a:ea typeface="JetBrains Mono"/>
            </a:endParaRPr>
          </a:p>
        </p:txBody>
      </p:sp>
      <p:sp>
        <p:nvSpPr>
          <p:cNvPr id="500" name="文本框 499" descr="{&quot;isTemplate&quot;:true,&quot;type&quot;:&quot;text&quot;}"/>
          <p:cNvSpPr txBox="1"/>
          <p:nvPr/>
        </p:nvSpPr>
        <p:spPr>
          <a:xfrm>
            <a:off x="6362700" y="3429000"/>
            <a:ext cx="5048250" cy="1905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en-US" sz="825">
                <a:solidFill>
                  <a:srgbClr val="E2E8F0"/>
                </a:solidFill>
                <a:latin typeface="JetBrains Mono"/>
                <a:ea typeface="JetBrains Mono"/>
              </a:rPr>
              <a:t>TextTemplate.compile('</a:t>
            </a:r>
            <a:r>
              <a:rPr lang="zh-CN" sz="825">
                <a:solidFill>
                  <a:srgbClr val="E2E8F0"/>
                </a:solidFill>
                <a:latin typeface="JetBrains Mono"/>
                <a:ea typeface="JetBrains Mono"/>
              </a:rPr>
              <a:t>订单</a:t>
            </a:r>
            <a:r>
              <a:rPr lang="en-US" sz="825">
                <a:solidFill>
                  <a:srgbClr val="E2E8F0"/>
                </a:solidFill>
                <a:latin typeface="JetBrains Mono"/>
                <a:ea typeface="JetBrains Mono"/>
              </a:rPr>
              <a:t> ${id} </a:t>
            </a:r>
            <a:r>
              <a:rPr lang="zh-CN" sz="825">
                <a:solidFill>
                  <a:srgbClr val="E2E8F0"/>
                </a:solidFill>
                <a:latin typeface="JetBrains Mono"/>
                <a:ea typeface="JetBrains Mono"/>
              </a:rPr>
              <a:t>已创建</a:t>
            </a:r>
            <a:r>
              <a:rPr lang="en-US" sz="825">
                <a:solidFill>
                  <a:srgbClr val="E2E8F0"/>
                </a:solidFill>
                <a:latin typeface="JetBrains Mono"/>
                <a:ea typeface="JetBrains Mono"/>
              </a:rPr>
              <a:t>').format(map)</a:t>
            </a:r>
            <a:endParaRPr lang="en-US" sz="825">
              <a:solidFill>
                <a:srgbClr val="E2E8F0"/>
              </a:solidFill>
              <a:latin typeface="JetBrains Mono"/>
              <a:ea typeface="JetBrains Mono"/>
            </a:endParaRPr>
          </a:p>
        </p:txBody>
      </p:sp>
      <p:sp>
        <p:nvSpPr>
          <p:cNvPr id="501" name="文本框 500" descr="{&quot;isTemplate&quot;:true,&quot;type&quot;:&quot;text&quot;}"/>
          <p:cNvSpPr txBox="1"/>
          <p:nvPr/>
        </p:nvSpPr>
        <p:spPr>
          <a:xfrm>
            <a:off x="6362700" y="3619500"/>
            <a:ext cx="5048250" cy="1905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en-US" sz="825">
                <a:solidFill>
                  <a:srgbClr val="E2E8F0"/>
                </a:solidFill>
                <a:latin typeface="JetBrains Mono"/>
                <a:ea typeface="JetBrains Mono"/>
              </a:rPr>
              <a:t>PathPattern().compileIfAbsent('/api/{id}'){data}.data&lt;T&gt;(path)</a:t>
            </a:r>
            <a:endParaRPr lang="en-US" sz="825">
              <a:solidFill>
                <a:srgbClr val="E2E8F0"/>
              </a:solidFill>
              <a:latin typeface="JetBrains Mono"/>
              <a:ea typeface="JetBrains Mono"/>
            </a:endParaRPr>
          </a:p>
        </p:txBody>
      </p:sp>
      <p:sp>
        <p:nvSpPr>
          <p:cNvPr id="502" name="文本框 501" descr="{&quot;isTemplate&quot;:true,&quot;type&quot;:&quot;text&quot;}"/>
          <p:cNvSpPr txBox="1"/>
          <p:nvPr/>
        </p:nvSpPr>
        <p:spPr>
          <a:xfrm>
            <a:off x="6362700" y="3810000"/>
            <a:ext cx="5048250" cy="1905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en-US" sz="825">
                <a:solidFill>
                  <a:srgbClr val="E2E8F0"/>
                </a:solidFill>
                <a:latin typeface="JetBrains Mono"/>
                <a:ea typeface="JetBrains Mono"/>
              </a:rPr>
              <a:t>MenuNode.transform&lt;MenuPO&gt;(list, emptyId: 0){ po =&gt; MenuNode(po) }</a:t>
            </a:r>
            <a:endParaRPr lang="en-US" sz="825">
              <a:solidFill>
                <a:srgbClr val="E2E8F0"/>
              </a:solidFill>
              <a:latin typeface="JetBrains Mono"/>
              <a:ea typeface="JetBrains Mono"/>
            </a:endParaRPr>
          </a:p>
        </p:txBody>
      </p:sp>
      <p:sp>
        <p:nvSpPr>
          <p:cNvPr id="503" name="文本框 502" descr="{&quot;isTemplate&quot;:true,&quot;type&quot;:&quot;text&quot;}"/>
          <p:cNvSpPr txBox="1"/>
          <p:nvPr/>
        </p:nvSpPr>
        <p:spPr>
          <a:xfrm>
            <a:off x="6362700" y="4000500"/>
            <a:ext cx="5048250" cy="1905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en-US" sz="825">
                <a:solidFill>
                  <a:srgbClr val="E2E8F0"/>
                </a:solidFill>
                <a:latin typeface="JetBrains Mono"/>
                <a:ea typeface="JetBrains Mono"/>
              </a:rPr>
              <a:t>Strategies&lt;N,A,R&gt;.register(s) / .execute(name, arg)</a:t>
            </a:r>
            <a:r>
              <a:rPr lang="zh-CN" sz="825">
                <a:solidFill>
                  <a:srgbClr val="E2E8F0"/>
                </a:solidFill>
                <a:latin typeface="JetBrains Mono"/>
                <a:ea typeface="JetBrains Mono"/>
              </a:rPr>
              <a:t>　·　</a:t>
            </a:r>
            <a:r>
              <a:rPr lang="en-US" sz="825">
                <a:solidFill>
                  <a:srgbClr val="E2E8F0"/>
                </a:solidFill>
                <a:latin typeface="JetBrains Mono"/>
                <a:ea typeface="JetBrains Mono"/>
              </a:rPr>
              <a:t>IdMaker().nextInt64()</a:t>
            </a:r>
            <a:endParaRPr lang="en-US" sz="825">
              <a:solidFill>
                <a:srgbClr val="E2E8F0"/>
              </a:solidFill>
              <a:latin typeface="JetBrains Mono"/>
              <a:ea typeface="JetBrains Mono"/>
            </a:endParaRPr>
          </a:p>
        </p:txBody>
      </p:sp>
      <p:sp>
        <p:nvSpPr>
          <p:cNvPr id="504" name="文本框 503" descr="{&quot;isTemplate&quot;:true,&quot;type&quot;:&quot;text&quot;}"/>
          <p:cNvSpPr txBox="1"/>
          <p:nvPr/>
        </p:nvSpPr>
        <p:spPr>
          <a:xfrm>
            <a:off x="6362700" y="4267200"/>
            <a:ext cx="5048250" cy="2190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en-US" sz="825">
                <a:solidFill>
                  <a:srgbClr val="64748B"/>
                </a:solidFill>
                <a:latin typeface="JetBrains Mono"/>
                <a:ea typeface="JetBrains Mono"/>
              </a:rPr>
              <a:t>// f_base</a:t>
            </a:r>
            <a:r>
              <a:rPr lang="zh-CN" sz="825">
                <a:solidFill>
                  <a:srgbClr val="64748B"/>
                </a:solidFill>
                <a:latin typeface="JetBrains Mono"/>
                <a:ea typeface="JetBrains Mono"/>
              </a:rPr>
              <a:t>（建议无脑导入）</a:t>
            </a:r>
            <a:endParaRPr lang="zh-CN" sz="825">
              <a:solidFill>
                <a:srgbClr val="64748B"/>
              </a:solidFill>
              <a:latin typeface="JetBrains Mono"/>
              <a:ea typeface="JetBrains Mono"/>
            </a:endParaRPr>
          </a:p>
        </p:txBody>
      </p:sp>
      <p:sp>
        <p:nvSpPr>
          <p:cNvPr id="505" name="文本框 504" descr="{&quot;isTemplate&quot;:true,&quot;type&quot;:&quot;text&quot;}"/>
          <p:cNvSpPr txBox="1"/>
          <p:nvPr/>
        </p:nvSpPr>
        <p:spPr>
          <a:xfrm>
            <a:off x="6362700" y="4486275"/>
            <a:ext cx="5048250" cy="1905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en-US" sz="825">
                <a:solidFill>
                  <a:srgbClr val="E2E8F0"/>
                </a:solidFill>
                <a:latin typeface="JetBrains Mono"/>
                <a:ea typeface="JetBrains Mono"/>
              </a:rPr>
              <a:t>ExitCallbacks.atExit(priority){...} / toExitGracefully()</a:t>
            </a:r>
            <a:endParaRPr lang="en-US" sz="825">
              <a:solidFill>
                <a:srgbClr val="E2E8F0"/>
              </a:solidFill>
              <a:latin typeface="JetBrains Mono"/>
              <a:ea typeface="JetBrains Mono"/>
            </a:endParaRPr>
          </a:p>
        </p:txBody>
      </p:sp>
      <p:sp>
        <p:nvSpPr>
          <p:cNvPr id="506" name="文本框 505" descr="{&quot;isTemplate&quot;:true,&quot;type&quot;:&quot;text&quot;}"/>
          <p:cNvSpPr txBox="1"/>
          <p:nvPr/>
        </p:nvSpPr>
        <p:spPr>
          <a:xfrm>
            <a:off x="6362700" y="4676775"/>
            <a:ext cx="5048250" cy="1905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en-US" sz="825">
                <a:solidFill>
                  <a:srgbClr val="E2E8F0"/>
                </a:solidFill>
                <a:latin typeface="JetBrains Mono"/>
                <a:ea typeface="JetBrains Mono"/>
              </a:rPr>
              <a:t>EmptyArray / EmptySet / EmptyMap&lt;T&gt;.instance()</a:t>
            </a:r>
            <a:r>
              <a:rPr lang="zh-CN" sz="825">
                <a:solidFill>
                  <a:srgbClr val="E2E8F0"/>
                </a:solidFill>
                <a:latin typeface="JetBrains Mono"/>
                <a:ea typeface="JetBrains Mono"/>
              </a:rPr>
              <a:t>　·　</a:t>
            </a:r>
            <a:r>
              <a:rPr lang="en-US" sz="825">
                <a:solidFill>
                  <a:srgbClr val="E2E8F0"/>
                </a:solidFill>
                <a:latin typeface="JetBrains Mono"/>
                <a:ea typeface="JetBrains Mono"/>
              </a:rPr>
              <a:t>it.groupBy{...} / peekable()</a:t>
            </a:r>
            <a:endParaRPr lang="en-US" sz="825">
              <a:solidFill>
                <a:srgbClr val="E2E8F0"/>
              </a:solidFill>
              <a:latin typeface="JetBrains Mono"/>
              <a:ea typeface="JetBrains Mono"/>
            </a:endParaRPr>
          </a:p>
        </p:txBody>
      </p:sp>
      <p:sp>
        <p:nvSpPr>
          <p:cNvPr id="507" name="文本框 506" descr="{&quot;isTemplate&quot;:true,&quot;type&quot;:&quot;text&quot;}"/>
          <p:cNvSpPr txBox="1"/>
          <p:nvPr/>
        </p:nvSpPr>
        <p:spPr>
          <a:xfrm>
            <a:off x="6362700" y="4867275"/>
            <a:ext cx="5048250" cy="1905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en-US" sz="825">
                <a:solidFill>
                  <a:srgbClr val="E2E8F0"/>
                </a:solidFill>
                <a:latin typeface="JetBrains Mono"/>
                <a:ea typeface="JetBrains Mono"/>
              </a:rPr>
              <a:t>Option.toResult() / iterator() / caller{...}</a:t>
            </a:r>
            <a:r>
              <a:rPr lang="zh-CN" sz="825">
                <a:solidFill>
                  <a:srgbClr val="E2E8F0"/>
                </a:solidFill>
                <a:latin typeface="JetBrains Mono"/>
                <a:ea typeface="JetBrains Mono"/>
              </a:rPr>
              <a:t>　·　</a:t>
            </a:r>
            <a:r>
              <a:rPr lang="en-US" sz="825">
                <a:solidFill>
                  <a:srgbClr val="E2E8F0"/>
                </a:solidFill>
                <a:latin typeface="JetBrains Mono"/>
                <a:ea typeface="JetBrains Mono"/>
              </a:rPr>
              <a:t>Comparator&lt;T&gt;(cmp).then{...}</a:t>
            </a:r>
            <a:endParaRPr lang="en-US" sz="825">
              <a:solidFill>
                <a:srgbClr val="E2E8F0"/>
              </a:solidFill>
              <a:latin typeface="JetBrains Mono"/>
              <a:ea typeface="JetBrains Mono"/>
            </a:endParaRPr>
          </a:p>
        </p:txBody>
      </p:sp>
      <p:sp>
        <p:nvSpPr>
          <p:cNvPr id="508" name="文本框 507" descr="{&quot;isTemplate&quot;:true,&quot;type&quot;:&quot;text&quot;}"/>
          <p:cNvSpPr txBox="1"/>
          <p:nvPr/>
        </p:nvSpPr>
        <p:spPr>
          <a:xfrm>
            <a:off x="6362700" y="5057775"/>
            <a:ext cx="5048250" cy="1905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en-US" sz="825">
                <a:solidFill>
                  <a:srgbClr val="94A3B8"/>
                </a:solidFill>
                <a:latin typeface="JetBrains Mono"/>
                <a:ea typeface="JetBrains Mono"/>
              </a:rPr>
              <a:t>resource(res){ r =&gt; ... } / ResourceManager / FutureTask&lt;T&gt;(fn)</a:t>
            </a:r>
            <a:endParaRPr lang="en-US" sz="825">
              <a:solidFill>
                <a:srgbClr val="94A3B8"/>
              </a:solidFill>
              <a:latin typeface="JetBrains Mono"/>
              <a:ea typeface="JetBrains Mono"/>
            </a:endParaRPr>
          </a:p>
        </p:txBody>
      </p:sp>
      <p:sp>
        <p:nvSpPr>
          <p:cNvPr id="509" name="文本框 508" descr="{&quot;isTemplate&quot;:true,&quot;type&quot;:&quot;text&quot;}"/>
          <p:cNvSpPr txBox="1"/>
          <p:nvPr/>
        </p:nvSpPr>
        <p:spPr>
          <a:xfrm>
            <a:off x="6362700" y="5248275"/>
            <a:ext cx="5048250" cy="371475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45000"/>
              </a:lnSpc>
            </a:pPr>
            <a:r>
              <a:rPr lang="en-US" sz="825">
                <a:solidFill>
                  <a:srgbClr val="94A3B8"/>
                </a:solidFill>
                <a:latin typeface="JetBrains Mono"/>
                <a:ea typeface="JetBrains Mono"/>
              </a:rPr>
              <a:t>@nameof(expr) / @nameValueOf(expr)</a:t>
            </a:r>
            <a:r>
              <a:rPr lang="zh-CN" sz="825">
                <a:solidFill>
                  <a:srgbClr val="94A3B8"/>
                </a:solidFill>
                <a:latin typeface="JetBrains Mono"/>
                <a:ea typeface="JetBrains Mono"/>
              </a:rPr>
              <a:t>　·　</a:t>
            </a:r>
            <a:r>
              <a:rPr lang="en-US" sz="825">
                <a:solidFill>
                  <a:srgbClr val="94A3B8"/>
                </a:solidFill>
                <a:latin typeface="JetBrains Mono"/>
                <a:ea typeface="JetBrains Mono"/>
              </a:rPr>
              <a:t>HeapCache / Pool / BitSet / Dict / f_time DSL</a:t>
            </a:r>
            <a:endParaRPr lang="en-US" sz="825">
              <a:solidFill>
                <a:srgbClr val="94A3B8"/>
              </a:solidFill>
              <a:latin typeface="JetBrains Mono"/>
              <a:ea typeface="JetBrains Mono"/>
            </a:endParaRPr>
          </a:p>
        </p:txBody>
      </p:sp>
      <p:sp>
        <p:nvSpPr>
          <p:cNvPr id="510" name="任意多边形 509"/>
          <p:cNvSpPr/>
          <p:nvPr/>
        </p:nvSpPr>
        <p:spPr>
          <a:xfrm>
            <a:off x="609600" y="6286500"/>
            <a:ext cx="10972800" cy="381000"/>
          </a:xfrm>
          <a:custGeom>
            <a:avLst/>
            <a:gdLst/>
            <a:ahLst/>
            <a:cxnLst/>
            <a:pathLst>
              <a:path w="1152" h="40">
                <a:moveTo>
                  <a:pt x="0" y="0"/>
                </a:moveTo>
                <a:lnTo>
                  <a:pt x="1152" y="0"/>
                </a:lnTo>
                <a:lnTo>
                  <a:pt x="1152" y="1"/>
                </a:lnTo>
                <a:lnTo>
                  <a:pt x="0" y="1"/>
                </a:lnTo>
                <a:close/>
              </a:path>
            </a:pathLst>
          </a:custGeom>
          <a:solidFill>
            <a:srgbClr val="1E293B"/>
          </a:solidFill>
        </p:spPr>
        <p:txBody>
          <a:bodyPr/>
          <a:p/>
        </p:txBody>
      </p:sp>
      <p:sp>
        <p:nvSpPr>
          <p:cNvPr id="511" name="文本框 510" descr="{&quot;isTemplate&quot;:true,&quot;type&quot;:&quot;text&quot;}"/>
          <p:cNvSpPr txBox="1"/>
          <p:nvPr/>
        </p:nvSpPr>
        <p:spPr>
          <a:xfrm>
            <a:off x="609600" y="6410325"/>
            <a:ext cx="2219325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fountain · 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一站式服务器应用开发工具库</a:t>
            </a:r>
            <a:endParaRPr lang="zh-CN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12" name="文本框 511" descr="{&quot;isTemplate&quot;:true,&quot;type&quot;:&quot;text&quot;}"/>
          <p:cNvSpPr txBox="1"/>
          <p:nvPr/>
        </p:nvSpPr>
        <p:spPr>
          <a:xfrm>
            <a:off x="11020425" y="6410325"/>
            <a:ext cx="561975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115 / 116</a:t>
            </a:r>
            <a:endParaRPr lang="en-US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51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4" name="矩形 51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220"/>
          </a:solidFill>
        </p:spPr>
        <p:txBody>
          <a:bodyPr/>
          <a:p/>
        </p:txBody>
      </p:sp>
      <p:sp>
        <p:nvSpPr>
          <p:cNvPr id="515" name="矩形 514"/>
          <p:cNvSpPr/>
          <p:nvPr/>
        </p:nvSpPr>
        <p:spPr>
          <a:xfrm>
            <a:off x="8763000" y="0"/>
            <a:ext cx="3429000" cy="6858000"/>
          </a:xfrm>
          <a:prstGeom prst="rect">
            <a:avLst/>
          </a:prstGeom>
          <a:gradFill>
            <a:gsLst>
              <a:gs pos="0">
                <a:srgbClr val="38BDF8">
                  <a:alpha val="9000"/>
                </a:srgbClr>
              </a:gs>
              <a:gs pos="100000">
                <a:srgbClr val="22D3EE">
                  <a:alpha val="9000"/>
                </a:srgbClr>
              </a:gs>
            </a:gsLst>
            <a:lin ang="2700000" scaled="1"/>
          </a:gradFill>
        </p:spPr>
        <p:txBody>
          <a:bodyPr/>
          <a:p/>
        </p:txBody>
      </p:sp>
      <p:sp>
        <p:nvSpPr>
          <p:cNvPr id="516" name="矩形 515"/>
          <p:cNvSpPr/>
          <p:nvPr/>
        </p:nvSpPr>
        <p:spPr>
          <a:xfrm>
            <a:off x="0" y="0"/>
            <a:ext cx="57150" cy="6858000"/>
          </a:xfrm>
          <a:prstGeom prst="rect">
            <a:avLst/>
          </a:prstGeom>
          <a:gradFill>
            <a:gsLst>
              <a:gs pos="0">
                <a:srgbClr val="38BDF8"/>
              </a:gs>
              <a:gs pos="100000">
                <a:srgbClr val="22D3EE"/>
              </a:gs>
            </a:gsLst>
            <a:lin ang="2700000" scaled="1"/>
          </a:gradFill>
        </p:spPr>
        <p:txBody>
          <a:bodyPr/>
          <a:p/>
        </p:txBody>
      </p:sp>
      <p:sp>
        <p:nvSpPr>
          <p:cNvPr id="517" name="文本框 516" descr="{&quot;isTemplate&quot;:true,&quot;type&quot;:&quot;text&quot;}"/>
          <p:cNvSpPr txBox="1"/>
          <p:nvPr/>
        </p:nvSpPr>
        <p:spPr>
          <a:xfrm>
            <a:off x="1143000" y="1219200"/>
            <a:ext cx="1285875" cy="1714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spc="375">
                <a:solidFill>
                  <a:srgbClr val="38BDF8"/>
                </a:solidFill>
                <a:latin typeface="微软雅黑" panose="020B0503020204020204" charset="-122"/>
                <a:ea typeface="微软雅黑" panose="020B0503020204020204" charset="-122"/>
              </a:rPr>
              <a:t>THANK YOU</a:t>
            </a:r>
            <a:endParaRPr lang="en-US" sz="1125" spc="375">
              <a:solidFill>
                <a:srgbClr val="38BDF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18" name="文本框 517" descr="{&quot;isTemplate&quot;:true,&quot;type&quot;:&quot;text&quot;}"/>
          <p:cNvSpPr txBox="1"/>
          <p:nvPr/>
        </p:nvSpPr>
        <p:spPr>
          <a:xfrm>
            <a:off x="1143000" y="1600200"/>
            <a:ext cx="4457700" cy="7143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20000"/>
              </a:lnSpc>
            </a:pPr>
            <a:r>
              <a:rPr lang="zh-CN" sz="39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让业务代码只剩业务</a:t>
            </a:r>
            <a:endParaRPr lang="zh-CN" sz="39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19" name="矩形 518"/>
          <p:cNvSpPr/>
          <p:nvPr/>
        </p:nvSpPr>
        <p:spPr>
          <a:xfrm>
            <a:off x="1143000" y="2419350"/>
            <a:ext cx="1524000" cy="57150"/>
          </a:xfrm>
          <a:prstGeom prst="rect">
            <a:avLst/>
          </a:prstGeom>
          <a:gradFill>
            <a:gsLst>
              <a:gs pos="0">
                <a:srgbClr val="38BDF8"/>
              </a:gs>
              <a:gs pos="100000">
                <a:srgbClr val="22D3EE"/>
              </a:gs>
            </a:gsLst>
            <a:lin ang="2700000" scaled="1"/>
          </a:gradFill>
        </p:spPr>
        <p:txBody>
          <a:bodyPr/>
          <a:p/>
        </p:txBody>
      </p:sp>
      <p:sp>
        <p:nvSpPr>
          <p:cNvPr id="520" name="文本框 519" descr="{&quot;isTemplate&quot;:true,&quot;type&quot;:&quot;text&quot;}"/>
          <p:cNvSpPr txBox="1"/>
          <p:nvPr/>
        </p:nvSpPr>
        <p:spPr>
          <a:xfrm>
            <a:off x="1143000" y="2857500"/>
            <a:ext cx="7267575" cy="3905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200000"/>
              </a:lnSpc>
            </a:pPr>
            <a:r>
              <a:rPr lang="en-US" sz="127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f_config </a:t>
            </a:r>
            <a:r>
              <a:rPr lang="zh-CN" sz="127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配置　·　</a:t>
            </a:r>
            <a:r>
              <a:rPr lang="en-US" sz="127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f_bean </a:t>
            </a:r>
            <a:r>
              <a:rPr lang="zh-CN" sz="127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装配　·　</a:t>
            </a:r>
            <a:r>
              <a:rPr lang="en-US" sz="127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f_aspect </a:t>
            </a:r>
            <a:r>
              <a:rPr lang="zh-CN" sz="127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横切　·　</a:t>
            </a:r>
            <a:r>
              <a:rPr lang="en-US" sz="127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f_data </a:t>
            </a:r>
            <a:r>
              <a:rPr lang="zh-CN" sz="127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流动　·　</a:t>
            </a:r>
            <a:r>
              <a:rPr lang="en-US" sz="127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f_util </a:t>
            </a:r>
            <a:r>
              <a:rPr lang="zh-CN" sz="127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工具箱　·　</a:t>
            </a:r>
            <a:r>
              <a:rPr lang="en-US" sz="127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f_http </a:t>
            </a:r>
            <a:r>
              <a:rPr lang="zh-CN" sz="127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格式</a:t>
            </a:r>
            <a:endParaRPr lang="zh-CN" sz="1275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21" name="文本框 520" descr="{&quot;isTemplate&quot;:true,&quot;type&quot;:&quot;text&quot;}"/>
          <p:cNvSpPr txBox="1"/>
          <p:nvPr/>
        </p:nvSpPr>
        <p:spPr>
          <a:xfrm>
            <a:off x="1143000" y="3219450"/>
            <a:ext cx="8258175" cy="3905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200000"/>
              </a:lnSpc>
            </a:pPr>
            <a:r>
              <a:rPr lang="en-US" sz="127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f_mvc </a:t>
            </a:r>
            <a:r>
              <a:rPr lang="zh-CN" sz="127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协议　·　</a:t>
            </a:r>
            <a:r>
              <a:rPr lang="en-US" sz="127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f_orm </a:t>
            </a:r>
            <a:r>
              <a:rPr lang="zh-CN" sz="127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数据库　·　</a:t>
            </a:r>
            <a:r>
              <a:rPr lang="en-US" sz="127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f_security + f_jwt </a:t>
            </a:r>
            <a:r>
              <a:rPr lang="zh-CN" sz="127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身份　·　</a:t>
            </a:r>
            <a:r>
              <a:rPr lang="en-US" sz="127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f_ticktock </a:t>
            </a:r>
            <a:r>
              <a:rPr lang="zh-CN" sz="127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定时　·　</a:t>
            </a:r>
            <a:r>
              <a:rPr lang="en-US" sz="127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f_random </a:t>
            </a:r>
            <a:r>
              <a:rPr lang="zh-CN" sz="127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随机　·　</a:t>
            </a:r>
            <a:r>
              <a:rPr lang="en-US" sz="127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f_log </a:t>
            </a:r>
            <a:r>
              <a:rPr lang="zh-CN" sz="127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日志</a:t>
            </a:r>
            <a:endParaRPr lang="zh-CN" sz="1275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22" name="文本框 521" descr="{&quot;isTemplate&quot;:true,&quot;type&quot;:&quot;text&quot;}"/>
          <p:cNvSpPr txBox="1"/>
          <p:nvPr/>
        </p:nvSpPr>
        <p:spPr>
          <a:xfrm>
            <a:off x="1143000" y="3581400"/>
            <a:ext cx="6210300" cy="3905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200000"/>
              </a:lnSpc>
            </a:pPr>
            <a:r>
              <a:rPr lang="en-US" sz="12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f_cache · f_pool · f_collection · f_time · f_regex · f_rx · f_base · f_io —— </a:t>
            </a:r>
            <a:r>
              <a:rPr lang="zh-CN" sz="12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运行时底座</a:t>
            </a:r>
            <a:endParaRPr lang="zh-CN" sz="12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23" name="文本框 522" descr="{&quot;isTemplate&quot;:true,&quot;type&quot;:&quot;text&quot;}"/>
          <p:cNvSpPr txBox="1"/>
          <p:nvPr/>
        </p:nvSpPr>
        <p:spPr>
          <a:xfrm>
            <a:off x="1143000" y="4305300"/>
            <a:ext cx="495300" cy="5524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3600" b="1">
                <a:solidFill>
                  <a:srgbClr val="F59E0B"/>
                </a:solidFill>
                <a:latin typeface="JetBrains Mono"/>
                <a:ea typeface="JetBrains Mono"/>
              </a:rPr>
              <a:t>0</a:t>
            </a:r>
            <a:endParaRPr lang="en-US" sz="3600" b="1">
              <a:solidFill>
                <a:srgbClr val="F59E0B"/>
              </a:solidFill>
              <a:latin typeface="JetBrains Mono"/>
              <a:ea typeface="JetBrains Mono"/>
            </a:endParaRPr>
          </a:p>
        </p:txBody>
      </p:sp>
      <p:sp>
        <p:nvSpPr>
          <p:cNvPr id="524" name="文本框 523" descr="{&quot;isTemplate&quot;:true,&quot;type&quot;:&quot;text&quot;}"/>
          <p:cNvSpPr txBox="1"/>
          <p:nvPr/>
        </p:nvSpPr>
        <p:spPr>
          <a:xfrm>
            <a:off x="1143000" y="4933950"/>
            <a:ext cx="495300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配置文件</a:t>
            </a:r>
            <a:endParaRPr lang="zh-CN" sz="975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25" name="文本框 524" descr="{&quot;isTemplate&quot;:true,&quot;type&quot;:&quot;text&quot;}"/>
          <p:cNvSpPr txBox="1"/>
          <p:nvPr/>
        </p:nvSpPr>
        <p:spPr>
          <a:xfrm>
            <a:off x="2171700" y="4305300"/>
            <a:ext cx="742950" cy="5524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3600" b="1">
                <a:solidFill>
                  <a:srgbClr val="F59E0B"/>
                </a:solidFill>
                <a:latin typeface="JetBrains Mono"/>
                <a:ea typeface="JetBrains Mono"/>
              </a:rPr>
              <a:t>0</a:t>
            </a:r>
            <a:endParaRPr lang="en-US" sz="3600" b="1">
              <a:solidFill>
                <a:srgbClr val="F59E0B"/>
              </a:solidFill>
              <a:latin typeface="JetBrains Mono"/>
              <a:ea typeface="JetBrains Mono"/>
            </a:endParaRPr>
          </a:p>
        </p:txBody>
      </p:sp>
      <p:sp>
        <p:nvSpPr>
          <p:cNvPr id="526" name="文本框 525" descr="{&quot;isTemplate&quot;:true,&quot;type&quot;:&quot;text&quot;}"/>
          <p:cNvSpPr txBox="1"/>
          <p:nvPr/>
        </p:nvSpPr>
        <p:spPr>
          <a:xfrm>
            <a:off x="2171700" y="4933950"/>
            <a:ext cx="742950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行</a:t>
            </a:r>
            <a:r>
              <a:rPr lang="en-US" sz="97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main </a:t>
            </a:r>
            <a:r>
              <a:rPr lang="zh-CN" sz="97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函数</a:t>
            </a:r>
            <a:endParaRPr lang="zh-CN" sz="975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27" name="文本框 526" descr="{&quot;isTemplate&quot;:true,&quot;type&quot;:&quot;text&quot;}"/>
          <p:cNvSpPr txBox="1"/>
          <p:nvPr/>
        </p:nvSpPr>
        <p:spPr>
          <a:xfrm>
            <a:off x="3448050" y="4305300"/>
            <a:ext cx="495300" cy="5524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3600" b="1">
                <a:solidFill>
                  <a:srgbClr val="38BDF8"/>
                </a:solidFill>
                <a:latin typeface="JetBrains Mono"/>
                <a:ea typeface="JetBrains Mono"/>
              </a:rPr>
              <a:t>4</a:t>
            </a:r>
            <a:endParaRPr lang="en-US" sz="3600" b="1">
              <a:solidFill>
                <a:srgbClr val="38BDF8"/>
              </a:solidFill>
              <a:latin typeface="JetBrains Mono"/>
              <a:ea typeface="JetBrains Mono"/>
            </a:endParaRPr>
          </a:p>
        </p:txBody>
      </p:sp>
      <p:sp>
        <p:nvSpPr>
          <p:cNvPr id="528" name="文本框 527" descr="{&quot;isTemplate&quot;:true,&quot;type&quot;:&quot;text&quot;}"/>
          <p:cNvSpPr txBox="1"/>
          <p:nvPr/>
        </p:nvSpPr>
        <p:spPr>
          <a:xfrm>
            <a:off x="3448050" y="4933950"/>
            <a:ext cx="495300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个业务类</a:t>
            </a:r>
            <a:endParaRPr lang="zh-CN" sz="975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29" name="文本框 528" descr="{&quot;isTemplate&quot;:true,&quot;type&quot;:&quot;text&quot;}"/>
          <p:cNvSpPr txBox="1"/>
          <p:nvPr/>
        </p:nvSpPr>
        <p:spPr>
          <a:xfrm>
            <a:off x="4476750" y="4305300"/>
            <a:ext cx="809625" cy="5524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3600" b="1">
                <a:solidFill>
                  <a:srgbClr val="38BDF8"/>
                </a:solidFill>
                <a:latin typeface="JetBrains Mono"/>
                <a:ea typeface="JetBrains Mono"/>
              </a:rPr>
              <a:t>200</a:t>
            </a:r>
            <a:endParaRPr lang="en-US" sz="3600" b="1">
              <a:solidFill>
                <a:srgbClr val="38BDF8"/>
              </a:solidFill>
              <a:latin typeface="JetBrains Mono"/>
              <a:ea typeface="JetBrains Mono"/>
            </a:endParaRPr>
          </a:p>
        </p:txBody>
      </p:sp>
      <p:sp>
        <p:nvSpPr>
          <p:cNvPr id="530" name="文本框 529" descr="{&quot;isTemplate&quot;:true,&quot;type&quot;:&quot;text&quot;}"/>
          <p:cNvSpPr txBox="1"/>
          <p:nvPr/>
        </p:nvSpPr>
        <p:spPr>
          <a:xfrm>
            <a:off x="4476750" y="4933950"/>
            <a:ext cx="809625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行业务代码</a:t>
            </a:r>
            <a:endParaRPr lang="zh-CN" sz="975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31" name="文本框 530" descr="{&quot;isTemplate&quot;:true,&quot;type&quot;:&quot;text&quot;}"/>
          <p:cNvSpPr txBox="1"/>
          <p:nvPr/>
        </p:nvSpPr>
        <p:spPr>
          <a:xfrm>
            <a:off x="1143000" y="5676900"/>
            <a:ext cx="4610100" cy="1714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仓库与示例工程</a:t>
            </a:r>
            <a:r>
              <a:rPr lang="en-US" sz="112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 fdemo · </a:t>
            </a:r>
            <a:r>
              <a:rPr lang="zh-CN" sz="112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配套文档</a:t>
            </a:r>
            <a:r>
              <a:rPr lang="en-US" sz="112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 docs/speech.md · </a:t>
            </a:r>
            <a:r>
              <a:rPr lang="zh-CN" sz="112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三张速查表见附录</a:t>
            </a:r>
            <a:endParaRPr lang="zh-CN" sz="112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92597</Words>
  <Application>WPS 演示</Application>
  <PresentationFormat/>
  <Paragraphs>6183</Paragraphs>
  <Slides>116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116</vt:i4>
      </vt:variant>
    </vt:vector>
  </HeadingPairs>
  <TitlesOfParts>
    <vt:vector size="126" baseType="lpstr">
      <vt:lpstr>Arial</vt:lpstr>
      <vt:lpstr>宋体</vt:lpstr>
      <vt:lpstr>Wingdings</vt:lpstr>
      <vt:lpstr>微软雅黑</vt:lpstr>
      <vt:lpstr>JetBrains Mono</vt:lpstr>
      <vt:lpstr>FFont-Family</vt:lpstr>
      <vt:lpstr>Calibri</vt:lpstr>
      <vt:lpstr>Arial Unicode MS</vt:lpstr>
      <vt:lpstr>等线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helloworld</cp:lastModifiedBy>
  <cp:revision>148</cp:revision>
  <dcterms:created xsi:type="dcterms:W3CDTF">2026-10-02T13:55:00Z</dcterms:created>
  <dcterms:modified xsi:type="dcterms:W3CDTF">2026-10-03T02:38:11Z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EF4EC1C544F34D9DB5A357BF6D04C1EE_12</vt:lpwstr>
  </property>
  <property fmtid="{D5CDD505-2E9C-101B-9397-08002B2CF9AE}" pid="3" name="KSOProductBuildVer">
    <vt:lpwstr>2052-12.1.0.28505</vt:lpwstr>
  </property>
</Properties>
</file>