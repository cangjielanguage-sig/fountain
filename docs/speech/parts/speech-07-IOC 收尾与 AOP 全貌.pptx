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这一讲先把 IOC 讲完：条件装配用 BeanCondition，与或非三个操作符都重载了，所以条件可以直接组合；然后在 fdemo 里看 IOC 的实际用法。接着进入 AOP：先看 Aspect 接口的六个方法和默认执行顺序，再逐条过十四种织入规则，最后讲四个织入宏和两个杀手级用法——事务与统一日志。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条件装配解决的是「按环境装配」：这个 bean 在什么条件下才存在。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BeanCondition 是一个接口，只有一个 on 方法，参数是 BeanFactory，返回 Bool。它最重要的设计是：&amp; 、| 、! 三个操作符都重载了，所以条件可以直接用操作符组合，比字符串拼表达式舒服得多。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内置实现有四组。NoneBeanCondition 永远返回 true，是默认值。AndCond、OrCond、NotCond 是组合器，</a:t>
            </a:r>
            <a:r>
              <a:rPr lang="en-US" altLang="zh-CN" dirty="0"/>
              <a:t>&amp; | ! </a:t>
            </a:r>
            <a:r>
              <a:rPr lang="zh-CN" altLang="en-US" dirty="0"/>
              <a:t>操作符函数返回的就是它们的实例</a:t>
            </a:r>
            <a:r>
              <a:rPr lang="zh-CN" dirty="0"/>
              <a:t>。ConfCond 看配置，有 IgnoreConf、Exists、NotExists、Value 四种，用来判断配置项是否符合条件。Value 还能带一个 StringCond 来匹配配置值。BeanDef 看 bean 定义，可以用 beanType、beanName、scope、count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看右边的示例：条件是「配置项 orm_drivers 包含 postgres」并且「存在一个 Dialect 的子类实现」。两个都满足，这个 PostgresOnlyBean 才存在；否则会在 afterRegistered 阶段从 BeanFactory 里删掉。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比 Spring 的 @Conditional 更灵活的地方就是 &amp;、|、! 可以直接用操作符组合。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fdemo 里看 IOC，两处。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第一处是 UserController。它里面一行 lookup 泛型 UserService。注意拿到的是接口类型的 bean，而实现类是 UserServiceImpl。IOC 用「实现的接口」做了索引，所以按接口取是天然支持的。这也解释了右边三张索引表的第二张为什么重要。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第二处是 CurrentUserController。它上面有 @WeavedController，然后 @BeanMeta 指定 scope 是 prototype，注意这个 BeanMeta 必须写在 @WeavedController 下面。prototype 意味着每次访问都 new 一个——它的 init 里有一行 println，每访问一次就会打印一次。这是视频里证明 prototype 生效的最简单方式。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最后是 @Configuration 加 @BeanInit。@Configuration 修饰的类自己不会进容器，但它里面被 @BeanInit 修饰的公共成员函数都是 bean 初始化函数，静态和实例的都可以。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一句话总结：@Configuration 是「配置容器」，不是 bean。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第七章 AOP。先说切面是什么：实现了 Aspect 接口的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Aspect 接口有六个方法。before 最先执行；around 包住原函数体，由你决定什么时候调 point；after 在 around 之后执行；throwing 处理异常；final 最后一定执行；proceed 是把这几个方法串起来的默认实现，你也可以覆盖它自己编排。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proceed 的顺序是：try 里面先 before，再 around，around 里调原函数体，然后 after；任何一步抛异常都进 catch 里的 throwing；finally 里的 final 一定会执行。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要点是：before、around、原函数体、after 这四步里任意一步抛异常都会进 throwing，而 final 无论成功失败都会跑。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如果你有更特别的编排需求，直接覆盖 proceed 自己排就行——这也是为什么 proceed 会在接口里。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织入规则决定了「哪些函数会被切面织进去」。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先说通配符：所有规则都支持星号和问号，包名支持两个点表示任意层级，还支持点星、星点、点星点这三种任意包名写法，组织名用双冒号分隔。规则之间可以用 &amp; | ! 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规则一共十四种。按匹配依据分四类。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按「类加函数签名」匹配的是 ExecutionRouteRule，四个参数是类全限定名、函数名、参数类型、返回类型。按「类型」匹配的是 WithinRouteRule，匹配到的类型下所有公共实例函数都会被织入；TargetRouteRule 匹配该类及其子类。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按「函数」匹配的有 FuncNameRouteRule、FuncTypeRouteRule、ArgsRouteRule、ReturnTypeRouteRule。ArgsRouteRule 里两个星号表示任意数量参数，星号逗号和逗号星号表示忽略首尾。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按「注解」匹配的有三个：TargetAnnotationRouteRule 看目标类型上的注解，FuncAnnotationRouteRule 看目标函数上的注解，还有参数注解那一族四个。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最后两个特别的：BeanNameRouteRule 按目标对象的 bean 名匹配；ConfigExecutionRouteRule 是从环境变量里读规则，这个下一节会重点讲。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（三个织入宏，加上现场看 ControllerAspect。）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 @Pointcut。修饰函数的时候只有这个函数织入；修饰类的时候，这个类全部公共函数都织入。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 @WeavedBean。它等于「注册进 IOC」加上「全部公共成员函数织入」。注意它已经包含 @Bean 的功能，所以不需要再加 @Bean。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 @WeavedController，这是 MVC 模块声明的专用宏。它包含 @Controller 的全部功能，再加上织入。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 @TransactionalService，这是 ORM 模块声明的专用宏，本质上是 WeavedBean 的别名。这一条在第十二章讲事务时会再回来。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一个关键点：织入逻辑是在这些函数首次调用时执行的，不是启动期。所以启动很快——这也是为什么上一章说反射只在两处出现，其中一处就是这里。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fdemo 的 ControllerAspect。它的织入规则写的是 ConfigExecutionRouteRule，配置项名是 controllerPointcut。配合 boot.sh 里的一行环境变量，切点表达式变成了部署期可配的。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AOP 在 fountain 里有两个杀手级用法。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第一个是事务。f_orm 的 TransactionAspect 就是一个切面，它的织入规则是两个条件取或：一是函数上有 Transactional 注解，二是函数的执行签名命中了 orm_transactionalFuncExecution 这个配置项。这就是为什么你可以「只加注解」或者「只配一行环境变量」两种方式开事务。这个第十二章会完整展开。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第二个是统一日志、耗时和审计。就像 ControllerAspect 那样，一处改动覆盖全部 controller。你不再需要在每个接口开头写耗时统计，切面里加一次就行了。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除了这两个，还有一个设计值得单独强调：切点表达式是从配置项读的。所以「开发环境织入、生产环境改窄甚至关掉」这种需求，不用改一行代码，改环境变量就够了。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 ConfigExecutionRouteRule 的价值——把「哪些函数被切」这件事从代码里挪到了部署配置里。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这一讲四个要点：一，切面的执行顺序由 proceed 编排，四步里任一步抛异常就进 throwing，而 final 一定执行；二，织入发生在切点函数首次被调用时，不是启动期，所以启动很快；三，切点表达式能从环境变量读，所以「哪些函数被切」是部署期可配的；四，事务切面就是 FuncAnnotationRouteRule 与 ConfigExecutionRouteRule 取或。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07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IOC 收尾与 AOP 全貌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条件装配：&amp; | ! 可直接组合的条件对象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AOP 的 Aspect 接口与默认执行顺序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十四种织入规则　·　四个织入宏　·　两个杀手级用法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7 讲 / 共 25 讲　·　原稿第 40–45 页 + 首尾两页　·　约 14.7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矩形 1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53" name="矩形 1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54" name="文本框 1353" descr="{&quot;isTemplate&quot;:true,&quot;type&quot;:&quot;text&quot;}"/>
          <p:cNvSpPr txBox="1"/>
          <p:nvPr/>
        </p:nvSpPr>
        <p:spPr>
          <a:xfrm>
            <a:off x="819150" y="304800"/>
            <a:ext cx="9677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5" name="文本框 1354" descr="{&quot;isTemplate&quot;:true,&quot;type&quot;:&quot;text&quot;}"/>
          <p:cNvSpPr txBox="1"/>
          <p:nvPr/>
        </p:nvSpPr>
        <p:spPr>
          <a:xfrm>
            <a:off x="819150" y="514350"/>
            <a:ext cx="967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条件装配：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BeanCondition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6" name="文本框 1355" descr="{&quot;isTemplate&quot;:true,&quot;type&quot;:&quot;text&quot;}"/>
          <p:cNvSpPr txBox="1"/>
          <p:nvPr/>
        </p:nvSpPr>
        <p:spPr>
          <a:xfrm>
            <a:off x="10668000" y="590550"/>
            <a:ext cx="914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可直接组合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7" name="圆角矩形 1356"/>
          <p:cNvSpPr/>
          <p:nvPr/>
        </p:nvSpPr>
        <p:spPr>
          <a:xfrm>
            <a:off x="609600" y="1143000"/>
            <a:ext cx="4953000" cy="331470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58" name="文本框 1357" descr="{&quot;isTemplate&quot;:true,&quot;type&quot;:&quot;text&quot;}"/>
          <p:cNvSpPr txBox="1"/>
          <p:nvPr/>
        </p:nvSpPr>
        <p:spPr>
          <a:xfrm>
            <a:off x="800100" y="1333500"/>
            <a:ext cx="457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9" name="文本框 1358" descr="{&quot;isTemplate&quot;:true,&quot;type&quot;:&quot;text&quot;}"/>
          <p:cNvSpPr txBox="1"/>
          <p:nvPr/>
        </p:nvSpPr>
        <p:spPr>
          <a:xfrm>
            <a:off x="800100" y="15906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interface BeanCondition &lt;: ToString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0" name="文本框 1359" descr="{&quot;isTemplate&quot;:true,&quot;type&quot;:&quot;text&quot;}"/>
          <p:cNvSpPr txBox="1"/>
          <p:nvPr/>
        </p:nvSpPr>
        <p:spPr>
          <a:xfrm>
            <a:off x="800100" y="18288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func on(factory: BeanFactory): Bool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1" name="文本框 1360" descr="{&quot;isTemplate&quot;:true,&quot;type&quot;:&quot;text&quot;}"/>
          <p:cNvSpPr txBox="1"/>
          <p:nvPr/>
        </p:nvSpPr>
        <p:spPr>
          <a:xfrm>
            <a:off x="800100" y="206692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&amp;(right: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2" name="文本框 1361" descr="{&quot;isTemplate&quot;:true,&quot;type&quot;:&quot;text&quot;}"/>
          <p:cNvSpPr txBox="1"/>
          <p:nvPr/>
        </p:nvSpPr>
        <p:spPr>
          <a:xfrm>
            <a:off x="800100" y="230505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|(right: BeanCondition):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3" name="文本框 1362" descr="{&quot;isTemplate&quot;:true,&quot;type&quot;:&quot;text&quot;}"/>
          <p:cNvSpPr txBox="1"/>
          <p:nvPr/>
        </p:nvSpPr>
        <p:spPr>
          <a:xfrm>
            <a:off x="800100" y="2543175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operator const func !(): BeanCondition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64" name="文本框 1363" descr="{&quot;isTemplate&quot;:true,&quot;type&quot;:&quot;text&quot;}"/>
          <p:cNvSpPr txBox="1"/>
          <p:nvPr/>
        </p:nvSpPr>
        <p:spPr>
          <a:xfrm>
            <a:off x="800100" y="2781300"/>
            <a:ext cx="4572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65" name="文本框 1364" descr="{&quot;isTemplate&quot;:true,&quot;type&quot;:&quot;text&quot;}"/>
          <p:cNvSpPr txBox="1"/>
          <p:nvPr/>
        </p:nvSpPr>
        <p:spPr>
          <a:xfrm>
            <a:off x="800100" y="3962400"/>
            <a:ext cx="45720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条件对象可直接用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组合，不需要字符串表达式。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6" name="圆角矩形 1365"/>
          <p:cNvSpPr/>
          <p:nvPr/>
        </p:nvSpPr>
        <p:spPr>
          <a:xfrm>
            <a:off x="5753100" y="1143000"/>
            <a:ext cx="5829300" cy="3314700"/>
          </a:xfrm>
          <a:prstGeom prst="roundRect">
            <a:avLst>
              <a:gd name="adj" fmla="val 344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67" name="文本框 1366" descr="{&quot;isTemplate&quot;:true,&quot;type&quot;:&quot;text&quot;}"/>
          <p:cNvSpPr txBox="1"/>
          <p:nvPr/>
        </p:nvSpPr>
        <p:spPr>
          <a:xfrm>
            <a:off x="5943600" y="1333500"/>
            <a:ext cx="5448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8" name="文本框 1367" descr="{&quot;isTemplate&quot;:true,&quot;type&quot;:&quot;text&quot;}"/>
          <p:cNvSpPr txBox="1"/>
          <p:nvPr/>
        </p:nvSpPr>
        <p:spPr>
          <a:xfrm>
            <a:off x="5943600" y="161925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NoneBeanCondition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永远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true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（默认）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9" name="文本框 1368" descr="{&quot;isTemplate&quot;:true,&quot;type&quot;:&quot;text&quot;}"/>
          <p:cNvSpPr txBox="1"/>
          <p:nvPr/>
        </p:nvSpPr>
        <p:spPr>
          <a:xfrm>
            <a:off x="5943600" y="197167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AndCond / OrCond / NotCond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组合器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0" name="文本框 1369" descr="{&quot;isTemplate&quot;:true,&quot;type&quot;:&quot;text&quot;}"/>
          <p:cNvSpPr txBox="1"/>
          <p:nvPr/>
        </p:nvSpPr>
        <p:spPr>
          <a:xfrm>
            <a:off x="5943600" y="2324100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ConfCond —— IgnoreConf | Exists(key) | NotExists(key) | Value(key, StringCond)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1" name="文本框 1370" descr="{&quot;isTemplate&quot;:true,&quot;type&quot;:&quot;text&quot;}"/>
          <p:cNvSpPr txBox="1"/>
          <p:nvPr/>
        </p:nvSpPr>
        <p:spPr>
          <a:xfrm>
            <a:off x="5943600" y="2676525"/>
            <a:ext cx="54483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BeanDef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存在满足条件的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定义才成立，可用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beanType / beanName / scope / count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2" name="文本框 1371" descr="{&quot;isTemplate&quot;:true,&quot;type&quot;:&quot;text&quot;}"/>
          <p:cNvSpPr txBox="1"/>
          <p:nvPr/>
        </p:nvSpPr>
        <p:spPr>
          <a:xfrm>
            <a:off x="5943600" y="3971925"/>
            <a:ext cx="5448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不满足条件的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afterRegistered()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阶段被从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删除。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3" name="圆角矩形 1372"/>
          <p:cNvSpPr/>
          <p:nvPr/>
        </p:nvSpPr>
        <p:spPr>
          <a:xfrm>
            <a:off x="609600" y="4610100"/>
            <a:ext cx="10972800" cy="1562100"/>
          </a:xfrm>
          <a:prstGeom prst="roundRect">
            <a:avLst>
              <a:gd name="adj" fmla="val 73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374" name="文本框 1373" descr="{&quot;isTemplate&quot;:true,&quot;type&quot;:&quot;text&quot;}"/>
          <p:cNvSpPr txBox="1"/>
          <p:nvPr/>
        </p:nvSpPr>
        <p:spPr>
          <a:xfrm>
            <a:off x="762000" y="47625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示例：配置里有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postgres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，且有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Dialect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实现，这个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才存在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5" name="文本框 1374" descr="{&quot;isTemplate&quot;:true,&quot;type&quot;:&quot;text&quot;}"/>
          <p:cNvSpPr txBox="1"/>
          <p:nvPr/>
        </p:nvSpPr>
        <p:spPr>
          <a:xfrm>
            <a:off x="762000" y="50006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376" name="文本框 1375" descr="{&quot;isTemplate&quot;:true,&quot;type&quot;:&quot;text&quot;}"/>
          <p:cNvSpPr txBox="1"/>
          <p:nvPr/>
        </p:nvSpPr>
        <p:spPr>
          <a:xfrm>
            <a:off x="762000" y="52387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@BeanMeta[condition: ConfCond.Value('orm_drivers', StringCond.Contains('postgres'))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7" name="文本框 1376" descr="{&quot;isTemplate&quot;:true,&quot;type&quot;:&quot;text&quot;}"/>
          <p:cNvSpPr txBox="1"/>
          <p:nvPr/>
        </p:nvSpPr>
        <p:spPr>
          <a:xfrm>
            <a:off x="762000" y="547687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           &amp; BeanDef(beanType: BeanDefType.SubOfOnly('fountain::f_orm.base.Dialect'))]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8" name="文本框 1377" descr="{&quot;isTemplate&quot;:true,&quot;type&quot;:&quot;text&quot;}"/>
          <p:cNvSpPr txBox="1"/>
          <p:nvPr/>
        </p:nvSpPr>
        <p:spPr>
          <a:xfrm>
            <a:off x="762000" y="571500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PostgresOnlyBean {}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79" name="任意多边形 137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80" name="文本框 137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1" name="文本框 138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矩形 13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84" name="矩形 138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85" name="文本框 1384" descr="{&quot;isTemplate&quot;:true,&quot;type&quot;:&quot;text&quot;}"/>
          <p:cNvSpPr txBox="1"/>
          <p:nvPr/>
        </p:nvSpPr>
        <p:spPr>
          <a:xfrm>
            <a:off x="819150" y="304800"/>
            <a:ext cx="8858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IOC f_bean · 6.5 / 6.6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6" name="文本框 1385" descr="{&quot;isTemplate&quot;:true,&quot;type&quot;:&quot;text&quot;}"/>
          <p:cNvSpPr txBox="1"/>
          <p:nvPr/>
        </p:nvSpPr>
        <p:spPr>
          <a:xfrm>
            <a:off x="819150" y="514350"/>
            <a:ext cx="885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里看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7" name="文本框 1386" descr="{&quot;isTemplate&quot;:true,&quot;type&quot;:&quot;text&quot;}"/>
          <p:cNvSpPr txBox="1"/>
          <p:nvPr/>
        </p:nvSpPr>
        <p:spPr>
          <a:xfrm>
            <a:off x="9848850" y="590550"/>
            <a:ext cx="1733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8" name="圆角矩形 1387"/>
          <p:cNvSpPr/>
          <p:nvPr/>
        </p:nvSpPr>
        <p:spPr>
          <a:xfrm>
            <a:off x="609600" y="1143000"/>
            <a:ext cx="6972300" cy="3105150"/>
          </a:xfrm>
          <a:prstGeom prst="roundRect">
            <a:avLst>
              <a:gd name="adj" fmla="val 36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89" name="文本框 1388" descr="{&quot;isTemplate&quot;:true,&quot;type&quot;:&quot;text&quot;}"/>
          <p:cNvSpPr txBox="1"/>
          <p:nvPr/>
        </p:nvSpPr>
        <p:spPr>
          <a:xfrm>
            <a:off x="800100" y="13335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user/src/controller/UserController.cj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0" name="文本框 1389" descr="{&quot;isTemplate&quot;:true,&quot;type&quot;:&quot;text&quot;}"/>
          <p:cNvSpPr txBox="1"/>
          <p:nvPr/>
        </p:nvSpPr>
        <p:spPr>
          <a:xfrm>
            <a:off x="800100" y="1590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1" name="文本框 1390" descr="{&quot;isTemplate&quot;:true,&quot;type&quot;:&quot;text&quot;}"/>
          <p:cNvSpPr txBox="1"/>
          <p:nvPr/>
        </p:nvSpPr>
        <p:spPr>
          <a:xfrm>
            <a:off x="800100" y="1847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2" name="文本框 1391" descr="{&quot;isTemplate&quot;:true,&quot;type&quot;:&quot;text&quot;}"/>
          <p:cNvSpPr txBox="1"/>
          <p:nvPr/>
        </p:nvSpPr>
        <p:spPr>
          <a:xfrm>
            <a:off x="800100" y="2105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private let userService = lookup&lt;UserService&gt;()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393" name="文本框 1392" descr="{&quot;isTemplate&quot;:true,&quot;type&quot;:&quot;text&quot;}"/>
          <p:cNvSpPr txBox="1"/>
          <p:nvPr/>
        </p:nvSpPr>
        <p:spPr>
          <a:xfrm>
            <a:off x="800100" y="2362200"/>
            <a:ext cx="65913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//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拿到的是接口类型的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，实现类是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4" name="文本框 1393" descr="{&quot;isTemplate&quot;:true,&quot;type&quot;:&quot;text&quot;}"/>
          <p:cNvSpPr txBox="1"/>
          <p:nvPr/>
        </p:nvSpPr>
        <p:spPr>
          <a:xfrm>
            <a:off x="800100" y="2657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5" name="矩形 1394"/>
          <p:cNvSpPr/>
          <p:nvPr/>
        </p:nvSpPr>
        <p:spPr>
          <a:xfrm>
            <a:off x="800100" y="3009900"/>
            <a:ext cx="6591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396" name="文本框 1395" descr="{&quot;isTemplate&quot;:true,&quot;type&quot;:&quot;text&quot;}"/>
          <p:cNvSpPr txBox="1"/>
          <p:nvPr/>
        </p:nvSpPr>
        <p:spPr>
          <a:xfrm>
            <a:off x="800100" y="31146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@WeavedController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7" name="文本框 1396" descr="{&quot;isTemplate&quot;:true,&quot;type&quot;:&quot;text&quot;}"/>
          <p:cNvSpPr txBox="1"/>
          <p:nvPr/>
        </p:nvSpPr>
        <p:spPr>
          <a:xfrm>
            <a:off x="800100" y="33718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@BeanMeta[scope: BeanScope.prototype]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必须写在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@WeavedController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下面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398" name="文本框 1397" descr="{&quot;isTemplate&quot;:true,&quot;type&quot;:&quot;text&quot;}"/>
          <p:cNvSpPr txBox="1"/>
          <p:nvPr/>
        </p:nvSpPr>
        <p:spPr>
          <a:xfrm>
            <a:off x="800100" y="36290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CurrentUserController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...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399" name="圆角矩形 1398"/>
          <p:cNvSpPr/>
          <p:nvPr/>
        </p:nvSpPr>
        <p:spPr>
          <a:xfrm>
            <a:off x="609600" y="4381500"/>
            <a:ext cx="6972300" cy="19050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00" name="文本框 1399" descr="{&quot;isTemplate&quot;:true,&quot;type&quot;:&quot;text&quot;}"/>
          <p:cNvSpPr txBox="1"/>
          <p:nvPr/>
        </p:nvSpPr>
        <p:spPr>
          <a:xfrm>
            <a:off x="800100" y="4572000"/>
            <a:ext cx="659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@Configuration + @BeanInit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1" name="文本框 1400" descr="{&quot;isTemplate&quot;:true,&quot;type&quot;:&quot;text&quot;}"/>
          <p:cNvSpPr txBox="1"/>
          <p:nvPr/>
        </p:nvSpPr>
        <p:spPr>
          <a:xfrm>
            <a:off x="800100" y="48101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@Configuration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这个类本身不被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IOC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管理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2" name="文本框 1401" descr="{&quot;isTemplate&quot;:true,&quot;type&quot;:&quot;text&quot;}"/>
          <p:cNvSpPr txBox="1"/>
          <p:nvPr/>
        </p:nvSpPr>
        <p:spPr>
          <a:xfrm>
            <a:off x="800100" y="506730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AppConfig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3" name="文本框 1402" descr="{&quot;isTemplate&quot;:true,&quot;type&quot;:&quot;text&quot;}"/>
          <p:cNvSpPr txBox="1"/>
          <p:nvPr/>
        </p:nvSpPr>
        <p:spPr>
          <a:xfrm>
            <a:off x="800100" y="532447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@BeanInit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4" name="文本框 1403" descr="{&quot;isTemplate&quot;:true,&quot;type&quot;:&quot;text&quot;}"/>
          <p:cNvSpPr txBox="1"/>
          <p:nvPr/>
        </p:nvSpPr>
        <p:spPr>
          <a:xfrm>
            <a:off x="800100" y="5581650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func initSomething(): Unit { ...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05" name="文本框 1404" descr="{&quot;isTemplate&quot;:true,&quot;type&quot;:&quot;text&quot;}"/>
          <p:cNvSpPr txBox="1"/>
          <p:nvPr/>
        </p:nvSpPr>
        <p:spPr>
          <a:xfrm>
            <a:off x="800100" y="5838825"/>
            <a:ext cx="659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06" name="圆角矩形 1405"/>
          <p:cNvSpPr/>
          <p:nvPr/>
        </p:nvSpPr>
        <p:spPr>
          <a:xfrm>
            <a:off x="7772400" y="1143000"/>
            <a:ext cx="3810000" cy="2647950"/>
          </a:xfrm>
          <a:prstGeom prst="roundRect">
            <a:avLst>
              <a:gd name="adj" fmla="val 43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07" name="文本框 1406" descr="{&quot;isTemplate&quot;:true,&quot;type&quot;:&quot;text&quot;}"/>
          <p:cNvSpPr txBox="1"/>
          <p:nvPr/>
        </p:nvSpPr>
        <p:spPr>
          <a:xfrm>
            <a:off x="7962900" y="13335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按接口取，天然支持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8" name="文本框 1407" descr="{&quot;isTemplate&quot;:true,&quot;type&quot;:&quot;text&quot;}"/>
          <p:cNvSpPr txBox="1"/>
          <p:nvPr/>
        </p:nvSpPr>
        <p:spPr>
          <a:xfrm>
            <a:off x="7962900" y="1628775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IOC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用「实现的接口」建了索引，所以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能拿到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UserServiceImpl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9" name="文本框 1408" descr="{&quot;isTemplate&quot;:true,&quot;type&quot;:&quot;text&quot;}"/>
          <p:cNvSpPr txBox="1"/>
          <p:nvPr/>
        </p:nvSpPr>
        <p:spPr>
          <a:xfrm>
            <a:off x="7962900" y="230505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同一个接口有多个实现时，用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BeanMeta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primary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决定取哪一个。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0" name="圆角矩形 1409"/>
          <p:cNvSpPr/>
          <p:nvPr/>
        </p:nvSpPr>
        <p:spPr>
          <a:xfrm>
            <a:off x="7772400" y="3924300"/>
            <a:ext cx="3810000" cy="2362200"/>
          </a:xfrm>
          <a:prstGeom prst="roundRect">
            <a:avLst>
              <a:gd name="adj" fmla="val 4839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11" name="文本框 1410" descr="{&quot;isTemplate&quot;:true,&quot;type&quot;:&quot;text&quot;}"/>
          <p:cNvSpPr txBox="1"/>
          <p:nvPr/>
        </p:nvSpPr>
        <p:spPr>
          <a:xfrm>
            <a:off x="7962900" y="4114800"/>
            <a:ext cx="342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prototype </a:t>
            </a:r>
            <a:r>
              <a:rPr lang="zh-CN"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生效</a:t>
            </a:r>
            <a:endParaRPr lang="zh-CN"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2" name="文本框 1411" descr="{&quot;isTemplate&quot;:true,&quot;type&quot;:&quot;text&quot;}"/>
          <p:cNvSpPr txBox="1"/>
          <p:nvPr/>
        </p:nvSpPr>
        <p:spPr>
          <a:xfrm>
            <a:off x="7962900" y="44100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init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里有一行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println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3" name="文本框 1412" descr="{&quot;isTemplate&quot;:true,&quot;type&quot;:&quot;text&quot;}"/>
          <p:cNvSpPr txBox="1"/>
          <p:nvPr/>
        </p:nvSpPr>
        <p:spPr>
          <a:xfrm>
            <a:off x="7962900" y="4800600"/>
            <a:ext cx="3429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每访问一次这个接口，控制台就会多打一行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这是最直观的证明方式。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4" name="任意多边形 14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15" name="文本框 14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6" name="文本框 14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矩形 14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19" name="矩形 14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20" name="文本框 14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1" name="文本框 14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切面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实现了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Aspect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2" name="文本框 14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面试与实战都爱问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3" name="圆角矩形 1422"/>
          <p:cNvSpPr/>
          <p:nvPr/>
        </p:nvSpPr>
        <p:spPr>
          <a:xfrm>
            <a:off x="609600" y="1143000"/>
            <a:ext cx="10972800" cy="2533650"/>
          </a:xfrm>
          <a:prstGeom prst="roundRect">
            <a:avLst>
              <a:gd name="adj" fmla="val 45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24" name="文本框 1423" descr="{&quot;isTemplate&quot;:true,&quot;type&quot;:&quot;text&quot;}"/>
          <p:cNvSpPr txBox="1"/>
          <p:nvPr/>
        </p:nvSpPr>
        <p:spPr>
          <a:xfrm>
            <a:off x="800100" y="1333500"/>
            <a:ext cx="10591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public interface Aspect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5" name="文本框 1424" descr="{&quot;isTemplate&quot;:true,&quot;type&quot;:&quot;text&quot;}"/>
          <p:cNvSpPr txBox="1"/>
          <p:nvPr/>
        </p:nvSpPr>
        <p:spPr>
          <a:xfrm>
            <a:off x="800100" y="1590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before(funcInfo: InvocationFuncInfo): Unit              //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最先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6" name="文本框 1425" descr="{&quot;isTemplate&quot;:true,&quot;type&quot;:&quot;text&quot;}"/>
          <p:cNvSpPr txBox="1"/>
          <p:nvPr/>
        </p:nvSpPr>
        <p:spPr>
          <a:xfrm>
            <a:off x="800100" y="18954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around(funcInfo: InvocationFuncInfo, point: (Array&lt;Any&gt;) -&gt; Any): Any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7" name="文本框 1426" descr="{&quot;isTemplate&quot;:true,&quot;type&quot;:&quot;text&quot;}"/>
          <p:cNvSpPr txBox="1"/>
          <p:nvPr/>
        </p:nvSpPr>
        <p:spPr>
          <a:xfrm>
            <a:off x="800100" y="22002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func after(funcInfo: InvocationFuncInfo, result: Any): Any   // around 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之后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28" name="文本框 1427" descr="{&quot;isTemplate&quot;:true,&quot;type&quot;:&quot;text&quot;}"/>
          <p:cNvSpPr txBox="1"/>
          <p:nvPr/>
        </p:nvSpPr>
        <p:spPr>
          <a:xfrm>
            <a:off x="800100" y="25050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   func throwing(funcInfo: InvocationFuncInfo, e: Exception): Exception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29" name="文本框 1428" descr="{&quot;isTemplate&quot;:true,&quot;type&quot;:&quot;text&quot;}"/>
          <p:cNvSpPr txBox="1"/>
          <p:nvPr/>
        </p:nvSpPr>
        <p:spPr>
          <a:xfrm>
            <a:off x="800100" y="28098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   func final(funcInfo: InvocationFuncInfo): Unit               //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最后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30" name="文本框 1429" descr="{&quot;isTemplate&quot;:true,&quot;type&quot;:&quot;text&quot;}"/>
          <p:cNvSpPr txBox="1"/>
          <p:nvPr/>
        </p:nvSpPr>
        <p:spPr>
          <a:xfrm>
            <a:off x="800100" y="3114675"/>
            <a:ext cx="1059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func proceed(funcInfo: InvocationFuncInfo, point: (Array&lt;Any&gt;) -&gt; Any): Any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431" name="圆角矩形 1430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2" name="文本框 1431" descr="{&quot;isTemplate&quot;:true,&quot;type&quot;:&quot;text&quot;}"/>
          <p:cNvSpPr txBox="1"/>
          <p:nvPr/>
        </p:nvSpPr>
        <p:spPr>
          <a:xfrm>
            <a:off x="819150" y="4038600"/>
            <a:ext cx="10553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的顺序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3" name="圆角矩形 1432"/>
          <p:cNvSpPr/>
          <p:nvPr/>
        </p:nvSpPr>
        <p:spPr>
          <a:xfrm>
            <a:off x="819150" y="4381500"/>
            <a:ext cx="6477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34" name="文本框 1433" descr="{&quot;isTemplate&quot;:true,&quot;type&quot;:&quot;text&quot;}"/>
          <p:cNvSpPr txBox="1"/>
          <p:nvPr/>
        </p:nvSpPr>
        <p:spPr>
          <a:xfrm>
            <a:off x="933450" y="449580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before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5" name="文本框 1434" descr="{&quot;isTemplate&quot;:true,&quot;type&quot;:&quot;text&quot;}"/>
          <p:cNvSpPr txBox="1"/>
          <p:nvPr/>
        </p:nvSpPr>
        <p:spPr>
          <a:xfrm>
            <a:off x="15811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6" name="圆角矩形 1435"/>
          <p:cNvSpPr/>
          <p:nvPr/>
        </p:nvSpPr>
        <p:spPr>
          <a:xfrm>
            <a:off x="1847850" y="4381500"/>
            <a:ext cx="6858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37" name="文本框 1436" descr="{&quot;isTemplate&quot;:true,&quot;type&quot;:&quot;text&quot;}"/>
          <p:cNvSpPr txBox="1"/>
          <p:nvPr/>
        </p:nvSpPr>
        <p:spPr>
          <a:xfrm>
            <a:off x="1962150" y="44958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around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8" name="文本框 1437" descr="{&quot;isTemplate&quot;:true,&quot;type&quot;:&quot;text&quot;}"/>
          <p:cNvSpPr txBox="1"/>
          <p:nvPr/>
        </p:nvSpPr>
        <p:spPr>
          <a:xfrm>
            <a:off x="2647950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9" name="圆角矩形 1438"/>
          <p:cNvSpPr/>
          <p:nvPr/>
        </p:nvSpPr>
        <p:spPr>
          <a:xfrm>
            <a:off x="2914650" y="4381500"/>
            <a:ext cx="155257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0" name="文本框 1439" descr="{&quot;isTemplate&quot;:true,&quot;type&quot;:&quot;text&quot;}"/>
          <p:cNvSpPr txBox="1"/>
          <p:nvPr/>
        </p:nvSpPr>
        <p:spPr>
          <a:xfrm>
            <a:off x="3028950" y="4495800"/>
            <a:ext cx="1323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原函数体（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point(...)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1" name="文本框 1440" descr="{&quot;isTemplate&quot;:true,&quot;type&quot;:&quot;text&quot;}"/>
          <p:cNvSpPr txBox="1"/>
          <p:nvPr/>
        </p:nvSpPr>
        <p:spPr>
          <a:xfrm>
            <a:off x="45815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2" name="圆角矩形 1441"/>
          <p:cNvSpPr/>
          <p:nvPr/>
        </p:nvSpPr>
        <p:spPr>
          <a:xfrm>
            <a:off x="4848225" y="4381500"/>
            <a:ext cx="533400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43" name="文本框 1442" descr="{&quot;isTemplate&quot;:true,&quot;type&quot;:&quot;text&quot;}"/>
          <p:cNvSpPr txBox="1"/>
          <p:nvPr/>
        </p:nvSpPr>
        <p:spPr>
          <a:xfrm>
            <a:off x="4962525" y="4495800"/>
            <a:ext cx="304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after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4" name="文本框 1443" descr="{&quot;isTemplate&quot;:true,&quot;type&quot;:&quot;text&quot;}"/>
          <p:cNvSpPr txBox="1"/>
          <p:nvPr/>
        </p:nvSpPr>
        <p:spPr>
          <a:xfrm>
            <a:off x="5495925" y="448627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5" name="圆角矩形 1444"/>
          <p:cNvSpPr/>
          <p:nvPr/>
        </p:nvSpPr>
        <p:spPr>
          <a:xfrm>
            <a:off x="5762625" y="4381500"/>
            <a:ext cx="504825" cy="390525"/>
          </a:xfrm>
          <a:prstGeom prst="roundRect">
            <a:avLst>
              <a:gd name="adj" fmla="val 19512"/>
            </a:avLst>
          </a:prstGeom>
          <a:solidFill>
            <a:srgbClr val="0B1220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46" name="文本框 1445" descr="{&quot;isTemplate&quot;:true,&quot;type&quot;:&quot;text&quot;}"/>
          <p:cNvSpPr txBox="1"/>
          <p:nvPr/>
        </p:nvSpPr>
        <p:spPr>
          <a:xfrm>
            <a:off x="5876925" y="4495800"/>
            <a:ext cx="276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final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7" name="文本框 1446" descr="{&quot;isTemplate&quot;:true,&quot;type&quot;:&quot;text&quot;}"/>
          <p:cNvSpPr txBox="1"/>
          <p:nvPr/>
        </p:nvSpPr>
        <p:spPr>
          <a:xfrm>
            <a:off x="819150" y="4924425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前面四步任意一步抛异常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catch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走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throwing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finally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final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一定会执行。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8" name="文本框 1447" descr="{&quot;isTemplate&quot;:true,&quot;type&quot;:&quot;text&quot;}"/>
          <p:cNvSpPr txBox="1"/>
          <p:nvPr/>
        </p:nvSpPr>
        <p:spPr>
          <a:xfrm>
            <a:off x="819150" y="5295900"/>
            <a:ext cx="10553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有更特别的编排需求，直接覆盖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proceed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自己排。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9" name="任意多边形 14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50" name="文本框 14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1" name="文本框 14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矩形 14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54" name="矩形 14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55" name="文本框 1454" descr="{&quot;isTemplate&quot;:true,&quot;type&quot;:&quot;text&quot;}"/>
          <p:cNvSpPr txBox="1"/>
          <p:nvPr/>
        </p:nvSpPr>
        <p:spPr>
          <a:xfrm>
            <a:off x="819150" y="304800"/>
            <a:ext cx="9925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6" name="文本框 1455" descr="{&quot;isTemplate&quot;:true,&quot;type&quot;:&quot;text&quot;}"/>
          <p:cNvSpPr txBox="1"/>
          <p:nvPr/>
        </p:nvSpPr>
        <p:spPr>
          <a:xfrm>
            <a:off x="819150" y="514350"/>
            <a:ext cx="99250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织入规则：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RouteRule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7" name="文本框 1456" descr="{&quot;isTemplate&quot;:true,&quot;type&quot;:&quot;text&quot;}"/>
          <p:cNvSpPr txBox="1"/>
          <p:nvPr/>
        </p:nvSpPr>
        <p:spPr>
          <a:xfrm>
            <a:off x="10915650" y="590550"/>
            <a:ext cx="666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&amp; | !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可组合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8" name="文本框 1457" descr="{&quot;isTemplate&quot;:true,&quot;type&quot;:&quot;text&quot;}"/>
          <p:cNvSpPr txBox="1"/>
          <p:nvPr/>
        </p:nvSpPr>
        <p:spPr>
          <a:xfrm>
            <a:off x="609600" y="1143000"/>
            <a:ext cx="10972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* ?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通配符；包名支持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（任意层级）与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.* / *. / .*.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（任意包名）；组织名用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::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分隔。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59" name="表格 1458"/>
          <p:cNvGraphicFramePr/>
          <p:nvPr/>
        </p:nvGraphicFramePr>
        <p:xfrm>
          <a:off x="6096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1884188"/>
                <a:gridCol w="3526012"/>
              </a:tblGrid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ExecutionRouteRule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类全限定名 + 函数名 + 参数类型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WithinRouteRule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类型名匹配 → 该类全部公共实例函数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 + 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ArgsRouteRule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参数类型（** 任意数量；*, 与 ,* 忽略首尾）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ReturnTypeRouteRule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返回类型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该类及其子类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60" name="表格 1459"/>
          <p:cNvGraphicFramePr/>
          <p:nvPr/>
        </p:nvGraphicFramePr>
        <p:xfrm>
          <a:off x="6172200" y="1514475"/>
          <a:ext cx="5410200" cy="4648200"/>
        </p:xfrm>
        <a:graphic>
          <a:graphicData uri="http://schemas.openxmlformats.org/drawingml/2006/table">
            <a:tbl>
              <a:tblPr/>
              <a:tblGrid>
                <a:gridCol w="4190459"/>
                <a:gridCol w="1219741"/>
              </a:tblGrid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匹配依据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目标类型上有指定注解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FuncAnnotationRouteRule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目标函数上有指定注解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24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ArgAnnotationsRouteRule / AnyArg / ArgPrefix / ArgSuffix （参数注解一族）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参数上的注解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BeanNameRouteRule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目标对象的 bean 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ConfigExecutionRouteRule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从环境变量读规则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8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AndRouteRule / OrRouteRule / NotRouteRule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61" name="任意多边形 146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462" name="文本框 146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3" name="文本框 146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矩形 14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466" name="矩形 146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467" name="文本框 146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7.3 / 7.4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8" name="文本框 146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织入宏与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9" name="文本框 146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首次调用才织入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0" name="圆角矩形 1469"/>
          <p:cNvSpPr/>
          <p:nvPr/>
        </p:nvSpPr>
        <p:spPr>
          <a:xfrm>
            <a:off x="609600" y="1143000"/>
            <a:ext cx="4095750" cy="2609850"/>
          </a:xfrm>
          <a:prstGeom prst="roundRect">
            <a:avLst>
              <a:gd name="adj" fmla="val 438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71" name="文本框 1470" descr="{&quot;isTemplate&quot;:true,&quot;type&quot;:&quot;text&quot;}"/>
          <p:cNvSpPr txBox="1"/>
          <p:nvPr/>
        </p:nvSpPr>
        <p:spPr>
          <a:xfrm>
            <a:off x="800100" y="1333500"/>
            <a:ext cx="3714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四个织入宏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2" name="文本框 1471" descr="{&quot;isTemplate&quot;:true,&quot;type&quot;:&quot;text&quot;}"/>
          <p:cNvSpPr txBox="1"/>
          <p:nvPr/>
        </p:nvSpPr>
        <p:spPr>
          <a:xfrm>
            <a:off x="800100" y="1590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@Pointcut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修饰函数：只有这个函数织入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3" name="文本框 1472" descr="{&quot;isTemplate&quot;:true,&quot;type&quot;:&quot;text&quot;}"/>
          <p:cNvSpPr txBox="1"/>
          <p:nvPr/>
        </p:nvSpPr>
        <p:spPr>
          <a:xfrm>
            <a:off x="800100" y="184785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修饰类：全部公共函数织入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4" name="文本框 1473" descr="{&quot;isTemplate&quot;:true,&quot;type&quot;:&quot;text&quot;}"/>
          <p:cNvSpPr txBox="1"/>
          <p:nvPr/>
        </p:nvSpPr>
        <p:spPr>
          <a:xfrm>
            <a:off x="800100" y="2162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@WeavedBean     //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注册进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IOC +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全部公共成员函数织入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5" name="文本框 1474" descr="{&quot;isTemplate&quot;:true,&quot;type&quot;:&quot;text&quot;}"/>
          <p:cNvSpPr txBox="1"/>
          <p:nvPr/>
        </p:nvSpPr>
        <p:spPr>
          <a:xfrm>
            <a:off x="800100" y="24765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@WeavedController // mvc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6" name="文本框 1475" descr="{&quot;isTemplate&quot;:true,&quot;type&quot;:&quot;text&quot;}"/>
          <p:cNvSpPr txBox="1"/>
          <p:nvPr/>
        </p:nvSpPr>
        <p:spPr>
          <a:xfrm>
            <a:off x="800100" y="27336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的全部功能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织入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7" name="文本框 1476" descr="{&quot;isTemplate&quot;:true,&quot;type&quot;:&quot;text&quot;}"/>
          <p:cNvSpPr txBox="1"/>
          <p:nvPr/>
        </p:nvSpPr>
        <p:spPr>
          <a:xfrm>
            <a:off x="800100" y="3048000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@TransactionalService // orm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模块声明的专用宏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8" name="文本框 1477" descr="{&quot;isTemplate&quot;:true,&quot;type&quot;:&quot;text&quot;}"/>
          <p:cNvSpPr txBox="1"/>
          <p:nvPr/>
        </p:nvSpPr>
        <p:spPr>
          <a:xfrm>
            <a:off x="800100" y="3305175"/>
            <a:ext cx="3714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//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WeavedBean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的别名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9" name="圆角矩形 1478"/>
          <p:cNvSpPr/>
          <p:nvPr/>
        </p:nvSpPr>
        <p:spPr>
          <a:xfrm>
            <a:off x="609600" y="3886200"/>
            <a:ext cx="409575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80" name="文本框 1479" descr="{&quot;isTemplate&quot;:true,&quot;type&quot;:&quot;text&quot;}"/>
          <p:cNvSpPr txBox="1"/>
          <p:nvPr/>
        </p:nvSpPr>
        <p:spPr>
          <a:xfrm>
            <a:off x="800100" y="4076700"/>
            <a:ext cx="3714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织入发生在首次调用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1" name="文本框 1480" descr="{&quot;isTemplate&quot;:true,&quot;type&quot;:&quot;text&quot;}"/>
          <p:cNvSpPr txBox="1"/>
          <p:nvPr/>
        </p:nvSpPr>
        <p:spPr>
          <a:xfrm>
            <a:off x="800100" y="4391025"/>
            <a:ext cx="37147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不是启动期，而是这些函数第一次被调用时算出切面链，之后缓存。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2" name="文本框 1481" descr="{&quot;isTemplate&quot;:true,&quot;type&quot;:&quot;text&quot;}"/>
          <p:cNvSpPr txBox="1"/>
          <p:nvPr/>
        </p:nvSpPr>
        <p:spPr>
          <a:xfrm>
            <a:off x="800100" y="5067300"/>
            <a:ext cx="3714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好处是启动很快——不需要在启动时扫描所有类。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3" name="圆角矩形 1482"/>
          <p:cNvSpPr/>
          <p:nvPr/>
        </p:nvSpPr>
        <p:spPr>
          <a:xfrm>
            <a:off x="4895850" y="1143000"/>
            <a:ext cx="6686550" cy="3581400"/>
          </a:xfrm>
          <a:prstGeom prst="roundRect">
            <a:avLst>
              <a:gd name="adj" fmla="val 31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484" name="文本框 1483" descr="{&quot;isTemplate&quot;:true,&quot;type&quot;:&quot;text&quot;}"/>
          <p:cNvSpPr txBox="1"/>
          <p:nvPr/>
        </p:nvSpPr>
        <p:spPr>
          <a:xfrm>
            <a:off x="5086350" y="1333500"/>
            <a:ext cx="6305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fdemo/boot/src/ControllerAspect.cj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5" name="文本框 1484" descr="{&quot;isTemplate&quot;:true,&quot;type&quot;:&quot;text&quot;}"/>
          <p:cNvSpPr txBox="1"/>
          <p:nvPr/>
        </p:nvSpPr>
        <p:spPr>
          <a:xfrm>
            <a:off x="5086350" y="15906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@AspectRoute[ConfigExecutionRouteRule('controllerPointcut')]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486" name="文本框 1485" descr="{&quot;isTemplate&quot;:true,&quot;type&quot;:&quot;text&quot;}"/>
          <p:cNvSpPr txBox="1"/>
          <p:nvPr/>
        </p:nvSpPr>
        <p:spPr>
          <a:xfrm>
            <a:off x="5086350" y="18478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7" name="文本框 1486" descr="{&quot;isTemplate&quot;:true,&quot;type&quot;:&quot;text&quot;}"/>
          <p:cNvSpPr txBox="1"/>
          <p:nvPr/>
        </p:nvSpPr>
        <p:spPr>
          <a:xfrm>
            <a:off x="5086350" y="21050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ControllerAspect &lt;: Aspect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8" name="文本框 1487" descr="{&quot;isTemplate&quot;:true,&quot;type&quot;:&quot;text&quot;}"/>
          <p:cNvSpPr txBox="1"/>
          <p:nvPr/>
        </p:nvSpPr>
        <p:spPr>
          <a:xfrm>
            <a:off x="5086350" y="23622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log = LoggerFactory.getLogger&lt;ControllerAspect&gt;()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89" name="文本框 1488" descr="{&quot;isTemplate&quot;:true,&quot;type&quot;:&quot;text&quot;}"/>
          <p:cNvSpPr txBox="1"/>
          <p:nvPr/>
        </p:nvSpPr>
        <p:spPr>
          <a:xfrm>
            <a:off x="5086350" y="2619375"/>
            <a:ext cx="6305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around(funcInfo: InvocationFuncInfo, point: (Array&lt;Any&gt;) -&gt; Any): Any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0" name="文本框 1489" descr="{&quot;isTemplate&quot;:true,&quot;type&quot;:&quot;text&quot;}"/>
          <p:cNvSpPr txBox="1"/>
          <p:nvPr/>
        </p:nvSpPr>
        <p:spPr>
          <a:xfrm>
            <a:off x="5086350" y="3133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log.info('ControllerAspect around')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1" name="文本框 1490" descr="{&quot;isTemplate&quot;:true,&quot;type&quot;:&quot;text&quot;}"/>
          <p:cNvSpPr txBox="1"/>
          <p:nvPr/>
        </p:nvSpPr>
        <p:spPr>
          <a:xfrm>
            <a:off x="5086350" y="339090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point(funcInfo.args)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492" name="文本框 1491" descr="{&quot;isTemplate&quot;:true,&quot;type&quot;:&quot;text&quot;}"/>
          <p:cNvSpPr txBox="1"/>
          <p:nvPr/>
        </p:nvSpPr>
        <p:spPr>
          <a:xfrm>
            <a:off x="5086350" y="364807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3" name="文本框 1492" descr="{&quot;isTemplate&quot;:true,&quot;type&quot;:&quot;text&quot;}"/>
          <p:cNvSpPr txBox="1"/>
          <p:nvPr/>
        </p:nvSpPr>
        <p:spPr>
          <a:xfrm>
            <a:off x="5086350" y="3905250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494" name="文本框 1493" descr="{&quot;isTemplate&quot;:true,&quot;type&quot;:&quot;text&quot;}"/>
          <p:cNvSpPr txBox="1"/>
          <p:nvPr/>
        </p:nvSpPr>
        <p:spPr>
          <a:xfrm>
            <a:off x="5086350" y="4276725"/>
            <a:ext cx="6305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controllerPointcut='*::*..*Controller.*(**): *'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95" name="圆角矩形 1494"/>
          <p:cNvSpPr/>
          <p:nvPr/>
        </p:nvSpPr>
        <p:spPr>
          <a:xfrm>
            <a:off x="4895850" y="4857750"/>
            <a:ext cx="6686550" cy="1428750"/>
          </a:xfrm>
          <a:prstGeom prst="roundRect">
            <a:avLst>
              <a:gd name="adj" fmla="val 8000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496" name="文本框 1495" descr="{&quot;isTemplate&quot;:true,&quot;type&quot;:&quot;text&quot;}"/>
          <p:cNvSpPr txBox="1"/>
          <p:nvPr/>
        </p:nvSpPr>
        <p:spPr>
          <a:xfrm>
            <a:off x="5067300" y="5029200"/>
            <a:ext cx="6343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controllerPointcut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不是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的配置项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7" name="文本框 1496" descr="{&quot;isTemplate&quot;:true,&quot;type&quot;:&quot;text&quot;}"/>
          <p:cNvSpPr txBox="1"/>
          <p:nvPr/>
        </p:nvSpPr>
        <p:spPr>
          <a:xfrm>
            <a:off x="5067300" y="5257800"/>
            <a:ext cx="6343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它是为这个切面专门起的名字：去配置项里读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controllerPointcut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，把它当作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ExecutionRouteRule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规则。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8" name="文本框 1497" descr="{&quot;isTemplate&quot;:true,&quot;type&quot;:&quot;text&quot;}"/>
          <p:cNvSpPr txBox="1"/>
          <p:nvPr/>
        </p:nvSpPr>
        <p:spPr>
          <a:xfrm>
            <a:off x="5067300" y="5572125"/>
            <a:ext cx="6343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表达式读作：任意组织下、任意多级包名下、以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结尾的类的、任意参数、任意返回类型的全部公共实例函数。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00" name="文本框 149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1" name="文本框 150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矩形 15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04" name="矩形 15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05" name="文本框 1504" descr="{&quot;isTemplate&quot;:true,&quot;type&quot;:&quot;text&quot;}"/>
          <p:cNvSpPr txBox="1"/>
          <p:nvPr/>
        </p:nvSpPr>
        <p:spPr>
          <a:xfrm>
            <a:off x="819150" y="304800"/>
            <a:ext cx="9020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AOP f_aspect · 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6" name="文本框 1505" descr="{&quot;isTemplate&quot;:true,&quot;type&quot;:&quot;text&quot;}"/>
          <p:cNvSpPr txBox="1"/>
          <p:nvPr/>
        </p:nvSpPr>
        <p:spPr>
          <a:xfrm>
            <a:off x="819150" y="514350"/>
            <a:ext cx="9020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AOP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的两个杀手级用法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7" name="文本框 1506" descr="{&quot;isTemplate&quot;:true,&quot;type&quot;:&quot;text&quot;}"/>
          <p:cNvSpPr txBox="1"/>
          <p:nvPr/>
        </p:nvSpPr>
        <p:spPr>
          <a:xfrm>
            <a:off x="10010775" y="590550"/>
            <a:ext cx="1571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部署期可配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8" name="圆角矩形 1507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09" name="文本框 1508" descr="{&quot;isTemplate&quot;:true,&quot;type&quot;:&quot;text&quot;}"/>
          <p:cNvSpPr txBox="1"/>
          <p:nvPr/>
        </p:nvSpPr>
        <p:spPr>
          <a:xfrm>
            <a:off x="838200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10" name="文本框 1509" descr="{&quot;isTemplate&quot;:true,&quot;type&quot;:&quot;text&quot;}"/>
          <p:cNvSpPr txBox="1"/>
          <p:nvPr/>
        </p:nvSpPr>
        <p:spPr>
          <a:xfrm>
            <a:off x="838200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1" name="文本框 1510" descr="{&quot;isTemplate&quot;:true,&quot;type&quot;:&quot;text&quot;}"/>
          <p:cNvSpPr txBox="1"/>
          <p:nvPr/>
        </p:nvSpPr>
        <p:spPr>
          <a:xfrm>
            <a:off x="838200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TransactionAspect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就是这样一个切面：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2" name="圆角矩形 1511"/>
          <p:cNvSpPr/>
          <p:nvPr/>
        </p:nvSpPr>
        <p:spPr>
          <a:xfrm>
            <a:off x="838200" y="3124200"/>
            <a:ext cx="3095625" cy="1533525"/>
          </a:xfrm>
          <a:prstGeom prst="roundRect">
            <a:avLst>
              <a:gd name="adj" fmla="val 49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3" name="文本框 1512" descr="{&quot;isTemplate&quot;:true,&quot;type&quot;:&quot;text&quot;}"/>
          <p:cNvSpPr txBox="1"/>
          <p:nvPr/>
        </p:nvSpPr>
        <p:spPr>
          <a:xfrm>
            <a:off x="971550" y="3257550"/>
            <a:ext cx="2828925" cy="1266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@AspectRoute[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FuncAnnotationRouteRule("…Transactional")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| ConfigExecutionRouteRule(ORMConfig.…)]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4" name="文本框 1513" descr="{&quot;isTemplate&quot;:true,&quot;type&quot;:&quot;text&quot;}"/>
          <p:cNvSpPr txBox="1"/>
          <p:nvPr/>
        </p:nvSpPr>
        <p:spPr>
          <a:xfrm>
            <a:off x="838200" y="47910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注解命中，或者配置命中函数签名，事务切面就织入。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5" name="文本框 1514" descr="{&quot;isTemplate&quot;:true,&quot;type&quot;:&quot;text&quot;}"/>
          <p:cNvSpPr txBox="1"/>
          <p:nvPr/>
        </p:nvSpPr>
        <p:spPr>
          <a:xfrm>
            <a:off x="838200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两条路是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见第十二章。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6" name="圆角矩形 151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17" name="文本框 1516" descr="{&quot;isTemplate&quot;:true,&quot;type&quot;:&quot;text&quot;}"/>
          <p:cNvSpPr txBox="1"/>
          <p:nvPr/>
        </p:nvSpPr>
        <p:spPr>
          <a:xfrm>
            <a:off x="4543425" y="1371600"/>
            <a:ext cx="31051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18" name="文本框 1517" descr="{&quot;isTemplate&quot;:true,&quot;type&quot;:&quot;text&quot;}"/>
          <p:cNvSpPr txBox="1"/>
          <p:nvPr/>
        </p:nvSpPr>
        <p:spPr>
          <a:xfrm>
            <a:off x="4543425" y="2028825"/>
            <a:ext cx="3105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统一日志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9" name="文本框 1518" descr="{&quot;isTemplate&quot;:true,&quot;type&quot;:&quot;text&quot;}"/>
          <p:cNvSpPr txBox="1"/>
          <p:nvPr/>
        </p:nvSpPr>
        <p:spPr>
          <a:xfrm>
            <a:off x="4543425" y="239077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ControllerAspect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：一处改动覆盖全部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0" name="文本框 1519" descr="{&quot;isTemplate&quot;:true,&quot;type&quot;:&quot;text&quot;}"/>
          <p:cNvSpPr txBox="1"/>
          <p:nvPr/>
        </p:nvSpPr>
        <p:spPr>
          <a:xfrm>
            <a:off x="4543425" y="3124200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接口开头的「耗时统计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出入参日志」这十几行，从此写在切面里一次就够。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1" name="文本框 1520" descr="{&quot;isTemplate&quot;:true,&quot;type&quot;:&quot;text&quot;}"/>
          <p:cNvSpPr txBox="1"/>
          <p:nvPr/>
        </p:nvSpPr>
        <p:spPr>
          <a:xfrm>
            <a:off x="4543425" y="3857625"/>
            <a:ext cx="31051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需要审计时，同样是在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around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里加一段，而不是改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2" name="文本框 1521" descr="{&quot;isTemplate&quot;:true,&quot;type&quot;:&quot;text&quot;}"/>
          <p:cNvSpPr txBox="1"/>
          <p:nvPr/>
        </p:nvSpPr>
        <p:spPr>
          <a:xfrm>
            <a:off x="4543425" y="5743575"/>
            <a:ext cx="3105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这就是「横切逻辑集中一处」的实际收益。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3" name="圆角矩形 1522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24" name="文本框 1523" descr="{&quot;isTemplate&quot;:true,&quot;type&quot;:&quot;text&quot;}"/>
          <p:cNvSpPr txBox="1"/>
          <p:nvPr/>
        </p:nvSpPr>
        <p:spPr>
          <a:xfrm>
            <a:off x="8258175" y="1371600"/>
            <a:ext cx="3095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25" name="文本框 1524" descr="{&quot;isTemplate&quot;:true,&quot;type&quot;:&quot;text&quot;}"/>
          <p:cNvSpPr txBox="1"/>
          <p:nvPr/>
        </p:nvSpPr>
        <p:spPr>
          <a:xfrm>
            <a:off x="8258175" y="2028825"/>
            <a:ext cx="3095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切点是部署期可配的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6" name="文本框 1525" descr="{&quot;isTemplate&quot;:true,&quot;type&quot;:&quot;text&quot;}"/>
          <p:cNvSpPr txBox="1"/>
          <p:nvPr/>
        </p:nvSpPr>
        <p:spPr>
          <a:xfrm>
            <a:off x="8258175" y="2390775"/>
            <a:ext cx="30956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ConfigExecutionRouteRule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让切点表达式从环境变量读。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7" name="文本框 1526" descr="{&quot;isTemplate&quot;:true,&quot;type&quot;:&quot;text&quot;}"/>
          <p:cNvSpPr txBox="1"/>
          <p:nvPr/>
        </p:nvSpPr>
        <p:spPr>
          <a:xfrm>
            <a:off x="8258175" y="3124200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开发环境织上；生产环境改窄，甚至直接关掉。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8" name="文本框 1527" descr="{&quot;isTemplate&quot;:true,&quot;type&quot;:&quot;text&quot;}"/>
          <p:cNvSpPr txBox="1"/>
          <p:nvPr/>
        </p:nvSpPr>
        <p:spPr>
          <a:xfrm>
            <a:off x="8258175" y="5743575"/>
            <a:ext cx="309562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都不用改代码，改环境变量就够了。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30" name="文本框 152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1" name="文本框 153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07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IOC 收尾与 AOP 全貌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条件装配：&amp; | ! 可直接组合的条件对象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AOP 的 Aspect 接口与默认执行顺序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十四种织入规则　·　四个织入宏　·　两个杀手级用法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下一讲：f_data 数据模型与复制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