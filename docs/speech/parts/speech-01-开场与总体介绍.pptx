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6" r:id="rIdSl1"/>
    <p:sldId id="257" r:id="rIdSl2"/>
    <p:sldId id="258" r:id="rIdSl3"/>
    <p:sldId id="259" r:id="rIdSl4"/>
    <p:sldId id="260" r:id="rIdSl5"/>
    <p:sldId id="261" r:id="rIdSl6"/>
    <p:sldId id="262" r:id="rIdSl7"/>
    <p:sldId id="263" r:id="rIdSl8"/>
    <p:sldId id="264" r:id="rIdSl9"/>
    <p:sldId id="265" r:id="rIdSl1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4" Type="http://schemas.openxmlformats.org/officeDocument/2006/relationships/notesMaster" Target="notesMasters/notesMaster1.xml"/><Relationship Id="rId2" Type="http://schemas.openxmlformats.org/officeDocument/2006/relationships/theme" Target="theme/theme1.xml"/><Relationship Id="rId122" Type="http://schemas.openxmlformats.org/officeDocument/2006/relationships/tableStyles" Target="tableStyles.xml"/><Relationship Id="rId121" Type="http://schemas.openxmlformats.org/officeDocument/2006/relationships/viewProps" Target="viewProps.xml"/><Relationship Id="rId1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Sl1" Type="http://schemas.openxmlformats.org/officeDocument/2006/relationships/slide" Target="slides/slide1.xml"/><Relationship Id="rIdSl2" Type="http://schemas.openxmlformats.org/officeDocument/2006/relationships/slide" Target="slides/slide2.xml"/><Relationship Id="rIdSl3" Type="http://schemas.openxmlformats.org/officeDocument/2006/relationships/slide" Target="slides/slide3.xml"/><Relationship Id="rIdSl4" Type="http://schemas.openxmlformats.org/officeDocument/2006/relationships/slide" Target="slides/slide4.xml"/><Relationship Id="rIdSl5" Type="http://schemas.openxmlformats.org/officeDocument/2006/relationships/slide" Target="slides/slide5.xml"/><Relationship Id="rIdSl6" Type="http://schemas.openxmlformats.org/officeDocument/2006/relationships/slide" Target="slides/slide6.xml"/><Relationship Id="rIdSl7" Type="http://schemas.openxmlformats.org/officeDocument/2006/relationships/slide" Target="slides/slide7.xml"/><Relationship Id="rIdSl8" Type="http://schemas.openxmlformats.org/officeDocument/2006/relationships/slide" Target="slides/slide8.xml"/><Relationship Id="rIdSl9" Type="http://schemas.openxmlformats.org/officeDocument/2006/relationships/slide" Target="slides/slide9.xml"/><Relationship Id="rIdSl10" Type="http://schemas.openxmlformats.org/officeDocument/2006/relationships/slide" Target="slides/slide1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这是整套课程的第一讲，先解决「为什么要用」。我们写服务端，真正属于业务的代码很少，大量时间花在五类重复劳动上：对象怎么创建、接口开头那十几行校验、每张表重写 CRUD、事务边界靠人肉保证、以及每个项目重新选型。fountain 用四十多个模块把这些收干净。这一讲还会给你完整的课程地图，方便按需跳看。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大家好，这一讲我们完整过一遍 fountain —— 仓颉生态里的一站式服务器应用开发工具库。它由四十多个模块组成，覆盖从配置、IOC、AOP、数据、MVC、ORM，一直到日志和运行时底座的全部环节。</a:t>
            </a:r>
            <a:endParaRPr lang="zh-CN" dirty="0"/>
          </a:p>
          <a:p>
            <a:endParaRPr lang="zh-CN" dirty="0"/>
          </a:p>
          <a:p>
            <a:r>
              <a:rPr lang="zh-CN" dirty="0"/>
              <a:t>我先把结论放到前面：用 fountain 写服务端，你的业务代码里只需要写 controller、service、dao、po 四样东西，加起来不到两百行；没有配置文件，也没有 main 函数。</a:t>
            </a:r>
            <a:endParaRPr lang="zh-CN" dirty="0"/>
          </a:p>
          <a:p>
            <a:endParaRPr lang="zh-CN" dirty="0"/>
          </a:p>
          <a:p>
            <a:r>
              <a:rPr lang="zh-CN" dirty="0"/>
              <a:t>整个讲稿都配套仓库里的示例工程 fdemo，我讲到的每一条命令都可以直接复制执行。</a:t>
            </a:r>
            <a:endParaRPr lang="zh-CN"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5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Notes Placeholder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这份讲稿分成四个板块，从「为什么用」一直到「怎么用」，最后收在常见坑和速查表上。</a:t>
            </a:r>
            <a:endParaRPr lang="zh-CN" dirty="0"/>
          </a:p>
          <a:p>
            <a:endParaRPr lang="zh-CN" dirty="0"/>
          </a:p>
          <a:p>
            <a:r>
              <a:rPr lang="zh-CN" dirty="0"/>
              <a:t>第一个板块是总览与启动，先讲清楚我们到底在重复什么、fountain 是什么、它三个反直觉的设计决策，然后过一遍环境准备，再把 fboot 的整套命令行讲透，最后用 f_config 把「没有配置文件」这件事说清楚，并跑通 fdemo。</a:t>
            </a:r>
            <a:endParaRPr lang="zh-CN" dirty="0"/>
          </a:p>
          <a:p>
            <a:endParaRPr lang="zh-CN" dirty="0"/>
          </a:p>
          <a:p>
            <a:r>
              <a:rPr lang="zh-CN" dirty="0"/>
              <a:t>第二个板块是框架核心，六个模块：IOC、AOP、数据、工具箱、MVC 和 HTTP 数据格式。这六个是日常写代码时碰得最多的。</a:t>
            </a:r>
            <a:endParaRPr lang="zh-CN" dirty="0"/>
          </a:p>
          <a:p>
            <a:endParaRPr lang="zh-CN" dirty="0"/>
          </a:p>
          <a:p>
            <a:r>
              <a:rPr lang="zh-CN" dirty="0"/>
              <a:t>第三个板块是数据与安全，讲 ORM 的 PO / DAO / Service 三个角色、事务控制、安全与 JWT、还有 CRON 定时任务。</a:t>
            </a:r>
            <a:endParaRPr lang="zh-CN" dirty="0"/>
          </a:p>
          <a:p>
            <a:endParaRPr lang="zh-CN" dirty="0"/>
          </a:p>
          <a:p>
            <a:r>
              <a:rPr lang="zh-CN" dirty="0"/>
              <a:t>第四个板块是日志、串讲与底座：先把 f_log 讲透，再用一次请求把整个框架串起来，然后翻一遍运行时基础设施那一层，最后是二十个常见坑和预设问答。附录里是三张速查表，可以单独拿出来用。</a:t>
            </a:r>
            <a:endParaRPr lang="zh-CN"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7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Notes Placeholder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零到五章是开场部分：为什么用 fountain、环境、fboot 命令行、f_config、跑通 fdemo。</a:t>
            </a:r>
            <a:endParaRPr lang="zh-CN" dirty="0"/>
          </a:p>
          <a:p>
            <a:r>
              <a:rPr lang="zh-CN" dirty="0"/>
              <a:t>六到十一章是框架核心：IOC、AOP、数据、工具箱、MVC、HTTP 格式。数据那一章同时是 MVC 参数绑定、ORM 结果映射和 JWT 负载填充的共同底座</a:t>
            </a:r>
            <a:endParaRPr lang="zh-CN" dirty="0"/>
          </a:p>
          <a:p>
            <a:endParaRPr lang="zh-CN" dirty="0"/>
          </a:p>
          <a:p>
            <a:r>
              <a:rPr lang="zh-CN" dirty="0"/>
              <a:t>十二到十四章是数据与安全：</a:t>
            </a:r>
            <a:endParaRPr lang="zh-CN" dirty="0"/>
          </a:p>
          <a:p>
            <a:r>
              <a:rPr lang="zh-CN" dirty="0"/>
              <a:t>十五到十八章加附录，日志，串讲，运行时基础设施，最后是常见坑与问答。</a:t>
            </a:r>
            <a:endParaRPr lang="zh-CN"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Notes Placeholder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首先确认基本信息</a:t>
            </a:r>
            <a:endParaRPr lang="zh-CN" dirty="0"/>
          </a:p>
          <a:p>
            <a:r>
              <a:rPr lang="zh-CN" dirty="0"/>
              <a:t>第一，仓颉 SDK 和 stdx 就位，cjc 能打印版本，CANGJIE_STDX_DYNAMIC_PATH 这个环境变量有值。</a:t>
            </a:r>
            <a:endParaRPr lang="zh-CN" dirty="0"/>
          </a:p>
          <a:p>
            <a:r>
              <a:rPr lang="zh-CN" dirty="0"/>
              <a:t>第二，装好 fboot，并且把 bin 目录加到 PATH、把 fboot 的动态链接库目录加到 LD_LIBRARY_PATH。</a:t>
            </a:r>
            <a:endParaRPr lang="zh-CN" dirty="0"/>
          </a:p>
          <a:p>
            <a:r>
              <a:rPr lang="zh-CN" dirty="0"/>
              <a:t>第三，fboot version 能跑起来。如果它报找不到动态链接库，百分之九十九是 LD_LIBRARY_PATH 没带上 fboot 的 libs 目录。</a:t>
            </a:r>
            <a:endParaRPr lang="zh-CN" dirty="0"/>
          </a:p>
          <a:p>
            <a:endParaRPr lang="zh-CN" dirty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2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Notes Placeholder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进入第一个板块。这个板块解决的是「为什么用、怎么启动」这两件事。</a:t>
            </a:r>
            <a:endParaRPr lang="zh-CN" dirty="0"/>
          </a:p>
          <a:p>
            <a:endParaRPr lang="zh-CN" dirty="0"/>
          </a:p>
          <a:p>
            <a:r>
              <a:rPr lang="zh-CN" dirty="0"/>
              <a:t>我会先用五个例子把非业务复杂度摆出来，然后给出 fountain 的模块全景，接着讲它三个反直觉的设计决策，也就是：应用项目没有 main 函数、宏为主注解为辅、一切配置都是环境变量或命令行参数。再坦白讲清楚什么场景不适合用它。</a:t>
            </a:r>
            <a:endParaRPr lang="zh-CN" dirty="0"/>
          </a:p>
          <a:p>
            <a:endParaRPr lang="zh-CN" dirty="0"/>
          </a:p>
          <a:p>
            <a:r>
              <a:rPr lang="zh-CN" dirty="0"/>
              <a:t>然后是环境准备和 fboot 的整套命令行。这一章要特别强调一句话，它是整个 fountain 世界的第一公理：应用项目只需要编译成动态链接库。后面所有命令都围绕这一条展开。</a:t>
            </a:r>
            <a:endParaRPr lang="zh-CN" dirty="0"/>
          </a:p>
          <a:p>
            <a:endParaRPr lang="zh-CN" dirty="0"/>
          </a:p>
          <a:p>
            <a:r>
              <a:rPr lang="zh-CN" dirty="0"/>
              <a:t>最后用 f_config 把「没有配置文件」这件事说透，并现场跑通示例工程 fdemo。</a:t>
            </a:r>
            <a:endParaRPr lang="zh-CN" dirty="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4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Notes Placeholder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先说痛点。我们写一个普通的后端服务，真正属于「业务」的代码其实很少，大量时间在重复这几件事。</a:t>
            </a:r>
            <a:endParaRPr lang="zh-CN" dirty="0"/>
          </a:p>
          <a:p>
            <a:endParaRPr lang="zh-CN" dirty="0"/>
          </a:p>
          <a:p>
            <a:r>
              <a:rPr lang="zh-CN" dirty="0"/>
              <a:t>第一，谁来创建对象、谁来装配依赖。于是我们手搓工厂、手搓单例、手搓 getInstance。</a:t>
            </a:r>
            <a:endParaRPr lang="zh-CN" dirty="0"/>
          </a:p>
          <a:p>
            <a:endParaRPr lang="zh-CN" dirty="0"/>
          </a:p>
          <a:p>
            <a:r>
              <a:rPr lang="zh-CN" dirty="0"/>
              <a:t>第二，每个接口都要做登录校验、权限校验、参数校验、异常处理、耗时统计。于是每个函数开头都是同样的十几行。</a:t>
            </a:r>
            <a:endParaRPr lang="zh-CN" dirty="0"/>
          </a:p>
          <a:p>
            <a:endParaRPr lang="zh-CN" dirty="0"/>
          </a:p>
          <a:p>
            <a:r>
              <a:rPr lang="zh-CN" dirty="0"/>
              <a:t>第三，每张表都要写一遍 insert、update、select、page。SQL 拼接、参数绑定、结果集到对象的映射，全是体力活。</a:t>
            </a:r>
            <a:endParaRPr lang="zh-CN" dirty="0"/>
          </a:p>
          <a:p>
            <a:endParaRPr lang="zh-CN" dirty="0"/>
          </a:p>
          <a:p>
            <a:r>
              <a:rPr lang="zh-CN" dirty="0"/>
              <a:t>第四，事务边界靠人肉保证。try 提交、catch 回滚，复制粘贴，事务传播行为全靠约定。</a:t>
            </a:r>
            <a:endParaRPr lang="zh-CN" dirty="0"/>
          </a:p>
          <a:p>
            <a:endParaRPr lang="zh-CN" dirty="0"/>
          </a:p>
          <a:p>
            <a:r>
              <a:rPr lang="zh-CN" dirty="0"/>
              <a:t>第五，定时任务、JWT、连接池、日志、配置，每个项目都重新选型、重新封装一遍。</a:t>
            </a:r>
            <a:endParaRPr lang="zh-CN" dirty="0"/>
          </a:p>
          <a:p>
            <a:endParaRPr lang="zh-CN" dirty="0"/>
          </a:p>
          <a:p>
            <a:r>
              <a:rPr lang="zh-CN" dirty="0"/>
              <a:t>这五类东西有个共同的名字，叫「非业务复杂度」。fountain 的目标很直接：把它们全部收进工具库，让业务代码只剩下业务。</a:t>
            </a:r>
            <a:endParaRPr lang="zh-CN" dirty="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6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Notes Placeholder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fountain 是仓颉生态里的一站式服务器应用开发工具库，由四十多个模块组成。核心的那一层我列在这张表里。</a:t>
            </a:r>
            <a:endParaRPr lang="zh-CN" dirty="0"/>
          </a:p>
          <a:p>
            <a:endParaRPr lang="zh-CN" dirty="0"/>
          </a:p>
          <a:p>
            <a:r>
              <a:rPr lang="zh-CN" dirty="0"/>
              <a:t>配置是 f_config，特色是「没有配置文件」：环境变量、命令行参数、Config.set、编译期 SM4 内嵌，四级优先级。IOC 容器是 f_bean，写法和 Spring 很像，@Bean 加 lookup。AOP 是 f_aspect，一个 Aspect 接口加织入规则。数据层是 f_data，一个 @DataAssist 宏搞定对象复制、JSON 互转、校验和 JSONPath。MVC 是 f_mvc，@Controller 加 @GetMapping 就能起 HTTP 服务。HTTP 数据格式单独拆成了 f_http。</a:t>
            </a:r>
            <a:endParaRPr lang="zh-CN" dirty="0"/>
          </a:p>
          <a:p>
            <a:endParaRPr lang="zh-CN" dirty="0"/>
          </a:p>
          <a:p>
            <a:r>
              <a:rPr lang="zh-CN" dirty="0"/>
              <a:t>ORM 是 f_orm，它最反直觉的一点是 DAO 就是接口，加了 @DAO 以后 SqlExecutor 本身就是实现。安全是 f_security，JWT 是 f_jwt，定时任务是 f_ticktock，随机数是 f_random，工具箱是 f_util，日志是 f_log。</a:t>
            </a:r>
            <a:endParaRPr lang="zh-CN" dirty="0"/>
          </a:p>
          <a:p>
            <a:endParaRPr lang="zh-CN" dirty="0"/>
          </a:p>
          <a:p>
            <a:r>
              <a:rPr lang="zh-CN" dirty="0"/>
              <a:t>最下面两行：f_cache、f_pool、f_collection、f_time、f_regex、f_rx 构成基础设施；启动器是 fboot 和 f_app——注意，没有 main 也能启动应用。</a:t>
            </a:r>
            <a:endParaRPr lang="zh-CN" dirty="0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8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Notes Placeholder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核心层之外还有一圈外围模块。它们有个共同点：既能被框架使用，也能单独当作工具库引入。</a:t>
            </a:r>
            <a:endParaRPr lang="zh-CN" dirty="0"/>
          </a:p>
          <a:p>
            <a:endParaRPr lang="zh-CN" dirty="0"/>
          </a:p>
          <a:p>
            <a:r>
              <a:rPr lang="zh-CN" dirty="0"/>
              <a:t>按用途大致分三拨。工具类是 f_base、f_util、f_collection、f_concurrent、f_io、f_crypto、f_random，还有 f_time、f_regex、f_rx。</a:t>
            </a:r>
            <a:endParaRPr lang="zh-CN" dirty="0"/>
          </a:p>
          <a:p>
            <a:endParaRPr lang="zh-CN" altLang="zh-CN" dirty="0"/>
          </a:p>
          <a:p>
            <a:r>
              <a:rPr lang="en-US" altLang="zh-CN" dirty="0"/>
              <a:t>http</a:t>
            </a:r>
            <a:r>
              <a:rPr lang="zh-CN" altLang="en-US" dirty="0"/>
              <a:t>客户端是</a:t>
            </a:r>
            <a:r>
              <a:rPr lang="en-US" altLang="zh-CN" dirty="0"/>
              <a:t>f_httpclient</a:t>
            </a:r>
            <a:r>
              <a:rPr lang="zh-CN" altLang="en-US" dirty="0"/>
              <a:t>。</a:t>
            </a:r>
            <a:endParaRPr lang="zh-CN" dirty="0"/>
          </a:p>
          <a:p>
            <a:endParaRPr lang="zh-CN" dirty="0"/>
          </a:p>
          <a:p>
            <a:r>
              <a:rPr lang="zh-CN" dirty="0"/>
              <a:t>引用方式有两种写法，完全等价。一种是在 cjpm.toml 里写 fountain::f_orm 等于版本号，另一种是用聚合包 fountain::fountain.orm。对应的包名分别是 fountain::f_orm 点什么、和 fountain::fountain.orm 点什么。两种都可以，团队里统一一种即可。</a:t>
            </a:r>
            <a:endParaRPr lang="zh-CN" dirty="0"/>
          </a:p>
          <a:p>
            <a:endParaRPr lang="zh-CN" dirty="0"/>
          </a:p>
          <a:p>
            <a:r>
              <a:rPr lang="zh-CN" dirty="0"/>
              <a:t>版本号方面：fountain 各模块版本一致，可以在仓库 README 或者 f_version 模块里查。安装 fboot 也是同样一条 cjpm install 命令。</a:t>
            </a:r>
            <a:endParaRPr lang="zh-CN" dirty="0"/>
          </a:p>
        </p:txBody>
      </p:sp>
    </p:spTree>
  </p:cSld>
  <p:clrMapOvr>
    <a:masterClrMapping/>
  </p:clrMapOvr>
</p:notes>
</file>

<file path=ppt/notesSlides/notesSlide10.xml><?xml version="1.0" encoding="utf-8"?>
<p:notes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这一讲是总纲。三个要点：一，服务端真正属于业务的代码很少，大量时间花在非业务复杂度上；二，fountain 把配置、IOC、AOP、数据、MVC、ORM、安全、日志、底座全部收进一个工具库；三，整套课程按 25 讲拆分，每讲十到十五分钟，可以按需跳看。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Layout" Type="http://schemas.openxmlformats.org/officeDocument/2006/relationships/slideLayout" Target="../slideLayouts/slideLayout1.xml"/><Relationship Id="rIdNotes" Type="http://schemas.openxmlformats.org/officeDocument/2006/relationships/notesSlide" Target="../notesSlides/notesSlide1.xml"/><Relationship Id="rIdHlink1" Type="http://schemas.openxmlformats.org/officeDocument/2006/relationships/hyperlink" Target="https://pkg.cangjie-lang.cn/org/fountain" TargetMode="External"/><Relationship Id="rIdHlink2" Type="http://schemas.openxmlformats.org/officeDocument/2006/relationships/hyperlink" Target="https://gitcode.com/Cangjie-SIG/fountain" TargetMode="External"/></Relationships>
</file>

<file path=ppt/slides/_rels/slide2.xml.rels><?xml version="1.0" encoding="UTF-8" standalone="yes"?>
<Relationships xmlns="http://schemas.openxmlformats.org/package/2006/relationships"><Relationship Id="rIdLayout" Type="http://schemas.openxmlformats.org/officeDocument/2006/relationships/slideLayout" Target="../slideLayouts/slideLayout1.xml"/><Relationship Id="rIdNotes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Layout" Type="http://schemas.openxmlformats.org/officeDocument/2006/relationships/slideLayout" Target="../slideLayouts/slideLayout1.xml"/><Relationship Id="rIdNotes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Layout" Type="http://schemas.openxmlformats.org/officeDocument/2006/relationships/slideLayout" Target="../slideLayouts/slideLayout1.xml"/><Relationship Id="rIdNotes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Layout" Type="http://schemas.openxmlformats.org/officeDocument/2006/relationships/slideLayout" Target="../slideLayouts/slideLayout1.xml"/><Relationship Id="rIdNotes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Layout" Type="http://schemas.openxmlformats.org/officeDocument/2006/relationships/slideLayout" Target="../slideLayouts/slideLayout1.xml"/><Relationship Id="rIdNotes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Layout" Type="http://schemas.openxmlformats.org/officeDocument/2006/relationships/slideLayout" Target="../slideLayouts/slideLayout1.xml"/><Relationship Id="rIdNotes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Layout" Type="http://schemas.openxmlformats.org/officeDocument/2006/relationships/slideLayout" Target="../slideLayouts/slideLayout1.xml"/><Relationship Id="rIdNotes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Layout" Type="http://schemas.openxmlformats.org/officeDocument/2006/relationships/slideLayout" Target="../slideLayouts/slideLayout1.xml"/><Relationship Id="rIdNotes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Layout" Type="http://schemas.openxmlformats.org/officeDocument/2006/relationships/slideLayout" Target="../slideLayouts/slideLayout1.xml"/><Relationship Id="rIdNotes" Type="http://schemas.openxmlformats.org/officeDocument/2006/relationships/notesSlide" Target="../notesSlides/notesSlide10.xml"/><Relationship Id="rIdHlink1" Type="http://schemas.openxmlformats.org/officeDocument/2006/relationships/hyperlink" Target="https://pkg.cangjie-lang.cn/org/fountain" TargetMode="External"/><Relationship Id="rIdHlink2" Type="http://schemas.openxmlformats.org/officeDocument/2006/relationships/hyperlink" Target="https://gitcode.com/Cangjie-SIG/fountain" TargetMode="External"/></Relationships>
</file>

<file path=ppt/slides/slide1.xml><?xml version="1.0" encoding="utf-8"?>
<p:sld xmlns:r="http://schemas.openxmlformats.org/officeDocument/2006/relationships"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  <a:ln/>
        </p:spPr>
        <p:txBody>
          <a:bodyPr/>
          <a:p/>
        </p:txBody>
      </p:sp>
      <p:sp>
        <p:nvSpPr>
          <p:cNvPr id="3" name=""/>
          <p:cNvSpPr txBox="1"/>
          <p:nvPr/>
        </p:nvSpPr>
        <p:spPr>
          <a:xfrm rot="0" flipH="0" flipV="0">
            <a:off x="-695325" y="1143000"/>
            <a:ext cx="12506325" cy="3657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000" b="1">
                <a:solidFill>
                  <a:srgbClr val="16233A"/>
                </a:solidFill>
                <a:latin typeface="JetBrains Mono"/>
                <a:ea typeface="JetBrains Mono"/>
              </a:rPr>
              <a:t>01</a:t>
            </a:r>
            <a:endParaRPr/>
          </a:p>
        </p:txBody>
      </p:sp>
      <p:sp>
        <p:nvSpPr>
          <p:cNvPr id="4" name=""/>
          <p:cNvSpPr/>
          <p:nvPr/>
        </p:nvSpPr>
        <p:spPr>
          <a:xfrm rot="0" flipH="0" flipV="0">
            <a:off x="0" y="0"/>
            <a:ext cx="76200" cy="6858000"/>
          </a:xfrm>
          <a:prstGeom prst="rect">
            <a:avLst/>
          </a:prstGeom>
          <a:gradFill>
            <a:gsLst>
              <a:gs pos="0">
                <a:srgbClr val="38BDF8"/>
              </a:gs>
              <a:gs pos="100000">
                <a:srgbClr val="22D3EE"/>
              </a:gs>
            </a:gsLst>
            <a:lin ang="2700000" scaled="1"/>
          </a:gradFill>
          <a:ln/>
        </p:spPr>
        <p:txBody>
          <a:bodyPr/>
          <a:p/>
        </p:txBody>
      </p:sp>
      <p:sp>
        <p:nvSpPr>
          <p:cNvPr id="5" name=""/>
          <p:cNvSpPr/>
          <p:nvPr/>
        </p:nvSpPr>
        <p:spPr>
          <a:xfrm rot="0" flipH="0" flipV="0">
            <a:off x="1143000" y="1866900"/>
            <a:ext cx="38100" cy="323850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p/>
        </p:txBody>
      </p:sp>
      <p:sp>
        <p:nvSpPr>
          <p:cNvPr id="6" name=""/>
          <p:cNvSpPr txBox="1"/>
          <p:nvPr/>
        </p:nvSpPr>
        <p:spPr>
          <a:xfrm rot="0" flipH="0" flipV="0">
            <a:off x="1333500" y="1952625"/>
            <a:ext cx="42672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300">
                <a:solidFill>
                  <a:srgbClr val="38BDF8"/>
                </a:solidFill>
                <a:latin typeface="微软雅黑" panose="020B0503020204020204" charset="-122"/>
                <a:ea typeface="微软雅黑" panose="020B0503020204020204" charset="-122"/>
              </a:rPr>
              <a:t>PART 01 / 25 · 课程分册</a:t>
            </a:r>
            <a:endParaRPr/>
          </a:p>
        </p:txBody>
      </p:sp>
      <p:sp>
        <p:nvSpPr>
          <p:cNvPr id="7" name=""/>
          <p:cNvSpPr txBox="1"/>
          <p:nvPr/>
        </p:nvSpPr>
        <p:spPr>
          <a:xfrm rot="0" flipH="0" flipV="0">
            <a:off x="1143000" y="2495550"/>
            <a:ext cx="2867025" cy="609600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en-US" sz="33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开场与总体介绍</a:t>
            </a:r>
            <a:endParaRPr/>
          </a:p>
        </p:txBody>
      </p:sp>
      <p:sp>
        <p:nvSpPr>
          <p:cNvPr id="8" name=""/>
          <p:cNvSpPr/>
          <p:nvPr/>
        </p:nvSpPr>
        <p:spPr>
          <a:xfrm rot="0" flipH="0" flipV="0">
            <a:off x="1143000" y="3314700"/>
            <a:ext cx="1524000" cy="57150"/>
          </a:xfrm>
          <a:prstGeom prst="rect">
            <a:avLst/>
          </a:prstGeom>
          <a:gradFill>
            <a:gsLst>
              <a:gs pos="0">
                <a:srgbClr val="38BDF8"/>
              </a:gs>
              <a:gs pos="100000">
                <a:srgbClr val="22D3EE"/>
              </a:gs>
            </a:gsLst>
            <a:lin ang="2700000" scaled="1"/>
          </a:gradFill>
          <a:ln/>
        </p:spPr>
        <p:txBody>
          <a:bodyPr/>
          <a:p/>
        </p:txBody>
      </p:sp>
      <p:sp>
        <p:nvSpPr>
          <p:cNvPr id="9" name=""/>
          <p:cNvSpPr txBox="1"/>
          <p:nvPr/>
        </p:nvSpPr>
        <p:spPr>
          <a:xfrm rot="0" flipH="0" flipV="0">
            <a:off x="1143000" y="3771900"/>
            <a:ext cx="904875" cy="400050"/>
          </a:xfrm>
          <a:prstGeom prst="rect"/>
        </p:spPr>
        <p:txBody>
          <a:bodyPr wrap="none" lIns="0" tIns="0" rIns="0" bIns="0"/>
          <a:p>
            <a:pPr>
              <a:lnSpc>
                <a:spcPct val="190000"/>
              </a:lnSpc>
            </a:pPr>
            <a:r>
              <a:rPr lang="en-US" sz="1350">
                <a:solidFill>
                  <a:srgbClr val="94A3B8"/>
                </a:solidFill>
                <a:latin typeface="微软雅黑" panose="020B0503020204020204" charset="-122"/>
                <a:ea typeface="微软雅黑" panose="020B0503020204020204" charset="-122"/>
              </a:rPr>
              <a:t>为什么用 fountain：我们到底在重复哪五类劳动</a:t>
            </a:r>
            <a:endParaRPr/>
          </a:p>
        </p:txBody>
      </p:sp>
      <p:sp>
        <p:nvSpPr>
          <p:cNvPr id="10" name=""/>
          <p:cNvSpPr txBox="1"/>
          <p:nvPr/>
        </p:nvSpPr>
        <p:spPr>
          <a:xfrm rot="0" flipH="0" flipV="0">
            <a:off x="1143000" y="4114800"/>
            <a:ext cx="904875" cy="400050"/>
          </a:xfrm>
          <a:prstGeom prst="rect"/>
        </p:spPr>
        <p:txBody>
          <a:bodyPr wrap="none" lIns="0" tIns="0" rIns="0" bIns="0"/>
          <a:p>
            <a:pPr>
              <a:lnSpc>
                <a:spcPct val="190000"/>
              </a:lnSpc>
            </a:pPr>
            <a:r>
              <a:rPr lang="en-US" sz="1350">
                <a:solidFill>
                  <a:srgbClr val="94A3B8"/>
                </a:solidFill>
                <a:latin typeface="微软雅黑" panose="020B0503020204020204" charset="-122"/>
                <a:ea typeface="微软雅黑" panose="020B0503020204020204" charset="-122"/>
              </a:rPr>
              <a:t>fountain 是什么：核心能力与外围模块全景</a:t>
            </a:r>
            <a:endParaRPr/>
          </a:p>
        </p:txBody>
      </p:sp>
      <p:sp>
        <p:nvSpPr>
          <p:cNvPr id="11" name=""/>
          <p:cNvSpPr txBox="1"/>
          <p:nvPr/>
        </p:nvSpPr>
        <p:spPr>
          <a:xfrm rot="0" flipH="0" flipV="0">
            <a:off x="1143000" y="4457700"/>
            <a:ext cx="904875" cy="400050"/>
          </a:xfrm>
          <a:prstGeom prst="rect"/>
        </p:spPr>
        <p:txBody>
          <a:bodyPr wrap="none" lIns="0" tIns="0" rIns="0" bIns="0"/>
          <a:p>
            <a:pPr>
              <a:lnSpc>
                <a:spcPct val="190000"/>
              </a:lnSpc>
            </a:pPr>
            <a:r>
              <a:rPr lang="en-US" sz="135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课程地图与录制前的环境检查</a:t>
            </a:r>
            <a:endParaRPr/>
          </a:p>
        </p:txBody>
      </p:sp>
      <p:sp>
        <p:nvSpPr>
          <p:cNvPr id="12" name=""/>
          <p:cNvSpPr txBox="1"/>
          <p:nvPr/>
        </p:nvSpPr>
        <p:spPr>
          <a:xfrm rot="0" flipH="0" flipV="0">
            <a:off x="1143000" y="5029200"/>
            <a:ext cx="914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第 1 讲 / 共 25 讲　·　原稿第 1–8 页 + 首尾两页　·　约 13.1 分钟</a:t>
            </a:r>
            <a:endParaRPr/>
          </a:p>
        </p:txBody>
      </p:sp>
      <p:sp>
        <p:nvSpPr>
          <p:cNvPr id="13" name=""/>
          <p:cNvSpPr txBox="1"/>
          <p:nvPr/>
        </p:nvSpPr>
        <p:spPr>
          <a:xfrm rot="0" flipH="0" flipV="0">
            <a:off x="609600" y="6362700"/>
            <a:ext cx="43529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 xml:space="preserve">fountain · </a:t>
            </a:r>
            <a:r>
              <a:rPr lang="zh-CN" sz="975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一站式服务器应用开发工具库　　</a:t>
            </a:r>
            <a:r>
              <a:rPr u="none" lang="en-US" sz="975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hlinkClick r:id="rIdHlink1"/>
              <a:t>https://pkg.cangjie-lang.cn/org/fountain</a:t>
            </a:r>
            <a:r>
              <a:rPr lang="zh-CN" sz="975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　　</a:t>
            </a:r>
            <a:r>
              <a:rPr u="none" lang="en-US" sz="975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hlinkClick r:id="rIdHlink2"/>
              <a:t>https://gitcode.com/Cangjie-SIG/fountain</a:t>
            </a:r>
            <a:endParaRP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</p:spPr>
        <p:txBody>
          <a:bodyPr/>
          <a:p/>
        </p:txBody>
      </p:sp>
      <p:sp>
        <p:nvSpPr>
          <p:cNvPr id="3" name="矩形 2"/>
          <p:cNvSpPr/>
          <p:nvPr/>
        </p:nvSpPr>
        <p:spPr>
          <a:xfrm>
            <a:off x="8763000" y="0"/>
            <a:ext cx="3429000" cy="6858000"/>
          </a:xfrm>
          <a:prstGeom prst="rect">
            <a:avLst/>
          </a:prstGeom>
          <a:gradFill>
            <a:gsLst>
              <a:gs pos="0">
                <a:srgbClr val="38BDF8">
                  <a:alpha val="9000"/>
                </a:srgbClr>
              </a:gs>
              <a:gs pos="100000">
                <a:srgbClr val="22D3EE">
                  <a:alpha val="9000"/>
                </a:srgbClr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4" name="矩形 3"/>
          <p:cNvSpPr/>
          <p:nvPr/>
        </p:nvSpPr>
        <p:spPr>
          <a:xfrm>
            <a:off x="12134850" y="0"/>
            <a:ext cx="57150" cy="6858000"/>
          </a:xfrm>
          <a:prstGeom prst="rect">
            <a:avLst/>
          </a:prstGeom>
          <a:gradFill>
            <a:gsLst>
              <a:gs pos="0">
                <a:srgbClr val="38BDF8"/>
              </a:gs>
              <a:gs pos="100000">
                <a:srgbClr val="22D3EE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5" name="矩形 4"/>
          <p:cNvSpPr/>
          <p:nvPr/>
        </p:nvSpPr>
        <p:spPr>
          <a:xfrm>
            <a:off x="0" y="0"/>
            <a:ext cx="57150" cy="6858000"/>
          </a:xfrm>
          <a:prstGeom prst="rect">
            <a:avLst/>
          </a:prstGeom>
          <a:solidFill>
            <a:srgbClr val="1E293B"/>
          </a:solidFill>
        </p:spPr>
        <p:txBody>
          <a:bodyPr/>
          <a:p/>
        </p:txBody>
      </p:sp>
      <p:sp>
        <p:nvSpPr>
          <p:cNvPr id="6" name="矩形 5"/>
          <p:cNvSpPr/>
          <p:nvPr/>
        </p:nvSpPr>
        <p:spPr>
          <a:xfrm>
            <a:off x="952500" y="1066800"/>
            <a:ext cx="38100" cy="400050"/>
          </a:xfrm>
          <a:prstGeom prst="rect">
            <a:avLst/>
          </a:prstGeom>
          <a:solidFill>
            <a:srgbClr val="38BDF8"/>
          </a:solidFill>
        </p:spPr>
        <p:txBody>
          <a:bodyPr/>
          <a:p/>
        </p:txBody>
      </p:sp>
      <p:sp>
        <p:nvSpPr>
          <p:cNvPr id="7" name="文本框 6" descr="{&quot;isTemplate&quot;:true,&quot;type&quot;:&quot;text&quot;}"/>
          <p:cNvSpPr txBox="1"/>
          <p:nvPr/>
        </p:nvSpPr>
        <p:spPr>
          <a:xfrm>
            <a:off x="1143000" y="1162050"/>
            <a:ext cx="4762500" cy="2000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spc="375">
                <a:solidFill>
                  <a:srgbClr val="94A3B8"/>
                </a:solidFill>
                <a:latin typeface="微软雅黑" panose="020B0503020204020204" charset="-122"/>
                <a:ea typeface="微软雅黑" panose="020B0503020204020204" charset="-122"/>
              </a:rPr>
              <a:t>CANGJIE ECOSYSTEM · SERVER TOOLKIT</a:t>
            </a:r>
            <a:endParaRPr lang="en-US" sz="1275" spc="375">
              <a:solidFill>
                <a:srgbClr val="94A3B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文本框 7" descr="{&quot;isTemplate&quot;:true,&quot;type&quot;:&quot;text&quot;}"/>
          <p:cNvSpPr txBox="1"/>
          <p:nvPr/>
        </p:nvSpPr>
        <p:spPr>
          <a:xfrm>
            <a:off x="952500" y="1733550"/>
            <a:ext cx="2781300" cy="8572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10000"/>
              </a:lnSpc>
            </a:pPr>
            <a:r>
              <a:rPr lang="en-US" sz="51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fountain</a:t>
            </a:r>
            <a:endParaRPr lang="en-US" sz="51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" name="文本框 8" descr="{&quot;isTemplate&quot;:true,&quot;type&quot;:&quot;text&quot;}"/>
          <p:cNvSpPr txBox="1"/>
          <p:nvPr/>
        </p:nvSpPr>
        <p:spPr>
          <a:xfrm>
            <a:off x="952500" y="2590800"/>
            <a:ext cx="3962400" cy="4762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2400" b="1">
                <a:solidFill>
                  <a:srgbClr val="38BDF8"/>
                </a:solidFill>
                <a:latin typeface="微软雅黑" panose="020B0503020204020204" charset="-122"/>
                <a:ea typeface="微软雅黑" panose="020B0503020204020204" charset="-122"/>
              </a:rPr>
              <a:t>一站式服务器应用开发工具库</a:t>
            </a:r>
            <a:endParaRPr lang="zh-CN" sz="2400" b="1">
              <a:solidFill>
                <a:srgbClr val="38BDF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" name="矩形 9"/>
          <p:cNvSpPr/>
          <p:nvPr/>
        </p:nvSpPr>
        <p:spPr>
          <a:xfrm>
            <a:off x="952500" y="3238500"/>
            <a:ext cx="4953000" cy="9525"/>
          </a:xfrm>
          <a:prstGeom prst="rect">
            <a:avLst/>
          </a:prstGeom>
          <a:solidFill>
            <a:srgbClr val="1E293B"/>
          </a:solidFill>
        </p:spPr>
        <p:txBody>
          <a:bodyPr/>
          <a:p/>
        </p:txBody>
      </p:sp>
      <p:sp>
        <p:nvSpPr>
          <p:cNvPr id="11" name="文本框 10" descr="{&quot;isTemplate&quot;:true,&quot;type&quot;:&quot;text&quot;}"/>
          <p:cNvSpPr txBox="1"/>
          <p:nvPr/>
        </p:nvSpPr>
        <p:spPr>
          <a:xfrm>
            <a:off x="952500" y="3543300"/>
            <a:ext cx="3886200" cy="4000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90000"/>
              </a:lnSpc>
            </a:pPr>
            <a:r>
              <a:rPr lang="zh-CN" sz="1350">
                <a:solidFill>
                  <a:srgbClr val="E2E8F0"/>
                </a:solidFill>
                <a:latin typeface="微软雅黑" panose="020B0503020204020204" charset="-122"/>
                <a:ea typeface="微软雅黑" panose="020B0503020204020204" charset="-122"/>
              </a:rPr>
              <a:t>没有配置文件</a:t>
            </a:r>
            <a:r>
              <a:rPr lang="en-US" sz="1350">
                <a:solidFill>
                  <a:srgbClr val="E2E8F0"/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lang="zh-CN" sz="1350">
                <a:solidFill>
                  <a:srgbClr val="E2E8F0"/>
                </a:solidFill>
                <a:latin typeface="微软雅黑" panose="020B0503020204020204" charset="-122"/>
                <a:ea typeface="微软雅黑" panose="020B0503020204020204" charset="-122"/>
              </a:rPr>
              <a:t>没有</a:t>
            </a:r>
            <a:r>
              <a:rPr lang="en-US" sz="1350">
                <a:solidFill>
                  <a:srgbClr val="E2E8F0"/>
                </a:solidFill>
                <a:latin typeface="微软雅黑" panose="020B0503020204020204" charset="-122"/>
                <a:ea typeface="微软雅黑" panose="020B0503020204020204" charset="-122"/>
              </a:rPr>
              <a:t> main </a:t>
            </a:r>
            <a:r>
              <a:rPr lang="zh-CN" sz="1350">
                <a:solidFill>
                  <a:srgbClr val="E2E8F0"/>
                </a:solidFill>
                <a:latin typeface="微软雅黑" panose="020B0503020204020204" charset="-122"/>
                <a:ea typeface="微软雅黑" panose="020B0503020204020204" charset="-122"/>
              </a:rPr>
              <a:t>函数</a:t>
            </a:r>
            <a:r>
              <a:rPr lang="en-US" sz="1350">
                <a:solidFill>
                  <a:srgbClr val="E2E8F0"/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lang="zh-CN" sz="1350">
                <a:solidFill>
                  <a:srgbClr val="E2E8F0"/>
                </a:solidFill>
                <a:latin typeface="微软雅黑" panose="020B0503020204020204" charset="-122"/>
                <a:ea typeface="微软雅黑" panose="020B0503020204020204" charset="-122"/>
              </a:rPr>
              <a:t>业务代码只有业务</a:t>
            </a:r>
            <a:endParaRPr lang="zh-CN" sz="1350">
              <a:solidFill>
                <a:srgbClr val="E2E8F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文本框 11" descr="{&quot;isTemplate&quot;:true,&quot;type&quot;:&quot;text&quot;}"/>
          <p:cNvSpPr txBox="1"/>
          <p:nvPr/>
        </p:nvSpPr>
        <p:spPr>
          <a:xfrm>
            <a:off x="952500" y="3905250"/>
            <a:ext cx="4486275" cy="3333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90000"/>
              </a:lnSpc>
            </a:pPr>
            <a:r>
              <a:rPr lang="zh-CN" sz="1125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配套示例工程</a:t>
            </a:r>
            <a:r>
              <a:rPr lang="en-US" sz="1125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 fdemo</a:t>
            </a:r>
            <a:r>
              <a:rPr lang="zh-CN" sz="1125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　</a:t>
            </a:r>
            <a:r>
              <a:rPr lang="en-US" sz="1125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|</a:t>
            </a:r>
            <a:r>
              <a:rPr lang="zh-CN" sz="1125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　核心链路</a:t>
            </a:r>
            <a:r>
              <a:rPr lang="en-US" sz="1125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 10 </a:t>
            </a:r>
            <a:r>
              <a:rPr lang="zh-CN" sz="1125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章　</a:t>
            </a:r>
            <a:r>
              <a:rPr lang="en-US" sz="1125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|</a:t>
            </a:r>
            <a:r>
              <a:rPr lang="zh-CN" sz="1125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　建议时长</a:t>
            </a:r>
            <a:r>
              <a:rPr lang="en-US" sz="1125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 155–185 </a:t>
            </a:r>
            <a:r>
              <a:rPr lang="zh-CN" sz="1125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分钟</a:t>
            </a:r>
            <a:endParaRPr lang="zh-CN" sz="1125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" name="文本框 12" descr="{&quot;isTemplate&quot;:true,&quot;type&quot;:&quot;text&quot;}"/>
          <p:cNvSpPr txBox="1"/>
          <p:nvPr/>
        </p:nvSpPr>
        <p:spPr>
          <a:xfrm>
            <a:off x="952500" y="4762500"/>
            <a:ext cx="942975" cy="6477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200" b="1">
                <a:solidFill>
                  <a:srgbClr val="F59E0B"/>
                </a:solidFill>
                <a:latin typeface="JetBrains Mono"/>
                <a:ea typeface="JetBrains Mono"/>
              </a:rPr>
              <a:t>40+</a:t>
            </a:r>
            <a:endParaRPr lang="en-US" sz="4200" b="1">
              <a:solidFill>
                <a:srgbClr val="F59E0B"/>
              </a:solidFill>
              <a:latin typeface="JetBrains Mono"/>
              <a:ea typeface="JetBrains Mono"/>
            </a:endParaRPr>
          </a:p>
        </p:txBody>
      </p:sp>
      <p:sp>
        <p:nvSpPr>
          <p:cNvPr id="14" name="文本框 13" descr="{&quot;isTemplate&quot;:true,&quot;type&quot;:&quot;text&quot;}"/>
          <p:cNvSpPr txBox="1"/>
          <p:nvPr/>
        </p:nvSpPr>
        <p:spPr>
          <a:xfrm>
            <a:off x="952500" y="5486400"/>
            <a:ext cx="942975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94A3B8"/>
                </a:solidFill>
                <a:latin typeface="微软雅黑" panose="020B0503020204020204" charset="-122"/>
                <a:ea typeface="微软雅黑" panose="020B0503020204020204" charset="-122"/>
              </a:rPr>
              <a:t>功能模块</a:t>
            </a:r>
            <a:endParaRPr lang="zh-CN" sz="1050">
              <a:solidFill>
                <a:srgbClr val="94A3B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" name="文本框 14" descr="{&quot;isTemplate&quot;:true,&quot;type&quot;:&quot;text&quot;}"/>
          <p:cNvSpPr txBox="1"/>
          <p:nvPr/>
        </p:nvSpPr>
        <p:spPr>
          <a:xfrm>
            <a:off x="2428875" y="4762500"/>
            <a:ext cx="800100" cy="6477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200" b="1">
                <a:solidFill>
                  <a:srgbClr val="38BDF8"/>
                </a:solidFill>
                <a:latin typeface="JetBrains Mono"/>
                <a:ea typeface="JetBrains Mono"/>
              </a:rPr>
              <a:t>0</a:t>
            </a:r>
            <a:endParaRPr lang="en-US" sz="4200" b="1">
              <a:solidFill>
                <a:srgbClr val="38BDF8"/>
              </a:solidFill>
              <a:latin typeface="JetBrains Mono"/>
              <a:ea typeface="JetBrains Mono"/>
            </a:endParaRPr>
          </a:p>
        </p:txBody>
      </p:sp>
      <p:sp>
        <p:nvSpPr>
          <p:cNvPr id="16" name="文本框 15" descr="{&quot;isTemplate&quot;:true,&quot;type&quot;:&quot;text&quot;}"/>
          <p:cNvSpPr txBox="1"/>
          <p:nvPr/>
        </p:nvSpPr>
        <p:spPr>
          <a:xfrm>
            <a:off x="2428875" y="5486400"/>
            <a:ext cx="8001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94A3B8"/>
                </a:solidFill>
                <a:latin typeface="微软雅黑" panose="020B0503020204020204" charset="-122"/>
                <a:ea typeface="微软雅黑" panose="020B0503020204020204" charset="-122"/>
              </a:rPr>
              <a:t>配置文件数量</a:t>
            </a:r>
            <a:endParaRPr lang="zh-CN" sz="1050">
              <a:solidFill>
                <a:srgbClr val="94A3B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文本框 16" descr="{&quot;isTemplate&quot;:true,&quot;type&quot;:&quot;text&quot;}"/>
          <p:cNvSpPr txBox="1"/>
          <p:nvPr/>
        </p:nvSpPr>
        <p:spPr>
          <a:xfrm>
            <a:off x="3762375" y="4762500"/>
            <a:ext cx="800100" cy="6477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200" b="1">
                <a:solidFill>
                  <a:srgbClr val="22D3EE"/>
                </a:solidFill>
                <a:latin typeface="JetBrains Mono"/>
                <a:ea typeface="JetBrains Mono"/>
              </a:rPr>
              <a:t>4</a:t>
            </a:r>
            <a:endParaRPr lang="en-US" sz="4200" b="1">
              <a:solidFill>
                <a:srgbClr val="22D3EE"/>
              </a:solidFill>
              <a:latin typeface="JetBrains Mono"/>
              <a:ea typeface="JetBrains Mono"/>
            </a:endParaRPr>
          </a:p>
        </p:txBody>
      </p:sp>
      <p:sp>
        <p:nvSpPr>
          <p:cNvPr id="18" name="文本框 17" descr="{&quot;isTemplate&quot;:true,&quot;type&quot;:&quot;text&quot;}"/>
          <p:cNvSpPr txBox="1"/>
          <p:nvPr/>
        </p:nvSpPr>
        <p:spPr>
          <a:xfrm>
            <a:off x="3762375" y="5486400"/>
            <a:ext cx="8001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94A3B8"/>
                </a:solidFill>
                <a:latin typeface="微软雅黑" panose="020B0503020204020204" charset="-122"/>
                <a:ea typeface="微软雅黑" panose="020B0503020204020204" charset="-122"/>
              </a:rPr>
              <a:t>配置来源层级</a:t>
            </a:r>
            <a:endParaRPr lang="zh-CN" sz="1050">
              <a:solidFill>
                <a:srgbClr val="94A3B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001" name="文本框 9001" descr="{&quot;isTemplate&quot;:true,&quot;type&quot;:&quot;text&quot;}"/>
          <p:cNvSpPr txBox="1"/>
          <p:nvPr/>
        </p:nvSpPr>
        <p:spPr>
          <a:xfrm>
            <a:off x="609600" y="6410325"/>
            <a:ext cx="2219325" cy="152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fountain · </a:t>
            </a:r>
            <a:r>
              <a:rPr lang="zh-CN" sz="975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一站式服务器应用开发工具库</a:t>
            </a:r>
            <a:r>
              <a:rPr lang="zh-CN" sz="975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　·　</a:t>
            </a:r>
            <a:r>
              <a:rPr lang="en-US" sz="975" u="none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hlinkClick r:id="rIdHlink1"/>
              </a:rPr>
              <a:t>https://pkg.cangjie-lang.cn/org/fountain</a:t>
            </a:r>
            <a:r>
              <a:rPr lang="zh-CN" sz="975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　·　</a:t>
            </a:r>
            <a:r>
              <a:rPr lang="en-US" sz="975" u="none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hlinkClick r:id="rIdHlink2"/>
              </a:rPr>
              <a:t>https://gitcode.com/Cangjie-SIG/fountain</a:t>
            </a:r>
            <a:endParaRPr lang="zh-CN" sz="975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78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1" name="矩形 78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</p:spPr>
        <p:txBody>
          <a:bodyPr/>
          <a:p/>
        </p:txBody>
      </p:sp>
      <p:sp>
        <p:nvSpPr>
          <p:cNvPr id="782" name="矩形 781"/>
          <p:cNvSpPr/>
          <p:nvPr/>
        </p:nvSpPr>
        <p:spPr>
          <a:xfrm>
            <a:off x="609600" y="476250"/>
            <a:ext cx="38100" cy="381000"/>
          </a:xfrm>
          <a:prstGeom prst="rect">
            <a:avLst/>
          </a:prstGeom>
          <a:solidFill>
            <a:srgbClr val="38BDF8"/>
          </a:solidFill>
        </p:spPr>
        <p:txBody>
          <a:bodyPr/>
          <a:p/>
        </p:txBody>
      </p:sp>
      <p:sp>
        <p:nvSpPr>
          <p:cNvPr id="783" name="文本框 782" descr="{&quot;isTemplate&quot;:true,&quot;type&quot;:&quot;text&quot;}"/>
          <p:cNvSpPr txBox="1"/>
          <p:nvPr/>
        </p:nvSpPr>
        <p:spPr>
          <a:xfrm>
            <a:off x="819150" y="304800"/>
            <a:ext cx="9477375" cy="2095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975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课程结构</a:t>
            </a:r>
            <a:r>
              <a:rPr lang="en-US" sz="975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 · 18 </a:t>
            </a:r>
            <a:r>
              <a:rPr lang="zh-CN" sz="975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章</a:t>
            </a:r>
            <a:r>
              <a:rPr lang="en-US" sz="975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 / 4 </a:t>
            </a:r>
            <a:r>
              <a:rPr lang="zh-CN" sz="975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大板块</a:t>
            </a:r>
            <a:r>
              <a:rPr lang="en-US" sz="975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 / 116 </a:t>
            </a:r>
            <a:r>
              <a:rPr lang="zh-CN" sz="975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页</a:t>
            </a:r>
            <a:endParaRPr lang="zh-CN" sz="975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84" name="文本框 783" descr="{&quot;isTemplate&quot;:true,&quot;type&quot;:&quot;text&quot;}"/>
          <p:cNvSpPr txBox="1"/>
          <p:nvPr/>
        </p:nvSpPr>
        <p:spPr>
          <a:xfrm>
            <a:off x="819150" y="514350"/>
            <a:ext cx="9477375" cy="514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2550" b="1">
                <a:solidFill>
                  <a:srgbClr val="E2E8F0"/>
                </a:solidFill>
                <a:latin typeface="微软雅黑" panose="020B0503020204020204" charset="-122"/>
                <a:ea typeface="微软雅黑" panose="020B0503020204020204" charset="-122"/>
              </a:rPr>
              <a:t>目录</a:t>
            </a:r>
            <a:endParaRPr lang="zh-CN" sz="2550" b="1">
              <a:solidFill>
                <a:srgbClr val="E2E8F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85" name="文本框 784" descr="{&quot;isTemplate&quot;:true,&quot;type&quot;:&quot;text&quot;}"/>
          <p:cNvSpPr txBox="1"/>
          <p:nvPr/>
        </p:nvSpPr>
        <p:spPr>
          <a:xfrm>
            <a:off x="10467975" y="590550"/>
            <a:ext cx="1114425" cy="152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建议按板块裁剪录制</a:t>
            </a:r>
            <a:endParaRPr lang="zh-CN" sz="975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86" name="圆角矩形 785"/>
          <p:cNvSpPr/>
          <p:nvPr/>
        </p:nvSpPr>
        <p:spPr>
          <a:xfrm>
            <a:off x="609600" y="1143000"/>
            <a:ext cx="5410200" cy="2495550"/>
          </a:xfrm>
          <a:prstGeom prst="roundRect">
            <a:avLst>
              <a:gd name="adj" fmla="val 4580"/>
            </a:avLst>
          </a:prstGeom>
          <a:solidFill>
            <a:srgbClr val="111C2E"/>
          </a:solidFill>
          <a:ln w="12700">
            <a:solidFill>
              <a:srgbClr val="1E293B"/>
            </a:solidFill>
            <a:prstDash val="solid"/>
          </a:ln>
        </p:spPr>
        <p:txBody>
          <a:bodyPr/>
          <a:p/>
        </p:txBody>
      </p:sp>
      <p:sp>
        <p:nvSpPr>
          <p:cNvPr id="787" name="文本框 786" descr="{&quot;isTemplate&quot;:true,&quot;type&quot;:&quot;text&quot;}"/>
          <p:cNvSpPr txBox="1"/>
          <p:nvPr/>
        </p:nvSpPr>
        <p:spPr>
          <a:xfrm>
            <a:off x="838200" y="1371600"/>
            <a:ext cx="495300" cy="5048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300" b="1">
                <a:solidFill>
                  <a:srgbClr val="38BDF8"/>
                </a:solidFill>
                <a:latin typeface="JetBrains Mono"/>
                <a:ea typeface="JetBrains Mono"/>
              </a:rPr>
              <a:t>01</a:t>
            </a:r>
            <a:endParaRPr lang="en-US" sz="3300" b="1">
              <a:solidFill>
                <a:srgbClr val="38BDF8"/>
              </a:solidFill>
              <a:latin typeface="JetBrains Mono"/>
              <a:ea typeface="JetBrains Mono"/>
            </a:endParaRPr>
          </a:p>
        </p:txBody>
      </p:sp>
      <p:sp>
        <p:nvSpPr>
          <p:cNvPr id="788" name="文本框 787" descr="{&quot;isTemplate&quot;:true,&quot;type&quot;:&quot;text&quot;}"/>
          <p:cNvSpPr txBox="1"/>
          <p:nvPr/>
        </p:nvSpPr>
        <p:spPr>
          <a:xfrm>
            <a:off x="1466850" y="1371600"/>
            <a:ext cx="1047750" cy="5048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E2E8F0"/>
                </a:solidFill>
                <a:latin typeface="微软雅黑" panose="020B0503020204020204" charset="-122"/>
                <a:ea typeface="微软雅黑" panose="020B0503020204020204" charset="-122"/>
              </a:rPr>
              <a:t>总览与启动</a:t>
            </a:r>
            <a:endParaRPr lang="zh-CN" sz="1650" b="1">
              <a:solidFill>
                <a:srgbClr val="E2E8F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89" name="文本框 788" descr="{&quot;isTemplate&quot;:true,&quot;type&quot;:&quot;text&quot;}"/>
          <p:cNvSpPr txBox="1"/>
          <p:nvPr/>
        </p:nvSpPr>
        <p:spPr>
          <a:xfrm>
            <a:off x="838200" y="2009775"/>
            <a:ext cx="4953000" cy="590550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125">
                <a:solidFill>
                  <a:srgbClr val="94A3B8"/>
                </a:solidFill>
                <a:latin typeface="微软雅黑" panose="020B0503020204020204" charset="-122"/>
                <a:ea typeface="微软雅黑" panose="020B0503020204020204" charset="-122"/>
              </a:rPr>
              <a:t>为什么用</a:t>
            </a:r>
            <a:r>
              <a:rPr lang="en-US" sz="1125">
                <a:solidFill>
                  <a:srgbClr val="94A3B8"/>
                </a:solidFill>
                <a:latin typeface="微软雅黑" panose="020B0503020204020204" charset="-122"/>
                <a:ea typeface="微软雅黑" panose="020B0503020204020204" charset="-122"/>
              </a:rPr>
              <a:t> fountain · </a:t>
            </a:r>
            <a:r>
              <a:rPr lang="zh-CN" sz="1125">
                <a:solidFill>
                  <a:srgbClr val="94A3B8"/>
                </a:solidFill>
                <a:latin typeface="微软雅黑" panose="020B0503020204020204" charset="-122"/>
                <a:ea typeface="微软雅黑" panose="020B0503020204020204" charset="-122"/>
              </a:rPr>
              <a:t>三个反直觉的设计决策</a:t>
            </a:r>
            <a:r>
              <a:rPr lang="en-US" sz="1125">
                <a:solidFill>
                  <a:srgbClr val="94A3B8"/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lang="zh-CN" sz="1125">
                <a:solidFill>
                  <a:srgbClr val="94A3B8"/>
                </a:solidFill>
                <a:latin typeface="微软雅黑" panose="020B0503020204020204" charset="-122"/>
                <a:ea typeface="微软雅黑" panose="020B0503020204020204" charset="-122"/>
              </a:rPr>
              <a:t>环境准备</a:t>
            </a:r>
            <a:r>
              <a:rPr lang="en-US" sz="1125">
                <a:solidFill>
                  <a:srgbClr val="94A3B8"/>
                </a:solidFill>
                <a:latin typeface="微软雅黑" panose="020B0503020204020204" charset="-122"/>
                <a:ea typeface="微软雅黑" panose="020B0503020204020204" charset="-122"/>
              </a:rPr>
              <a:t> · fboot </a:t>
            </a:r>
            <a:r>
              <a:rPr lang="zh-CN" sz="1125">
                <a:solidFill>
                  <a:srgbClr val="94A3B8"/>
                </a:solidFill>
                <a:latin typeface="微软雅黑" panose="020B0503020204020204" charset="-122"/>
                <a:ea typeface="微软雅黑" panose="020B0503020204020204" charset="-122"/>
              </a:rPr>
              <a:t>整套命令行</a:t>
            </a:r>
            <a:r>
              <a:rPr lang="en-US" sz="1125">
                <a:solidFill>
                  <a:srgbClr val="94A3B8"/>
                </a:solidFill>
                <a:latin typeface="微软雅黑" panose="020B0503020204020204" charset="-122"/>
                <a:ea typeface="微软雅黑" panose="020B0503020204020204" charset="-122"/>
              </a:rPr>
              <a:t> · f_config </a:t>
            </a:r>
            <a:r>
              <a:rPr lang="zh-CN" sz="1125">
                <a:solidFill>
                  <a:srgbClr val="94A3B8"/>
                </a:solidFill>
                <a:latin typeface="微软雅黑" panose="020B0503020204020204" charset="-122"/>
                <a:ea typeface="微软雅黑" panose="020B0503020204020204" charset="-122"/>
              </a:rPr>
              <a:t>四级配置</a:t>
            </a:r>
            <a:r>
              <a:rPr lang="en-US" sz="1125">
                <a:solidFill>
                  <a:srgbClr val="94A3B8"/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lang="zh-CN" sz="1125">
                <a:solidFill>
                  <a:srgbClr val="94A3B8"/>
                </a:solidFill>
                <a:latin typeface="微软雅黑" panose="020B0503020204020204" charset="-122"/>
                <a:ea typeface="微软雅黑" panose="020B0503020204020204" charset="-122"/>
              </a:rPr>
              <a:t>跑通</a:t>
            </a:r>
            <a:r>
              <a:rPr lang="en-US" sz="1125">
                <a:solidFill>
                  <a:srgbClr val="94A3B8"/>
                </a:solidFill>
                <a:latin typeface="微软雅黑" panose="020B0503020204020204" charset="-122"/>
                <a:ea typeface="微软雅黑" panose="020B0503020204020204" charset="-122"/>
              </a:rPr>
              <a:t> fdemo</a:t>
            </a:r>
            <a:endParaRPr lang="en-US" sz="1125">
              <a:solidFill>
                <a:srgbClr val="94A3B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90" name="文本框 789" descr="{&quot;isTemplate&quot;:true,&quot;type&quot;:&quot;text&quot;}"/>
          <p:cNvSpPr txBox="1"/>
          <p:nvPr/>
        </p:nvSpPr>
        <p:spPr>
          <a:xfrm>
            <a:off x="838200" y="3248025"/>
            <a:ext cx="49530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第</a:t>
            </a:r>
            <a:r>
              <a:rPr lang="en-US" sz="105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 1–5 </a:t>
            </a:r>
            <a:r>
              <a:rPr lang="zh-CN" sz="105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章　·　对应第</a:t>
            </a:r>
            <a:r>
              <a:rPr lang="en-US" sz="105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 06–35 </a:t>
            </a:r>
            <a:r>
              <a:rPr lang="zh-CN" sz="105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页</a:t>
            </a:r>
            <a:endParaRPr lang="zh-CN" sz="105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91" name="圆角矩形 790"/>
          <p:cNvSpPr/>
          <p:nvPr/>
        </p:nvSpPr>
        <p:spPr>
          <a:xfrm>
            <a:off x="609600" y="3790950"/>
            <a:ext cx="5410200" cy="2495550"/>
          </a:xfrm>
          <a:prstGeom prst="roundRect">
            <a:avLst>
              <a:gd name="adj" fmla="val 4580"/>
            </a:avLst>
          </a:prstGeom>
          <a:solidFill>
            <a:srgbClr val="111C2E"/>
          </a:solidFill>
          <a:ln w="12700">
            <a:solidFill>
              <a:srgbClr val="1E293B"/>
            </a:solidFill>
            <a:prstDash val="solid"/>
          </a:ln>
        </p:spPr>
        <p:txBody>
          <a:bodyPr/>
          <a:p/>
        </p:txBody>
      </p:sp>
      <p:sp>
        <p:nvSpPr>
          <p:cNvPr id="792" name="文本框 791" descr="{&quot;isTemplate&quot;:true,&quot;type&quot;:&quot;text&quot;}"/>
          <p:cNvSpPr txBox="1"/>
          <p:nvPr/>
        </p:nvSpPr>
        <p:spPr>
          <a:xfrm>
            <a:off x="838200" y="4019550"/>
            <a:ext cx="495300" cy="5048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300" b="1">
                <a:solidFill>
                  <a:srgbClr val="22D3EE"/>
                </a:solidFill>
                <a:latin typeface="JetBrains Mono"/>
                <a:ea typeface="JetBrains Mono"/>
              </a:rPr>
              <a:t>02</a:t>
            </a:r>
            <a:endParaRPr lang="en-US" sz="3300" b="1">
              <a:solidFill>
                <a:srgbClr val="22D3EE"/>
              </a:solidFill>
              <a:latin typeface="JetBrains Mono"/>
              <a:ea typeface="JetBrains Mono"/>
            </a:endParaRPr>
          </a:p>
        </p:txBody>
      </p:sp>
      <p:sp>
        <p:nvSpPr>
          <p:cNvPr id="793" name="文本框 792" descr="{&quot;isTemplate&quot;:true,&quot;type&quot;:&quot;text&quot;}"/>
          <p:cNvSpPr txBox="1"/>
          <p:nvPr/>
        </p:nvSpPr>
        <p:spPr>
          <a:xfrm>
            <a:off x="1466850" y="4019550"/>
            <a:ext cx="838200" cy="5048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E2E8F0"/>
                </a:solidFill>
                <a:latin typeface="微软雅黑" panose="020B0503020204020204" charset="-122"/>
                <a:ea typeface="微软雅黑" panose="020B0503020204020204" charset="-122"/>
              </a:rPr>
              <a:t>框架核心</a:t>
            </a:r>
            <a:endParaRPr lang="zh-CN" sz="1650" b="1">
              <a:solidFill>
                <a:srgbClr val="E2E8F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94" name="文本框 793" descr="{&quot;isTemplate&quot;:true,&quot;type&quot;:&quot;text&quot;}"/>
          <p:cNvSpPr txBox="1"/>
          <p:nvPr/>
        </p:nvSpPr>
        <p:spPr>
          <a:xfrm>
            <a:off x="838200" y="4657725"/>
            <a:ext cx="4953000" cy="590550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en-US" sz="1125">
                <a:solidFill>
                  <a:srgbClr val="94A3B8"/>
                </a:solidFill>
                <a:latin typeface="微软雅黑" panose="020B0503020204020204" charset="-122"/>
                <a:ea typeface="微软雅黑" panose="020B0503020204020204" charset="-122"/>
              </a:rPr>
              <a:t>f_bean </a:t>
            </a:r>
            <a:r>
              <a:rPr lang="zh-CN" sz="1125">
                <a:solidFill>
                  <a:srgbClr val="94A3B8"/>
                </a:solidFill>
                <a:latin typeface="微软雅黑" panose="020B0503020204020204" charset="-122"/>
                <a:ea typeface="微软雅黑" panose="020B0503020204020204" charset="-122"/>
              </a:rPr>
              <a:t>的</a:t>
            </a:r>
            <a:r>
              <a:rPr lang="en-US" sz="1125">
                <a:solidFill>
                  <a:srgbClr val="94A3B8"/>
                </a:solidFill>
                <a:latin typeface="微软雅黑" panose="020B0503020204020204" charset="-122"/>
                <a:ea typeface="微软雅黑" panose="020B0503020204020204" charset="-122"/>
              </a:rPr>
              <a:t> lookup </a:t>
            </a:r>
            <a:r>
              <a:rPr lang="zh-CN" sz="1125">
                <a:solidFill>
                  <a:srgbClr val="94A3B8"/>
                </a:solidFill>
                <a:latin typeface="微软雅黑" panose="020B0503020204020204" charset="-122"/>
                <a:ea typeface="微软雅黑" panose="020B0503020204020204" charset="-122"/>
              </a:rPr>
              <a:t>家族与条件装配</a:t>
            </a:r>
            <a:r>
              <a:rPr lang="en-US" sz="1125">
                <a:solidFill>
                  <a:srgbClr val="94A3B8"/>
                </a:solidFill>
                <a:latin typeface="微软雅黑" panose="020B0503020204020204" charset="-122"/>
                <a:ea typeface="微软雅黑" panose="020B0503020204020204" charset="-122"/>
              </a:rPr>
              <a:t> · f_aspect </a:t>
            </a:r>
            <a:r>
              <a:rPr lang="zh-CN" sz="1125">
                <a:solidFill>
                  <a:srgbClr val="94A3B8"/>
                </a:solidFill>
                <a:latin typeface="微软雅黑" panose="020B0503020204020204" charset="-122"/>
                <a:ea typeface="微软雅黑" panose="020B0503020204020204" charset="-122"/>
              </a:rPr>
              <a:t>的织入规则</a:t>
            </a:r>
            <a:r>
              <a:rPr lang="en-US" sz="1125">
                <a:solidFill>
                  <a:srgbClr val="94A3B8"/>
                </a:solidFill>
                <a:latin typeface="微软雅黑" panose="020B0503020204020204" charset="-122"/>
                <a:ea typeface="微软雅黑" panose="020B0503020204020204" charset="-122"/>
              </a:rPr>
              <a:t> · f_data </a:t>
            </a:r>
            <a:r>
              <a:rPr lang="zh-CN" sz="1125">
                <a:solidFill>
                  <a:srgbClr val="94A3B8"/>
                </a:solidFill>
                <a:latin typeface="微软雅黑" panose="020B0503020204020204" charset="-122"/>
                <a:ea typeface="微软雅黑" panose="020B0503020204020204" charset="-122"/>
              </a:rPr>
              <a:t>的统一数据模型</a:t>
            </a:r>
            <a:r>
              <a:rPr lang="en-US" sz="1125">
                <a:solidFill>
                  <a:srgbClr val="94A3B8"/>
                </a:solidFill>
                <a:latin typeface="微软雅黑" panose="020B0503020204020204" charset="-122"/>
                <a:ea typeface="微软雅黑" panose="020B0503020204020204" charset="-122"/>
              </a:rPr>
              <a:t> · f_util </a:t>
            </a:r>
            <a:r>
              <a:rPr lang="zh-CN" sz="1125">
                <a:solidFill>
                  <a:srgbClr val="94A3B8"/>
                </a:solidFill>
                <a:latin typeface="微软雅黑" panose="020B0503020204020204" charset="-122"/>
                <a:ea typeface="微软雅黑" panose="020B0503020204020204" charset="-122"/>
              </a:rPr>
              <a:t>工具箱</a:t>
            </a:r>
            <a:r>
              <a:rPr lang="en-US" sz="1125">
                <a:solidFill>
                  <a:srgbClr val="94A3B8"/>
                </a:solidFill>
                <a:latin typeface="微软雅黑" panose="020B0503020204020204" charset="-122"/>
                <a:ea typeface="微软雅黑" panose="020B0503020204020204" charset="-122"/>
              </a:rPr>
              <a:t> · f_mvc </a:t>
            </a:r>
            <a:r>
              <a:rPr lang="zh-CN" sz="1125">
                <a:solidFill>
                  <a:srgbClr val="94A3B8"/>
                </a:solidFill>
                <a:latin typeface="微软雅黑" panose="020B0503020204020204" charset="-122"/>
                <a:ea typeface="微软雅黑" panose="020B0503020204020204" charset="-122"/>
              </a:rPr>
              <a:t>路由与参数绑定</a:t>
            </a:r>
            <a:r>
              <a:rPr lang="en-US" sz="1125">
                <a:solidFill>
                  <a:srgbClr val="94A3B8"/>
                </a:solidFill>
                <a:latin typeface="微软雅黑" panose="020B0503020204020204" charset="-122"/>
                <a:ea typeface="微软雅黑" panose="020B0503020204020204" charset="-122"/>
              </a:rPr>
              <a:t> · f_http </a:t>
            </a:r>
            <a:r>
              <a:rPr lang="zh-CN" sz="1125">
                <a:solidFill>
                  <a:srgbClr val="94A3B8"/>
                </a:solidFill>
                <a:latin typeface="微软雅黑" panose="020B0503020204020204" charset="-122"/>
                <a:ea typeface="微软雅黑" panose="020B0503020204020204" charset="-122"/>
              </a:rPr>
              <a:t>的</a:t>
            </a:r>
            <a:r>
              <a:rPr lang="en-US" sz="1125">
                <a:solidFill>
                  <a:srgbClr val="94A3B8"/>
                </a:solidFill>
                <a:latin typeface="微软雅黑" panose="020B0503020204020204" charset="-122"/>
                <a:ea typeface="微软雅黑" panose="020B0503020204020204" charset="-122"/>
              </a:rPr>
              <a:t> MediaType</a:t>
            </a:r>
            <a:endParaRPr lang="en-US" sz="1125">
              <a:solidFill>
                <a:srgbClr val="94A3B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95" name="文本框 794" descr="{&quot;isTemplate&quot;:true,&quot;type&quot;:&quot;text&quot;}"/>
          <p:cNvSpPr txBox="1"/>
          <p:nvPr/>
        </p:nvSpPr>
        <p:spPr>
          <a:xfrm>
            <a:off x="838200" y="5895975"/>
            <a:ext cx="49530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第</a:t>
            </a:r>
            <a:r>
              <a:rPr lang="en-US" sz="105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 6–11 </a:t>
            </a:r>
            <a:r>
              <a:rPr lang="zh-CN" sz="105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章　·　对应第</a:t>
            </a:r>
            <a:r>
              <a:rPr lang="en-US" sz="105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 37–74 </a:t>
            </a:r>
            <a:r>
              <a:rPr lang="zh-CN" sz="105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页</a:t>
            </a:r>
            <a:endParaRPr lang="zh-CN" sz="105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96" name="圆角矩形 795"/>
          <p:cNvSpPr/>
          <p:nvPr/>
        </p:nvSpPr>
        <p:spPr>
          <a:xfrm>
            <a:off x="6172200" y="1143000"/>
            <a:ext cx="5410200" cy="2495550"/>
          </a:xfrm>
          <a:prstGeom prst="roundRect">
            <a:avLst>
              <a:gd name="adj" fmla="val 4580"/>
            </a:avLst>
          </a:prstGeom>
          <a:solidFill>
            <a:srgbClr val="111C2E"/>
          </a:solidFill>
          <a:ln w="12700">
            <a:solidFill>
              <a:srgbClr val="1E293B"/>
            </a:solidFill>
            <a:prstDash val="solid"/>
          </a:ln>
        </p:spPr>
        <p:txBody>
          <a:bodyPr/>
          <a:p/>
        </p:txBody>
      </p:sp>
      <p:sp>
        <p:nvSpPr>
          <p:cNvPr id="797" name="文本框 796" descr="{&quot;isTemplate&quot;:true,&quot;type&quot;:&quot;text&quot;}"/>
          <p:cNvSpPr txBox="1"/>
          <p:nvPr/>
        </p:nvSpPr>
        <p:spPr>
          <a:xfrm>
            <a:off x="6400800" y="1371600"/>
            <a:ext cx="495300" cy="5048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300" b="1">
                <a:solidFill>
                  <a:srgbClr val="38BDF8"/>
                </a:solidFill>
                <a:latin typeface="JetBrains Mono"/>
                <a:ea typeface="JetBrains Mono"/>
              </a:rPr>
              <a:t>03</a:t>
            </a:r>
            <a:endParaRPr lang="en-US" sz="3300" b="1">
              <a:solidFill>
                <a:srgbClr val="38BDF8"/>
              </a:solidFill>
              <a:latin typeface="JetBrains Mono"/>
              <a:ea typeface="JetBrains Mono"/>
            </a:endParaRPr>
          </a:p>
        </p:txBody>
      </p:sp>
      <p:sp>
        <p:nvSpPr>
          <p:cNvPr id="798" name="文本框 797" descr="{&quot;isTemplate&quot;:true,&quot;type&quot;:&quot;text&quot;}"/>
          <p:cNvSpPr txBox="1"/>
          <p:nvPr/>
        </p:nvSpPr>
        <p:spPr>
          <a:xfrm>
            <a:off x="7029450" y="1371600"/>
            <a:ext cx="1047750" cy="5048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E2E8F0"/>
                </a:solidFill>
                <a:latin typeface="微软雅黑" panose="020B0503020204020204" charset="-122"/>
                <a:ea typeface="微软雅黑" panose="020B0503020204020204" charset="-122"/>
              </a:rPr>
              <a:t>数据与安全</a:t>
            </a:r>
            <a:endParaRPr lang="zh-CN" sz="1650" b="1">
              <a:solidFill>
                <a:srgbClr val="E2E8F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99" name="文本框 798" descr="{&quot;isTemplate&quot;:true,&quot;type&quot;:&quot;text&quot;}"/>
          <p:cNvSpPr txBox="1"/>
          <p:nvPr/>
        </p:nvSpPr>
        <p:spPr>
          <a:xfrm>
            <a:off x="6400800" y="2009775"/>
            <a:ext cx="4953000" cy="590550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en-US" sz="1125">
                <a:solidFill>
                  <a:srgbClr val="94A3B8"/>
                </a:solidFill>
                <a:latin typeface="微软雅黑" panose="020B0503020204020204" charset="-122"/>
                <a:ea typeface="微软雅黑" panose="020B0503020204020204" charset="-122"/>
              </a:rPr>
              <a:t>f_orm </a:t>
            </a:r>
            <a:r>
              <a:rPr lang="zh-CN" sz="1125">
                <a:solidFill>
                  <a:srgbClr val="94A3B8"/>
                </a:solidFill>
                <a:latin typeface="微软雅黑" panose="020B0503020204020204" charset="-122"/>
                <a:ea typeface="微软雅黑" panose="020B0503020204020204" charset="-122"/>
              </a:rPr>
              <a:t>的</a:t>
            </a:r>
            <a:r>
              <a:rPr lang="en-US" sz="1125">
                <a:solidFill>
                  <a:srgbClr val="94A3B8"/>
                </a:solidFill>
                <a:latin typeface="微软雅黑" panose="020B0503020204020204" charset="-122"/>
                <a:ea typeface="微软雅黑" panose="020B0503020204020204" charset="-122"/>
              </a:rPr>
              <a:t> PO / DAO / Service </a:t>
            </a:r>
            <a:r>
              <a:rPr lang="zh-CN" sz="1125">
                <a:solidFill>
                  <a:srgbClr val="94A3B8"/>
                </a:solidFill>
                <a:latin typeface="微软雅黑" panose="020B0503020204020204" charset="-122"/>
                <a:ea typeface="微软雅黑" panose="020B0503020204020204" charset="-122"/>
              </a:rPr>
              <a:t>三角色</a:t>
            </a:r>
            <a:r>
              <a:rPr lang="en-US" sz="1125">
                <a:solidFill>
                  <a:srgbClr val="94A3B8"/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lang="zh-CN" sz="1125">
                <a:solidFill>
                  <a:srgbClr val="94A3B8"/>
                </a:solidFill>
                <a:latin typeface="微软雅黑" panose="020B0503020204020204" charset="-122"/>
                <a:ea typeface="微软雅黑" panose="020B0503020204020204" charset="-122"/>
              </a:rPr>
              <a:t>三种构造</a:t>
            </a:r>
            <a:r>
              <a:rPr lang="en-US" sz="1125">
                <a:solidFill>
                  <a:srgbClr val="94A3B8"/>
                </a:solidFill>
                <a:latin typeface="微软雅黑" panose="020B0503020204020204" charset="-122"/>
                <a:ea typeface="微软雅黑" panose="020B0503020204020204" charset="-122"/>
              </a:rPr>
              <a:t> SQL </a:t>
            </a:r>
            <a:r>
              <a:rPr lang="zh-CN" sz="1125">
                <a:solidFill>
                  <a:srgbClr val="94A3B8"/>
                </a:solidFill>
                <a:latin typeface="微软雅黑" panose="020B0503020204020204" charset="-122"/>
                <a:ea typeface="微软雅黑" panose="020B0503020204020204" charset="-122"/>
              </a:rPr>
              <a:t>的方式</a:t>
            </a:r>
            <a:r>
              <a:rPr lang="en-US" sz="1125">
                <a:solidFill>
                  <a:srgbClr val="94A3B8"/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lang="zh-CN" sz="1125">
                <a:solidFill>
                  <a:srgbClr val="94A3B8"/>
                </a:solidFill>
                <a:latin typeface="微软雅黑" panose="020B0503020204020204" charset="-122"/>
                <a:ea typeface="微软雅黑" panose="020B0503020204020204" charset="-122"/>
              </a:rPr>
              <a:t>分页与方言</a:t>
            </a:r>
            <a:r>
              <a:rPr lang="en-US" sz="1125">
                <a:solidFill>
                  <a:srgbClr val="94A3B8"/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lang="zh-CN" sz="1125">
                <a:solidFill>
                  <a:srgbClr val="94A3B8"/>
                </a:solidFill>
                <a:latin typeface="微软雅黑" panose="020B0503020204020204" charset="-122"/>
                <a:ea typeface="微软雅黑" panose="020B0503020204020204" charset="-122"/>
              </a:rPr>
              <a:t>事务三种开启方式与事务钩子</a:t>
            </a:r>
            <a:r>
              <a:rPr lang="en-US" sz="1125">
                <a:solidFill>
                  <a:srgbClr val="94A3B8"/>
                </a:solidFill>
                <a:latin typeface="微软雅黑" panose="020B0503020204020204" charset="-122"/>
                <a:ea typeface="微软雅黑" panose="020B0503020204020204" charset="-122"/>
              </a:rPr>
              <a:t> · f_security + f_jwt · f_ticktock</a:t>
            </a:r>
            <a:endParaRPr lang="en-US" sz="1125">
              <a:solidFill>
                <a:srgbClr val="94A3B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00" name="文本框 799" descr="{&quot;isTemplate&quot;:true,&quot;type&quot;:&quot;text&quot;}"/>
          <p:cNvSpPr txBox="1"/>
          <p:nvPr/>
        </p:nvSpPr>
        <p:spPr>
          <a:xfrm>
            <a:off x="6400800" y="3248025"/>
            <a:ext cx="49530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第</a:t>
            </a:r>
            <a:r>
              <a:rPr lang="en-US" sz="105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 12–14 </a:t>
            </a:r>
            <a:r>
              <a:rPr lang="zh-CN" sz="105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章　·　对应第</a:t>
            </a:r>
            <a:r>
              <a:rPr lang="en-US" sz="105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 76–92 </a:t>
            </a:r>
            <a:r>
              <a:rPr lang="zh-CN" sz="105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页</a:t>
            </a:r>
            <a:endParaRPr lang="zh-CN" sz="105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01" name="圆角矩形 800"/>
          <p:cNvSpPr/>
          <p:nvPr/>
        </p:nvSpPr>
        <p:spPr>
          <a:xfrm>
            <a:off x="6172200" y="3790950"/>
            <a:ext cx="5410200" cy="2495550"/>
          </a:xfrm>
          <a:prstGeom prst="roundRect">
            <a:avLst>
              <a:gd name="adj" fmla="val 4580"/>
            </a:avLst>
          </a:prstGeom>
          <a:solidFill>
            <a:srgbClr val="111C2E"/>
          </a:solidFill>
          <a:ln w="12700">
            <a:solidFill>
              <a:srgbClr val="1E293B"/>
            </a:solidFill>
            <a:prstDash val="solid"/>
          </a:ln>
        </p:spPr>
        <p:txBody>
          <a:bodyPr/>
          <a:p/>
        </p:txBody>
      </p:sp>
      <p:sp>
        <p:nvSpPr>
          <p:cNvPr id="802" name="文本框 801" descr="{&quot;isTemplate&quot;:true,&quot;type&quot;:&quot;text&quot;}"/>
          <p:cNvSpPr txBox="1"/>
          <p:nvPr/>
        </p:nvSpPr>
        <p:spPr>
          <a:xfrm>
            <a:off x="6400800" y="4019550"/>
            <a:ext cx="495300" cy="5048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300" b="1">
                <a:solidFill>
                  <a:srgbClr val="F59E0B"/>
                </a:solidFill>
                <a:latin typeface="JetBrains Mono"/>
                <a:ea typeface="JetBrains Mono"/>
              </a:rPr>
              <a:t>04</a:t>
            </a:r>
            <a:endParaRPr lang="en-US" sz="3300" b="1">
              <a:solidFill>
                <a:srgbClr val="F59E0B"/>
              </a:solidFill>
              <a:latin typeface="JetBrains Mono"/>
              <a:ea typeface="JetBrains Mono"/>
            </a:endParaRPr>
          </a:p>
        </p:txBody>
      </p:sp>
      <p:sp>
        <p:nvSpPr>
          <p:cNvPr id="803" name="文本框 802" descr="{&quot;isTemplate&quot;:true,&quot;type&quot;:&quot;text&quot;}"/>
          <p:cNvSpPr txBox="1"/>
          <p:nvPr/>
        </p:nvSpPr>
        <p:spPr>
          <a:xfrm>
            <a:off x="7029450" y="4019550"/>
            <a:ext cx="1676400" cy="5048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E2E8F0"/>
                </a:solidFill>
                <a:latin typeface="微软雅黑" panose="020B0503020204020204" charset="-122"/>
                <a:ea typeface="微软雅黑" panose="020B0503020204020204" charset="-122"/>
              </a:rPr>
              <a:t>日志、串讲与底座</a:t>
            </a:r>
            <a:endParaRPr lang="zh-CN" sz="1650" b="1">
              <a:solidFill>
                <a:srgbClr val="E2E8F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04" name="文本框 803" descr="{&quot;isTemplate&quot;:true,&quot;type&quot;:&quot;text&quot;}"/>
          <p:cNvSpPr txBox="1"/>
          <p:nvPr/>
        </p:nvSpPr>
        <p:spPr>
          <a:xfrm>
            <a:off x="6400800" y="4657725"/>
            <a:ext cx="4953000" cy="590550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en-US" sz="1125">
                <a:solidFill>
                  <a:srgbClr val="94A3B8"/>
                </a:solidFill>
                <a:latin typeface="微软雅黑" panose="020B0503020204020204" charset="-122"/>
                <a:ea typeface="微软雅黑" panose="020B0503020204020204" charset="-122"/>
              </a:rPr>
              <a:t>f_log </a:t>
            </a:r>
            <a:r>
              <a:rPr lang="zh-CN" sz="1125">
                <a:solidFill>
                  <a:srgbClr val="94A3B8"/>
                </a:solidFill>
                <a:latin typeface="微软雅黑" panose="020B0503020204020204" charset="-122"/>
                <a:ea typeface="微软雅黑" panose="020B0503020204020204" charset="-122"/>
              </a:rPr>
              <a:t>三条纪律与一条日志的旅程</a:t>
            </a:r>
            <a:r>
              <a:rPr lang="en-US" sz="1125">
                <a:solidFill>
                  <a:srgbClr val="94A3B8"/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lang="zh-CN" sz="1125">
                <a:solidFill>
                  <a:srgbClr val="94A3B8"/>
                </a:solidFill>
                <a:latin typeface="微软雅黑" panose="020B0503020204020204" charset="-122"/>
                <a:ea typeface="微软雅黑" panose="020B0503020204020204" charset="-122"/>
              </a:rPr>
              <a:t>一次请求穿过整个框架</a:t>
            </a:r>
            <a:r>
              <a:rPr lang="en-US" sz="1125">
                <a:solidFill>
                  <a:srgbClr val="94A3B8"/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lang="zh-CN" sz="1125">
                <a:solidFill>
                  <a:srgbClr val="94A3B8"/>
                </a:solidFill>
                <a:latin typeface="微软雅黑" panose="020B0503020204020204" charset="-122"/>
                <a:ea typeface="微软雅黑" panose="020B0503020204020204" charset="-122"/>
              </a:rPr>
              <a:t>运行时基础设施九个模块</a:t>
            </a:r>
            <a:r>
              <a:rPr lang="en-US" sz="1125">
                <a:solidFill>
                  <a:srgbClr val="94A3B8"/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lang="zh-CN" sz="1125">
                <a:solidFill>
                  <a:srgbClr val="94A3B8"/>
                </a:solidFill>
                <a:latin typeface="微软雅黑" panose="020B0503020204020204" charset="-122"/>
                <a:ea typeface="微软雅黑" panose="020B0503020204020204" charset="-122"/>
              </a:rPr>
              <a:t>二十二个高频坑与预设</a:t>
            </a:r>
            <a:r>
              <a:rPr lang="en-US" sz="1125">
                <a:solidFill>
                  <a:srgbClr val="94A3B8"/>
                </a:solidFill>
                <a:latin typeface="微软雅黑" panose="020B0503020204020204" charset="-122"/>
                <a:ea typeface="微软雅黑" panose="020B0503020204020204" charset="-122"/>
              </a:rPr>
              <a:t> Q&amp;A · </a:t>
            </a:r>
            <a:r>
              <a:rPr lang="zh-CN" sz="1125">
                <a:solidFill>
                  <a:srgbClr val="94A3B8"/>
                </a:solidFill>
                <a:latin typeface="微软雅黑" panose="020B0503020204020204" charset="-122"/>
                <a:ea typeface="微软雅黑" panose="020B0503020204020204" charset="-122"/>
              </a:rPr>
              <a:t>三张速查表</a:t>
            </a:r>
            <a:endParaRPr lang="zh-CN" sz="1125">
              <a:solidFill>
                <a:srgbClr val="94A3B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05" name="文本框 804" descr="{&quot;isTemplate&quot;:true,&quot;type&quot;:&quot;text&quot;}"/>
          <p:cNvSpPr txBox="1"/>
          <p:nvPr/>
        </p:nvSpPr>
        <p:spPr>
          <a:xfrm>
            <a:off x="6400800" y="5895975"/>
            <a:ext cx="49530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第</a:t>
            </a:r>
            <a:r>
              <a:rPr lang="en-US" sz="105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 15–18 </a:t>
            </a:r>
            <a:r>
              <a:rPr lang="zh-CN" sz="105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章</a:t>
            </a:r>
            <a:r>
              <a:rPr lang="en-US" sz="105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 + </a:t>
            </a:r>
            <a:r>
              <a:rPr lang="zh-CN" sz="105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附录　·　对应第</a:t>
            </a:r>
            <a:r>
              <a:rPr lang="en-US" sz="105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 94–115 </a:t>
            </a:r>
            <a:r>
              <a:rPr lang="zh-CN" sz="105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页</a:t>
            </a:r>
            <a:endParaRPr lang="zh-CN" sz="105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06" name="任意多边形 805"/>
          <p:cNvSpPr/>
          <p:nvPr/>
        </p:nvSpPr>
        <p:spPr>
          <a:xfrm>
            <a:off x="609600" y="6286500"/>
            <a:ext cx="10972800" cy="381000"/>
          </a:xfrm>
          <a:custGeom>
            <a:avLst/>
            <a:gdLst/>
            <a:ahLst/>
            <a:cxnLst/>
            <a:pathLst>
              <a:path w="1152" h="40">
                <a:moveTo>
                  <a:pt x="0" y="0"/>
                </a:moveTo>
                <a:lnTo>
                  <a:pt x="1152" y="0"/>
                </a:lnTo>
                <a:lnTo>
                  <a:pt x="1152" y="1"/>
                </a:lnTo>
                <a:lnTo>
                  <a:pt x="0" y="1"/>
                </a:lnTo>
                <a:close/>
              </a:path>
            </a:pathLst>
          </a:custGeom>
          <a:solidFill>
            <a:srgbClr val="1E293B"/>
          </a:solidFill>
        </p:spPr>
        <p:txBody>
          <a:bodyPr/>
          <a:p/>
        </p:txBody>
      </p:sp>
      <p:sp>
        <p:nvSpPr>
          <p:cNvPr id="807" name="文本框 806" descr="{&quot;isTemplate&quot;:true,&quot;type&quot;:&quot;text&quot;}"/>
          <p:cNvSpPr txBox="1"/>
          <p:nvPr/>
        </p:nvSpPr>
        <p:spPr>
          <a:xfrm>
            <a:off x="609600" y="6410325"/>
            <a:ext cx="2219325" cy="152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fountain · </a:t>
            </a:r>
            <a:r>
              <a:rPr lang="zh-CN" sz="975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一站式服务器应用开发工具库</a:t>
            </a:r>
            <a:r>
              <a:rPr lang="zh-CN" sz="975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　·　</a:t>
            </a:r>
            <a:r>
              <a:rPr lang="en-US" sz="975" u="none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hlinkClick r:id="rIdHlink1"/>
              </a:rPr>
              <a:t>https://pkg.cangjie-lang.cn/org/fountain</a:t>
            </a:r>
            <a:r>
              <a:rPr lang="zh-CN" sz="975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　·　</a:t>
            </a:r>
            <a:r>
              <a:rPr lang="en-US" sz="975" u="none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hlinkClick r:id="rIdHlink2"/>
              </a:rPr>
              <a:t>https://gitcode.com/Cangjie-SIG/fountain</a:t>
            </a:r>
            <a:endParaRPr lang="zh-CN" sz="975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08" name="文本框 807" descr="{&quot;isTemplate&quot;:true,&quot;type&quot;:&quot;text&quot;}"/>
          <p:cNvSpPr txBox="1"/>
          <p:nvPr/>
        </p:nvSpPr>
        <p:spPr>
          <a:xfrm>
            <a:off x="11087100" y="6410325"/>
            <a:ext cx="495300" cy="152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02 / 116</a:t>
            </a:r>
            <a:endParaRPr lang="en-US" sz="975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8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9" name="矩形 108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</p:spPr>
        <p:txBody>
          <a:bodyPr/>
          <a:p/>
        </p:txBody>
      </p:sp>
      <p:sp>
        <p:nvSpPr>
          <p:cNvPr id="1090" name="矩形 1089"/>
          <p:cNvSpPr/>
          <p:nvPr/>
        </p:nvSpPr>
        <p:spPr>
          <a:xfrm>
            <a:off x="609600" y="476250"/>
            <a:ext cx="38100" cy="381000"/>
          </a:xfrm>
          <a:prstGeom prst="rect">
            <a:avLst/>
          </a:prstGeom>
          <a:solidFill>
            <a:srgbClr val="38BDF8"/>
          </a:solidFill>
        </p:spPr>
        <p:txBody>
          <a:bodyPr/>
          <a:p/>
        </p:txBody>
      </p:sp>
      <p:sp>
        <p:nvSpPr>
          <p:cNvPr id="1091" name="文本框 1090" descr="{&quot;isTemplate&quot;:true,&quot;type&quot;:&quot;text&quot;}"/>
          <p:cNvSpPr txBox="1"/>
          <p:nvPr/>
        </p:nvSpPr>
        <p:spPr>
          <a:xfrm>
            <a:off x="819150" y="304800"/>
            <a:ext cx="9848850" cy="2095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975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录制规划</a:t>
            </a:r>
            <a:r>
              <a:rPr lang="en-US" sz="975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lang="zh-CN" sz="975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建议总时长</a:t>
            </a:r>
            <a:r>
              <a:rPr lang="en-US" sz="975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 155–185 </a:t>
            </a:r>
            <a:r>
              <a:rPr lang="zh-CN" sz="975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分钟</a:t>
            </a:r>
            <a:endParaRPr lang="zh-CN" sz="975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92" name="文本框 1091" descr="{&quot;isTemplate&quot;:true,&quot;type&quot;:&quot;text&quot;}"/>
          <p:cNvSpPr txBox="1"/>
          <p:nvPr/>
        </p:nvSpPr>
        <p:spPr>
          <a:xfrm>
            <a:off x="819150" y="514350"/>
            <a:ext cx="9848850" cy="514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2550" b="1">
                <a:solidFill>
                  <a:srgbClr val="E2E8F0"/>
                </a:solidFill>
                <a:latin typeface="微软雅黑" panose="020B0503020204020204" charset="-122"/>
                <a:ea typeface="微软雅黑" panose="020B0503020204020204" charset="-122"/>
              </a:rPr>
              <a:t>课程地图</a:t>
            </a:r>
            <a:endParaRPr lang="zh-CN" sz="2550" b="1">
              <a:solidFill>
                <a:srgbClr val="E2E8F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93" name="文本框 1092" descr="{&quot;isTemplate&quot;:true,&quot;type&quot;:&quot;text&quot;}"/>
          <p:cNvSpPr txBox="1"/>
          <p:nvPr/>
        </p:nvSpPr>
        <p:spPr>
          <a:xfrm>
            <a:off x="10839450" y="590550"/>
            <a:ext cx="742950" cy="152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可按章节裁剪</a:t>
            </a:r>
            <a:endParaRPr lang="zh-CN" sz="975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94" name="文本框 1093" descr="{&quot;isTemplate&quot;:true,&quot;type&quot;:&quot;text&quot;}"/>
          <p:cNvSpPr txBox="1"/>
          <p:nvPr/>
        </p:nvSpPr>
        <p:spPr>
          <a:xfrm>
            <a:off x="609600" y="1143000"/>
            <a:ext cx="10972800" cy="2762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125">
                <a:solidFill>
                  <a:srgbClr val="94A3B8"/>
                </a:solidFill>
                <a:latin typeface="微软雅黑" panose="020B0503020204020204" charset="-122"/>
                <a:ea typeface="微软雅黑" panose="020B0503020204020204" charset="-122"/>
              </a:rPr>
              <a:t>核心链路是第</a:t>
            </a:r>
            <a:r>
              <a:rPr lang="en-US" sz="1125">
                <a:solidFill>
                  <a:srgbClr val="94A3B8"/>
                </a:solidFill>
                <a:latin typeface="微软雅黑" panose="020B0503020204020204" charset="-122"/>
                <a:ea typeface="微软雅黑" panose="020B0503020204020204" charset="-122"/>
              </a:rPr>
              <a:t> 1</a:t>
            </a:r>
            <a:r>
              <a:rPr lang="zh-CN" sz="1125">
                <a:solidFill>
                  <a:srgbClr val="94A3B8"/>
                </a:solidFill>
                <a:latin typeface="微软雅黑" panose="020B0503020204020204" charset="-122"/>
                <a:ea typeface="微软雅黑" panose="020B0503020204020204" charset="-122"/>
              </a:rPr>
              <a:t>、</a:t>
            </a:r>
            <a:r>
              <a:rPr lang="en-US" sz="1125">
                <a:solidFill>
                  <a:srgbClr val="94A3B8"/>
                </a:solidFill>
                <a:latin typeface="微软雅黑" panose="020B0503020204020204" charset="-122"/>
                <a:ea typeface="微软雅黑" panose="020B0503020204020204" charset="-122"/>
              </a:rPr>
              <a:t>3</a:t>
            </a:r>
            <a:r>
              <a:rPr lang="zh-CN" sz="1125">
                <a:solidFill>
                  <a:srgbClr val="94A3B8"/>
                </a:solidFill>
                <a:latin typeface="微软雅黑" panose="020B0503020204020204" charset="-122"/>
                <a:ea typeface="微软雅黑" panose="020B0503020204020204" charset="-122"/>
              </a:rPr>
              <a:t>、</a:t>
            </a:r>
            <a:r>
              <a:rPr lang="en-US" sz="1125">
                <a:solidFill>
                  <a:srgbClr val="94A3B8"/>
                </a:solidFill>
                <a:latin typeface="微软雅黑" panose="020B0503020204020204" charset="-122"/>
                <a:ea typeface="微软雅黑" panose="020B0503020204020204" charset="-122"/>
              </a:rPr>
              <a:t>4</a:t>
            </a:r>
            <a:r>
              <a:rPr lang="zh-CN" sz="1125">
                <a:solidFill>
                  <a:srgbClr val="94A3B8"/>
                </a:solidFill>
                <a:latin typeface="微软雅黑" panose="020B0503020204020204" charset="-122"/>
                <a:ea typeface="微软雅黑" panose="020B0503020204020204" charset="-122"/>
              </a:rPr>
              <a:t>、</a:t>
            </a:r>
            <a:r>
              <a:rPr lang="en-US" sz="1125">
                <a:solidFill>
                  <a:srgbClr val="94A3B8"/>
                </a:solidFill>
                <a:latin typeface="微软雅黑" panose="020B0503020204020204" charset="-122"/>
                <a:ea typeface="微软雅黑" panose="020B0503020204020204" charset="-122"/>
              </a:rPr>
              <a:t>6</a:t>
            </a:r>
            <a:r>
              <a:rPr lang="zh-CN" sz="1125">
                <a:solidFill>
                  <a:srgbClr val="94A3B8"/>
                </a:solidFill>
                <a:latin typeface="微软雅黑" panose="020B0503020204020204" charset="-122"/>
                <a:ea typeface="微软雅黑" panose="020B0503020204020204" charset="-122"/>
              </a:rPr>
              <a:t>、</a:t>
            </a:r>
            <a:r>
              <a:rPr lang="en-US" sz="1125">
                <a:solidFill>
                  <a:srgbClr val="94A3B8"/>
                </a:solidFill>
                <a:latin typeface="微软雅黑" panose="020B0503020204020204" charset="-122"/>
                <a:ea typeface="微软雅黑" panose="020B0503020204020204" charset="-122"/>
              </a:rPr>
              <a:t>8</a:t>
            </a:r>
            <a:r>
              <a:rPr lang="zh-CN" sz="1125">
                <a:solidFill>
                  <a:srgbClr val="94A3B8"/>
                </a:solidFill>
                <a:latin typeface="微软雅黑" panose="020B0503020204020204" charset="-122"/>
                <a:ea typeface="微软雅黑" panose="020B0503020204020204" charset="-122"/>
              </a:rPr>
              <a:t>、</a:t>
            </a:r>
            <a:r>
              <a:rPr lang="en-US" sz="1125">
                <a:solidFill>
                  <a:srgbClr val="94A3B8"/>
                </a:solidFill>
                <a:latin typeface="微软雅黑" panose="020B0503020204020204" charset="-122"/>
                <a:ea typeface="微软雅黑" panose="020B0503020204020204" charset="-122"/>
              </a:rPr>
              <a:t>9</a:t>
            </a:r>
            <a:r>
              <a:rPr lang="zh-CN" sz="1125">
                <a:solidFill>
                  <a:srgbClr val="94A3B8"/>
                </a:solidFill>
                <a:latin typeface="微软雅黑" panose="020B0503020204020204" charset="-122"/>
                <a:ea typeface="微软雅黑" panose="020B0503020204020204" charset="-122"/>
              </a:rPr>
              <a:t>、</a:t>
            </a:r>
            <a:r>
              <a:rPr lang="en-US" sz="1125">
                <a:solidFill>
                  <a:srgbClr val="94A3B8"/>
                </a:solidFill>
                <a:latin typeface="微软雅黑" panose="020B0503020204020204" charset="-122"/>
                <a:ea typeface="微软雅黑" panose="020B0503020204020204" charset="-122"/>
              </a:rPr>
              <a:t>10</a:t>
            </a:r>
            <a:r>
              <a:rPr lang="zh-CN" sz="1125">
                <a:solidFill>
                  <a:srgbClr val="94A3B8"/>
                </a:solidFill>
                <a:latin typeface="微软雅黑" panose="020B0503020204020204" charset="-122"/>
                <a:ea typeface="微软雅黑" panose="020B0503020204020204" charset="-122"/>
              </a:rPr>
              <a:t>、</a:t>
            </a:r>
            <a:r>
              <a:rPr lang="en-US" sz="1125">
                <a:solidFill>
                  <a:srgbClr val="94A3B8"/>
                </a:solidFill>
                <a:latin typeface="微软雅黑" panose="020B0503020204020204" charset="-122"/>
                <a:ea typeface="微软雅黑" panose="020B0503020204020204" charset="-122"/>
              </a:rPr>
              <a:t>11</a:t>
            </a:r>
            <a:r>
              <a:rPr lang="zh-CN" sz="1125">
                <a:solidFill>
                  <a:srgbClr val="94A3B8"/>
                </a:solidFill>
                <a:latin typeface="微软雅黑" panose="020B0503020204020204" charset="-122"/>
                <a:ea typeface="微软雅黑" panose="020B0503020204020204" charset="-122"/>
              </a:rPr>
              <a:t>、</a:t>
            </a:r>
            <a:r>
              <a:rPr lang="en-US" sz="1125">
                <a:solidFill>
                  <a:srgbClr val="94A3B8"/>
                </a:solidFill>
                <a:latin typeface="微软雅黑" panose="020B0503020204020204" charset="-122"/>
                <a:ea typeface="微软雅黑" panose="020B0503020204020204" charset="-122"/>
              </a:rPr>
              <a:t>15</a:t>
            </a:r>
            <a:r>
              <a:rPr lang="zh-CN" sz="1125">
                <a:solidFill>
                  <a:srgbClr val="94A3B8"/>
                </a:solidFill>
                <a:latin typeface="微软雅黑" panose="020B0503020204020204" charset="-122"/>
                <a:ea typeface="微软雅黑" panose="020B0503020204020204" charset="-122"/>
              </a:rPr>
              <a:t>、</a:t>
            </a:r>
            <a:r>
              <a:rPr lang="en-US" sz="1125">
                <a:solidFill>
                  <a:srgbClr val="94A3B8"/>
                </a:solidFill>
                <a:latin typeface="微软雅黑" panose="020B0503020204020204" charset="-122"/>
                <a:ea typeface="微软雅黑" panose="020B0503020204020204" charset="-122"/>
              </a:rPr>
              <a:t>16 </a:t>
            </a:r>
            <a:r>
              <a:rPr lang="zh-CN" sz="1125">
                <a:solidFill>
                  <a:srgbClr val="94A3B8"/>
                </a:solidFill>
                <a:latin typeface="微软雅黑" panose="020B0503020204020204" charset="-122"/>
                <a:ea typeface="微软雅黑" panose="020B0503020204020204" charset="-122"/>
              </a:rPr>
              <a:t>章；第</a:t>
            </a:r>
            <a:r>
              <a:rPr lang="en-US" sz="1125">
                <a:solidFill>
                  <a:srgbClr val="94A3B8"/>
                </a:solidFill>
                <a:latin typeface="微软雅黑" panose="020B0503020204020204" charset="-122"/>
                <a:ea typeface="微软雅黑" panose="020B0503020204020204" charset="-122"/>
              </a:rPr>
              <a:t> 17 </a:t>
            </a:r>
            <a:r>
              <a:rPr lang="zh-CN" sz="1125">
                <a:solidFill>
                  <a:srgbClr val="94A3B8"/>
                </a:solidFill>
                <a:latin typeface="微软雅黑" panose="020B0503020204020204" charset="-122"/>
                <a:ea typeface="微软雅黑" panose="020B0503020204020204" charset="-122"/>
              </a:rPr>
              <a:t>章可按受众深浅整章跳过，日志一章不要跳。</a:t>
            </a:r>
            <a:endParaRPr lang="zh-CN" sz="1125">
              <a:solidFill>
                <a:srgbClr val="94A3B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graphicFrame>
        <p:nvGraphicFramePr>
          <p:cNvPr id="1095" name="表格 1094"/>
          <p:cNvGraphicFramePr/>
          <p:nvPr/>
        </p:nvGraphicFramePr>
        <p:xfrm>
          <a:off x="609600" y="1571625"/>
          <a:ext cx="5410200" cy="4714875"/>
        </p:xfrm>
        <a:graphic>
          <a:graphicData uri="http://schemas.openxmlformats.org/drawingml/2006/table">
            <a:tbl>
              <a:tblPr/>
              <a:tblGrid>
                <a:gridCol w="1231847"/>
                <a:gridCol w="3172119"/>
                <a:gridCol w="1006234"/>
              </a:tblGrid>
              <a:tr h="443570"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22D3EE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章</a:t>
                      </a:r>
                      <a:endParaRPr sz="975" b="1">
                        <a:solidFill>
                          <a:srgbClr val="22D3EE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6233A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22D3EE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主题</a:t>
                      </a:r>
                      <a:endParaRPr sz="975" b="1">
                        <a:solidFill>
                          <a:srgbClr val="22D3EE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6233A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22D3EE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时长</a:t>
                      </a:r>
                      <a:endParaRPr sz="975" b="1">
                        <a:solidFill>
                          <a:srgbClr val="22D3EE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6233A"/>
                    </a:solidFill>
                  </a:tcPr>
                </a:tc>
              </a:tr>
              <a:tr h="474589"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E2E8F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第 0 章</a:t>
                      </a:r>
                      <a:endParaRPr sz="1050">
                        <a:solidFill>
                          <a:srgbClr val="E2E8F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lang="zh-CN" sz="1050">
                          <a:solidFill>
                            <a:srgbClr val="E2E8F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使用</a:t>
                      </a:r>
                      <a:r>
                        <a:rPr lang="en-US" altLang="zh-CN" sz="1050">
                          <a:solidFill>
                            <a:srgbClr val="E2E8F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fountain</a:t>
                      </a:r>
                      <a:r>
                        <a:rPr lang="zh-CN" altLang="en-US" sz="1050">
                          <a:solidFill>
                            <a:srgbClr val="E2E8F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前的准备工作</a:t>
                      </a:r>
                      <a:endParaRPr lang="zh-CN" altLang="en-US" sz="1050">
                        <a:solidFill>
                          <a:srgbClr val="E2E8F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E2E8F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5 分</a:t>
                      </a:r>
                      <a:endParaRPr sz="1050">
                        <a:solidFill>
                          <a:srgbClr val="E2E8F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4589"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E2E8F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第 1 章</a:t>
                      </a:r>
                      <a:endParaRPr sz="1050">
                        <a:solidFill>
                          <a:srgbClr val="E2E8F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E2E8F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为什么使用 fountain</a:t>
                      </a:r>
                      <a:endParaRPr sz="1050">
                        <a:solidFill>
                          <a:srgbClr val="E2E8F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E2E8F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20 分</a:t>
                      </a:r>
                      <a:endParaRPr sz="1050">
                        <a:solidFill>
                          <a:srgbClr val="E2E8F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4589"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E2E8F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第 2 章</a:t>
                      </a:r>
                      <a:endParaRPr sz="1050">
                        <a:solidFill>
                          <a:srgbClr val="E2E8F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E2E8F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上台准备：环境</a:t>
                      </a:r>
                      <a:endParaRPr sz="1050">
                        <a:solidFill>
                          <a:srgbClr val="E2E8F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E2E8F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5 分</a:t>
                      </a:r>
                      <a:endParaRPr sz="1050">
                        <a:solidFill>
                          <a:srgbClr val="E2E8F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4589"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E2E8F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第 3 章</a:t>
                      </a:r>
                      <a:endParaRPr sz="1050">
                        <a:solidFill>
                          <a:srgbClr val="E2E8F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E2E8F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fboot 命令行</a:t>
                      </a:r>
                      <a:endParaRPr sz="1050">
                        <a:solidFill>
                          <a:srgbClr val="E2E8F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E2E8F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25 分</a:t>
                      </a:r>
                      <a:endParaRPr sz="1050">
                        <a:solidFill>
                          <a:srgbClr val="E2E8F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4589"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E2E8F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第 4 章</a:t>
                      </a:r>
                      <a:endParaRPr sz="1050">
                        <a:solidFill>
                          <a:srgbClr val="E2E8F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E2E8F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配置 f_config</a:t>
                      </a:r>
                      <a:endParaRPr sz="1050">
                        <a:solidFill>
                          <a:srgbClr val="E2E8F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E2E8F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25 分</a:t>
                      </a:r>
                      <a:endParaRPr sz="1050">
                        <a:solidFill>
                          <a:srgbClr val="E2E8F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4589"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E2E8F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第 5 章</a:t>
                      </a:r>
                      <a:endParaRPr sz="1050">
                        <a:solidFill>
                          <a:srgbClr val="E2E8F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E2E8F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现场跑通 fdemo</a:t>
                      </a:r>
                      <a:endParaRPr sz="1050">
                        <a:solidFill>
                          <a:srgbClr val="E2E8F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E2E8F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15 分</a:t>
                      </a:r>
                      <a:endParaRPr sz="1050">
                        <a:solidFill>
                          <a:srgbClr val="E2E8F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4589"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E2E8F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第 6 章</a:t>
                      </a:r>
                      <a:endParaRPr sz="1050">
                        <a:solidFill>
                          <a:srgbClr val="E2E8F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E2E8F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IOC f_bean</a:t>
                      </a:r>
                      <a:endParaRPr sz="1050">
                        <a:solidFill>
                          <a:srgbClr val="E2E8F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E2E8F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15 分</a:t>
                      </a:r>
                      <a:endParaRPr sz="1050">
                        <a:solidFill>
                          <a:srgbClr val="E2E8F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4589"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E2E8F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第 7 章</a:t>
                      </a:r>
                      <a:endParaRPr sz="1050">
                        <a:solidFill>
                          <a:srgbClr val="E2E8F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E2E8F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AOP f_aspect</a:t>
                      </a:r>
                      <a:endParaRPr sz="1050">
                        <a:solidFill>
                          <a:srgbClr val="E2E8F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E2E8F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12 分</a:t>
                      </a:r>
                      <a:endParaRPr sz="1050">
                        <a:solidFill>
                          <a:srgbClr val="E2E8F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4589"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E2E8F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第 8 章</a:t>
                      </a:r>
                      <a:endParaRPr sz="1050">
                        <a:solidFill>
                          <a:srgbClr val="E2E8F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E2E8F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数据 f_data</a:t>
                      </a:r>
                      <a:endParaRPr sz="1050">
                        <a:solidFill>
                          <a:srgbClr val="E2E8F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E2E8F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20 分</a:t>
                      </a:r>
                      <a:endParaRPr sz="1050">
                        <a:solidFill>
                          <a:srgbClr val="E2E8F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</a:tbl>
          </a:graphicData>
        </a:graphic>
      </p:graphicFrame>
      <p:graphicFrame>
        <p:nvGraphicFramePr>
          <p:cNvPr id="1096" name="表格 1095"/>
          <p:cNvGraphicFramePr/>
          <p:nvPr/>
        </p:nvGraphicFramePr>
        <p:xfrm>
          <a:off x="6172200" y="1571625"/>
          <a:ext cx="5410200" cy="4714875"/>
        </p:xfrm>
        <a:graphic>
          <a:graphicData uri="http://schemas.openxmlformats.org/drawingml/2006/table">
            <a:tbl>
              <a:tblPr/>
              <a:tblGrid>
                <a:gridCol w="1072446"/>
                <a:gridCol w="2648565"/>
                <a:gridCol w="1689188"/>
              </a:tblGrid>
              <a:tr h="403005"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22D3EE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章</a:t>
                      </a:r>
                      <a:endParaRPr sz="975" b="1">
                        <a:solidFill>
                          <a:srgbClr val="22D3EE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6233A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22D3EE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主题</a:t>
                      </a:r>
                      <a:endParaRPr sz="975" b="1">
                        <a:solidFill>
                          <a:srgbClr val="22D3EE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6233A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22D3EE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时长</a:t>
                      </a:r>
                      <a:endParaRPr sz="975" b="1">
                        <a:solidFill>
                          <a:srgbClr val="22D3EE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6233A"/>
                    </a:solidFill>
                  </a:tcPr>
                </a:tc>
              </a:tr>
              <a:tr h="431187"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E2E8F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第 9 章</a:t>
                      </a:r>
                      <a:endParaRPr sz="1050">
                        <a:solidFill>
                          <a:srgbClr val="E2E8F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E2E8F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工具箱 f_util</a:t>
                      </a:r>
                      <a:endParaRPr sz="1050">
                        <a:solidFill>
                          <a:srgbClr val="E2E8F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E2E8F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18 分</a:t>
                      </a:r>
                      <a:endParaRPr sz="1050">
                        <a:solidFill>
                          <a:srgbClr val="E2E8F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31187"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E2E8F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第 10 章</a:t>
                      </a:r>
                      <a:endParaRPr sz="1050">
                        <a:solidFill>
                          <a:srgbClr val="E2E8F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E2E8F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MVC f_mvc</a:t>
                      </a:r>
                      <a:endParaRPr sz="1050">
                        <a:solidFill>
                          <a:srgbClr val="E2E8F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E2E8F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20 分</a:t>
                      </a:r>
                      <a:endParaRPr sz="1050">
                        <a:solidFill>
                          <a:srgbClr val="E2E8F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31187"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E2E8F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第 11 章</a:t>
                      </a:r>
                      <a:endParaRPr sz="1050">
                        <a:solidFill>
                          <a:srgbClr val="E2E8F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E2E8F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HTTP 数据格式 f_http</a:t>
                      </a:r>
                      <a:endParaRPr sz="1050">
                        <a:solidFill>
                          <a:srgbClr val="E2E8F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E2E8F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10 分</a:t>
                      </a:r>
                      <a:endParaRPr sz="1050">
                        <a:solidFill>
                          <a:srgbClr val="E2E8F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31187"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E2E8F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第 12 章</a:t>
                      </a:r>
                      <a:endParaRPr sz="1050">
                        <a:solidFill>
                          <a:srgbClr val="E2E8F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E2E8F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ORM f_orm</a:t>
                      </a:r>
                      <a:endParaRPr sz="1050">
                        <a:solidFill>
                          <a:srgbClr val="E2E8F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 b="1">
                          <a:solidFill>
                            <a:srgbClr val="F59E0B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30 分</a:t>
                      </a:r>
                      <a:endParaRPr sz="1050" b="1">
                        <a:solidFill>
                          <a:srgbClr val="F59E0B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31187"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E2E8F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第 13 章</a:t>
                      </a:r>
                      <a:endParaRPr sz="1050">
                        <a:solidFill>
                          <a:srgbClr val="E2E8F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E2E8F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安全 f_security + f_jwt</a:t>
                      </a:r>
                      <a:endParaRPr sz="1050">
                        <a:solidFill>
                          <a:srgbClr val="E2E8F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E2E8F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15 分</a:t>
                      </a:r>
                      <a:endParaRPr sz="1050">
                        <a:solidFill>
                          <a:srgbClr val="E2E8F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31187"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E2E8F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第 14 章</a:t>
                      </a:r>
                      <a:endParaRPr sz="1050">
                        <a:solidFill>
                          <a:srgbClr val="E2E8F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E2E8F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CRON f_ticktock</a:t>
                      </a:r>
                      <a:endParaRPr sz="1050">
                        <a:solidFill>
                          <a:srgbClr val="E2E8F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E2E8F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6 分</a:t>
                      </a:r>
                      <a:endParaRPr sz="1050">
                        <a:solidFill>
                          <a:srgbClr val="E2E8F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31187"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E2E8F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第 15 章</a:t>
                      </a:r>
                      <a:endParaRPr sz="1050">
                        <a:solidFill>
                          <a:srgbClr val="E2E8F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E2E8F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日志 f_log</a:t>
                      </a:r>
                      <a:endParaRPr sz="1050">
                        <a:solidFill>
                          <a:srgbClr val="E2E8F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E2E8F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20 分</a:t>
                      </a:r>
                      <a:endParaRPr sz="1050">
                        <a:solidFill>
                          <a:srgbClr val="E2E8F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31187"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E2E8F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第 16 章</a:t>
                      </a:r>
                      <a:endParaRPr sz="1050">
                        <a:solidFill>
                          <a:srgbClr val="E2E8F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E2E8F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串讲：一次请求全链路</a:t>
                      </a:r>
                      <a:endParaRPr sz="1050">
                        <a:solidFill>
                          <a:srgbClr val="E2E8F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E2E8F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10 分</a:t>
                      </a:r>
                      <a:endParaRPr sz="1050">
                        <a:solidFill>
                          <a:srgbClr val="E2E8F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31187"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E2E8F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第 17 章</a:t>
                      </a:r>
                      <a:endParaRPr sz="1050">
                        <a:solidFill>
                          <a:srgbClr val="E2E8F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E2E8F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运行时基础设施</a:t>
                      </a:r>
                      <a:endParaRPr sz="1050">
                        <a:solidFill>
                          <a:srgbClr val="E2E8F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64748B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20 分 · 可跳过</a:t>
                      </a:r>
                      <a:endParaRPr sz="1050">
                        <a:solidFill>
                          <a:srgbClr val="64748B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31187"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E2E8F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第 18 章</a:t>
                      </a:r>
                      <a:endParaRPr sz="1050">
                        <a:solidFill>
                          <a:srgbClr val="E2E8F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E2E8F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常见坑与 Q&amp;A</a:t>
                      </a:r>
                      <a:endParaRPr sz="1050">
                        <a:solidFill>
                          <a:srgbClr val="E2E8F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E2E8F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10 分</a:t>
                      </a:r>
                      <a:endParaRPr sz="1050">
                        <a:solidFill>
                          <a:srgbClr val="E2E8F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1097" name="任意多边形 1096"/>
          <p:cNvSpPr/>
          <p:nvPr/>
        </p:nvSpPr>
        <p:spPr>
          <a:xfrm>
            <a:off x="609600" y="6286500"/>
            <a:ext cx="10972800" cy="381000"/>
          </a:xfrm>
          <a:custGeom>
            <a:avLst/>
            <a:gdLst/>
            <a:ahLst/>
            <a:cxnLst/>
            <a:pathLst>
              <a:path w="1152" h="40">
                <a:moveTo>
                  <a:pt x="0" y="0"/>
                </a:moveTo>
                <a:lnTo>
                  <a:pt x="1152" y="0"/>
                </a:lnTo>
                <a:lnTo>
                  <a:pt x="1152" y="1"/>
                </a:lnTo>
                <a:lnTo>
                  <a:pt x="0" y="1"/>
                </a:lnTo>
                <a:close/>
              </a:path>
            </a:pathLst>
          </a:custGeom>
          <a:solidFill>
            <a:srgbClr val="1E293B"/>
          </a:solidFill>
        </p:spPr>
        <p:txBody>
          <a:bodyPr/>
          <a:p/>
        </p:txBody>
      </p:sp>
      <p:sp>
        <p:nvSpPr>
          <p:cNvPr id="1098" name="文本框 1097" descr="{&quot;isTemplate&quot;:true,&quot;type&quot;:&quot;text&quot;}"/>
          <p:cNvSpPr txBox="1"/>
          <p:nvPr/>
        </p:nvSpPr>
        <p:spPr>
          <a:xfrm>
            <a:off x="609600" y="6410325"/>
            <a:ext cx="2219325" cy="152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fountain · </a:t>
            </a:r>
            <a:r>
              <a:rPr lang="zh-CN" sz="975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一站式服务器应用开发工具库</a:t>
            </a:r>
            <a:r>
              <a:rPr lang="zh-CN" sz="975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　·　</a:t>
            </a:r>
            <a:r>
              <a:rPr lang="en-US" sz="975" u="none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hlinkClick r:id="rIdHlink1"/>
              </a:rPr>
              <a:t>https://pkg.cangjie-lang.cn/org/fountain</a:t>
            </a:r>
            <a:r>
              <a:rPr lang="zh-CN" sz="975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　·　</a:t>
            </a:r>
            <a:r>
              <a:rPr lang="en-US" sz="975" u="none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hlinkClick r:id="rIdHlink2"/>
              </a:rPr>
              <a:t>https://gitcode.com/Cangjie-SIG/fountain</a:t>
            </a:r>
            <a:endParaRPr lang="zh-CN" sz="975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99" name="文本框 1098" descr="{&quot;isTemplate&quot;:true,&quot;type&quot;:&quot;text&quot;}"/>
          <p:cNvSpPr txBox="1"/>
          <p:nvPr/>
        </p:nvSpPr>
        <p:spPr>
          <a:xfrm>
            <a:off x="11087100" y="6410325"/>
            <a:ext cx="495300" cy="152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03 / 116</a:t>
            </a:r>
            <a:endParaRPr lang="en-US" sz="975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34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5" name="矩形 133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</p:spPr>
        <p:txBody>
          <a:bodyPr/>
          <a:p/>
        </p:txBody>
      </p:sp>
      <p:sp>
        <p:nvSpPr>
          <p:cNvPr id="1336" name="矩形 1335"/>
          <p:cNvSpPr/>
          <p:nvPr/>
        </p:nvSpPr>
        <p:spPr>
          <a:xfrm>
            <a:off x="609600" y="476250"/>
            <a:ext cx="38100" cy="381000"/>
          </a:xfrm>
          <a:prstGeom prst="rect">
            <a:avLst/>
          </a:prstGeom>
          <a:solidFill>
            <a:srgbClr val="38BDF8"/>
          </a:solidFill>
        </p:spPr>
        <p:txBody>
          <a:bodyPr/>
          <a:p/>
        </p:txBody>
      </p:sp>
      <p:sp>
        <p:nvSpPr>
          <p:cNvPr id="1337" name="文本框 1336" descr="{&quot;isTemplate&quot;:true,&quot;type&quot;:&quot;text&quot;}"/>
          <p:cNvSpPr txBox="1"/>
          <p:nvPr/>
        </p:nvSpPr>
        <p:spPr>
          <a:xfrm>
            <a:off x="819150" y="304800"/>
            <a:ext cx="9725025" cy="2095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975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第</a:t>
            </a:r>
            <a:r>
              <a:rPr lang="en-US" sz="975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 0 </a:t>
            </a:r>
            <a:r>
              <a:rPr lang="zh-CN" sz="975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章</a:t>
            </a:r>
            <a:r>
              <a:rPr lang="en-US" sz="975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lang="zh-CN" sz="975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使用说明</a:t>
            </a:r>
            <a:endParaRPr lang="zh-CN" sz="975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38" name="文本框 1337" descr="{&quot;isTemplate&quot;:true,&quot;type&quot;:&quot;text&quot;}"/>
          <p:cNvSpPr txBox="1"/>
          <p:nvPr/>
        </p:nvSpPr>
        <p:spPr>
          <a:xfrm>
            <a:off x="819150" y="514350"/>
            <a:ext cx="9725025" cy="514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2550" b="1">
                <a:solidFill>
                  <a:srgbClr val="E2E8F0"/>
                </a:solidFill>
                <a:latin typeface="微软雅黑" panose="020B0503020204020204" charset="-122"/>
                <a:ea typeface="微软雅黑" panose="020B0503020204020204" charset="-122"/>
              </a:rPr>
              <a:t>准备工作</a:t>
            </a:r>
            <a:endParaRPr lang="zh-CN" sz="2550" b="1">
              <a:solidFill>
                <a:srgbClr val="E2E8F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39" name="文本框 1338" descr="{&quot;isTemplate&quot;:true,&quot;type&quot;:&quot;text&quot;}"/>
          <p:cNvSpPr txBox="1"/>
          <p:nvPr/>
        </p:nvSpPr>
        <p:spPr>
          <a:xfrm>
            <a:off x="10715625" y="590550"/>
            <a:ext cx="866775" cy="152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每一节格式统一</a:t>
            </a:r>
            <a:endParaRPr lang="zh-CN" sz="975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41" name="圆角矩形 1340"/>
          <p:cNvSpPr/>
          <p:nvPr/>
        </p:nvSpPr>
        <p:spPr>
          <a:xfrm>
            <a:off x="609600" y="1955800"/>
            <a:ext cx="10972800" cy="2247900"/>
          </a:xfrm>
          <a:prstGeom prst="roundRect">
            <a:avLst>
              <a:gd name="adj" fmla="val 5085"/>
            </a:avLst>
          </a:prstGeom>
          <a:solidFill>
            <a:srgbClr val="111C2E"/>
          </a:solidFill>
          <a:ln w="12700">
            <a:solidFill>
              <a:srgbClr val="1E293B"/>
            </a:solidFill>
            <a:prstDash val="solid"/>
          </a:ln>
        </p:spPr>
        <p:txBody>
          <a:bodyPr/>
          <a:p/>
        </p:txBody>
      </p:sp>
      <p:sp>
        <p:nvSpPr>
          <p:cNvPr id="1342" name="文本框 1341" descr="{&quot;isTemplate&quot;:true,&quot;type&quot;:&quot;text&quot;}"/>
          <p:cNvSpPr txBox="1"/>
          <p:nvPr/>
        </p:nvSpPr>
        <p:spPr>
          <a:xfrm>
            <a:off x="838200" y="2184400"/>
            <a:ext cx="10515600" cy="2095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E2E8F0"/>
                </a:solidFill>
                <a:latin typeface="微软雅黑" panose="020B0503020204020204" charset="-122"/>
                <a:ea typeface="微软雅黑" panose="020B0503020204020204" charset="-122"/>
              </a:rPr>
              <a:t>录制前检查清单</a:t>
            </a:r>
            <a:endParaRPr lang="zh-CN" sz="1350" b="1">
              <a:solidFill>
                <a:srgbClr val="E2E8F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43" name="文本框 1342" descr="{&quot;isTemplate&quot;:true,&quot;type&quot;:&quot;text&quot;}"/>
          <p:cNvSpPr txBox="1"/>
          <p:nvPr/>
        </p:nvSpPr>
        <p:spPr>
          <a:xfrm>
            <a:off x="838200" y="2546350"/>
            <a:ext cx="10515600" cy="2952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en-US" sz="1125">
                <a:solidFill>
                  <a:srgbClr val="94A3B8"/>
                </a:solidFill>
                <a:latin typeface="JetBrains Mono"/>
                <a:ea typeface="JetBrains Mono"/>
              </a:rPr>
              <a:t>cjc -v</a:t>
            </a:r>
            <a:r>
              <a:rPr lang="zh-CN" sz="1125">
                <a:solidFill>
                  <a:srgbClr val="94A3B8"/>
                </a:solidFill>
                <a:latin typeface="JetBrains Mono"/>
                <a:ea typeface="JetBrains Mono"/>
              </a:rPr>
              <a:t>　·　</a:t>
            </a:r>
            <a:r>
              <a:rPr lang="en-US" sz="1125">
                <a:solidFill>
                  <a:srgbClr val="94A3B8"/>
                </a:solidFill>
                <a:latin typeface="JetBrains Mono"/>
                <a:ea typeface="JetBrains Mono"/>
              </a:rPr>
              <a:t>echo $CANGJIE_STDX_DYNAMIC_PATH</a:t>
            </a:r>
            <a:endParaRPr lang="en-US" sz="1125">
              <a:solidFill>
                <a:srgbClr val="94A3B8"/>
              </a:solidFill>
              <a:latin typeface="JetBrains Mono"/>
              <a:ea typeface="JetBrains Mono"/>
            </a:endParaRPr>
          </a:p>
        </p:txBody>
      </p:sp>
      <p:sp>
        <p:nvSpPr>
          <p:cNvPr id="1344" name="文本框 1343" descr="{&quot;isTemplate&quot;:true,&quot;type&quot;:&quot;text&quot;}"/>
          <p:cNvSpPr txBox="1"/>
          <p:nvPr/>
        </p:nvSpPr>
        <p:spPr>
          <a:xfrm>
            <a:off x="838200" y="2917825"/>
            <a:ext cx="10515600" cy="2952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en-US" sz="1125">
                <a:solidFill>
                  <a:srgbClr val="94A3B8"/>
                </a:solidFill>
                <a:latin typeface="JetBrains Mono"/>
                <a:ea typeface="JetBrains Mono"/>
              </a:rPr>
              <a:t>cjpm install "fountain::fboot"="</a:t>
            </a:r>
            <a:r>
              <a:rPr lang="zh-CN" sz="1125">
                <a:solidFill>
                  <a:srgbClr val="94A3B8"/>
                </a:solidFill>
                <a:latin typeface="JetBrains Mono"/>
                <a:ea typeface="JetBrains Mono"/>
              </a:rPr>
              <a:t>【版本号】</a:t>
            </a:r>
            <a:r>
              <a:rPr lang="en-US" sz="1125">
                <a:solidFill>
                  <a:srgbClr val="94A3B8"/>
                </a:solidFill>
                <a:latin typeface="JetBrains Mono"/>
                <a:ea typeface="JetBrains Mono"/>
              </a:rPr>
              <a:t>" --root ~/.cjpm</a:t>
            </a:r>
            <a:endParaRPr lang="en-US" sz="1125">
              <a:solidFill>
                <a:srgbClr val="94A3B8"/>
              </a:solidFill>
              <a:latin typeface="JetBrains Mono"/>
              <a:ea typeface="JetBrains Mono"/>
            </a:endParaRPr>
          </a:p>
        </p:txBody>
      </p:sp>
      <p:sp>
        <p:nvSpPr>
          <p:cNvPr id="1345" name="文本框 1344" descr="{&quot;isTemplate&quot;:true,&quot;type&quot;:&quot;text&quot;}"/>
          <p:cNvSpPr txBox="1"/>
          <p:nvPr/>
        </p:nvSpPr>
        <p:spPr>
          <a:xfrm>
            <a:off x="838200" y="3289300"/>
            <a:ext cx="10515600" cy="2952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en-US" sz="1125">
                <a:solidFill>
                  <a:srgbClr val="94A3B8"/>
                </a:solidFill>
                <a:latin typeface="JetBrains Mono"/>
                <a:ea typeface="JetBrains Mono"/>
              </a:rPr>
              <a:t>export PATH=$PATH:~/.cjpm/bin</a:t>
            </a:r>
            <a:r>
              <a:rPr lang="zh-CN" sz="1125">
                <a:solidFill>
                  <a:srgbClr val="94A3B8"/>
                </a:solidFill>
                <a:latin typeface="JetBrains Mono"/>
                <a:ea typeface="JetBrains Mono"/>
              </a:rPr>
              <a:t>　·　</a:t>
            </a:r>
            <a:r>
              <a:rPr lang="en-US" sz="1125">
                <a:solidFill>
                  <a:srgbClr val="94A3B8"/>
                </a:solidFill>
                <a:latin typeface="JetBrains Mono"/>
                <a:ea typeface="JetBrains Mono"/>
              </a:rPr>
              <a:t>export LD_LIBRARY_PATH=...:~/.cjpm/libs/fboot</a:t>
            </a:r>
            <a:endParaRPr lang="en-US" sz="1125">
              <a:solidFill>
                <a:srgbClr val="94A3B8"/>
              </a:solidFill>
              <a:latin typeface="JetBrains Mono"/>
              <a:ea typeface="JetBrains Mono"/>
            </a:endParaRPr>
          </a:p>
        </p:txBody>
      </p:sp>
      <p:sp>
        <p:nvSpPr>
          <p:cNvPr id="1346" name="矩形 1345"/>
          <p:cNvSpPr/>
          <p:nvPr/>
        </p:nvSpPr>
        <p:spPr>
          <a:xfrm>
            <a:off x="838200" y="5895975"/>
            <a:ext cx="76200" cy="76200"/>
          </a:xfrm>
          <a:prstGeom prst="rect">
            <a:avLst/>
          </a:prstGeom>
          <a:solidFill>
            <a:srgbClr val="F59E0B"/>
          </a:solidFill>
        </p:spPr>
        <p:txBody>
          <a:bodyPr/>
          <a:p/>
        </p:txBody>
      </p:sp>
      <p:sp>
        <p:nvSpPr>
          <p:cNvPr id="1347" name="文本框 1346" descr="{&quot;isTemplate&quot;:true,&quot;type&quot;:&quot;text&quot;}"/>
          <p:cNvSpPr txBox="1"/>
          <p:nvPr/>
        </p:nvSpPr>
        <p:spPr>
          <a:xfrm>
            <a:off x="831850" y="3717925"/>
            <a:ext cx="6381750" cy="2571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050">
                <a:solidFill>
                  <a:srgbClr val="94A3B8"/>
                </a:solidFill>
                <a:latin typeface="微软雅黑" panose="020B0503020204020204" charset="-122"/>
                <a:ea typeface="微软雅黑" panose="020B0503020204020204" charset="-122"/>
              </a:rPr>
              <a:t>报找不到动态链接库，</a:t>
            </a:r>
            <a:r>
              <a:rPr lang="en-US" sz="1050">
                <a:solidFill>
                  <a:srgbClr val="94A3B8"/>
                </a:solidFill>
                <a:latin typeface="微软雅黑" panose="020B0503020204020204" charset="-122"/>
                <a:ea typeface="微软雅黑" panose="020B0503020204020204" charset="-122"/>
              </a:rPr>
              <a:t>99% </a:t>
            </a:r>
            <a:r>
              <a:rPr lang="zh-CN" sz="1050">
                <a:solidFill>
                  <a:srgbClr val="94A3B8"/>
                </a:solidFill>
                <a:latin typeface="微软雅黑" panose="020B0503020204020204" charset="-122"/>
                <a:ea typeface="微软雅黑" panose="020B0503020204020204" charset="-122"/>
              </a:rPr>
              <a:t>是</a:t>
            </a:r>
            <a:r>
              <a:rPr lang="en-US" sz="1050">
                <a:solidFill>
                  <a:srgbClr val="94A3B8"/>
                </a:solidFill>
                <a:latin typeface="微软雅黑" panose="020B0503020204020204" charset="-122"/>
                <a:ea typeface="微软雅黑" panose="020B0503020204020204" charset="-122"/>
              </a:rPr>
              <a:t> LD_LIBRARY_PATH </a:t>
            </a:r>
            <a:r>
              <a:rPr lang="zh-CN" sz="1050">
                <a:solidFill>
                  <a:srgbClr val="94A3B8"/>
                </a:solidFill>
                <a:latin typeface="微软雅黑" panose="020B0503020204020204" charset="-122"/>
                <a:ea typeface="微软雅黑" panose="020B0503020204020204" charset="-122"/>
              </a:rPr>
              <a:t>没带上</a:t>
            </a:r>
            <a:r>
              <a:rPr lang="en-US" sz="1050">
                <a:solidFill>
                  <a:srgbClr val="94A3B8"/>
                </a:solidFill>
                <a:latin typeface="微软雅黑" panose="020B0503020204020204" charset="-122"/>
                <a:ea typeface="微软雅黑" panose="020B0503020204020204" charset="-122"/>
              </a:rPr>
              <a:t> ~/.cjpm/libs/fboot</a:t>
            </a:r>
            <a:r>
              <a:rPr lang="zh-CN" sz="1050">
                <a:solidFill>
                  <a:srgbClr val="94A3B8"/>
                </a:solidFill>
                <a:latin typeface="微软雅黑" panose="020B0503020204020204" charset="-122"/>
                <a:ea typeface="微软雅黑" panose="020B0503020204020204" charset="-122"/>
              </a:rPr>
              <a:t>（适合现场故意演一次再修）</a:t>
            </a:r>
            <a:endParaRPr lang="zh-CN" sz="1050">
              <a:solidFill>
                <a:srgbClr val="94A3B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48" name="任意多边形 1347"/>
          <p:cNvSpPr/>
          <p:nvPr/>
        </p:nvSpPr>
        <p:spPr>
          <a:xfrm>
            <a:off x="609600" y="6286500"/>
            <a:ext cx="10972800" cy="381000"/>
          </a:xfrm>
          <a:custGeom>
            <a:avLst/>
            <a:gdLst/>
            <a:ahLst/>
            <a:cxnLst/>
            <a:pathLst>
              <a:path w="1152" h="40">
                <a:moveTo>
                  <a:pt x="0" y="0"/>
                </a:moveTo>
                <a:lnTo>
                  <a:pt x="1152" y="0"/>
                </a:lnTo>
                <a:lnTo>
                  <a:pt x="1152" y="1"/>
                </a:lnTo>
                <a:lnTo>
                  <a:pt x="0" y="1"/>
                </a:lnTo>
                <a:close/>
              </a:path>
            </a:pathLst>
          </a:custGeom>
          <a:solidFill>
            <a:srgbClr val="1E293B"/>
          </a:solidFill>
        </p:spPr>
        <p:txBody>
          <a:bodyPr/>
          <a:p/>
        </p:txBody>
      </p:sp>
      <p:sp>
        <p:nvSpPr>
          <p:cNvPr id="1349" name="文本框 1348" descr="{&quot;isTemplate&quot;:true,&quot;type&quot;:&quot;text&quot;}"/>
          <p:cNvSpPr txBox="1"/>
          <p:nvPr/>
        </p:nvSpPr>
        <p:spPr>
          <a:xfrm>
            <a:off x="609600" y="6410325"/>
            <a:ext cx="2219325" cy="152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fountain · </a:t>
            </a:r>
            <a:r>
              <a:rPr lang="zh-CN" sz="975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一站式服务器应用开发工具库</a:t>
            </a:r>
            <a:r>
              <a:rPr lang="zh-CN" sz="975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　·　</a:t>
            </a:r>
            <a:r>
              <a:rPr lang="en-US" sz="975" u="none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hlinkClick r:id="rIdHlink1"/>
              </a:rPr>
              <a:t>https://pkg.cangjie-lang.cn/org/fountain</a:t>
            </a:r>
            <a:r>
              <a:rPr lang="zh-CN" sz="975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　·　</a:t>
            </a:r>
            <a:r>
              <a:rPr lang="en-US" sz="975" u="none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hlinkClick r:id="rIdHlink2"/>
              </a:rPr>
              <a:t>https://gitcode.com/Cangjie-SIG/fountain</a:t>
            </a:r>
            <a:endParaRPr lang="zh-CN" sz="975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50" name="文本框 1349" descr="{&quot;isTemplate&quot;:true,&quot;type&quot;:&quot;text&quot;}"/>
          <p:cNvSpPr txBox="1"/>
          <p:nvPr/>
        </p:nvSpPr>
        <p:spPr>
          <a:xfrm>
            <a:off x="11087100" y="6410325"/>
            <a:ext cx="495300" cy="152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04 / 116</a:t>
            </a:r>
            <a:endParaRPr lang="en-US" sz="975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66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1" name="矩形 166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</p:spPr>
        <p:txBody>
          <a:bodyPr/>
          <a:p/>
        </p:txBody>
      </p:sp>
      <p:sp>
        <p:nvSpPr>
          <p:cNvPr id="1662" name="文本框 1661" descr="{&quot;isTemplate&quot;:true,&quot;type&quot;:&quot;text&quot;}"/>
          <p:cNvSpPr txBox="1"/>
          <p:nvPr/>
        </p:nvSpPr>
        <p:spPr>
          <a:xfrm>
            <a:off x="8239125" y="1143000"/>
            <a:ext cx="3571875" cy="36576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000" b="1">
                <a:solidFill>
                  <a:srgbClr val="16233A"/>
                </a:solidFill>
                <a:latin typeface="JetBrains Mono"/>
                <a:ea typeface="JetBrains Mono"/>
              </a:rPr>
              <a:t>01</a:t>
            </a:r>
            <a:endParaRPr lang="en-US" sz="24000" b="1">
              <a:solidFill>
                <a:srgbClr val="16233A"/>
              </a:solidFill>
              <a:latin typeface="JetBrains Mono"/>
              <a:ea typeface="JetBrains Mono"/>
            </a:endParaRPr>
          </a:p>
        </p:txBody>
      </p:sp>
      <p:sp>
        <p:nvSpPr>
          <p:cNvPr id="1663" name="矩形 166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gradFill>
            <a:gsLst>
              <a:gs pos="0">
                <a:srgbClr val="38BDF8"/>
              </a:gs>
              <a:gs pos="100000">
                <a:srgbClr val="22D3EE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1664" name="文本框 1663" descr="{&quot;isTemplate&quot;:true,&quot;type&quot;:&quot;text&quot;}"/>
          <p:cNvSpPr txBox="1"/>
          <p:nvPr/>
        </p:nvSpPr>
        <p:spPr>
          <a:xfrm>
            <a:off x="1143000" y="2076450"/>
            <a:ext cx="1019175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spc="450">
                <a:solidFill>
                  <a:srgbClr val="38BDF8"/>
                </a:solidFill>
                <a:latin typeface="微软雅黑" panose="020B0503020204020204" charset="-122"/>
                <a:ea typeface="微软雅黑" panose="020B0503020204020204" charset="-122"/>
              </a:rPr>
              <a:t>PART 01</a:t>
            </a:r>
            <a:endParaRPr lang="en-US" sz="1200" spc="450">
              <a:solidFill>
                <a:srgbClr val="38BDF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65" name="文本框 1664" descr="{&quot;isTemplate&quot;:true,&quot;type&quot;:&quot;text&quot;}"/>
          <p:cNvSpPr txBox="1"/>
          <p:nvPr/>
        </p:nvSpPr>
        <p:spPr>
          <a:xfrm>
            <a:off x="1143000" y="2419350"/>
            <a:ext cx="2667000" cy="7429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15000"/>
              </a:lnSpc>
            </a:pPr>
            <a:r>
              <a:rPr lang="zh-CN" sz="42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总览与启动</a:t>
            </a:r>
            <a:endParaRPr lang="zh-CN" sz="42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66" name="矩形 1665"/>
          <p:cNvSpPr/>
          <p:nvPr/>
        </p:nvSpPr>
        <p:spPr>
          <a:xfrm>
            <a:off x="1143000" y="3276600"/>
            <a:ext cx="1524000" cy="57150"/>
          </a:xfrm>
          <a:prstGeom prst="rect">
            <a:avLst/>
          </a:prstGeom>
          <a:gradFill>
            <a:gsLst>
              <a:gs pos="0">
                <a:srgbClr val="38BDF8"/>
              </a:gs>
              <a:gs pos="100000">
                <a:srgbClr val="22D3EE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1667" name="文本框 1666" descr="{&quot;isTemplate&quot;:true,&quot;type&quot;:&quot;text&quot;}"/>
          <p:cNvSpPr txBox="1"/>
          <p:nvPr/>
        </p:nvSpPr>
        <p:spPr>
          <a:xfrm>
            <a:off x="1143000" y="3733800"/>
            <a:ext cx="4600575" cy="4000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90000"/>
              </a:lnSpc>
            </a:pPr>
            <a:r>
              <a:rPr lang="zh-CN" sz="1350">
                <a:solidFill>
                  <a:srgbClr val="94A3B8"/>
                </a:solidFill>
                <a:latin typeface="微软雅黑" panose="020B0503020204020204" charset="-122"/>
                <a:ea typeface="微软雅黑" panose="020B0503020204020204" charset="-122"/>
              </a:rPr>
              <a:t>为什么用</a:t>
            </a:r>
            <a:r>
              <a:rPr lang="en-US" sz="1350">
                <a:solidFill>
                  <a:srgbClr val="94A3B8"/>
                </a:solidFill>
                <a:latin typeface="微软雅黑" panose="020B0503020204020204" charset="-122"/>
                <a:ea typeface="微软雅黑" panose="020B0503020204020204" charset="-122"/>
              </a:rPr>
              <a:t> fountain</a:t>
            </a:r>
            <a:r>
              <a:rPr lang="zh-CN" sz="1350">
                <a:solidFill>
                  <a:srgbClr val="94A3B8"/>
                </a:solidFill>
                <a:latin typeface="微软雅黑" panose="020B0503020204020204" charset="-122"/>
                <a:ea typeface="微软雅黑" panose="020B0503020204020204" charset="-122"/>
              </a:rPr>
              <a:t>　·　三个反直觉的设计决策　·　环境准备</a:t>
            </a:r>
            <a:endParaRPr lang="zh-CN" sz="1350">
              <a:solidFill>
                <a:srgbClr val="94A3B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68" name="文本框 1667" descr="{&quot;isTemplate&quot;:true,&quot;type&quot;:&quot;text&quot;}"/>
          <p:cNvSpPr txBox="1"/>
          <p:nvPr/>
        </p:nvSpPr>
        <p:spPr>
          <a:xfrm>
            <a:off x="1143000" y="4076700"/>
            <a:ext cx="4448175" cy="4000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90000"/>
              </a:lnSpc>
            </a:pPr>
            <a:r>
              <a:rPr lang="en-US" sz="1350">
                <a:solidFill>
                  <a:srgbClr val="94A3B8"/>
                </a:solidFill>
                <a:latin typeface="微软雅黑" panose="020B0503020204020204" charset="-122"/>
                <a:ea typeface="微软雅黑" panose="020B0503020204020204" charset="-122"/>
              </a:rPr>
              <a:t>fboot </a:t>
            </a:r>
            <a:r>
              <a:rPr lang="zh-CN" sz="1350">
                <a:solidFill>
                  <a:srgbClr val="94A3B8"/>
                </a:solidFill>
                <a:latin typeface="微软雅黑" panose="020B0503020204020204" charset="-122"/>
                <a:ea typeface="微软雅黑" panose="020B0503020204020204" charset="-122"/>
              </a:rPr>
              <a:t>整套命令行　·　</a:t>
            </a:r>
            <a:r>
              <a:rPr lang="en-US" sz="1350">
                <a:solidFill>
                  <a:srgbClr val="94A3B8"/>
                </a:solidFill>
                <a:latin typeface="微软雅黑" panose="020B0503020204020204" charset="-122"/>
                <a:ea typeface="微软雅黑" panose="020B0503020204020204" charset="-122"/>
              </a:rPr>
              <a:t>f_config </a:t>
            </a:r>
            <a:r>
              <a:rPr lang="zh-CN" sz="1350">
                <a:solidFill>
                  <a:srgbClr val="94A3B8"/>
                </a:solidFill>
                <a:latin typeface="微软雅黑" panose="020B0503020204020204" charset="-122"/>
                <a:ea typeface="微软雅黑" panose="020B0503020204020204" charset="-122"/>
              </a:rPr>
              <a:t>四级配置　·　跑通</a:t>
            </a:r>
            <a:r>
              <a:rPr lang="en-US" sz="1350">
                <a:solidFill>
                  <a:srgbClr val="94A3B8"/>
                </a:solidFill>
                <a:latin typeface="微软雅黑" panose="020B0503020204020204" charset="-122"/>
                <a:ea typeface="微软雅黑" panose="020B0503020204020204" charset="-122"/>
              </a:rPr>
              <a:t> fdemo</a:t>
            </a:r>
            <a:endParaRPr lang="en-US" sz="1350">
              <a:solidFill>
                <a:srgbClr val="94A3B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69" name="文本框 1668" descr="{&quot;isTemplate&quot;:true,&quot;type&quot;:&quot;text&quot;}"/>
          <p:cNvSpPr txBox="1"/>
          <p:nvPr/>
        </p:nvSpPr>
        <p:spPr>
          <a:xfrm>
            <a:off x="1143000" y="4876800"/>
            <a:ext cx="581025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第</a:t>
            </a:r>
            <a:r>
              <a:rPr lang="en-US" sz="105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 1–5 </a:t>
            </a:r>
            <a:r>
              <a:rPr lang="zh-CN" sz="105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章</a:t>
            </a:r>
            <a:endParaRPr lang="zh-CN" sz="105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70" name="矩形 1669"/>
          <p:cNvSpPr/>
          <p:nvPr/>
        </p:nvSpPr>
        <p:spPr>
          <a:xfrm>
            <a:off x="1952625" y="4886325"/>
            <a:ext cx="9525" cy="152400"/>
          </a:xfrm>
          <a:prstGeom prst="rect">
            <a:avLst/>
          </a:prstGeom>
          <a:solidFill>
            <a:srgbClr val="1E293B"/>
          </a:solidFill>
        </p:spPr>
        <p:txBody>
          <a:bodyPr/>
          <a:p/>
        </p:txBody>
      </p:sp>
      <p:sp>
        <p:nvSpPr>
          <p:cNvPr id="1671" name="文本框 1670" descr="{&quot;isTemplate&quot;:true,&quot;type&quot;:&quot;text&quot;}"/>
          <p:cNvSpPr txBox="1"/>
          <p:nvPr/>
        </p:nvSpPr>
        <p:spPr>
          <a:xfrm>
            <a:off x="2190750" y="4876800"/>
            <a:ext cx="1000125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对应第</a:t>
            </a:r>
            <a:r>
              <a:rPr lang="en-US" sz="105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 06–35 </a:t>
            </a:r>
            <a:r>
              <a:rPr lang="zh-CN" sz="105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页</a:t>
            </a:r>
            <a:endParaRPr lang="zh-CN" sz="105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72" name="矩形 1671"/>
          <p:cNvSpPr/>
          <p:nvPr/>
        </p:nvSpPr>
        <p:spPr>
          <a:xfrm>
            <a:off x="3419475" y="4886325"/>
            <a:ext cx="9525" cy="152400"/>
          </a:xfrm>
          <a:prstGeom prst="rect">
            <a:avLst/>
          </a:prstGeom>
          <a:solidFill>
            <a:srgbClr val="1E293B"/>
          </a:solidFill>
        </p:spPr>
        <p:txBody>
          <a:bodyPr/>
          <a:p/>
        </p:txBody>
      </p:sp>
      <p:sp>
        <p:nvSpPr>
          <p:cNvPr id="1673" name="文本框 1672" descr="{&quot;isTemplate&quot;:true,&quot;type&quot;:&quot;text&quot;}"/>
          <p:cNvSpPr txBox="1"/>
          <p:nvPr/>
        </p:nvSpPr>
        <p:spPr>
          <a:xfrm>
            <a:off x="3657600" y="4876800"/>
            <a:ext cx="771525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建议</a:t>
            </a:r>
            <a:r>
              <a:rPr lang="en-US" sz="105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 90 </a:t>
            </a:r>
            <a:r>
              <a:rPr lang="zh-CN" sz="105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分钟</a:t>
            </a:r>
            <a:endParaRPr lang="zh-CN" sz="105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001" name="文本框 9001" descr="{&quot;isTemplate&quot;:true,&quot;type&quot;:&quot;text&quot;}"/>
          <p:cNvSpPr txBox="1"/>
          <p:nvPr/>
        </p:nvSpPr>
        <p:spPr>
          <a:xfrm>
            <a:off x="609600" y="6410325"/>
            <a:ext cx="2219325" cy="152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fountain · </a:t>
            </a:r>
            <a:r>
              <a:rPr lang="zh-CN" sz="975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一站式服务器应用开发工具库</a:t>
            </a:r>
            <a:r>
              <a:rPr lang="zh-CN" sz="975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　·　</a:t>
            </a:r>
            <a:r>
              <a:rPr lang="en-US" sz="975" u="none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hlinkClick r:id="rIdHlink1"/>
              </a:rPr>
              <a:t>https://pkg.cangjie-lang.cn/org/fountain</a:t>
            </a:r>
            <a:r>
              <a:rPr lang="zh-CN" sz="975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　·　</a:t>
            </a:r>
            <a:r>
              <a:rPr lang="en-US" sz="975" u="none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hlinkClick r:id="rIdHlink2"/>
              </a:rPr>
              <a:t>https://gitcode.com/Cangjie-SIG/fountain</a:t>
            </a:r>
            <a:endParaRPr lang="zh-CN" sz="975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93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6" name="矩形 1935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</p:spPr>
        <p:txBody>
          <a:bodyPr/>
          <a:p/>
        </p:txBody>
      </p:sp>
      <p:sp>
        <p:nvSpPr>
          <p:cNvPr id="1937" name="矩形 1936"/>
          <p:cNvSpPr/>
          <p:nvPr/>
        </p:nvSpPr>
        <p:spPr>
          <a:xfrm>
            <a:off x="609600" y="476250"/>
            <a:ext cx="38100" cy="381000"/>
          </a:xfrm>
          <a:prstGeom prst="rect">
            <a:avLst/>
          </a:prstGeom>
          <a:solidFill>
            <a:srgbClr val="38BDF8"/>
          </a:solidFill>
        </p:spPr>
        <p:txBody>
          <a:bodyPr/>
          <a:p/>
        </p:txBody>
      </p:sp>
      <p:sp>
        <p:nvSpPr>
          <p:cNvPr id="1938" name="文本框 1937" descr="{&quot;isTemplate&quot;:true,&quot;type&quot;:&quot;text&quot;}"/>
          <p:cNvSpPr txBox="1"/>
          <p:nvPr/>
        </p:nvSpPr>
        <p:spPr>
          <a:xfrm>
            <a:off x="819150" y="304800"/>
            <a:ext cx="10763250" cy="2095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975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第</a:t>
            </a:r>
            <a:r>
              <a:rPr lang="en-US" sz="975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 1 </a:t>
            </a:r>
            <a:r>
              <a:rPr lang="zh-CN" sz="975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章</a:t>
            </a:r>
            <a:r>
              <a:rPr lang="en-US" sz="975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lang="zh-CN" sz="975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为什么使用</a:t>
            </a:r>
            <a:r>
              <a:rPr lang="en-US" sz="975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 fountain · 1.1</a:t>
            </a:r>
            <a:endParaRPr lang="en-US" sz="975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39" name="文本框 1938" descr="{&quot;isTemplate&quot;:true,&quot;type&quot;:&quot;text&quot;}"/>
          <p:cNvSpPr txBox="1"/>
          <p:nvPr/>
        </p:nvSpPr>
        <p:spPr>
          <a:xfrm>
            <a:off x="819150" y="514350"/>
            <a:ext cx="10763250" cy="514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2550" b="1">
                <a:solidFill>
                  <a:srgbClr val="E2E8F0"/>
                </a:solidFill>
                <a:latin typeface="微软雅黑" panose="020B0503020204020204" charset="-122"/>
                <a:ea typeface="微软雅黑" panose="020B0503020204020204" charset="-122"/>
              </a:rPr>
              <a:t>写一个服务端应用，我们到底在重复什么</a:t>
            </a:r>
            <a:endParaRPr lang="zh-CN" sz="2550" b="1">
              <a:solidFill>
                <a:srgbClr val="E2E8F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40" name="圆角矩形 1939"/>
          <p:cNvSpPr/>
          <p:nvPr/>
        </p:nvSpPr>
        <p:spPr>
          <a:xfrm>
            <a:off x="609600" y="1143000"/>
            <a:ext cx="2857500" cy="5143500"/>
          </a:xfrm>
          <a:prstGeom prst="roundRect">
            <a:avLst>
              <a:gd name="adj" fmla="val 4000"/>
            </a:avLst>
          </a:prstGeom>
          <a:solidFill>
            <a:srgbClr val="111C2E"/>
          </a:solidFill>
          <a:ln w="12700">
            <a:solidFill>
              <a:srgbClr val="1E293B"/>
            </a:solidFill>
            <a:prstDash val="solid"/>
          </a:ln>
        </p:spPr>
        <p:txBody>
          <a:bodyPr/>
          <a:p/>
        </p:txBody>
      </p:sp>
      <p:sp>
        <p:nvSpPr>
          <p:cNvPr id="1941" name="文本框 1940" descr="{&quot;isTemplate&quot;:true,&quot;type&quot;:&quot;text&quot;}"/>
          <p:cNvSpPr txBox="1"/>
          <p:nvPr/>
        </p:nvSpPr>
        <p:spPr>
          <a:xfrm>
            <a:off x="876300" y="1409700"/>
            <a:ext cx="23241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非业务复杂度</a:t>
            </a:r>
            <a:endParaRPr lang="zh-CN" sz="105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42" name="文本框 1941" descr="{&quot;isTemplate&quot;:true,&quot;type&quot;:&quot;text&quot;}"/>
          <p:cNvSpPr txBox="1"/>
          <p:nvPr/>
        </p:nvSpPr>
        <p:spPr>
          <a:xfrm>
            <a:off x="876300" y="1647825"/>
            <a:ext cx="2324100" cy="11049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7200" b="1">
                <a:solidFill>
                  <a:srgbClr val="F59E0B"/>
                </a:solidFill>
                <a:latin typeface="JetBrains Mono"/>
                <a:ea typeface="JetBrains Mono"/>
              </a:rPr>
              <a:t>5</a:t>
            </a:r>
            <a:endParaRPr lang="en-US" sz="7200" b="1">
              <a:solidFill>
                <a:srgbClr val="F59E0B"/>
              </a:solidFill>
              <a:latin typeface="JetBrains Mono"/>
              <a:ea typeface="JetBrains Mono"/>
            </a:endParaRPr>
          </a:p>
        </p:txBody>
      </p:sp>
      <p:sp>
        <p:nvSpPr>
          <p:cNvPr id="1943" name="文本框 1942" descr="{&quot;isTemplate&quot;:true,&quot;type&quot;:&quot;text&quot;}"/>
          <p:cNvSpPr txBox="1"/>
          <p:nvPr/>
        </p:nvSpPr>
        <p:spPr>
          <a:xfrm>
            <a:off x="876300" y="2867025"/>
            <a:ext cx="2324100" cy="2095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E2E8F0"/>
                </a:solidFill>
                <a:latin typeface="微软雅黑" panose="020B0503020204020204" charset="-122"/>
                <a:ea typeface="微软雅黑" panose="020B0503020204020204" charset="-122"/>
              </a:rPr>
              <a:t>类重复劳动</a:t>
            </a:r>
            <a:endParaRPr lang="zh-CN" sz="1350" b="1">
              <a:solidFill>
                <a:srgbClr val="E2E8F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44" name="矩形 1943"/>
          <p:cNvSpPr/>
          <p:nvPr/>
        </p:nvSpPr>
        <p:spPr>
          <a:xfrm>
            <a:off x="876300" y="3248025"/>
            <a:ext cx="381000" cy="28575"/>
          </a:xfrm>
          <a:prstGeom prst="rect">
            <a:avLst/>
          </a:prstGeom>
          <a:solidFill>
            <a:srgbClr val="38BDF8"/>
          </a:solidFill>
        </p:spPr>
        <p:txBody>
          <a:bodyPr/>
          <a:p/>
        </p:txBody>
      </p:sp>
      <p:sp>
        <p:nvSpPr>
          <p:cNvPr id="1945" name="文本框 1944" descr="{&quot;isTemplate&quot;:true,&quot;type&quot;:&quot;text&quot;}"/>
          <p:cNvSpPr txBox="1"/>
          <p:nvPr/>
        </p:nvSpPr>
        <p:spPr>
          <a:xfrm>
            <a:off x="876300" y="3448050"/>
            <a:ext cx="2324100" cy="619125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80000"/>
              </a:lnSpc>
            </a:pPr>
            <a:r>
              <a:rPr lang="zh-CN" sz="1125">
                <a:solidFill>
                  <a:srgbClr val="94A3B8"/>
                </a:solidFill>
                <a:latin typeface="微软雅黑" panose="020B0503020204020204" charset="-122"/>
                <a:ea typeface="微软雅黑" panose="020B0503020204020204" charset="-122"/>
              </a:rPr>
              <a:t>它们与业务无关，却在每个项目里被重写一遍。</a:t>
            </a:r>
            <a:endParaRPr lang="zh-CN" sz="1125">
              <a:solidFill>
                <a:srgbClr val="94A3B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46" name="文本框 1945" descr="{&quot;isTemplate&quot;:true,&quot;type&quot;:&quot;text&quot;}"/>
          <p:cNvSpPr txBox="1"/>
          <p:nvPr/>
        </p:nvSpPr>
        <p:spPr>
          <a:xfrm>
            <a:off x="876300" y="5400675"/>
            <a:ext cx="2324100" cy="619125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80000"/>
              </a:lnSpc>
            </a:pPr>
            <a:r>
              <a:rPr lang="en-US" sz="1125">
                <a:solidFill>
                  <a:srgbClr val="94A3B8"/>
                </a:solidFill>
                <a:latin typeface="微软雅黑" panose="020B0503020204020204" charset="-122"/>
                <a:ea typeface="微软雅黑" panose="020B0503020204020204" charset="-122"/>
              </a:rPr>
              <a:t>fountain </a:t>
            </a:r>
            <a:r>
              <a:rPr lang="zh-CN" sz="1125">
                <a:solidFill>
                  <a:srgbClr val="94A3B8"/>
                </a:solidFill>
                <a:latin typeface="微软雅黑" panose="020B0503020204020204" charset="-122"/>
                <a:ea typeface="微软雅黑" panose="020B0503020204020204" charset="-122"/>
              </a:rPr>
              <a:t>的目标：把这些全部收进工具库。</a:t>
            </a:r>
            <a:endParaRPr lang="zh-CN" sz="1125">
              <a:solidFill>
                <a:srgbClr val="94A3B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47" name="圆角矩形 1946"/>
          <p:cNvSpPr/>
          <p:nvPr/>
        </p:nvSpPr>
        <p:spPr>
          <a:xfrm>
            <a:off x="3695700" y="1143000"/>
            <a:ext cx="7886700" cy="952500"/>
          </a:xfrm>
          <a:prstGeom prst="roundRect">
            <a:avLst>
              <a:gd name="adj" fmla="val 10000"/>
            </a:avLst>
          </a:prstGeom>
          <a:solidFill>
            <a:srgbClr val="111C2E"/>
          </a:solidFill>
        </p:spPr>
        <p:txBody>
          <a:bodyPr/>
          <a:p/>
        </p:txBody>
      </p:sp>
      <p:sp>
        <p:nvSpPr>
          <p:cNvPr id="1948" name="文本框 1947" descr="{&quot;isTemplate&quot;:true,&quot;type&quot;:&quot;text&quot;}"/>
          <p:cNvSpPr txBox="1"/>
          <p:nvPr/>
        </p:nvSpPr>
        <p:spPr>
          <a:xfrm>
            <a:off x="3848100" y="1295400"/>
            <a:ext cx="304800" cy="2571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38BDF8"/>
                </a:solidFill>
                <a:latin typeface="JetBrains Mono"/>
                <a:ea typeface="JetBrains Mono"/>
              </a:rPr>
              <a:t>1</a:t>
            </a:r>
            <a:endParaRPr lang="en-US" sz="1650" b="1">
              <a:solidFill>
                <a:srgbClr val="38BDF8"/>
              </a:solidFill>
              <a:latin typeface="JetBrains Mono"/>
              <a:ea typeface="JetBrains Mono"/>
            </a:endParaRPr>
          </a:p>
        </p:txBody>
      </p:sp>
      <p:sp>
        <p:nvSpPr>
          <p:cNvPr id="1949" name="文本框 1948" descr="{&quot;isTemplate&quot;:true,&quot;type&quot;:&quot;text&quot;}"/>
          <p:cNvSpPr txBox="1"/>
          <p:nvPr/>
        </p:nvSpPr>
        <p:spPr>
          <a:xfrm>
            <a:off x="4305300" y="1295400"/>
            <a:ext cx="7124700" cy="2000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E2E8F0"/>
                </a:solidFill>
                <a:latin typeface="微软雅黑" panose="020B0503020204020204" charset="-122"/>
                <a:ea typeface="微软雅黑" panose="020B0503020204020204" charset="-122"/>
              </a:rPr>
              <a:t>对象创建与依赖装配</a:t>
            </a:r>
            <a:endParaRPr lang="zh-CN" sz="1275" b="1">
              <a:solidFill>
                <a:srgbClr val="E2E8F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50" name="文本框 1949" descr="{&quot;isTemplate&quot;:true,&quot;type&quot;:&quot;text&quot;}"/>
          <p:cNvSpPr txBox="1"/>
          <p:nvPr/>
        </p:nvSpPr>
        <p:spPr>
          <a:xfrm>
            <a:off x="4305300" y="1533525"/>
            <a:ext cx="7124700" cy="2762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125">
                <a:solidFill>
                  <a:srgbClr val="94A3B8"/>
                </a:solidFill>
                <a:latin typeface="微软雅黑" panose="020B0503020204020204" charset="-122"/>
                <a:ea typeface="微软雅黑" panose="020B0503020204020204" charset="-122"/>
              </a:rPr>
              <a:t>手搓工厂、手搓单例、手搓</a:t>
            </a:r>
            <a:r>
              <a:rPr lang="en-US" sz="1125">
                <a:solidFill>
                  <a:srgbClr val="94A3B8"/>
                </a:solidFill>
                <a:latin typeface="微软雅黑" panose="020B0503020204020204" charset="-122"/>
                <a:ea typeface="微软雅黑" panose="020B0503020204020204" charset="-122"/>
              </a:rPr>
              <a:t> getInstance()</a:t>
            </a:r>
            <a:endParaRPr lang="en-US" sz="1125">
              <a:solidFill>
                <a:srgbClr val="94A3B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51" name="圆角矩形 1950"/>
          <p:cNvSpPr/>
          <p:nvPr/>
        </p:nvSpPr>
        <p:spPr>
          <a:xfrm>
            <a:off x="3695700" y="2190750"/>
            <a:ext cx="7886700" cy="952500"/>
          </a:xfrm>
          <a:prstGeom prst="roundRect">
            <a:avLst>
              <a:gd name="adj" fmla="val 10000"/>
            </a:avLst>
          </a:prstGeom>
          <a:solidFill>
            <a:srgbClr val="111C2E"/>
          </a:solidFill>
        </p:spPr>
        <p:txBody>
          <a:bodyPr/>
          <a:p/>
        </p:txBody>
      </p:sp>
      <p:sp>
        <p:nvSpPr>
          <p:cNvPr id="1952" name="文本框 1951" descr="{&quot;isTemplate&quot;:true,&quot;type&quot;:&quot;text&quot;}"/>
          <p:cNvSpPr txBox="1"/>
          <p:nvPr/>
        </p:nvSpPr>
        <p:spPr>
          <a:xfrm>
            <a:off x="3848100" y="2343150"/>
            <a:ext cx="304800" cy="2571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38BDF8"/>
                </a:solidFill>
                <a:latin typeface="JetBrains Mono"/>
                <a:ea typeface="JetBrains Mono"/>
              </a:rPr>
              <a:t>2</a:t>
            </a:r>
            <a:endParaRPr lang="en-US" sz="1650" b="1">
              <a:solidFill>
                <a:srgbClr val="38BDF8"/>
              </a:solidFill>
              <a:latin typeface="JetBrains Mono"/>
              <a:ea typeface="JetBrains Mono"/>
            </a:endParaRPr>
          </a:p>
        </p:txBody>
      </p:sp>
      <p:sp>
        <p:nvSpPr>
          <p:cNvPr id="1953" name="文本框 1952" descr="{&quot;isTemplate&quot;:true,&quot;type&quot;:&quot;text&quot;}"/>
          <p:cNvSpPr txBox="1"/>
          <p:nvPr/>
        </p:nvSpPr>
        <p:spPr>
          <a:xfrm>
            <a:off x="4305300" y="2343150"/>
            <a:ext cx="7124700" cy="2000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E2E8F0"/>
                </a:solidFill>
                <a:latin typeface="微软雅黑" panose="020B0503020204020204" charset="-122"/>
                <a:ea typeface="微软雅黑" panose="020B0503020204020204" charset="-122"/>
              </a:rPr>
              <a:t>每个接口开头同样的十几行</a:t>
            </a:r>
            <a:endParaRPr lang="zh-CN" sz="1275" b="1">
              <a:solidFill>
                <a:srgbClr val="E2E8F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54" name="文本框 1953" descr="{&quot;isTemplate&quot;:true,&quot;type&quot;:&quot;text&quot;}"/>
          <p:cNvSpPr txBox="1"/>
          <p:nvPr/>
        </p:nvSpPr>
        <p:spPr>
          <a:xfrm>
            <a:off x="4305300" y="2581275"/>
            <a:ext cx="7124700" cy="2762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125">
                <a:solidFill>
                  <a:srgbClr val="94A3B8"/>
                </a:solidFill>
                <a:latin typeface="微软雅黑" panose="020B0503020204020204" charset="-122"/>
                <a:ea typeface="微软雅黑" panose="020B0503020204020204" charset="-122"/>
              </a:rPr>
              <a:t>登录校验、权限校验、参数校验、异常处理、耗时统计</a:t>
            </a:r>
            <a:endParaRPr lang="zh-CN" sz="1125">
              <a:solidFill>
                <a:srgbClr val="94A3B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55" name="圆角矩形 1954"/>
          <p:cNvSpPr/>
          <p:nvPr/>
        </p:nvSpPr>
        <p:spPr>
          <a:xfrm>
            <a:off x="3695700" y="3238500"/>
            <a:ext cx="7886700" cy="952500"/>
          </a:xfrm>
          <a:prstGeom prst="roundRect">
            <a:avLst>
              <a:gd name="adj" fmla="val 10000"/>
            </a:avLst>
          </a:prstGeom>
          <a:solidFill>
            <a:srgbClr val="111C2E"/>
          </a:solidFill>
        </p:spPr>
        <p:txBody>
          <a:bodyPr/>
          <a:p/>
        </p:txBody>
      </p:sp>
      <p:sp>
        <p:nvSpPr>
          <p:cNvPr id="1956" name="文本框 1955" descr="{&quot;isTemplate&quot;:true,&quot;type&quot;:&quot;text&quot;}"/>
          <p:cNvSpPr txBox="1"/>
          <p:nvPr/>
        </p:nvSpPr>
        <p:spPr>
          <a:xfrm>
            <a:off x="3848100" y="3390900"/>
            <a:ext cx="304800" cy="2571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38BDF8"/>
                </a:solidFill>
                <a:latin typeface="JetBrains Mono"/>
                <a:ea typeface="JetBrains Mono"/>
              </a:rPr>
              <a:t>3</a:t>
            </a:r>
            <a:endParaRPr lang="en-US" sz="1650" b="1">
              <a:solidFill>
                <a:srgbClr val="38BDF8"/>
              </a:solidFill>
              <a:latin typeface="JetBrains Mono"/>
              <a:ea typeface="JetBrains Mono"/>
            </a:endParaRPr>
          </a:p>
        </p:txBody>
      </p:sp>
      <p:sp>
        <p:nvSpPr>
          <p:cNvPr id="1957" name="文本框 1956" descr="{&quot;isTemplate&quot;:true,&quot;type&quot;:&quot;text&quot;}"/>
          <p:cNvSpPr txBox="1"/>
          <p:nvPr/>
        </p:nvSpPr>
        <p:spPr>
          <a:xfrm>
            <a:off x="4305300" y="3390900"/>
            <a:ext cx="7124700" cy="2000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E2E8F0"/>
                </a:solidFill>
                <a:latin typeface="微软雅黑" panose="020B0503020204020204" charset="-122"/>
                <a:ea typeface="微软雅黑" panose="020B0503020204020204" charset="-122"/>
              </a:rPr>
              <a:t>每张表重写一遍</a:t>
            </a:r>
            <a:r>
              <a:rPr lang="en-US" sz="1275" b="1">
                <a:solidFill>
                  <a:srgbClr val="E2E8F0"/>
                </a:solidFill>
                <a:latin typeface="微软雅黑" panose="020B0503020204020204" charset="-122"/>
                <a:ea typeface="微软雅黑" panose="020B0503020204020204" charset="-122"/>
              </a:rPr>
              <a:t> CRUD</a:t>
            </a:r>
            <a:endParaRPr lang="en-US" sz="1275" b="1">
              <a:solidFill>
                <a:srgbClr val="E2E8F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58" name="文本框 1957" descr="{&quot;isTemplate&quot;:true,&quot;type&quot;:&quot;text&quot;}"/>
          <p:cNvSpPr txBox="1"/>
          <p:nvPr/>
        </p:nvSpPr>
        <p:spPr>
          <a:xfrm>
            <a:off x="4305300" y="3629025"/>
            <a:ext cx="7124700" cy="2762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1125">
                <a:solidFill>
                  <a:srgbClr val="94A3B8"/>
                </a:solidFill>
                <a:latin typeface="微软雅黑" panose="020B0503020204020204" charset="-122"/>
                <a:ea typeface="微软雅黑" panose="020B0503020204020204" charset="-122"/>
              </a:rPr>
              <a:t>insert / update / select / page</a:t>
            </a:r>
            <a:r>
              <a:rPr lang="zh-CN" sz="1125">
                <a:solidFill>
                  <a:srgbClr val="94A3B8"/>
                </a:solidFill>
                <a:latin typeface="微软雅黑" panose="020B0503020204020204" charset="-122"/>
                <a:ea typeface="微软雅黑" panose="020B0503020204020204" charset="-122"/>
              </a:rPr>
              <a:t>，</a:t>
            </a:r>
            <a:r>
              <a:rPr lang="en-US" sz="1125">
                <a:solidFill>
                  <a:srgbClr val="94A3B8"/>
                </a:solidFill>
                <a:latin typeface="微软雅黑" panose="020B0503020204020204" charset="-122"/>
                <a:ea typeface="微软雅黑" panose="020B0503020204020204" charset="-122"/>
              </a:rPr>
              <a:t>SQL </a:t>
            </a:r>
            <a:r>
              <a:rPr lang="zh-CN" sz="1125">
                <a:solidFill>
                  <a:srgbClr val="94A3B8"/>
                </a:solidFill>
                <a:latin typeface="微软雅黑" panose="020B0503020204020204" charset="-122"/>
                <a:ea typeface="微软雅黑" panose="020B0503020204020204" charset="-122"/>
              </a:rPr>
              <a:t>拼接、参数绑定、结果集映射</a:t>
            </a:r>
            <a:endParaRPr lang="zh-CN" sz="1125">
              <a:solidFill>
                <a:srgbClr val="94A3B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59" name="圆角矩形 1958"/>
          <p:cNvSpPr/>
          <p:nvPr/>
        </p:nvSpPr>
        <p:spPr>
          <a:xfrm>
            <a:off x="3695700" y="4286250"/>
            <a:ext cx="7886700" cy="952500"/>
          </a:xfrm>
          <a:prstGeom prst="roundRect">
            <a:avLst>
              <a:gd name="adj" fmla="val 10000"/>
            </a:avLst>
          </a:prstGeom>
          <a:solidFill>
            <a:srgbClr val="111C2E"/>
          </a:solidFill>
        </p:spPr>
        <p:txBody>
          <a:bodyPr/>
          <a:p/>
        </p:txBody>
      </p:sp>
      <p:sp>
        <p:nvSpPr>
          <p:cNvPr id="1960" name="文本框 1959" descr="{&quot;isTemplate&quot;:true,&quot;type&quot;:&quot;text&quot;}"/>
          <p:cNvSpPr txBox="1"/>
          <p:nvPr/>
        </p:nvSpPr>
        <p:spPr>
          <a:xfrm>
            <a:off x="3848100" y="4438650"/>
            <a:ext cx="304800" cy="2571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38BDF8"/>
                </a:solidFill>
                <a:latin typeface="JetBrains Mono"/>
                <a:ea typeface="JetBrains Mono"/>
              </a:rPr>
              <a:t>4</a:t>
            </a:r>
            <a:endParaRPr lang="en-US" sz="1650" b="1">
              <a:solidFill>
                <a:srgbClr val="38BDF8"/>
              </a:solidFill>
              <a:latin typeface="JetBrains Mono"/>
              <a:ea typeface="JetBrains Mono"/>
            </a:endParaRPr>
          </a:p>
        </p:txBody>
      </p:sp>
      <p:sp>
        <p:nvSpPr>
          <p:cNvPr id="1961" name="文本框 1960" descr="{&quot;isTemplate&quot;:true,&quot;type&quot;:&quot;text&quot;}"/>
          <p:cNvSpPr txBox="1"/>
          <p:nvPr/>
        </p:nvSpPr>
        <p:spPr>
          <a:xfrm>
            <a:off x="4305300" y="4438650"/>
            <a:ext cx="7124700" cy="2000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E2E8F0"/>
                </a:solidFill>
                <a:latin typeface="微软雅黑" panose="020B0503020204020204" charset="-122"/>
                <a:ea typeface="微软雅黑" panose="020B0503020204020204" charset="-122"/>
              </a:rPr>
              <a:t>事务边界靠人肉保证</a:t>
            </a:r>
            <a:endParaRPr lang="zh-CN" sz="1275" b="1">
              <a:solidFill>
                <a:srgbClr val="E2E8F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62" name="文本框 1961" descr="{&quot;isTemplate&quot;:true,&quot;type&quot;:&quot;text&quot;}"/>
          <p:cNvSpPr txBox="1"/>
          <p:nvPr/>
        </p:nvSpPr>
        <p:spPr>
          <a:xfrm>
            <a:off x="4305300" y="4676775"/>
            <a:ext cx="7124700" cy="2762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1125">
                <a:solidFill>
                  <a:srgbClr val="94A3B8"/>
                </a:solidFill>
                <a:latin typeface="微软雅黑" panose="020B0503020204020204" charset="-122"/>
                <a:ea typeface="微软雅黑" panose="020B0503020204020204" charset="-122"/>
              </a:rPr>
              <a:t>try / commit / catch / rollback </a:t>
            </a:r>
            <a:r>
              <a:rPr lang="zh-CN" sz="1125">
                <a:solidFill>
                  <a:srgbClr val="94A3B8"/>
                </a:solidFill>
                <a:latin typeface="微软雅黑" panose="020B0503020204020204" charset="-122"/>
                <a:ea typeface="微软雅黑" panose="020B0503020204020204" charset="-122"/>
              </a:rPr>
              <a:t>复制粘贴，传播行为全靠约定</a:t>
            </a:r>
            <a:endParaRPr lang="zh-CN" sz="1125">
              <a:solidFill>
                <a:srgbClr val="94A3B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63" name="圆角矩形 1962"/>
          <p:cNvSpPr/>
          <p:nvPr/>
        </p:nvSpPr>
        <p:spPr>
          <a:xfrm>
            <a:off x="3695700" y="5334000"/>
            <a:ext cx="7886700" cy="952500"/>
          </a:xfrm>
          <a:prstGeom prst="roundRect">
            <a:avLst>
              <a:gd name="adj" fmla="val 10000"/>
            </a:avLst>
          </a:prstGeom>
          <a:solidFill>
            <a:srgbClr val="111C2E"/>
          </a:solidFill>
        </p:spPr>
        <p:txBody>
          <a:bodyPr/>
          <a:p/>
        </p:txBody>
      </p:sp>
      <p:sp>
        <p:nvSpPr>
          <p:cNvPr id="1964" name="文本框 1963" descr="{&quot;isTemplate&quot;:true,&quot;type&quot;:&quot;text&quot;}"/>
          <p:cNvSpPr txBox="1"/>
          <p:nvPr/>
        </p:nvSpPr>
        <p:spPr>
          <a:xfrm>
            <a:off x="3848100" y="5486400"/>
            <a:ext cx="304800" cy="2571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38BDF8"/>
                </a:solidFill>
                <a:latin typeface="JetBrains Mono"/>
                <a:ea typeface="JetBrains Mono"/>
              </a:rPr>
              <a:t>5</a:t>
            </a:r>
            <a:endParaRPr lang="en-US" sz="1650" b="1">
              <a:solidFill>
                <a:srgbClr val="38BDF8"/>
              </a:solidFill>
              <a:latin typeface="JetBrains Mono"/>
              <a:ea typeface="JetBrains Mono"/>
            </a:endParaRPr>
          </a:p>
        </p:txBody>
      </p:sp>
      <p:sp>
        <p:nvSpPr>
          <p:cNvPr id="1965" name="文本框 1964" descr="{&quot;isTemplate&quot;:true,&quot;type&quot;:&quot;text&quot;}"/>
          <p:cNvSpPr txBox="1"/>
          <p:nvPr/>
        </p:nvSpPr>
        <p:spPr>
          <a:xfrm>
            <a:off x="4305300" y="5486400"/>
            <a:ext cx="7124700" cy="2000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E2E8F0"/>
                </a:solidFill>
                <a:latin typeface="微软雅黑" panose="020B0503020204020204" charset="-122"/>
                <a:ea typeface="微软雅黑" panose="020B0503020204020204" charset="-122"/>
              </a:rPr>
              <a:t>每个项目重新选型、重新封装</a:t>
            </a:r>
            <a:endParaRPr lang="zh-CN" sz="1275" b="1">
              <a:solidFill>
                <a:srgbClr val="E2E8F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66" name="文本框 1965" descr="{&quot;isTemplate&quot;:true,&quot;type&quot;:&quot;text&quot;}"/>
          <p:cNvSpPr txBox="1"/>
          <p:nvPr/>
        </p:nvSpPr>
        <p:spPr>
          <a:xfrm>
            <a:off x="4305300" y="5724525"/>
            <a:ext cx="7124700" cy="2762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125">
                <a:solidFill>
                  <a:srgbClr val="94A3B8"/>
                </a:solidFill>
                <a:latin typeface="微软雅黑" panose="020B0503020204020204" charset="-122"/>
                <a:ea typeface="微软雅黑" panose="020B0503020204020204" charset="-122"/>
              </a:rPr>
              <a:t>定时任务、</a:t>
            </a:r>
            <a:r>
              <a:rPr lang="en-US" sz="1125">
                <a:solidFill>
                  <a:srgbClr val="94A3B8"/>
                </a:solidFill>
                <a:latin typeface="微软雅黑" panose="020B0503020204020204" charset="-122"/>
                <a:ea typeface="微软雅黑" panose="020B0503020204020204" charset="-122"/>
              </a:rPr>
              <a:t>JWT</a:t>
            </a:r>
            <a:r>
              <a:rPr lang="zh-CN" sz="1125">
                <a:solidFill>
                  <a:srgbClr val="94A3B8"/>
                </a:solidFill>
                <a:latin typeface="微软雅黑" panose="020B0503020204020204" charset="-122"/>
                <a:ea typeface="微软雅黑" panose="020B0503020204020204" charset="-122"/>
              </a:rPr>
              <a:t>、连接池、日志、配置</a:t>
            </a:r>
            <a:endParaRPr lang="zh-CN" sz="1125">
              <a:solidFill>
                <a:srgbClr val="94A3B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67" name="任意多边形 1966"/>
          <p:cNvSpPr/>
          <p:nvPr/>
        </p:nvSpPr>
        <p:spPr>
          <a:xfrm>
            <a:off x="609600" y="6286500"/>
            <a:ext cx="10972800" cy="381000"/>
          </a:xfrm>
          <a:custGeom>
            <a:avLst/>
            <a:gdLst/>
            <a:ahLst/>
            <a:cxnLst/>
            <a:pathLst>
              <a:path w="1152" h="40">
                <a:moveTo>
                  <a:pt x="0" y="0"/>
                </a:moveTo>
                <a:lnTo>
                  <a:pt x="1152" y="0"/>
                </a:lnTo>
                <a:lnTo>
                  <a:pt x="1152" y="1"/>
                </a:lnTo>
                <a:lnTo>
                  <a:pt x="0" y="1"/>
                </a:lnTo>
                <a:close/>
              </a:path>
            </a:pathLst>
          </a:custGeom>
          <a:solidFill>
            <a:srgbClr val="1E293B"/>
          </a:solidFill>
        </p:spPr>
        <p:txBody>
          <a:bodyPr/>
          <a:p/>
        </p:txBody>
      </p:sp>
      <p:sp>
        <p:nvSpPr>
          <p:cNvPr id="1968" name="文本框 1967" descr="{&quot;isTemplate&quot;:true,&quot;type&quot;:&quot;text&quot;}"/>
          <p:cNvSpPr txBox="1"/>
          <p:nvPr/>
        </p:nvSpPr>
        <p:spPr>
          <a:xfrm>
            <a:off x="609600" y="6410325"/>
            <a:ext cx="2219325" cy="152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fountain · </a:t>
            </a:r>
            <a:r>
              <a:rPr lang="zh-CN" sz="975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一站式服务器应用开发工具库</a:t>
            </a:r>
            <a:r>
              <a:rPr lang="zh-CN" sz="975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　·　</a:t>
            </a:r>
            <a:r>
              <a:rPr lang="en-US" sz="975" u="none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hlinkClick r:id="rIdHlink1"/>
              </a:rPr>
              <a:t>https://pkg.cangjie-lang.cn/org/fountain</a:t>
            </a:r>
            <a:r>
              <a:rPr lang="zh-CN" sz="975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　·　</a:t>
            </a:r>
            <a:r>
              <a:rPr lang="en-US" sz="975" u="none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hlinkClick r:id="rIdHlink2"/>
              </a:rPr>
              <a:t>https://gitcode.com/Cangjie-SIG/fountain</a:t>
            </a:r>
            <a:endParaRPr lang="zh-CN" sz="975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69" name="文本框 1968" descr="{&quot;isTemplate&quot;:true,&quot;type&quot;:&quot;text&quot;}"/>
          <p:cNvSpPr txBox="1"/>
          <p:nvPr/>
        </p:nvSpPr>
        <p:spPr>
          <a:xfrm>
            <a:off x="11087100" y="6410325"/>
            <a:ext cx="495300" cy="152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06 / 116</a:t>
            </a:r>
            <a:endParaRPr lang="en-US" sz="975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28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1" name="矩形 228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</p:spPr>
        <p:txBody>
          <a:bodyPr/>
          <a:p/>
        </p:txBody>
      </p:sp>
      <p:sp>
        <p:nvSpPr>
          <p:cNvPr id="2282" name="矩形 2281"/>
          <p:cNvSpPr/>
          <p:nvPr/>
        </p:nvSpPr>
        <p:spPr>
          <a:xfrm>
            <a:off x="609600" y="476250"/>
            <a:ext cx="38100" cy="381000"/>
          </a:xfrm>
          <a:prstGeom prst="rect">
            <a:avLst/>
          </a:prstGeom>
          <a:solidFill>
            <a:srgbClr val="38BDF8"/>
          </a:solidFill>
        </p:spPr>
        <p:txBody>
          <a:bodyPr/>
          <a:p/>
        </p:txBody>
      </p:sp>
      <p:sp>
        <p:nvSpPr>
          <p:cNvPr id="2283" name="文本框 2282" descr="{&quot;isTemplate&quot;:true,&quot;type&quot;:&quot;text&quot;}"/>
          <p:cNvSpPr txBox="1"/>
          <p:nvPr/>
        </p:nvSpPr>
        <p:spPr>
          <a:xfrm>
            <a:off x="819150" y="304800"/>
            <a:ext cx="9629775" cy="2095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975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第</a:t>
            </a:r>
            <a:r>
              <a:rPr lang="en-US" sz="975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 1 </a:t>
            </a:r>
            <a:r>
              <a:rPr lang="zh-CN" sz="975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章</a:t>
            </a:r>
            <a:r>
              <a:rPr lang="en-US" sz="975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lang="zh-CN" sz="975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为什么使用</a:t>
            </a:r>
            <a:r>
              <a:rPr lang="en-US" sz="975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 fountain · 1.2</a:t>
            </a:r>
            <a:endParaRPr lang="en-US" sz="975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284" name="文本框 2283" descr="{&quot;isTemplate&quot;:true,&quot;type&quot;:&quot;text&quot;}"/>
          <p:cNvSpPr txBox="1"/>
          <p:nvPr/>
        </p:nvSpPr>
        <p:spPr>
          <a:xfrm>
            <a:off x="819150" y="514350"/>
            <a:ext cx="9629775" cy="514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2550" b="1">
                <a:solidFill>
                  <a:srgbClr val="E2E8F0"/>
                </a:solidFill>
                <a:latin typeface="微软雅黑" panose="020B0503020204020204" charset="-122"/>
                <a:ea typeface="微软雅黑" panose="020B0503020204020204" charset="-122"/>
              </a:rPr>
              <a:t>fountain </a:t>
            </a:r>
            <a:r>
              <a:rPr lang="zh-CN" sz="2550" b="1">
                <a:solidFill>
                  <a:srgbClr val="E2E8F0"/>
                </a:solidFill>
                <a:latin typeface="微软雅黑" panose="020B0503020204020204" charset="-122"/>
                <a:ea typeface="微软雅黑" panose="020B0503020204020204" charset="-122"/>
              </a:rPr>
              <a:t>是什么</a:t>
            </a:r>
            <a:endParaRPr lang="zh-CN" sz="2550" b="1">
              <a:solidFill>
                <a:srgbClr val="E2E8F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285" name="文本框 2284" descr="{&quot;isTemplate&quot;:true,&quot;type&quot;:&quot;text&quot;}"/>
          <p:cNvSpPr txBox="1"/>
          <p:nvPr/>
        </p:nvSpPr>
        <p:spPr>
          <a:xfrm>
            <a:off x="10620375" y="590550"/>
            <a:ext cx="962025" cy="152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核心层</a:t>
            </a:r>
            <a:r>
              <a:rPr lang="en-US" sz="975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 15 </a:t>
            </a:r>
            <a:r>
              <a:rPr lang="zh-CN" sz="975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项能力</a:t>
            </a:r>
            <a:endParaRPr lang="zh-CN" sz="975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286" name="文本框 2285" descr="{&quot;isTemplate&quot;:true,&quot;type&quot;:&quot;text&quot;}"/>
          <p:cNvSpPr txBox="1"/>
          <p:nvPr/>
        </p:nvSpPr>
        <p:spPr>
          <a:xfrm>
            <a:off x="609600" y="1143000"/>
            <a:ext cx="10972800" cy="2762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1125">
                <a:solidFill>
                  <a:srgbClr val="94A3B8"/>
                </a:solidFill>
                <a:latin typeface="微软雅黑" panose="020B0503020204020204" charset="-122"/>
                <a:ea typeface="微软雅黑" panose="020B0503020204020204" charset="-122"/>
              </a:rPr>
              <a:t>40+ </a:t>
            </a:r>
            <a:r>
              <a:rPr lang="zh-CN" sz="1125">
                <a:solidFill>
                  <a:srgbClr val="94A3B8"/>
                </a:solidFill>
                <a:latin typeface="微软雅黑" panose="020B0503020204020204" charset="-122"/>
                <a:ea typeface="微软雅黑" panose="020B0503020204020204" charset="-122"/>
              </a:rPr>
              <a:t>模块，核心的那一层如下；外围模块既能被框架使用，也能单独当工具库引入。</a:t>
            </a:r>
            <a:endParaRPr lang="zh-CN" sz="1125">
              <a:solidFill>
                <a:srgbClr val="94A3B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graphicFrame>
        <p:nvGraphicFramePr>
          <p:cNvPr id="2287" name="表格 2286"/>
          <p:cNvGraphicFramePr/>
          <p:nvPr/>
        </p:nvGraphicFramePr>
        <p:xfrm>
          <a:off x="609600" y="1533525"/>
          <a:ext cx="10972800" cy="4705356"/>
        </p:xfrm>
        <a:graphic>
          <a:graphicData uri="http://schemas.openxmlformats.org/drawingml/2006/table">
            <a:tbl>
              <a:tblPr/>
              <a:tblGrid>
                <a:gridCol w="1009521"/>
                <a:gridCol w="3523762"/>
                <a:gridCol w="6439517"/>
              </a:tblGrid>
              <a:tr h="275991"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22D3EE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能力</a:t>
                      </a:r>
                      <a:endParaRPr sz="975" b="1">
                        <a:solidFill>
                          <a:srgbClr val="22D3EE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6233A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22D3EE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模块</a:t>
                      </a:r>
                      <a:endParaRPr sz="975" b="1">
                        <a:solidFill>
                          <a:srgbClr val="22D3EE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6233A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22D3EE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一句话</a:t>
                      </a:r>
                      <a:endParaRPr sz="975" b="1">
                        <a:solidFill>
                          <a:srgbClr val="22D3EE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6233A"/>
                    </a:solidFill>
                  </a:tcPr>
                </a:tc>
              </a:tr>
              <a:tr h="295291"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E2E8F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配置</a:t>
                      </a:r>
                      <a:endParaRPr sz="1050">
                        <a:solidFill>
                          <a:srgbClr val="E2E8F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38BDF8"/>
                          </a:solidFill>
                          <a:latin typeface="JetBrains Mono"/>
                          <a:ea typeface="JetBrains Mono"/>
                        </a:rPr>
                        <a:t>f_config</a:t>
                      </a:r>
                      <a:endParaRPr sz="1050">
                        <a:solidFill>
                          <a:srgbClr val="38BDF8"/>
                        </a:solidFill>
                        <a:latin typeface="JetBrains Mono"/>
                        <a:ea typeface="JetBrains Mono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E2E8F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没有配置文件：环境变量 / 命令行 / Config.set / 编译期 SM4 内嵌，四级优先级</a:t>
                      </a:r>
                      <a:endParaRPr sz="1050">
                        <a:solidFill>
                          <a:srgbClr val="E2E8F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95291"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E2E8F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IOC 容器</a:t>
                      </a:r>
                      <a:endParaRPr sz="1050">
                        <a:solidFill>
                          <a:srgbClr val="E2E8F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38BDF8"/>
                          </a:solidFill>
                          <a:latin typeface="JetBrains Mono"/>
                          <a:ea typeface="JetBrains Mono"/>
                        </a:rPr>
                        <a:t>f_bean</a:t>
                      </a:r>
                      <a:endParaRPr sz="1050">
                        <a:solidFill>
                          <a:srgbClr val="38BDF8"/>
                        </a:solidFill>
                        <a:latin typeface="JetBrains Mono"/>
                        <a:ea typeface="JetBrains Mono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E2E8F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@Bean + lookup&lt;T&gt;()，宏在编译期完成注册</a:t>
                      </a:r>
                      <a:endParaRPr sz="1050">
                        <a:solidFill>
                          <a:srgbClr val="E2E8F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95291"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E2E8F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AOP</a:t>
                      </a:r>
                      <a:endParaRPr sz="1050">
                        <a:solidFill>
                          <a:srgbClr val="E2E8F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38BDF8"/>
                          </a:solidFill>
                          <a:latin typeface="JetBrains Mono"/>
                          <a:ea typeface="JetBrains Mono"/>
                        </a:rPr>
                        <a:t>f_aspect</a:t>
                      </a:r>
                      <a:endParaRPr sz="1050">
                        <a:solidFill>
                          <a:srgbClr val="38BDF8"/>
                        </a:solidFill>
                        <a:latin typeface="JetBrains Mono"/>
                        <a:ea typeface="JetBrains Mono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E2E8F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Aspect 接口 + 织入规则，横切逻辑集中一处</a:t>
                      </a:r>
                      <a:endParaRPr sz="1050">
                        <a:solidFill>
                          <a:srgbClr val="E2E8F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95291"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E2E8F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数据</a:t>
                      </a:r>
                      <a:endParaRPr sz="1050">
                        <a:solidFill>
                          <a:srgbClr val="E2E8F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38BDF8"/>
                          </a:solidFill>
                          <a:latin typeface="JetBrains Mono"/>
                          <a:ea typeface="JetBrains Mono"/>
                        </a:rPr>
                        <a:t>f_data</a:t>
                      </a:r>
                      <a:endParaRPr sz="1050">
                        <a:solidFill>
                          <a:srgbClr val="38BDF8"/>
                        </a:solidFill>
                        <a:latin typeface="JetBrains Mono"/>
                        <a:ea typeface="JetBrains Mono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E2E8F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@DataAssist 一把宏搞定对象复制、JSON 互转、校验、JSONPath</a:t>
                      </a:r>
                      <a:endParaRPr sz="1050">
                        <a:solidFill>
                          <a:srgbClr val="E2E8F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95291"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E2E8F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MVC</a:t>
                      </a:r>
                      <a:endParaRPr sz="1050">
                        <a:solidFill>
                          <a:srgbClr val="E2E8F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38BDF8"/>
                          </a:solidFill>
                          <a:latin typeface="JetBrains Mono"/>
                          <a:ea typeface="JetBrains Mono"/>
                        </a:rPr>
                        <a:t>f_mvc</a:t>
                      </a:r>
                      <a:endParaRPr sz="1050">
                        <a:solidFill>
                          <a:srgbClr val="38BDF8"/>
                        </a:solidFill>
                        <a:latin typeface="JetBrains Mono"/>
                        <a:ea typeface="JetBrains Mono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E2E8F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@Controller + @GetMapping，HTTP 服务开箱即用</a:t>
                      </a:r>
                      <a:endParaRPr sz="1050">
                        <a:solidFill>
                          <a:srgbClr val="E2E8F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95291"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E2E8F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HTTP 数据格式</a:t>
                      </a:r>
                      <a:endParaRPr sz="1050">
                        <a:solidFill>
                          <a:srgbClr val="E2E8F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38BDF8"/>
                          </a:solidFill>
                          <a:latin typeface="JetBrains Mono"/>
                          <a:ea typeface="JetBrains Mono"/>
                        </a:rPr>
                        <a:t>f_http</a:t>
                      </a:r>
                      <a:endParaRPr sz="1050">
                        <a:solidFill>
                          <a:srgbClr val="38BDF8"/>
                        </a:solidFill>
                        <a:latin typeface="JetBrains Mono"/>
                        <a:ea typeface="JetBrains Mono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E2E8F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MediaType 抽象（json / text / multipart）+ 文件上传，可扩展私有协议</a:t>
                      </a:r>
                      <a:endParaRPr sz="1050">
                        <a:solidFill>
                          <a:srgbClr val="E2E8F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95291"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E2E8F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ORM</a:t>
                      </a:r>
                      <a:endParaRPr sz="1050">
                        <a:solidFill>
                          <a:srgbClr val="E2E8F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38BDF8"/>
                          </a:solidFill>
                          <a:latin typeface="JetBrains Mono"/>
                          <a:ea typeface="JetBrains Mono"/>
                        </a:rPr>
                        <a:t>f_orm</a:t>
                      </a:r>
                      <a:endParaRPr sz="1050">
                        <a:solidFill>
                          <a:srgbClr val="38BDF8"/>
                        </a:solidFill>
                        <a:latin typeface="JetBrains Mono"/>
                        <a:ea typeface="JetBrains Mono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E2E8F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DAO 就是接口，@DAO 以后 SqlExecutor 就是实现</a:t>
                      </a:r>
                      <a:endParaRPr sz="1050">
                        <a:solidFill>
                          <a:srgbClr val="E2E8F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95291"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E2E8F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安全</a:t>
                      </a:r>
                      <a:endParaRPr sz="1050">
                        <a:solidFill>
                          <a:srgbClr val="E2E8F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38BDF8"/>
                          </a:solidFill>
                          <a:latin typeface="JetBrains Mono"/>
                          <a:ea typeface="JetBrains Mono"/>
                        </a:rPr>
                        <a:t>f_security</a:t>
                      </a:r>
                      <a:endParaRPr sz="1050">
                        <a:solidFill>
                          <a:srgbClr val="38BDF8"/>
                        </a:solidFill>
                        <a:latin typeface="JetBrains Mono"/>
                        <a:ea typeface="JetBrains Mono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E2E8F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登录状态、鉴权、权限检查的统一抽象</a:t>
                      </a:r>
                      <a:endParaRPr sz="1050">
                        <a:solidFill>
                          <a:srgbClr val="E2E8F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95291"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E2E8F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JWT</a:t>
                      </a:r>
                      <a:endParaRPr sz="1050">
                        <a:solidFill>
                          <a:srgbClr val="E2E8F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38BDF8"/>
                          </a:solidFill>
                          <a:latin typeface="JetBrains Mono"/>
                          <a:ea typeface="JetBrains Mono"/>
                        </a:rPr>
                        <a:t>f_jwt</a:t>
                      </a:r>
                      <a:endParaRPr sz="1050">
                        <a:solidFill>
                          <a:srgbClr val="38BDF8"/>
                        </a:solidFill>
                        <a:latin typeface="JetBrains Mono"/>
                        <a:ea typeface="JetBrains Mono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E2E8F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完整的 JWT 编码 / 验签 API</a:t>
                      </a:r>
                      <a:endParaRPr sz="1050">
                        <a:solidFill>
                          <a:srgbClr val="E2E8F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95291"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E2E8F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CRON</a:t>
                      </a:r>
                      <a:endParaRPr sz="1050">
                        <a:solidFill>
                          <a:srgbClr val="E2E8F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38BDF8"/>
                          </a:solidFill>
                          <a:latin typeface="JetBrains Mono"/>
                          <a:ea typeface="JetBrains Mono"/>
                        </a:rPr>
                        <a:t>f_ticktock</a:t>
                      </a:r>
                      <a:endParaRPr sz="1050">
                        <a:solidFill>
                          <a:srgbClr val="38BDF8"/>
                        </a:solidFill>
                        <a:latin typeface="JetBrains Mono"/>
                        <a:ea typeface="JetBrains Mono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E2E8F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@Bean + cron 表达式即可定时执行</a:t>
                      </a:r>
                      <a:endParaRPr sz="1050">
                        <a:solidFill>
                          <a:srgbClr val="E2E8F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95291"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E2E8F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随机</a:t>
                      </a:r>
                      <a:endParaRPr sz="1050">
                        <a:solidFill>
                          <a:srgbClr val="E2E8F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38BDF8"/>
                          </a:solidFill>
                          <a:latin typeface="JetBrains Mono"/>
                          <a:ea typeface="JetBrains Mono"/>
                        </a:rPr>
                        <a:t>f_random</a:t>
                      </a:r>
                      <a:endParaRPr sz="1050">
                        <a:solidFill>
                          <a:srgbClr val="38BDF8"/>
                        </a:solidFill>
                        <a:latin typeface="JetBrains Mono"/>
                        <a:ea typeface="JetBrains Mono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E2E8F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区间随机数、随机数流、随机字符串、蓄水池抽样</a:t>
                      </a:r>
                      <a:endParaRPr sz="1050">
                        <a:solidFill>
                          <a:srgbClr val="E2E8F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95291"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E2E8F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工具箱</a:t>
                      </a:r>
                      <a:endParaRPr sz="1050">
                        <a:solidFill>
                          <a:srgbClr val="E2E8F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38BDF8"/>
                          </a:solidFill>
                          <a:latin typeface="JetBrains Mono"/>
                          <a:ea typeface="JetBrains Mono"/>
                        </a:rPr>
                        <a:t>f_util</a:t>
                      </a:r>
                      <a:endParaRPr sz="1050">
                        <a:solidFill>
                          <a:srgbClr val="38BDF8"/>
                        </a:solidFill>
                        <a:latin typeface="JetBrains Mono"/>
                        <a:ea typeface="JetBrains Mono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E2E8F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UUID(v1~v8) / IdMaker / TextTemplate / PathPattern / TreeTransformer / CaseFormat / 设计模式骨架</a:t>
                      </a:r>
                      <a:endParaRPr sz="1050">
                        <a:solidFill>
                          <a:srgbClr val="E2E8F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95291"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E2E8F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日志</a:t>
                      </a:r>
                      <a:endParaRPr sz="1050">
                        <a:solidFill>
                          <a:srgbClr val="E2E8F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38BDF8"/>
                          </a:solidFill>
                          <a:latin typeface="JetBrains Mono"/>
                          <a:ea typeface="JetBrains Mono"/>
                        </a:rPr>
                        <a:t>f_log</a:t>
                      </a:r>
                      <a:endParaRPr sz="1050">
                        <a:solidFill>
                          <a:srgbClr val="38BDF8"/>
                        </a:solidFill>
                        <a:latin typeface="JetBrains Mono"/>
                        <a:ea typeface="JetBrains Mono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E2E8F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stdx.log 的实现：默认静默、appender 即输出通道、全程异步、模板化消息</a:t>
                      </a:r>
                      <a:endParaRPr sz="1050">
                        <a:solidFill>
                          <a:srgbClr val="E2E8F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95291"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E2E8F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基础设施</a:t>
                      </a:r>
                      <a:endParaRPr sz="1050">
                        <a:solidFill>
                          <a:srgbClr val="E2E8F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94A3B8"/>
                          </a:solidFill>
                          <a:latin typeface="JetBrains Mono"/>
                          <a:ea typeface="JetBrains Mono"/>
                        </a:rPr>
                        <a:t>f_cache f_pool f_collection f_time f_regex f_rx</a:t>
                      </a:r>
                      <a:endParaRPr sz="975">
                        <a:solidFill>
                          <a:srgbClr val="94A3B8"/>
                        </a:solidFill>
                        <a:latin typeface="JetBrains Mono"/>
                        <a:ea typeface="JetBrains Mono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E2E8F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堆缓存 / 对象池 / 集合补位 / 时间 DSL / 正则缓存 / 反应式编程</a:t>
                      </a:r>
                      <a:endParaRPr sz="1050">
                        <a:solidFill>
                          <a:srgbClr val="E2E8F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95291"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E2E8F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启动器</a:t>
                      </a:r>
                      <a:endParaRPr sz="1050">
                        <a:solidFill>
                          <a:srgbClr val="E2E8F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F59E0B"/>
                          </a:solidFill>
                          <a:latin typeface="JetBrains Mono"/>
                          <a:ea typeface="JetBrains Mono"/>
                        </a:rPr>
                        <a:t>fboot / f_app</a:t>
                      </a:r>
                      <a:endParaRPr sz="1050">
                        <a:solidFill>
                          <a:srgbClr val="F59E0B"/>
                        </a:solidFill>
                        <a:latin typeface="JetBrains Mono"/>
                        <a:ea typeface="JetBrains Mono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E2E8F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没有 main 也能启动应用</a:t>
                      </a:r>
                      <a:endParaRPr sz="1050">
                        <a:solidFill>
                          <a:srgbClr val="E2E8F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2288" name="任意多边形 2287"/>
          <p:cNvSpPr/>
          <p:nvPr/>
        </p:nvSpPr>
        <p:spPr>
          <a:xfrm>
            <a:off x="609600" y="6286500"/>
            <a:ext cx="10972800" cy="381000"/>
          </a:xfrm>
          <a:custGeom>
            <a:avLst/>
            <a:gdLst/>
            <a:ahLst/>
            <a:cxnLst/>
            <a:pathLst>
              <a:path w="1152" h="40">
                <a:moveTo>
                  <a:pt x="0" y="0"/>
                </a:moveTo>
                <a:lnTo>
                  <a:pt x="1152" y="0"/>
                </a:lnTo>
                <a:lnTo>
                  <a:pt x="1152" y="1"/>
                </a:lnTo>
                <a:lnTo>
                  <a:pt x="0" y="1"/>
                </a:lnTo>
                <a:close/>
              </a:path>
            </a:pathLst>
          </a:custGeom>
          <a:solidFill>
            <a:srgbClr val="1E293B"/>
          </a:solidFill>
        </p:spPr>
        <p:txBody>
          <a:bodyPr/>
          <a:p/>
        </p:txBody>
      </p:sp>
      <p:sp>
        <p:nvSpPr>
          <p:cNvPr id="2289" name="文本框 2288" descr="{&quot;isTemplate&quot;:true,&quot;type&quot;:&quot;text&quot;}"/>
          <p:cNvSpPr txBox="1"/>
          <p:nvPr/>
        </p:nvSpPr>
        <p:spPr>
          <a:xfrm>
            <a:off x="609600" y="6410325"/>
            <a:ext cx="2219325" cy="152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fountain · </a:t>
            </a:r>
            <a:r>
              <a:rPr lang="zh-CN" sz="975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一站式服务器应用开发工具库</a:t>
            </a:r>
            <a:r>
              <a:rPr lang="zh-CN" sz="975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　·　</a:t>
            </a:r>
            <a:r>
              <a:rPr lang="en-US" sz="975" u="none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hlinkClick r:id="rIdHlink1"/>
              </a:rPr>
              <a:t>https://pkg.cangjie-lang.cn/org/fountain</a:t>
            </a:r>
            <a:r>
              <a:rPr lang="zh-CN" sz="975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　·　</a:t>
            </a:r>
            <a:r>
              <a:rPr lang="en-US" sz="975" u="none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hlinkClick r:id="rIdHlink2"/>
              </a:rPr>
              <a:t>https://gitcode.com/Cangjie-SIG/fountain</a:t>
            </a:r>
            <a:endParaRPr lang="zh-CN" sz="975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290" name="文本框 2289" descr="{&quot;isTemplate&quot;:true,&quot;type&quot;:&quot;text&quot;}"/>
          <p:cNvSpPr txBox="1"/>
          <p:nvPr/>
        </p:nvSpPr>
        <p:spPr>
          <a:xfrm>
            <a:off x="11087100" y="6410325"/>
            <a:ext cx="495300" cy="152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07 / 116</a:t>
            </a:r>
            <a:endParaRPr lang="en-US" sz="975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60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3" name="矩形 260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</p:spPr>
        <p:txBody>
          <a:bodyPr/>
          <a:p/>
        </p:txBody>
      </p:sp>
      <p:sp>
        <p:nvSpPr>
          <p:cNvPr id="2604" name="矩形 2603"/>
          <p:cNvSpPr/>
          <p:nvPr/>
        </p:nvSpPr>
        <p:spPr>
          <a:xfrm>
            <a:off x="609600" y="476250"/>
            <a:ext cx="38100" cy="381000"/>
          </a:xfrm>
          <a:prstGeom prst="rect">
            <a:avLst/>
          </a:prstGeom>
          <a:solidFill>
            <a:srgbClr val="38BDF8"/>
          </a:solidFill>
        </p:spPr>
        <p:txBody>
          <a:bodyPr/>
          <a:p/>
        </p:txBody>
      </p:sp>
      <p:sp>
        <p:nvSpPr>
          <p:cNvPr id="2605" name="文本框 2604" descr="{&quot;isTemplate&quot;:true,&quot;type&quot;:&quot;text&quot;}"/>
          <p:cNvSpPr txBox="1"/>
          <p:nvPr/>
        </p:nvSpPr>
        <p:spPr>
          <a:xfrm>
            <a:off x="819150" y="304800"/>
            <a:ext cx="9601200" cy="2095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975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第</a:t>
            </a:r>
            <a:r>
              <a:rPr lang="en-US" sz="975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 1 </a:t>
            </a:r>
            <a:r>
              <a:rPr lang="zh-CN" sz="975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章</a:t>
            </a:r>
            <a:r>
              <a:rPr lang="en-US" sz="975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lang="zh-CN" sz="975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为什么使用</a:t>
            </a:r>
            <a:r>
              <a:rPr lang="en-US" sz="975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 fountain · 1.2 </a:t>
            </a:r>
            <a:r>
              <a:rPr lang="zh-CN" sz="975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续</a:t>
            </a:r>
            <a:endParaRPr lang="zh-CN" sz="975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606" name="文本框 2605" descr="{&quot;isTemplate&quot;:true,&quot;type&quot;:&quot;text&quot;}"/>
          <p:cNvSpPr txBox="1"/>
          <p:nvPr/>
        </p:nvSpPr>
        <p:spPr>
          <a:xfrm>
            <a:off x="819150" y="514350"/>
            <a:ext cx="9601200" cy="514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2550" b="1">
                <a:solidFill>
                  <a:srgbClr val="E2E8F0"/>
                </a:solidFill>
                <a:latin typeface="微软雅黑" panose="020B0503020204020204" charset="-122"/>
                <a:ea typeface="微软雅黑" panose="020B0503020204020204" charset="-122"/>
              </a:rPr>
              <a:t>外围模块与引用方式</a:t>
            </a:r>
            <a:endParaRPr lang="zh-CN" sz="2550" b="1">
              <a:solidFill>
                <a:srgbClr val="E2E8F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607" name="文本框 2606" descr="{&quot;isTemplate&quot;:true,&quot;type&quot;:&quot;text&quot;}"/>
          <p:cNvSpPr txBox="1"/>
          <p:nvPr/>
        </p:nvSpPr>
        <p:spPr>
          <a:xfrm>
            <a:off x="10591800" y="590550"/>
            <a:ext cx="990600" cy="152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核心层之外的一圈</a:t>
            </a:r>
            <a:endParaRPr lang="zh-CN" sz="975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608" name="圆角矩形 2607"/>
          <p:cNvSpPr/>
          <p:nvPr/>
        </p:nvSpPr>
        <p:spPr>
          <a:xfrm>
            <a:off x="609600" y="1143000"/>
            <a:ext cx="3552825" cy="3143250"/>
          </a:xfrm>
          <a:prstGeom prst="roundRect">
            <a:avLst>
              <a:gd name="adj" fmla="val 3636"/>
            </a:avLst>
          </a:prstGeom>
          <a:solidFill>
            <a:srgbClr val="111C2E"/>
          </a:solidFill>
          <a:ln w="12700">
            <a:solidFill>
              <a:srgbClr val="1E293B"/>
            </a:solidFill>
            <a:prstDash val="solid"/>
          </a:ln>
        </p:spPr>
        <p:txBody>
          <a:bodyPr/>
          <a:p/>
        </p:txBody>
      </p:sp>
      <p:sp>
        <p:nvSpPr>
          <p:cNvPr id="2609" name="文本框 2608" descr="{&quot;isTemplate&quot;:true,&quot;type&quot;:&quot;text&quot;}"/>
          <p:cNvSpPr txBox="1"/>
          <p:nvPr/>
        </p:nvSpPr>
        <p:spPr>
          <a:xfrm>
            <a:off x="819150" y="1352550"/>
            <a:ext cx="3133725" cy="2286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E2E8F0"/>
                </a:solidFill>
                <a:latin typeface="微软雅黑" panose="020B0503020204020204" charset="-122"/>
                <a:ea typeface="微软雅黑" panose="020B0503020204020204" charset="-122"/>
              </a:rPr>
              <a:t>外围模块</a:t>
            </a:r>
            <a:endParaRPr lang="zh-CN" sz="1500" b="1">
              <a:solidFill>
                <a:srgbClr val="E2E8F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610" name="文本框 2609" descr="{&quot;isTemplate&quot;:true,&quot;type&quot;:&quot;text&quot;}"/>
          <p:cNvSpPr txBox="1"/>
          <p:nvPr/>
        </p:nvSpPr>
        <p:spPr>
          <a:xfrm>
            <a:off x="819150" y="1695450"/>
            <a:ext cx="3133725" cy="514350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050">
                <a:solidFill>
                  <a:srgbClr val="94A3B8"/>
                </a:solidFill>
                <a:latin typeface="微软雅黑" panose="020B0503020204020204" charset="-122"/>
                <a:ea typeface="微软雅黑" panose="020B0503020204020204" charset="-122"/>
              </a:rPr>
              <a:t>工具类：</a:t>
            </a:r>
            <a:r>
              <a:rPr lang="en-US" sz="1050">
                <a:solidFill>
                  <a:srgbClr val="94A3B8"/>
                </a:solidFill>
                <a:latin typeface="微软雅黑" panose="020B0503020204020204" charset="-122"/>
                <a:ea typeface="微软雅黑" panose="020B0503020204020204" charset="-122"/>
              </a:rPr>
              <a:t>f_base f_util f_collection f_concurrent f_io f_crypto f_random f_time f_regex f_rx</a:t>
            </a:r>
            <a:endParaRPr lang="en-US" sz="1050">
              <a:solidFill>
                <a:srgbClr val="94A3B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611" name="文本框 2610" descr="{&quot;isTemplate&quot;:true,&quot;type&quot;:&quot;text&quot;}"/>
          <p:cNvSpPr txBox="1"/>
          <p:nvPr/>
        </p:nvSpPr>
        <p:spPr>
          <a:xfrm>
            <a:off x="819150" y="2286000"/>
            <a:ext cx="3133725" cy="514350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050">
                <a:solidFill>
                  <a:srgbClr val="94A3B8"/>
                </a:solidFill>
                <a:latin typeface="微软雅黑" panose="020B0503020204020204" charset="-122"/>
                <a:ea typeface="微软雅黑" panose="020B0503020204020204" charset="-122"/>
              </a:rPr>
              <a:t>协议与存储：</a:t>
            </a:r>
            <a:r>
              <a:rPr lang="en-US" sz="1050">
                <a:solidFill>
                  <a:srgbClr val="94A3B8"/>
                </a:solidFill>
                <a:latin typeface="微软雅黑" panose="020B0503020204020204" charset="-122"/>
                <a:ea typeface="微软雅黑" panose="020B0503020204020204" charset="-122"/>
              </a:rPr>
              <a:t>f_http f_net f_protocol f_store fleet f_rpc</a:t>
            </a:r>
            <a:endParaRPr lang="en-US" sz="1050">
              <a:solidFill>
                <a:srgbClr val="94A3B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612" name="文本框 2611" descr="{&quot;isTemplate&quot;:true,&quot;type&quot;:&quot;text&quot;}"/>
          <p:cNvSpPr txBox="1"/>
          <p:nvPr/>
        </p:nvSpPr>
        <p:spPr>
          <a:xfrm>
            <a:off x="819150" y="2876550"/>
            <a:ext cx="3133725" cy="2571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altLang="zh-CN" sz="1050">
                <a:solidFill>
                  <a:srgbClr val="94A3B8"/>
                </a:solidFill>
                <a:latin typeface="微软雅黑" panose="020B0503020204020204" charset="-122"/>
                <a:ea typeface="微软雅黑" panose="020B0503020204020204" charset="-122"/>
              </a:rPr>
              <a:t>http </a:t>
            </a:r>
            <a:r>
              <a:rPr lang="zh-CN" altLang="en-US" sz="1050">
                <a:solidFill>
                  <a:srgbClr val="94A3B8"/>
                </a:solidFill>
                <a:latin typeface="微软雅黑" panose="020B0503020204020204" charset="-122"/>
                <a:ea typeface="微软雅黑" panose="020B0503020204020204" charset="-122"/>
              </a:rPr>
              <a:t>客户端</a:t>
            </a:r>
            <a:r>
              <a:rPr lang="zh-CN" sz="1050">
                <a:solidFill>
                  <a:srgbClr val="94A3B8"/>
                </a:solidFill>
                <a:latin typeface="微软雅黑" panose="020B0503020204020204" charset="-122"/>
                <a:ea typeface="微软雅黑" panose="020B0503020204020204" charset="-122"/>
              </a:rPr>
              <a:t>：</a:t>
            </a:r>
            <a:r>
              <a:rPr lang="en-US" sz="1050">
                <a:solidFill>
                  <a:srgbClr val="94A3B8"/>
                </a:solidFill>
                <a:latin typeface="微软雅黑" panose="020B0503020204020204" charset="-122"/>
                <a:ea typeface="微软雅黑" panose="020B0503020204020204" charset="-122"/>
              </a:rPr>
              <a:t>f_httpclient</a:t>
            </a:r>
            <a:endParaRPr lang="en-US" sz="1050">
              <a:solidFill>
                <a:srgbClr val="94A3B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613" name="文本框 2612" descr="{&quot;isTemplate&quot;:true,&quot;type&quot;:&quot;text&quot;}"/>
          <p:cNvSpPr txBox="1"/>
          <p:nvPr/>
        </p:nvSpPr>
        <p:spPr>
          <a:xfrm>
            <a:off x="819150" y="3819525"/>
            <a:ext cx="3133725" cy="2571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05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既能被框架使用，也能单独当工具库引入</a:t>
            </a:r>
            <a:endParaRPr lang="zh-CN" sz="105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614" name="圆角矩形 2613"/>
          <p:cNvSpPr/>
          <p:nvPr/>
        </p:nvSpPr>
        <p:spPr>
          <a:xfrm>
            <a:off x="4314825" y="1143000"/>
            <a:ext cx="3562350" cy="3143250"/>
          </a:xfrm>
          <a:prstGeom prst="roundRect">
            <a:avLst>
              <a:gd name="adj" fmla="val 3636"/>
            </a:avLst>
          </a:prstGeom>
          <a:solidFill>
            <a:srgbClr val="111C2E"/>
          </a:solidFill>
          <a:ln w="12700">
            <a:solidFill>
              <a:srgbClr val="1E293B"/>
            </a:solidFill>
            <a:prstDash val="solid"/>
          </a:ln>
        </p:spPr>
        <p:txBody>
          <a:bodyPr/>
          <a:p/>
        </p:txBody>
      </p:sp>
      <p:sp>
        <p:nvSpPr>
          <p:cNvPr id="2615" name="文本框 2614" descr="{&quot;isTemplate&quot;:true,&quot;type&quot;:&quot;text&quot;}"/>
          <p:cNvSpPr txBox="1"/>
          <p:nvPr/>
        </p:nvSpPr>
        <p:spPr>
          <a:xfrm>
            <a:off x="4524375" y="1352550"/>
            <a:ext cx="3143250" cy="2286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E2E8F0"/>
                </a:solidFill>
                <a:latin typeface="微软雅黑" panose="020B0503020204020204" charset="-122"/>
                <a:ea typeface="微软雅黑" panose="020B0503020204020204" charset="-122"/>
              </a:rPr>
              <a:t>引用方式</a:t>
            </a:r>
            <a:endParaRPr lang="zh-CN" sz="1500" b="1">
              <a:solidFill>
                <a:srgbClr val="E2E8F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616" name="文本框 2615" descr="{&quot;isTemplate&quot;:true,&quot;type&quot;:&quot;text&quot;}"/>
          <p:cNvSpPr txBox="1"/>
          <p:nvPr/>
        </p:nvSpPr>
        <p:spPr>
          <a:xfrm>
            <a:off x="4524375" y="1676400"/>
            <a:ext cx="314325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在项目根</a:t>
            </a:r>
            <a:r>
              <a:rPr lang="en-US" sz="105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 cjpm.toml </a:t>
            </a:r>
            <a:r>
              <a:rPr lang="zh-CN" sz="105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里加依赖</a:t>
            </a:r>
            <a:endParaRPr lang="zh-CN" sz="105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617" name="圆角矩形 2616"/>
          <p:cNvSpPr/>
          <p:nvPr/>
        </p:nvSpPr>
        <p:spPr>
          <a:xfrm>
            <a:off x="4524375" y="1952625"/>
            <a:ext cx="3143250" cy="962025"/>
          </a:xfrm>
          <a:prstGeom prst="roundRect">
            <a:avLst>
              <a:gd name="adj" fmla="val 7921"/>
            </a:avLst>
          </a:prstGeom>
          <a:solidFill>
            <a:srgbClr val="0B1220"/>
          </a:solidFill>
          <a:ln w="12700">
            <a:solidFill>
              <a:srgbClr val="1E293B"/>
            </a:solidFill>
            <a:prstDash val="solid"/>
          </a:ln>
        </p:spPr>
        <p:txBody>
          <a:bodyPr/>
          <a:p/>
        </p:txBody>
      </p:sp>
      <p:sp>
        <p:nvSpPr>
          <p:cNvPr id="2618" name="文本框 2617" descr="{&quot;isTemplate&quot;:true,&quot;type&quot;:&quot;text&quot;}"/>
          <p:cNvSpPr txBox="1"/>
          <p:nvPr/>
        </p:nvSpPr>
        <p:spPr>
          <a:xfrm>
            <a:off x="4676775" y="2105025"/>
            <a:ext cx="2838450" cy="6572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90000"/>
              </a:lnSpc>
            </a:pPr>
            <a:r>
              <a:rPr lang="en-US" sz="1125">
                <a:solidFill>
                  <a:srgbClr val="22D3EE"/>
                </a:solidFill>
                <a:latin typeface="JetBrains Mono"/>
                <a:ea typeface="JetBrains Mono"/>
              </a:rPr>
              <a:t>[dependencies]</a:t>
            </a:r>
            <a:endParaRPr lang="en-US" sz="1125">
              <a:solidFill>
                <a:srgbClr val="22D3EE"/>
              </a:solidFill>
              <a:latin typeface="JetBrains Mono"/>
              <a:ea typeface="JetBrains Mono"/>
            </a:endParaRPr>
          </a:p>
          <a:p>
            <a:pPr>
              <a:lnSpc>
                <a:spcPct val="190000"/>
              </a:lnSpc>
            </a:pPr>
            <a:r>
              <a:rPr lang="en-US" sz="1125">
                <a:solidFill>
                  <a:srgbClr val="22D3EE"/>
                </a:solidFill>
                <a:latin typeface="JetBrains Mono"/>
                <a:ea typeface="JetBrains Mono"/>
              </a:rPr>
              <a:t>"fountain::f_orm" = "a.b.c"</a:t>
            </a:r>
            <a:endParaRPr lang="en-US" sz="1125">
              <a:solidFill>
                <a:srgbClr val="22D3EE"/>
              </a:solidFill>
              <a:latin typeface="JetBrains Mono"/>
              <a:ea typeface="JetBrains Mono"/>
            </a:endParaRPr>
          </a:p>
        </p:txBody>
      </p:sp>
      <p:sp>
        <p:nvSpPr>
          <p:cNvPr id="2619" name="文本框 2618" descr="{&quot;isTemplate&quot;:true,&quot;type&quot;:&quot;text&quot;}"/>
          <p:cNvSpPr txBox="1"/>
          <p:nvPr/>
        </p:nvSpPr>
        <p:spPr>
          <a:xfrm>
            <a:off x="4524375" y="3048000"/>
            <a:ext cx="3143250" cy="2762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050">
                <a:solidFill>
                  <a:srgbClr val="94A3B8"/>
                </a:solidFill>
                <a:latin typeface="微软雅黑" panose="020B0503020204020204" charset="-122"/>
                <a:ea typeface="微软雅黑" panose="020B0503020204020204" charset="-122"/>
              </a:rPr>
              <a:t>把</a:t>
            </a:r>
            <a:r>
              <a:rPr lang="en-US" sz="1050">
                <a:solidFill>
                  <a:srgbClr val="94A3B8"/>
                </a:solidFill>
                <a:latin typeface="微软雅黑" panose="020B0503020204020204" charset="-122"/>
                <a:ea typeface="微软雅黑" panose="020B0503020204020204" charset="-122"/>
              </a:rPr>
              <a:t> a.b.c </a:t>
            </a:r>
            <a:r>
              <a:rPr lang="zh-CN" sz="1050">
                <a:solidFill>
                  <a:srgbClr val="94A3B8"/>
                </a:solidFill>
                <a:latin typeface="微软雅黑" panose="020B0503020204020204" charset="-122"/>
                <a:ea typeface="微软雅黑" panose="020B0503020204020204" charset="-122"/>
              </a:rPr>
              <a:t>换成实际版本号，各模块版本一致。</a:t>
            </a:r>
            <a:endParaRPr lang="zh-CN" sz="1050">
              <a:solidFill>
                <a:srgbClr val="94A3B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620" name="文本框 2619" descr="{&quot;isTemplate&quot;:true,&quot;type&quot;:&quot;text&quot;}"/>
          <p:cNvSpPr txBox="1"/>
          <p:nvPr/>
        </p:nvSpPr>
        <p:spPr>
          <a:xfrm>
            <a:off x="4524375" y="3800475"/>
            <a:ext cx="3143250" cy="2762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050">
                <a:solidFill>
                  <a:srgbClr val="94A3B8"/>
                </a:solidFill>
                <a:latin typeface="微软雅黑" panose="020B0503020204020204" charset="-122"/>
                <a:ea typeface="微软雅黑" panose="020B0503020204020204" charset="-122"/>
              </a:rPr>
              <a:t>两种引用方式完全等价，团队内统一一种。</a:t>
            </a:r>
            <a:endParaRPr lang="zh-CN" sz="1050">
              <a:solidFill>
                <a:srgbClr val="94A3B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621" name="圆角矩形 2620"/>
          <p:cNvSpPr/>
          <p:nvPr/>
        </p:nvSpPr>
        <p:spPr>
          <a:xfrm>
            <a:off x="8029575" y="1143000"/>
            <a:ext cx="3552825" cy="3143250"/>
          </a:xfrm>
          <a:prstGeom prst="roundRect">
            <a:avLst>
              <a:gd name="adj" fmla="val 3636"/>
            </a:avLst>
          </a:prstGeom>
          <a:solidFill>
            <a:srgbClr val="111C2E"/>
          </a:solidFill>
          <a:ln w="12700">
            <a:solidFill>
              <a:srgbClr val="1E293B"/>
            </a:solidFill>
            <a:prstDash val="solid"/>
          </a:ln>
        </p:spPr>
        <p:txBody>
          <a:bodyPr/>
          <a:p/>
        </p:txBody>
      </p:sp>
      <p:sp>
        <p:nvSpPr>
          <p:cNvPr id="2622" name="文本框 2621" descr="{&quot;isTemplate&quot;:true,&quot;type&quot;:&quot;text&quot;}"/>
          <p:cNvSpPr txBox="1"/>
          <p:nvPr/>
        </p:nvSpPr>
        <p:spPr>
          <a:xfrm>
            <a:off x="8239125" y="1352550"/>
            <a:ext cx="3133725" cy="2286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E2E8F0"/>
                </a:solidFill>
                <a:latin typeface="微软雅黑" panose="020B0503020204020204" charset="-122"/>
                <a:ea typeface="微软雅黑" panose="020B0503020204020204" charset="-122"/>
              </a:rPr>
              <a:t>包名规则</a:t>
            </a:r>
            <a:endParaRPr lang="zh-CN" sz="1500" b="1">
              <a:solidFill>
                <a:srgbClr val="E2E8F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623" name="文本框 2622" descr="{&quot;isTemplate&quot;:true,&quot;type&quot;:&quot;text&quot;}"/>
          <p:cNvSpPr txBox="1"/>
          <p:nvPr/>
        </p:nvSpPr>
        <p:spPr>
          <a:xfrm>
            <a:off x="8239125" y="1733550"/>
            <a:ext cx="3133725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直接包名</a:t>
            </a:r>
            <a:endParaRPr lang="zh-CN" sz="105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624" name="文本框 2623" descr="{&quot;isTemplate&quot;:true,&quot;type&quot;:&quot;text&quot;}"/>
          <p:cNvSpPr txBox="1"/>
          <p:nvPr/>
        </p:nvSpPr>
        <p:spPr>
          <a:xfrm>
            <a:off x="8239125" y="1895475"/>
            <a:ext cx="3133725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38BDF8"/>
                </a:solidFill>
                <a:latin typeface="JetBrains Mono"/>
                <a:ea typeface="JetBrains Mono"/>
              </a:rPr>
              <a:t>fountain::f_orm.*</a:t>
            </a:r>
            <a:endParaRPr lang="en-US" sz="1125">
              <a:solidFill>
                <a:srgbClr val="38BDF8"/>
              </a:solidFill>
              <a:latin typeface="JetBrains Mono"/>
              <a:ea typeface="JetBrains Mono"/>
            </a:endParaRPr>
          </a:p>
        </p:txBody>
      </p:sp>
      <p:sp>
        <p:nvSpPr>
          <p:cNvPr id="2625" name="文本框 2624" descr="{&quot;isTemplate&quot;:true,&quot;type&quot;:&quot;text&quot;}"/>
          <p:cNvSpPr txBox="1"/>
          <p:nvPr/>
        </p:nvSpPr>
        <p:spPr>
          <a:xfrm>
            <a:off x="8239125" y="2219325"/>
            <a:ext cx="3133725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聚合包</a:t>
            </a:r>
            <a:endParaRPr lang="zh-CN" sz="105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626" name="文本框 2625" descr="{&quot;isTemplate&quot;:true,&quot;type&quot;:&quot;text&quot;}"/>
          <p:cNvSpPr txBox="1"/>
          <p:nvPr/>
        </p:nvSpPr>
        <p:spPr>
          <a:xfrm>
            <a:off x="8239125" y="2381250"/>
            <a:ext cx="3133725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38BDF8"/>
                </a:solidFill>
                <a:latin typeface="JetBrains Mono"/>
                <a:ea typeface="JetBrains Mono"/>
              </a:rPr>
              <a:t>fountain::fountain.orm.*</a:t>
            </a:r>
            <a:endParaRPr lang="en-US" sz="1125">
              <a:solidFill>
                <a:srgbClr val="38BDF8"/>
              </a:solidFill>
              <a:latin typeface="JetBrains Mono"/>
              <a:ea typeface="JetBrains Mono"/>
            </a:endParaRPr>
          </a:p>
        </p:txBody>
      </p:sp>
      <p:sp>
        <p:nvSpPr>
          <p:cNvPr id="2627" name="文本框 2626" descr="{&quot;isTemplate&quot;:true,&quot;type&quot;:&quot;text&quot;}"/>
          <p:cNvSpPr txBox="1"/>
          <p:nvPr/>
        </p:nvSpPr>
        <p:spPr>
          <a:xfrm>
            <a:off x="8239125" y="3524250"/>
            <a:ext cx="3133725" cy="552450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050">
                <a:solidFill>
                  <a:srgbClr val="94A3B8"/>
                </a:solidFill>
                <a:latin typeface="微软雅黑" panose="020B0503020204020204" charset="-122"/>
                <a:ea typeface="微软雅黑" panose="020B0503020204020204" charset="-122"/>
              </a:rPr>
              <a:t>聚合包把同一模块挂在统一命名空间下，迁移时少改</a:t>
            </a:r>
            <a:r>
              <a:rPr lang="en-US" sz="1050">
                <a:solidFill>
                  <a:srgbClr val="94A3B8"/>
                </a:solidFill>
                <a:latin typeface="微软雅黑" panose="020B0503020204020204" charset="-122"/>
                <a:ea typeface="微软雅黑" panose="020B0503020204020204" charset="-122"/>
              </a:rPr>
              <a:t> import</a:t>
            </a:r>
            <a:r>
              <a:rPr lang="zh-CN" sz="1050">
                <a:solidFill>
                  <a:srgbClr val="94A3B8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  <a:endParaRPr lang="zh-CN" sz="1050">
              <a:solidFill>
                <a:srgbClr val="94A3B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628" name="圆角矩形 2627"/>
          <p:cNvSpPr/>
          <p:nvPr/>
        </p:nvSpPr>
        <p:spPr>
          <a:xfrm>
            <a:off x="609600" y="4438650"/>
            <a:ext cx="10972800" cy="1847850"/>
          </a:xfrm>
          <a:prstGeom prst="roundRect">
            <a:avLst>
              <a:gd name="adj" fmla="val 6186"/>
            </a:avLst>
          </a:prstGeom>
          <a:solidFill>
            <a:srgbClr val="38BDF8">
              <a:alpha val="6000"/>
            </a:srgbClr>
          </a:solidFill>
          <a:ln w="12700">
            <a:solidFill>
              <a:srgbClr val="1E293B"/>
            </a:solidFill>
            <a:prstDash val="solid"/>
          </a:ln>
        </p:spPr>
        <p:txBody>
          <a:bodyPr/>
          <a:p/>
        </p:txBody>
      </p:sp>
      <p:sp>
        <p:nvSpPr>
          <p:cNvPr id="2629" name="矩形 2628"/>
          <p:cNvSpPr/>
          <p:nvPr/>
        </p:nvSpPr>
        <p:spPr>
          <a:xfrm>
            <a:off x="819150" y="5095875"/>
            <a:ext cx="38100" cy="533400"/>
          </a:xfrm>
          <a:prstGeom prst="rect">
            <a:avLst/>
          </a:prstGeom>
          <a:solidFill>
            <a:srgbClr val="38BDF8"/>
          </a:solidFill>
        </p:spPr>
        <p:txBody>
          <a:bodyPr/>
          <a:p/>
        </p:txBody>
      </p:sp>
      <p:sp>
        <p:nvSpPr>
          <p:cNvPr id="2630" name="文本框 2629" descr="{&quot;isTemplate&quot;:true,&quot;type&quot;:&quot;text&quot;}"/>
          <p:cNvSpPr txBox="1"/>
          <p:nvPr/>
        </p:nvSpPr>
        <p:spPr>
          <a:xfrm>
            <a:off x="1085850" y="5086350"/>
            <a:ext cx="10287000" cy="2000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E2E8F0"/>
                </a:solidFill>
                <a:latin typeface="微软雅黑" panose="020B0503020204020204" charset="-122"/>
                <a:ea typeface="微软雅黑" panose="020B0503020204020204" charset="-122"/>
              </a:rPr>
              <a:t>安装启动器：</a:t>
            </a:r>
            <a:r>
              <a:rPr lang="en-US" sz="1275" b="1">
                <a:solidFill>
                  <a:srgbClr val="E2E8F0"/>
                </a:solidFill>
                <a:latin typeface="微软雅黑" panose="020B0503020204020204" charset="-122"/>
                <a:ea typeface="微软雅黑" panose="020B0503020204020204" charset="-122"/>
              </a:rPr>
              <a:t>cjpm install "fountain::fboot"="</a:t>
            </a:r>
            <a:r>
              <a:rPr lang="zh-CN" sz="1275" b="1">
                <a:solidFill>
                  <a:srgbClr val="E2E8F0"/>
                </a:solidFill>
                <a:latin typeface="微软雅黑" panose="020B0503020204020204" charset="-122"/>
                <a:ea typeface="微软雅黑" panose="020B0503020204020204" charset="-122"/>
              </a:rPr>
              <a:t>【版本号】</a:t>
            </a:r>
            <a:r>
              <a:rPr lang="en-US" sz="1275" b="1">
                <a:solidFill>
                  <a:srgbClr val="E2E8F0"/>
                </a:solidFill>
                <a:latin typeface="微软雅黑" panose="020B0503020204020204" charset="-122"/>
                <a:ea typeface="微软雅黑" panose="020B0503020204020204" charset="-122"/>
              </a:rPr>
              <a:t>" --root ~/.cjpm</a:t>
            </a:r>
            <a:endParaRPr lang="en-US" sz="1275" b="1">
              <a:solidFill>
                <a:srgbClr val="E2E8F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631" name="文本框 2630" descr="{&quot;isTemplate&quot;:true,&quot;type&quot;:&quot;text&quot;}"/>
          <p:cNvSpPr txBox="1"/>
          <p:nvPr/>
        </p:nvSpPr>
        <p:spPr>
          <a:xfrm>
            <a:off x="1085850" y="5343525"/>
            <a:ext cx="10287000" cy="2952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125">
                <a:solidFill>
                  <a:srgbClr val="94A3B8"/>
                </a:solidFill>
                <a:latin typeface="微软雅黑" panose="020B0503020204020204" charset="-122"/>
                <a:ea typeface="微软雅黑" panose="020B0503020204020204" charset="-122"/>
              </a:rPr>
              <a:t>版本号可在仓库</a:t>
            </a:r>
            <a:r>
              <a:rPr lang="en-US" sz="1125">
                <a:solidFill>
                  <a:srgbClr val="94A3B8"/>
                </a:solidFill>
                <a:latin typeface="微软雅黑" panose="020B0503020204020204" charset="-122"/>
                <a:ea typeface="微软雅黑" panose="020B0503020204020204" charset="-122"/>
              </a:rPr>
              <a:t> README </a:t>
            </a:r>
            <a:r>
              <a:rPr lang="zh-CN" sz="1125">
                <a:solidFill>
                  <a:srgbClr val="94A3B8"/>
                </a:solidFill>
                <a:latin typeface="微软雅黑" panose="020B0503020204020204" charset="-122"/>
                <a:ea typeface="微软雅黑" panose="020B0503020204020204" charset="-122"/>
              </a:rPr>
              <a:t>或</a:t>
            </a:r>
            <a:r>
              <a:rPr lang="en-US" sz="1125">
                <a:solidFill>
                  <a:srgbClr val="94A3B8"/>
                </a:solidFill>
                <a:latin typeface="微软雅黑" panose="020B0503020204020204" charset="-122"/>
                <a:ea typeface="微软雅黑" panose="020B0503020204020204" charset="-122"/>
              </a:rPr>
              <a:t> f_version </a:t>
            </a:r>
            <a:r>
              <a:rPr lang="zh-CN" sz="1125">
                <a:solidFill>
                  <a:srgbClr val="94A3B8"/>
                </a:solidFill>
                <a:latin typeface="微软雅黑" panose="020B0503020204020204" charset="-122"/>
                <a:ea typeface="微软雅黑" panose="020B0503020204020204" charset="-122"/>
              </a:rPr>
              <a:t>模块查看。</a:t>
            </a:r>
            <a:endParaRPr lang="zh-CN" sz="1125">
              <a:solidFill>
                <a:srgbClr val="94A3B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632" name="任意多边形 2631"/>
          <p:cNvSpPr/>
          <p:nvPr/>
        </p:nvSpPr>
        <p:spPr>
          <a:xfrm>
            <a:off x="609600" y="6286500"/>
            <a:ext cx="10972800" cy="381000"/>
          </a:xfrm>
          <a:custGeom>
            <a:avLst/>
            <a:gdLst/>
            <a:ahLst/>
            <a:cxnLst/>
            <a:pathLst>
              <a:path w="1152" h="40">
                <a:moveTo>
                  <a:pt x="0" y="0"/>
                </a:moveTo>
                <a:lnTo>
                  <a:pt x="1152" y="0"/>
                </a:lnTo>
                <a:lnTo>
                  <a:pt x="1152" y="1"/>
                </a:lnTo>
                <a:lnTo>
                  <a:pt x="0" y="1"/>
                </a:lnTo>
                <a:close/>
              </a:path>
            </a:pathLst>
          </a:custGeom>
          <a:solidFill>
            <a:srgbClr val="1E293B"/>
          </a:solidFill>
        </p:spPr>
        <p:txBody>
          <a:bodyPr/>
          <a:p/>
        </p:txBody>
      </p:sp>
      <p:sp>
        <p:nvSpPr>
          <p:cNvPr id="2633" name="文本框 2632" descr="{&quot;isTemplate&quot;:true,&quot;type&quot;:&quot;text&quot;}"/>
          <p:cNvSpPr txBox="1"/>
          <p:nvPr/>
        </p:nvSpPr>
        <p:spPr>
          <a:xfrm>
            <a:off x="609600" y="6410325"/>
            <a:ext cx="2219325" cy="152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fountain · </a:t>
            </a:r>
            <a:r>
              <a:rPr lang="zh-CN" sz="975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一站式服务器应用开发工具库</a:t>
            </a:r>
            <a:r>
              <a:rPr lang="zh-CN" sz="975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　·　</a:t>
            </a:r>
            <a:r>
              <a:rPr lang="en-US" sz="975" u="none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hlinkClick r:id="rIdHlink1"/>
              </a:rPr>
              <a:t>https://pkg.cangjie-lang.cn/org/fountain</a:t>
            </a:r>
            <a:r>
              <a:rPr lang="zh-CN" sz="975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　·　</a:t>
            </a:r>
            <a:r>
              <a:rPr lang="en-US" sz="975" u="none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hlinkClick r:id="rIdHlink2"/>
              </a:rPr>
              <a:t>https://gitcode.com/Cangjie-SIG/fountain</a:t>
            </a:r>
            <a:endParaRPr lang="zh-CN" sz="975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634" name="文本框 2633" descr="{&quot;isTemplate&quot;:true,&quot;type&quot;:&quot;text&quot;}"/>
          <p:cNvSpPr txBox="1"/>
          <p:nvPr/>
        </p:nvSpPr>
        <p:spPr>
          <a:xfrm>
            <a:off x="11087100" y="6410325"/>
            <a:ext cx="495300" cy="152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08 / 116</a:t>
            </a:r>
            <a:endParaRPr lang="en-US" sz="975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0.xml><?xml version="1.0" encoding="utf-8"?>
<p:sld xmlns:r="http://schemas.openxmlformats.org/officeDocument/2006/relationships" xmlns:p="http://schemas.openxmlformats.org/presentationml/2006/main" xmlns:a="http://schemas.openxmlformats.org/drawingml/2006/main">
  <p:cSld>
    <p:spTree>
      <p:nvGrpSpPr>
        <p:cNvPr id="14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  <a:ln/>
        </p:spPr>
        <p:txBody>
          <a:bodyPr/>
          <a:p/>
        </p:txBody>
      </p:sp>
      <p:sp>
        <p:nvSpPr>
          <p:cNvPr id="16" name=""/>
          <p:cNvSpPr txBox="1"/>
          <p:nvPr/>
        </p:nvSpPr>
        <p:spPr>
          <a:xfrm rot="0" flipH="0" flipV="0">
            <a:off x="8458200" y="1619250"/>
            <a:ext cx="3352800" cy="22860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0" b="1">
                <a:solidFill>
                  <a:srgbClr val="16233A"/>
                </a:solidFill>
                <a:latin typeface="JetBrains Mono"/>
                <a:ea typeface="JetBrains Mono"/>
              </a:rPr>
              <a:t>END</a:t>
            </a:r>
            <a:endParaRPr/>
          </a:p>
        </p:txBody>
      </p:sp>
      <p:sp>
        <p:nvSpPr>
          <p:cNvPr id="17" name=""/>
          <p:cNvSpPr/>
          <p:nvPr/>
        </p:nvSpPr>
        <p:spPr>
          <a:xfrm rot="0" flipH="0" flipV="0">
            <a:off x="0" y="0"/>
            <a:ext cx="76200" cy="6858000"/>
          </a:xfrm>
          <a:prstGeom prst="rect">
            <a:avLst/>
          </a:prstGeom>
          <a:gradFill>
            <a:gsLst>
              <a:gs pos="0">
                <a:srgbClr val="38BDF8"/>
              </a:gs>
              <a:gs pos="100000">
                <a:srgbClr val="22D3EE"/>
              </a:gs>
            </a:gsLst>
            <a:lin ang="2700000" scaled="1"/>
          </a:gradFill>
          <a:ln/>
        </p:spPr>
        <p:txBody>
          <a:bodyPr/>
          <a:p/>
        </p:txBody>
      </p:sp>
      <p:sp>
        <p:nvSpPr>
          <p:cNvPr id="18" name=""/>
          <p:cNvSpPr/>
          <p:nvPr/>
        </p:nvSpPr>
        <p:spPr>
          <a:xfrm rot="0" flipH="0" flipV="0">
            <a:off x="1143000" y="1428750"/>
            <a:ext cx="38100" cy="323850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p/>
        </p:txBody>
      </p:sp>
      <p:sp>
        <p:nvSpPr>
          <p:cNvPr id="19" name=""/>
          <p:cNvSpPr txBox="1"/>
          <p:nvPr/>
        </p:nvSpPr>
        <p:spPr>
          <a:xfrm rot="0" flipH="0" flipV="0">
            <a:off x="1333500" y="1514475"/>
            <a:ext cx="31813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spc="300">
                <a:solidFill>
                  <a:srgbClr val="38BDF8"/>
                </a:solidFill>
                <a:latin typeface="微软雅黑" panose="020B0503020204020204" charset="-122"/>
                <a:ea typeface="微软雅黑" panose="020B0503020204020204" charset="-122"/>
              </a:rPr>
              <a:t>本讲小结</a:t>
            </a:r>
            <a:r>
              <a:rPr lang="en-US" sz="1125" spc="300">
                <a:solidFill>
                  <a:srgbClr val="38BDF8"/>
                </a:solidFill>
                <a:latin typeface="微软雅黑" panose="020B0503020204020204" charset="-122"/>
                <a:ea typeface="微软雅黑" panose="020B0503020204020204" charset="-122"/>
              </a:rPr>
              <a:t xml:space="preserve"> 01 / 25</a:t>
            </a:r>
            <a:endParaRPr/>
          </a:p>
        </p:txBody>
      </p:sp>
      <p:sp>
        <p:nvSpPr>
          <p:cNvPr id="20" name=""/>
          <p:cNvSpPr txBox="1"/>
          <p:nvPr/>
        </p:nvSpPr>
        <p:spPr>
          <a:xfrm rot="0" flipH="0" flipV="0">
            <a:off x="1143000" y="2019300"/>
            <a:ext cx="2600325" cy="552450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en-US" sz="30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开场与总体介绍</a:t>
            </a:r>
            <a:endParaRPr/>
          </a:p>
        </p:txBody>
      </p:sp>
      <p:sp>
        <p:nvSpPr>
          <p:cNvPr id="21" name=""/>
          <p:cNvSpPr/>
          <p:nvPr/>
        </p:nvSpPr>
        <p:spPr>
          <a:xfrm rot="0" flipH="0" flipV="0">
            <a:off x="1143000" y="2724150"/>
            <a:ext cx="1524000" cy="57150"/>
          </a:xfrm>
          <a:prstGeom prst="rect">
            <a:avLst/>
          </a:prstGeom>
          <a:gradFill>
            <a:gsLst>
              <a:gs pos="0">
                <a:srgbClr val="38BDF8"/>
              </a:gs>
              <a:gs pos="100000">
                <a:srgbClr val="22D3EE"/>
              </a:gs>
            </a:gsLst>
            <a:lin ang="2700000" scaled="1"/>
          </a:gradFill>
          <a:ln/>
        </p:spPr>
        <p:txBody>
          <a:bodyPr/>
          <a:p/>
        </p:txBody>
      </p:sp>
      <p:sp>
        <p:nvSpPr>
          <p:cNvPr id="22" name=""/>
          <p:cNvSpPr txBox="1"/>
          <p:nvPr/>
        </p:nvSpPr>
        <p:spPr>
          <a:xfrm rot="0" flipH="0" flipV="0">
            <a:off x="1143000" y="3200400"/>
            <a:ext cx="866775" cy="390525"/>
          </a:xfrm>
          <a:prstGeom prst="rect"/>
        </p:spPr>
        <p:txBody>
          <a:bodyPr wrap="none" lIns="0" tIns="0" rIns="0" bIns="0"/>
          <a:p>
            <a:pPr>
              <a:lnSpc>
                <a:spcPct val="200000"/>
              </a:lnSpc>
            </a:pPr>
            <a:r>
              <a:rPr lang="en-US" sz="1275">
                <a:solidFill>
                  <a:srgbClr val="E2E8F0"/>
                </a:solidFill>
                <a:latin typeface="微软雅黑" panose="020B0503020204020204" charset="-122"/>
                <a:ea typeface="微软雅黑" panose="020B0503020204020204" charset="-122"/>
              </a:rPr>
              <a:t>· 为什么用 fountain：我们到底在重复哪五类劳动</a:t>
            </a:r>
            <a:endParaRPr/>
          </a:p>
        </p:txBody>
      </p:sp>
      <p:sp>
        <p:nvSpPr>
          <p:cNvPr id="23" name=""/>
          <p:cNvSpPr txBox="1"/>
          <p:nvPr/>
        </p:nvSpPr>
        <p:spPr>
          <a:xfrm rot="0" flipH="0" flipV="0">
            <a:off x="1143000" y="3638550"/>
            <a:ext cx="866775" cy="390525"/>
          </a:xfrm>
          <a:prstGeom prst="rect"/>
        </p:spPr>
        <p:txBody>
          <a:bodyPr wrap="none" lIns="0" tIns="0" rIns="0" bIns="0"/>
          <a:p>
            <a:pPr>
              <a:lnSpc>
                <a:spcPct val="200000"/>
              </a:lnSpc>
            </a:pPr>
            <a:r>
              <a:rPr lang="en-US" sz="1275">
                <a:solidFill>
                  <a:srgbClr val="E2E8F0"/>
                </a:solidFill>
                <a:latin typeface="微软雅黑" panose="020B0503020204020204" charset="-122"/>
                <a:ea typeface="微软雅黑" panose="020B0503020204020204" charset="-122"/>
              </a:rPr>
              <a:t>· fountain 是什么：核心能力与外围模块全景</a:t>
            </a:r>
            <a:endParaRPr/>
          </a:p>
        </p:txBody>
      </p:sp>
      <p:sp>
        <p:nvSpPr>
          <p:cNvPr id="24" name=""/>
          <p:cNvSpPr txBox="1"/>
          <p:nvPr/>
        </p:nvSpPr>
        <p:spPr>
          <a:xfrm rot="0" flipH="0" flipV="0">
            <a:off x="1143000" y="4076700"/>
            <a:ext cx="866775" cy="390525"/>
          </a:xfrm>
          <a:prstGeom prst="rect"/>
        </p:spPr>
        <p:txBody>
          <a:bodyPr wrap="none" lIns="0" tIns="0" rIns="0" bIns="0"/>
          <a:p>
            <a:pPr>
              <a:lnSpc>
                <a:spcPct val="200000"/>
              </a:lnSpc>
            </a:pPr>
            <a:r>
              <a:rPr lang="en-US" sz="1275">
                <a:solidFill>
                  <a:srgbClr val="E2E8F0"/>
                </a:solidFill>
                <a:latin typeface="微软雅黑" panose="020B0503020204020204" charset="-122"/>
                <a:ea typeface="微软雅黑" panose="020B0503020204020204" charset="-122"/>
              </a:rPr>
              <a:t>· 课程地图与录制前的环境检查</a:t>
            </a:r>
            <a:endParaRPr/>
          </a:p>
        </p:txBody>
      </p:sp>
      <p:sp>
        <p:nvSpPr>
          <p:cNvPr id="25" name=""/>
          <p:cNvSpPr/>
          <p:nvPr/>
        </p:nvSpPr>
        <p:spPr>
          <a:xfrm rot="0" flipH="0" flipV="0">
            <a:off x="1143000" y="4762500"/>
            <a:ext cx="38100" cy="38100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p/>
        </p:txBody>
      </p:sp>
      <p:sp>
        <p:nvSpPr>
          <p:cNvPr id="26" name=""/>
          <p:cNvSpPr txBox="1"/>
          <p:nvPr/>
        </p:nvSpPr>
        <p:spPr>
          <a:xfrm rot="0" flipH="0" flipV="0">
            <a:off x="1371600" y="4857750"/>
            <a:ext cx="10572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59E0B"/>
                </a:solidFill>
                <a:latin typeface="微软雅黑" panose="020B0503020204020204" charset="-122"/>
                <a:ea typeface="微软雅黑" panose="020B0503020204020204" charset="-122"/>
              </a:rPr>
              <a:t>下一讲：三个设计决策与上台准备</a:t>
            </a:r>
            <a:endParaRPr/>
          </a:p>
        </p:txBody>
      </p:sp>
      <p:sp>
        <p:nvSpPr>
          <p:cNvPr id="27" name=""/>
          <p:cNvSpPr txBox="1"/>
          <p:nvPr/>
        </p:nvSpPr>
        <p:spPr>
          <a:xfrm rot="0" flipH="0" flipV="0">
            <a:off x="609600" y="6362700"/>
            <a:ext cx="43529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 xml:space="preserve">fountain · </a:t>
            </a:r>
            <a:r>
              <a:rPr lang="zh-CN" sz="975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一站式服务器应用开发工具库　　</a:t>
            </a:r>
            <a:r>
              <a:rPr u="none" lang="en-US" sz="975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hlinkClick r:id="rIdHlink1"/>
              <a:t>https://pkg.cangjie-lang.cn/org/fountain</a:t>
            </a:r>
            <a:r>
              <a:rPr lang="zh-CN" sz="975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　　</a:t>
            </a:r>
            <a:r>
              <a:rPr u="none" lang="en-US" sz="975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hlinkClick r:id="rIdHlink2"/>
              <a:t>https://gitcode.com/Cangjie-SIG/fountain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helloworld</cp:lastModifiedBy>
  <cp:revision>148</cp:revision>
  <dcterms:created xsi:type="dcterms:W3CDTF">2026-10-02T13:55:00Z</dcterms:created>
  <dcterms:modified xsi:type="dcterms:W3CDTF">2026-10-03T02:38:11Z</dcterms:modified>
</cp:coreProperties>
</file>