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  <p:sldId id="263" r:id="rIdSl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这一讲先花几分钟把 fboot 的其余命令过完，包括自定义子命令的注册方式。然后进入第四章 f_config。先说结论：fountain 没有配置文件，配置只有四个来源。接着讲命令行参数的四种合法写法，以及为什么同一个写法在 fboot build 和 fboot run 两个舞台上的效果不同。最后是读取优先级与 Config API。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剩下的命令快速过一遍。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fboot count 统计项目的模块数、包数、文件数和行数，还能按扩展名过滤、忽略括号和注释。fboot test 用 test 目录下的 cjpm.toml 覆盖根目录那份，先 build 再 run，缺 --dylibPattern 会抛 BootException。fboot pub 批量发布模块，自动按依赖排序、改版本号、探测制品仓库，范围由 .modules 文件的 include、exclude、detention 控制。fboot version 不带参数是打印版本号，带版本号是用来管理 fountain 自身的，会做 git 提交、推送、打 tag。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最后一行是自定义子命令。pub 和 randhex 本身就是最好的例子。你只要写一个实现 SubCommand 的类，在 static init 里调 SubCommandMediator.register，把它编译成动态链接库，就可以用 fboot 加子命令名的方式来执行。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未命中时框架会扫描并加载动态链接库、让 static init 完成注册，然后重试一次；仍然没有才抛异常并列出可用命令。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第四章讲配置，先给结论：fountain 没有配置文件。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上一章你已经看到，fboot build 和 fboot run 后面总要挂一长串参数——mvc_port、orm_drivers、logger 开头的、controllerPointcut，那些全都是配置，它们全都由 f_config 统一读取。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 f_config 最重要的一句话是：不依赖任何配置文件。配置项只有四个来源：环境变量、</a:t>
            </a:r>
            <a:r>
              <a:rPr lang="en-US" altLang="zh-CN" dirty="0"/>
              <a:t>--</a:t>
            </a:r>
            <a:r>
              <a:rPr lang="zh-CN" altLang="en-US" dirty="0"/>
              <a:t>开头等号分隔的键值对</a:t>
            </a:r>
            <a:r>
              <a:rPr lang="zh-CN" dirty="0"/>
              <a:t>形式的命令行参数、进程内的 Config.set、以及编译期内嵌的敏感配置。没有 application.yml，没有 properties，没有</a:t>
            </a:r>
            <a:r>
              <a:rPr lang="en-US" altLang="zh-CN" dirty="0"/>
              <a:t>xml</a:t>
            </a:r>
            <a:r>
              <a:rPr lang="zh-CN" altLang="en-US" dirty="0"/>
              <a:t>，</a:t>
            </a:r>
            <a:r>
              <a:rPr lang="zh-CN" dirty="0"/>
              <a:t>没有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前两个是完全平级的：环境变量能做的事，命令行参数都能做，而且命令行参数会覆盖同名环境变量。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这里先埋一个后面会反复用到的规则：只要一个仓颉进程链接了 f_config，它的命令行参数就会被自动解析成配置项——不限于 fboot 的任何子命令，也包括你自己写的、依赖了 f_config 的程序。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命令行参数有四种合法写法。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第一种，双横线加 key=value。key 是等号左侧，value 是等号右侧，两侧都会 trim。为了跟 cjpm 自己的参数区分开，fboot build 只支持这一种写法。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第二种，只有双横线的 argName，等价于 argName=true。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第三种，单横线加空格加值。如果下一个参数以横线开头，就不把它当作值，这个配置项的值就是 true。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第四种，只有单横线加 argName，等价于单横线 argName 空格 true。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三条规则要记住。第一，单横线形式不支持等号赋值，写成 -argName=argValue 会被整体当成一个配置项名。第二，不以横线开头的参数会被忽略，程序自身路径也不参与解析。第三，命名风格不会被改写——仓颉运行时自身的环境变量是驼峰命名，所以业务配置也建议用驼峰。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fdemo/boot.sh 里现成的例子：一个 args 变量，一行一行往上拼，最后统一交给 fboot build。就在它上面，作者留了一段被注释掉的等价写法，用的全是 export。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这里先把边界划清：不是「fboot 支持命令行参数」，而是「任何用了 f_config 的仓颉进程都支持」。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只要一个仓颉进程链接了 f_config 模块，它的 static init 就会去读自己的命令行参数，把 --key=value 装载成配置项。这跟 fboot 没什么特殊关系，fboot 只是恰好也用了 f_config 的一个仓颉进程而已。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同样适用的还有：fboot run 启动的应用进程（应用就是被加载进这个进程的）；你自己写的任何带 main 的可执行程序，只要 import 了 f_config；任何用 cjpm run 跑起来、依赖了 f_config 的二进制；以及任何间接依赖了 f_config 的程序，比如你引了 f_orm，它依赖 f_config。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 --key=value 是 f_config 这个模块的能力，不是某个命令的开关。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同一个写法在两个舞台上走的路径不一样。编译期，命令行参数在 fboot build 进程的 argv 里，被 fboot 进程里的 f_config 读到，转成 cjpm build 子进程的环境变量，宏在编译期读到它们并把连接串、口令加密嵌入产物。运行期，参数在 fboot run 进程的 argv 里，同一个 f_config、同一套 static init，装载进 ARGS 并覆盖同名环境变量。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读取优先级是本章重点。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一次 Config.getString 的查找顺序是四级，先命中者生效。第一级，环境变量或命令行参数。第二级，带全局前缀的同名项。第三级，编译期内嵌的敏感值。第四级，带全局前缀的敏感值。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结论就是一句话：运行期配置，也就是环境变量和命令行参数，优先级高于编译期内嵌值。这就是为什么你可以编译期把数据库密码嵌入编译产物，生产环境再用环境变量覆盖掉。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还有一个细节是全局前缀 fountain。Config 内置了前缀 fountain：原名没命中时，它会再试一次带 fountain 下划线前缀的名字；而 getAll 的结果里则会把前缀去掉。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这两种写法是等价的：export myAppSecret 和 export fountain_myAppSecret，Config.getString('myAppSecret') 都能命中。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getAll 传前缀时，会返回所有以这个前缀开头的配置项；prefix 为空就返回全部。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Config 的 API 挑几个最有辨识度的讲。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第一，getValue 和 getData 是单例读取，解析失败返回 None，不抛异常。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第二，getValues 和 getDatas 是数组读取，解析失败会抛异常，配置项不存在则返回空数组。这个「单数不抛、复数抛」的不对称一定要记住，写容错代码时别搞混。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第三，bufferSize 更贴心：配置项不存在、解析失败或者小于等于零，就用默认值；调试模式下原样返回；非调试模式下会向上取整到 2 的幂，而且恒不小于默认值。环形缓冲区直接拿它就行。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另外几个常用的：getStringArray 按分隔符切字符串数组；getDateTime 带自己的时间格式；getDuration 解析 Duration 字符串；getAll 按前缀取一批；set 是运行期写入；refresher 是注册刷新回调。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最后两个是敏感配置用的：getSM4 拿到 SM4 实例，registerSensitive 在进程内注册一项敏感值——@EmbedSensitive 展开后调的就是它。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这一讲三个要点：一，配置只有四个来源，命令行参数覆盖同名环境变量；二，单数读取失败返回 None、复数读取失败抛异常，这个不对称一定要记住；三，命令行参数不是 fboot 的特权，任何链接了 f_config 的仓颉进程都会读自己的 argv。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04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f_config 配置体系（上）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其余 fboot 命令与自定义子命令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没有配置文件：四个来源与四级优先级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命令行参数的四种写法　·　同一个写法，两个舞台　·　Config API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4 讲 / 共 25 讲　·　原稿第 22–27 页 + 首尾两页　·　约 13.9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矩形 8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70" name="矩形 86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71" name="文本框 870" descr="{&quot;isTemplate&quot;:true,&quot;type&quot;:&quot;text&quot;}"/>
          <p:cNvSpPr txBox="1"/>
          <p:nvPr/>
        </p:nvSpPr>
        <p:spPr>
          <a:xfrm>
            <a:off x="819150" y="304800"/>
            <a:ext cx="9972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2" name="文本框 871" descr="{&quot;isTemplate&quot;:true,&quot;type&quot;:&quot;text&quot;}"/>
          <p:cNvSpPr txBox="1"/>
          <p:nvPr/>
        </p:nvSpPr>
        <p:spPr>
          <a:xfrm>
            <a:off x="819150" y="514350"/>
            <a:ext cx="9972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其余命令与自定义子命令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3" name="文本框 872" descr="{&quot;isTemplate&quot;:true,&quot;type&quot;:&quot;text&quot;}"/>
          <p:cNvSpPr txBox="1"/>
          <p:nvPr/>
        </p:nvSpPr>
        <p:spPr>
          <a:xfrm>
            <a:off x="10963275" y="5905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快速过一遍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74" name="表格 873"/>
          <p:cNvGraphicFramePr/>
          <p:nvPr/>
        </p:nvGraphicFramePr>
        <p:xfrm>
          <a:off x="609600" y="1143000"/>
          <a:ext cx="10972800" cy="2857500"/>
        </p:xfrm>
        <a:graphic>
          <a:graphicData uri="http://schemas.openxmlformats.org/drawingml/2006/table">
            <a:tbl>
              <a:tblPr/>
              <a:tblGrid>
                <a:gridCol w="3939822"/>
                <a:gridCol w="3633410"/>
                <a:gridCol w="3399568"/>
              </a:tblGrid>
              <a:tr h="31602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作用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演示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259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count [PATH] [--ext=cj] [--ignoreBrackets] [--ignoreComments]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统计项目模块数 / 包数 / 文件数 / 行数与耗时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count ./fdemo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912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test [PATH] [args...] --dylibPattern=【正则】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 PATH/test/cjpm.toml 覆盖 PATH/cjpm.toml，先 build 再 run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缺 --dylibPattern 会抛 BootException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912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pub 【x.y.z】 [--skip-lint] [--skip-test]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批量发布模块，自动按依赖排序、改版本号、探测制品仓库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 .modules 文件的 [include] / [exclude] / [detention] 控制范围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912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version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打印 fountain 版本（不带参数）；管理 fountain 自身版本（带 x.y.z）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谨慎演示，它会动 git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812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【自定义子命令】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执行实现了 fountain::f_app.SubCommand 的类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见下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75" name="圆角矩形 874"/>
          <p:cNvSpPr/>
          <p:nvPr/>
        </p:nvSpPr>
        <p:spPr>
          <a:xfrm>
            <a:off x="609600" y="4152900"/>
            <a:ext cx="10972800" cy="2133600"/>
          </a:xfrm>
          <a:prstGeom prst="roundRect">
            <a:avLst>
              <a:gd name="adj" fmla="val 535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876" name="文本框 875" descr="{&quot;isTemplate&quot;:true,&quot;type&quot;:&quot;text&quot;}"/>
          <p:cNvSpPr txBox="1"/>
          <p:nvPr/>
        </p:nvSpPr>
        <p:spPr>
          <a:xfrm>
            <a:off x="819150" y="4362450"/>
            <a:ext cx="10553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自定义子命令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7" name="文本框 876" descr="{&quot;isTemplate&quot;:true,&quot;type&quot;:&quot;text&quot;}"/>
          <p:cNvSpPr txBox="1"/>
          <p:nvPr/>
        </p:nvSpPr>
        <p:spPr>
          <a:xfrm>
            <a:off x="819150" y="4667250"/>
            <a:ext cx="10553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pub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randhex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本身就是最好的例子：写一个实现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SubCommand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的类，在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static init()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SubCommandMediator.register(...)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，编译成动态链接库即可。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8" name="文本框 877" descr="{&quot;isTemplate&quot;:true,&quot;type&quot;:&quot;text&quot;}"/>
          <p:cNvSpPr txBox="1"/>
          <p:nvPr/>
        </p:nvSpPr>
        <p:spPr>
          <a:xfrm>
            <a:off x="819150" y="5800725"/>
            <a:ext cx="10553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未命中时框架会扫描并加载动态链接库、让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static init()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完成注册，然后重试一次；仍然没有才抛异常并列出可用命令。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9" name="任意多边形 87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80" name="文本框 87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1" name="文本框 88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矩形 8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84" name="矩形 88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85" name="文本框 884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6" name="文本框 885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开场：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没有配置文件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7" name="文本框 886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只有四个来源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8" name="圆角矩形 887"/>
          <p:cNvSpPr/>
          <p:nvPr/>
        </p:nvSpPr>
        <p:spPr>
          <a:xfrm>
            <a:off x="609600" y="1143000"/>
            <a:ext cx="10972800" cy="1695450"/>
          </a:xfrm>
          <a:prstGeom prst="roundRect">
            <a:avLst>
              <a:gd name="adj" fmla="val 674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89" name="文本框 888" descr="{&quot;isTemplate&quot;:true,&quot;type&quot;:&quot;text&quot;}"/>
          <p:cNvSpPr txBox="1"/>
          <p:nvPr/>
        </p:nvSpPr>
        <p:spPr>
          <a:xfrm>
            <a:off x="838200" y="1609725"/>
            <a:ext cx="70485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「不依赖任何配置文件。」</a:t>
            </a:r>
            <a:endParaRPr lang="zh-CN" sz="24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0" name="文本框 889" descr="{&quot;isTemplate&quot;:true,&quot;type&quot;:&quot;text&quot;}"/>
          <p:cNvSpPr txBox="1"/>
          <p:nvPr/>
        </p:nvSpPr>
        <p:spPr>
          <a:xfrm>
            <a:off x="838200" y="2076450"/>
            <a:ext cx="7048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端口、连接池、事务规则、日志格式、数据库连接串，全都来自下表的四个来源。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1" name="圆角矩形 890"/>
          <p:cNvSpPr/>
          <p:nvPr/>
        </p:nvSpPr>
        <p:spPr>
          <a:xfrm>
            <a:off x="8115300" y="1333500"/>
            <a:ext cx="32385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92" name="文本框 891" descr="{&quot;isTemplate&quot;:true,&quot;type&quot;:&quot;text&quot;}"/>
          <p:cNvSpPr txBox="1"/>
          <p:nvPr/>
        </p:nvSpPr>
        <p:spPr>
          <a:xfrm>
            <a:off x="8229600" y="1447800"/>
            <a:ext cx="300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application.yml</a:t>
            </a:r>
            <a:endParaRPr lang="en-US" sz="1050" strike="sng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3" name="圆角矩形 892"/>
          <p:cNvSpPr/>
          <p:nvPr/>
        </p:nvSpPr>
        <p:spPr>
          <a:xfrm>
            <a:off x="8115300" y="1800225"/>
            <a:ext cx="32385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94" name="文本框 893" descr="{&quot;isTemplate&quot;:true,&quot;type&quot;:&quot;text&quot;}"/>
          <p:cNvSpPr txBox="1"/>
          <p:nvPr/>
        </p:nvSpPr>
        <p:spPr>
          <a:xfrm>
            <a:off x="8229600" y="1914525"/>
            <a:ext cx="300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*.properties</a:t>
            </a:r>
            <a:endParaRPr lang="en-US" sz="1050" strike="sng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5" name="圆角矩形 894"/>
          <p:cNvSpPr/>
          <p:nvPr/>
        </p:nvSpPr>
        <p:spPr>
          <a:xfrm>
            <a:off x="8115300" y="2266950"/>
            <a:ext cx="32385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96" name="文本框 895" descr="{&quot;isTemplate&quot;:true,&quot;type&quot;:&quot;text&quot;}"/>
          <p:cNvSpPr txBox="1"/>
          <p:nvPr/>
        </p:nvSpPr>
        <p:spPr>
          <a:xfrm>
            <a:off x="8229600" y="2381250"/>
            <a:ext cx="300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 </a:t>
            </a:r>
            <a:r>
              <a:rPr lang="zh-CN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endParaRPr lang="zh-CN" sz="1050" strike="sng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97" name="表格 896"/>
          <p:cNvGraphicFramePr/>
          <p:nvPr/>
        </p:nvGraphicFramePr>
        <p:xfrm>
          <a:off x="609600" y="2990850"/>
          <a:ext cx="10972800" cy="3295650"/>
        </p:xfrm>
        <a:graphic>
          <a:graphicData uri="http://schemas.openxmlformats.org/drawingml/2006/table">
            <a:tbl>
              <a:tblPr/>
              <a:tblGrid>
                <a:gridCol w="1871511"/>
                <a:gridCol w="3812912"/>
                <a:gridCol w="5288377"/>
              </a:tblGrid>
              <a:tr h="64233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何时生效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环境变量</a:t>
                      </a:r>
                      <a:endParaRPr sz="1125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export mvc_port=8080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进程启动时由 static init 装载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命令行参数</a:t>
                      </a:r>
                      <a:endParaRPr sz="112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--mvc_port=9090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同上，且覆盖同名环境变量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进程内 Config.set</a:t>
                      </a:r>
                      <a:endParaRPr sz="1125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Config.set&lt;Int64&gt;([("mvc_port", 9090)])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运行期写入 / 覆盖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编译期内嵌的敏感值</a:t>
                      </a:r>
                      <a:endParaRPr sz="1125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build --paySecret=xxx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编译时嵌入产物，运行期解密 / 还原（@EmbedSensitive）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98" name="任意多边形 89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99" name="文本框 89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" name="文本框 89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矩形 9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03" name="矩形 90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04" name="文本框 903" descr="{&quot;isTemplate&quot;:true,&quot;type&quot;:&quot;text&quot;}"/>
          <p:cNvSpPr txBox="1"/>
          <p:nvPr/>
        </p:nvSpPr>
        <p:spPr>
          <a:xfrm>
            <a:off x="819150" y="304800"/>
            <a:ext cx="10344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5" name="文本框 904" descr="{&quot;isTemplate&quot;:true,&quot;type&quot;:&quot;text&quot;}"/>
          <p:cNvSpPr txBox="1"/>
          <p:nvPr/>
        </p:nvSpPr>
        <p:spPr>
          <a:xfrm>
            <a:off x="819150" y="514350"/>
            <a:ext cx="10344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命令行参数的四种合法写法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6" name="文本框 905" descr="{&quot;isTemplate&quot;:true,&quot;type&quot;:&quot;text&quot;}"/>
          <p:cNvSpPr txBox="1"/>
          <p:nvPr/>
        </p:nvSpPr>
        <p:spPr>
          <a:xfrm>
            <a:off x="11334750" y="59055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重点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07" name="表格 906"/>
          <p:cNvGraphicFramePr/>
          <p:nvPr/>
        </p:nvGraphicFramePr>
        <p:xfrm>
          <a:off x="609600" y="1143000"/>
          <a:ext cx="10972800" cy="2362200"/>
        </p:xfrm>
        <a:graphic>
          <a:graphicData uri="http://schemas.openxmlformats.org/drawingml/2006/table">
            <a:tbl>
              <a:tblPr/>
              <a:tblGrid>
                <a:gridCol w="1926800"/>
                <a:gridCol w="9046000"/>
              </a:tblGrid>
              <a:tr h="4604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写法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--argName=argValue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key = '=' 左侧，value = '=' 右侧，两侧都 trimAscii；为了跟 cjpm 参数区分，fboot build 只支持这一种写法</a:t>
                      </a:r>
                      <a:endParaRPr sz="112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--argName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等价于 --argName=true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-argName argVal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下一个参数若以 '-' 开头则不当作值，该配置项值为 true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-argName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等价于 -argName true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08" name="圆角矩形 907"/>
          <p:cNvSpPr/>
          <p:nvPr/>
        </p:nvSpPr>
        <p:spPr>
          <a:xfrm>
            <a:off x="609600" y="3657600"/>
            <a:ext cx="5410200" cy="2628900"/>
          </a:xfrm>
          <a:prstGeom prst="roundRect">
            <a:avLst>
              <a:gd name="adj" fmla="val 434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09" name="文本框 908" descr="{&quot;isTemplate&quot;:true,&quot;type&quot;:&quot;text&quot;}"/>
          <p:cNvSpPr txBox="1"/>
          <p:nvPr/>
        </p:nvSpPr>
        <p:spPr>
          <a:xfrm>
            <a:off x="800100" y="3848100"/>
            <a:ext cx="502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三条规则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0" name="文本框 909" descr="{&quot;isTemplate&quot;:true,&quot;type&quot;:&quot;text&quot;}"/>
          <p:cNvSpPr txBox="1"/>
          <p:nvPr/>
        </p:nvSpPr>
        <p:spPr>
          <a:xfrm>
            <a:off x="800100" y="413385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单横线形式不支持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赋值，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-argName=argValue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会被整体当成配置项名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" name="文本框 910" descr="{&quot;isTemplate&quot;:true,&quot;type&quot;:&quot;text&quot;}"/>
          <p:cNvSpPr txBox="1"/>
          <p:nvPr/>
        </p:nvSpPr>
        <p:spPr>
          <a:xfrm>
            <a:off x="800100" y="4505325"/>
            <a:ext cx="50292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不以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开头的参数被忽略；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env.getCommandLine()[0]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（程序自身路径）不参与解析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2" name="文本框 911" descr="{&quot;isTemplate&quot;:true,&quot;type&quot;:&quot;text&quot;}"/>
          <p:cNvSpPr txBox="1"/>
          <p:nvPr/>
        </p:nvSpPr>
        <p:spPr>
          <a:xfrm>
            <a:off x="800100" y="516255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命名风格不被改写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业务配置建议同样用驼峰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3" name="圆角矩形 912"/>
          <p:cNvSpPr/>
          <p:nvPr/>
        </p:nvSpPr>
        <p:spPr>
          <a:xfrm>
            <a:off x="6172200" y="3657600"/>
            <a:ext cx="5410200" cy="262890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14" name="文本框 913" descr="{&quot;isTemplate&quot;:true,&quot;type&quot;:&quot;text&quot;}"/>
          <p:cNvSpPr txBox="1"/>
          <p:nvPr/>
        </p:nvSpPr>
        <p:spPr>
          <a:xfrm>
            <a:off x="6362700" y="3848100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· build()</a:t>
            </a:r>
            <a:endParaRPr lang="en-US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5" name="文本框 914" descr="{&quot;isTemplate&quot;:true,&quot;type&quot;:&quot;text&quot;}"/>
          <p:cNvSpPr txBox="1"/>
          <p:nvPr/>
        </p:nvSpPr>
        <p:spPr>
          <a:xfrm>
            <a:off x="6362700" y="411480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args='--orm_drivers=postgres'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16" name="文本框 915" descr="{&quot;isTemplate&quot;:true,&quot;type&quot;:&quot;text&quot;}"/>
          <p:cNvSpPr txBox="1"/>
          <p:nvPr/>
        </p:nvSpPr>
        <p:spPr>
          <a:xfrm>
            <a:off x="6362700" y="441007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args="$args --postgres_orm_connectionUrl=$POSTGRES"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17" name="文本框 916" descr="{&quot;isTemplate&quot;:true,&quot;type&quot;:&quot;text&quot;}"/>
          <p:cNvSpPr txBox="1"/>
          <p:nvPr/>
        </p:nvSpPr>
        <p:spPr>
          <a:xfrm>
            <a:off x="6362700" y="470535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args="$args --sm4Key=$(fboot randhex 32)"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18" name="文本框 917" descr="{&quot;isTemplate&quot;:true,&quot;type&quot;:&quot;text&quot;}"/>
          <p:cNvSpPr txBox="1"/>
          <p:nvPr/>
        </p:nvSpPr>
        <p:spPr>
          <a:xfrm>
            <a:off x="6362700" y="500062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build $target_path $args</a:t>
            </a:r>
            <a:endParaRPr lang="en-US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919" name="文本框 918" descr="{&quot;isTemplate&quot;:true,&quot;type&quot;:&quot;text&quot;}"/>
          <p:cNvSpPr txBox="1"/>
          <p:nvPr/>
        </p:nvSpPr>
        <p:spPr>
          <a:xfrm>
            <a:off x="6362700" y="5819775"/>
            <a:ext cx="5029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作者在上面留了一段被注释掉的等价写法，用的全是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export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0" name="任意多边形 91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21" name="文本框 92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2" name="文本框 92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矩形 9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25" name="矩形 92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26" name="文本框 925" descr="{&quot;isTemplate&quot;:true,&quot;type&quot;:&quot;text&quot;}"/>
          <p:cNvSpPr txBox="1"/>
          <p:nvPr/>
        </p:nvSpPr>
        <p:spPr>
          <a:xfrm>
            <a:off x="819150" y="304800"/>
            <a:ext cx="9648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7" name="文本框 926" descr="{&quot;isTemplate&quot;:true,&quot;type&quot;:&quot;text&quot;}"/>
          <p:cNvSpPr txBox="1"/>
          <p:nvPr/>
        </p:nvSpPr>
        <p:spPr>
          <a:xfrm>
            <a:off x="819150" y="514350"/>
            <a:ext cx="96488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同一个写法，两个舞台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8" name="文本框 927" descr="{&quot;isTemplate&quot;:true,&quot;type&quot;:&quot;text&quot;}"/>
          <p:cNvSpPr txBox="1"/>
          <p:nvPr/>
        </p:nvSpPr>
        <p:spPr>
          <a:xfrm>
            <a:off x="10639425" y="590550"/>
            <a:ext cx="942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9" name="圆角矩形 928"/>
          <p:cNvSpPr/>
          <p:nvPr/>
        </p:nvSpPr>
        <p:spPr>
          <a:xfrm>
            <a:off x="609600" y="1143000"/>
            <a:ext cx="5410200" cy="3390900"/>
          </a:xfrm>
          <a:prstGeom prst="roundRect">
            <a:avLst>
              <a:gd name="adj" fmla="val 337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30" name="文本框 929" descr="{&quot;isTemplate&quot;:true,&quot;type&quot;:&quot;text&quot;}"/>
          <p:cNvSpPr txBox="1"/>
          <p:nvPr/>
        </p:nvSpPr>
        <p:spPr>
          <a:xfrm>
            <a:off x="8191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编译期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1" name="文本框 930" descr="{&quot;isTemplate&quot;:true,&quot;type&quot;:&quot;text&quot;}"/>
          <p:cNvSpPr txBox="1"/>
          <p:nvPr/>
        </p:nvSpPr>
        <p:spPr>
          <a:xfrm>
            <a:off x="8191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fboot build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进程自己的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argv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2" name="文本框 931" descr="{&quot;isTemplate&quot;:true,&quot;type&quot;:&quot;text&quot;}"/>
          <p:cNvSpPr txBox="1"/>
          <p:nvPr/>
        </p:nvSpPr>
        <p:spPr>
          <a:xfrm>
            <a:off x="819150" y="1952625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进程里的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读到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3" name="文本框 932" descr="{&quot;isTemplate&quot;:true,&quot;type&quot;:&quot;text&quot;}"/>
          <p:cNvSpPr txBox="1"/>
          <p:nvPr/>
        </p:nvSpPr>
        <p:spPr>
          <a:xfrm>
            <a:off x="819150" y="2343150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转成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子进程的环境变量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4" name="文本框 933" descr="{&quot;isTemplate&quot;:true,&quot;type&quot;:&quot;text&quot;}"/>
          <p:cNvSpPr txBox="1"/>
          <p:nvPr/>
        </p:nvSpPr>
        <p:spPr>
          <a:xfrm>
            <a:off x="819150" y="2733675"/>
            <a:ext cx="4991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宏（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@EmbedSensitive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ORMConfig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）在编译期读到它们，把连接串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口令加密嵌入产物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5" name="文本框 934" descr="{&quot;isTemplate&quot;:true,&quot;type&quot;:&quot;text&quot;}"/>
          <p:cNvSpPr txBox="1"/>
          <p:nvPr/>
        </p:nvSpPr>
        <p:spPr>
          <a:xfrm>
            <a:off x="819150" y="4048125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效果：写进产物，成为编译期内嵌值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6" name="圆角矩形 935"/>
          <p:cNvSpPr/>
          <p:nvPr/>
        </p:nvSpPr>
        <p:spPr>
          <a:xfrm>
            <a:off x="6172200" y="1143000"/>
            <a:ext cx="5410200" cy="3390900"/>
          </a:xfrm>
          <a:prstGeom prst="roundRect">
            <a:avLst>
              <a:gd name="adj" fmla="val 337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37" name="文本框 936" descr="{&quot;isTemplate&quot;:true,&quot;type&quot;:&quot;text&quot;}"/>
          <p:cNvSpPr txBox="1"/>
          <p:nvPr/>
        </p:nvSpPr>
        <p:spPr>
          <a:xfrm>
            <a:off x="63817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运行期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8" name="文本框 937" descr="{&quot;isTemplate&quot;:true,&quot;type&quot;:&quot;text&quot;}"/>
          <p:cNvSpPr txBox="1"/>
          <p:nvPr/>
        </p:nvSpPr>
        <p:spPr>
          <a:xfrm>
            <a:off x="63817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fboot run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进程的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argv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里（应用就加载在这个进程里）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9" name="文本框 938" descr="{&quot;isTemplate&quot;:true,&quot;type&quot;:&quot;text&quot;}"/>
          <p:cNvSpPr txBox="1"/>
          <p:nvPr/>
        </p:nvSpPr>
        <p:spPr>
          <a:xfrm>
            <a:off x="6381750" y="1952625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同一个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，同一套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static init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0" name="文本框 939" descr="{&quot;isTemplate&quot;:true,&quot;type&quot;:&quot;text&quot;}"/>
          <p:cNvSpPr txBox="1"/>
          <p:nvPr/>
        </p:nvSpPr>
        <p:spPr>
          <a:xfrm>
            <a:off x="6381750" y="2343150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装载进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ARGS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1" name="文本框 940" descr="{&quot;isTemplate&quot;:true,&quot;type&quot;:&quot;text&quot;}"/>
          <p:cNvSpPr txBox="1"/>
          <p:nvPr/>
        </p:nvSpPr>
        <p:spPr>
          <a:xfrm>
            <a:off x="6381750" y="2733675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覆盖同名环境变量，也覆盖编译期内嵌值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2" name="文本框 941" descr="{&quot;isTemplate&quot;:true,&quot;type&quot;:&quot;text&quot;}"/>
          <p:cNvSpPr txBox="1"/>
          <p:nvPr/>
        </p:nvSpPr>
        <p:spPr>
          <a:xfrm>
            <a:off x="6381750" y="4048125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效果：一份产物跑多套环境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3" name="圆角矩形 942"/>
          <p:cNvSpPr/>
          <p:nvPr/>
        </p:nvSpPr>
        <p:spPr>
          <a:xfrm>
            <a:off x="609600" y="4686300"/>
            <a:ext cx="10972800" cy="1600200"/>
          </a:xfrm>
          <a:prstGeom prst="roundRect">
            <a:avLst>
              <a:gd name="adj" fmla="val 7143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44" name="文本框 943" descr="{&quot;isTemplate&quot;:true,&quot;type&quot;:&quot;text&quot;}"/>
          <p:cNvSpPr txBox="1"/>
          <p:nvPr/>
        </p:nvSpPr>
        <p:spPr>
          <a:xfrm>
            <a:off x="800100" y="487680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两边都是同一条规则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5" name="文本框 944" descr="{&quot;isTemplate&quot;:true,&quot;type&quot;:&quot;text&quot;}"/>
          <p:cNvSpPr txBox="1"/>
          <p:nvPr/>
        </p:nvSpPr>
        <p:spPr>
          <a:xfrm>
            <a:off x="800100" y="5124450"/>
            <a:ext cx="105918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谁的命令行里有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--k=v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，且那个进程链了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f_config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，谁就把它读成配置项。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6" name="文本框 945" descr="{&quot;isTemplate&quot;:true,&quot;type&quot;:&quot;text&quot;}"/>
          <p:cNvSpPr txBox="1"/>
          <p:nvPr/>
        </p:nvSpPr>
        <p:spPr>
          <a:xfrm>
            <a:off x="800100" y="5495925"/>
            <a:ext cx="105918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对照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build()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--k=v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交给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build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编译期；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run()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export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运行期；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boot-win-gitbash.sh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run()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--k=v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拼在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run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后面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运行期。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7" name="任意多边形 94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48" name="文本框 94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9" name="文本框 94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矩形 9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52" name="矩形 95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53" name="文本框 952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4" name="文本框 953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读取优先级：先命中者生效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5" name="文本框 954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建议做成动画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6" name="圆角矩形 955"/>
          <p:cNvSpPr/>
          <p:nvPr/>
        </p:nvSpPr>
        <p:spPr>
          <a:xfrm>
            <a:off x="609600" y="1143000"/>
            <a:ext cx="3143250" cy="514350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57" name="文本框 956" descr="{&quot;isTemplate&quot;:true,&quot;type&quot;:&quot;text&quot;}"/>
          <p:cNvSpPr txBox="1"/>
          <p:nvPr/>
        </p:nvSpPr>
        <p:spPr>
          <a:xfrm>
            <a:off x="857250" y="1390650"/>
            <a:ext cx="2647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查找顺序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8" name="文本框 957" descr="{&quot;isTemplate&quot;:true,&quot;type&quot;:&quot;text&quot;}"/>
          <p:cNvSpPr txBox="1"/>
          <p:nvPr/>
        </p:nvSpPr>
        <p:spPr>
          <a:xfrm>
            <a:off x="857250" y="1647825"/>
            <a:ext cx="2647950" cy="1104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59E0B"/>
                </a:solidFill>
                <a:latin typeface="JetBrains Mono"/>
                <a:ea typeface="JetBrains Mono"/>
              </a:rPr>
              <a:t>4</a:t>
            </a:r>
            <a:endParaRPr lang="en-US" sz="72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959" name="文本框 958" descr="{&quot;isTemplate&quot;:true,&quot;type&quot;:&quot;text&quot;}"/>
          <p:cNvSpPr txBox="1"/>
          <p:nvPr/>
        </p:nvSpPr>
        <p:spPr>
          <a:xfrm>
            <a:off x="857250" y="2867025"/>
            <a:ext cx="2647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级读取优先级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0" name="矩形 959"/>
          <p:cNvSpPr/>
          <p:nvPr/>
        </p:nvSpPr>
        <p:spPr>
          <a:xfrm>
            <a:off x="857250" y="3267075"/>
            <a:ext cx="381000" cy="28575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61" name="文本框 960" descr="{&quot;isTemplate&quot;:true,&quot;type&quot;:&quot;text&quot;}"/>
          <p:cNvSpPr txBox="1"/>
          <p:nvPr/>
        </p:nvSpPr>
        <p:spPr>
          <a:xfrm>
            <a:off x="857250" y="3467100"/>
            <a:ext cx="26479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先命中者生效，命中即返回。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2" name="文本框 961" descr="{&quot;isTemplate&quot;:true,&quot;type&quot;:&quot;text&quot;}"/>
          <p:cNvSpPr txBox="1"/>
          <p:nvPr/>
        </p:nvSpPr>
        <p:spPr>
          <a:xfrm>
            <a:off x="857250" y="5419725"/>
            <a:ext cx="26479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运行期配置（环境变量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命令行）优先级高于编译期内嵌值。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63" name="表格 962"/>
          <p:cNvGraphicFramePr/>
          <p:nvPr/>
        </p:nvGraphicFramePr>
        <p:xfrm>
          <a:off x="3981450" y="1143000"/>
          <a:ext cx="7600950" cy="2552700"/>
        </p:xfrm>
        <a:graphic>
          <a:graphicData uri="http://schemas.openxmlformats.org/drawingml/2006/table">
            <a:tbl>
              <a:tblPr/>
              <a:tblGrid>
                <a:gridCol w="666159"/>
                <a:gridCol w="6934791"/>
              </a:tblGrid>
              <a:tr h="4710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顺序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  <a:endParaRPr sz="1125" b="1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环境变量 / 命令行参数（ARGS[key]）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2</a:t>
                      </a:r>
                      <a:endParaRPr sz="1125" b="1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带全局前缀的同名项（ARGS[fountain_key]）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  <a:endParaRPr sz="1125" b="1">
                        <a:solidFill>
                          <a:srgbClr val="94A3B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编译期内嵌的敏感值（sensitiveMap[key]）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  <a:endParaRPr sz="1125" b="1">
                        <a:solidFill>
                          <a:srgbClr val="94A3B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带全局前缀的敏感值（sensitiveMap[fountain_key]）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64" name="圆角矩形 963"/>
          <p:cNvSpPr/>
          <p:nvPr/>
        </p:nvSpPr>
        <p:spPr>
          <a:xfrm>
            <a:off x="3981450" y="3848100"/>
            <a:ext cx="7600950" cy="2438400"/>
          </a:xfrm>
          <a:prstGeom prst="roundRect">
            <a:avLst>
              <a:gd name="adj" fmla="val 468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65" name="文本框 964" descr="{&quot;isTemplate&quot;:true,&quot;type&quot;:&quot;text&quot;}"/>
          <p:cNvSpPr txBox="1"/>
          <p:nvPr/>
        </p:nvSpPr>
        <p:spPr>
          <a:xfrm>
            <a:off x="4171950" y="4038600"/>
            <a:ext cx="7219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全局前缀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fountain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6" name="文本框 965" descr="{&quot;isTemplate&quot;:true,&quot;type&quot;:&quot;text&quot;}"/>
          <p:cNvSpPr txBox="1"/>
          <p:nvPr/>
        </p:nvSpPr>
        <p:spPr>
          <a:xfrm>
            <a:off x="4171950" y="4333875"/>
            <a:ext cx="7219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原名未命中时会再试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fountain_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】；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getAll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的结果里则会把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fountain_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去掉。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7" name="圆角矩形 966"/>
          <p:cNvSpPr/>
          <p:nvPr/>
        </p:nvSpPr>
        <p:spPr>
          <a:xfrm>
            <a:off x="4171950" y="4705350"/>
            <a:ext cx="7219950" cy="781050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68" name="文本框 967" descr="{&quot;isTemplate&quot;:true,&quot;type&quot;:&quot;text&quot;}"/>
          <p:cNvSpPr txBox="1"/>
          <p:nvPr/>
        </p:nvSpPr>
        <p:spPr>
          <a:xfrm>
            <a:off x="4286250" y="4819650"/>
            <a:ext cx="69913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myAppSecret='xxx'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命中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fountain_myAppSecret='xxx'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等价写法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969" name="文本框 968" descr="{&quot;isTemplate&quot;:true,&quot;type&quot;:&quot;text&quot;}"/>
          <p:cNvSpPr txBox="1"/>
          <p:nvPr/>
        </p:nvSpPr>
        <p:spPr>
          <a:xfrm>
            <a:off x="4171950" y="5819775"/>
            <a:ext cx="7219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getAll(prefix)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prefix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为空返回全部，否则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需以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prefix_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fountain_prefix_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开头。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0" name="任意多边形 96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71" name="文本框 97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矩形 9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75" name="矩形 97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76" name="文本框 975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7" name="文本框 976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Config API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8" name="文本框 977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挑重点讲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9" name="圆角矩形 978"/>
          <p:cNvSpPr/>
          <p:nvPr/>
        </p:nvSpPr>
        <p:spPr>
          <a:xfrm>
            <a:off x="609600" y="1143000"/>
            <a:ext cx="4095750" cy="2466975"/>
          </a:xfrm>
          <a:prstGeom prst="roundRect">
            <a:avLst>
              <a:gd name="adj" fmla="val 463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80" name="文本框 979" descr="{&quot;isTemplate&quot;:true,&quot;type&quot;:&quot;text&quot;}"/>
          <p:cNvSpPr txBox="1"/>
          <p:nvPr/>
        </p:nvSpPr>
        <p:spPr>
          <a:xfrm>
            <a:off x="800100" y="1333500"/>
            <a:ext cx="3714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单数不抛，复数抛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1" name="文本框 980" descr="{&quot;isTemplate&quot;:true,&quot;type&quot;:&quot;text&quot;}"/>
          <p:cNvSpPr txBox="1"/>
          <p:nvPr/>
        </p:nvSpPr>
        <p:spPr>
          <a:xfrm>
            <a:off x="800100" y="1628775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getValue / getData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：解析失败返回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None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，不抛异常。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2" name="文本框 981" descr="{&quot;isTemplate&quot;:true,&quot;type&quot;:&quot;text&quot;}"/>
          <p:cNvSpPr txBox="1"/>
          <p:nvPr/>
        </p:nvSpPr>
        <p:spPr>
          <a:xfrm>
            <a:off x="800100" y="2000250"/>
            <a:ext cx="37147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getValues / getDatas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：解析失败抛异常；配置项不存在返回空数组。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3" name="文本框 982" descr="{&quot;isTemplate&quot;:true,&quot;type&quot;:&quot;text&quot;}"/>
          <p:cNvSpPr txBox="1"/>
          <p:nvPr/>
        </p:nvSpPr>
        <p:spPr>
          <a:xfrm>
            <a:off x="800100" y="3143250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这个不对称是故意的，写容错代码时别搞混。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4" name="圆角矩形 983"/>
          <p:cNvSpPr/>
          <p:nvPr/>
        </p:nvSpPr>
        <p:spPr>
          <a:xfrm>
            <a:off x="609600" y="3743325"/>
            <a:ext cx="4095750" cy="2543175"/>
          </a:xfrm>
          <a:prstGeom prst="roundRect">
            <a:avLst>
              <a:gd name="adj" fmla="val 449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85" name="文本框 984" descr="{&quot;isTemplate&quot;:true,&quot;type&quot;:&quot;text&quot;}"/>
          <p:cNvSpPr txBox="1"/>
          <p:nvPr/>
        </p:nvSpPr>
        <p:spPr>
          <a:xfrm>
            <a:off x="800100" y="3933825"/>
            <a:ext cx="3714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bufferSize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最贴心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6" name="文本框 985" descr="{&quot;isTemplate&quot;:true,&quot;type&quot;:&quot;text&quot;}"/>
          <p:cNvSpPr txBox="1"/>
          <p:nvPr/>
        </p:nvSpPr>
        <p:spPr>
          <a:xfrm>
            <a:off x="800100" y="4229100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配置项不存在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解析失败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x ≤ 0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返回默认值。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7" name="文本框 986" descr="{&quot;isTemplate&quot;:true,&quot;type&quot;:&quot;text&quot;}"/>
          <p:cNvSpPr txBox="1"/>
          <p:nvPr/>
        </p:nvSpPr>
        <p:spPr>
          <a:xfrm>
            <a:off x="800100" y="4600575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调试模式且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x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大于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0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原样返回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x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8" name="文本框 987" descr="{&quot;isTemplate&quot;:true,&quot;type&quot;:&quot;text&quot;}"/>
          <p:cNvSpPr txBox="1"/>
          <p:nvPr/>
        </p:nvSpPr>
        <p:spPr>
          <a:xfrm>
            <a:off x="800100" y="4972050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非调试模式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向上取整到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的幂，且恒不小于默认值。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9" name="文本框 988" descr="{&quot;isTemplate&quot;:true,&quot;type&quot;:&quot;text&quot;}"/>
          <p:cNvSpPr txBox="1"/>
          <p:nvPr/>
        </p:nvSpPr>
        <p:spPr>
          <a:xfrm>
            <a:off x="800100" y="5819775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环形缓冲区直接拿它当容量。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0" name="圆角矩形 989"/>
          <p:cNvSpPr/>
          <p:nvPr/>
        </p:nvSpPr>
        <p:spPr>
          <a:xfrm>
            <a:off x="4895850" y="1143000"/>
            <a:ext cx="66865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91" name="文本框 990" descr="{&quot;isTemplate&quot;:true,&quot;type&quot;:&quot;text&quot;}"/>
          <p:cNvSpPr txBox="1"/>
          <p:nvPr/>
        </p:nvSpPr>
        <p:spPr>
          <a:xfrm>
            <a:off x="5105400" y="1352550"/>
            <a:ext cx="6267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package fountain::f_config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节选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2" name="文本框 991" descr="{&quot;isTemplate&quot;:true,&quot;type&quot;:&quot;text&quot;}"/>
          <p:cNvSpPr txBox="1"/>
          <p:nvPr/>
        </p:nvSpPr>
        <p:spPr>
          <a:xfrm>
            <a:off x="5105400" y="16383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getString(key)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// ?String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3" name="文本框 992" descr="{&quot;isTemplate&quot;:true,&quot;type&quot;:&quot;text&quot;}"/>
          <p:cNvSpPr txBox="1"/>
          <p:nvPr/>
        </p:nvSpPr>
        <p:spPr>
          <a:xfrm>
            <a:off x="5105400" y="19431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getValue&lt;T&gt;(key)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　　　　　　　</a:t>
            </a: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// ?T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，失败返回</a:t>
            </a: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None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994" name="文本框 993" descr="{&quot;isTemplate&quot;:true,&quot;type&quot;:&quot;text&quot;}"/>
          <p:cNvSpPr txBox="1"/>
          <p:nvPr/>
        </p:nvSpPr>
        <p:spPr>
          <a:xfrm>
            <a:off x="5105400" y="22479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getValues&lt;T&gt;(key, delim!)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// Array&lt;T&gt;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，失败抛异常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995" name="文本框 994" descr="{&quot;isTemplate&quot;:true,&quot;type&quot;:&quot;text&quot;}"/>
          <p:cNvSpPr txBox="1"/>
          <p:nvPr/>
        </p:nvSpPr>
        <p:spPr>
          <a:xfrm>
            <a:off x="5105400" y="25527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getStringArray(key, delim!)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// Array&lt;String&gt;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6" name="文本框 995" descr="{&quot;isTemplate&quot;:true,&quot;type&quot;:&quot;text&quot;}"/>
          <p:cNvSpPr txBox="1"/>
          <p:nvPr/>
        </p:nvSpPr>
        <p:spPr>
          <a:xfrm>
            <a:off x="5105400" y="28575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getData&lt;T&gt;(key) / getDatas&lt;T&gt;()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7" name="文本框 996" descr="{&quot;isTemplate&quot;:true,&quot;type&quot;:&quot;text&quot;}"/>
          <p:cNvSpPr txBox="1"/>
          <p:nvPr/>
        </p:nvSpPr>
        <p:spPr>
          <a:xfrm>
            <a:off x="5105400" y="31623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getDateTime(key, format!)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·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getDateTimes(...)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8" name="文本框 997" descr="{&quot;isTemplate&quot;:true,&quot;type&quot;:&quot;text&quot;}"/>
          <p:cNvSpPr txBox="1"/>
          <p:nvPr/>
        </p:nvSpPr>
        <p:spPr>
          <a:xfrm>
            <a:off x="5105400" y="34671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getDuration(key)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getDurations(key)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9" name="文本框 998" descr="{&quot;isTemplate&quot;:true,&quot;type&quot;:&quot;text&quot;}"/>
          <p:cNvSpPr txBox="1"/>
          <p:nvPr/>
        </p:nvSpPr>
        <p:spPr>
          <a:xfrm>
            <a:off x="5105400" y="37719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bufferSize(bufferKey, default, debugging)</a:t>
            </a:r>
            <a:endParaRPr lang="en-US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000" name="文本框 999" descr="{&quot;isTemplate&quot;:true,&quot;type&quot;:&quot;text&quot;}"/>
          <p:cNvSpPr txBox="1"/>
          <p:nvPr/>
        </p:nvSpPr>
        <p:spPr>
          <a:xfrm>
            <a:off x="5105400" y="40767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getAll(prefix) / getAll()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01" name="文本框 1000" descr="{&quot;isTemplate&quot;:true,&quot;type&quot;:&quot;text&quot;}"/>
          <p:cNvSpPr txBox="1"/>
          <p:nvPr/>
        </p:nvSpPr>
        <p:spPr>
          <a:xfrm>
            <a:off x="5105400" y="43815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set&lt;T&gt;(tuples, ifAbsent!)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02" name="文本框 1001" descr="{&quot;isTemplate&quot;:true,&quot;type&quot;:&quot;text&quot;}"/>
          <p:cNvSpPr txBox="1"/>
          <p:nvPr/>
        </p:nvSpPr>
        <p:spPr>
          <a:xfrm>
            <a:off x="5105400" y="46863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refresher(prefix, fn)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03" name="文本框 1002" descr="{&quot;isTemplate&quot;:true,&quot;type&quot;:&quot;text&quot;}"/>
          <p:cNvSpPr txBox="1"/>
          <p:nvPr/>
        </p:nvSpPr>
        <p:spPr>
          <a:xfrm>
            <a:off x="5105400" y="49911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getSM4()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registerSensitive(key, value)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04" name="文本框 1003" descr="{&quot;isTemplate&quot;:true,&quot;type&quot;:&quot;text&quot;}"/>
          <p:cNvSpPr txBox="1"/>
          <p:nvPr/>
        </p:nvSpPr>
        <p:spPr>
          <a:xfrm>
            <a:off x="5105400" y="539115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还定义了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sm4Operation / sm4Padding / sm4Key / sm4Iv / sm4Aad / sm4TagSize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六个常量。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5" name="任意多边形 100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06" name="文本框 100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7" name="文本框 100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04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f_config 配置体系（上）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其余 fboot 命令与自定义子命令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没有配置文件：四个来源与四级优先级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命令行参数的四种写法　·　同一个写法，两个舞台　·　Config API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下一讲：敏感配置与跑通 fdemo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