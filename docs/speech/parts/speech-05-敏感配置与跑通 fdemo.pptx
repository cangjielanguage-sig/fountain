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  <p:sldId id="263" r:id="rIdSl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这一讲先把第四章收尾：SM4 的六个参数怎么配、敏感值怎么加密嵌进产物、@EmbedSensitive 的五条嵌入规则，以及两个必须知道的已知问题。然后进入第五章，现场把 fdemo 跑起来——从目录结构讲到建表、编译、启动。注意 fdemo 的分包方式决定了动态链接库的粒度，这一点在做自己项目时要在设计阶段就定下来。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这是本章的高潮，也是 fboot randhex 的用武之地。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数据库密码、第三方密钥这类东西，不适合出现在运行环境的环境变量里。f_config 的做法是：编译期在编译机上读取环境变量，用 SM4 加密后作为字节数组嵌入编译产物；进程启动时注册到独立的 sensitiveMap，再用常规的 getString 读取。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三种情况：没配 SM4，嵌入的是 UTF8 明文字节数组；配了 SM4，嵌入的是密文，同时把 SM4 的参数一并嵌入，供运行期解密；运行期同名配置优先级更高，可以被覆盖。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SM4 有六个配置项。工作模式默认 CBC，支持 CBC、CFB、CTR、GCM、OFB——ECB 不安全，明确不支持。填充模式默认 PKCS7Padding。密钥必须配置，是十六字节，也就是长度三十二的十六进制串，用 fboot randhex 32 生成。初始向量配了 key 就必须配：CBC、OFB、CFB 要十六字节，GCM 要十二字节，所以 GCM 用 fboot randhex 24。还有附加认证数据和 GCM 的 tag 长度。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最后两点讲出来比藏着好。第一，SM4 的参数本身，包括密钥，也会以字节数组形式出现在编译产物里。这个机制抬高的是「直接从二进制里 grep 出配置」的门槛，不能替代密钥管理服务。第二，每次解密都会重新构造一次 SM4 实例，敏感配置多或者读取频繁时建议自己缓存结果。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@EmbedSensitive 宏的用法很直接：在源文件顶层调用，把它要嵌入的配置项名写进去就行，逗号分隔也可以。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它展开后是一个立即执行的匿名闭包，里面一串 Config.registerSensitive 调用，把你的敏感项和 SM4 的六个参数逐个注册进去。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嵌入规则有五条。第一，编译期取不到值的名字会被忽略——编译机上没有对应环境变量，就不注册。第二，编译期配了 sm4Key 就写密文，否则写 UTF8 明文。第三，只有「至少注册了一项敏感值」并且「sm4Key 非空」的时候，才把 SM4 的六个参数一并写入，而且这六个参数本身是按明文字节写入的。第四，同名重复注册以最后一次为准。第五，运行期读取仍然遵循 4.3 的优先级。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最后说一下 f_orm 和它的关系：f_orm 就是基于这个宏的封装。它在 ProtectedMacros 目录下生成 ORM 的连接串、用户名、口令这几个键，再转调 @EmbedSensitive，最终在 f_orm 里以 @ORMEmbedSensitive 触发。所以在 boot.sh 里写的 postgres_orm_connectionUrl 才能被嵌进产物。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这一节两个收尾内容。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先说可配置的时间格式。DateTimeConfConverter 这个注解修饰成员变量、属性或者参数，注解里的参数 conf 是「保存时间格式的配置项名」，注意不是格式本身。它按第 4.3 节的优先级读取这个配置项，没配就用 default。所以做多租户、多地区系统时，各家的日期格式不一样，一个注解就解决了——时间格式本身也变成可配置的。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再说一个已知问题。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第一个，getValues 和 getDateTimes 解析失败会抛异常；而单数版本 getValue 和 getDateTime 在配置不存在时返回 None 或者空数组。这是故意的，因为复数项配置在解析过程中，只要有某一个转换失败，整个配置就失效。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这一组三步演示就是 f_config 的全部价值：编译期可内嵌、运行期可覆盖、全程无配置文件。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第一步，看一眼 fdemo 到底有多少配置：grep 一下 boot.sh 里 export 的行数，你会看到几十行。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第二步，用 fboot build 把敏感配置在编译期注入。这些 --k=v 会变成 cjpm build 子进程的环境变量，也就是编译期宏能读到的环境变量。内部会带上 sm4Key 和 sm4Iv，所以连接串和口令是加密嵌入的。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第三步演示运行期覆盖，两种写法。写法一是环境变量，export mvc_port=8080 然后 ./boot.sh run。写法二是命令行参数，直接把 --mvc_port=9090 拼在 fboot run 后面。两种写法完全等价。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请注意第三步的两种写法——同一个配置项 mvc_port，既可以 export，也可以写成 --mvc_port=9090。这就是「f_config 支持命令行参数」最直观的证明。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第五章现场跑通 fdemo。先看目录结构。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fdemo 根目录下有一个 cjpm.toml，是 workspace，members 里是 boot 和 user 两个模块。banner.txt 会被 fboot build 打包进版本模块。三个启动脚本分别对应 Linux、macOS 和 Windows 的 git-bash。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boot 是初始化模块，放切面、事务钩子、MediaType 和 500 处理器；user 是业务模块，下面按 controller、service、service 点 impl、dao、model 点 po、model 点 mvc、model 点 entity、util 分包。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注意这个分包不是随意的：分包决定了动态链接库的粒度，而动态链接库粒度决定了 --dylibPattern。所以「切面放哪个包」「鉴权器放哪个包」，是需要在设计阶段就想的。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右边是验证用的接口：注册、登录、查用户、列表、上传、错误、重定向、会话日志、定时任务，全部在 user 模块里。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建表很简单，一张 user_info，主键 id 自增，username 唯一，password 和 save_time 都有默认值。用 PostgreSQL 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然后是编译加启动。先把 POSTGRES 这个连接串环境变量设好，再把 CANGJIE_STDX_PATH 指到 stdx 的动态链接库目录，然后 ./boot.sh build 和 ./boot.sh run。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build 内部就是 fboot build ./fdemo 带上一串 orm 参数和 SM4 密钥；run 内部就是 fboot run ./fdemo 带上 --dylibPattern 那串正则。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预期屏幕上先出 fountain 的启动日志，然后是 fdemo 自己的 ASCII BANNER，最后一行是「fdemo(1.1.0) started by 1.3.x in 若干毫秒」。这一行里，应用名和版本号来自 fboot build 生成的版本模块，fountain 的版本来自框架，启动耗时是框架算的。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看到这一行就说明启动成功了。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这一讲两个要点：一，敏感配置用 @EmbedSensitive 在编译期嵌入，注意 SM4 的参数本身也是明文写入产物的，这套机制抬高的是门槛而不是替代密钥管理；二，fdemo 的目录结构告诉我们「分包决定动态链接库粒度，粒度决定 --dylibPattern」，鉴权器和切面放哪个包是设计决策。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05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敏感配置与跑通 fdemo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敏感配置与 SM4 加密　·　@EmbedSensitive 的五条规则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可配置的时间格式与两个已知问题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 fdemo：目录结构、建表、编译、启动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5 讲 / 共 25 讲　·　原稿第 28–33 页 + 首尾两页　·　约 13.6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矩形 10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010" name="矩形 100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011" name="文本框 1010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2" name="文本框 1011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敏感配置与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加密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3" name="文本框 1012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本章高潮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4" name="圆角矩形 1013"/>
          <p:cNvSpPr/>
          <p:nvPr/>
        </p:nvSpPr>
        <p:spPr>
          <a:xfrm>
            <a:off x="609600" y="1143000"/>
            <a:ext cx="4286250" cy="3314700"/>
          </a:xfrm>
          <a:prstGeom prst="roundRect">
            <a:avLst>
              <a:gd name="adj" fmla="val 344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015" name="文本框 1014" descr="{&quot;isTemplate&quot;:true,&quot;type&quot;:&quot;text&quot;}"/>
          <p:cNvSpPr txBox="1"/>
          <p:nvPr/>
        </p:nvSpPr>
        <p:spPr>
          <a:xfrm>
            <a:off x="819150" y="1352550"/>
            <a:ext cx="3867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敏感值怎么走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6" name="文本框 1015" descr="{&quot;isTemplate&quot;:true,&quot;type&quot;:&quot;text&quot;}"/>
          <p:cNvSpPr txBox="1"/>
          <p:nvPr/>
        </p:nvSpPr>
        <p:spPr>
          <a:xfrm>
            <a:off x="819150" y="1676400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编译期在编译机上读取环境变量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7" name="文本框 1016" descr="{&quot;isTemplate&quot;:true,&quot;type&quot;:&quot;text&quot;}"/>
          <p:cNvSpPr txBox="1"/>
          <p:nvPr/>
        </p:nvSpPr>
        <p:spPr>
          <a:xfrm>
            <a:off x="819150" y="1990725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加密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8" name="文本框 1017" descr="{&quot;isTemplate&quot;:true,&quot;type&quot;:&quot;text&quot;}"/>
          <p:cNvSpPr txBox="1"/>
          <p:nvPr/>
        </p:nvSpPr>
        <p:spPr>
          <a:xfrm>
            <a:off x="819150" y="2305050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作为字节数组嵌入编译产物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9" name="文本框 1018" descr="{&quot;isTemplate&quot;:true,&quot;type&quot;:&quot;text&quot;}"/>
          <p:cNvSpPr txBox="1"/>
          <p:nvPr/>
        </p:nvSpPr>
        <p:spPr>
          <a:xfrm>
            <a:off x="819150" y="2619375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进程启动时注册到独立的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sensitiveMap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0" name="文本框 1019" descr="{&quot;isTemplate&quot;:true,&quot;type&quot;:&quot;text&quot;}"/>
          <p:cNvSpPr txBox="1"/>
          <p:nvPr/>
        </p:nvSpPr>
        <p:spPr>
          <a:xfrm>
            <a:off x="819150" y="2933700"/>
            <a:ext cx="3867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再用常规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getString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读取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1" name="文本框 1020" descr="{&quot;isTemplate&quot;:true,&quot;type&quot;:&quot;text&quot;}"/>
          <p:cNvSpPr txBox="1"/>
          <p:nvPr/>
        </p:nvSpPr>
        <p:spPr>
          <a:xfrm>
            <a:off x="819150" y="3305175"/>
            <a:ext cx="3867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未配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嵌入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UTF8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明文；配了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嵌入密文，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SM4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参数一并嵌入供运行期解密。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2" name="文本框 1021" descr="{&quot;isTemplate&quot;:true,&quot;type&quot;:&quot;text&quot;}"/>
          <p:cNvSpPr txBox="1"/>
          <p:nvPr/>
        </p:nvSpPr>
        <p:spPr>
          <a:xfrm>
            <a:off x="819150" y="3971925"/>
            <a:ext cx="3867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运行期同名配置优先级更高，可以被覆盖。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3" name="圆角矩形 1022"/>
          <p:cNvSpPr/>
          <p:nvPr/>
        </p:nvSpPr>
        <p:spPr>
          <a:xfrm>
            <a:off x="5048250" y="1143000"/>
            <a:ext cx="6534150" cy="3314700"/>
          </a:xfrm>
          <a:prstGeom prst="roundRect">
            <a:avLst>
              <a:gd name="adj" fmla="val 344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24" name="文本框 1023" descr="{&quot;isTemplate&quot;:true,&quot;type&quot;:&quot;text&quot;}"/>
          <p:cNvSpPr txBox="1"/>
          <p:nvPr/>
        </p:nvSpPr>
        <p:spPr>
          <a:xfrm>
            <a:off x="5238750" y="1333500"/>
            <a:ext cx="61531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SM4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配置项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" name="文本框 1024" descr="{&quot;isTemplate&quot;:true,&quot;type&quot;:&quot;text&quot;}"/>
          <p:cNvSpPr txBox="1"/>
          <p:nvPr/>
        </p:nvSpPr>
        <p:spPr>
          <a:xfrm>
            <a:off x="5238750" y="1638300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sm4Operation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26" name="文本框 1025" descr="{&quot;isTemplate&quot;:true,&quot;type&quot;:&quot;text&quot;}"/>
          <p:cNvSpPr txBox="1"/>
          <p:nvPr/>
        </p:nvSpPr>
        <p:spPr>
          <a:xfrm>
            <a:off x="6477000" y="1638300"/>
            <a:ext cx="1009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CBC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7" name="文本框 1026" descr="{&quot;isTemplate&quot;:true,&quot;type&quot;:&quot;text&quot;}"/>
          <p:cNvSpPr txBox="1"/>
          <p:nvPr/>
        </p:nvSpPr>
        <p:spPr>
          <a:xfrm>
            <a:off x="7581900" y="1638300"/>
            <a:ext cx="3810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CBC CFB CTR GCM OFB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ECB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不支持）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8" name="文本框 1027" descr="{&quot;isTemplate&quot;:true,&quot;type&quot;:&quot;text&quot;}"/>
          <p:cNvSpPr txBox="1"/>
          <p:nvPr/>
        </p:nvSpPr>
        <p:spPr>
          <a:xfrm>
            <a:off x="5238750" y="194310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sm4Padding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29" name="文本框 1028" descr="{&quot;isTemplate&quot;:true,&quot;type&quot;:&quot;text&quot;}"/>
          <p:cNvSpPr txBox="1"/>
          <p:nvPr/>
        </p:nvSpPr>
        <p:spPr>
          <a:xfrm>
            <a:off x="6477000" y="1943100"/>
            <a:ext cx="1009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PKCS7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0" name="文本框 1029" descr="{&quot;isTemplate&quot;:true,&quot;type&quot;:&quot;text&quot;}"/>
          <p:cNvSpPr txBox="1"/>
          <p:nvPr/>
        </p:nvSpPr>
        <p:spPr>
          <a:xfrm>
            <a:off x="7581900" y="1943100"/>
            <a:ext cx="3810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NoPadding / PKCS7Padding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1" name="文本框 1030" descr="{&quot;isTemplate&quot;:true,&quot;type&quot;:&quot;text&quot;}"/>
          <p:cNvSpPr txBox="1"/>
          <p:nvPr/>
        </p:nvSpPr>
        <p:spPr>
          <a:xfrm>
            <a:off x="5238750" y="217170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sm4Key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032" name="文本框 1031" descr="{&quot;isTemplate&quot;:true,&quot;type&quot;:&quot;text&quot;}"/>
          <p:cNvSpPr txBox="1"/>
          <p:nvPr/>
        </p:nvSpPr>
        <p:spPr>
          <a:xfrm>
            <a:off x="6477000" y="2171700"/>
            <a:ext cx="1009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必须配置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3" name="文本框 1032" descr="{&quot;isTemplate&quot;:true,&quot;type&quot;:&quot;text&quot;}"/>
          <p:cNvSpPr txBox="1"/>
          <p:nvPr/>
        </p:nvSpPr>
        <p:spPr>
          <a:xfrm>
            <a:off x="7581900" y="2171700"/>
            <a:ext cx="3810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16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字节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长度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32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进制串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4" name="文本框 1033" descr="{&quot;isTemplate&quot;:true,&quot;type&quot;:&quot;text&quot;}"/>
          <p:cNvSpPr txBox="1"/>
          <p:nvPr/>
        </p:nvSpPr>
        <p:spPr>
          <a:xfrm>
            <a:off x="5238750" y="2400300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sm4Iv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35" name="文本框 1034" descr="{&quot;isTemplate&quot;:true,&quot;type&quot;:&quot;text&quot;}"/>
          <p:cNvSpPr txBox="1"/>
          <p:nvPr/>
        </p:nvSpPr>
        <p:spPr>
          <a:xfrm>
            <a:off x="6477000" y="2400300"/>
            <a:ext cx="1009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key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就要配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6" name="文本框 1035" descr="{&quot;isTemplate&quot;:true,&quot;type&quot;:&quot;text&quot;}"/>
          <p:cNvSpPr txBox="1"/>
          <p:nvPr/>
        </p:nvSpPr>
        <p:spPr>
          <a:xfrm>
            <a:off x="7581900" y="2400300"/>
            <a:ext cx="3810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CBC/OFB/CFB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要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字节，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GCM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要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12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7" name="文本框 1036" descr="{&quot;isTemplate&quot;:true,&quot;type&quot;:&quot;text&quot;}"/>
          <p:cNvSpPr txBox="1"/>
          <p:nvPr/>
        </p:nvSpPr>
        <p:spPr>
          <a:xfrm>
            <a:off x="5238750" y="270510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sm4Aad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38" name="文本框 1037" descr="{&quot;isTemplate&quot;:true,&quot;type&quot;:&quot;text&quot;}"/>
          <p:cNvSpPr txBox="1"/>
          <p:nvPr/>
        </p:nvSpPr>
        <p:spPr>
          <a:xfrm>
            <a:off x="6477000" y="2705100"/>
            <a:ext cx="1009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空字节数组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9" name="文本框 1038" descr="{&quot;isTemplate&quot;:true,&quot;type&quot;:&quot;text&quot;}"/>
          <p:cNvSpPr txBox="1"/>
          <p:nvPr/>
        </p:nvSpPr>
        <p:spPr>
          <a:xfrm>
            <a:off x="7581900" y="2705100"/>
            <a:ext cx="3810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16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进制串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0" name="文本框 1039" descr="{&quot;isTemplate&quot;:true,&quot;type&quot;:&quot;text&quot;}"/>
          <p:cNvSpPr txBox="1"/>
          <p:nvPr/>
        </p:nvSpPr>
        <p:spPr>
          <a:xfrm>
            <a:off x="5238750" y="293370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sm4TagSize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41" name="文本框 1040" descr="{&quot;isTemplate&quot;:true,&quot;type&quot;:&quot;text&quot;}"/>
          <p:cNvSpPr txBox="1"/>
          <p:nvPr/>
        </p:nvSpPr>
        <p:spPr>
          <a:xfrm>
            <a:off x="6477000" y="2933700"/>
            <a:ext cx="1009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16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2" name="文本框 1041" descr="{&quot;isTemplate&quot;:true,&quot;type&quot;:&quot;text&quot;}"/>
          <p:cNvSpPr txBox="1"/>
          <p:nvPr/>
        </p:nvSpPr>
        <p:spPr>
          <a:xfrm>
            <a:off x="7581900" y="2933700"/>
            <a:ext cx="3810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Int64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字符串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3" name="圆角矩形 1042"/>
          <p:cNvSpPr/>
          <p:nvPr/>
        </p:nvSpPr>
        <p:spPr>
          <a:xfrm>
            <a:off x="5238750" y="3524250"/>
            <a:ext cx="6153150" cy="742950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44" name="文本框 1043" descr="{&quot;isTemplate&quot;:true,&quot;type&quot;:&quot;text&quot;}"/>
          <p:cNvSpPr txBox="1"/>
          <p:nvPr/>
        </p:nvSpPr>
        <p:spPr>
          <a:xfrm>
            <a:off x="5353050" y="3638550"/>
            <a:ext cx="5924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export sm4Key=$(fboot randhex 32)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export sm4Iv=$(fboot randhex 32)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# GCM 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用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24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45" name="圆角矩形 1044"/>
          <p:cNvSpPr/>
          <p:nvPr/>
        </p:nvSpPr>
        <p:spPr>
          <a:xfrm>
            <a:off x="609600" y="4610100"/>
            <a:ext cx="10972800" cy="1676400"/>
          </a:xfrm>
          <a:prstGeom prst="roundRect">
            <a:avLst>
              <a:gd name="adj" fmla="val 6818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046" name="文本框 1045" descr="{&quot;isTemplate&quot;:true,&quot;type&quot;:&quot;text&quot;}"/>
          <p:cNvSpPr txBox="1"/>
          <p:nvPr/>
        </p:nvSpPr>
        <p:spPr>
          <a:xfrm>
            <a:off x="800100" y="4800600"/>
            <a:ext cx="10591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两点讲出来比藏着好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7" name="文本框 1046" descr="{&quot;isTemplate&quot;:true,&quot;type&quot;:&quot;text&quot;}"/>
          <p:cNvSpPr txBox="1"/>
          <p:nvPr/>
        </p:nvSpPr>
        <p:spPr>
          <a:xfrm>
            <a:off x="800100" y="5048250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SM4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参数本身（含密钥）也会以字节数组形式出现在编译产物里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抬高的是「直接从二进制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grep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出配置」的门槛，不能替代密钥管理服务。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" name="文本框 1047" descr="{&quot;isTemplate&quot;:true,&quot;type&quot;:&quot;text&quot;}"/>
          <p:cNvSpPr txBox="1"/>
          <p:nvPr/>
        </p:nvSpPr>
        <p:spPr>
          <a:xfrm>
            <a:off x="800100" y="538162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每次解密都会重新构造一次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实例，敏感配置多或读取频繁时建议自己缓存结果。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9" name="任意多边形 104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050" name="文本框 104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1" name="文本框 105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矩形 10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054" name="矩形 105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055" name="文本框 1054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6" name="文本框 1055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@EmbedSensitive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7" name="文本框 1056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编译期嵌入的实现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8" name="圆角矩形 1057"/>
          <p:cNvSpPr/>
          <p:nvPr/>
        </p:nvSpPr>
        <p:spPr>
          <a:xfrm>
            <a:off x="609600" y="1143000"/>
            <a:ext cx="4953000" cy="3314700"/>
          </a:xfrm>
          <a:prstGeom prst="roundRect">
            <a:avLst>
              <a:gd name="adj" fmla="val 344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59" name="文本框 1058" descr="{&quot;isTemplate&quot;:true,&quot;type&quot;:&quot;text&quot;}"/>
          <p:cNvSpPr txBox="1"/>
          <p:nvPr/>
        </p:nvSpPr>
        <p:spPr>
          <a:xfrm>
            <a:off x="800100" y="1333500"/>
            <a:ext cx="4572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用法：源文件顶层调用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0" name="文本框 1059" descr="{&quot;isTemplate&quot;:true,&quot;type&quot;:&quot;text&quot;}"/>
          <p:cNvSpPr txBox="1"/>
          <p:nvPr/>
        </p:nvSpPr>
        <p:spPr>
          <a:xfrm>
            <a:off x="800100" y="1609725"/>
            <a:ext cx="4572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@EmbedSensitive(paySecretKey pushToken)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061" name="文本框 1060" descr="{&quot;isTemplate&quot;:true,&quot;type&quot;:&quot;text&quot;}"/>
          <p:cNvSpPr txBox="1"/>
          <p:nvPr/>
        </p:nvSpPr>
        <p:spPr>
          <a:xfrm>
            <a:off x="800100" y="1943100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逗号分隔亦可。编译机上没有对应环境变量就不注册。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2" name="文本框 1061" descr="{&quot;isTemplate&quot;:true,&quot;type&quot;:&quot;text&quot;}"/>
          <p:cNvSpPr txBox="1"/>
          <p:nvPr/>
        </p:nvSpPr>
        <p:spPr>
          <a:xfrm>
            <a:off x="800100" y="2314575"/>
            <a:ext cx="457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嵌入规则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3" name="文本框 1062" descr="{&quot;isTemplate&quot;:true,&quot;type&quot;:&quot;text&quot;}"/>
          <p:cNvSpPr txBox="1"/>
          <p:nvPr/>
        </p:nvSpPr>
        <p:spPr>
          <a:xfrm>
            <a:off x="800100" y="2581275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编译期取不到值的名字会被忽略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4" name="文本框 1063" descr="{&quot;isTemplate&quot;:true,&quot;type&quot;:&quot;text&quot;}"/>
          <p:cNvSpPr txBox="1"/>
          <p:nvPr/>
        </p:nvSpPr>
        <p:spPr>
          <a:xfrm>
            <a:off x="800100" y="2876550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编译期配了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sm4Key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写密文，否则写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UTF8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明文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5" name="文本框 1064" descr="{&quot;isTemplate&quot;:true,&quot;type&quot;:&quot;text&quot;}"/>
          <p:cNvSpPr txBox="1"/>
          <p:nvPr/>
        </p:nvSpPr>
        <p:spPr>
          <a:xfrm>
            <a:off x="800100" y="3171825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仅在「有敏感值」且「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sm4Key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非空」时写入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六参数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6" name="文本框 1065" descr="{&quot;isTemplate&quot;:true,&quot;type&quot;:&quot;text&quot;}"/>
          <p:cNvSpPr txBox="1"/>
          <p:nvPr/>
        </p:nvSpPr>
        <p:spPr>
          <a:xfrm>
            <a:off x="800100" y="3467100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同名重复注册以最后一次为准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7" name="文本框 1066" descr="{&quot;isTemplate&quot;:true,&quot;type&quot;:&quot;text&quot;}"/>
          <p:cNvSpPr txBox="1"/>
          <p:nvPr/>
        </p:nvSpPr>
        <p:spPr>
          <a:xfrm>
            <a:off x="800100" y="3762375"/>
            <a:ext cx="4572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运行期读取仍遵循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4.3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的优先级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8" name="文本框 1067" descr="{&quot;isTemplate&quot;:true,&quot;type&quot;:&quot;text&quot;}"/>
          <p:cNvSpPr txBox="1"/>
          <p:nvPr/>
        </p:nvSpPr>
        <p:spPr>
          <a:xfrm>
            <a:off x="800100" y="4029075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SM4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六个参数本身按明文字节写入。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9" name="圆角矩形 1068"/>
          <p:cNvSpPr/>
          <p:nvPr/>
        </p:nvSpPr>
        <p:spPr>
          <a:xfrm>
            <a:off x="5753100" y="1143000"/>
            <a:ext cx="5829300" cy="3333750"/>
          </a:xfrm>
          <a:prstGeom prst="roundRect">
            <a:avLst>
              <a:gd name="adj" fmla="val 342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070" name="文本框 1069" descr="{&quot;isTemplate&quot;:true,&quot;type&quot;:&quot;text&quot;}"/>
          <p:cNvSpPr txBox="1"/>
          <p:nvPr/>
        </p:nvSpPr>
        <p:spPr>
          <a:xfrm>
            <a:off x="5924550" y="1314450"/>
            <a:ext cx="5486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展开后：一个立即执行的匿名闭包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1" name="文本框 1070" descr="{&quot;isTemplate&quot;:true,&quot;type&quot;:&quot;text&quot;}"/>
          <p:cNvSpPr txBox="1"/>
          <p:nvPr/>
        </p:nvSpPr>
        <p:spPr>
          <a:xfrm>
            <a:off x="5924550" y="154305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private let _ = {=&gt;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72" name="文本框 1071" descr="{&quot;isTemplate&quot;:true,&quot;type&quot;:&quot;text&quot;}"/>
          <p:cNvSpPr txBox="1"/>
          <p:nvPr/>
        </p:nvSpPr>
        <p:spPr>
          <a:xfrm>
            <a:off x="5924550" y="181927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Config.registerSensitive('paySecretKey', [...])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73" name="文本框 1072" descr="{&quot;isTemplate&quot;:true,&quot;type&quot;:&quot;text&quot;}"/>
          <p:cNvSpPr txBox="1"/>
          <p:nvPr/>
        </p:nvSpPr>
        <p:spPr>
          <a:xfrm>
            <a:off x="5924550" y="209550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Config.registerSensitive('pushToken', [...])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074" name="文本框 1073" descr="{&quot;isTemplate&quot;:true,&quot;type&quot;:&quot;text&quot;}"/>
          <p:cNvSpPr txBox="1"/>
          <p:nvPr/>
        </p:nvSpPr>
        <p:spPr>
          <a:xfrm>
            <a:off x="5924550" y="237172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Config.registerSensitive('sm4Operation',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5" name="文本框 1074" descr="{&quot;isTemplate&quot;:true,&quot;type&quot;:&quot;text&quot;}"/>
          <p:cNvSpPr txBox="1"/>
          <p:nvPr/>
        </p:nvSpPr>
        <p:spPr>
          <a:xfrm>
            <a:off x="5924550" y="264795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Config.registerSensitive('sm4Padding',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6" name="文本框 1075" descr="{&quot;isTemplate&quot;:true,&quot;type&quot;:&quot;text&quot;}"/>
          <p:cNvSpPr txBox="1"/>
          <p:nvPr/>
        </p:nvSpPr>
        <p:spPr>
          <a:xfrm>
            <a:off x="5924550" y="292417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Config.registerSensitive('sm4Key',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7" name="文本框 1076" descr="{&quot;isTemplate&quot;:true,&quot;type&quot;:&quot;text&quot;}"/>
          <p:cNvSpPr txBox="1"/>
          <p:nvPr/>
        </p:nvSpPr>
        <p:spPr>
          <a:xfrm>
            <a:off x="5924550" y="320040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Config.registerSensitive('sm4Iv',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8" name="文本框 1077" descr="{&quot;isTemplate&quot;:true,&quot;type&quot;:&quot;text&quot;}"/>
          <p:cNvSpPr txBox="1"/>
          <p:nvPr/>
        </p:nvSpPr>
        <p:spPr>
          <a:xfrm>
            <a:off x="5924550" y="347662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Config.registerSensitive('sm4Aad',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79" name="文本框 1078" descr="{&quot;isTemplate&quot;:true,&quot;type&quot;:&quot;text&quot;}"/>
          <p:cNvSpPr txBox="1"/>
          <p:nvPr/>
        </p:nvSpPr>
        <p:spPr>
          <a:xfrm>
            <a:off x="5924550" y="3752850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Config.registerSensitive('sm4TagSize', ...)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080" name="文本框 1079" descr="{&quot;isTemplate&quot;:true,&quot;type&quot;:&quot;text&quot;}"/>
          <p:cNvSpPr txBox="1"/>
          <p:nvPr/>
        </p:nvSpPr>
        <p:spPr>
          <a:xfrm>
            <a:off x="5924550" y="4029075"/>
            <a:ext cx="5486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}()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081" name="圆角矩形 1080"/>
          <p:cNvSpPr/>
          <p:nvPr/>
        </p:nvSpPr>
        <p:spPr>
          <a:xfrm>
            <a:off x="609600" y="4610100"/>
            <a:ext cx="10972800" cy="1676400"/>
          </a:xfrm>
          <a:prstGeom prst="roundRect">
            <a:avLst>
              <a:gd name="adj" fmla="val 6818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082" name="文本框 1081" descr="{&quot;isTemplate&quot;:true,&quot;type&quot;:&quot;text&quot;}"/>
          <p:cNvSpPr txBox="1"/>
          <p:nvPr/>
        </p:nvSpPr>
        <p:spPr>
          <a:xfrm>
            <a:off x="781050" y="478155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就是基于这个宏的封装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3" name="文本框 1082" descr="{&quot;isTemplate&quot;:true,&quot;type&quot;:&quot;text&quot;}"/>
          <p:cNvSpPr txBox="1"/>
          <p:nvPr/>
        </p:nvSpPr>
        <p:spPr>
          <a:xfrm>
            <a:off x="781050" y="5010150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f_orm/src/ProtectedMacros/EmbedSensitive.cj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的连接串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用户名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口令键，再转调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@EmbedSensitive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，最终在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f_orm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@ORMEmbedSensitive()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触发。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4" name="文本框 1083" descr="{&quot;isTemplate&quot;:true,&quot;type&quot;:&quot;text&quot;}"/>
          <p:cNvSpPr txBox="1"/>
          <p:nvPr/>
        </p:nvSpPr>
        <p:spPr>
          <a:xfrm>
            <a:off x="781050" y="5343525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所以你在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里写的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--postgres_orm_connectionUrl=...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才能被嵌进产物。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5" name="任意多边形 108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086" name="文本框 108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7" name="文本框 108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矩形 1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102" name="矩形 110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03" name="文本框 1102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4.7 / 4.8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4" name="文本框 1103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可配置的时间格式与两个已知问题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5" name="文本框 1104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讲出来省得观众踩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6" name="圆角矩形 1105"/>
          <p:cNvSpPr/>
          <p:nvPr/>
        </p:nvSpPr>
        <p:spPr>
          <a:xfrm>
            <a:off x="609600" y="1143000"/>
            <a:ext cx="3552825" cy="3200400"/>
          </a:xfrm>
          <a:prstGeom prst="roundRect">
            <a:avLst>
              <a:gd name="adj" fmla="val 357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07" name="文本框 1106" descr="{&quot;isTemplate&quot;:true,&quot;type&quot;:&quot;text&quot;}"/>
          <p:cNvSpPr txBox="1"/>
          <p:nvPr/>
        </p:nvSpPr>
        <p:spPr>
          <a:xfrm>
            <a:off x="800100" y="1333500"/>
            <a:ext cx="3171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DateTimeConfConverter</a:t>
            </a:r>
            <a:endParaRPr lang="en-US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8" name="文本框 1107" descr="{&quot;isTemplate&quot;:true,&quot;type&quot;:&quot;text&quot;}"/>
          <p:cNvSpPr txBox="1"/>
          <p:nvPr/>
        </p:nvSpPr>
        <p:spPr>
          <a:xfrm>
            <a:off x="800100" y="1600200"/>
            <a:ext cx="31718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时间格式也可配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9" name="文本框 1108" descr="{&quot;isTemplate&quot;:true,&quot;type&quot;:&quot;text&quot;}"/>
          <p:cNvSpPr txBox="1"/>
          <p:nvPr/>
        </p:nvSpPr>
        <p:spPr>
          <a:xfrm>
            <a:off x="800100" y="1895475"/>
            <a:ext cx="31718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@DateTimeConfConverter[myDateFormat]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10" name="文本框 1109" descr="{&quot;isTemplate&quot;:true,&quot;type&quot;:&quot;text&quot;}"/>
          <p:cNvSpPr txBox="1"/>
          <p:nvPr/>
        </p:nvSpPr>
        <p:spPr>
          <a:xfrm>
            <a:off x="800100" y="2190750"/>
            <a:ext cx="31718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private var createdAt: DateTime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11" name="文本框 1110" descr="{&quot;isTemplate&quot;:true,&quot;type&quot;:&quot;text&quot;}"/>
          <p:cNvSpPr txBox="1"/>
          <p:nvPr/>
        </p:nvSpPr>
        <p:spPr>
          <a:xfrm>
            <a:off x="800100" y="2543175"/>
            <a:ext cx="31718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export myDateFormat='yyyy/MM/dd'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12" name="文本框 1111" descr="{&quot;isTemplate&quot;:true,&quot;type&quot;:&quot;text&quot;}"/>
          <p:cNvSpPr txBox="1"/>
          <p:nvPr/>
        </p:nvSpPr>
        <p:spPr>
          <a:xfrm>
            <a:off x="800100" y="2990850"/>
            <a:ext cx="31718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conf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是「保存时间格式的配置项名」，不是格式本身；按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4.3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的优先级读取，没配就用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default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3" name="文本框 1112" descr="{&quot;isTemplate&quot;:true,&quot;type&quot;:&quot;text&quot;}"/>
          <p:cNvSpPr txBox="1"/>
          <p:nvPr/>
        </p:nvSpPr>
        <p:spPr>
          <a:xfrm>
            <a:off x="800100" y="3590925"/>
            <a:ext cx="31718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多租户、多地区各家日期格式不一样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一个注解解决。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4" name="圆角矩形 1113"/>
          <p:cNvSpPr/>
          <p:nvPr/>
        </p:nvSpPr>
        <p:spPr>
          <a:xfrm>
            <a:off x="4314825" y="1143000"/>
            <a:ext cx="3562350" cy="3200400"/>
          </a:xfrm>
          <a:prstGeom prst="roundRect">
            <a:avLst>
              <a:gd name="adj" fmla="val 357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15" name="文本框 1114" descr="{&quot;isTemplate&quot;:true,&quot;type&quot;:&quot;text&quot;}"/>
          <p:cNvSpPr txBox="1"/>
          <p:nvPr/>
        </p:nvSpPr>
        <p:spPr>
          <a:xfrm>
            <a:off x="4505325" y="1333500"/>
            <a:ext cx="3181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已知问题</a:t>
            </a: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6" name="文本框 1115" descr="{&quot;isTemplate&quot;:true,&quot;type&quot;:&quot;text&quot;}"/>
          <p:cNvSpPr txBox="1"/>
          <p:nvPr/>
        </p:nvSpPr>
        <p:spPr>
          <a:xfrm>
            <a:off x="4505325" y="1600200"/>
            <a:ext cx="3181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单数不抛，复数抛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7" name="文本框 1116" descr="{&quot;isTemplate&quot;:true,&quot;type&quot;:&quot;text&quot;}"/>
          <p:cNvSpPr txBox="1"/>
          <p:nvPr/>
        </p:nvSpPr>
        <p:spPr>
          <a:xfrm>
            <a:off x="4505325" y="1895475"/>
            <a:ext cx="3181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getValues / getDateTimes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解析失败会抛异常。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8" name="文本框 1117" descr="{&quot;isTemplate&quot;:true,&quot;type&quot;:&quot;text&quot;}"/>
          <p:cNvSpPr txBox="1"/>
          <p:nvPr/>
        </p:nvSpPr>
        <p:spPr>
          <a:xfrm>
            <a:off x="4505325" y="2266950"/>
            <a:ext cx="31813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单数版本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getValue / getDateTime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（配置不存在时）返回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None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空数组。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9" name="文本框 1118" descr="{&quot;isTemplate&quot;:true,&quot;type&quot;:&quot;text&quot;}"/>
          <p:cNvSpPr txBox="1"/>
          <p:nvPr/>
        </p:nvSpPr>
        <p:spPr>
          <a:xfrm>
            <a:off x="4505325" y="3000375"/>
            <a:ext cx="318135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这是故意的：复数项配置在解析过程中，只要有某一个转换失败，则整个配置失效。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0" name="文本框 1119" descr="{&quot;isTemplate&quot;:true,&quot;type&quot;:&quot;text&quot;}"/>
          <p:cNvSpPr txBox="1"/>
          <p:nvPr/>
        </p:nvSpPr>
        <p:spPr>
          <a:xfrm>
            <a:off x="4505325" y="3867150"/>
            <a:ext cx="31813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写容错代码时别搞混。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1" name="圆角矩形 1120"/>
          <p:cNvSpPr/>
          <p:nvPr/>
        </p:nvSpPr>
        <p:spPr>
          <a:xfrm>
            <a:off x="8029575" y="1143000"/>
            <a:ext cx="3552825" cy="3200400"/>
          </a:xfrm>
          <a:prstGeom prst="roundRect">
            <a:avLst>
              <a:gd name="adj" fmla="val 3571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22" name="文本框 1121" descr="{&quot;isTemplate&quot;:true,&quot;type&quot;:&quot;text&quot;}"/>
          <p:cNvSpPr txBox="1"/>
          <p:nvPr/>
        </p:nvSpPr>
        <p:spPr>
          <a:xfrm>
            <a:off x="8220075" y="1333500"/>
            <a:ext cx="31718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已知问题</a:t>
            </a:r>
            <a:r>
              <a:rPr lang="en-US"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endParaRPr lang="en-US"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3" name="文本框 1122" descr="{&quot;isTemplate&quot;:true,&quot;type&quot;:&quot;text&quot;}"/>
          <p:cNvSpPr txBox="1"/>
          <p:nvPr/>
        </p:nvSpPr>
        <p:spPr>
          <a:xfrm>
            <a:off x="8220075" y="1600200"/>
            <a:ext cx="31718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refresher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前缀匹配恒不成立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4" name="文本框 1123" descr="{&quot;isTemplate&quot;:true,&quot;type&quot;:&quot;text&quot;}"/>
          <p:cNvSpPr txBox="1"/>
          <p:nvPr/>
        </p:nvSpPr>
        <p:spPr>
          <a:xfrm>
            <a:off x="8220075" y="1895475"/>
            <a:ext cx="3171825" cy="866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LoggerConfig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static init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里注册了回调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Config.refresher(confPrefix, LoggerFactory.refresh)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，但前缀匹配不成立。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5" name="文本框 1124" descr="{&quot;isTemplate&quot;:true,&quot;type&quot;:&quot;text&quot;}"/>
          <p:cNvSpPr txBox="1"/>
          <p:nvPr/>
        </p:nvSpPr>
        <p:spPr>
          <a:xfrm>
            <a:off x="8220075" y="2857500"/>
            <a:ext cx="31718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结论：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Config.set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不会触发任何刷新回调。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6" name="文本框 1125" descr="{&quot;isTemplate&quot;:true,&quot;type&quot;:&quot;text&quot;}"/>
          <p:cNvSpPr txBox="1"/>
          <p:nvPr/>
        </p:nvSpPr>
        <p:spPr>
          <a:xfrm>
            <a:off x="8220075" y="3590925"/>
            <a:ext cx="31718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所以改完配置要自己调一次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LoggerFactory.refresh()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（见第十五章）。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7" name="圆角矩形 1126"/>
          <p:cNvSpPr/>
          <p:nvPr/>
        </p:nvSpPr>
        <p:spPr>
          <a:xfrm>
            <a:off x="609600" y="4495800"/>
            <a:ext cx="10972800" cy="1790700"/>
          </a:xfrm>
          <a:prstGeom prst="roundRect">
            <a:avLst>
              <a:gd name="adj" fmla="val 6383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28" name="矩形 1127"/>
          <p:cNvSpPr/>
          <p:nvPr/>
        </p:nvSpPr>
        <p:spPr>
          <a:xfrm>
            <a:off x="800100" y="5105400"/>
            <a:ext cx="38100" cy="5715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29" name="文本框 1128" descr="{&quot;isTemplate&quot;:true,&quot;type&quot;:&quot;text&quot;}"/>
          <p:cNvSpPr txBox="1"/>
          <p:nvPr/>
        </p:nvSpPr>
        <p:spPr>
          <a:xfrm>
            <a:off x="1028700" y="5238750"/>
            <a:ext cx="103632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这两个问题的共同影响：容错代码要按「单数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复数」两套写；运行期刷新必须显式调用，不能指望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Config.set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自动生效。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0" name="任意多边形 112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131" name="文本框 113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2" name="文本框 113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矩形 11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135" name="矩形 113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36" name="文本框 1135" descr="{&quot;isTemplate&quot;:true,&quot;type&quot;:&quot;text&quot;}"/>
          <p:cNvSpPr txBox="1"/>
          <p:nvPr/>
        </p:nvSpPr>
        <p:spPr>
          <a:xfrm>
            <a:off x="819150" y="304800"/>
            <a:ext cx="10353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f_config · 4.9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7" name="文本框 1136" descr="{&quot;isTemplate&quot;:true,&quot;type&quot;:&quot;text&quot;}"/>
          <p:cNvSpPr txBox="1"/>
          <p:nvPr/>
        </p:nvSpPr>
        <p:spPr>
          <a:xfrm>
            <a:off x="819150" y="514350"/>
            <a:ext cx="10353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现场演示：内嵌、覆盖、无配置文件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8" name="文本框 1137" descr="{&quot;isTemplate&quot;:true,&quot;type&quot;:&quot;text&quot;}"/>
          <p:cNvSpPr txBox="1"/>
          <p:nvPr/>
        </p:nvSpPr>
        <p:spPr>
          <a:xfrm>
            <a:off x="11344275" y="590550"/>
            <a:ext cx="238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9" name="圆角矩形 1138"/>
          <p:cNvSpPr/>
          <p:nvPr/>
        </p:nvSpPr>
        <p:spPr>
          <a:xfrm>
            <a:off x="609600" y="1143000"/>
            <a:ext cx="10972800" cy="828675"/>
          </a:xfrm>
          <a:prstGeom prst="roundRect">
            <a:avLst>
              <a:gd name="adj" fmla="val 13793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140" name="文本框 1139" descr="{&quot;isTemplate&quot;:true,&quot;type&quot;:&quot;text&quot;}"/>
          <p:cNvSpPr txBox="1"/>
          <p:nvPr/>
        </p:nvSpPr>
        <p:spPr>
          <a:xfrm>
            <a:off x="762000" y="1295400"/>
            <a:ext cx="342900" cy="523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141" name="文本框 1140" descr="{&quot;isTemplate&quot;:true,&quot;type&quot;:&quot;text&quot;}"/>
          <p:cNvSpPr txBox="1"/>
          <p:nvPr/>
        </p:nvSpPr>
        <p:spPr>
          <a:xfrm>
            <a:off x="1257300" y="1295400"/>
            <a:ext cx="10172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数一下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有多少配置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2" name="文本框 1141" descr="{&quot;isTemplate&quot;:true,&quot;type&quot;:&quot;text&quot;}"/>
          <p:cNvSpPr txBox="1"/>
          <p:nvPr/>
        </p:nvSpPr>
        <p:spPr>
          <a:xfrm>
            <a:off x="1257300" y="1543050"/>
            <a:ext cx="10172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grep -c 'export' fdemo/boot.sh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43" name="圆角矩形 1142"/>
          <p:cNvSpPr/>
          <p:nvPr/>
        </p:nvSpPr>
        <p:spPr>
          <a:xfrm>
            <a:off x="609600" y="2124075"/>
            <a:ext cx="10972800" cy="1104900"/>
          </a:xfrm>
          <a:prstGeom prst="roundRect">
            <a:avLst>
              <a:gd name="adj" fmla="val 1034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144" name="文本框 1143" descr="{&quot;isTemplate&quot;:true,&quot;type&quot;:&quot;text&quot;}"/>
          <p:cNvSpPr txBox="1"/>
          <p:nvPr/>
        </p:nvSpPr>
        <p:spPr>
          <a:xfrm>
            <a:off x="762000" y="2276475"/>
            <a:ext cx="342900" cy="800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145" name="文本框 1144" descr="{&quot;isTemplate&quot;:true,&quot;type&quot;:&quot;text&quot;}"/>
          <p:cNvSpPr txBox="1"/>
          <p:nvPr/>
        </p:nvSpPr>
        <p:spPr>
          <a:xfrm>
            <a:off x="1257300" y="2276475"/>
            <a:ext cx="10172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编译期注入：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--k=v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变成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cjpm build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子进程的环境变量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6" name="文本框 1145" descr="{&quot;isTemplate&quot;:true,&quot;type&quot;:&quot;text&quot;}"/>
          <p:cNvSpPr txBox="1"/>
          <p:nvPr/>
        </p:nvSpPr>
        <p:spPr>
          <a:xfrm>
            <a:off x="1257300" y="2524125"/>
            <a:ext cx="10172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cd fdemo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；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export POSTGRES=...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；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./boot.sh build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47" name="文本框 1146" descr="{&quot;isTemplate&quot;:true,&quot;type&quot;:&quot;text&quot;}"/>
          <p:cNvSpPr txBox="1"/>
          <p:nvPr/>
        </p:nvSpPr>
        <p:spPr>
          <a:xfrm>
            <a:off x="1257300" y="2838450"/>
            <a:ext cx="101727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内部：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--sm4Key=$(fboot randhex 32) --sm4Iv=$(fboot randhex 32)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8" name="圆角矩形 1147"/>
          <p:cNvSpPr/>
          <p:nvPr/>
        </p:nvSpPr>
        <p:spPr>
          <a:xfrm>
            <a:off x="609600" y="3381375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149" name="文本框 1148" descr="{&quot;isTemplate&quot;:true,&quot;type&quot;:&quot;text&quot;}"/>
          <p:cNvSpPr txBox="1"/>
          <p:nvPr/>
        </p:nvSpPr>
        <p:spPr>
          <a:xfrm>
            <a:off x="762000" y="3533775"/>
            <a:ext cx="342900" cy="838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59E0B"/>
                </a:solidFill>
                <a:latin typeface="JetBrains Mono"/>
                <a:ea typeface="JetBrains Mono"/>
              </a:rPr>
              <a:t>3</a:t>
            </a:r>
            <a:endParaRPr lang="en-US" sz="165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150" name="文本框 1149" descr="{&quot;isTemplate&quot;:true,&quot;type&quot;:&quot;text&quot;}"/>
          <p:cNvSpPr txBox="1"/>
          <p:nvPr/>
        </p:nvSpPr>
        <p:spPr>
          <a:xfrm>
            <a:off x="1257300" y="3533775"/>
            <a:ext cx="10172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运行期覆盖：两种写法完全等价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1" name="文本框 1150" descr="{&quot;isTemplate&quot;:true,&quot;type&quot;:&quot;text&quot;}"/>
          <p:cNvSpPr txBox="1"/>
          <p:nvPr/>
        </p:nvSpPr>
        <p:spPr>
          <a:xfrm>
            <a:off x="1257300" y="3781425"/>
            <a:ext cx="10172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写法一（环境变量）：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export mvc_port=8080 → ./boot.sh run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152" name="文本框 1151" descr="{&quot;isTemplate&quot;:true,&quot;type&quot;:&quot;text&quot;}"/>
          <p:cNvSpPr txBox="1"/>
          <p:nvPr/>
        </p:nvSpPr>
        <p:spPr>
          <a:xfrm>
            <a:off x="1257300" y="4095750"/>
            <a:ext cx="10172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写法二（命令行参数）：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fboot run ./fdemo --mvc_port=9090 --orm_drivers=postgres</a:t>
            </a:r>
            <a:endParaRPr lang="en-US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153" name="圆角矩形 1152"/>
          <p:cNvSpPr/>
          <p:nvPr/>
        </p:nvSpPr>
        <p:spPr>
          <a:xfrm>
            <a:off x="609600" y="4676775"/>
            <a:ext cx="10972800" cy="1609725"/>
          </a:xfrm>
          <a:prstGeom prst="roundRect">
            <a:avLst>
              <a:gd name="adj" fmla="val 7101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54" name="文本框 1153" descr="{&quot;isTemplate&quot;:true,&quot;type&quot;:&quot;text&quot;}"/>
          <p:cNvSpPr txBox="1"/>
          <p:nvPr/>
        </p:nvSpPr>
        <p:spPr>
          <a:xfrm>
            <a:off x="800100" y="4867275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预期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5" name="文本框 1154" descr="{&quot;isTemplate&quot;:true,&quot;type&quot;:&quot;text&quot;}"/>
          <p:cNvSpPr txBox="1"/>
          <p:nvPr/>
        </p:nvSpPr>
        <p:spPr>
          <a:xfrm>
            <a:off x="800100" y="513397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编译成功，连接串与口令被加密嵌入产物；日志里出现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9090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端口，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Config.getString('mvc_port')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取到命令行参数的值，覆盖了环境变量值；两种写法效果完全一致。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6" name="文本框 1155" descr="{&quot;isTemplate&quot;:true,&quot;type&quot;:&quot;text&quot;}"/>
          <p:cNvSpPr txBox="1"/>
          <p:nvPr/>
        </p:nvSpPr>
        <p:spPr>
          <a:xfrm>
            <a:off x="800100" y="581977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这就是「环境变量与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--key=value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平级，后者覆盖前者」最直观的证明。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7" name="任意多边形 115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158" name="文本框 115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9" name="文本框 115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矩形 11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162" name="矩形 116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63" name="文本框 1162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5.1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4" name="文本框 1163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目录结构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5" name="文本框 1164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分包决定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dylib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粒度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6" name="圆角矩形 1165"/>
          <p:cNvSpPr/>
          <p:nvPr/>
        </p:nvSpPr>
        <p:spPr>
          <a:xfrm>
            <a:off x="609600" y="1143000"/>
            <a:ext cx="59055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67" name="文本框 1166" descr="{&quot;isTemplate&quot;:true,&quot;type&quot;:&quot;text&quot;}"/>
          <p:cNvSpPr txBox="1"/>
          <p:nvPr/>
        </p:nvSpPr>
        <p:spPr>
          <a:xfrm>
            <a:off x="800100" y="1333500"/>
            <a:ext cx="5524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8" name="文本框 1167" descr="{&quot;isTemplate&quot;:true,&quot;type&quot;:&quot;text&quot;}"/>
          <p:cNvSpPr txBox="1"/>
          <p:nvPr/>
        </p:nvSpPr>
        <p:spPr>
          <a:xfrm>
            <a:off x="800100" y="1590675"/>
            <a:ext cx="5524500" cy="408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cjpm.toml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workspace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：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members = ["./boot", "./user"]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banner.txt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启动横幅（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build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打包进版本模块）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boot.sh · boot-macos.sh · boot-win-gitbash.sh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├── boot/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初始化模块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│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src/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ControllerAspect · TransactionHookImpl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│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LogMediaType · error/ErrorHandler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└── user/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业务模块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src/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controller/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UserController · CurrentUserController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│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HellowordController · UploadController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service/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UserService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（接口）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service/impl/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UserServiceImpl · HelloworldServiceImpl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dao/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UserDAO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model/po/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UserPO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（持久化对象）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model/mvc/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UserRequest · UserResponse · UserSession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├──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model/entity/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UserEntity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└──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util/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UserSessionCache · auth/ · cron/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69" name="圆角矩形 1168"/>
          <p:cNvSpPr/>
          <p:nvPr/>
        </p:nvSpPr>
        <p:spPr>
          <a:xfrm>
            <a:off x="6705600" y="1143000"/>
            <a:ext cx="4876800" cy="2505075"/>
          </a:xfrm>
          <a:prstGeom prst="roundRect">
            <a:avLst>
              <a:gd name="adj" fmla="val 456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170" name="文本框 1169" descr="{&quot;isTemplate&quot;:true,&quot;type&quot;:&quot;text&quot;}"/>
          <p:cNvSpPr txBox="1"/>
          <p:nvPr/>
        </p:nvSpPr>
        <p:spPr>
          <a:xfrm>
            <a:off x="6896100" y="1333500"/>
            <a:ext cx="449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为什么这样分包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1" name="文本框 1170" descr="{&quot;isTemplate&quot;:true,&quot;type&quot;:&quot;text&quot;}"/>
          <p:cNvSpPr txBox="1"/>
          <p:nvPr/>
        </p:nvSpPr>
        <p:spPr>
          <a:xfrm>
            <a:off x="6896100" y="1657350"/>
            <a:ext cx="44958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分包决定动态链接库的粒度，动态链接库粒度决定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2" name="文本框 1171" descr="{&quot;isTemplate&quot;:true,&quot;type&quot;:&quot;text&quot;}"/>
          <p:cNvSpPr txBox="1"/>
          <p:nvPr/>
        </p:nvSpPr>
        <p:spPr>
          <a:xfrm>
            <a:off x="6896100" y="2066925"/>
            <a:ext cx="44958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所以「切面放哪个包」「鉴权器放哪个包」是需要在设计阶段就想清楚的事。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3" name="文本框 1172" descr="{&quot;isTemplate&quot;:true,&quot;type&quot;:&quot;text&quot;}"/>
          <p:cNvSpPr txBox="1"/>
          <p:nvPr/>
        </p:nvSpPr>
        <p:spPr>
          <a:xfrm>
            <a:off x="6896100" y="3143250"/>
            <a:ext cx="44958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boot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包在正则里有专门的一段，就是这个原因。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4" name="圆角矩形 1173"/>
          <p:cNvSpPr/>
          <p:nvPr/>
        </p:nvSpPr>
        <p:spPr>
          <a:xfrm>
            <a:off x="6705600" y="3781425"/>
            <a:ext cx="4876800" cy="2505075"/>
          </a:xfrm>
          <a:prstGeom prst="roundRect">
            <a:avLst>
              <a:gd name="adj" fmla="val 456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75" name="文本框 1174" descr="{&quot;isTemplate&quot;:true,&quot;type&quot;:&quot;text&quot;}"/>
          <p:cNvSpPr txBox="1"/>
          <p:nvPr/>
        </p:nvSpPr>
        <p:spPr>
          <a:xfrm>
            <a:off x="6896100" y="3971925"/>
            <a:ext cx="449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一段最真实的动态链接库拆分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6" name="文本框 1175" descr="{&quot;isTemplate&quot;:true,&quot;type&quot;:&quot;text&quot;}"/>
          <p:cNvSpPr txBox="1"/>
          <p:nvPr/>
        </p:nvSpPr>
        <p:spPr>
          <a:xfrm>
            <a:off x="6896100" y="4295775"/>
            <a:ext cx="44958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里的四样东西都不是业务，但都必须被加载：切面、事务钩子、自定义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MediaType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500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处理器。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7" name="文本框 1176" descr="{&quot;isTemplate&quot;:true,&quot;type&quot;:&quot;text&quot;}"/>
          <p:cNvSpPr txBox="1"/>
          <p:nvPr/>
        </p:nvSpPr>
        <p:spPr>
          <a:xfrm>
            <a:off x="6896100" y="5010150"/>
            <a:ext cx="44958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user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里则是标准的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 / service / dao / model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四层。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8" name="文本框 1177" descr="{&quot;isTemplate&quot;:true,&quot;type&quot;:&quot;text&quot;}"/>
          <p:cNvSpPr txBox="1"/>
          <p:nvPr/>
        </p:nvSpPr>
        <p:spPr>
          <a:xfrm>
            <a:off x="6896100" y="5781675"/>
            <a:ext cx="44958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业务代码里你只写了这四个东西。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9" name="任意多边形 117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180" name="文本框 117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1" name="文本框 118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矩形 11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184" name="矩形 118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185" name="文本框 1184" descr="{&quot;isTemplate&quot;:true,&quot;type&quot;:&quot;text&quot;}"/>
          <p:cNvSpPr txBox="1"/>
          <p:nvPr/>
        </p:nvSpPr>
        <p:spPr>
          <a:xfrm>
            <a:off x="819150" y="304800"/>
            <a:ext cx="9906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现场跑通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5.2 / 5.3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6" name="文本框 1185" descr="{&quot;isTemplate&quot;:true,&quot;type&quot;:&quot;text&quot;}"/>
          <p:cNvSpPr txBox="1"/>
          <p:nvPr/>
        </p:nvSpPr>
        <p:spPr>
          <a:xfrm>
            <a:off x="819150" y="514350"/>
            <a:ext cx="9906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建表、编译、启动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7" name="文本框 1186" descr="{&quot;isTemplate&quot;:true,&quot;type&quot;:&quot;text&quot;}"/>
          <p:cNvSpPr txBox="1"/>
          <p:nvPr/>
        </p:nvSpPr>
        <p:spPr>
          <a:xfrm>
            <a:off x="10896600" y="590550"/>
            <a:ext cx="685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PostgreSQL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8" name="圆角矩形 1187"/>
          <p:cNvSpPr/>
          <p:nvPr/>
        </p:nvSpPr>
        <p:spPr>
          <a:xfrm>
            <a:off x="609600" y="1143000"/>
            <a:ext cx="10972800" cy="2590800"/>
          </a:xfrm>
          <a:prstGeom prst="roundRect">
            <a:avLst>
              <a:gd name="adj" fmla="val 44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89" name="文本框 1188" descr="{&quot;isTemplate&quot;:true,&quot;type&quot;:&quot;text&quot;}"/>
          <p:cNvSpPr txBox="1"/>
          <p:nvPr/>
        </p:nvSpPr>
        <p:spPr>
          <a:xfrm>
            <a:off x="800100" y="1333500"/>
            <a:ext cx="10591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5.2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建表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0" name="文本框 1189" descr="{&quot;isTemplate&quot;:true,&quot;type&quot;:&quot;text&quot;}"/>
          <p:cNvSpPr txBox="1"/>
          <p:nvPr/>
        </p:nvSpPr>
        <p:spPr>
          <a:xfrm>
            <a:off x="800100" y="15906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CREATE TABLE public.user_info (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91" name="文本框 1190" descr="{&quot;isTemplate&quot;:true,&quot;type&quot;:&quot;text&quot;}"/>
          <p:cNvSpPr txBox="1"/>
          <p:nvPr/>
        </p:nvSpPr>
        <p:spPr>
          <a:xfrm>
            <a:off x="800100" y="18954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id int8 GENERATED BY DEFAULT AS IDENTITY NOT NULL,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92" name="文本框 1191" descr="{&quot;isTemplate&quot;:true,&quot;type&quot;:&quot;text&quot;}"/>
          <p:cNvSpPr txBox="1"/>
          <p:nvPr/>
        </p:nvSpPr>
        <p:spPr>
          <a:xfrm>
            <a:off x="800100" y="22002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username varchar(32) NOT NULL,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93" name="文本框 1192" descr="{&quot;isTemplate&quot;:true,&quot;type&quot;:&quot;text&quot;}"/>
          <p:cNvSpPr txBox="1"/>
          <p:nvPr/>
        </p:nvSpPr>
        <p:spPr>
          <a:xfrm>
            <a:off x="800100" y="25050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"password" varchar(24) NOT NULL,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94" name="文本框 1193" descr="{&quot;isTemplate&quot;:true,&quot;type&quot;:&quot;text&quot;}"/>
          <p:cNvSpPr txBox="1"/>
          <p:nvPr/>
        </p:nvSpPr>
        <p:spPr>
          <a:xfrm>
            <a:off x="800100" y="28098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save_time timestamptz DEFAULT now() NULL,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195" name="文本框 1194" descr="{&quot;isTemplate&quot;:true,&quot;type&quot;:&quot;text&quot;}"/>
          <p:cNvSpPr txBox="1"/>
          <p:nvPr/>
        </p:nvSpPr>
        <p:spPr>
          <a:xfrm>
            <a:off x="800100" y="31146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CONSTRAINT user_info_pkey PRIMARY KEY (id),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96" name="文本框 1195" descr="{&quot;isTemplate&quot;:true,&quot;type&quot;:&quot;text&quot;}"/>
          <p:cNvSpPr txBox="1"/>
          <p:nvPr/>
        </p:nvSpPr>
        <p:spPr>
          <a:xfrm>
            <a:off x="800100" y="34194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CONSTRAINT user_info_username_key UNIQUE (username));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197" name="圆角矩形 1196"/>
          <p:cNvSpPr/>
          <p:nvPr/>
        </p:nvSpPr>
        <p:spPr>
          <a:xfrm>
            <a:off x="609600" y="3886200"/>
            <a:ext cx="5410200" cy="2400300"/>
          </a:xfrm>
          <a:prstGeom prst="roundRect">
            <a:avLst>
              <a:gd name="adj" fmla="val 476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198" name="文本框 1197" descr="{&quot;isTemplate&quot;:true,&quot;type&quot;:&quot;text&quot;}"/>
          <p:cNvSpPr txBox="1"/>
          <p:nvPr/>
        </p:nvSpPr>
        <p:spPr>
          <a:xfrm>
            <a:off x="800100" y="4076700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5.3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编译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9" name="文本框 1198" descr="{&quot;isTemplate&quot;:true,&quot;type&quot;:&quot;text&quot;}"/>
          <p:cNvSpPr txBox="1"/>
          <p:nvPr/>
        </p:nvSpPr>
        <p:spPr>
          <a:xfrm>
            <a:off x="800100" y="4324350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export POSTGRES='postgres://user:pass@host:5432/dbname'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00" name="文本框 1199" descr="{&quot;isTemplate&quot;:true,&quot;type&quot;:&quot;text&quot;}"/>
          <p:cNvSpPr txBox="1"/>
          <p:nvPr/>
        </p:nvSpPr>
        <p:spPr>
          <a:xfrm>
            <a:off x="800100" y="4629150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export CANGJIE_STDX_PATH=$CANGJIE_STDX_DYNAMIC_PATH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201" name="文本框 1200" descr="{&quot;isTemplate&quot;:true,&quot;type&quot;:&quot;text&quot;}"/>
          <p:cNvSpPr txBox="1"/>
          <p:nvPr/>
        </p:nvSpPr>
        <p:spPr>
          <a:xfrm>
            <a:off x="800100" y="4933950"/>
            <a:ext cx="50292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./boot.sh build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内部：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build ./fdemo --orm_drivers=postgres ...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02" name="文本框 1201" descr="{&quot;isTemplate&quot;:true,&quot;type&quot;:&quot;text&quot;}"/>
          <p:cNvSpPr txBox="1"/>
          <p:nvPr/>
        </p:nvSpPr>
        <p:spPr>
          <a:xfrm>
            <a:off x="800100" y="553402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./boot.sh run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　　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22D3EE"/>
                </a:solidFill>
                <a:latin typeface="JetBrains Mono"/>
                <a:ea typeface="JetBrains Mono"/>
              </a:rPr>
              <a:t>内部：</a:t>
            </a: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fboot run ./fdemo --dylibPattern='(...)'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203" name="圆角矩形 1202"/>
          <p:cNvSpPr/>
          <p:nvPr/>
        </p:nvSpPr>
        <p:spPr>
          <a:xfrm>
            <a:off x="6172200" y="3886200"/>
            <a:ext cx="5410200" cy="2400300"/>
          </a:xfrm>
          <a:prstGeom prst="roundRect">
            <a:avLst>
              <a:gd name="adj" fmla="val 476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204" name="文本框 1203" descr="{&quot;isTemplate&quot;:true,&quot;type&quot;:&quot;text&quot;}"/>
          <p:cNvSpPr txBox="1"/>
          <p:nvPr/>
        </p:nvSpPr>
        <p:spPr>
          <a:xfrm>
            <a:off x="6362700" y="4076700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预期</a:t>
            </a:r>
            <a:endParaRPr lang="zh-CN" sz="112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5" name="文本框 1204" descr="{&quot;isTemplate&quot;:true,&quot;type&quot;:&quot;text&quot;}"/>
          <p:cNvSpPr txBox="1"/>
          <p:nvPr/>
        </p:nvSpPr>
        <p:spPr>
          <a:xfrm>
            <a:off x="6362700" y="4324350"/>
            <a:ext cx="5029200" cy="1019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[INFO-...] ...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（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fountain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启动日志）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_____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.___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_/ ____\__| _/____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_____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____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（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fdemo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ASCII BANNER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，来自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banner.txt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）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206" name="文本框 1205" descr="{&quot;isTemplate&quot;:true,&quot;type&quot;:&quot;text&quot;}"/>
          <p:cNvSpPr txBox="1"/>
          <p:nvPr/>
        </p:nvSpPr>
        <p:spPr>
          <a:xfrm>
            <a:off x="6362700" y="5562600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 b="1">
                <a:solidFill>
                  <a:srgbClr val="F59E0B"/>
                </a:solidFill>
                <a:latin typeface="JetBrains Mono"/>
                <a:ea typeface="JetBrains Mono"/>
              </a:rPr>
              <a:t>fdemo(1.1.0) started by 1.3.x in xxxms</a:t>
            </a:r>
            <a:endParaRPr lang="en-US" sz="105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207" name="文本框 1206" descr="{&quot;isTemplate&quot;:true,&quot;type&quot;:&quot;text&quot;}"/>
          <p:cNvSpPr txBox="1"/>
          <p:nvPr/>
        </p:nvSpPr>
        <p:spPr>
          <a:xfrm>
            <a:off x="6362700" y="5857875"/>
            <a:ext cx="50292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应用名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版本来自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fboot build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注入的版本模块。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8" name="任意多边形 120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209" name="文本框 120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0" name="文本框 120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05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敏感配置与跑通 fdemo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敏感配置与 SM4 加密　·　@EmbedSensitive 的五条规则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可配置的时间格式与两个已知问题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现场跑通 fdemo：目录结构、建表、编译、启动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下一讲：接口验证与 IOC 入门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