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  <p:sldId id="263" r:id="rIdSl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这一讲进入第八章 f_data。先说清楚为什么先讲它——它是 MVC 参数绑定、ORM 结果映射、JWT 负载填充的共同底座。接着讲 @DataAssist 的五个属性，并用展开前后的对照说明 props 为什么不破坏封装。然后是统一数据模型：请求方向字节到 Data 再到对象，响应方向反过来。最后是实例复制的四种走法与 DataConversionFlag 这组容错旋钮。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第八章讲数据，f_data。为什么先讲它？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前面讲的 IOC 和 AOP 解决的是「对象怎么来、横切逻辑放哪」。这一章解决的是「数据怎么流动」。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一个服务端应用的绝大部分代码，本质上都在做三件事：把 HTTP 请求、数据库行、配置变成对象；在对象与对象之间搬运数据，比如 PO 变成 DTO、DTO 变成 Entity；把对象变成响应，JSON 或者其他格式。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这三件事，f_data 用一个宏加一个统一数据模型全部解决掉了。它是 MVC 的参数绑定、ORM 的结果映射、以及 JWT 负载填充的共同底座——所以 f_mvc、f_orm、f_jwt 都依赖它。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有五个基本特性：公共成员变量和公共成员属性的复制；随时获取指定名称的公共成员的值；随时为指定名称的公共成员赋值；在不同的类实例之间互相复制；任意类实例与 JSON 之间互相复制。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一把钥匙是 @DataAssist 宏，它有五个属性：equal、hash、tostring、props、fields。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props 的展开结果。左边是声明，右面是展开。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你写的是：@DataAssist[props]，一个类，里面两个私有成员变量，一个是 private var a 字符串类型，一个是 private let b 整数类型。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宏展开后，字段名后面加了下划线，同时多出两个属性：a 是 public mut prop，有 get 和 </a:t>
            </a:r>
            <a:r>
              <a:rPr lang="en-US" altLang="zh-CN" dirty="0"/>
              <a:t>set</a:t>
            </a:r>
            <a:r>
              <a:rPr lang="zh-CN" dirty="0"/>
              <a:t>两个访问器；b 是 public prop，只有 get，因为它是 let。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这两点：第一，字段还是私有的，封装没有被破坏；第二，框架能通过生成的属性访问器读写它们。所以这不是「破坏封装的反射」，而是一种「不破坏封装的访问通道」，而且它靠的是宏生成的代码，不是反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还有一个顺序约束要记住：在 </a:t>
            </a:r>
            <a:r>
              <a:rPr lang="en-US" altLang="zh-CN" dirty="0"/>
              <a:t>ORM</a:t>
            </a:r>
            <a:r>
              <a:rPr lang="zh-CN" altLang="en-US" dirty="0"/>
              <a:t>映射类</a:t>
            </a:r>
            <a:r>
              <a:rPr lang="zh-CN" dirty="0"/>
              <a:t>上，@DataAssist 必须写在 @QueryMappersGenerator 之前。这个坑在第十二章还会再提一次。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统一数据模型这一节，是理解 f_data 的关键。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 定义了一棵统一的「数据树」，一切转换都先落到这棵树上，再从树上长出来。这就是为什么任意两个类之间都能互相复制——它们都先变成 Data，再从 Data 变回去。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树上的节点有十种：Data 是所有数据值的根接口；DataReal 是数值，底层是 Decimal；DataString 是字符串；DataBool 是布尔，有 TRUE 和 FALSE 两个常量；DataNone 是空值，单例是 INSTANCE；DataList 是有序列表；DataDict 是键值映射；DataDateTime 和 DataDuration 管时间和时间间隔；DataAny 是任意值的包装。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转换接口有三个：ToData 只有一个 toData 方法，负责对象变成 Data；FromData 有 fromData 和 tryFromData 两个静态方法，负责 Data 变成对象；FromToData 是前两者的交集。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操作入口是 DataObject，它把任意对象包成「可读写字段的容器」。你可以按名字读、按名字写、按名字读并转成指定类型、遍历字段、取字段上的全部注解、取指定注解——校验就是靠注解实现的。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实例复制是 f_data 最高频的用法，仓库里 boot.cj 就有现成可运行的演示。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第一种，不同类之间复制。调用DataObject 的 populate函数，把 data2 复制成 TestData3。注意它只复制同名字段，TestData3 和 TestData2 只有部分字段同名，其余不动。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第二种，忽略校验或者忽略校验失败。populate 的 flag 参数可以加上 IGNORE_VALIDATION 跳过校验，或者加 IGNORE_NOT_MATCHED_VALIDATION，校验不通过也继续。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第三种，对象和 JSON 互转。JsonValue 点 from 把对象转成 JSON，json 点 toData 转回 Data；toJson 和 fromJson 是对象和 JSON 串之间的快捷方法。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第四种，Map 也能当数据源。先调用</a:t>
            </a:r>
            <a:r>
              <a:rPr lang="en-US" altLang="zh-CN" dirty="0"/>
              <a:t>Map</a:t>
            </a:r>
            <a:r>
              <a:rPr lang="zh-CN" altLang="en-US" dirty="0"/>
              <a:t>的扩展函数</a:t>
            </a:r>
            <a:r>
              <a:rPr lang="zh-CN" dirty="0"/>
              <a:t> toData 转成 Data对象，再 populate 到目标对象。所以「Map 到对象」「对象到 Map」都不用写胶水代码。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这一组 flag 是 f_data 的「容错旋钮」。DataConversionFlag 本质上是 UInt64，用竖线组合。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DEFAULT_DATA_FLAG 等于 WRAPPING_ON_INT_OVERFLOW 位或 SILENCE。SILENCE 又是四个忽略项的组合：字段不存在、字段类型不匹配、字段无法转换、以及 None 值，全都忽略。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单看这四个：IGNORE_FIELD_NOT_FOUND 是目标没有这个字段时忽略；IGNORE_FIELD_TYPE_NOT_MATCH 是类型不匹配时忽略；IGNORE_FIELD_NOT_CONVERTABLE 是无法转换时忽略。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DEEP 是深拷贝。IGNORE_VALIDATION 是跳过校验。IGNORE_NOT_MATCHED_VALIDATION 是校验不通过也继续。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最后三个是整数溢出的三种策略：WRAPPING 回绕、THROWING 抛异常、SATURATING 饱和。优先级是回绕大于抛异常大于饱和——三个里同时给多个，按这个顺序生效。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默认 SILENCE 意味着：同名字段就复制，尽量完成数据类型转换，包括字符串跟其他类型之间的转换，对不上的静默跳过。需要严格模式时，不要传 DEFAULT_DATA_FLAG，自己组合即可。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数据校验这一节，fdemo 的 UserRequest 是最好的例子。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看左边的代码：username 字段上是 @CombinedValidator，里面是「IsNotBlank 或 StringSize」——注意这是用与运算组合的两个校验器，IsNotBlank 带了自己的提示语「请输入用户名」，StringSize 限定长度六到五十。password 字段上是 @IsNotBlank，提示语是「请输入密码」。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所有校验器都是 f_data.validation.Validator 的子类，而且可以用与、或、非三个操作符组合——注意是操作符，不是字符串表达式。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内置校验器有十三个：非空、非空白、字符串长度、整数、实数、邮箱、中国手机号、整数区间（可以配开闭）、布尔、时间格式、Duration、整数列表、正则，还有 f_util 里定义的 IsUUID。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校验注解可以修饰成员变量、成员属性、函数参数三处。f_mvc 在绑定 controller 实参时会触发参数上的校验，DataObject.set 在复制时会触发成员上的校验。校验失败抛 ValidationException，fdemo 里由 Http500Handler 统一转成响应体。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这一讲三个要点：一，f_data 的统一数据模型是一棵树，任意两个类都能互转，因为都先落到 Data 上再长出来；二，props 靠宏生成属性访问器，不是反射，字段还是私有的；三，复制默认是 SILENCE——同名字段就复制、尽量转换、对不上的静默跳过，这是优点也是坑。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08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08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f_data 数据模型与复制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为什么先讲 f_data：它是 MVC / ORM / JWT 的共同底座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@DataAssist 五个属性　·　props 展开为什么不破坏封装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统一数据模型 Data　·　实例复制　·　DataConversionFlag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8 讲 / 共 25 讲　·　原稿第 46–51 页 + 首尾两页　·　约 14.1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矩形 15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34" name="矩形 153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35" name="文本框 1534" descr="{&quot;isTemplate&quot;:true,&quot;type&quot;:&quot;text&quot;}"/>
          <p:cNvSpPr txBox="1"/>
          <p:nvPr/>
        </p:nvSpPr>
        <p:spPr>
          <a:xfrm>
            <a:off x="819150" y="304800"/>
            <a:ext cx="883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8.1 / 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" name="文本框 1535" descr="{&quot;isTemplate&quot;:true,&quot;type&quot;:&quot;text&quot;}"/>
          <p:cNvSpPr txBox="1"/>
          <p:nvPr/>
        </p:nvSpPr>
        <p:spPr>
          <a:xfrm>
            <a:off x="819150" y="514350"/>
            <a:ext cx="8839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为什么先讲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，以及那把钥匙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7" name="文本框 1536" descr="{&quot;isTemplate&quot;:true,&quot;type&quot;:&quot;text&quot;}"/>
          <p:cNvSpPr txBox="1"/>
          <p:nvPr/>
        </p:nvSpPr>
        <p:spPr>
          <a:xfrm>
            <a:off x="9829800" y="590550"/>
            <a:ext cx="175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MVC / ORM / JWT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的共同底座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8" name="圆角矩形 1537"/>
          <p:cNvSpPr/>
          <p:nvPr/>
        </p:nvSpPr>
        <p:spPr>
          <a:xfrm>
            <a:off x="609600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39" name="文本框 1538" descr="{&quot;isTemplate&quot;:true,&quot;type&quot;:&quot;text&quot;}"/>
          <p:cNvSpPr txBox="1"/>
          <p:nvPr/>
        </p:nvSpPr>
        <p:spPr>
          <a:xfrm>
            <a:off x="800100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24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40" name="文本框 1539" descr="{&quot;isTemplate&quot;:true,&quot;type&quot;:&quot;text&quot;}"/>
          <p:cNvSpPr txBox="1"/>
          <p:nvPr/>
        </p:nvSpPr>
        <p:spPr>
          <a:xfrm>
            <a:off x="800100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进来：变成对象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1" name="文本框 1540" descr="{&quot;isTemplate&quot;:true,&quot;type&quot;:&quot;text&quot;}"/>
          <p:cNvSpPr txBox="1"/>
          <p:nvPr/>
        </p:nvSpPr>
        <p:spPr>
          <a:xfrm>
            <a:off x="800100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2" name="圆角矩形 1541"/>
          <p:cNvSpPr/>
          <p:nvPr/>
        </p:nvSpPr>
        <p:spPr>
          <a:xfrm>
            <a:off x="4314825" y="1143000"/>
            <a:ext cx="3562350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3" name="文本框 1542" descr="{&quot;isTemplate&quot;:true,&quot;type&quot;:&quot;text&quot;}"/>
          <p:cNvSpPr txBox="1"/>
          <p:nvPr/>
        </p:nvSpPr>
        <p:spPr>
          <a:xfrm>
            <a:off x="4505325" y="1333500"/>
            <a:ext cx="31813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2D3EE"/>
                </a:solidFill>
                <a:latin typeface="JetBrains Mono"/>
                <a:ea typeface="JetBrains Mono"/>
              </a:rPr>
              <a:t>2</a:t>
            </a:r>
            <a:endParaRPr lang="en-US" sz="24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44" name="文本框 1543" descr="{&quot;isTemplate&quot;:true,&quot;type&quot;:&quot;text&quot;}"/>
          <p:cNvSpPr txBox="1"/>
          <p:nvPr/>
        </p:nvSpPr>
        <p:spPr>
          <a:xfrm>
            <a:off x="4505325" y="1819275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搬运：对象到对象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5" name="文本框 1544" descr="{&quot;isTemplate&quot;:true,&quot;type&quot;:&quot;text&quot;}"/>
          <p:cNvSpPr txBox="1"/>
          <p:nvPr/>
        </p:nvSpPr>
        <p:spPr>
          <a:xfrm>
            <a:off x="4505325" y="2085975"/>
            <a:ext cx="31813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PO → DTO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DTO → Entity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6" name="圆角矩形 1545"/>
          <p:cNvSpPr/>
          <p:nvPr/>
        </p:nvSpPr>
        <p:spPr>
          <a:xfrm>
            <a:off x="8010525" y="1143000"/>
            <a:ext cx="3571875" cy="2133600"/>
          </a:xfrm>
          <a:prstGeom prst="roundRect">
            <a:avLst>
              <a:gd name="adj" fmla="val 535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47" name="文本框 1546" descr="{&quot;isTemplate&quot;:true,&quot;type&quot;:&quot;text&quot;}"/>
          <p:cNvSpPr txBox="1"/>
          <p:nvPr/>
        </p:nvSpPr>
        <p:spPr>
          <a:xfrm>
            <a:off x="8201025" y="1333500"/>
            <a:ext cx="319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24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548" name="文本框 1547" descr="{&quot;isTemplate&quot;:true,&quot;type&quot;:&quot;text&quot;}"/>
          <p:cNvSpPr txBox="1"/>
          <p:nvPr/>
        </p:nvSpPr>
        <p:spPr>
          <a:xfrm>
            <a:off x="8201025" y="1819275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出去：变成响应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9" name="文本框 1548" descr="{&quot;isTemplate&quot;:true,&quot;type&quot;:&quot;text&quot;}"/>
          <p:cNvSpPr txBox="1"/>
          <p:nvPr/>
        </p:nvSpPr>
        <p:spPr>
          <a:xfrm>
            <a:off x="8201025" y="2085975"/>
            <a:ext cx="31908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其它格式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0" name="圆角矩形 1549"/>
          <p:cNvSpPr/>
          <p:nvPr/>
        </p:nvSpPr>
        <p:spPr>
          <a:xfrm>
            <a:off x="609600" y="3429000"/>
            <a:ext cx="438150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51" name="文本框 1550" descr="{&quot;isTemplate&quot;:true,&quot;type&quot;:&quot;text&quot;}"/>
          <p:cNvSpPr txBox="1"/>
          <p:nvPr/>
        </p:nvSpPr>
        <p:spPr>
          <a:xfrm>
            <a:off x="800100" y="3619500"/>
            <a:ext cx="4000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一把钥匙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2" name="文本框 1551" descr="{&quot;isTemplate&quot;:true,&quot;type&quot;:&quot;text&quot;}"/>
          <p:cNvSpPr txBox="1"/>
          <p:nvPr/>
        </p:nvSpPr>
        <p:spPr>
          <a:xfrm>
            <a:off x="800100" y="3876675"/>
            <a:ext cx="40005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53" name="文本框 1552" descr="{&quot;isTemplate&quot;:true,&quot;type&quot;:&quot;text&quot;}"/>
          <p:cNvSpPr txBox="1"/>
          <p:nvPr/>
        </p:nvSpPr>
        <p:spPr>
          <a:xfrm>
            <a:off x="800100" y="4324350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public open class TestData1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... 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4" name="文本框 1553" descr="{&quot;isTemplate&quot;:true,&quot;type&quot;:&quot;text&quot;}"/>
          <p:cNvSpPr txBox="1"/>
          <p:nvPr/>
        </p:nvSpPr>
        <p:spPr>
          <a:xfrm>
            <a:off x="800100" y="4733925"/>
            <a:ext cx="40005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一个宏，把「属性、相等、哈希、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、复制与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互转」全部生成好。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5" name="文本框 1554" descr="{&quot;isTemplate&quot;:true,&quot;type&quot;:&quot;text&quot;}"/>
          <p:cNvSpPr txBox="1"/>
          <p:nvPr/>
        </p:nvSpPr>
        <p:spPr>
          <a:xfrm>
            <a:off x="800100" y="5800725"/>
            <a:ext cx="4000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参数绑定、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结果映射、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JWT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负载填充的共同底座。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56" name="表格 1555"/>
          <p:cNvGraphicFramePr/>
          <p:nvPr/>
        </p:nvGraphicFramePr>
        <p:xfrm>
          <a:off x="5143500" y="3429000"/>
          <a:ext cx="6438900" cy="2857500"/>
        </p:xfrm>
        <a:graphic>
          <a:graphicData uri="http://schemas.openxmlformats.org/drawingml/2006/table">
            <a:tbl>
              <a:tblPr/>
              <a:tblGrid>
                <a:gridCol w="873685"/>
                <a:gridCol w="5565215"/>
              </a:tblGrid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生成什么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equal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Equatable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hash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Hashable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tostring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 ToString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props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把非公共实例成员变量改写成公共成员属性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fields</a:t>
                      </a:r>
                      <a:endParaRPr sz="975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实例间复制、实例与 JSON 互转（dataFields / toData / tryFromData）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57" name="任意多边形 15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58" name="文本框 15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9" name="文本框 15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矩形 15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62" name="矩形 156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63" name="文本框 1562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4" name="文本框 1563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props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展开：不破坏封装的「反射」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5" name="文本框 1564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最有说服力的一屏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6" name="圆角矩形 1565"/>
          <p:cNvSpPr/>
          <p:nvPr/>
        </p:nvSpPr>
        <p:spPr>
          <a:xfrm>
            <a:off x="6096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67" name="文本框 1566" descr="{&quot;isTemplate&quot;:true,&quot;type&quot;:&quot;text&quot;}"/>
          <p:cNvSpPr txBox="1"/>
          <p:nvPr/>
        </p:nvSpPr>
        <p:spPr>
          <a:xfrm>
            <a:off x="8001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你写的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8" name="文本框 1567" descr="{&quot;isTemplate&quot;:true,&quot;type&quot;:&quot;text&quot;}"/>
          <p:cNvSpPr txBox="1"/>
          <p:nvPr/>
        </p:nvSpPr>
        <p:spPr>
          <a:xfrm>
            <a:off x="8001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@DataAssist[props]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69" name="文本框 1568" descr="{&quot;isTemplate&quot;:true,&quot;type&quot;:&quot;text&quot;}"/>
          <p:cNvSpPr txBox="1"/>
          <p:nvPr/>
        </p:nvSpPr>
        <p:spPr>
          <a:xfrm>
            <a:off x="8001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0" name="文本框 1569" descr="{&quot;isTemplate&quot;:true,&quot;type&quot;:&quot;text&quot;}"/>
          <p:cNvSpPr txBox="1"/>
          <p:nvPr/>
        </p:nvSpPr>
        <p:spPr>
          <a:xfrm>
            <a:off x="8001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var a: String = ''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1" name="文本框 1570" descr="{&quot;isTemplate&quot;:true,&quot;type&quot;:&quot;text&quot;}"/>
          <p:cNvSpPr txBox="1"/>
          <p:nvPr/>
        </p:nvSpPr>
        <p:spPr>
          <a:xfrm>
            <a:off x="8001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    private let b: Int64 = 0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572" name="文本框 1571" descr="{&quot;isTemplate&quot;:true,&quot;type&quot;:&quot;text&quot;}"/>
          <p:cNvSpPr txBox="1"/>
          <p:nvPr/>
        </p:nvSpPr>
        <p:spPr>
          <a:xfrm>
            <a:off x="8001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3" name="文本框 1572" descr="{&quot;isTemplate&quot;:true,&quot;type&quot;:&quot;text&quot;}"/>
          <p:cNvSpPr txBox="1"/>
          <p:nvPr/>
        </p:nvSpPr>
        <p:spPr>
          <a:xfrm>
            <a:off x="800100" y="4391025"/>
            <a:ext cx="50292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字段还是私有的，封装没有被破坏。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4" name="圆角矩形 1573"/>
          <p:cNvSpPr/>
          <p:nvPr/>
        </p:nvSpPr>
        <p:spPr>
          <a:xfrm>
            <a:off x="6172200" y="1143000"/>
            <a:ext cx="5410200" cy="3733800"/>
          </a:xfrm>
          <a:prstGeom prst="roundRect">
            <a:avLst>
              <a:gd name="adj" fmla="val 3061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575" name="文本框 1574" descr="{&quot;isTemplate&quot;:true,&quot;type&quot;:&quot;text&quot;}"/>
          <p:cNvSpPr txBox="1"/>
          <p:nvPr/>
        </p:nvSpPr>
        <p:spPr>
          <a:xfrm>
            <a:off x="6362700" y="133350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宏展开后（等价）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" name="文本框 1575" descr="{&quot;isTemplate&quot;:true,&quot;type&quot;:&quot;text&quot;}"/>
          <p:cNvSpPr txBox="1"/>
          <p:nvPr/>
        </p:nvSpPr>
        <p:spPr>
          <a:xfrm>
            <a:off x="6362700" y="1590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public class A 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77" name="文本框 1576" descr="{&quot;isTemplate&quot;:true,&quot;type&quot;:&quot;text&quot;}"/>
          <p:cNvSpPr txBox="1"/>
          <p:nvPr/>
        </p:nvSpPr>
        <p:spPr>
          <a:xfrm>
            <a:off x="6362700" y="1895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var a_: String = ''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8" name="文本框 1577" descr="{&quot;isTemplate&quot;:true,&quot;type&quot;:&quot;text&quot;}"/>
          <p:cNvSpPr txBox="1"/>
          <p:nvPr/>
        </p:nvSpPr>
        <p:spPr>
          <a:xfrm>
            <a:off x="6362700" y="2200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    private let b_: Int64 = 0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579" name="文本框 1578" descr="{&quot;isTemplate&quot;:true,&quot;type&quot;:&quot;text&quot;}"/>
          <p:cNvSpPr txBox="1"/>
          <p:nvPr/>
        </p:nvSpPr>
        <p:spPr>
          <a:xfrm>
            <a:off x="6362700" y="2505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mut prop a: String {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0" name="文本框 1579" descr="{&quot;isTemplate&quot;:true,&quot;type&quot;:&quot;text&quot;}"/>
          <p:cNvSpPr txBox="1"/>
          <p:nvPr/>
        </p:nvSpPr>
        <p:spPr>
          <a:xfrm>
            <a:off x="6362700" y="28098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get() { a_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1" name="文本框 1580" descr="{&quot;isTemplate&quot;:true,&quot;type&quot;:&quot;text&quot;}"/>
          <p:cNvSpPr txBox="1"/>
          <p:nvPr/>
        </p:nvSpPr>
        <p:spPr>
          <a:xfrm>
            <a:off x="6362700" y="31146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    set(value) { a_ = value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2" name="文本框 1581" descr="{&quot;isTemplate&quot;:true,&quot;type&quot;:&quot;text&quot;}"/>
          <p:cNvSpPr txBox="1"/>
          <p:nvPr/>
        </p:nvSpPr>
        <p:spPr>
          <a:xfrm>
            <a:off x="6362700" y="34194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3" name="文本框 1582" descr="{&quot;isTemplate&quot;:true,&quot;type&quot;:&quot;text&quot;}"/>
          <p:cNvSpPr txBox="1"/>
          <p:nvPr/>
        </p:nvSpPr>
        <p:spPr>
          <a:xfrm>
            <a:off x="6362700" y="37242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    public prop b: Int64 { get() { b_ } }</a:t>
            </a:r>
            <a:endParaRPr lang="en-US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584" name="文本框 1583" descr="{&quot;isTemplate&quot;:true,&quot;type&quot;:&quot;text&quot;}"/>
          <p:cNvSpPr txBox="1"/>
          <p:nvPr/>
        </p:nvSpPr>
        <p:spPr>
          <a:xfrm>
            <a:off x="6362700" y="4029075"/>
            <a:ext cx="50292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585" name="圆角矩形 1584"/>
          <p:cNvSpPr/>
          <p:nvPr/>
        </p:nvSpPr>
        <p:spPr>
          <a:xfrm>
            <a:off x="609600" y="5029200"/>
            <a:ext cx="10972800" cy="1257300"/>
          </a:xfrm>
          <a:prstGeom prst="roundRect">
            <a:avLst>
              <a:gd name="adj" fmla="val 9091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86" name="文本框 1585" descr="{&quot;isTemplate&quot;:true,&quot;type&quot;:&quot;text&quot;}"/>
          <p:cNvSpPr txBox="1"/>
          <p:nvPr/>
        </p:nvSpPr>
        <p:spPr>
          <a:xfrm>
            <a:off x="781050" y="520065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顺序约束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7" name="文本框 1586" descr="{&quot;isTemplate&quot;:true,&quot;type&quot;:&quot;text&quot;}"/>
          <p:cNvSpPr txBox="1"/>
          <p:nvPr/>
        </p:nvSpPr>
        <p:spPr>
          <a:xfrm>
            <a:off x="781050" y="542925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上，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@DataAssist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必须写在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@QueryMappersGenerator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之前（先展开）。见第十二章。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8" name="文本框 1587" descr="{&quot;isTemplate&quot;:true,&quot;type&quot;:&quot;text&quot;}"/>
          <p:cNvSpPr txBox="1"/>
          <p:nvPr/>
        </p:nvSpPr>
        <p:spPr>
          <a:xfrm>
            <a:off x="781050" y="574357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props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保护了封装（字段还是私有的），同时又能被框架读写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靠的是宏生成的属性访问器，而不是反射。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9" name="任意多边形 158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590" name="文本框 158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1" name="文本框 159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矩形 15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594" name="矩形 159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595" name="文本框 159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6" name="文本框 159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统一数据模型：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7" name="文本框 159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一切转换先落到这棵树上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8" name="圆角矩形 1597"/>
          <p:cNvSpPr/>
          <p:nvPr/>
        </p:nvSpPr>
        <p:spPr>
          <a:xfrm>
            <a:off x="609600" y="1143000"/>
            <a:ext cx="4953000" cy="3219450"/>
          </a:xfrm>
          <a:prstGeom prst="roundRect">
            <a:avLst>
              <a:gd name="adj" fmla="val 355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599" name="文本框 1598" descr="{&quot;isTemplate&quot;:true,&quot;type&quot;:&quot;text&quot;}"/>
          <p:cNvSpPr txBox="1"/>
          <p:nvPr/>
        </p:nvSpPr>
        <p:spPr>
          <a:xfrm>
            <a:off x="800100" y="1333500"/>
            <a:ext cx="457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数据树的节点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0" name="文本框 1599" descr="{&quot;isTemplate&quot;:true,&quot;type&quot;:&quot;text&quot;}"/>
          <p:cNvSpPr txBox="1"/>
          <p:nvPr/>
        </p:nvSpPr>
        <p:spPr>
          <a:xfrm>
            <a:off x="800100" y="1619250"/>
            <a:ext cx="4572000" cy="2543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　所有数据值的根接口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DataReal(Decimal)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数值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DataString(String)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字符串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DataBool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布尔（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TRUE / FALSE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DataNone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空值（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INSTANCE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DataList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有序列表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DataDict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键值映射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DataDateTime / DataDuration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时间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时间间隔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9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DataAny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　　　　任意值的包装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1" name="圆角矩形 1600"/>
          <p:cNvSpPr/>
          <p:nvPr/>
        </p:nvSpPr>
        <p:spPr>
          <a:xfrm>
            <a:off x="5715000" y="1143000"/>
            <a:ext cx="5867400" cy="2162175"/>
          </a:xfrm>
          <a:prstGeom prst="roundRect">
            <a:avLst>
              <a:gd name="adj" fmla="val 52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02" name="文本框 1601" descr="{&quot;isTemplate&quot;:true,&quot;type&quot;:&quot;text&quot;}"/>
          <p:cNvSpPr txBox="1"/>
          <p:nvPr/>
        </p:nvSpPr>
        <p:spPr>
          <a:xfrm>
            <a:off x="5886450" y="1314450"/>
            <a:ext cx="5524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转换接口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3" name="文本框 1602" descr="{&quot;isTemplate&quot;:true,&quot;type&quot;:&quot;text&quot;}"/>
          <p:cNvSpPr txBox="1"/>
          <p:nvPr/>
        </p:nvSpPr>
        <p:spPr>
          <a:xfrm>
            <a:off x="5886450" y="15430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ToData   { func toData(): Data 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4" name="文本框 1603" descr="{&quot;isTemplate&quot;:true,&quot;type&quot;:&quot;text&quot;}"/>
          <p:cNvSpPr txBox="1"/>
          <p:nvPr/>
        </p:nvSpPr>
        <p:spPr>
          <a:xfrm>
            <a:off x="5886450" y="18002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FromData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5" name="文本框 1604" descr="{&quot;isTemplate&quot;:true,&quot;type&quot;:&quot;text&quot;}"/>
          <p:cNvSpPr txBox="1"/>
          <p:nvPr/>
        </p:nvSpPr>
        <p:spPr>
          <a:xfrm>
            <a:off x="5886450" y="205740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6" name="文本框 1605" descr="{&quot;isTemplate&quot;:true,&quot;type&quot;:&quot;text&quot;}"/>
          <p:cNvSpPr txBox="1"/>
          <p:nvPr/>
        </p:nvSpPr>
        <p:spPr>
          <a:xfrm>
            <a:off x="5886450" y="231457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static func tryFromData(data: Data, flag: DataConversionFlag): Any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07" name="文本框 1606" descr="{&quot;isTemplate&quot;:true,&quot;type&quot;:&quot;text&quot;}"/>
          <p:cNvSpPr txBox="1"/>
          <p:nvPr/>
        </p:nvSpPr>
        <p:spPr>
          <a:xfrm>
            <a:off x="5886450" y="2571750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8" name="文本框 1607" descr="{&quot;isTemplate&quot;:true,&quot;type&quot;:&quot;text&quot;}"/>
          <p:cNvSpPr txBox="1"/>
          <p:nvPr/>
        </p:nvSpPr>
        <p:spPr>
          <a:xfrm>
            <a:off x="5886450" y="2828925"/>
            <a:ext cx="5524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public interface FromToData &lt;: FromData &amp; ToData {}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09" name="圆角矩形 1608"/>
          <p:cNvSpPr/>
          <p:nvPr/>
        </p:nvSpPr>
        <p:spPr>
          <a:xfrm>
            <a:off x="5715000" y="3438525"/>
            <a:ext cx="5867400" cy="923925"/>
          </a:xfrm>
          <a:prstGeom prst="roundRect">
            <a:avLst>
              <a:gd name="adj" fmla="val 12371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10" name="文本框 1609" descr="{&quot;isTemplate&quot;:true,&quot;type&quot;:&quot;text&quot;}"/>
          <p:cNvSpPr txBox="1"/>
          <p:nvPr/>
        </p:nvSpPr>
        <p:spPr>
          <a:xfrm>
            <a:off x="5886450" y="3609975"/>
            <a:ext cx="552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所以任意两个类都能互转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1" name="文本框 1610" descr="{&quot;isTemplate&quot;:true,&quot;type&quot;:&quot;text&quot;}"/>
          <p:cNvSpPr txBox="1"/>
          <p:nvPr/>
        </p:nvSpPr>
        <p:spPr>
          <a:xfrm>
            <a:off x="5886450" y="3857625"/>
            <a:ext cx="5524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它们都先变成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，再从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变回去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中间那棵树是共通的。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2" name="圆角矩形 1611"/>
          <p:cNvSpPr/>
          <p:nvPr/>
        </p:nvSpPr>
        <p:spPr>
          <a:xfrm>
            <a:off x="609600" y="4514850"/>
            <a:ext cx="10972800" cy="1771650"/>
          </a:xfrm>
          <a:prstGeom prst="roundRect">
            <a:avLst>
              <a:gd name="adj" fmla="val 645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13" name="文本框 1612" descr="{&quot;isTemplate&quot;:true,&quot;type&quot;:&quot;text&quot;}"/>
          <p:cNvSpPr txBox="1"/>
          <p:nvPr/>
        </p:nvSpPr>
        <p:spPr>
          <a:xfrm>
            <a:off x="781050" y="4686300"/>
            <a:ext cx="10629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DataObject&lt;T&gt; ——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操作入口，把任意对象包成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「可读写字段的容器」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4" name="文本框 1613" descr="{&quot;isTemplate&quot;:true,&quot;type&quot;:&quot;text&quot;}"/>
          <p:cNvSpPr txBox="1"/>
          <p:nvPr/>
        </p:nvSpPr>
        <p:spPr>
          <a:xfrm>
            <a:off x="781050" y="49149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let dobj = DataObject&lt;TestData2&gt;(data2)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15" name="文本框 1614" descr="{&quot;isTemplate&quot;:true,&quot;type&quot;:&quot;text&quot;}"/>
          <p:cNvSpPr txBox="1"/>
          <p:nvPr/>
        </p:nvSpPr>
        <p:spPr>
          <a:xfrm>
            <a:off x="781050" y="51816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              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按名字读（返回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Data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6" name="文本框 1615" descr="{&quot;isTemplate&quot;:true,&quot;type&quot;:&quot;text&quot;}"/>
          <p:cNvSpPr txBox="1"/>
          <p:nvPr/>
        </p:nvSpPr>
        <p:spPr>
          <a:xfrm>
            <a:off x="781050" y="54483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dobj['b'] = 'x'.toData()         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按名字写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7" name="文本框 1616" descr="{&quot;isTemplate&quot;:true,&quot;type&quot;:&quot;text&quot;}"/>
          <p:cNvSpPr txBox="1"/>
          <p:nvPr/>
        </p:nvSpPr>
        <p:spPr>
          <a:xfrm>
            <a:off x="781050" y="57150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dobj.get&lt;Int64&gt;('a', DEFAULT_DATA_FLAG)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按名字读并转成指定类型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18" name="文本框 1617" descr="{&quot;isTemplate&quot;:true,&quot;type&quot;:&quot;text&quot;}"/>
          <p:cNvSpPr txBox="1"/>
          <p:nvPr/>
        </p:nvSpPr>
        <p:spPr>
          <a:xfrm>
            <a:off x="781050" y="5981700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dobj.annotations('b')                   // </a:t>
            </a:r>
            <a:r>
              <a:rPr lang="zh-CN" sz="975">
                <a:solidFill>
                  <a:srgbClr val="94A3B8"/>
                </a:solidFill>
                <a:latin typeface="JetBrains Mono"/>
                <a:ea typeface="JetBrains Mono"/>
              </a:rPr>
              <a:t>取字段上的全部注解（校验就靠它）</a:t>
            </a:r>
            <a:endParaRPr lang="zh-CN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19" name="任意多边形 161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20" name="文本框 161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1" name="文本框 162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矩形 16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24" name="矩形 162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25" name="文本框 1624" descr="{&quot;isTemplate&quot;:true,&quot;type&quot;:&quot;text&quot;}"/>
          <p:cNvSpPr txBox="1"/>
          <p:nvPr/>
        </p:nvSpPr>
        <p:spPr>
          <a:xfrm>
            <a:off x="819150" y="304800"/>
            <a:ext cx="9229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6" name="文本框 1625" descr="{&quot;isTemplate&quot;:true,&quot;type&quot;:&quot;text&quot;}"/>
          <p:cNvSpPr txBox="1"/>
          <p:nvPr/>
        </p:nvSpPr>
        <p:spPr>
          <a:xfrm>
            <a:off x="819150" y="514350"/>
            <a:ext cx="9229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实例复制：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DataObject.populate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7" name="文本框 1626" descr="{&quot;isTemplate&quot;:true,&quot;type&quot;:&quot;text&quot;}"/>
          <p:cNvSpPr txBox="1"/>
          <p:nvPr/>
        </p:nvSpPr>
        <p:spPr>
          <a:xfrm>
            <a:off x="10220325" y="59055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仓库里现成的可运行演示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8" name="圆角矩形 1627"/>
          <p:cNvSpPr/>
          <p:nvPr/>
        </p:nvSpPr>
        <p:spPr>
          <a:xfrm>
            <a:off x="609600" y="1143000"/>
            <a:ext cx="7353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29" name="文本框 1628" descr="{&quot;isTemplate&quot;:true,&quot;type&quot;:&quot;text&quot;}"/>
          <p:cNvSpPr txBox="1"/>
          <p:nvPr/>
        </p:nvSpPr>
        <p:spPr>
          <a:xfrm>
            <a:off x="800100" y="1333500"/>
            <a:ext cx="697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fdemo/boot/src/boot.cj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0" name="文本框 1629" descr="{&quot;isTemplate&quot;:true,&quot;type&quot;:&quot;text&quot;}"/>
          <p:cNvSpPr txBox="1"/>
          <p:nvPr/>
        </p:nvSpPr>
        <p:spPr>
          <a:xfrm>
            <a:off x="800100" y="15906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@DataAssist[equal hash tostring props fields]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1" name="文本框 1630" descr="{&quot;isTemplate&quot;:true,&quot;type&quot;:&quot;text&quot;}"/>
          <p:cNvSpPr txBox="1"/>
          <p:nvPr/>
        </p:nvSpPr>
        <p:spPr>
          <a:xfrm>
            <a:off x="800100" y="1819275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public class TestData2 &lt;: TestData1 { ... }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32" name="矩形 1631"/>
          <p:cNvSpPr/>
          <p:nvPr/>
        </p:nvSpPr>
        <p:spPr>
          <a:xfrm>
            <a:off x="800100" y="2143125"/>
            <a:ext cx="69723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3" name="文本框 1632" descr="{&quot;isTemplate&quot;:true,&quot;type&quot;:&quot;text&quot;}"/>
          <p:cNvSpPr txBox="1"/>
          <p:nvPr/>
        </p:nvSpPr>
        <p:spPr>
          <a:xfrm>
            <a:off x="800100" y="2247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不同类之间复制（只复制同名字段）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4" name="文本框 1633" descr="{&quot;isTemplate&quot;:true,&quot;type&quot;:&quot;text&quot;}"/>
          <p:cNvSpPr txBox="1"/>
          <p:nvPr/>
        </p:nvSpPr>
        <p:spPr>
          <a:xfrm>
            <a:off x="800100" y="2476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var data3 = DataObject&lt;TestData3&gt;.populate(data2).getOrThrow()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5" name="文本框 1634" descr="{&quot;isTemplate&quot;:true,&quot;type&quot;:&quot;text&quot;}"/>
          <p:cNvSpPr txBox="1"/>
          <p:nvPr/>
        </p:nvSpPr>
        <p:spPr>
          <a:xfrm>
            <a:off x="800100" y="2781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忽略验证失败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6" name="文本框 1635" descr="{&quot;isTemplate&quot;:true,&quot;type&quot;:&quot;text&quot;}"/>
          <p:cNvSpPr txBox="1"/>
          <p:nvPr/>
        </p:nvSpPr>
        <p:spPr>
          <a:xfrm>
            <a:off x="800100" y="3009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data3 = DataObject&lt;TestData3&gt;.populate(data2,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7" name="文本框 1636" descr="{&quot;isTemplate&quot;:true,&quot;type&quot;:&quot;text&quot;}"/>
          <p:cNvSpPr txBox="1"/>
          <p:nvPr/>
        </p:nvSpPr>
        <p:spPr>
          <a:xfrm>
            <a:off x="800100" y="3238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flag: DEFAULT_DATA_FLAG | IGNORE_VALIDATION).getOrThrow()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8" name="文本框 1637" descr="{&quot;isTemplate&quot;:true,&quot;type&quot;:&quot;text&quot;}"/>
          <p:cNvSpPr txBox="1"/>
          <p:nvPr/>
        </p:nvSpPr>
        <p:spPr>
          <a:xfrm>
            <a:off x="800100" y="3467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或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| IGNORE_NOT_MATCHED_VALIDATION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39" name="文本框 1638" descr="{&quot;isTemplate&quot;:true,&quot;type&quot;:&quot;text&quot;}"/>
          <p:cNvSpPr txBox="1"/>
          <p:nvPr/>
        </p:nvSpPr>
        <p:spPr>
          <a:xfrm>
            <a:off x="800100" y="37719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↔ JSON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0" name="文本框 1639" descr="{&quot;isTemplate&quot;:true,&quot;type&quot;:&quot;text&quot;}"/>
          <p:cNvSpPr txBox="1"/>
          <p:nvPr/>
        </p:nvSpPr>
        <p:spPr>
          <a:xfrm>
            <a:off x="800100" y="40005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json = JsonValue.from(DataObject&lt;TestData2&gt;(data2))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1" name="文本框 1640" descr="{&quot;isTemplate&quot;:true,&quot;type&quot;:&quot;text&quot;}"/>
          <p:cNvSpPr txBox="1"/>
          <p:nvPr/>
        </p:nvSpPr>
        <p:spPr>
          <a:xfrm>
            <a:off x="800100" y="4229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back = json.toData()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2" name="文本框 1641" descr="{&quot;isTemplate&quot;:true,&quot;type&quot;:&quot;text&quot;}"/>
          <p:cNvSpPr txBox="1"/>
          <p:nvPr/>
        </p:nvSpPr>
        <p:spPr>
          <a:xfrm>
            <a:off x="800100" y="4457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s = toJson(data2)      //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3" name="文本框 1642" descr="{&quot;isTemplate&quot;:true,&quot;type&quot;:&quot;text&quot;}"/>
          <p:cNvSpPr txBox="1"/>
          <p:nvPr/>
        </p:nvSpPr>
        <p:spPr>
          <a:xfrm>
            <a:off x="800100" y="4686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let d = fromJson&lt;TestData2&gt;(s)   // JSON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串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→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44" name="文本框 1643" descr="{&quot;isTemplate&quot;:true,&quot;type&quot;:&quot;text&quot;}"/>
          <p:cNvSpPr txBox="1"/>
          <p:nvPr/>
        </p:nvSpPr>
        <p:spPr>
          <a:xfrm>
            <a:off x="800100" y="49911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④ Map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也能当数据源（先转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再复制）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5" name="文本框 1644" descr="{&quot;isTemplate&quot;:true,&quot;type&quot;:&quot;text&quot;}"/>
          <p:cNvSpPr txBox="1"/>
          <p:nvPr/>
        </p:nvSpPr>
        <p:spPr>
          <a:xfrm>
            <a:off x="800100" y="52197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let data4 = map.toData()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6" name="文本框 1645" descr="{&quot;isTemplate&quot;:true,&quot;type&quot;:&quot;text&quot;}"/>
          <p:cNvSpPr txBox="1"/>
          <p:nvPr/>
        </p:nvSpPr>
        <p:spPr>
          <a:xfrm>
            <a:off x="800100" y="5448300"/>
            <a:ext cx="6972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data2 = DataObject&lt;TestData2&gt;.populate(data4).getOrThrow()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647" name="圆角矩形 1646"/>
          <p:cNvSpPr/>
          <p:nvPr/>
        </p:nvSpPr>
        <p:spPr>
          <a:xfrm>
            <a:off x="8153400" y="1143000"/>
            <a:ext cx="3429000" cy="4048125"/>
          </a:xfrm>
          <a:prstGeom prst="roundRect">
            <a:avLst>
              <a:gd name="adj" fmla="val 3333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48" name="文本框 1647" descr="{&quot;isTemplate&quot;:true,&quot;type&quot;:&quot;text&quot;}"/>
          <p:cNvSpPr txBox="1"/>
          <p:nvPr/>
        </p:nvSpPr>
        <p:spPr>
          <a:xfrm>
            <a:off x="8343900" y="1333500"/>
            <a:ext cx="3048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四条路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9" name="文本框 1648" descr="{&quot;isTemplate&quot;:true,&quot;type&quot;:&quot;text&quot;}"/>
          <p:cNvSpPr txBox="1"/>
          <p:nvPr/>
        </p:nvSpPr>
        <p:spPr>
          <a:xfrm>
            <a:off x="8343900" y="16478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对象：按同名字段复制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0" name="文本框 1649" descr="{&quot;isTemplate&quot;:true,&quot;type&quot;:&quot;text&quot;}"/>
          <p:cNvSpPr txBox="1"/>
          <p:nvPr/>
        </p:nvSpPr>
        <p:spPr>
          <a:xfrm>
            <a:off x="8343900" y="201930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JSON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1" name="文本框 1650" descr="{&quot;isTemplate&quot;:true,&quot;type&quot;:&quot;text&quot;}"/>
          <p:cNvSpPr txBox="1"/>
          <p:nvPr/>
        </p:nvSpPr>
        <p:spPr>
          <a:xfrm>
            <a:off x="8343900" y="239077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2" name="文本框 1651" descr="{&quot;isTemplate&quot;:true,&quot;type&quot;:&quot;text&quot;}"/>
          <p:cNvSpPr txBox="1"/>
          <p:nvPr/>
        </p:nvSpPr>
        <p:spPr>
          <a:xfrm>
            <a:off x="8343900" y="2762250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Map → Data →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3" name="文本框 1652" descr="{&quot;isTemplate&quot;:true,&quot;type&quot;:&quot;text&quot;}"/>
          <p:cNvSpPr txBox="1"/>
          <p:nvPr/>
        </p:nvSpPr>
        <p:spPr>
          <a:xfrm>
            <a:off x="8343900" y="4419600"/>
            <a:ext cx="304800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DTO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少几个字段、多几个字段都不会炸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SILENCE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4" name="圆角矩形 1653"/>
          <p:cNvSpPr/>
          <p:nvPr/>
        </p:nvSpPr>
        <p:spPr>
          <a:xfrm>
            <a:off x="8153400" y="5324475"/>
            <a:ext cx="3429000" cy="962025"/>
          </a:xfrm>
          <a:prstGeom prst="roundRect">
            <a:avLst>
              <a:gd name="adj" fmla="val 1188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55" name="文本框 1654" descr="{&quot;isTemplate&quot;:true,&quot;type&quot;:&quot;text&quot;}"/>
          <p:cNvSpPr txBox="1"/>
          <p:nvPr/>
        </p:nvSpPr>
        <p:spPr>
          <a:xfrm>
            <a:off x="8343900" y="5514975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这些代码不用你写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6" name="文本框 1655" descr="{&quot;isTemplate&quot;:true,&quot;type&quot;:&quot;text&quot;}"/>
          <p:cNvSpPr txBox="1"/>
          <p:nvPr/>
        </p:nvSpPr>
        <p:spPr>
          <a:xfrm>
            <a:off x="8343900" y="5800725"/>
            <a:ext cx="3048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全部是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@DataAssist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fields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属性生成的。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7" name="任意多边形 165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58" name="文本框 165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9" name="文本框 165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矩形 16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76" name="矩形 167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77" name="文本框 1676" descr="{&quot;isTemplate&quot;:true,&quot;type&quot;:&quot;text&quot;}"/>
          <p:cNvSpPr txBox="1"/>
          <p:nvPr/>
        </p:nvSpPr>
        <p:spPr>
          <a:xfrm>
            <a:off x="819150" y="304800"/>
            <a:ext cx="10096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8" name="文本框 1677" descr="{&quot;isTemplate&quot;:true,&quot;type&quot;:&quot;text&quot;}"/>
          <p:cNvSpPr txBox="1"/>
          <p:nvPr/>
        </p:nvSpPr>
        <p:spPr>
          <a:xfrm>
            <a:off x="819150" y="514350"/>
            <a:ext cx="10096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DataConversionFlag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：复制行为的开关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" name="文本框 1678" descr="{&quot;isTemplate&quot;:true,&quot;type&quot;:&quot;text&quot;}"/>
          <p:cNvSpPr txBox="1"/>
          <p:nvPr/>
        </p:nvSpPr>
        <p:spPr>
          <a:xfrm>
            <a:off x="11087100" y="5905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容错旋钮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80" name="表格 1679"/>
          <p:cNvGraphicFramePr/>
          <p:nvPr/>
        </p:nvGraphicFramePr>
        <p:xfrm>
          <a:off x="609600" y="1143000"/>
          <a:ext cx="10972800" cy="3924302"/>
        </p:xfrm>
        <a:graphic>
          <a:graphicData uri="http://schemas.openxmlformats.org/drawingml/2006/table">
            <a:tbl>
              <a:tblPr/>
              <a:tblGrid>
                <a:gridCol w="3159687"/>
                <a:gridCol w="7813113"/>
              </a:tblGrid>
              <a:tr h="36919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常量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DEFAULT_DATA_FLAG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WRAPPING_ON_INT_OVERFLOW | SILENCE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SILENCE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IGNORE_FIELD_NOT_FOUND | IGNORE_FIELD_TYPE_NOT_MATCH | IGNORE_FIELD_NOT_CONVERTABLE | IGNORE_NONE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IGNORE_FIELD_NOT_FOUND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目标没有这个字段时忽略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IGNORE_FIELD_TYPE_NOT_MATCH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类型不匹配时忽略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IGNORE_FIELD_NOT_CONVERTABLE</a:t>
                      </a:r>
                      <a:endParaRPr sz="105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无法转换时忽略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DEEP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深拷贝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跳过校验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IGNORE_NOT_MATCHED_VALIDATION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校验不通过也继续</a:t>
                      </a:r>
                      <a:endParaRPr sz="1050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01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WRAPPING / THROWING / SATURATING_ON_INT_OVERFLOW</a:t>
                      </a:r>
                      <a:endParaRPr sz="900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整数溢出的三种策略（优先级 WRAPPING 大于 THROWING 大于 SATURATING）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81" name="圆角矩形 1680"/>
          <p:cNvSpPr/>
          <p:nvPr/>
        </p:nvSpPr>
        <p:spPr>
          <a:xfrm>
            <a:off x="609600" y="5200650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682" name="文本框 1681" descr="{&quot;isTemplate&quot;:true,&quot;type&quot;:&quot;text&quot;}"/>
          <p:cNvSpPr txBox="1"/>
          <p:nvPr/>
        </p:nvSpPr>
        <p:spPr>
          <a:xfrm>
            <a:off x="781050" y="5372100"/>
            <a:ext cx="10629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意味着什么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3" name="文本框 1682" descr="{&quot;isTemplate&quot;:true,&quot;type&quot;:&quot;text&quot;}"/>
          <p:cNvSpPr txBox="1"/>
          <p:nvPr/>
        </p:nvSpPr>
        <p:spPr>
          <a:xfrm>
            <a:off x="781050" y="56007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同名字段就复制，尽量完成数据类型转换（包括字符串跟其他类型之间的转换），对不上的静默跳过。需要严格模式时，把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SILENCE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去掉，自己组合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flag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4" name="任意多边形 168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685" name="文本框 168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6" name="文本框 168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矩形 16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89" name="矩形 168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690" name="文本框 1689" descr="{&quot;isTemplate&quot;:true,&quot;type&quot;:&quot;text&quot;}"/>
          <p:cNvSpPr txBox="1"/>
          <p:nvPr/>
        </p:nvSpPr>
        <p:spPr>
          <a:xfrm>
            <a:off x="819150" y="304800"/>
            <a:ext cx="925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 · 8.5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1" name="文本框 1690" descr="{&quot;isTemplate&quot;:true,&quot;type&quot;:&quot;text&quot;}"/>
          <p:cNvSpPr txBox="1"/>
          <p:nvPr/>
        </p:nvSpPr>
        <p:spPr>
          <a:xfrm>
            <a:off x="819150" y="514350"/>
            <a:ext cx="9258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数据校验：一个注解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可组合的规则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2" name="文本框 1691" descr="{&quot;isTemplate&quot;:true,&quot;type&quot;:&quot;text&quot;}"/>
          <p:cNvSpPr txBox="1"/>
          <p:nvPr/>
        </p:nvSpPr>
        <p:spPr>
          <a:xfrm>
            <a:off x="10248900" y="590550"/>
            <a:ext cx="1333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UserRequest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3" name="圆角矩形 1692"/>
          <p:cNvSpPr/>
          <p:nvPr/>
        </p:nvSpPr>
        <p:spPr>
          <a:xfrm>
            <a:off x="609600" y="1143000"/>
            <a:ext cx="10972800" cy="211455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694" name="文本框 1693" descr="{&quot;isTemplate&quot;:true,&quot;type&quot;:&quot;text&quot;}"/>
          <p:cNvSpPr txBox="1"/>
          <p:nvPr/>
        </p:nvSpPr>
        <p:spPr>
          <a:xfrm>
            <a:off x="781050" y="1314450"/>
            <a:ext cx="10629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fdemo/user/src/model/mvc/UserReqResp.cj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5" name="文本框 1694" descr="{&quot;isTemplate&quot;:true,&quot;type&quot;:&quot;text&quot;}"/>
          <p:cNvSpPr txBox="1"/>
          <p:nvPr/>
        </p:nvSpPr>
        <p:spPr>
          <a:xfrm>
            <a:off x="781050" y="15525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6" name="文本框 1695" descr="{&quot;isTemplate&quot;:true,&quot;type&quot;:&quot;text&quot;}"/>
          <p:cNvSpPr txBox="1"/>
          <p:nvPr/>
        </p:nvSpPr>
        <p:spPr>
          <a:xfrm>
            <a:off x="781050" y="18192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UserRequest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7" name="文本框 1696" descr="{&quot;isTemplate&quot;:true,&quot;type&quot;:&quot;text&quot;}"/>
          <p:cNvSpPr txBox="1"/>
          <p:nvPr/>
        </p:nvSpPr>
        <p:spPr>
          <a:xfrm>
            <a:off x="781050" y="20859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@CombinedValidator[IsNotBlank(messageIfNotMatch: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') &amp; StringSize(min: 6, max: 50)]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698" name="文本框 1697" descr="{&quot;isTemplate&quot;:true,&quot;type&quot;:&quot;text&quot;}"/>
          <p:cNvSpPr txBox="1"/>
          <p:nvPr/>
        </p:nvSpPr>
        <p:spPr>
          <a:xfrm>
            <a:off x="781050" y="23526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username: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699" name="文本框 1698" descr="{&quot;isTemplate&quot;:true,&quot;type&quot;:&quot;text&quot;}"/>
          <p:cNvSpPr txBox="1"/>
          <p:nvPr/>
        </p:nvSpPr>
        <p:spPr>
          <a:xfrm>
            <a:off x="781050" y="26193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@IsNotBlank[messageIfNotMatch: '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请输入密码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700" name="文本框 1699" descr="{&quot;isTemplate&quot;:true,&quot;type&quot;:&quot;text&quot;}"/>
          <p:cNvSpPr txBox="1"/>
          <p:nvPr/>
        </p:nvSpPr>
        <p:spPr>
          <a:xfrm>
            <a:off x="781050" y="28860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var password: String = ''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701" name="文本框 1700" descr="{&quot;isTemplate&quot;:true,&quot;type&quot;:&quot;text&quot;}"/>
          <p:cNvSpPr txBox="1"/>
          <p:nvPr/>
        </p:nvSpPr>
        <p:spPr>
          <a:xfrm>
            <a:off x="781050" y="3152775"/>
            <a:ext cx="10629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graphicFrame>
        <p:nvGraphicFramePr>
          <p:cNvPr id="1702" name="表格 1701"/>
          <p:cNvGraphicFramePr/>
          <p:nvPr/>
        </p:nvGraphicFramePr>
        <p:xfrm>
          <a:off x="6096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771262"/>
                <a:gridCol w="2638938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@IsNotEmpty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必须非空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@IsNotBlank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非空且不能是空白字符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@StringSize[min max]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字符串长度区间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@IsDecimal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必须是实数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@IsEmail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邮箱格式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@IsChineseCellPhone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中国手机号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703" name="表格 1702"/>
          <p:cNvGraphicFramePr/>
          <p:nvPr/>
        </p:nvGraphicFramePr>
        <p:xfrm>
          <a:off x="6172200" y="3390900"/>
          <a:ext cx="5410200" cy="2895600"/>
        </p:xfrm>
        <a:graphic>
          <a:graphicData uri="http://schemas.openxmlformats.org/drawingml/2006/table">
            <a:tbl>
              <a:tblPr/>
              <a:tblGrid>
                <a:gridCol w="2650341"/>
                <a:gridCol w="2759859"/>
              </a:tblGrid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@IsIntegerRange[min max …]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整数区间（可配开闭）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@IsBool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true / false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@IsDateTime[format]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必须符合指定时间格式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@IsDuration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必须是 Duration 字符串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@IsIntegers[separator]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按分隔符切开后每部分都是整数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@DoesMatchRegex[regex]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必须匹配正则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@IsUUID</a:t>
                      </a:r>
                      <a:endParaRPr sz="975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必须匹配 UUID（在 f_util 定义）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04" name="任意多边形 170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705" name="文本框 170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6" name="文本框 170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08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f_data 数据模型与复制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为什么先讲 f_data：它是 MVC / ORM / JWT 的共同底座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@DataAssist 五个属性　·　props 展开为什么不破坏封装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统一数据模型 Data　·　实例复制　·　DataConversionFlag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下一讲：f_data 收尾与 f_util 开场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