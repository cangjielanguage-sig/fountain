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Sl1"/>
    <p:sldId id="257" r:id="rIdSl2"/>
    <p:sldId id="258" r:id="rIdSl3"/>
    <p:sldId id="259" r:id="rIdSl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22" Type="http://schemas.openxmlformats.org/officeDocument/2006/relationships/tableStyles" Target="tableStyles.xml"/><Relationship Id="rId121" Type="http://schemas.openxmlformats.org/officeDocument/2006/relationships/viewProps" Target="viewProps.xml"/><Relationship Id="rId1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Sl1" Type="http://schemas.openxmlformats.org/officeDocument/2006/relationships/slide" Target="slides/slide1.xml"/><Relationship Id="rIdSl2" Type="http://schemas.openxmlformats.org/officeDocument/2006/relationships/slide" Target="slides/slide2.xml"/><Relationship Id="rIdSl3" Type="http://schemas.openxmlformats.org/officeDocument/2006/relationships/slide" Target="slides/slide3.xml"/><Relationship Id="rIdSl4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这一讲把运行时底座讲完。f_collection 挑四个解决痛点的：BitSet 是布隆过滤器的底座，Dict 家族把 hasher 和 equals 作为构造参数所以 key 不要求 Hashable，LinkedHashMap 离 LRU 只差一层封装，集合运算返回只读视图。然后是 f_time 的时间 DSL、f_regex 的正则缓存、f_rx 的背压策略，以及 f_random 与它那几条和直觉不一致的已知行为。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f_collection 补的是标准库的位，挑四个最能解决痛点的讲。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第一个是 BitSet。它可以用默认的六十四位，也可以指定容量——容量乘六十四就是位数。它最有意思的地方是有泛型的 contains、set、remove 三个方法，用哈希判断存在，所以你可以把它当去重集合用，而它底层就是一个 Int64 数组存六十四 N 个开关。布隆过滤器就依赖它，权限位、标记位也用它。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第二个是 Dict 家族，这是它最独特的地方。标准库的 HashMap 要求 key 实现 Hashable 和 Equatable，TreeMap 要求 key 实现 Comparable，但现实中大量 key 类型两个都不实现——比如第三方库的类型、接口类型。Dict 的解法是把 hasher 和 equals 作为构造函数参数传进去。HashDict 传一个哈希函数和一个相等函数；LinkedHashDict 按最近访问顺序遍历；TreeDict 传一个比较函数。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第三个是保持插入和访问顺序的集合：LinkedHashMap 和 LinkedHashSet，都按最近访问顺序遍历。LRU 缓存只差一层封装——LinkedHashMap 已经按访问顺序排好了。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第四个是 PriorityQueue 和集合运算视图。PriorityQueue 容量满时自动扩容，也可以给 OverSizePolicy 做拒绝策略。所有 Set 实现都扩展了 SetOp，有交集、并集、差集三个方法，返回的是只读视图，不复制数据——所以做集合运算不产生拷贝。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然后是 f_time，它把时间操作变成 DSL。TimeUnit 有十个粒度，从纳秒到年。它有 trim 截断到当前单位的整点、next 和 prev 取未来过去的整点、since 算距离未来整点还有多久、ago 和 later 以当前时间为基准、before 和 after 以指定时间为基准、duration 把 n 个单位转成 Duration。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注意 duration 有个细节：周、月、年是不定长的，所以返回 None。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Int64 的时间 DSL 很直观：5.seconds.later 是五秒后的 DateTime，2.minutes.ago 是两分钟前，1.day.duration 是 Some，而 1.month.duration 是 None。单复数同义，读起来就是自然语言。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DateTime 也扩展了一批：today、yesterday、tomorrow、isLeapYear、isLastMonthDay，四个 toUnixEpoch 系列，还有 setYear、setMonth、addMilliseconds 这些。Duration 也有 ago、later、before、after。DayOfWeek 和 Month 支持相减。还有一个 UTC 时区常量。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最后三个运行时模块：f_regex、f_rx、f_random。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f_regex 有两块。第一块是常用正则常量：INTEGER、DECIMAL、REAL_NUMBER、EMAIL、DURATION、IDENTIFIER、BASE64，还有一个 wildcard 把通配符串转成正则。它的 doReplace 和 doReplaceAll 相比标准库多了两个能力：起始下标，以及「按匹配内容动态决定替换值」——回调返回 None 就不替换，做模板渲染和脱敏很顺手。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第二块是字符串直接变正则，带缓存。solid 命令参数为 true 时正则在进程生命周期内一直存在；为 false 时用 f_cache 的堆缓存，最多一万个、寿命一天。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这里有一条很关键：编译正则是有成本的。热路径上反复调 str.regex() 而不用缓存，是很多服务的隐形 CPU 杀手。顺带闭环一下——f_util 的 PathPattern 在编译路径时会先做几步正则预处理，那些正则就是用 solid 为 true 建的，进程内编译一次、复用一生。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f_rx 是一套 Observable 和 Observer 实现。它的价值不在「又一套 Rx」，而在于把「数据怎么产出」和「数据怎么处理」的线程模型、背压策略、错误恢复都显式化了。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创建方式六种：iterable 从可迭代对象、emitter 用发射器、single 单值、maybe 可空值、empty 空、concat 拼接。每条数据的处理策略四种：withAlwaysNew 每条数据开新线程、withCurrent 始终用当前线程、withSingle 固定一个线程、withFixed 固定若干线程。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背压只有 withSingle 和 withFixed 支持——因为只有固定线程池才有「队列满了」这件事。策略有八个：丢弃新数据、丢弃队头、一直阻塞、立即抛异常、立即用当前线程处理、立即开新线程处理、用你给的函数处理、以及「阻塞指定时长后仍满就执行指定策略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还有错误恢复器 setErrorResumer 有五个重载，以及 replaySize 做重放。每个创建函数都接受一个 asyncCombined 命名参数，决定多个观察者各自开线程还是共用一个线程。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f_random 补的是标准库缺的三样：区间随机数、随机数流、随机字符串。它不自己实现随机算法，而是用 extend 把能力扩展到标准库的 Random 和 SecureRandom 上——所以 API 是「加在原类上」的，不用换类型。注意扩展方法只有导入本模块后才可见。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RandomString 的字符集方法很全：小写十六进制、大小写字母加数字、可打印 ASCII、全部 Unicode，还有一个 random 接收调用方给定的字符集。每个方法都有两个重载：指定长度，或者先随机出长度再生成。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ThreadLocalRandom 是每个线程首次访问 current 时创建一个 SecureRandom，之后一直复用。而 RandomString 的无参构造器默认就把它作为随机源，所以默认的 RandomString 实例天然线程安全。高并发下生成 token、验证码、盐值，用默认构造就对了。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蓄水池抽样 randomReservoir 只需遍历一次数据源就能随机取 n 个元素，不需要事先知道总数——适合流式数据或超大集合抽样。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最后一页要讲的是 f_random 的已知行为，这几条和直觉不一致，讲出来比让观众自己撞墙好。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第一，整数版先转浮点再取整：Int64 走 Float64，Int32 走 Float32，最后 floor。区间接近上界时会有精度损失甚至溢出。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第二，区间参数不校验：不检查下界小于等于上界，传反了不报错，只会得到反转区间的结果。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第三，randomReservoir 的边界：count 小于等于零且数据源非空时会抛参数非法异常；返回值大小是 count 和元素个数取小，不总是等于 count；替换下标取自零到 i 开区间而非经典算法的零到 i 闭区间，抽样结果并非严格均匀。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这一讲四个要点：一，热路径上反复编译正则是隐形 CPU 杀手，用 regex(solid) 走缓存；二，Dict 家族解决了「key 既不 Hashable 也不 Comparable」这个现实问题；三，背压只有固定线程池的策略才支持；四，f_random 的浮点 closed 可能超过上界、整数版会丢精度，(min,max) 重载有三处字符集与命名不符。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2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4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slide1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" name=""/>
          <p:cNvSpPr txBox="1"/>
          <p:nvPr/>
        </p:nvSpPr>
        <p:spPr>
          <a:xfrm rot="0" flipH="0" flipV="0">
            <a:off x="-695325" y="1143000"/>
            <a:ext cx="12506325" cy="3657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16233A"/>
                </a:solidFill>
                <a:latin typeface="JetBrains Mono"/>
                <a:ea typeface="JetBrains Mono"/>
              </a:rPr>
              <a:t>23</a:t>
            </a:r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1143000" y="186690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"/>
          <p:cNvSpPr txBox="1"/>
          <p:nvPr/>
        </p:nvSpPr>
        <p:spPr>
          <a:xfrm rot="0" flipH="0" flipV="0">
            <a:off x="1333500" y="1952625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PART 23 / 25 · 课程分册</a:t>
            </a:r>
            <a:endParaRPr/>
          </a:p>
        </p:txBody>
      </p:sp>
      <p:sp>
        <p:nvSpPr>
          <p:cNvPr id="7" name=""/>
          <p:cNvSpPr txBox="1"/>
          <p:nvPr/>
        </p:nvSpPr>
        <p:spPr>
          <a:xfrm rot="0" flipH="0" flipV="0">
            <a:off x="1143000" y="2495550"/>
            <a:ext cx="2867025" cy="609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运行时底座（二）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1143000" y="331470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" name=""/>
          <p:cNvSpPr txBox="1"/>
          <p:nvPr/>
        </p:nvSpPr>
        <p:spPr>
          <a:xfrm rot="0" flipH="0" flipV="0">
            <a:off x="1143000" y="37719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f_collection：BitSet、Dict 家族、顺序集合、集合运算视图</a:t>
            </a:r>
            <a:endParaRPr/>
          </a:p>
        </p:txBody>
      </p:sp>
      <p:sp>
        <p:nvSpPr>
          <p:cNvPr id="10" name=""/>
          <p:cNvSpPr txBox="1"/>
          <p:nvPr/>
        </p:nvSpPr>
        <p:spPr>
          <a:xfrm rot="0" flipH="0" flipV="0">
            <a:off x="1143000" y="41148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f_time：TimeUnit 与 Int64 时间 DSL</a:t>
            </a:r>
            <a:endParaRPr/>
          </a:p>
        </p:txBody>
      </p:sp>
      <p:sp>
        <p:nvSpPr>
          <p:cNvPr id="11" name=""/>
          <p:cNvSpPr txBox="1"/>
          <p:nvPr/>
        </p:nvSpPr>
        <p:spPr>
          <a:xfrm rot="0" flipH="0" flipV="0">
            <a:off x="1143000" y="44577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f_regex 正则缓存　·　f_rx 背压　·　f_random 随机数</a:t>
            </a:r>
            <a:endParaRPr/>
          </a:p>
        </p:txBody>
      </p:sp>
      <p:sp>
        <p:nvSpPr>
          <p:cNvPr id="12" name=""/>
          <p:cNvSpPr txBox="1"/>
          <p:nvPr/>
        </p:nvSpPr>
        <p:spPr>
          <a:xfrm rot="0" flipH="0" flipV="0">
            <a:off x="1143000" y="50292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 23 讲 / 共 25 讲　·　原稿第 107–108 页 + 首尾两页　·　约 14.1 分钟</a:t>
            </a:r>
            <a:endParaRPr/>
          </a:p>
        </p:txBody>
      </p:sp>
      <p:sp>
        <p:nvSpPr>
          <p:cNvPr id="13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矩形 2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47" name="矩形 246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48" name="文本框 247" descr="{&quot;isTemplate&quot;:true,&quot;type&quot;:&quot;text&quot;}"/>
          <p:cNvSpPr txBox="1"/>
          <p:nvPr/>
        </p:nvSpPr>
        <p:spPr>
          <a:xfrm>
            <a:off x="819150" y="304800"/>
            <a:ext cx="92297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17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运行时基础设施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17.6 / 17.7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819150" y="514350"/>
            <a:ext cx="92297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f_collection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f_time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10220325" y="590550"/>
            <a:ext cx="13620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补标准库的位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时间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DSL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1" name="圆角矩形 250"/>
          <p:cNvSpPr/>
          <p:nvPr/>
        </p:nvSpPr>
        <p:spPr>
          <a:xfrm>
            <a:off x="609600" y="1143000"/>
            <a:ext cx="53911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52" name="文本框 251" descr="{&quot;isTemplate&quot;:true,&quot;type&quot;:&quot;text&quot;}"/>
          <p:cNvSpPr txBox="1"/>
          <p:nvPr/>
        </p:nvSpPr>
        <p:spPr>
          <a:xfrm>
            <a:off x="762000" y="1295400"/>
            <a:ext cx="5086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f_collection · 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挑四个解决痛点的讲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3" name="文本框 252" descr="{&quot;isTemplate&quot;:true,&quot;type&quot;:&quot;text&quot;}"/>
          <p:cNvSpPr txBox="1"/>
          <p:nvPr/>
        </p:nvSpPr>
        <p:spPr>
          <a:xfrm>
            <a:off x="762000" y="1524000"/>
            <a:ext cx="50863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BitSet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：默认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64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位或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init(capacity)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指定；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contains / set / remove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是泛型方法，用哈希判断存在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布隆过滤器的底座（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f_bloom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依赖它）、权限位、标记位、去重集合。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4" name="文本框 253" descr="{&quot;isTemplate&quot;:true,&quot;type&quot;:&quot;text&quot;}"/>
          <p:cNvSpPr txBox="1"/>
          <p:nvPr/>
        </p:nvSpPr>
        <p:spPr>
          <a:xfrm>
            <a:off x="762000" y="2066925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HashDict&lt;K, V&gt;(hasher: (K) -&gt; Int64, equals: (K, K) -&gt; Bool)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// key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不要求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Hashable</a:t>
            </a:r>
            <a:endParaRPr lang="en-US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5" name="文本框 254" descr="{&quot;isTemplate&quot;:true,&quot;type&quot;:&quot;text&quot;}"/>
          <p:cNvSpPr txBox="1"/>
          <p:nvPr/>
        </p:nvSpPr>
        <p:spPr>
          <a:xfrm>
            <a:off x="762000" y="2343150"/>
            <a:ext cx="50863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LinkedHashDict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按最近访问顺序遍历；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TreeDict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传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cmp ——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现实中大量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key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（第三方库类型、接口类型）两个都不实现，这就是解法。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" name="文本框 255" descr="{&quot;isTemplate&quot;:true,&quot;type&quot;:&quot;text&quot;}"/>
          <p:cNvSpPr txBox="1"/>
          <p:nvPr/>
        </p:nvSpPr>
        <p:spPr>
          <a:xfrm>
            <a:off x="762000" y="2886075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LinkedHashMap / LinkedHashSet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：按最近访问顺序遍历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—— LRU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缓存只差一层封装。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" name="文本框 256" descr="{&quot;isTemplate&quot;:true,&quot;type&quot;:&quot;text&quot;}"/>
          <p:cNvSpPr txBox="1"/>
          <p:nvPr/>
        </p:nvSpPr>
        <p:spPr>
          <a:xfrm>
            <a:off x="762000" y="3200400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PriorityQueue.create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泛型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T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：容量满时自动扩容，也可给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OverSizePolicy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做拒绝策略。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" name="文本框 257" descr="{&quot;isTemplate&quot;:true,&quot;type&quot;:&quot;text&quot;}"/>
          <p:cNvSpPr txBox="1"/>
          <p:nvPr/>
        </p:nvSpPr>
        <p:spPr>
          <a:xfrm>
            <a:off x="762000" y="3514725"/>
            <a:ext cx="50863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SetOp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intersection / union / difference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返回只读视图（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IntersectionSetView / UnionSetView / DifferenceSetView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）——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做集合运算不产生拷贝。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9" name="圆角矩形 258"/>
          <p:cNvSpPr/>
          <p:nvPr/>
        </p:nvSpPr>
        <p:spPr>
          <a:xfrm>
            <a:off x="6191250" y="1143000"/>
            <a:ext cx="5391150" cy="2295525"/>
          </a:xfrm>
          <a:prstGeom prst="roundRect">
            <a:avLst>
              <a:gd name="adj" fmla="val 4979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6343650" y="1295400"/>
            <a:ext cx="5086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f_time · TimeUnit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10 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个粒度）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" name="文本框 260" descr="{&quot;isTemplate&quot;:true,&quot;type&quot;:&quot;text&quot;}"/>
          <p:cNvSpPr txBox="1"/>
          <p:nvPr/>
        </p:nvSpPr>
        <p:spPr>
          <a:xfrm>
            <a:off x="6343650" y="1524000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NANOSECOND MICROSECOND MILLISECOND SECOND MINUTE HOUR DAY WEEK MONTH YEAR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2" name="文本框 261" descr="{&quot;isTemplate&quot;:true,&quot;type&quot;:&quot;text&quot;}"/>
          <p:cNvSpPr txBox="1"/>
          <p:nvPr/>
        </p:nvSpPr>
        <p:spPr>
          <a:xfrm>
            <a:off x="6343650" y="1838325"/>
            <a:ext cx="5086350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trim(t)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截断到当前单位整点（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WEEK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对齐周一、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MONTH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对齐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号、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YEAR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对齐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日）；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next / prev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取未来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过去第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n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个整点；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since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返回距离未来整点的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Duration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ago / later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以当前时间为基准；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before / after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以指定时间为基准。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" name="文本框 262" descr="{&quot;isTemplate&quot;:true,&quot;type&quot;:&quot;text&quot;}"/>
          <p:cNvSpPr txBox="1"/>
          <p:nvPr/>
        </p:nvSpPr>
        <p:spPr>
          <a:xfrm>
            <a:off x="6343650" y="2619375"/>
            <a:ext cx="50863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duration(n)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n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个单位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→ Duration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WEEK / MONTH / YEAR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不定长，返回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None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" name="文本框 263" descr="{&quot;isTemplate&quot;:true,&quot;type&quot;:&quot;text&quot;}"/>
          <p:cNvSpPr txBox="1"/>
          <p:nvPr/>
        </p:nvSpPr>
        <p:spPr>
          <a:xfrm>
            <a:off x="6343650" y="2943225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TimeUnit.MINUTE.next(datetime: '2023-10-11 12:31:32.568900')  // → 12:32:00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65" name="圆角矩形 264"/>
          <p:cNvSpPr/>
          <p:nvPr/>
        </p:nvSpPr>
        <p:spPr>
          <a:xfrm>
            <a:off x="6191250" y="3552825"/>
            <a:ext cx="5391150" cy="2733675"/>
          </a:xfrm>
          <a:prstGeom prst="roundRect">
            <a:avLst>
              <a:gd name="adj" fmla="val 4181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66" name="文本框 265" descr="{&quot;isTemplate&quot;:true,&quot;type&quot;:&quot;text&quot;}"/>
          <p:cNvSpPr txBox="1"/>
          <p:nvPr/>
        </p:nvSpPr>
        <p:spPr>
          <a:xfrm>
            <a:off x="6343650" y="3705225"/>
            <a:ext cx="5086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Int64 </a:t>
            </a:r>
            <a:r>
              <a:rPr lang="zh-CN" sz="9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的时间</a:t>
            </a:r>
            <a:r>
              <a:rPr lang="en-US" sz="9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DSL</a:t>
            </a:r>
            <a:r>
              <a:rPr lang="zh-CN" sz="9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（读起来就是自然语言）</a:t>
            </a:r>
            <a:endParaRPr lang="zh-CN" sz="9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7" name="文本框 266" descr="{&quot;isTemplate&quot;:true,&quot;type&quot;:&quot;text&quot;}"/>
          <p:cNvSpPr txBox="1"/>
          <p:nvPr/>
        </p:nvSpPr>
        <p:spPr>
          <a:xfrm>
            <a:off x="6343650" y="3933825"/>
            <a:ext cx="50863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let d1  = 5.seconds.later    // 5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秒后的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DateTime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68" name="文本框 267" descr="{&quot;isTemplate&quot;:true,&quot;type&quot;:&quot;text&quot;}"/>
          <p:cNvSpPr txBox="1"/>
          <p:nvPr/>
        </p:nvSpPr>
        <p:spPr>
          <a:xfrm>
            <a:off x="6343650" y="4181475"/>
            <a:ext cx="50863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let d2  = 2.minutes.ago      // 2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分钟前的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DateTime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69" name="文本框 268" descr="{&quot;isTemplate&quot;:true,&quot;type&quot;:&quot;text&quot;}"/>
          <p:cNvSpPr txBox="1"/>
          <p:nvPr/>
        </p:nvSpPr>
        <p:spPr>
          <a:xfrm>
            <a:off x="6343650" y="4429125"/>
            <a:ext cx="50863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let dur = 1.day.duration     // Some(Duration.day)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70" name="文本框 269" descr="{&quot;isTemplate&quot;:true,&quot;type&quot;:&quot;text&quot;}"/>
          <p:cNvSpPr txBox="1"/>
          <p:nvPr/>
        </p:nvSpPr>
        <p:spPr>
          <a:xfrm>
            <a:off x="6343650" y="4676775"/>
            <a:ext cx="50863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let bad = 1.month.duration   // None&lt;Duration&gt; ← MONTH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不定长</a:t>
            </a:r>
            <a:endParaRPr lang="zh-CN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71" name="文本框 270" descr="{&quot;isTemplate&quot;:true,&quot;type&quot;:&quot;text&quot;}"/>
          <p:cNvSpPr txBox="1"/>
          <p:nvPr/>
        </p:nvSpPr>
        <p:spPr>
          <a:xfrm>
            <a:off x="6343650" y="5000625"/>
            <a:ext cx="50863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DateTime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today / yesterday / tomorrow / isLeapYear / isLastMonthDay / toUnixEpochSeconds·Millis·Micros·Nanos / setYear·setMonth·setDay / addMilliseconds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6343650" y="5543550"/>
            <a:ext cx="50863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Duration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minute.ago / hour.later / day.before(t) / day.after(t)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DayOfWeek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Month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支持相减；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TimeZone.Z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UTC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常量。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3" name="任意多边形 272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74" name="文本框 273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107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矩形 2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78" name="矩形 277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79" name="文本框 278" descr="{&quot;isTemplate&quot;:true,&quot;type&quot;:&quot;text&quot;}"/>
          <p:cNvSpPr txBox="1"/>
          <p:nvPr/>
        </p:nvSpPr>
        <p:spPr>
          <a:xfrm>
            <a:off x="819150" y="304800"/>
            <a:ext cx="92678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17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运行时基础设施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17.8 / 17.9 / 17.10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819150" y="514350"/>
            <a:ext cx="92678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f_regex / f_rx / f_random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10258425" y="590550"/>
            <a:ext cx="1323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正则缓存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背压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随机数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2" name="圆角矩形 281"/>
          <p:cNvSpPr/>
          <p:nvPr/>
        </p:nvSpPr>
        <p:spPr>
          <a:xfrm>
            <a:off x="609600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83" name="文本框 282" descr="{&quot;isTemplate&quot;:true,&quot;type&quot;:&quot;text&quot;}"/>
          <p:cNvSpPr txBox="1"/>
          <p:nvPr/>
        </p:nvSpPr>
        <p:spPr>
          <a:xfrm>
            <a:off x="781050" y="1314450"/>
            <a:ext cx="32099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f_regex</a:t>
            </a:r>
            <a:endParaRPr lang="en-US" sz="13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781050" y="1638300"/>
            <a:ext cx="3209925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常用正则常量：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INTEGER / DECIMAL / REAL_NUMBER / EMAIL / DURATION / IDENTIFIER / BASE64 / wildcard(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通配符串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5" name="文本框 284" descr="{&quot;isTemplate&quot;:true,&quot;type&quot;:&quot;text&quot;}"/>
          <p:cNvSpPr txBox="1"/>
          <p:nvPr/>
        </p:nvSpPr>
        <p:spPr>
          <a:xfrm>
            <a:off x="781050" y="2419350"/>
            <a:ext cx="3209925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doReplace / doReplaceAll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比标准库多了「起始下标」和「按匹配内容动态决定替换值」（回调返回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None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就不替换）——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模板渲染、脱敏很顺手。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" name="圆角矩形 285"/>
          <p:cNvSpPr/>
          <p:nvPr/>
        </p:nvSpPr>
        <p:spPr>
          <a:xfrm>
            <a:off x="781050" y="3238500"/>
            <a:ext cx="3209925" cy="466725"/>
          </a:xfrm>
          <a:prstGeom prst="roundRect">
            <a:avLst>
              <a:gd name="adj" fmla="val 16327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87" name="文本框 286" descr="{&quot;isTemplate&quot;:true,&quot;type&quot;:&quot;text&quot;}"/>
          <p:cNvSpPr txBox="1"/>
          <p:nvPr/>
        </p:nvSpPr>
        <p:spPr>
          <a:xfrm>
            <a:off x="895350" y="3352800"/>
            <a:ext cx="2981325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let r = '^/api/.*'.regex(solid: false)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88" name="文本框 287" descr="{&quot;isTemplate&quot;:true,&quot;type&quot;:&quot;text&quot;}"/>
          <p:cNvSpPr txBox="1"/>
          <p:nvPr/>
        </p:nvSpPr>
        <p:spPr>
          <a:xfrm>
            <a:off x="781050" y="3800475"/>
            <a:ext cx="320992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solid: true →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正则在进程生命周期内存在；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solid: false →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用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f_cache.HeapCache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缓存，最多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10000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个、寿命一天。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9" name="文本框 288" descr="{&quot;isTemplate&quot;:true,&quot;type&quot;:&quot;text&quot;}"/>
          <p:cNvSpPr txBox="1"/>
          <p:nvPr/>
        </p:nvSpPr>
        <p:spPr>
          <a:xfrm>
            <a:off x="781050" y="5153025"/>
            <a:ext cx="3209925" cy="962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编译正则是有成本的。热路径上反复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str.regex()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而不用缓存，是很多服务的隐形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CPU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杀手。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f_util.PathPattern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编译路径时的正则预处理就是用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solid: true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建的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进程内编译一次、复用一生。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" name="圆角矩形 289"/>
          <p:cNvSpPr/>
          <p:nvPr/>
        </p:nvSpPr>
        <p:spPr>
          <a:xfrm>
            <a:off x="4314825" y="1143000"/>
            <a:ext cx="3562350" cy="5143500"/>
          </a:xfrm>
          <a:prstGeom prst="roundRect">
            <a:avLst>
              <a:gd name="adj" fmla="val 3209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91" name="文本框 290" descr="{&quot;isTemplate&quot;:true,&quot;type&quot;:&quot;text&quot;}"/>
          <p:cNvSpPr txBox="1"/>
          <p:nvPr/>
        </p:nvSpPr>
        <p:spPr>
          <a:xfrm>
            <a:off x="4486275" y="1314450"/>
            <a:ext cx="32194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f_rx</a:t>
            </a:r>
            <a:endParaRPr lang="en-US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4486275" y="1619250"/>
            <a:ext cx="32194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价值不在「又一套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Rx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」，而在于把线程模型、背压策略、错误恢复都显式化了。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4486275" y="2162175"/>
            <a:ext cx="32194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六种创建：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iterable / emitter / single / maybe / empty / concat</a:t>
            </a:r>
            <a:endParaRPr lang="en-US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4486275" y="2686050"/>
            <a:ext cx="3219450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四种处理策略：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withAlwaysNew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（每条数据开新线程）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/ withCurrent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（当前线程）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/ withSingle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（固定一个线程）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/ withFixed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（固定若干线程，支持背压）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4486275" y="3467100"/>
            <a:ext cx="321945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背压只有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withSingle / withFixed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支持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只有固定线程池才有「队列满了」这件事。策略八个：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Discarding / ToDropOldest / AlwaysBlocking / Throwing / Current / NewThread / Action / AfterBlockingOrCurrent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4486275" y="4476750"/>
            <a:ext cx="3219450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setErrorResumer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五个重载做错误恢复；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replaySize(capacity)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做重放；每个创建函数都有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asyncCombined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命名参数，决定多观察者各自开线程还是共用。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4486275" y="5648325"/>
            <a:ext cx="32194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没有观察者时会自动暂停产出，直到注册新观察者并重新启动；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disposed_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AtomicBool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，每次取下一批数据前检查。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8" name="圆角矩形 297"/>
          <p:cNvSpPr/>
          <p:nvPr/>
        </p:nvSpPr>
        <p:spPr>
          <a:xfrm>
            <a:off x="8029575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8201025" y="1314450"/>
            <a:ext cx="32099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f_random</a:t>
            </a:r>
            <a:endParaRPr lang="en-US" sz="13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" name="文本框 299" descr="{&quot;isTemplate&quot;:true,&quot;type&quot;:&quot;text&quot;}"/>
          <p:cNvSpPr txBox="1"/>
          <p:nvPr/>
        </p:nvSpPr>
        <p:spPr>
          <a:xfrm>
            <a:off x="8201025" y="1638300"/>
            <a:ext cx="3209925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补标准库缺的三样：区间随机数、随机数流、随机字符串。它用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extend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把能力扩展到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std.random.Random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SecureRandom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上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—— API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是「加在原类上」的，不用换类型。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1" name="文本框 300" descr="{&quot;isTemplate&quot;:true,&quot;type&quot;:&quot;text&quot;}"/>
          <p:cNvSpPr txBox="1"/>
          <p:nvPr/>
        </p:nvSpPr>
        <p:spPr>
          <a:xfrm>
            <a:off x="8201025" y="2647950"/>
            <a:ext cx="320992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区间随机：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nextInt64 / nextUInt64 / nextInt32 / nextUInt32 / nextFloat64 / nextFloat32(min, max, closed!)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2" name="文本框 301" descr="{&quot;isTemplate&quot;:true,&quot;type&quot;:&quot;text&quot;}"/>
          <p:cNvSpPr txBox="1"/>
          <p:nvPr/>
        </p:nvSpPr>
        <p:spPr>
          <a:xfrm>
            <a:off x="8201025" y="3171825"/>
            <a:ext cx="320992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随机流：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rand.randomInt64(0, 10)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返回无限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Iterator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next()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永远返回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Some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；也有高斯分布流。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3" name="文本框 302" descr="{&quot;isTemplate&quot;:true,&quot;type&quot;:&quot;text&quot;}"/>
          <p:cNvSpPr txBox="1"/>
          <p:nvPr/>
        </p:nvSpPr>
        <p:spPr>
          <a:xfrm>
            <a:off x="8201025" y="3695700"/>
            <a:ext cx="320992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随机字符串：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RandomString().randomLowerHex(32)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就是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fboot randhex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的实现。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8201025" y="4238625"/>
            <a:ext cx="3209925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ThreadLocalRandom.current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是线程本地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SecureRandom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RandomString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无参构造默认就用它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所以默认实例天然线程安全，高并发生成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token /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验证码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盐值用它就对了。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" name="文本框 304" descr="{&quot;isTemplate&quot;:true,&quot;type&quot;:&quot;text&quot;}"/>
          <p:cNvSpPr txBox="1"/>
          <p:nvPr/>
        </p:nvSpPr>
        <p:spPr>
          <a:xfrm>
            <a:off x="8201025" y="4943475"/>
            <a:ext cx="3209925" cy="1171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randomReservoir(count, source)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只需遍历一次就能随机取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count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个，不需要事先知道总数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适合流式数据或超大集合抽样。注意它的已知行为：浮点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closed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可能超过上界、整数版先转浮点会丢精度、区间参数不校验、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(min, max)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重载有三处字符集与命名不符、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randomReservoir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的抽样并非严格均匀。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6" name="任意多边形 305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07" name="文本框 306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8" name="文本框 307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108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6" name=""/>
          <p:cNvSpPr txBox="1"/>
          <p:nvPr/>
        </p:nvSpPr>
        <p:spPr>
          <a:xfrm rot="0" flipH="0" flipV="0">
            <a:off x="8458200" y="1619250"/>
            <a:ext cx="3352800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16233A"/>
                </a:solidFill>
                <a:latin typeface="JetBrains Mono"/>
                <a:ea typeface="JetBrains Mono"/>
              </a:rPr>
              <a:t>END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1143000" y="142875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9" name=""/>
          <p:cNvSpPr txBox="1"/>
          <p:nvPr/>
        </p:nvSpPr>
        <p:spPr>
          <a:xfrm rot="0" flipH="0" flipV="0">
            <a:off x="1333500" y="1514475"/>
            <a:ext cx="3181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本讲小结</a:t>
            </a: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23 / 25</a:t>
            </a:r>
            <a:endParaRPr/>
          </a:p>
        </p:txBody>
      </p:sp>
      <p:sp>
        <p:nvSpPr>
          <p:cNvPr id="20" name=""/>
          <p:cNvSpPr txBox="1"/>
          <p:nvPr/>
        </p:nvSpPr>
        <p:spPr>
          <a:xfrm rot="0" flipH="0" flipV="0">
            <a:off x="1143000" y="2019300"/>
            <a:ext cx="2600325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运行时底座（二）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1143000" y="272415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" name=""/>
          <p:cNvSpPr txBox="1"/>
          <p:nvPr/>
        </p:nvSpPr>
        <p:spPr>
          <a:xfrm rot="0" flipH="0" flipV="0">
            <a:off x="1143000" y="32004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f_collection：BitSet、Dict 家族、顺序集合、集合运算视图</a:t>
            </a:r>
            <a:endParaRPr/>
          </a:p>
        </p:txBody>
      </p:sp>
      <p:sp>
        <p:nvSpPr>
          <p:cNvPr id="23" name=""/>
          <p:cNvSpPr txBox="1"/>
          <p:nvPr/>
        </p:nvSpPr>
        <p:spPr>
          <a:xfrm rot="0" flipH="0" flipV="0">
            <a:off x="1143000" y="363855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f_time：TimeUnit 与 Int64 时间 DSL</a:t>
            </a:r>
            <a:endParaRPr/>
          </a:p>
        </p:txBody>
      </p:sp>
      <p:sp>
        <p:nvSpPr>
          <p:cNvPr id="24" name=""/>
          <p:cNvSpPr txBox="1"/>
          <p:nvPr/>
        </p:nvSpPr>
        <p:spPr>
          <a:xfrm rot="0" flipH="0" flipV="0">
            <a:off x="1143000" y="40767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f_regex 正则缓存　·　f_rx 背压　·　f_random 随机数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1143000" y="4762500"/>
            <a:ext cx="38100" cy="381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6" name=""/>
          <p:cNvSpPr txBox="1"/>
          <p:nvPr/>
        </p:nvSpPr>
        <p:spPr>
          <a:xfrm rot="0" flipH="0" flipV="0">
            <a:off x="1371600" y="4857750"/>
            <a:ext cx="1057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下一讲：高频坑与预设问答</a:t>
            </a:r>
            <a:endParaRPr/>
          </a:p>
        </p:txBody>
      </p:sp>
      <p:sp>
        <p:nvSpPr>
          <p:cNvPr id="27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helloworld</cp:lastModifiedBy>
  <cp:revision>148</cp:revision>
  <dcterms:created xsi:type="dcterms:W3CDTF">2026-10-02T13:55:00Z</dcterms:created>
  <dcterms:modified xsi:type="dcterms:W3CDTF">2026-10-03T02:38:11Z</dcterms:modified>
</cp:coreProperties>
</file>