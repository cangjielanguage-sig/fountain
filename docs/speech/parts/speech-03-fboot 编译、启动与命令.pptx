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这一讲是纯操作。先说 fboot module 三件事，然后 fboot build——它不只转发给 cjpm build，还会生成版本模块、读 banner.txt，并把参数转成编译期环境变量，让连接串和口令以 SM4 密文嵌进产物。最后是 fboot run 的八步流程，重点在第三步：按 --dylibPattern 的正则加载动态链接库，这是全框架最容易踩的坑。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module 是在 workspace 里加一个动态链接库模块。在 workspace 根目录执行 fboot module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它做三件事。第一，在 hello 目录执行 cjpm init --type=dynamic。第二，把 hello 加进上一层目录 cjpm.toml 的 members，所以必须在 workspace 根目录执行。第三，生成 hello/src/hello.cj，内容就是一行 package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注意：模块一定是 dynamic。这是 fountain「加载即生效」机制的前提。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右边就是从零到第一个接口的完整过程。你不用敲很多代码——不到二十行，一个 HTTP 服务就写完了。一个 @Controller 类，一个 @GetMapping，配 text/plain，加 @IgnoreSecurity 跳过安全检查，返回一句 hello Fountain。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这样就完成了一个简单的</a:t>
            </a:r>
            <a:r>
              <a:rPr lang="en-US" altLang="zh-CN" dirty="0"/>
              <a:t>http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build 不是简单地执行 cjpm build，它额外做了两件很有意思的事。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先说语法：fboot build 后面跟一个 PATH 和若干参数。PATH 必须是第一个参数，而且只能是路径，缺省是当前目录。其余参数分两类：--key=value 形式的作为配置项，这就是「编译期注入配置」的实现方式；其它参数原样作为 cjpm build 的命令行参数。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两个隐藏动作。第一，它会生成一个版本模块，模块名的点号和横线换成下划线，写入 src 下的 AppVersion.cj，内容是 AppVersion.set，把横幅、应用名、版本号传进去，然后临时加入 workspace 的 members；进程退出时恢复原来的 cjpm.toml 并删除这个临时模块。这就是为什么启动时能打印出你自己的 BANNER 和版本号。如果当前目录有非空的 banner.txt，它就会成为 AppVersion 的横幅。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还有个细节值得解释：--target-dir。当 PATH 等于当前工作目录时，fboot 会把产物目录设成「路径斜杠目录名」；否则产物目录就是 PATH 本身。这就解释了仓库里 fdemo 的产物为什么在 fdemo/fdemo/release 下面。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这一段是编译期注入配置，就是 fdemo/boot.sh 里 build 函数在干的事。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右边这几行就是真实写法。orm_drivers 指定驱动，postgres_orm_connectionUrl 给连接串，username 和 password 给账号口令，最后两行给 SM4 的密钥和 IV，值由 fboot randhex 32 现场生成。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 --开头等号分隔的键值对会变成 fboot build 执行时的配置项，也可以把前面的横线去掉改成环境变量，效果一样。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于是有三件事成立。第一，数据库连接串、用户名密码在编译期就被嵌入编译产物。第二，因为同时给了 sm4Key 和 sm4Iv，这些敏感信息是以 SM4 加密后的字节数组嵌入的，不是明文。第三，运行期同名配置优先级更高，一份产物跑多套环境。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顺带提醒：真实项目不要把密码写进构建脚本，这里只是演示。这套「编译期内嵌加运行期覆盖」的完整机制，第四章会展开。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randhex 生成随机十六进制串，参数是位数。它的实现就是 f_random 里的 RandomString().randomLowerHex(n)，由 f_app 的 RandHexCommand 注册到 SubCommandMediator。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 fountain 里它最常见的用途就是刚才那一节：给 SM4 生成密钥和 IV。SM4 的密钥是十六字节，也就是三十二个十六进制字符，所以写 fboot randhex 32。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cleanUpdate 是依赖变了之后的必修课。它等价于三步：cjpm clean、删除 cjpm.lock、cjpm update。也可以指定路径。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什么时候必须用它？当你改了 cjpm.toml 的依赖，或者切换了 SDK、stdx 版本，旧产物可能和新依赖的二进制不兼容。这时候不要浪费时间 debug，直接 fboot cleanUpdate。fdemo 的 boot.sh 里也封装了它，一条 ./boot.sh cleanUpdate。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这个命令值得在视频里讲一次，因为它能省掉观众大量的排查时间。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run 是整个框架最有意思的一条命令。它的执行流程是八步。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第一步，确定目标路径：第一个不以横线开头的参数，缺省是当前目录，不存在就创建。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第二步，按平台选择动态链接库的扩展名和搜索路径变量：Windows 用 dll 和 Path，macOS 用 dylib 和 DYLD_FALLBACK_LIBRARY_PATH，其它用 so 和 LD_LIBRARY_PATH。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第三步，递归扫描目录，加载文件名匹配这个正则的库——文件名要以 lib 开头，并且匹配你给的正则，或者是 fboot build 自动创建的那个 static 版本模块。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第四步，加载即执行。宏展开时生成的顶级匿名闭包会执行，把 @Bean 注册进 IOC、把各个 Initializer 注册进集合、把 controller 函数注册到 MVC。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第五步，按 dependencies 做拓扑排序后依次 initialize，收集所有 start。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第六步，每个 start 在新线程执行，其中 MVC 的 start 会启动 HTTP 服务并阻塞。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第七步，主线程永久阻塞。第八步，也是要记住的：fboot run 不会返回，否则进程就退出了。这是预期行为，不是卡住，另开一个终端发请求就行。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--dylibPattern 这个正则看起来很绕，其实逻辑很清楚——它枚举了「必须在运行期主动加载的动态链接库」。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boot 这一段，加载的是初始化包，里面有切面 ControllerAspect、事务钩子 TransactionHookImpl、自定义 MediaType、500 处理器，它们都是 @Bean，不加载就静默失效。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controller 这一段，加载所有 controller 包，负责 MVC 路由注册。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service 点 impl 这一段，加载所有 service 实现包，@TransactionalService 的织入和业务实现都在这里。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user 点 util 点 auth，加载鉴权器 AuthCheckerImpl，它是 @Bean，不加载的话所有接口都不做鉴权，这很危险。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user 点 util 点 cron，加载定时任务 TickTockTaskImpl，它是 @Bean，不加载定时任务就不执行。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这里得多提一句，上面这个正则表达式是匹配</a:t>
            </a:r>
            <a:r>
              <a:rPr lang="en-US" altLang="zh-CN" dirty="0"/>
              <a:t>fountain</a:t>
            </a:r>
            <a:r>
              <a:rPr lang="zh-CN" altLang="en-US" dirty="0"/>
              <a:t>的</a:t>
            </a:r>
            <a:r>
              <a:rPr lang="en-US" altLang="zh-CN" dirty="0"/>
              <a:t>fdemo</a:t>
            </a:r>
            <a:r>
              <a:rPr lang="zh-CN" altLang="en-US" dirty="0"/>
              <a:t>模块的，你的</a:t>
            </a:r>
            <a:r>
              <a:rPr lang="en-US" altLang="zh-CN" dirty="0"/>
              <a:t>dylibPattern</a:t>
            </a:r>
            <a:r>
              <a:rPr lang="zh-CN" altLang="en-US" dirty="0"/>
              <a:t>应当匹配自己的业务划分。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一句话总结：凡是靠 @Bean 生效的东西，所在的动态链接库都必须被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右边是现场跑 hello_app 的命令和预期输出，curl 一下应该返回 hello Fountain。到此，从空目录到可服务的 HTTP 应用，一共只敲了四条命令、写了一个类。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这一讲三个要点：一，fboot build 会把配置注入产物，产物目录规则是「路径等于当前目录时多一层目录名」；二，fboot run 加载动态链接库的顺序是扫描、加载、注册、拓扑排序、启动，而且它不会返回；三，凡是靠 @Bean 生效的东西，所在动态链接库都必须被 --dylibPattern 匹配到——鉴权器、切面、定时任务漏掉就是静默失效。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03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fboot 编译、启动与命令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module 创建模块　·　fboot build 与两个隐藏动作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编译期注入配置：连接串与口令如何嵌进产物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run 的八步启动流程　·　--dylibPattern 正则怎么读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3 讲 / 共 25 讲　·　原稿第 16–21 页 + 首尾两页　·　约 14.8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矩形 6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61" name="矩形 66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3" name="文本框 662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module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：加一个动态链接库模块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从零到第一个接口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5" name="圆角矩形 664"/>
          <p:cNvSpPr/>
          <p:nvPr/>
        </p:nvSpPr>
        <p:spPr>
          <a:xfrm>
            <a:off x="609600" y="1143000"/>
            <a:ext cx="4095750" cy="5143500"/>
          </a:xfrm>
          <a:prstGeom prst="roundRect">
            <a:avLst>
              <a:gd name="adj" fmla="val 27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819150" y="1352550"/>
            <a:ext cx="3676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它做三件事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7" name="文本框 666" descr="{&quot;isTemplate&quot;:true,&quot;type&quot;:&quot;text&quot;}"/>
          <p:cNvSpPr txBox="1"/>
          <p:nvPr/>
        </p:nvSpPr>
        <p:spPr>
          <a:xfrm>
            <a:off x="819150" y="1714500"/>
            <a:ext cx="1047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1057275" y="1714500"/>
            <a:ext cx="34385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hello/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init --type=dynamic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9" name="文本框 668" descr="{&quot;isTemplate&quot;:true,&quot;type&quot;:&quot;text&quot;}"/>
          <p:cNvSpPr txBox="1"/>
          <p:nvPr/>
        </p:nvSpPr>
        <p:spPr>
          <a:xfrm>
            <a:off x="819150" y="2162175"/>
            <a:ext cx="104775" cy="590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1057275" y="2162175"/>
            <a:ext cx="34385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加进「上一层目录」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cjpm.toml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members ——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所以必须在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根执行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819150" y="2905125"/>
            <a:ext cx="1047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1057275" y="2905125"/>
            <a:ext cx="34385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hello/src/hello.cj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，内容就是一行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package hello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3" name="圆角矩形 672"/>
          <p:cNvSpPr/>
          <p:nvPr/>
        </p:nvSpPr>
        <p:spPr>
          <a:xfrm>
            <a:off x="819150" y="5343525"/>
            <a:ext cx="3676650" cy="733425"/>
          </a:xfrm>
          <a:prstGeom prst="roundRect">
            <a:avLst>
              <a:gd name="adj" fmla="val 1039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74" name="文本框 673" descr="{&quot;isTemplate&quot;:true,&quot;type&quot;:&quot;text&quot;}"/>
          <p:cNvSpPr txBox="1"/>
          <p:nvPr/>
        </p:nvSpPr>
        <p:spPr>
          <a:xfrm>
            <a:off x="952500" y="547687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模块一定是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dynamic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952500" y="5686425"/>
            <a:ext cx="3409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这是「加载即生效」机制的前提。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" name="圆角矩形 675"/>
          <p:cNvSpPr/>
          <p:nvPr/>
        </p:nvSpPr>
        <p:spPr>
          <a:xfrm>
            <a:off x="4895850" y="1143000"/>
            <a:ext cx="6686550" cy="2590800"/>
          </a:xfrm>
          <a:prstGeom prst="roundRect">
            <a:avLst>
              <a:gd name="adj" fmla="val 44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77" name="文本框 676" descr="{&quot;isTemplate&quot;:true,&quot;type&quot;:&quot;text&quot;}"/>
          <p:cNvSpPr txBox="1"/>
          <p:nvPr/>
        </p:nvSpPr>
        <p:spPr>
          <a:xfrm>
            <a:off x="5086350" y="133350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8" name="文本框 677" descr="{&quot;isTemplate&quot;:true,&quot;type&quot;:&quot;text&quot;}"/>
          <p:cNvSpPr txBox="1"/>
          <p:nvPr/>
        </p:nvSpPr>
        <p:spPr>
          <a:xfrm>
            <a:off x="5086350" y="1581150"/>
            <a:ext cx="6305550" cy="2019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hello_app/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[workspace] members = ["./hello", ...]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└── hello/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output-type = "dynamic"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hello.cj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HelloWordController.cj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79" name="圆角矩形 678"/>
          <p:cNvSpPr/>
          <p:nvPr/>
        </p:nvSpPr>
        <p:spPr>
          <a:xfrm>
            <a:off x="4895850" y="3867150"/>
            <a:ext cx="6686550" cy="2419350"/>
          </a:xfrm>
          <a:prstGeom prst="roundRect">
            <a:avLst>
              <a:gd name="adj" fmla="val 472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5086350" y="405765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不到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行，一个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服务就写完了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5086350" y="432435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2" name="文本框 681" descr="{&quot;isTemplate&quot;:true,&quot;type&quot;:&quot;text&quot;}"/>
          <p:cNvSpPr txBox="1"/>
          <p:nvPr/>
        </p:nvSpPr>
        <p:spPr>
          <a:xfrm>
            <a:off x="5086350" y="461962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HelloWordController 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3" name="文本框 682" descr="{&quot;isTemplate&quot;:true,&quot;type&quot;:&quot;text&quot;}"/>
          <p:cNvSpPr txBox="1"/>
          <p:nvPr/>
        </p:nvSpPr>
        <p:spPr>
          <a:xfrm>
            <a:off x="5086350" y="491490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@GetMapping[path:"/", produces:'text/plain']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5086350" y="521017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@IgnoreSecurity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5086350" y="550545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public func helloWorld(): String { return "hello Fountain!" 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5086350" y="580072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88" name="文本框 68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矩形 6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92" name="矩形 69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819150" y="304800"/>
            <a:ext cx="9305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文本框 693" descr="{&quot;isTemplate&quot;:true,&quot;type&quot;:&quot;text&quot;}"/>
          <p:cNvSpPr txBox="1"/>
          <p:nvPr/>
        </p:nvSpPr>
        <p:spPr>
          <a:xfrm>
            <a:off x="819150" y="514350"/>
            <a:ext cx="9305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与两个隐藏动作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10296525" y="590550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不只是转发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cjpm build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6" name="圆角矩形 695"/>
          <p:cNvSpPr/>
          <p:nvPr/>
        </p:nvSpPr>
        <p:spPr>
          <a:xfrm>
            <a:off x="609600" y="1143000"/>
            <a:ext cx="4095750" cy="962025"/>
          </a:xfrm>
          <a:prstGeom prst="roundRect">
            <a:avLst>
              <a:gd name="adj" fmla="val 118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800100" y="1333500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语法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800100" y="1581150"/>
            <a:ext cx="37147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22D3EE"/>
                </a:solidFill>
                <a:latin typeface="JetBrains Mono"/>
                <a:ea typeface="JetBrains Mono"/>
              </a:rPr>
              <a:t>fboot build [PATH] [args...]</a:t>
            </a:r>
            <a:endParaRPr lang="en-US" sz="12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99" name="圆角矩形 698"/>
          <p:cNvSpPr/>
          <p:nvPr/>
        </p:nvSpPr>
        <p:spPr>
          <a:xfrm>
            <a:off x="609600" y="2238375"/>
            <a:ext cx="4095750" cy="2657475"/>
          </a:xfrm>
          <a:prstGeom prst="roundRect">
            <a:avLst>
              <a:gd name="adj" fmla="val 430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00" name="文本框 699" descr="{&quot;isTemplate&quot;:true,&quot;type&quot;:&quot;text&quot;}"/>
          <p:cNvSpPr txBox="1"/>
          <p:nvPr/>
        </p:nvSpPr>
        <p:spPr>
          <a:xfrm>
            <a:off x="800100" y="2428875"/>
            <a:ext cx="3714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参数分两类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1" name="文本框 700" descr="{&quot;isTemplate&quot;:true,&quot;type&quot;:&quot;text&quot;}"/>
          <p:cNvSpPr txBox="1"/>
          <p:nvPr/>
        </p:nvSpPr>
        <p:spPr>
          <a:xfrm>
            <a:off x="800100" y="273367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必须是第一个参数，且只能是路径；缺省当前目录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800100" y="3105150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· --key=value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：作为配置项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编译期注入配置的实现方式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3" name="文本框 702" descr="{&quot;isTemplate&quot;:true,&quot;type&quot;:&quot;text&quot;}"/>
          <p:cNvSpPr txBox="1"/>
          <p:nvPr/>
        </p:nvSpPr>
        <p:spPr>
          <a:xfrm>
            <a:off x="800100" y="347662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其它参数：原样作为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的命令行参数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4" name="圆角矩形 703"/>
          <p:cNvSpPr/>
          <p:nvPr/>
        </p:nvSpPr>
        <p:spPr>
          <a:xfrm>
            <a:off x="4895850" y="1143000"/>
            <a:ext cx="6686550" cy="2085975"/>
          </a:xfrm>
          <a:prstGeom prst="roundRect">
            <a:avLst>
              <a:gd name="adj" fmla="val 5479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5086350" y="1333500"/>
            <a:ext cx="6305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隐藏动作</a:t>
            </a: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生成版本模块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6" name="文本框 705" descr="{&quot;isTemplate&quot;:true,&quot;type&quot;:&quot;text&quot;}"/>
          <p:cNvSpPr txBox="1"/>
          <p:nvPr/>
        </p:nvSpPr>
        <p:spPr>
          <a:xfrm>
            <a:off x="5086350" y="1619250"/>
            <a:ext cx="63055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在项目下临时创建模块（模块名的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_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src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AppVersion.cj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，内容是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AppVersion.set(banner, name, version)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，临时加入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 members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；进程退出时恢复原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并删除临时模块。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文本框 706" descr="{&quot;isTemplate&quot;:true,&quot;type&quot;:&quot;text&quot;}"/>
          <p:cNvSpPr txBox="1"/>
          <p:nvPr/>
        </p:nvSpPr>
        <p:spPr>
          <a:xfrm>
            <a:off x="5086350" y="2762250"/>
            <a:ext cx="63055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这就是启动时能打印出你自己的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BANNER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和版本号的原因。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8" name="圆角矩形 707"/>
          <p:cNvSpPr/>
          <p:nvPr/>
        </p:nvSpPr>
        <p:spPr>
          <a:xfrm>
            <a:off x="4895850" y="3362325"/>
            <a:ext cx="6686550" cy="1533525"/>
          </a:xfrm>
          <a:prstGeom prst="roundRect">
            <a:avLst>
              <a:gd name="adj" fmla="val 745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09" name="文本框 708" descr="{&quot;isTemplate&quot;:true,&quot;type&quot;:&quot;text&quot;}"/>
          <p:cNvSpPr txBox="1"/>
          <p:nvPr/>
        </p:nvSpPr>
        <p:spPr>
          <a:xfrm>
            <a:off x="5086350" y="3552825"/>
            <a:ext cx="6305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隐藏动作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banner.txt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5086350" y="3838575"/>
            <a:ext cx="6305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如果当前目录有非空的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banner.txt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，它会成为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的横幅；应用启动时的那段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ASCII LOGO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就来自这里。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圆角矩形 710"/>
          <p:cNvSpPr/>
          <p:nvPr/>
        </p:nvSpPr>
        <p:spPr>
          <a:xfrm>
            <a:off x="609600" y="5048250"/>
            <a:ext cx="10972800" cy="1238250"/>
          </a:xfrm>
          <a:prstGeom prst="roundRect">
            <a:avLst>
              <a:gd name="adj" fmla="val 923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12" name="文本框 711" descr="{&quot;isTemplate&quot;:true,&quot;type&quot;:&quot;text&quot;}"/>
          <p:cNvSpPr txBox="1"/>
          <p:nvPr/>
        </p:nvSpPr>
        <p:spPr>
          <a:xfrm>
            <a:off x="800100" y="52387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产物目录规则（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--target-dir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3" name="文本框 712" descr="{&quot;isTemplate&quot;:true,&quot;type&quot;:&quot;text&quot;}"/>
          <p:cNvSpPr txBox="1"/>
          <p:nvPr/>
        </p:nvSpPr>
        <p:spPr>
          <a:xfrm>
            <a:off x="800100" y="5505450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等于当前工作目录时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产物目录为「路径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目录名」；否则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产物目录就是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本身。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800100" y="58197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这解释了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的产物为什么在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fdemo/fdemo/release/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下：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目录里执行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build ./fdemo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5" name="任意多边形 71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矩形 7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20" name="矩形 71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819150" y="304800"/>
            <a:ext cx="9124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819150" y="514350"/>
            <a:ext cx="91249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编译期注入配置（重要）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101155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build()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4" name="圆角矩形 723"/>
          <p:cNvSpPr/>
          <p:nvPr/>
        </p:nvSpPr>
        <p:spPr>
          <a:xfrm>
            <a:off x="609600" y="1143000"/>
            <a:ext cx="4000500" cy="4200525"/>
          </a:xfrm>
          <a:prstGeom prst="roundRect">
            <a:avLst>
              <a:gd name="adj" fmla="val 28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819150" y="1352550"/>
            <a:ext cx="3581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这些参数做了什么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6" name="文本框 725" descr="{&quot;isTemplate&quot;:true,&quot;type&quot;:&quot;text&quot;}"/>
          <p:cNvSpPr txBox="1"/>
          <p:nvPr/>
        </p:nvSpPr>
        <p:spPr>
          <a:xfrm>
            <a:off x="819150" y="1695450"/>
            <a:ext cx="3581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数据库连接串、用户名密码在编译期就被写进产物。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819150" y="2105025"/>
            <a:ext cx="35814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因为同时给了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sm4Key / sm4Iv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，这些敏感信息是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加密后的字节数组嵌入的，不是明文。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819150" y="2819400"/>
            <a:ext cx="35814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运行期同名环境变量或命令行参数优先级更高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一份产物跑多套环境。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819150" y="4857750"/>
            <a:ext cx="3581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也可以把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去掉改成环境变量，效果一样。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0" name="圆角矩形 729"/>
          <p:cNvSpPr/>
          <p:nvPr/>
        </p:nvSpPr>
        <p:spPr>
          <a:xfrm>
            <a:off x="609600" y="5476875"/>
            <a:ext cx="4000500" cy="809625"/>
          </a:xfrm>
          <a:prstGeom prst="roundRect">
            <a:avLst>
              <a:gd name="adj" fmla="val 1411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781050" y="5648325"/>
            <a:ext cx="3657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真实项目不要把密码写进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boot.sh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781050" y="5857875"/>
            <a:ext cx="3657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这里只是演示用法。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3" name="圆角矩形 732"/>
          <p:cNvSpPr/>
          <p:nvPr/>
        </p:nvSpPr>
        <p:spPr>
          <a:xfrm>
            <a:off x="4800600" y="1143000"/>
            <a:ext cx="6781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34" name="文本框 733" descr="{&quot;isTemplate&quot;:true,&quot;type&quot;:&quot;text&quot;}"/>
          <p:cNvSpPr txBox="1"/>
          <p:nvPr/>
        </p:nvSpPr>
        <p:spPr>
          <a:xfrm>
            <a:off x="5029200" y="1371600"/>
            <a:ext cx="6324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· build()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5029200" y="16764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fboot build ./fdemo \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5029200" y="20193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--orm_drivers=postgres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5029200" y="23622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--postgres_orm_connectionUrl=$POSTGRES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5029200" y="27051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--postgres_orm_option_username=$POSTGRES_USERNAME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9" name="文本框 738" descr="{&quot;isTemplate&quot;:true,&quot;type&quot;:&quot;text&quot;}"/>
          <p:cNvSpPr txBox="1"/>
          <p:nvPr/>
        </p:nvSpPr>
        <p:spPr>
          <a:xfrm>
            <a:off x="5029200" y="30480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--postgres_orm_option_password=$POSTGRES_PASSWORD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5029200" y="33909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--sm4Key=$(fboot randhex 32) \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5029200" y="37338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--sm4Iv=$(fboot randhex 32)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742" name="矩形 741"/>
          <p:cNvSpPr/>
          <p:nvPr/>
        </p:nvSpPr>
        <p:spPr>
          <a:xfrm>
            <a:off x="5029200" y="4248150"/>
            <a:ext cx="63246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5029200" y="4429125"/>
            <a:ext cx="63246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每次编译换一对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/ IV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，嵌入的密文就不一样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一个很轻量的「产物级」防护。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5029200" y="5743575"/>
            <a:ext cx="63246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完整机制见第四章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矩形 7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50" name="矩形 7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3.5 / 3.6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randhex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cleanUpdate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两个高频小命令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圆角矩形 753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838200" y="1371600"/>
            <a:ext cx="309562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8BDF8"/>
                </a:solidFill>
                <a:latin typeface="JetBrains Mono"/>
                <a:ea typeface="JetBrains Mono"/>
              </a:rPr>
              <a:t>randhex</a:t>
            </a:r>
            <a:endParaRPr lang="en-US" sz="30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838200" y="200025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生成随机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7" name="圆角矩形 756"/>
          <p:cNvSpPr/>
          <p:nvPr/>
        </p:nvSpPr>
        <p:spPr>
          <a:xfrm>
            <a:off x="838200" y="2447925"/>
            <a:ext cx="3095625" cy="847725"/>
          </a:xfrm>
          <a:prstGeom prst="roundRect">
            <a:avLst>
              <a:gd name="adj" fmla="val 898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971550" y="2581275"/>
            <a:ext cx="2828925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randhex 16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randhex 32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838200" y="3448050"/>
            <a:ext cx="3095625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f_random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RandomString().randomLowerHex(n)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RandHexCommand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838200" y="5191125"/>
            <a:ext cx="30956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最常见用途：给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生成密钥与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IV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838200" y="5467350"/>
            <a:ext cx="30956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密钥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= 32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进制字符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fboot randhex 32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2" name="圆角矩形 76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63" name="文本框 762" descr="{&quot;isTemplate&quot;:true,&quot;type&quot;:&quot;text&quot;}"/>
          <p:cNvSpPr txBox="1"/>
          <p:nvPr/>
        </p:nvSpPr>
        <p:spPr>
          <a:xfrm>
            <a:off x="4543425" y="1371600"/>
            <a:ext cx="31051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D3EE"/>
                </a:solidFill>
                <a:latin typeface="JetBrains Mono"/>
                <a:ea typeface="JetBrains Mono"/>
              </a:rPr>
              <a:t>cleanUpdate</a:t>
            </a:r>
            <a:endParaRPr lang="en-US" sz="30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4543425" y="2000250"/>
            <a:ext cx="3105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等价于三步：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4543425" y="2409825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1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cjpm clean --target-dir=...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4543425" y="2762250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2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删除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cjpm.lock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4543425" y="3114675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3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cjpm update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8" name="圆角矩形 767"/>
          <p:cNvSpPr/>
          <p:nvPr/>
        </p:nvSpPr>
        <p:spPr>
          <a:xfrm>
            <a:off x="4543425" y="3543300"/>
            <a:ext cx="3105150" cy="847725"/>
          </a:xfrm>
          <a:prstGeom prst="roundRect">
            <a:avLst>
              <a:gd name="adj" fmla="val 898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4676775" y="3676650"/>
            <a:ext cx="2838450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cleanUpdate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cleanUpdate ./fdemo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4543425" y="5476875"/>
            <a:ext cx="31051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里也封装了它：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./boot.sh cleanUpdate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1" name="圆角矩形 770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8258175" y="1371600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什么时候必须用它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3" name="文本框 772" descr="{&quot;isTemplate&quot;:true,&quot;type&quot;:&quot;text&quot;}"/>
          <p:cNvSpPr txBox="1"/>
          <p:nvPr/>
        </p:nvSpPr>
        <p:spPr>
          <a:xfrm>
            <a:off x="8258175" y="179070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改了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的依赖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8258175" y="22383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切换了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SDK / stdx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5" name="文本框 774" descr="{&quot;isTemplate&quot;:true,&quot;type&quot;:&quot;text&quot;}"/>
          <p:cNvSpPr txBox="1"/>
          <p:nvPr/>
        </p:nvSpPr>
        <p:spPr>
          <a:xfrm>
            <a:off x="8258175" y="2724150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旧产物可能与新依赖二进制不兼容，症状是各种诡异错误。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6" name="文本框 775" descr="{&quot;isTemplate&quot;:true,&quot;type&quot;:&quot;text&quot;}"/>
          <p:cNvSpPr txBox="1"/>
          <p:nvPr/>
        </p:nvSpPr>
        <p:spPr>
          <a:xfrm>
            <a:off x="8258175" y="5724525"/>
            <a:ext cx="30956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不要浪费时间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，直接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cleanUpdate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7" name="任意多边形 7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78" name="文本框 7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9" name="文本框 7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矩形 8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11" name="矩形 8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12" name="文本框 811" descr="{&quot;isTemplate&quot;:true,&quot;type&quot;:&quot;text&quot;}"/>
          <p:cNvSpPr txBox="1"/>
          <p:nvPr/>
        </p:nvSpPr>
        <p:spPr>
          <a:xfrm>
            <a:off x="819150" y="304800"/>
            <a:ext cx="815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3" name="文本框 812" descr="{&quot;isTemplate&quot;:true,&quot;type&quot;:&quot;text&quot;}"/>
          <p:cNvSpPr txBox="1"/>
          <p:nvPr/>
        </p:nvSpPr>
        <p:spPr>
          <a:xfrm>
            <a:off x="819150" y="514350"/>
            <a:ext cx="8153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：启动应用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9144000" y="590550"/>
            <a:ext cx="2438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run [PATH] --dylibPattern=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【正则】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5" name="圆角矩形 814"/>
          <p:cNvSpPr/>
          <p:nvPr/>
        </p:nvSpPr>
        <p:spPr>
          <a:xfrm>
            <a:off x="609600" y="114300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723900" y="12573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17" name="文本框 816" descr="{&quot;isTemplate&quot;:true,&quot;type&quot;:&quot;text&quot;}"/>
          <p:cNvSpPr txBox="1"/>
          <p:nvPr/>
        </p:nvSpPr>
        <p:spPr>
          <a:xfrm>
            <a:off x="1181100" y="125730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确定目标路径：第一个不以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开头的参数；缺省当前目录，不存在就创建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" name="圆角矩形 817"/>
          <p:cNvSpPr/>
          <p:nvPr/>
        </p:nvSpPr>
        <p:spPr>
          <a:xfrm>
            <a:off x="609600" y="1724025"/>
            <a:ext cx="7162800" cy="781050"/>
          </a:xfrm>
          <a:prstGeom prst="roundRect">
            <a:avLst>
              <a:gd name="adj" fmla="val 1219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723900" y="1838325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0" name="文本框 819" descr="{&quot;isTemplate&quot;:true,&quot;type&quot;:&quot;text&quot;}"/>
          <p:cNvSpPr txBox="1"/>
          <p:nvPr/>
        </p:nvSpPr>
        <p:spPr>
          <a:xfrm>
            <a:off x="1181100" y="1838325"/>
            <a:ext cx="64770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按平台选扩展名与搜索路径变量：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Windows .dll / Path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macOS .dylib / DYLD_...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；其它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.so / LD_LIBRARY_PATH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1" name="圆角矩形 820"/>
          <p:cNvSpPr/>
          <p:nvPr/>
        </p:nvSpPr>
        <p:spPr>
          <a:xfrm>
            <a:off x="609600" y="258127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723900" y="26955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1181100" y="269557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递归扫描目录，加载文件名匹配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^lib.*((${dylibPattern})|.+_stAtIc__).*$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的库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4" name="圆角矩形 823"/>
          <p:cNvSpPr/>
          <p:nvPr/>
        </p:nvSpPr>
        <p:spPr>
          <a:xfrm>
            <a:off x="609600" y="316230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723900" y="32766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6" name="文本框 825" descr="{&quot;isTemplate&quot;:true,&quot;type&quot;:&quot;text&quot;}"/>
          <p:cNvSpPr txBox="1"/>
          <p:nvPr/>
        </p:nvSpPr>
        <p:spPr>
          <a:xfrm>
            <a:off x="1181100" y="327660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加载即执行宏生成的顶级匿名闭包：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进集合、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7" name="圆角矩形 826"/>
          <p:cNvSpPr/>
          <p:nvPr/>
        </p:nvSpPr>
        <p:spPr>
          <a:xfrm>
            <a:off x="609600" y="374332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723900" y="38576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9" name="文本框 828" descr="{&quot;isTemplate&quot;:true,&quot;type&quot;:&quot;text&quot;}"/>
          <p:cNvSpPr txBox="1"/>
          <p:nvPr/>
        </p:nvSpPr>
        <p:spPr>
          <a:xfrm>
            <a:off x="1181100" y="385762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dependencies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拓扑排序后依次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initialize()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，收集所有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0" name="圆角矩形 829"/>
          <p:cNvSpPr/>
          <p:nvPr/>
        </p:nvSpPr>
        <p:spPr>
          <a:xfrm>
            <a:off x="609600" y="432435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723900" y="44386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6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32" name="文本框 831" descr="{&quot;isTemplate&quot;:true,&quot;type&quot;:&quot;text&quot;}"/>
          <p:cNvSpPr txBox="1"/>
          <p:nvPr/>
        </p:nvSpPr>
        <p:spPr>
          <a:xfrm>
            <a:off x="1181100" y="443865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在新线程执行；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服务并阻塞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3" name="圆角矩形 832"/>
          <p:cNvSpPr/>
          <p:nvPr/>
        </p:nvSpPr>
        <p:spPr>
          <a:xfrm>
            <a:off x="609600" y="490537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34" name="文本框 833" descr="{&quot;isTemplate&quot;:true,&quot;type&quot;:&quot;text&quot;}"/>
          <p:cNvSpPr txBox="1"/>
          <p:nvPr/>
        </p:nvSpPr>
        <p:spPr>
          <a:xfrm>
            <a:off x="723900" y="50196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7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35" name="文本框 834" descr="{&quot;isTemplate&quot;:true,&quot;type&quot;:&quot;text&quot;}"/>
          <p:cNvSpPr txBox="1"/>
          <p:nvPr/>
        </p:nvSpPr>
        <p:spPr>
          <a:xfrm>
            <a:off x="1181100" y="501967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主线程永久阻塞：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while(true){ sleep(Duration.Max) }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6" name="圆角矩形 835"/>
          <p:cNvSpPr/>
          <p:nvPr/>
        </p:nvSpPr>
        <p:spPr>
          <a:xfrm>
            <a:off x="609600" y="5486400"/>
            <a:ext cx="7162800" cy="542925"/>
          </a:xfrm>
          <a:prstGeom prst="roundRect">
            <a:avLst>
              <a:gd name="adj" fmla="val 1754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742950" y="56197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9E0B"/>
                </a:solidFill>
                <a:latin typeface="JetBrains Mono"/>
                <a:ea typeface="JetBrains Mono"/>
              </a:rPr>
              <a:t>8</a:t>
            </a:r>
            <a:endParaRPr lang="en-US" sz="15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38" name="文本框 837" descr="{&quot;isTemplate&quot;:true,&quot;type&quot;:&quot;text&quot;}"/>
          <p:cNvSpPr txBox="1"/>
          <p:nvPr/>
        </p:nvSpPr>
        <p:spPr>
          <a:xfrm>
            <a:off x="1200150" y="5619750"/>
            <a:ext cx="643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不会返回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9" name="圆角矩形 838"/>
          <p:cNvSpPr/>
          <p:nvPr/>
        </p:nvSpPr>
        <p:spPr>
          <a:xfrm>
            <a:off x="7962900" y="1143000"/>
            <a:ext cx="3619500" cy="3781425"/>
          </a:xfrm>
          <a:prstGeom prst="roundRect">
            <a:avLst>
              <a:gd name="adj" fmla="val 315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40" name="文本框 839" descr="{&quot;isTemplate&quot;:true,&quot;type&quot;:&quot;text&quot;}"/>
          <p:cNvSpPr txBox="1"/>
          <p:nvPr/>
        </p:nvSpPr>
        <p:spPr>
          <a:xfrm>
            <a:off x="8153400" y="13335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--dylibPattern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是最容易踩的坑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1" name="文本框 840" descr="{&quot;isTemplate&quot;:true,&quot;type&quot;:&quot;text&quot;}"/>
          <p:cNvSpPr txBox="1"/>
          <p:nvPr/>
        </p:nvSpPr>
        <p:spPr>
          <a:xfrm>
            <a:off x="8153400" y="1628775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不给自己加正则，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会加载目录下全部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lib*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库，可能导致某些动态链接库被重复加载，应用启动失败。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2" name="文本框 841" descr="{&quot;isTemplate&quot;:true,&quot;type&quot;:&quot;text&quot;}"/>
          <p:cNvSpPr txBox="1"/>
          <p:nvPr/>
        </p:nvSpPr>
        <p:spPr>
          <a:xfrm>
            <a:off x="8153400" y="4181475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凡是靠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生效的东西，所在动态链接库都必须被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3" name="圆角矩形 842"/>
          <p:cNvSpPr/>
          <p:nvPr/>
        </p:nvSpPr>
        <p:spPr>
          <a:xfrm>
            <a:off x="7962900" y="5057775"/>
            <a:ext cx="3619500" cy="1228725"/>
          </a:xfrm>
          <a:prstGeom prst="roundRect">
            <a:avLst>
              <a:gd name="adj" fmla="val 930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44" name="文本框 843" descr="{&quot;isTemplate&quot;:true,&quot;type&quot;:&quot;text&quot;}"/>
          <p:cNvSpPr txBox="1"/>
          <p:nvPr/>
        </p:nvSpPr>
        <p:spPr>
          <a:xfrm>
            <a:off x="8153400" y="5248275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它「卡住」是正常的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5" name="文本框 844" descr="{&quot;isTemplate&quot;:true,&quot;type&quot;:&quot;text&quot;}"/>
          <p:cNvSpPr txBox="1"/>
          <p:nvPr/>
        </p:nvSpPr>
        <p:spPr>
          <a:xfrm>
            <a:off x="8153400" y="5543550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启动完成后进程会永久阻塞在服务循环里，另开终端发请求即可。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6" name="任意多边形 84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文本框 84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矩形 8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51" name="矩形 85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52" name="文本框 851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3" name="文本框 852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--dylibPattern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怎么读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最容易踩的坑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609600" y="1143000"/>
            <a:ext cx="10972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fboot run ./fdemo --dylibPattern='(boot|user\.util\.(auth|cron)|\.(controller|service\.impl))'</a:t>
            </a:r>
            <a:endParaRPr lang="en-US" sz="105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856" name="表格 855"/>
          <p:cNvGraphicFramePr/>
          <p:nvPr/>
        </p:nvGraphicFramePr>
        <p:xfrm>
          <a:off x="609600" y="1457325"/>
          <a:ext cx="10972800" cy="2667002"/>
        </p:xfrm>
        <a:graphic>
          <a:graphicData uri="http://schemas.openxmlformats.org/drawingml/2006/table">
            <a:tbl>
              <a:tblPr/>
              <a:tblGrid>
                <a:gridCol w="914628"/>
                <a:gridCol w="1825149"/>
                <a:gridCol w="8233023"/>
              </a:tblGrid>
              <a:tr h="29157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片段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加载什么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为什么必须加载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boot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初始化包 fountain::boot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ControllerAspect（切面）、TransactionHookImpl（事务钩子）、LogTextMediaType（自定义 MediaType）、Http500Handler（500 处理器）都在这里，都是 @Bean，不加载就静默失效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\.(controller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 controller 包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 路由注册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196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service\.impl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 service 实现包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@TransactionalService 的织入和业务实现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user\.util\.auth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AuthCheckerImpl（登录 / 权限检查器）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它是 @Bean，不加载 → 所有接口都不做鉴权（危险）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user\.util\.cron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TickTockTaskImpl（定时任务）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它是 @Bean，不加载 → 定时任务不执行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57" name="圆角矩形 856"/>
          <p:cNvSpPr/>
          <p:nvPr/>
        </p:nvSpPr>
        <p:spPr>
          <a:xfrm>
            <a:off x="609600" y="4276725"/>
            <a:ext cx="5410200" cy="2009775"/>
          </a:xfrm>
          <a:prstGeom prst="roundRect">
            <a:avLst>
              <a:gd name="adj" fmla="val 568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58" name="文本框 857" descr="{&quot;isTemplate&quot;:true,&quot;type&quot;:&quot;text&quot;}"/>
          <p:cNvSpPr txBox="1"/>
          <p:nvPr/>
        </p:nvSpPr>
        <p:spPr>
          <a:xfrm>
            <a:off x="800100" y="4467225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800100" y="4733925"/>
            <a:ext cx="5029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凡是靠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生效的东西，所在的动态链接库都必须被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圆角矩形 859"/>
          <p:cNvSpPr/>
          <p:nvPr/>
        </p:nvSpPr>
        <p:spPr>
          <a:xfrm>
            <a:off x="6172200" y="4276725"/>
            <a:ext cx="5410200" cy="2009775"/>
          </a:xfrm>
          <a:prstGeom prst="roundRect">
            <a:avLst>
              <a:gd name="adj" fmla="val 568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6362700" y="4467225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现场：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hello_app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文本框 861" descr="{&quot;isTemplate&quot;:true,&quot;type&quot;:&quot;text&quot;}"/>
          <p:cNvSpPr txBox="1"/>
          <p:nvPr/>
        </p:nvSpPr>
        <p:spPr>
          <a:xfrm>
            <a:off x="6362700" y="473392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run --dylibPattern='hello'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863" name="文本框 862" descr="{&quot;isTemplate&quot;:true,&quot;type&quot;:&quot;text&quot;}"/>
          <p:cNvSpPr txBox="1"/>
          <p:nvPr/>
        </p:nvSpPr>
        <p:spPr>
          <a:xfrm>
            <a:off x="6362700" y="5010150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curl http://localhost:8080/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864" name="文本框 863" descr="{&quot;isTemplate&quot;:true,&quot;type&quot;:&quot;text&quot;}"/>
          <p:cNvSpPr txBox="1"/>
          <p:nvPr/>
        </p:nvSpPr>
        <p:spPr>
          <a:xfrm>
            <a:off x="6362700" y="58007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59E0B"/>
                </a:solidFill>
                <a:latin typeface="JetBrains Mono"/>
                <a:ea typeface="JetBrains Mono"/>
              </a:rPr>
              <a:t>hello Fountain!</a:t>
            </a:r>
            <a:endParaRPr lang="en-US" sz="1125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65" name="任意多边形 86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文本框 86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03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fboot 编译、启动与命令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fboot module 创建模块　·　fboot build 与两个隐藏动作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编译期注入配置：连接串与口令如何嵌进产物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fboot run 的八步启动流程　·　--dylibPattern 正则怎么读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下一讲：f_config 配置体系（上）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