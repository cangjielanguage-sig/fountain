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Sl1"/>
    <p:sldId id="257" r:id="rIdSl2"/>
    <p:sldId id="258" r:id="rIdSl3"/>
    <p:sldId id="259" r:id="rIdSl4"/>
    <p:sldId id="260" r:id="rIdSl5"/>
    <p:sldId id="261" r:id="rIdSl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22" Type="http://schemas.openxmlformats.org/officeDocument/2006/relationships/tableStyles" Target="tableStyles.xml"/><Relationship Id="rId121" Type="http://schemas.openxmlformats.org/officeDocument/2006/relationships/viewProps" Target="viewProps.xml"/><Relationship Id="rId1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Sl1" Type="http://schemas.openxmlformats.org/officeDocument/2006/relationships/slide" Target="slides/slide1.xml"/><Relationship Id="rIdSl2" Type="http://schemas.openxmlformats.org/officeDocument/2006/relationships/slide" Target="slides/slide2.xml"/><Relationship Id="rIdSl3" Type="http://schemas.openxmlformats.org/officeDocument/2006/relationships/slide" Target="slides/slide3.xml"/><Relationship Id="rIdSl4" Type="http://schemas.openxmlformats.org/officeDocument/2006/relationships/slide" Target="slides/slide4.xml"/><Relationship Id="rIdSl5" Type="http://schemas.openxmlformats.org/officeDocument/2006/relationships/slide" Target="slides/slide5.xml"/><Relationship Id="rIdSl6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这是最后一讲，三张速查表。第一张是 fboot 的命令，日常真正反复敲的就是那几条。第二张是配置，最上面是优先级规则，然后是命令行参数的四种写法、SM4 那一组、Config API，以及日志配置的三件事。第三张是关键 API，按模块分组。这三张表建议打印出来贴在显示器边上，需要细节时再回到对应那一讲。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附录是三张速查表。第一张是命令。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fboot workspace 加可选目录和版本号，初始化 workspace 并重写 cjpm.toml。fboot module 加可选名字，初始化或新增 dynamic 模块并挂进 members。fboot build 加路径和若干 --k=v，编译并把配置在编译期注入产物。fboot cleanUpdate 加路径，等价于 </a:t>
            </a:r>
            <a:r>
              <a:rPr lang="en-US" altLang="zh-CN" dirty="0"/>
              <a:t>cjpm </a:t>
            </a:r>
            <a:r>
              <a:rPr lang="zh-CN" dirty="0"/>
              <a:t>clean 删除 </a:t>
            </a:r>
            <a:r>
              <a:rPr lang="en-US" altLang="zh-CN" dirty="0"/>
              <a:t>cjpm.</a:t>
            </a:r>
            <a:r>
              <a:rPr lang="zh-CN" dirty="0"/>
              <a:t>lock  和</a:t>
            </a:r>
            <a:r>
              <a:rPr lang="en-US" altLang="zh-CN" dirty="0"/>
              <a:t>cjpm </a:t>
            </a:r>
            <a:r>
              <a:rPr lang="zh-CN" dirty="0"/>
              <a:t>update。fboot run 加路径和 --dylibPattern，启动并永久阻塞。fboot randhex 加位数，生成随机小写十六进制——SM4 的 key 用三十二。fboot count 统计代码。fboot test 用 test 目录的 cjpm.toml 覆盖后 build 加 run。fboot pub 加版本号发布模块。fboot version 可以只用来看版本，也可以加版本号、消息、tag 来管理 fountain 自身。fboot help 看命令列表。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这张表建议打印出来贴在显示器边上——日常开发真正会反复敲的就是这几条。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一个提醒：这些命令里所有方括号包起来的部分都是占位符，需要替换成实际值。特别是 --dylibPattern 后面的正则，它决定了哪些动态链接库会被加载，是 fountain 里最容易出错的一个参数。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第二张速查表是配置。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最上面是优先级规则：命令行参数大于环境变量，大于编译期内嵌值；fountain 前缀是等价的回退写法。还有一个关键提示：命令行参数对「任何链接了 f_config 的仓颉进程」都生效，不限于 fboot。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然后是命令行参数的四种写法：双横线等号赋值、双横线单独出现、单横线加空格加值、单横线单独出现。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SM4 那一组：sm4Key 必须是十六字节，也就是 randhex 32；GCM 的 IV 用 randhex 24；工作模式支持 CBC、CFB、CTR、GCM、OFB，注意 ECB 明确不支持；填充支持 NoPadding 和 PKCS7Padding。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然后是 Config 的 API，单数读取失败返回 None，复数读取失败抛异常，bufferSize 向上取到二的幂。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日志那段是重头，注意三件事：默认静默，不配 appender 就没有任何输出；级别挂在「你起的名字」上，不是挂在 console 或 file 这种类型名上；rotateDuration 别用亚秒级。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loggerAsyncBufsize 既是队列容量也是缓冲区池大小；loggerAsyncTimeout 默认是死等；policy 默认 discard；logger_asyncWaitTimeout 默认五毫秒，借不到缓冲区就丢弃本条并打印 EmptyPool。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这张表的左半边可以直接抄进你自己的启动脚本。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第三张速查表是关键 API，按模块分组。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f_bean：lookup 系列，无参、带名字、带条件；lookupOption、lookupList、lookupHashMap。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f_orm：ORM.initialize、ORM.register、ORM.executor、ORM.executor 带驱动名；executor.setSql 后面跟 update / insert / delete；executor.FROM 泛型接 WHERE、ORDER_BY、page；INSERT_INTO 和 UPDATE；execute 模板传传播行为和回滚规则。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f_mvc：CurrentHttpContext.instance，一行拿到当前请求上下文。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f_jwt：encoder 链式签名，verifier 拿 token 然后 verify。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f_log：getLogger 泛型或字面量；三种写日志方式；六个 enabled 属性；withAttrs 附加属性；LoggerConfig.filter 脱敏；LoggerFactory.refresh 刷新。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f_data：DataObject 泛型 populate 做类实例到类实例；DataObject 按名读写；toJson 和 fromJson 做对象与 JSON 串互转；JsonValue 的两个入口；DataPath.cache 做 JSONPath 查询。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f_random：区间随机数、随机流、RandomString 的两种生成、ThreadLocalRandom.current、randomReservoir 抽样。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f_util：UUID 的六种生成；parse 和 tryParse；IsUUID 注解；IdMaker；CaseFormat；TextTemplate；PathPattern；TreeTransformer 的 transform；Factory、Strategies、ResponsibilityChain。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f_base：ExitCallbacks 的 atExit；四类空容器；迭代器扩展的 toArrayList、groupBy、peekable；数组的 grow 和重复；Option 的 toResult、iterator、caller；StringGenerator；Comparator 和 Equaler；resource 和 ResourceManager；FutureTask；InheritedTaskLocal；还有两个宏 nameof 和 nameValueOf。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这三张速查表就是整个讲稿的索引。需要时回到对应的章节看细节，平时开发直接翻附录就够了。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最后收个尾。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把这一讲的核心再说一遍：f_config 负责配置、f_bean 负责装配、f_aspect 负责横切、f_data 负责流动、f_util 提供工具箱、f_http 负责格式、f_mvc 负责协议、f_orm 负责数据库、f_security 加 f_jwt 负责身份、f_ticktock 负责定时器、f_random 负责随机性、f_log 负责日志，f_cache、f_pool、f_collection、f_time、f_regex、f_rx 加 f_base 和 f_io 构成运行时底座。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而从头到尾，你没写过一个配置文件、没写过一行 main。业务代码里你只写了 UserController、UserService、UserDAO、UserPO 四个东西，加起来不到两百行。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如果你只记住一句话，我希望是这句：fountain 的目标不是给你一个框架，而是把服务端的「非业务复杂度」整体收进工具库，让你的代码里只剩业务。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完整的代码、示例工程和每一条命令都在文档里。感谢观看。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整套课程到这里结束。如果只记一句话：fountain 的目标不是给你一个框架，而是把服务端的非业务复杂度整体收进工具库，让你的代码里只剩业务。全程没有配置文件、没有 main，业务代码只有四个类、两百行不到。三张速查表留在这一讲，平时开发直接翻这里就够了。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2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6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slide1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" name=""/>
          <p:cNvSpPr txBox="1"/>
          <p:nvPr/>
        </p:nvSpPr>
        <p:spPr>
          <a:xfrm rot="0" flipH="0" flipV="0">
            <a:off x="-695325" y="1143000"/>
            <a:ext cx="12506325" cy="3657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25</a:t>
            </a:r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1143000" y="186690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"/>
          <p:cNvSpPr txBox="1"/>
          <p:nvPr/>
        </p:nvSpPr>
        <p:spPr>
          <a:xfrm rot="0" flipH="0" flipV="0">
            <a:off x="1333500" y="1952625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PART 25 / 25 · 课程分册</a:t>
            </a:r>
            <a:endParaRPr/>
          </a:p>
        </p:txBody>
      </p:sp>
      <p:sp>
        <p:nvSpPr>
          <p:cNvPr id="7" name=""/>
          <p:cNvSpPr txBox="1"/>
          <p:nvPr/>
        </p:nvSpPr>
        <p:spPr>
          <a:xfrm rot="0" flipH="0" flipV="0">
            <a:off x="1143000" y="2495550"/>
            <a:ext cx="2867025" cy="609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速查表与收尾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1143000" y="33147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" name=""/>
          <p:cNvSpPr txBox="1"/>
          <p:nvPr/>
        </p:nvSpPr>
        <p:spPr>
          <a:xfrm rot="0" flipH="0" flipV="0">
            <a:off x="1143000" y="37719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命令速查：日常真正反复敲的那几条</a:t>
            </a:r>
            <a:endParaRPr/>
          </a:p>
        </p:txBody>
      </p:sp>
      <p:sp>
        <p:nvSpPr>
          <p:cNvPr id="10" name=""/>
          <p:cNvSpPr txBox="1"/>
          <p:nvPr/>
        </p:nvSpPr>
        <p:spPr>
          <a:xfrm rot="0" flipH="0" flipV="0">
            <a:off x="1143000" y="41148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配置速查：优先级、命令行写法、SM4、Config API、日志</a:t>
            </a:r>
            <a:endParaRPr/>
          </a:p>
        </p:txBody>
      </p:sp>
      <p:sp>
        <p:nvSpPr>
          <p:cNvPr id="11" name=""/>
          <p:cNvSpPr txBox="1"/>
          <p:nvPr/>
        </p:nvSpPr>
        <p:spPr>
          <a:xfrm rot="0" flipH="0" flipV="0">
            <a:off x="1143000" y="44577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关键 API 速查　·　全课程收束</a:t>
            </a:r>
            <a:endParaRPr/>
          </a:p>
        </p:txBody>
      </p:sp>
      <p:sp>
        <p:nvSpPr>
          <p:cNvPr id="12" name=""/>
          <p:cNvSpPr txBox="1"/>
          <p:nvPr/>
        </p:nvSpPr>
        <p:spPr>
          <a:xfrm rot="0" flipH="0" flipV="0">
            <a:off x="1143000" y="50292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 25 讲 / 共 25 讲　·　原稿第 113–116 页 + 首尾两页　·　约 13.3 分钟</a:t>
            </a:r>
            <a:endParaRPr/>
          </a:p>
        </p:txBody>
      </p:sp>
      <p:sp>
        <p:nvSpPr>
          <p:cNvPr id="13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矩形 40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403" name="矩形 402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404" name="文本框 403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附录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A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一页速查表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5" name="文本框 404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命令速查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6" name="文本框 405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建议贴显示器边上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7" name="圆角矩形 406"/>
          <p:cNvSpPr/>
          <p:nvPr/>
        </p:nvSpPr>
        <p:spPr>
          <a:xfrm>
            <a:off x="609600" y="1143000"/>
            <a:ext cx="1097280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408" name="文本框 407" descr="{&quot;isTemplate&quot;:true,&quot;type&quot;:&quot;text&quot;}"/>
          <p:cNvSpPr txBox="1"/>
          <p:nvPr/>
        </p:nvSpPr>
        <p:spPr>
          <a:xfrm>
            <a:off x="838200" y="1371600"/>
            <a:ext cx="10515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fboot workspace [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【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dir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】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] [x.y.z]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#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初始化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workspace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（重写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cjpm.toml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）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09" name="文本框 408" descr="{&quot;isTemplate&quot;:true,&quot;type&quot;:&quot;text&quot;}"/>
          <p:cNvSpPr txBox="1"/>
          <p:nvPr/>
        </p:nvSpPr>
        <p:spPr>
          <a:xfrm>
            <a:off x="838200" y="1704975"/>
            <a:ext cx="10515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fboot module [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【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name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】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]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#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初始化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/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新增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dynamic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模块并挂进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members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10" name="文本框 409" descr="{&quot;isTemplate&quot;:true,&quot;type&quot;:&quot;text&quot;}"/>
          <p:cNvSpPr txBox="1"/>
          <p:nvPr/>
        </p:nvSpPr>
        <p:spPr>
          <a:xfrm>
            <a:off x="838200" y="2038350"/>
            <a:ext cx="10515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fboot build [PATH] [--k=v ...]</a:t>
            </a: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　　　　　</a:t>
            </a: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# </a:t>
            </a: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编译；</a:t>
            </a: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--k=v </a:t>
            </a: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作为编译期环境变量注入产物</a:t>
            </a:r>
            <a:endParaRPr lang="zh-CN" sz="105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411" name="文本框 410" descr="{&quot;isTemplate&quot;:true,&quot;type&quot;:&quot;text&quot;}"/>
          <p:cNvSpPr txBox="1"/>
          <p:nvPr/>
        </p:nvSpPr>
        <p:spPr>
          <a:xfrm>
            <a:off x="838200" y="2371725"/>
            <a:ext cx="10515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fboot cleanUpdate [PATH]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# cjpm clean +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删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cjpm.lock + cjpm update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12" name="文本框 411" descr="{&quot;isTemplate&quot;:true,&quot;type&quot;:&quot;text&quot;}"/>
          <p:cNvSpPr txBox="1"/>
          <p:nvPr/>
        </p:nvSpPr>
        <p:spPr>
          <a:xfrm>
            <a:off x="838200" y="2705100"/>
            <a:ext cx="10515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fboot run [PATH] --dylibPattern=</a:t>
            </a: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【正则】</a:t>
            </a:r>
            <a:r>
              <a:rPr lang="en-US" sz="1050">
                <a:solidFill>
                  <a:srgbClr val="F59E0B"/>
                </a:solidFill>
                <a:latin typeface="JetBrains Mono"/>
                <a:ea typeface="JetBrains Mono"/>
              </a:rPr>
              <a:t> # </a:t>
            </a:r>
            <a:r>
              <a:rPr lang="zh-CN" sz="1050">
                <a:solidFill>
                  <a:srgbClr val="F59E0B"/>
                </a:solidFill>
                <a:latin typeface="JetBrains Mono"/>
                <a:ea typeface="JetBrains Mono"/>
              </a:rPr>
              <a:t>启动（永久阻塞）</a:t>
            </a:r>
            <a:endParaRPr lang="zh-CN" sz="105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413" name="文本框 412" descr="{&quot;isTemplate&quot;:true,&quot;type&quot;:&quot;text&quot;}"/>
          <p:cNvSpPr txBox="1"/>
          <p:nvPr/>
        </p:nvSpPr>
        <p:spPr>
          <a:xfrm>
            <a:off x="838200" y="3038475"/>
            <a:ext cx="10515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fboot randhex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【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n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】　　　　　　　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# n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位随机小写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16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进制（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SM4 key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用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32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）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14" name="文本框 413" descr="{&quot;isTemplate&quot;:true,&quot;type&quot;:&quot;text&quot;}"/>
          <p:cNvSpPr txBox="1"/>
          <p:nvPr/>
        </p:nvSpPr>
        <p:spPr>
          <a:xfrm>
            <a:off x="838200" y="3371850"/>
            <a:ext cx="10515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fboot count [PATH]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　　　　　　　　　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#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代码统计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15" name="文本框 414" descr="{&quot;isTemplate&quot;:true,&quot;type&quot;:&quot;text&quot;}"/>
          <p:cNvSpPr txBox="1"/>
          <p:nvPr/>
        </p:nvSpPr>
        <p:spPr>
          <a:xfrm>
            <a:off x="838200" y="3705225"/>
            <a:ext cx="10515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fboot test [PATH] --dylibPattern=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【正则】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# test/cjpm.toml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覆盖后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build + run</a:t>
            </a:r>
            <a:endParaRPr lang="en-US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16" name="文本框 415" descr="{&quot;isTemplate&quot;:true,&quot;type&quot;:&quot;text&quot;}"/>
          <p:cNvSpPr txBox="1"/>
          <p:nvPr/>
        </p:nvSpPr>
        <p:spPr>
          <a:xfrm>
            <a:off x="838200" y="4038600"/>
            <a:ext cx="10515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fboot pub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【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x.y.z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】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 [--skip-lint] [--skip-test]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</a:rPr>
              <a:t># </a:t>
            </a:r>
            <a:r>
              <a:rPr lang="zh-CN" sz="1050">
                <a:solidFill>
                  <a:srgbClr val="E2E8F0"/>
                </a:solidFill>
                <a:latin typeface="JetBrains Mono"/>
                <a:ea typeface="JetBrains Mono"/>
              </a:rPr>
              <a:t>批量发布模块</a:t>
            </a:r>
            <a:endParaRPr lang="zh-CN" sz="105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17" name="文本框 416" descr="{&quot;isTemplate&quot;:true,&quot;type&quot;:&quot;text&quot;}"/>
          <p:cNvSpPr txBox="1"/>
          <p:nvPr/>
        </p:nvSpPr>
        <p:spPr>
          <a:xfrm>
            <a:off x="838200" y="4371975"/>
            <a:ext cx="10515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endParaRPr lang="zh-CN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418" name="文本框 417" descr="{&quot;isTemplate&quot;:true,&quot;type&quot;:&quot;text&quot;}"/>
          <p:cNvSpPr txBox="1"/>
          <p:nvPr/>
        </p:nvSpPr>
        <p:spPr>
          <a:xfrm>
            <a:off x="838200" y="4705350"/>
            <a:ext cx="10515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endParaRPr lang="en-US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419" name="文本框 418" descr="{&quot;isTemplate&quot;:true,&quot;type&quot;:&quot;text&quot;}"/>
          <p:cNvSpPr txBox="1"/>
          <p:nvPr/>
        </p:nvSpPr>
        <p:spPr>
          <a:xfrm>
            <a:off x="838200" y="5038725"/>
            <a:ext cx="10515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5000"/>
              </a:lnSpc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</a:rPr>
              <a:t>fboot help</a:t>
            </a:r>
            <a:endParaRPr lang="en-US" sz="105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420" name="矩形 419"/>
          <p:cNvSpPr/>
          <p:nvPr/>
        </p:nvSpPr>
        <p:spPr>
          <a:xfrm>
            <a:off x="838200" y="5543550"/>
            <a:ext cx="1051560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421" name="文本框 420" descr="{&quot;isTemplate&quot;:true,&quot;type&quot;:&quot;text&quot;}"/>
          <p:cNvSpPr txBox="1"/>
          <p:nvPr/>
        </p:nvSpPr>
        <p:spPr>
          <a:xfrm>
            <a:off x="838200" y="5686425"/>
            <a:ext cx="105156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所有方括号里的部分都是占位符，需要替换成实际值。特别是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--dylibPattern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后面的正则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它决定哪些动态链接库会被加载，是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fountain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里最容易出错的一个参数。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2" name="任意多边形 421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423" name="文本框 422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4" name="文本框 423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113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矩形 4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427" name="矩形 426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428" name="文本框 427" descr="{&quot;isTemplate&quot;:true,&quot;type&quot;:&quot;text&quot;}"/>
          <p:cNvSpPr txBox="1"/>
          <p:nvPr/>
        </p:nvSpPr>
        <p:spPr>
          <a:xfrm>
            <a:off x="819150" y="304800"/>
            <a:ext cx="93535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附录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A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一页速查表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9" name="文本框 428" descr="{&quot;isTemplate&quot;:true,&quot;type&quot;:&quot;text&quot;}"/>
          <p:cNvSpPr txBox="1"/>
          <p:nvPr/>
        </p:nvSpPr>
        <p:spPr>
          <a:xfrm>
            <a:off x="819150" y="514350"/>
            <a:ext cx="93535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配置速查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0" name="文本框 429" descr="{&quot;isTemplate&quot;:true,&quot;type&quot;:&quot;text&quot;}"/>
          <p:cNvSpPr txBox="1"/>
          <p:nvPr/>
        </p:nvSpPr>
        <p:spPr>
          <a:xfrm>
            <a:off x="10344150" y="590550"/>
            <a:ext cx="123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可以直接抄进启动脚本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1" name="圆角矩形 430"/>
          <p:cNvSpPr/>
          <p:nvPr/>
        </p:nvSpPr>
        <p:spPr>
          <a:xfrm>
            <a:off x="609600" y="1143000"/>
            <a:ext cx="53911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432" name="文本框 431" descr="{&quot;isTemplate&quot;:true,&quot;type&quot;:&quot;text&quot;}"/>
          <p:cNvSpPr txBox="1"/>
          <p:nvPr/>
        </p:nvSpPr>
        <p:spPr>
          <a:xfrm>
            <a:off x="800100" y="1333500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# 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优先级：命令行参数</a:t>
            </a: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 &gt; 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环境变量</a:t>
            </a: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 &gt; 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编译期内嵌（</a:t>
            </a: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fountain_ 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前缀为等价回退）</a:t>
            </a:r>
            <a:endParaRPr lang="zh-CN" sz="900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433" name="文本框 432" descr="{&quot;isTemplate&quot;:true,&quot;type&quot;:&quot;text&quot;}"/>
          <p:cNvSpPr txBox="1"/>
          <p:nvPr/>
        </p:nvSpPr>
        <p:spPr>
          <a:xfrm>
            <a:off x="800100" y="1552575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# 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命令行参数对「任何链接了</a:t>
            </a: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 f_config 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的仓颉进程」都生效（不限于</a:t>
            </a: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 fboot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）</a:t>
            </a:r>
            <a:endParaRPr lang="zh-CN" sz="900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434" name="文本框 433" descr="{&quot;isTemplate&quot;:true,&quot;type&quot;:&quot;text&quot;}"/>
          <p:cNvSpPr txBox="1"/>
          <p:nvPr/>
        </p:nvSpPr>
        <p:spPr>
          <a:xfrm>
            <a:off x="800100" y="1771650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--argName=argValue | --argName | -argName argVal | -argName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35" name="文本框 434" descr="{&quot;isTemplate&quot;:true,&quot;type&quot;:&quot;text&quot;}"/>
          <p:cNvSpPr txBox="1"/>
          <p:nvPr/>
        </p:nvSpPr>
        <p:spPr>
          <a:xfrm>
            <a:off x="800100" y="2066925"/>
            <a:ext cx="50101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export sm4Key=$(fboot randhex 32)   # 16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字节；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GCM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的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IV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用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fboot randhex 24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436" name="文本框 435" descr="{&quot;isTemplate&quot;:true,&quot;type&quot;:&quot;text&quot;}"/>
          <p:cNvSpPr txBox="1"/>
          <p:nvPr/>
        </p:nvSpPr>
        <p:spPr>
          <a:xfrm>
            <a:off x="800100" y="2305050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export sm4Iv=$(fboot randhex 32)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437" name="文本框 436" descr="{&quot;isTemplate&quot;:true,&quot;type&quot;:&quot;text&quot;}"/>
          <p:cNvSpPr txBox="1"/>
          <p:nvPr/>
        </p:nvSpPr>
        <p:spPr>
          <a:xfrm>
            <a:off x="800100" y="2524125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sm4Operation=CBC             # CBC CFB CTR GCM OFB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（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ECB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明确不支持）</a:t>
            </a:r>
            <a:endParaRPr lang="zh-CN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438" name="文本框 437" descr="{&quot;isTemplate&quot;:true,&quot;type&quot;:&quot;text&quot;}"/>
          <p:cNvSpPr txBox="1"/>
          <p:nvPr/>
        </p:nvSpPr>
        <p:spPr>
          <a:xfrm>
            <a:off x="800100" y="2743200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sm4Padding=PKCS7Padding      # NoPadding PKCS7Padding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439" name="矩形 438"/>
          <p:cNvSpPr/>
          <p:nvPr/>
        </p:nvSpPr>
        <p:spPr>
          <a:xfrm>
            <a:off x="800100" y="3076575"/>
            <a:ext cx="501015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440" name="文本框 439" descr="{&quot;isTemplate&quot;:true,&quot;type&quot;:&quot;text&quot;}"/>
          <p:cNvSpPr txBox="1"/>
          <p:nvPr/>
        </p:nvSpPr>
        <p:spPr>
          <a:xfrm>
            <a:off x="800100" y="3181350"/>
            <a:ext cx="5010150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Config.getString(key) / getValue&lt;T&gt;(key) / getData&lt;T&gt;(key)   //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单数：失败返回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None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41" name="文本框 440" descr="{&quot;isTemplate&quot;:true,&quot;type&quot;:&quot;text&quot;}"/>
          <p:cNvSpPr txBox="1"/>
          <p:nvPr/>
        </p:nvSpPr>
        <p:spPr>
          <a:xfrm>
            <a:off x="800100" y="3609975"/>
            <a:ext cx="5010150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Config.getValues&lt;T&gt;(key, delim:) / getDatas&lt;T&gt;(key, delim:)  //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复数：失败抛异常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42" name="文本框 441" descr="{&quot;isTemplate&quot;:true,&quot;type&quot;:&quot;text&quot;}"/>
          <p:cNvSpPr txBox="1"/>
          <p:nvPr/>
        </p:nvSpPr>
        <p:spPr>
          <a:xfrm>
            <a:off x="800100" y="4038600"/>
            <a:ext cx="5010150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Config.getStringArray(key, delim:) / getDuration(key) / getDateTime(key, format:)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443" name="文本框 442" descr="{&quot;isTemplate&quot;:true,&quot;type&quot;:&quot;text&quot;}"/>
          <p:cNvSpPr txBox="1"/>
          <p:nvPr/>
        </p:nvSpPr>
        <p:spPr>
          <a:xfrm>
            <a:off x="800100" y="4467225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Config.bufferSize(key, default:, debugging:)   //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向上取到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2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的幂</a:t>
            </a:r>
            <a:endParaRPr lang="zh-CN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444" name="文本框 443" descr="{&quot;isTemplate&quot;:true,&quot;type&quot;:&quot;text&quot;}"/>
          <p:cNvSpPr txBox="1"/>
          <p:nvPr/>
        </p:nvSpPr>
        <p:spPr>
          <a:xfrm>
            <a:off x="800100" y="4686300"/>
            <a:ext cx="5010150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Config.getAll(prefix) / getAll() / set&lt;T&gt;(tuples, ifAbsent:) / refresher(prefix, fn)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445" name="文本框 444" descr="{&quot;isTemplate&quot;:true,&quot;type&quot;:&quot;text&quot;}"/>
          <p:cNvSpPr txBox="1"/>
          <p:nvPr/>
        </p:nvSpPr>
        <p:spPr>
          <a:xfrm>
            <a:off x="800100" y="5114925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Config.getSM4() / Config.registerSensitive(key, value)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446" name="文本框 445" descr="{&quot;isTemplate&quot;:true,&quot;type&quot;:&quot;text&quot;}"/>
          <p:cNvSpPr txBox="1"/>
          <p:nvPr/>
        </p:nvSpPr>
        <p:spPr>
          <a:xfrm>
            <a:off x="800100" y="5391150"/>
            <a:ext cx="50101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@EmbedSensitive(paySecretKey pushToken)   //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编译期把敏感值嵌入产物</a:t>
            </a:r>
            <a:endParaRPr lang="zh-CN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447" name="文本框 446" descr="{&quot;isTemplate&quot;:true,&quot;type&quot;:&quot;text&quot;}"/>
          <p:cNvSpPr txBox="1"/>
          <p:nvPr/>
        </p:nvSpPr>
        <p:spPr>
          <a:xfrm>
            <a:off x="800100" y="5629275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@DateTimeConfConverter[myDateFormat]      // </a:t>
            </a:r>
            <a:r>
              <a:rPr lang="zh-CN" sz="900">
                <a:solidFill>
                  <a:srgbClr val="38BDF8"/>
                </a:solidFill>
                <a:latin typeface="JetBrains Mono"/>
                <a:ea typeface="JetBrains Mono"/>
              </a:rPr>
              <a:t>时间格式本身也可配置</a:t>
            </a:r>
            <a:endParaRPr lang="zh-CN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448" name="圆角矩形 447"/>
          <p:cNvSpPr/>
          <p:nvPr/>
        </p:nvSpPr>
        <p:spPr>
          <a:xfrm>
            <a:off x="6191250" y="1143000"/>
            <a:ext cx="53911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449" name="文本框 448" descr="{&quot;isTemplate&quot;:true,&quot;type&quot;:&quot;text&quot;}"/>
          <p:cNvSpPr txBox="1"/>
          <p:nvPr/>
        </p:nvSpPr>
        <p:spPr>
          <a:xfrm>
            <a:off x="6381750" y="1333500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#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日志（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f_log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）：默认静默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——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不配</a:t>
            </a: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appender 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就没有任何输出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450" name="文本框 449" descr="{&quot;isTemplate&quot;:true,&quot;type&quot;:&quot;text&quot;}"/>
          <p:cNvSpPr txBox="1"/>
          <p:nvPr/>
        </p:nvSpPr>
        <p:spPr>
          <a:xfrm>
            <a:off x="6381750" y="1552575"/>
            <a:ext cx="5010150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logger_appender_console=MyConsole      #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值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=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你起的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appender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名，逗号分隔可多个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51" name="文本框 450" descr="{&quot;isTemplate&quot;:true,&quot;type&quot;:&quot;text&quot;}"/>
          <p:cNvSpPr txBox="1"/>
          <p:nvPr/>
        </p:nvSpPr>
        <p:spPr>
          <a:xfrm>
            <a:off x="6381750" y="1981200"/>
            <a:ext cx="5010150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logger_appender_MyConsole_level=INFO   # OFF/ERROR/WARN/INFO/DEBUG/TRACE/ALL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（无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FATAL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）</a:t>
            </a:r>
            <a:endParaRPr lang="zh-CN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52" name="文本框 451" descr="{&quot;isTemplate&quot;:true,&quot;type&quot;:&quot;text&quot;}"/>
          <p:cNvSpPr txBox="1"/>
          <p:nvPr/>
        </p:nvSpPr>
        <p:spPr>
          <a:xfrm>
            <a:off x="6381750" y="2409825"/>
            <a:ext cx="5010150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export logger_appender_MyConsole_pattern='[%level-%name]%d{yyyy/MM/dd,HH:mm:ss.SSS}|%tid;%m'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453" name="文本框 452" descr="{&quot;isTemplate&quot;:true,&quot;type&quot;:&quot;text&quot;}"/>
          <p:cNvSpPr txBox="1"/>
          <p:nvPr/>
        </p:nvSpPr>
        <p:spPr>
          <a:xfrm>
            <a:off x="6381750" y="2838450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logger_appender_file=MyFile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54" name="文本框 453" descr="{&quot;isTemplate&quot;:true,&quot;type&quot;:&quot;text&quot;}"/>
          <p:cNvSpPr txBox="1"/>
          <p:nvPr/>
        </p:nvSpPr>
        <p:spPr>
          <a:xfrm>
            <a:off x="6381750" y="3057525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logger_appender_MyFile_level=INFO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55" name="文本框 454" descr="{&quot;isTemplate&quot;:true,&quot;type&quot;:&quot;text&quot;}"/>
          <p:cNvSpPr txBox="1"/>
          <p:nvPr/>
        </p:nvSpPr>
        <p:spPr>
          <a:xfrm>
            <a:off x="6381750" y="3276600"/>
            <a:ext cx="5010150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export logger_appender_MyFile_path=./log/app.log   #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默认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工作目录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/logs/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命令名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.log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56" name="文本框 455" descr="{&quot;isTemplate&quot;:true,&quot;type&quot;:&quot;text&quot;}"/>
          <p:cNvSpPr txBox="1"/>
          <p:nvPr/>
        </p:nvSpPr>
        <p:spPr>
          <a:xfrm>
            <a:off x="6381750" y="3705225"/>
            <a:ext cx="5010150" cy="428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export logger_appender_MyFile_rotateDuration=DAY   # NANOSECOND..YEAR</a:t>
            </a:r>
            <a:r>
              <a:rPr lang="zh-CN" sz="900">
                <a:solidFill>
                  <a:srgbClr val="F59E0B"/>
                </a:solidFill>
                <a:latin typeface="JetBrains Mono"/>
                <a:ea typeface="JetBrains Mono"/>
              </a:rPr>
              <a:t>，别用亚秒级</a:t>
            </a:r>
            <a:endParaRPr lang="zh-CN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457" name="文本框 456" descr="{&quot;isTemplate&quot;:true,&quot;type&quot;:&quot;text&quot;}"/>
          <p:cNvSpPr txBox="1"/>
          <p:nvPr/>
        </p:nvSpPr>
        <p:spPr>
          <a:xfrm>
            <a:off x="6381750" y="4133850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logger_appender_MyFile_rotateSize=100M      #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可选，支持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100k/100M/1G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458" name="文本框 457" descr="{&quot;isTemplate&quot;:true,&quot;type&quot;:&quot;text&quot;}"/>
          <p:cNvSpPr txBox="1"/>
          <p:nvPr/>
        </p:nvSpPr>
        <p:spPr>
          <a:xfrm>
            <a:off x="6381750" y="4352925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logger_appender_MyFile_compressFormat=GZip  # 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可选：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Deflate / GZip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459" name="文本框 458" descr="{&quot;isTemplate&quot;:true,&quot;type&quot;:&quot;text&quot;}"/>
          <p:cNvSpPr txBox="1"/>
          <p:nvPr/>
        </p:nvSpPr>
        <p:spPr>
          <a:xfrm>
            <a:off x="6381750" y="4572000"/>
            <a:ext cx="50101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# export loggerAsyncBufsize=1024      # 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异步队列容量</a:t>
            </a:r>
            <a:r>
              <a:rPr lang="en-US" sz="900">
                <a:solidFill>
                  <a:srgbClr val="64748B"/>
                </a:solidFill>
                <a:latin typeface="JetBrains Mono"/>
                <a:ea typeface="JetBrains Mono"/>
              </a:rPr>
              <a:t> &amp; </a:t>
            </a:r>
            <a:r>
              <a:rPr lang="zh-CN" sz="900">
                <a:solidFill>
                  <a:srgbClr val="64748B"/>
                </a:solidFill>
                <a:latin typeface="JetBrains Mono"/>
                <a:ea typeface="JetBrains Mono"/>
              </a:rPr>
              <a:t>缓冲区池大小</a:t>
            </a:r>
            <a:endParaRPr lang="zh-CN" sz="900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460" name="圆角矩形 459"/>
          <p:cNvSpPr/>
          <p:nvPr/>
        </p:nvSpPr>
        <p:spPr>
          <a:xfrm>
            <a:off x="6381750" y="4924425"/>
            <a:ext cx="5010150" cy="1171575"/>
          </a:xfrm>
          <a:prstGeom prst="roundRect">
            <a:avLst>
              <a:gd name="adj" fmla="val 8130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461" name="文本框 460" descr="{&quot;isTemplate&quot;:true,&quot;type&quot;:&quot;text&quot;}"/>
          <p:cNvSpPr txBox="1"/>
          <p:nvPr/>
        </p:nvSpPr>
        <p:spPr>
          <a:xfrm>
            <a:off x="6515100" y="5057775"/>
            <a:ext cx="47434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三件事：默认静默；级别挂在「你起的名字」上（不是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console / file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这种类型名）；</a:t>
            </a:r>
            <a:r>
              <a:rPr lang="en-US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rotateDuration </a:t>
            </a:r>
            <a:r>
              <a:rPr lang="zh-CN" sz="900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别用亚秒级。</a:t>
            </a:r>
            <a:endParaRPr lang="zh-CN" sz="900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2" name="任意多边形 461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463" name="文本框 462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4" name="文本框 463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114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矩形 4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467" name="矩形 466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468" name="文本框 467" descr="{&quot;isTemplate&quot;:true,&quot;type&quot;:&quot;text&quot;}"/>
          <p:cNvSpPr txBox="1"/>
          <p:nvPr/>
        </p:nvSpPr>
        <p:spPr>
          <a:xfrm>
            <a:off x="819150" y="304800"/>
            <a:ext cx="9725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附录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A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一页速查表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9" name="文本框 468" descr="{&quot;isTemplate&quot;:true,&quot;type&quot;:&quot;text&quot;}"/>
          <p:cNvSpPr txBox="1"/>
          <p:nvPr/>
        </p:nvSpPr>
        <p:spPr>
          <a:xfrm>
            <a:off x="819150" y="514350"/>
            <a:ext cx="97250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关键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API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速查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0" name="文本框 469" descr="{&quot;isTemplate&quot;:true,&quot;type&quot;:&quot;text&quot;}"/>
          <p:cNvSpPr txBox="1"/>
          <p:nvPr/>
        </p:nvSpPr>
        <p:spPr>
          <a:xfrm>
            <a:off x="10715625" y="590550"/>
            <a:ext cx="8667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整个讲稿的索引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1" name="圆角矩形 470"/>
          <p:cNvSpPr/>
          <p:nvPr/>
        </p:nvSpPr>
        <p:spPr>
          <a:xfrm>
            <a:off x="609600" y="1143000"/>
            <a:ext cx="53911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472" name="文本框 471" descr="{&quot;isTemplate&quot;:true,&quot;type&quot;:&quot;text&quot;}"/>
          <p:cNvSpPr txBox="1"/>
          <p:nvPr/>
        </p:nvSpPr>
        <p:spPr>
          <a:xfrm>
            <a:off x="781050" y="131445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94A3B8"/>
                </a:solidFill>
                <a:latin typeface="JetBrains Mono"/>
                <a:ea typeface="JetBrains Mono"/>
              </a:rPr>
              <a:t>// f_bean</a:t>
            </a:r>
            <a:r>
              <a:rPr lang="zh-CN" sz="825">
                <a:solidFill>
                  <a:srgbClr val="94A3B8"/>
                </a:solidFill>
                <a:latin typeface="JetBrains Mono"/>
                <a:ea typeface="JetBrains Mono"/>
              </a:rPr>
              <a:t>：</a:t>
            </a:r>
            <a:r>
              <a:rPr lang="en-US" sz="825">
                <a:solidFill>
                  <a:srgbClr val="94A3B8"/>
                </a:solidFill>
                <a:latin typeface="JetBrains Mono"/>
                <a:ea typeface="JetBrains Mono"/>
              </a:rPr>
              <a:t>IOC</a:t>
            </a:r>
            <a:endParaRPr lang="en-US" sz="82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473" name="文本框 472" descr="{&quot;isTemplate&quot;:true,&quot;type&quot;:&quot;text&quot;}"/>
          <p:cNvSpPr txBox="1"/>
          <p:nvPr/>
        </p:nvSpPr>
        <p:spPr>
          <a:xfrm>
            <a:off x="781050" y="1504950"/>
            <a:ext cx="5048250" cy="371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lookup&lt;T&gt;() / lookup&lt;T&gt;(name) / lookup&lt;T&gt;(cond) / lookupOption / lookupList / lookupHashMap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74" name="文本框 473" descr="{&quot;isTemplate&quot;:true,&quot;type&quot;:&quot;text&quot;}"/>
          <p:cNvSpPr txBox="1"/>
          <p:nvPr/>
        </p:nvSpPr>
        <p:spPr>
          <a:xfrm>
            <a:off x="781050" y="1952625"/>
            <a:ext cx="50482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825">
                <a:solidFill>
                  <a:srgbClr val="64748B"/>
                </a:solidFill>
                <a:latin typeface="JetBrains Mono"/>
                <a:ea typeface="JetBrains Mono"/>
              </a:rPr>
              <a:t>// f_orm</a:t>
            </a:r>
            <a:endParaRPr lang="en-US" sz="825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475" name="文本框 474" descr="{&quot;isTemplate&quot;:true,&quot;type&quot;:&quot;text&quot;}"/>
          <p:cNvSpPr txBox="1"/>
          <p:nvPr/>
        </p:nvSpPr>
        <p:spPr>
          <a:xfrm>
            <a:off x="781050" y="21717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ORM.initialize() / register(...) / executor() / executor(driver)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76" name="文本框 475" descr="{&quot;isTemplate&quot;:true,&quot;type&quot;:&quot;text&quot;}"/>
          <p:cNvSpPr txBox="1"/>
          <p:nvPr/>
        </p:nvSpPr>
        <p:spPr>
          <a:xfrm>
            <a:off x="781050" y="23622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executor.setSql(...).update / .insert / .delete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77" name="文本框 476" descr="{&quot;isTemplate&quot;:true,&quot;type&quot;:&quot;text&quot;}"/>
          <p:cNvSpPr txBox="1"/>
          <p:nvPr/>
        </p:nvSpPr>
        <p:spPr>
          <a:xfrm>
            <a:off x="781050" y="25527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executor.FROM&lt;T&gt;().WHERE(...).ORDER_BY(...).page&lt;T&gt;(size, page:)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78" name="文本框 477" descr="{&quot;isTemplate&quot;:true,&quot;type&quot;:&quot;text&quot;}"/>
          <p:cNvSpPr txBox="1"/>
          <p:nvPr/>
        </p:nvSpPr>
        <p:spPr>
          <a:xfrm>
            <a:off x="781050" y="27432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executor.INSERT_INTO&lt;T&gt;(po) / UPDATE&lt;T&gt;(map|po, dirty:)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79" name="文本框 478" descr="{&quot;isTemplate&quot;:true,&quot;type&quot;:&quot;text&quot;}"/>
          <p:cNvSpPr txBox="1"/>
          <p:nvPr/>
        </p:nvSpPr>
        <p:spPr>
          <a:xfrm>
            <a:off x="781050" y="29337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executor.execute&lt;T&gt;(propagation:, rollbackFor:) { exec =&gt; (result, true) }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80" name="文本框 479" descr="{&quot;isTemplate&quot;:true,&quot;type&quot;:&quot;text&quot;}"/>
          <p:cNvSpPr txBox="1"/>
          <p:nvPr/>
        </p:nvSpPr>
        <p:spPr>
          <a:xfrm>
            <a:off x="781050" y="31242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CurrentHttpContext.instance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81" name="文本框 480" descr="{&quot;isTemplate&quot;:true,&quot;type&quot;:&quot;text&quot;}"/>
          <p:cNvSpPr txBox="1"/>
          <p:nvPr/>
        </p:nvSpPr>
        <p:spPr>
          <a:xfrm>
            <a:off x="781050" y="33147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JWT.encoder()....sign() / JWT.verifier(token).verify()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82" name="文本框 481" descr="{&quot;isTemplate&quot;:true,&quot;type&quot;:&quot;text&quot;}"/>
          <p:cNvSpPr txBox="1"/>
          <p:nvPr/>
        </p:nvSpPr>
        <p:spPr>
          <a:xfrm>
            <a:off x="781050" y="3581400"/>
            <a:ext cx="50482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825">
                <a:solidFill>
                  <a:srgbClr val="64748B"/>
                </a:solidFill>
                <a:latin typeface="JetBrains Mono"/>
                <a:ea typeface="JetBrains Mono"/>
              </a:rPr>
              <a:t>// f_log</a:t>
            </a:r>
            <a:r>
              <a:rPr lang="zh-CN" sz="825">
                <a:solidFill>
                  <a:srgbClr val="64748B"/>
                </a:solidFill>
                <a:latin typeface="JetBrains Mono"/>
                <a:ea typeface="JetBrains Mono"/>
              </a:rPr>
              <a:t>（默认静默；级别</a:t>
            </a:r>
            <a:r>
              <a:rPr lang="en-US" sz="825">
                <a:solidFill>
                  <a:srgbClr val="64748B"/>
                </a:solidFill>
                <a:latin typeface="JetBrains Mono"/>
                <a:ea typeface="JetBrains Mono"/>
              </a:rPr>
              <a:t> / </a:t>
            </a:r>
            <a:r>
              <a:rPr lang="zh-CN" sz="825">
                <a:solidFill>
                  <a:srgbClr val="64748B"/>
                </a:solidFill>
                <a:latin typeface="JetBrains Mono"/>
                <a:ea typeface="JetBrains Mono"/>
              </a:rPr>
              <a:t>格式挂在</a:t>
            </a:r>
            <a:r>
              <a:rPr lang="en-US" sz="825">
                <a:solidFill>
                  <a:srgbClr val="64748B"/>
                </a:solidFill>
                <a:latin typeface="JetBrains Mono"/>
                <a:ea typeface="JetBrains Mono"/>
              </a:rPr>
              <a:t> appender </a:t>
            </a:r>
            <a:r>
              <a:rPr lang="zh-CN" sz="825">
                <a:solidFill>
                  <a:srgbClr val="64748B"/>
                </a:solidFill>
                <a:latin typeface="JetBrains Mono"/>
                <a:ea typeface="JetBrains Mono"/>
              </a:rPr>
              <a:t>上）</a:t>
            </a:r>
            <a:endParaRPr lang="zh-CN" sz="825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483" name="文本框 482" descr="{&quot;isTemplate&quot;:true,&quot;type&quot;:&quot;text&quot;}"/>
          <p:cNvSpPr txBox="1"/>
          <p:nvPr/>
        </p:nvSpPr>
        <p:spPr>
          <a:xfrm>
            <a:off x="781050" y="3800475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LoggerFactory.getLogger&lt;T&gt;() / getLogger('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任意名字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')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84" name="文本框 483" descr="{&quot;isTemplate&quot;:true,&quot;type&quot;:&quot;text&quot;}"/>
          <p:cNvSpPr txBox="1"/>
          <p:nvPr/>
        </p:nvSpPr>
        <p:spPr>
          <a:xfrm>
            <a:off x="781050" y="3990975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38BDF8"/>
                </a:solidFill>
                <a:latin typeface="JetBrains Mono"/>
                <a:ea typeface="JetBrains Mono"/>
              </a:rPr>
              <a:t>log.info{'...${name}'} / log.debug{'...'}   // lambda</a:t>
            </a:r>
            <a:r>
              <a:rPr lang="zh-CN" sz="825">
                <a:solidFill>
                  <a:srgbClr val="38BDF8"/>
                </a:solidFill>
                <a:latin typeface="JetBrains Mono"/>
                <a:ea typeface="JetBrains Mono"/>
              </a:rPr>
              <a:t>：级别不够不求值</a:t>
            </a:r>
            <a:endParaRPr lang="zh-CN" sz="82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485" name="文本框 484" descr="{&quot;isTemplate&quot;:true,&quot;type&quot;:&quot;text&quot;}"/>
          <p:cNvSpPr txBox="1"/>
          <p:nvPr/>
        </p:nvSpPr>
        <p:spPr>
          <a:xfrm>
            <a:off x="781050" y="4181475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38BDF8"/>
                </a:solidFill>
                <a:latin typeface="JetBrains Mono"/>
                <a:ea typeface="JetBrains Mono"/>
              </a:rPr>
              <a:t>log.info('user {} login', [name, ip]) / log.info('user {name}', data)</a:t>
            </a:r>
            <a:endParaRPr lang="en-US" sz="825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486" name="文本框 485" descr="{&quot;isTemplate&quot;:true,&quot;type&quot;:&quot;text&quot;}"/>
          <p:cNvSpPr txBox="1"/>
          <p:nvPr/>
        </p:nvSpPr>
        <p:spPr>
          <a:xfrm>
            <a:off x="781050" y="4371975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log.error(e){'...'} / log.error('...', e) / log.withAttrs([...])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87" name="文本框 486" descr="{&quot;isTemplate&quot;:true,&quot;type&quot;:&quot;text&quot;}"/>
          <p:cNvSpPr txBox="1"/>
          <p:nvPr/>
        </p:nvSpPr>
        <p:spPr>
          <a:xfrm>
            <a:off x="781050" y="4562475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log.debugEnabled / infoEnabled / warnEnabled / errorEnabled / fatalEnabled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88" name="文本框 487" descr="{&quot;isTemplate&quot;:true,&quot;type&quot;:&quot;text&quot;}"/>
          <p:cNvSpPr txBox="1"/>
          <p:nvPr/>
        </p:nvSpPr>
        <p:spPr>
          <a:xfrm>
            <a:off x="781050" y="4752975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F59E0B"/>
                </a:solidFill>
                <a:latin typeface="JetBrains Mono"/>
                <a:ea typeface="JetBrains Mono"/>
              </a:rPr>
              <a:t>LoggerConfig.filter = MyLogFilter() / LoggerFactory.refresh()</a:t>
            </a:r>
            <a:endParaRPr lang="en-US" sz="825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489" name="圆角矩形 488"/>
          <p:cNvSpPr/>
          <p:nvPr/>
        </p:nvSpPr>
        <p:spPr>
          <a:xfrm>
            <a:off x="6191250" y="1143000"/>
            <a:ext cx="53911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490" name="文本框 489" descr="{&quot;isTemplate&quot;:true,&quot;type&quot;:&quot;text&quot;}"/>
          <p:cNvSpPr txBox="1"/>
          <p:nvPr/>
        </p:nvSpPr>
        <p:spPr>
          <a:xfrm>
            <a:off x="6362700" y="131445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64748B"/>
                </a:solidFill>
                <a:latin typeface="JetBrains Mono"/>
                <a:ea typeface="JetBrains Mono"/>
              </a:rPr>
              <a:t>// f_data</a:t>
            </a:r>
            <a:r>
              <a:rPr lang="zh-CN" sz="825">
                <a:solidFill>
                  <a:srgbClr val="64748B"/>
                </a:solidFill>
                <a:latin typeface="JetBrains Mono"/>
                <a:ea typeface="JetBrains Mono"/>
              </a:rPr>
              <a:t>：对象</a:t>
            </a:r>
            <a:r>
              <a:rPr lang="en-US" sz="825">
                <a:solidFill>
                  <a:srgbClr val="64748B"/>
                </a:solidFill>
                <a:latin typeface="JetBrains Mono"/>
                <a:ea typeface="JetBrains Mono"/>
              </a:rPr>
              <a:t> / JSON / Map </a:t>
            </a:r>
            <a:r>
              <a:rPr lang="zh-CN" sz="825">
                <a:solidFill>
                  <a:srgbClr val="64748B"/>
                </a:solidFill>
                <a:latin typeface="JetBrains Mono"/>
                <a:ea typeface="JetBrains Mono"/>
              </a:rPr>
              <a:t>互转</a:t>
            </a:r>
            <a:endParaRPr lang="zh-CN" sz="825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491" name="文本框 490" descr="{&quot;isTemplate&quot;:true,&quot;type&quot;:&quot;text&quot;}"/>
          <p:cNvSpPr txBox="1"/>
          <p:nvPr/>
        </p:nvSpPr>
        <p:spPr>
          <a:xfrm>
            <a:off x="6362700" y="150495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DataObject&lt;T&gt;.populate(src, flag: DEFAULT_DATA_FLAG) / DataObject&lt;T&gt;(obj)['field']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92" name="文本框 491" descr="{&quot;isTemplate&quot;:true,&quot;type&quot;:&quot;text&quot;}"/>
          <p:cNvSpPr txBox="1"/>
          <p:nvPr/>
        </p:nvSpPr>
        <p:spPr>
          <a:xfrm>
            <a:off x="6362700" y="169545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toJson(obj) / fromJson&lt;T&gt;(jsonString) / JsonValue.from(...) / fromStr(s)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93" name="文本框 492" descr="{&quot;isTemplate&quot;:true,&quot;type&quot;:&quot;text&quot;}"/>
          <p:cNvSpPr txBox="1"/>
          <p:nvPr/>
        </p:nvSpPr>
        <p:spPr>
          <a:xfrm>
            <a:off x="6362700" y="188595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DataPath.cache("$.a[?(@.b &gt; 1)].c").get(data)   // JSONPath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94" name="文本框 493" descr="{&quot;isTemplate&quot;:true,&quot;type&quot;:&quot;text&quot;}"/>
          <p:cNvSpPr txBox="1"/>
          <p:nvPr/>
        </p:nvSpPr>
        <p:spPr>
          <a:xfrm>
            <a:off x="6362700" y="2152650"/>
            <a:ext cx="50482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825">
                <a:solidFill>
                  <a:srgbClr val="64748B"/>
                </a:solidFill>
                <a:latin typeface="JetBrains Mono"/>
                <a:ea typeface="JetBrains Mono"/>
              </a:rPr>
              <a:t>// f_random</a:t>
            </a:r>
            <a:endParaRPr lang="en-US" sz="825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495" name="文本框 494" descr="{&quot;isTemplate&quot;:true,&quot;type&quot;:&quot;text&quot;}"/>
          <p:cNvSpPr txBox="1"/>
          <p:nvPr/>
        </p:nvSpPr>
        <p:spPr>
          <a:xfrm>
            <a:off x="6362700" y="2371725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rand.nextInt64(1, 100, closed: true) / randomInt64(0, 10)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（无限流）</a:t>
            </a:r>
            <a:endParaRPr lang="zh-CN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96" name="文本框 495" descr="{&quot;isTemplate&quot;:true,&quot;type&quot;:&quot;text&quot;}"/>
          <p:cNvSpPr txBox="1"/>
          <p:nvPr/>
        </p:nvSpPr>
        <p:spPr>
          <a:xfrm>
            <a:off x="6362700" y="2562225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RandomString().randomLowerHex(32) / ThreadLocalRandom.current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97" name="文本框 496" descr="{&quot;isTemplate&quot;:true,&quot;type&quot;:&quot;text&quot;}"/>
          <p:cNvSpPr txBox="1"/>
          <p:nvPr/>
        </p:nvSpPr>
        <p:spPr>
          <a:xfrm>
            <a:off x="6362700" y="2828925"/>
            <a:ext cx="50482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825">
                <a:solidFill>
                  <a:srgbClr val="64748B"/>
                </a:solidFill>
                <a:latin typeface="JetBrains Mono"/>
                <a:ea typeface="JetBrains Mono"/>
              </a:rPr>
              <a:t>// f_util</a:t>
            </a:r>
            <a:endParaRPr lang="en-US" sz="825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498" name="文本框 497" descr="{&quot;isTemplate&quot;:true,&quot;type&quot;:&quot;text&quot;}"/>
          <p:cNvSpPr txBox="1"/>
          <p:nvPr/>
        </p:nvSpPr>
        <p:spPr>
          <a:xfrm>
            <a:off x="6362700" y="30480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UUID.random() / unixTimeBased() / md5(s) / sha1(s) / parse(s) / toHexString()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499" name="文本框 498" descr="{&quot;isTemplate&quot;:true,&quot;type&quot;:&quot;text&quot;}"/>
          <p:cNvSpPr txBox="1"/>
          <p:nvPr/>
        </p:nvSpPr>
        <p:spPr>
          <a:xfrm>
            <a:off x="6362700" y="32385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CaseFormat.Camel.convert('userName', to: CaseFormat.LowerUnderScore)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00" name="文本框 499" descr="{&quot;isTemplate&quot;:true,&quot;type&quot;:&quot;text&quot;}"/>
          <p:cNvSpPr txBox="1"/>
          <p:nvPr/>
        </p:nvSpPr>
        <p:spPr>
          <a:xfrm>
            <a:off x="6362700" y="34290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TextTemplate.compile('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订单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 ${id} 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已创建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').format(map)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01" name="文本框 500" descr="{&quot;isTemplate&quot;:true,&quot;type&quot;:&quot;text&quot;}"/>
          <p:cNvSpPr txBox="1"/>
          <p:nvPr/>
        </p:nvSpPr>
        <p:spPr>
          <a:xfrm>
            <a:off x="6362700" y="36195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PathPattern().compileIfAbsent('/api/{id}'){data}.data&lt;T&gt;(path)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02" name="文本框 501" descr="{&quot;isTemplate&quot;:true,&quot;type&quot;:&quot;text&quot;}"/>
          <p:cNvSpPr txBox="1"/>
          <p:nvPr/>
        </p:nvSpPr>
        <p:spPr>
          <a:xfrm>
            <a:off x="6362700" y="38100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MenuNode.transform&lt;MenuPO&gt;(list, emptyId: 0){ po =&gt; MenuNode(po) }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03" name="文本框 502" descr="{&quot;isTemplate&quot;:true,&quot;type&quot;:&quot;text&quot;}"/>
          <p:cNvSpPr txBox="1"/>
          <p:nvPr/>
        </p:nvSpPr>
        <p:spPr>
          <a:xfrm>
            <a:off x="6362700" y="4000500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Strategies&lt;N,A,R&gt;.register(s) / .execute(name, arg)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　·　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IdMaker().nextInt64()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04" name="文本框 503" descr="{&quot;isTemplate&quot;:true,&quot;type&quot;:&quot;text&quot;}"/>
          <p:cNvSpPr txBox="1"/>
          <p:nvPr/>
        </p:nvSpPr>
        <p:spPr>
          <a:xfrm>
            <a:off x="6362700" y="4267200"/>
            <a:ext cx="50482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825">
                <a:solidFill>
                  <a:srgbClr val="64748B"/>
                </a:solidFill>
                <a:latin typeface="JetBrains Mono"/>
                <a:ea typeface="JetBrains Mono"/>
              </a:rPr>
              <a:t>// f_base</a:t>
            </a:r>
            <a:r>
              <a:rPr lang="zh-CN" sz="825">
                <a:solidFill>
                  <a:srgbClr val="64748B"/>
                </a:solidFill>
                <a:latin typeface="JetBrains Mono"/>
                <a:ea typeface="JetBrains Mono"/>
              </a:rPr>
              <a:t>（建议无脑导入）</a:t>
            </a:r>
            <a:endParaRPr lang="zh-CN" sz="825">
              <a:solidFill>
                <a:srgbClr val="64748B"/>
              </a:solidFill>
              <a:latin typeface="JetBrains Mono"/>
              <a:ea typeface="JetBrains Mono"/>
            </a:endParaRPr>
          </a:p>
        </p:txBody>
      </p:sp>
      <p:sp>
        <p:nvSpPr>
          <p:cNvPr id="505" name="文本框 504" descr="{&quot;isTemplate&quot;:true,&quot;type&quot;:&quot;text&quot;}"/>
          <p:cNvSpPr txBox="1"/>
          <p:nvPr/>
        </p:nvSpPr>
        <p:spPr>
          <a:xfrm>
            <a:off x="6362700" y="4486275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ExitCallbacks.atExit(priority){...} / toExitGracefully()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06" name="文本框 505" descr="{&quot;isTemplate&quot;:true,&quot;type&quot;:&quot;text&quot;}"/>
          <p:cNvSpPr txBox="1"/>
          <p:nvPr/>
        </p:nvSpPr>
        <p:spPr>
          <a:xfrm>
            <a:off x="6362700" y="4676775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EmptyArray / EmptySet / EmptyMap&lt;T&gt;.instance()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　·　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it.groupBy{...} / peekable()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07" name="文本框 506" descr="{&quot;isTemplate&quot;:true,&quot;type&quot;:&quot;text&quot;}"/>
          <p:cNvSpPr txBox="1"/>
          <p:nvPr/>
        </p:nvSpPr>
        <p:spPr>
          <a:xfrm>
            <a:off x="6362700" y="4867275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Option.toResult() / iterator() / caller{...}</a:t>
            </a:r>
            <a:r>
              <a:rPr lang="zh-CN" sz="825">
                <a:solidFill>
                  <a:srgbClr val="E2E8F0"/>
                </a:solidFill>
                <a:latin typeface="JetBrains Mono"/>
                <a:ea typeface="JetBrains Mono"/>
              </a:rPr>
              <a:t>　·　</a:t>
            </a:r>
            <a:r>
              <a:rPr lang="en-US" sz="825">
                <a:solidFill>
                  <a:srgbClr val="E2E8F0"/>
                </a:solidFill>
                <a:latin typeface="JetBrains Mono"/>
                <a:ea typeface="JetBrains Mono"/>
              </a:rPr>
              <a:t>Comparator&lt;T&gt;(cmp).then{...}</a:t>
            </a:r>
            <a:endParaRPr lang="en-US" sz="825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508" name="文本框 507" descr="{&quot;isTemplate&quot;:true,&quot;type&quot;:&quot;text&quot;}"/>
          <p:cNvSpPr txBox="1"/>
          <p:nvPr/>
        </p:nvSpPr>
        <p:spPr>
          <a:xfrm>
            <a:off x="6362700" y="5057775"/>
            <a:ext cx="504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>
                <a:solidFill>
                  <a:srgbClr val="94A3B8"/>
                </a:solidFill>
                <a:latin typeface="JetBrains Mono"/>
                <a:ea typeface="JetBrains Mono"/>
              </a:rPr>
              <a:t>resource(res){ r =&gt; ... } / ResourceManager / FutureTask&lt;T&gt;(fn)</a:t>
            </a:r>
            <a:endParaRPr lang="en-US" sz="82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509" name="文本框 508" descr="{&quot;isTemplate&quot;:true,&quot;type&quot;:&quot;text&quot;}"/>
          <p:cNvSpPr txBox="1"/>
          <p:nvPr/>
        </p:nvSpPr>
        <p:spPr>
          <a:xfrm>
            <a:off x="6362700" y="5248275"/>
            <a:ext cx="5048250" cy="371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825">
                <a:solidFill>
                  <a:srgbClr val="94A3B8"/>
                </a:solidFill>
                <a:latin typeface="JetBrains Mono"/>
                <a:ea typeface="JetBrains Mono"/>
              </a:rPr>
              <a:t>@nameof(expr) / @nameValueOf(expr)</a:t>
            </a:r>
            <a:r>
              <a:rPr lang="zh-CN" sz="825">
                <a:solidFill>
                  <a:srgbClr val="94A3B8"/>
                </a:solidFill>
                <a:latin typeface="JetBrains Mono"/>
                <a:ea typeface="JetBrains Mono"/>
              </a:rPr>
              <a:t>　·　</a:t>
            </a:r>
            <a:r>
              <a:rPr lang="en-US" sz="825">
                <a:solidFill>
                  <a:srgbClr val="94A3B8"/>
                </a:solidFill>
                <a:latin typeface="JetBrains Mono"/>
                <a:ea typeface="JetBrains Mono"/>
              </a:rPr>
              <a:t>HeapCache / Pool / BitSet / Dict / f_time DSL</a:t>
            </a:r>
            <a:endParaRPr lang="en-US" sz="825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510" name="任意多边形 509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511" name="文本框 510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2" name="文本框 511" descr="{&quot;isTemplate&quot;:true,&quot;type&quot;:&quot;text&quot;}"/>
          <p:cNvSpPr txBox="1"/>
          <p:nvPr/>
        </p:nvSpPr>
        <p:spPr>
          <a:xfrm>
            <a:off x="11020425" y="6410325"/>
            <a:ext cx="5619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115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矩形 5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515" name="矩形 514"/>
          <p:cNvSpPr/>
          <p:nvPr/>
        </p:nvSpPr>
        <p:spPr>
          <a:xfrm>
            <a:off x="8763000" y="0"/>
            <a:ext cx="3429000" cy="6858000"/>
          </a:xfrm>
          <a:prstGeom prst="rect">
            <a:avLst/>
          </a:prstGeom>
          <a:gradFill>
            <a:gsLst>
              <a:gs pos="0">
                <a:srgbClr val="38BDF8">
                  <a:alpha val="9000"/>
                </a:srgbClr>
              </a:gs>
              <a:gs pos="100000">
                <a:srgbClr val="22D3EE">
                  <a:alpha val="9000"/>
                </a:srgbClr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516" name="矩形 515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517" name="文本框 516" descr="{&quot;isTemplate&quot;:true,&quot;type&quot;:&quot;text&quot;}"/>
          <p:cNvSpPr txBox="1"/>
          <p:nvPr/>
        </p:nvSpPr>
        <p:spPr>
          <a:xfrm>
            <a:off x="1143000" y="1219200"/>
            <a:ext cx="1285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THANK YOU</a:t>
            </a:r>
            <a:endParaRPr lang="en-US" sz="1125" spc="3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8" name="文本框 517" descr="{&quot;isTemplate&quot;:true,&quot;type&quot;:&quot;text&quot;}"/>
          <p:cNvSpPr txBox="1"/>
          <p:nvPr/>
        </p:nvSpPr>
        <p:spPr>
          <a:xfrm>
            <a:off x="1143000" y="1600200"/>
            <a:ext cx="4457700" cy="714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让业务代码只剩业务</a:t>
            </a:r>
            <a:endParaRPr lang="zh-CN" sz="3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9" name="矩形 518"/>
          <p:cNvSpPr/>
          <p:nvPr/>
        </p:nvSpPr>
        <p:spPr>
          <a:xfrm>
            <a:off x="1143000" y="241935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520" name="文本框 519" descr="{&quot;isTemplate&quot;:true,&quot;type&quot;:&quot;text&quot;}"/>
          <p:cNvSpPr txBox="1"/>
          <p:nvPr/>
        </p:nvSpPr>
        <p:spPr>
          <a:xfrm>
            <a:off x="1143000" y="2857500"/>
            <a:ext cx="72675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f_config </a:t>
            </a:r>
            <a:r>
              <a:rPr lang="zh-CN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配置　·　</a:t>
            </a:r>
            <a:r>
              <a:rPr lang="en-US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f_bean </a:t>
            </a:r>
            <a:r>
              <a:rPr lang="zh-CN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装配　·　</a:t>
            </a:r>
            <a:r>
              <a:rPr lang="en-US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f_aspect </a:t>
            </a:r>
            <a:r>
              <a:rPr lang="zh-CN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横切　·　</a:t>
            </a:r>
            <a:r>
              <a:rPr lang="en-US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f_data </a:t>
            </a:r>
            <a:r>
              <a:rPr lang="zh-CN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流动　·　</a:t>
            </a:r>
            <a:r>
              <a:rPr lang="en-US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f_util </a:t>
            </a:r>
            <a:r>
              <a:rPr lang="zh-CN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工具箱　·　</a:t>
            </a:r>
            <a:r>
              <a:rPr lang="en-US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f_http </a:t>
            </a:r>
            <a:r>
              <a:rPr lang="zh-CN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格式</a:t>
            </a:r>
            <a:endParaRPr lang="zh-CN" sz="12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1" name="文本框 520" descr="{&quot;isTemplate&quot;:true,&quot;type&quot;:&quot;text&quot;}"/>
          <p:cNvSpPr txBox="1"/>
          <p:nvPr/>
        </p:nvSpPr>
        <p:spPr>
          <a:xfrm>
            <a:off x="1143000" y="3219450"/>
            <a:ext cx="82581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f_mvc </a:t>
            </a:r>
            <a:r>
              <a:rPr lang="zh-CN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协议　·　</a:t>
            </a:r>
            <a:r>
              <a:rPr lang="en-US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f_orm </a:t>
            </a:r>
            <a:r>
              <a:rPr lang="zh-CN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数据库　·　</a:t>
            </a:r>
            <a:r>
              <a:rPr lang="en-US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f_security + f_jwt </a:t>
            </a:r>
            <a:r>
              <a:rPr lang="zh-CN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身份　·　</a:t>
            </a:r>
            <a:r>
              <a:rPr lang="en-US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f_ticktock </a:t>
            </a:r>
            <a:r>
              <a:rPr lang="zh-CN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定时　·　</a:t>
            </a:r>
            <a:r>
              <a:rPr lang="en-US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f_random </a:t>
            </a:r>
            <a:r>
              <a:rPr lang="zh-CN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随机　·　</a:t>
            </a:r>
            <a:r>
              <a:rPr lang="en-US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f_log </a:t>
            </a:r>
            <a:r>
              <a:rPr lang="zh-CN" sz="12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日志</a:t>
            </a:r>
            <a:endParaRPr lang="zh-CN" sz="12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2" name="文本框 521" descr="{&quot;isTemplate&quot;:true,&quot;type&quot;:&quot;text&quot;}"/>
          <p:cNvSpPr txBox="1"/>
          <p:nvPr/>
        </p:nvSpPr>
        <p:spPr>
          <a:xfrm>
            <a:off x="1143000" y="3581400"/>
            <a:ext cx="62103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f_cache · f_pool · f_collection · f_time · f_regex · f_rx · f_base · f_io —— </a:t>
            </a:r>
            <a:r>
              <a:rPr lang="zh-CN" sz="12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运行时底座</a:t>
            </a:r>
            <a:endParaRPr lang="zh-CN" sz="12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3" name="文本框 522" descr="{&quot;isTemplate&quot;:true,&quot;type&quot;:&quot;text&quot;}"/>
          <p:cNvSpPr txBox="1"/>
          <p:nvPr/>
        </p:nvSpPr>
        <p:spPr>
          <a:xfrm>
            <a:off x="1143000" y="4305300"/>
            <a:ext cx="49530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F59E0B"/>
                </a:solidFill>
                <a:latin typeface="JetBrains Mono"/>
                <a:ea typeface="JetBrains Mono"/>
              </a:rPr>
              <a:t>0</a:t>
            </a:r>
            <a:endParaRPr lang="en-US" sz="360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524" name="文本框 523" descr="{&quot;isTemplate&quot;:true,&quot;type&quot;:&quot;text&quot;}"/>
          <p:cNvSpPr txBox="1"/>
          <p:nvPr/>
        </p:nvSpPr>
        <p:spPr>
          <a:xfrm>
            <a:off x="1143000" y="493395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配置文件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5" name="文本框 524" descr="{&quot;isTemplate&quot;:true,&quot;type&quot;:&quot;text&quot;}"/>
          <p:cNvSpPr txBox="1"/>
          <p:nvPr/>
        </p:nvSpPr>
        <p:spPr>
          <a:xfrm>
            <a:off x="2171700" y="4305300"/>
            <a:ext cx="7429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F59E0B"/>
                </a:solidFill>
                <a:latin typeface="JetBrains Mono"/>
                <a:ea typeface="JetBrains Mono"/>
              </a:rPr>
              <a:t>0</a:t>
            </a:r>
            <a:endParaRPr lang="en-US" sz="360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526" name="文本框 525" descr="{&quot;isTemplate&quot;:true,&quot;type&quot;:&quot;text&quot;}"/>
          <p:cNvSpPr txBox="1"/>
          <p:nvPr/>
        </p:nvSpPr>
        <p:spPr>
          <a:xfrm>
            <a:off x="2171700" y="4933950"/>
            <a:ext cx="742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行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main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函数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7" name="文本框 526" descr="{&quot;isTemplate&quot;:true,&quot;type&quot;:&quot;text&quot;}"/>
          <p:cNvSpPr txBox="1"/>
          <p:nvPr/>
        </p:nvSpPr>
        <p:spPr>
          <a:xfrm>
            <a:off x="3448050" y="4305300"/>
            <a:ext cx="49530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38BDF8"/>
                </a:solidFill>
                <a:latin typeface="JetBrains Mono"/>
                <a:ea typeface="JetBrains Mono"/>
              </a:rPr>
              <a:t>4</a:t>
            </a:r>
            <a:endParaRPr lang="en-US" sz="36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528" name="文本框 527" descr="{&quot;isTemplate&quot;:true,&quot;type&quot;:&quot;text&quot;}"/>
          <p:cNvSpPr txBox="1"/>
          <p:nvPr/>
        </p:nvSpPr>
        <p:spPr>
          <a:xfrm>
            <a:off x="3448050" y="493395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个业务类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9" name="文本框 528" descr="{&quot;isTemplate&quot;:true,&quot;type&quot;:&quot;text&quot;}"/>
          <p:cNvSpPr txBox="1"/>
          <p:nvPr/>
        </p:nvSpPr>
        <p:spPr>
          <a:xfrm>
            <a:off x="4476750" y="4305300"/>
            <a:ext cx="809625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38BDF8"/>
                </a:solidFill>
                <a:latin typeface="JetBrains Mono"/>
                <a:ea typeface="JetBrains Mono"/>
              </a:rPr>
              <a:t>200</a:t>
            </a:r>
            <a:endParaRPr lang="en-US" sz="36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530" name="文本框 529" descr="{&quot;isTemplate&quot;:true,&quot;type&quot;:&quot;text&quot;}"/>
          <p:cNvSpPr txBox="1"/>
          <p:nvPr/>
        </p:nvSpPr>
        <p:spPr>
          <a:xfrm>
            <a:off x="4476750" y="4933950"/>
            <a:ext cx="8096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行业务代码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1" name="文本框 530" descr="{&quot;isTemplate&quot;:true,&quot;type&quot;:&quot;text&quot;}"/>
          <p:cNvSpPr txBox="1"/>
          <p:nvPr/>
        </p:nvSpPr>
        <p:spPr>
          <a:xfrm>
            <a:off x="1143000" y="5676900"/>
            <a:ext cx="46101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仓库与示例工程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fdemo ·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配套文档</a:t>
            </a:r>
            <a:r>
              <a:rPr lang="en-US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docs/speech.md · </a:t>
            </a:r>
            <a:r>
              <a:rPr lang="zh-CN" sz="112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三张速查表见附录</a:t>
            </a:r>
            <a:endParaRPr lang="zh-CN" sz="112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01" name="文本框 9001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6" name=""/>
          <p:cNvSpPr txBox="1"/>
          <p:nvPr/>
        </p:nvSpPr>
        <p:spPr>
          <a:xfrm rot="0" flipH="0" flipV="0">
            <a:off x="8458200" y="1619250"/>
            <a:ext cx="33528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16233A"/>
                </a:solidFill>
                <a:latin typeface="JetBrains Mono"/>
                <a:ea typeface="JetBrains Mono"/>
              </a:rPr>
              <a:t>END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1143000" y="142875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9" name=""/>
          <p:cNvSpPr txBox="1"/>
          <p:nvPr/>
        </p:nvSpPr>
        <p:spPr>
          <a:xfrm rot="0" flipH="0" flipV="0">
            <a:off x="1333500" y="1514475"/>
            <a:ext cx="3181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本讲小结</a:t>
            </a: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25 / 25</a:t>
            </a:r>
            <a:endParaRPr/>
          </a:p>
        </p:txBody>
      </p:sp>
      <p:sp>
        <p:nvSpPr>
          <p:cNvPr id="20" name=""/>
          <p:cNvSpPr txBox="1"/>
          <p:nvPr/>
        </p:nvSpPr>
        <p:spPr>
          <a:xfrm rot="0" flipH="0" flipV="0">
            <a:off x="1143000" y="2019300"/>
            <a:ext cx="2600325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速查表与收尾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1143000" y="272415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" name=""/>
          <p:cNvSpPr txBox="1"/>
          <p:nvPr/>
        </p:nvSpPr>
        <p:spPr>
          <a:xfrm rot="0" flipH="0" flipV="0">
            <a:off x="1143000" y="32004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命令速查：日常真正反复敲的那几条</a:t>
            </a:r>
            <a:endParaRPr/>
          </a:p>
        </p:txBody>
      </p:sp>
      <p:sp>
        <p:nvSpPr>
          <p:cNvPr id="23" name=""/>
          <p:cNvSpPr txBox="1"/>
          <p:nvPr/>
        </p:nvSpPr>
        <p:spPr>
          <a:xfrm rot="0" flipH="0" flipV="0">
            <a:off x="1143000" y="363855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配置速查：优先级、命令行写法、SM4、Config API、日志</a:t>
            </a:r>
            <a:endParaRPr/>
          </a:p>
        </p:txBody>
      </p:sp>
      <p:sp>
        <p:nvSpPr>
          <p:cNvPr id="24" name=""/>
          <p:cNvSpPr txBox="1"/>
          <p:nvPr/>
        </p:nvSpPr>
        <p:spPr>
          <a:xfrm rot="0" flipH="0" flipV="0">
            <a:off x="1143000" y="40767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关键 API 速查　·　全课程收束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1143000" y="4762500"/>
            <a:ext cx="38100" cy="381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6" name=""/>
          <p:cNvSpPr txBox="1"/>
          <p:nvPr/>
        </p:nvSpPr>
        <p:spPr>
          <a:xfrm rot="0" flipH="0" flipV="0">
            <a:off x="1371600" y="4857750"/>
            <a:ext cx="1057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全课程到此结束 —— 感谢观看</a:t>
            </a:r>
            <a:endParaRPr/>
          </a:p>
        </p:txBody>
      </p:sp>
      <p:sp>
        <p:nvSpPr>
          <p:cNvPr id="27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helloworld</cp:lastModifiedBy>
  <cp:revision>148</cp:revision>
  <dcterms:created xsi:type="dcterms:W3CDTF">2026-10-02T13:55:00Z</dcterms:created>
  <dcterms:modified xsi:type="dcterms:W3CDTF">2026-10-03T02:38:11Z</dcterms:modified>
</cp:coreProperties>
</file>