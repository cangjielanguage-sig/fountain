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Sl1"/>
    <p:sldId id="257" r:id="rIdSl2"/>
    <p:sldId id="258" r:id="rIdSl3"/>
    <p:sldId id="259" r:id="rIdSl4"/>
    <p:sldId id="260" r:id="rIdSl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22" Type="http://schemas.openxmlformats.org/officeDocument/2006/relationships/tableStyles" Target="tableStyles.xml"/><Relationship Id="rId121" Type="http://schemas.openxmlformats.org/officeDocument/2006/relationships/viewProps" Target="viewProps.xml"/><Relationship Id="rId1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Relationship Id="rIdSl5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这一讲是日志章节的主体。先过配置项全表——一类 appender 挂若干具名实例，实例各自配级别和格式。然后是三种写日志的方式：惰性 lambda、模板占位、异常写法，以及 pattern 里能用的占位符全表。最后是一条日志的旅程，这是全章最硬核的一节：业务线程只采集时间与线程 ID 然后入队，级别判断和渲染都在消费线程上。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这张表就是本节的全部，左边一列可以直接抄。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先看 appender 的挂载项：logger_appender_console、_file、_tcp、_udp、_unix、_unixDatagram，值都是你给这个 appender 起的名字，逗号分隔可以挂多个。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然后是每个实例自己的配置：_level 默认 INFO，取值有 OFF、</a:t>
            </a:r>
            <a:r>
              <a:rPr lang="en-US" altLang="zh-CN" dirty="0"/>
              <a:t>FATAL</a:t>
            </a:r>
            <a:r>
              <a:rPr lang="zh-CN" dirty="0"/>
              <a:t>、ERROR、WARN、INFO、DEBUG、TRACE、ALL；_pattern 是格式串，默认是「日志级别、减号、</a:t>
            </a:r>
            <a:r>
              <a:rPr lang="zh-CN" dirty="0">
                <a:sym typeface="+mn-ea"/>
              </a:rPr>
              <a:t>日志对象</a:t>
            </a:r>
            <a:r>
              <a:rPr lang="zh-CN" dirty="0"/>
              <a:t>名字」加大括号时间再竖线加消息。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file 专用的一批：_path 默认是工作目录下的 logs 目录加命令名点 log，目录会自动创建；_rotateDuration 默认 DAY，从纳秒到年，大小写不敏感，但别用亚秒级；_rotateSize 默认最大值，支持一百 k、一百 M、一 G 这种写法；_compressFormat 默认空，支持 Deflate 和 GZip，还可以带压缩级别；还有一个 _url，一个字符串替代上面这几个独立配置项，而且 url 里的参数优先。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tcp、udp 专用的有 _host、_port，tcp 和 unix 还有 _bufSize 发送缓冲，udp 和 unix 有 _sendTimeout 和 _writeTimeout。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最后五个是异步相关的：loggerAsyncBufsize 默认一千零二十四，它既是异步队列容量，也是缓冲区池的大小；loggerAsyncTimeout 默认 Duration.Max；loggerAsyncTimeoutPolicy 默认 discard，可选 discard、abort、alwaysWaiting；logger_asyncWaitTimeout 默认五毫秒，借不到缓冲区时等这么久，超时就丢弃本条并打印 EmptyPool。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写日志有三种写法，覆盖百分之九十九的场景。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拿 logger 就一行：LoggerFactory.getLogger 泛型传类名，名字就是完整限定名；也可以传一个字面量起任意名字。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写法一是惰性 lambda，最常用，推荐。关键在「惰性」：级别不够时这个 lambda 根本不会执行，所以里面的字符串拼接、toString、JSON 序列化全都省掉了。对比下面这个反例——字符串在调用点就拼好了，日志级别不符也白拼。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但要补一个准确的说明：级别判断发生在后台消费线程上，所以 log.debug 在 DEBUG 关掉时仍然会有一次入队，队列满时这一入队同样会等。也就是说「零成本」省的是渲染，不是排队本身。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写法二是模板占位。位置占位用两个大括号，按数组顺序填；具名占位用大括号加字段名，数据源可以是 @DataAssist 对象，也可以是 Map、ArrayList、TreeMap。底层就是第九章那个 TextTemplate，所以它能用 TextTemplate 的全部能力，比如时间格式化、路径取值。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具名形态还有个额外好处：字段会过一次 LoggerConfig 的 filter，天生就能做脱敏。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写法三是异常，把异常对象传进去，栈会一起写出去。有两种参数顺序：异常在前消息在后，或者消息在前异常在后。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右边是级别选择的建议和占位符全表。注意两个实用规则：结尾会自动加换行，pattern 里别自己写换行符；时间格式串用的是仓颉 DateTime 的格式，该大小写敏感就大小写敏感。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一条日志的旅程，这是全章最硬核的一节，但结论很简单：业务线程只入队，渲染与落盘都在专属线程。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第一级，业务线程。AbstractLogger 的 append 先采集时间戳和当前的线程 ID——注意这两个信息是「调用点」的，不是写出时的。然后把「广播给所有 appender」这个闭包投进队列。队列的 tag 是 LoggerAppenderFacade 加 logger 名字，容量就是 loggerAsyncBufsize。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第二级，facade 的消费线程。它取出闭包，遍历所有 appender，对每个 appender 再调一次 append。这里才做级别判断、才求值 lambda——所以消息字符串是在消费线程上拼出来的。然后 AsyncLogger 把 pattern 和消息渲染成字节，写进 SyncQueueOutputStream；遇到空字符结束符，这一条日志就是一个批次，提交到批次队列，再往 appender 自己的队列投一个闭包。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第三级，appender 的消费线程。把批次按顺序写进真正的输出流，终端或者文件，并 flush。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四个设计点值得单独讲。第一，两级异步、两级队列：facade 每个 logger 名字一条队列，appender 里 console 全局共享一条、file 按路径共享。所以线程数大约等于不同 logger 名字的个数加 appender 个数。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第二，空字符是批次边界。写日志就是往缓冲区塞字节，塞完写一个空字符，SyncQueueOutputStream 看到它就提交换缓冲区。这样一条日志在文件里不会被别的线程插进来切成两半。顺带一个小特性：这个空字符本身不会被写进文件。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第三，缓冲区是池化的，池空会丢日志。缓冲区池大小就是 loggerAsyncBufsize，默认一千零二十四。消费线程在渲染之前先从池里借一块缓冲，最多等 logger_asyncWaitTimeout，默认五毫秒，借不到就打印一行 EmptyPool 并丢掉本次写入。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第四，队列满了怎么办，由 timeout 加 policy 决定。而因为默认 timeout 是 Duration.Max，默认配置下「队列满」等于入队方一直等，policy 根本轮不到生效。所以想「宁可丢日志也别拖慢业务」就配十毫秒加 discard；想「日志一条不能少」就保持默认。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最后别忘了退出：facade 在 atExit 里注册了关闭动作，close 会先把队列排空再关流。这就是为什么 Ctrl-C 之后日志文件里不会缺最后几条。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这一讲四个要点：一，惰性 lambda 省的是渲染成本，不是排队成本；二，两级异步、两级队列，线程数约等于 logger 名字数加 appender 数；三，队列满时默认是「一直等」而不是丢日志，想丢要显式配 timeout 加 policy；四，%tid 在调用点采集、%tname 在写出时采集，排查问题请用 %tid。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5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/>
          <p:cNvSpPr txBox="1"/>
          <p:nvPr/>
        </p:nvSpPr>
        <p:spPr>
          <a:xfrm rot="0" flipH="0" flipV="0">
            <a:off x="-695325" y="1143000"/>
            <a:ext cx="12506325" cy="3657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19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43000" y="186690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"/>
          <p:cNvSpPr txBox="1"/>
          <p:nvPr/>
        </p:nvSpPr>
        <p:spPr>
          <a:xfrm rot="0" flipH="0" flipV="0">
            <a:off x="1333500" y="195262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19 / 25 · 课程分册</a:t>
            </a:r>
            <a:endParaRPr/>
          </a:p>
        </p:txBody>
      </p:sp>
      <p:sp>
        <p:nvSpPr>
          <p:cNvPr id="7" name=""/>
          <p:cNvSpPr txBox="1"/>
          <p:nvPr/>
        </p:nvSpPr>
        <p:spPr>
          <a:xfrm rot="0" flipH="0" flipV="0">
            <a:off x="1143000" y="2495550"/>
            <a:ext cx="2867025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日志配置与异步管道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1143000" y="33147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" name=""/>
          <p:cNvSpPr txBox="1"/>
          <p:nvPr/>
        </p:nvSpPr>
        <p:spPr>
          <a:xfrm rot="0" flipH="0" flipV="0">
            <a:off x="1143000" y="37719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配置项全表：一类 appender 挂若干具名实例</a:t>
            </a:r>
            <a:endParaRPr/>
          </a:p>
        </p:txBody>
      </p:sp>
      <p:sp>
        <p:nvSpPr>
          <p:cNvPr id="10" name=""/>
          <p:cNvSpPr txBox="1"/>
          <p:nvPr/>
        </p:nvSpPr>
        <p:spPr>
          <a:xfrm rot="0" flipH="0" flipV="0">
            <a:off x="1143000" y="41148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三种写法与占位符全表</a:t>
            </a:r>
            <a:endParaRPr/>
          </a:p>
        </p:txBody>
      </p:sp>
      <p:sp>
        <p:nvSpPr>
          <p:cNvPr id="11" name=""/>
          <p:cNvSpPr txBox="1"/>
          <p:nvPr/>
        </p:nvSpPr>
        <p:spPr>
          <a:xfrm rot="0" flipH="0" flipV="0">
            <a:off x="1143000" y="44577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一条日志的旅程：两级异步、两级队列</a:t>
            </a:r>
            <a:endParaRPr/>
          </a:p>
        </p:txBody>
      </p:sp>
      <p:sp>
        <p:nvSpPr>
          <p:cNvPr id="12" name=""/>
          <p:cNvSpPr txBox="1"/>
          <p:nvPr/>
        </p:nvSpPr>
        <p:spPr>
          <a:xfrm rot="0" flipH="0" flipV="0">
            <a:off x="1143000" y="50292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 19 讲 / 共 25 讲　·　原稿第 96–98 页 + 首尾两页　·　约 12.3 分钟</a:t>
            </a:r>
            <a:endParaRPr/>
          </a:p>
        </p:txBody>
      </p:sp>
      <p:sp>
        <p:nvSpPr>
          <p:cNvPr id="13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2" name="矩形 31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133" name="矩形 313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134" name="文本框 3133" descr="{&quot;isTemplate&quot;:true,&quot;type&quot;:&quot;text&quot;}"/>
          <p:cNvSpPr txBox="1"/>
          <p:nvPr/>
        </p:nvSpPr>
        <p:spPr>
          <a:xfrm>
            <a:off x="819150" y="304800"/>
            <a:ext cx="9477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f_log · 15.3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35" name="文本框 3134" descr="{&quot;isTemplate&quot;:true,&quot;type&quot;:&quot;text&quot;}"/>
          <p:cNvSpPr txBox="1"/>
          <p:nvPr/>
        </p:nvSpPr>
        <p:spPr>
          <a:xfrm>
            <a:off x="819150" y="514350"/>
            <a:ext cx="94773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配置项全表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36" name="文本框 3135" descr="{&quot;isTemplate&quot;:true,&quot;type&quot;:&quot;text&quot;}"/>
          <p:cNvSpPr txBox="1"/>
          <p:nvPr/>
        </p:nvSpPr>
        <p:spPr>
          <a:xfrm>
            <a:off x="10467975" y="590550"/>
            <a:ext cx="1114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左边一列可以直接抄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137" name="表格 3136"/>
          <p:cNvGraphicFramePr/>
          <p:nvPr/>
        </p:nvGraphicFramePr>
        <p:xfrm>
          <a:off x="609600" y="1143000"/>
          <a:ext cx="10972800" cy="4610100"/>
        </p:xfrm>
        <a:graphic>
          <a:graphicData uri="http://schemas.openxmlformats.org/drawingml/2006/table">
            <a:tbl>
              <a:tblPr/>
              <a:tblGrid>
                <a:gridCol w="3536716"/>
                <a:gridCol w="2733702"/>
                <a:gridCol w="4702382"/>
              </a:tblGrid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配置项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默认值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sz="900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41739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logger_appender_console / _file / _tcp / _udp / _unix / _unixDatagram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值 = 你起的 appender 名；逗号分隔可挂多个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logger_appender_【Name】_level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INFO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OFF / ERROR / WARN / INFO / DEBUG / TRACE / ALL（无 FATAL）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739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logger_appender_【Name】_pattern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[%level-%name] %d{yyyy/MM/dd,HH:mm:ss.SSS}|%m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见 15.4 占位符表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logger_appender_【Name】_path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${工作目录}/logs/${命令名}.log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file 专用；目录自动创建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logger_appender_【Name】_rotateDuration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DAY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file 专用；NANOSECOND…YEAR，别用亚秒级（见 15.6）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logger_appender_【Name】_rotateSize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Int64.Max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file 专用；支持 100k / 100M / 1G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logger_appender_【Name】_compressFormat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''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file 专用；Deflate / GZip，可带级别如 Deflate(9)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739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logger_appender_【Name】_url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file 专用；file://【路径】?rotateSize=..&amp;rotateDuration=..&amp;compressFormat=..（url 参数优先）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logger_appender_【Name】_host / _port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tcp / udp 专用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logger_appender_【Name】_bufSize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tcp / unix 专用（发送缓冲字节数）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logger_appender_【Name】_sendTimeout / _writeTimeout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udp / unix 专用（Duration 字符串）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loggerAsyncBufsize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1024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异步队列容量，同时也是缓冲区池的大小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loggerAsyncTimeout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Duration.Max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队列满时等待多久（超时后才轮到 policy 生效）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loggerAsyncTimeoutPolicy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discard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discard 丢这条 / abort 抛 LogException / alwaysWaiting 死等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83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logger_asyncWaitTimeout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5ms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0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借不到缓冲区时的等待时长；超时丢弃本条并打印 EmptyPool</a:t>
                      </a:r>
                      <a:endParaRPr sz="90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138" name="任意多边形 313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139" name="文本框 313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0" name="文本框 313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96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2" name="矩形 31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143" name="矩形 314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144" name="文本框 3143" descr="{&quot;isTemplate&quot;:true,&quot;type&quot;:&quot;text&quot;}"/>
          <p:cNvSpPr txBox="1"/>
          <p:nvPr/>
        </p:nvSpPr>
        <p:spPr>
          <a:xfrm>
            <a:off x="819150" y="304800"/>
            <a:ext cx="9725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f_log · 15.4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5" name="文本框 3144" descr="{&quot;isTemplate&quot;:true,&quot;type&quot;:&quot;text&quot;}"/>
          <p:cNvSpPr txBox="1"/>
          <p:nvPr/>
        </p:nvSpPr>
        <p:spPr>
          <a:xfrm>
            <a:off x="819150" y="514350"/>
            <a:ext cx="972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三种写法与占位符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6" name="文本框 3145" descr="{&quot;isTemplate&quot;:true,&quot;type&quot;:&quot;text&quot;}"/>
          <p:cNvSpPr txBox="1"/>
          <p:nvPr/>
        </p:nvSpPr>
        <p:spPr>
          <a:xfrm>
            <a:off x="10715625" y="5905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其实就只有三种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7" name="圆角矩形 3146"/>
          <p:cNvSpPr/>
          <p:nvPr/>
        </p:nvSpPr>
        <p:spPr>
          <a:xfrm>
            <a:off x="609600" y="1143000"/>
            <a:ext cx="5905500" cy="2628900"/>
          </a:xfrm>
          <a:prstGeom prst="roundRect">
            <a:avLst>
              <a:gd name="adj" fmla="val 4348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148" name="文本框 3147" descr="{&quot;isTemplate&quot;:true,&quot;type&quot;:&quot;text&quot;}"/>
          <p:cNvSpPr txBox="1"/>
          <p:nvPr/>
        </p:nvSpPr>
        <p:spPr>
          <a:xfrm>
            <a:off x="781050" y="1314450"/>
            <a:ext cx="5562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三种写法</a:t>
            </a:r>
            <a:endParaRPr lang="zh-CN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9" name="文本框 3148" descr="{&quot;isTemplate&quot;:true,&quot;type&quot;:&quot;text&quot;}"/>
          <p:cNvSpPr txBox="1"/>
          <p:nvPr/>
        </p:nvSpPr>
        <p:spPr>
          <a:xfrm>
            <a:off x="781050" y="1524000"/>
            <a:ext cx="556260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private static let log = LoggerFactory.getLogger&lt;UserServiceImpl&gt;() 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名字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=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完整限定名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3150" name="文本框 3149" descr="{&quot;isTemplate&quot;:true,&quot;type&quot;:&quot;text&quot;}"/>
          <p:cNvSpPr txBox="1"/>
          <p:nvPr/>
        </p:nvSpPr>
        <p:spPr>
          <a:xfrm>
            <a:off x="781050" y="1981200"/>
            <a:ext cx="556260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LoggerFactory.getLogger('my.business')                           //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名字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=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你写的字面量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3151" name="文本框 3150" descr="{&quot;isTemplate&quot;:true,&quot;type&quot;:&quot;text&quot;}"/>
          <p:cNvSpPr txBox="1"/>
          <p:nvPr/>
        </p:nvSpPr>
        <p:spPr>
          <a:xfrm>
            <a:off x="781050" y="2514600"/>
            <a:ext cx="5562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log.info{'start create user: ${name}'}      // ①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惰性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lambda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（推荐）：级别不够不求值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3152" name="文本框 3151" descr="{&quot;isTemplate&quot;:true,&quot;type&quot;:&quot;text&quot;}"/>
          <p:cNvSpPr txBox="1"/>
          <p:nvPr/>
        </p:nvSpPr>
        <p:spPr>
          <a:xfrm>
            <a:off x="781050" y="2743200"/>
            <a:ext cx="5562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log.debug('args = ' + expensive())          //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反例：拼字符串的成本跑不掉</a:t>
            </a:r>
            <a:endParaRPr lang="zh-CN" sz="900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3153" name="文本框 3152" descr="{&quot;isTemplate&quot;:true,&quot;type&quot;:&quot;text&quot;}"/>
          <p:cNvSpPr txBox="1"/>
          <p:nvPr/>
        </p:nvSpPr>
        <p:spPr>
          <a:xfrm>
            <a:off x="781050" y="3048000"/>
            <a:ext cx="5562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log.info('user {} login from {}', [name, ip])   // ②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位置占位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3154" name="文本框 3153" descr="{&quot;isTemplate&quot;:true,&quot;type&quot;:&quot;text&quot;}"/>
          <p:cNvSpPr txBox="1"/>
          <p:nvPr/>
        </p:nvSpPr>
        <p:spPr>
          <a:xfrm>
            <a:off x="781050" y="3276600"/>
            <a:ext cx="556260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log.info('user {name} is {age}', user)         // ②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具名占位（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@DataAssist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对象</a:t>
            </a: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/ Map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）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3155" name="文本框 3154" descr="{&quot;isTemplate&quot;:true,&quot;type&quot;:&quot;text&quot;}"/>
          <p:cNvSpPr txBox="1"/>
          <p:nvPr/>
        </p:nvSpPr>
        <p:spPr>
          <a:xfrm>
            <a:off x="781050" y="3810000"/>
            <a:ext cx="5562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log.error(e){'query user failed: ${id}'}     // ③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异常（栈会一起写出去）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3156" name="文本框 3155" descr="{&quot;isTemplate&quot;:true,&quot;type&quot;:&quot;text&quot;}"/>
          <p:cNvSpPr txBox="1"/>
          <p:nvPr/>
        </p:nvSpPr>
        <p:spPr>
          <a:xfrm>
            <a:off x="781050" y="4038600"/>
            <a:ext cx="5562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log.error('query user failed', e)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3157" name="圆角矩形 3156"/>
          <p:cNvSpPr/>
          <p:nvPr/>
        </p:nvSpPr>
        <p:spPr>
          <a:xfrm>
            <a:off x="609600" y="3886200"/>
            <a:ext cx="5905500" cy="2400300"/>
          </a:xfrm>
          <a:prstGeom prst="roundRect">
            <a:avLst>
              <a:gd name="adj" fmla="val 4762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158" name="文本框 3157" descr="{&quot;isTemplate&quot;:true,&quot;type&quot;:&quot;text&quot;}"/>
          <p:cNvSpPr txBox="1"/>
          <p:nvPr/>
        </p:nvSpPr>
        <p:spPr>
          <a:xfrm>
            <a:off x="781050" y="4057650"/>
            <a:ext cx="5562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该用哪个级别</a:t>
            </a:r>
            <a:endParaRPr lang="zh-CN" sz="10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59" name="文本框 3158" descr="{&quot;isTemplate&quot;:true,&quot;type&quot;:&quot;text&quot;}"/>
          <p:cNvSpPr txBox="1"/>
          <p:nvPr/>
        </p:nvSpPr>
        <p:spPr>
          <a:xfrm>
            <a:off x="781050" y="4295775"/>
            <a:ext cx="55626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trace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只在本地调疑难杂症时开　·　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debug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框架自己的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SQL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MVC.accessLog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info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业务关键节点（注册、下单、状态变更）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0" name="文本框 3159" descr="{&quot;isTemplate&quot;:true,&quot;type&quot;:&quot;text&quot;}"/>
          <p:cNvSpPr txBox="1"/>
          <p:nvPr/>
        </p:nvSpPr>
        <p:spPr>
          <a:xfrm>
            <a:off x="781050" y="4838700"/>
            <a:ext cx="55626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warn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可恢复的异常（重试、降级、参数被纠正）　·　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error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请求失败、依赖不可用（一定要带异常对象）　·　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fatal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进程级不可继续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1" name="文本框 3160" descr="{&quot;isTemplate&quot;:true,&quot;type&quot;:&quot;text&quot;}"/>
          <p:cNvSpPr txBox="1"/>
          <p:nvPr/>
        </p:nvSpPr>
        <p:spPr>
          <a:xfrm>
            <a:off x="781050" y="5629275"/>
            <a:ext cx="55626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六个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enabled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属性（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debugEnabled / infoEnabled…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）是给极端热路径做前置判断用的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在被调用次数极高的循环里能省掉那次入队。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2" name="圆角矩形 3161"/>
          <p:cNvSpPr/>
          <p:nvPr/>
        </p:nvSpPr>
        <p:spPr>
          <a:xfrm>
            <a:off x="6705600" y="1143000"/>
            <a:ext cx="4876800" cy="5143500"/>
          </a:xfrm>
          <a:prstGeom prst="roundRect">
            <a:avLst>
              <a:gd name="adj" fmla="val 2344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163" name="文本框 3162" descr="{&quot;isTemplate&quot;:true,&quot;type&quot;:&quot;text&quot;}"/>
          <p:cNvSpPr txBox="1"/>
          <p:nvPr/>
        </p:nvSpPr>
        <p:spPr>
          <a:xfrm>
            <a:off x="6877050" y="1314450"/>
            <a:ext cx="4533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占位符全表（</a:t>
            </a:r>
            <a:r>
              <a:rPr lang="en-US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pattern </a:t>
            </a: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里能写什么）</a:t>
            </a:r>
            <a:endParaRPr lang="zh-CN" sz="10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4" name="文本框 3163" descr="{&quot;isTemplate&quot;:true,&quot;type&quot;:&quot;text&quot;}"/>
          <p:cNvSpPr txBox="1"/>
          <p:nvPr/>
        </p:nvSpPr>
        <p:spPr>
          <a:xfrm>
            <a:off x="6877050" y="1571625"/>
            <a:ext cx="4533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%level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DEBUG / INFO / WARN / ERROR / FATAL / TRACE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（纯文本，无颜色）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5" name="文本框 3164" descr="{&quot;isTemplate&quot;:true,&quot;type&quot;:&quot;text&quot;}"/>
          <p:cNvSpPr txBox="1"/>
          <p:nvPr/>
        </p:nvSpPr>
        <p:spPr>
          <a:xfrm>
            <a:off x="6877050" y="1857375"/>
            <a:ext cx="4533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%name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logger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名字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—— getLogger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泛型时是完整限定名，排查问题的第一线索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6" name="文本框 3165" descr="{&quot;isTemplate&quot;:true,&quot;type&quot;:&quot;text&quot;}"/>
          <p:cNvSpPr txBox="1"/>
          <p:nvPr/>
        </p:nvSpPr>
        <p:spPr>
          <a:xfrm>
            <a:off x="6877050" y="2143125"/>
            <a:ext cx="4533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%m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消息正文（若带了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attrs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，会以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;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{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k:v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}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追加在消息后面）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7" name="文本框 3166" descr="{&quot;isTemplate&quot;:true,&quot;type&quot;:&quot;text&quot;}"/>
          <p:cNvSpPr txBox="1"/>
          <p:nvPr/>
        </p:nvSpPr>
        <p:spPr>
          <a:xfrm>
            <a:off x="6877050" y="2428875"/>
            <a:ext cx="4533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%d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加大括号写时间格式　时间（不带参数时默认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yyyy-MM-dd,HH:mm:ss.SSS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8" name="文本框 3167" descr="{&quot;isTemplate&quot;:true,&quot;type&quot;:&quot;text&quot;}"/>
          <p:cNvSpPr txBox="1"/>
          <p:nvPr/>
        </p:nvSpPr>
        <p:spPr>
          <a:xfrm>
            <a:off x="6877050" y="2714625"/>
            <a:ext cx="4533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%tid</a:t>
            </a:r>
            <a:r>
              <a:rPr lang="zh-CN" sz="9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　线程</a:t>
            </a:r>
            <a:r>
              <a:rPr lang="en-US" sz="9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ID —— </a:t>
            </a:r>
            <a:r>
              <a:rPr lang="zh-CN" sz="9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在调用点采集（记录日志的那个线程）</a:t>
            </a:r>
            <a:endParaRPr lang="zh-CN" sz="900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9" name="文本框 3168" descr="{&quot;isTemplate&quot;:true,&quot;type&quot;:&quot;text&quot;}"/>
          <p:cNvSpPr txBox="1"/>
          <p:nvPr/>
        </p:nvSpPr>
        <p:spPr>
          <a:xfrm>
            <a:off x="6877050" y="3000375"/>
            <a:ext cx="4533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%tname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　线程名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在写出时采集（消费线程）；排查问题请用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%tid</a:t>
            </a:r>
            <a:endParaRPr lang="en-US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0" name="文本框 3169" descr="{&quot;isTemplate&quot;:true,&quot;type&quot;:&quot;text&quot;}"/>
          <p:cNvSpPr txBox="1"/>
          <p:nvPr/>
        </p:nvSpPr>
        <p:spPr>
          <a:xfrm>
            <a:off x="6877050" y="3286125"/>
            <a:ext cx="4533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%pid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进程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ID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（多副本部署时用来对号）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1" name="文本框 3170" descr="{&quot;isTemplate&quot;:true,&quot;type&quot;:&quot;text&quot;}"/>
          <p:cNvSpPr txBox="1"/>
          <p:nvPr/>
        </p:nvSpPr>
        <p:spPr>
          <a:xfrm>
            <a:off x="6877050" y="3571875"/>
            <a:ext cx="45339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%app / %appver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应用名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应用版本（来自应用自己的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cjpm.toml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，由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fboot build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注入）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2" name="文本框 3171" descr="{&quot;isTemplate&quot;:true,&quot;type&quot;:&quot;text&quot;}"/>
          <p:cNvSpPr txBox="1"/>
          <p:nvPr/>
        </p:nvSpPr>
        <p:spPr>
          <a:xfrm>
            <a:off x="6877050" y="4086225"/>
            <a:ext cx="4533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%fver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fountain(1.3.7)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框架版本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3" name="文本框 3172" descr="{&quot;isTemplate&quot;:true,&quot;type&quot;:&quot;text&quot;}"/>
          <p:cNvSpPr txBox="1"/>
          <p:nvPr/>
        </p:nvSpPr>
        <p:spPr>
          <a:xfrm>
            <a:off x="6877050" y="4371975"/>
            <a:ext cx="45339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其它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%x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原样输出（不认识的占位符不会报错）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4" name="文本框 3173" descr="{&quot;isTemplate&quot;:true,&quot;type&quot;:&quot;text&quot;}"/>
          <p:cNvSpPr txBox="1"/>
          <p:nvPr/>
        </p:nvSpPr>
        <p:spPr>
          <a:xfrm>
            <a:off x="6877050" y="5648325"/>
            <a:ext cx="4533900" cy="466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两条实用规则：结尾会自动加换行，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pattern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里别自己写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
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%d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里用的是仓颉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DateTime.format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的格式串，大小写敏感。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5" name="任意多边形 317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176" name="文本框 317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7" name="文本框 317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97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9" name="矩形 317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3180" name="矩形 317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3181" name="文本框 3180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15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f_log · 15.5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2" name="文本框 3181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一条日志的旅程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3" name="文本框 3182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全章最硬核的一节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4" name="圆角矩形 3183"/>
          <p:cNvSpPr/>
          <p:nvPr/>
        </p:nvSpPr>
        <p:spPr>
          <a:xfrm>
            <a:off x="609600" y="114300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3185" name="文本框 3184" descr="{&quot;isTemplate&quot;:true,&quot;type&quot;:&quot;text&quot;}"/>
          <p:cNvSpPr txBox="1"/>
          <p:nvPr/>
        </p:nvSpPr>
        <p:spPr>
          <a:xfrm>
            <a:off x="742950" y="1276350"/>
            <a:ext cx="876300" cy="457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业务线程</a:t>
            </a:r>
            <a:endParaRPr lang="zh-CN" sz="10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6" name="文本框 3185" descr="{&quot;isTemplate&quot;:true,&quot;type&quot;:&quot;text&quot;}"/>
          <p:cNvSpPr txBox="1"/>
          <p:nvPr/>
        </p:nvSpPr>
        <p:spPr>
          <a:xfrm>
            <a:off x="1733550" y="1276350"/>
            <a:ext cx="971550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先采集时间戳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DateTime.now()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%tid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（此刻的线程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ID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）——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时间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线程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ID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是「调用点」的；然后把「广播给所有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appender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」这个闭包投进队列（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tag = f_log.LoggerAppenderFacade_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【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logger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名字】）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7" name="圆角矩形 3186"/>
          <p:cNvSpPr/>
          <p:nvPr/>
        </p:nvSpPr>
        <p:spPr>
          <a:xfrm>
            <a:off x="609600" y="196215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3188" name="文本框 3187" descr="{&quot;isTemplate&quot;:true,&quot;type&quot;:&quot;text&quot;}"/>
          <p:cNvSpPr txBox="1"/>
          <p:nvPr/>
        </p:nvSpPr>
        <p:spPr>
          <a:xfrm>
            <a:off x="742950" y="2095500"/>
            <a:ext cx="87630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② facade </a:t>
            </a:r>
            <a:r>
              <a:rPr lang="zh-CN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消费线程</a:t>
            </a:r>
            <a:endParaRPr lang="zh-CN" sz="10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9" name="文本框 3188" descr="{&quot;isTemplate&quot;:true,&quot;type&quot;:&quot;text&quot;}"/>
          <p:cNvSpPr txBox="1"/>
          <p:nvPr/>
        </p:nvSpPr>
        <p:spPr>
          <a:xfrm>
            <a:off x="1733550" y="2095500"/>
            <a:ext cx="971550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取出闭包，遍历所有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appender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，对每个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appender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再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append(level, message, now, tid, ex)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。这里才做级别判断、才求值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lambda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（所以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message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字符串是在消费线程上拼出来的）→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AsyncLogger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pattern +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消息渲染成字节写进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SyncQueueOutputStream →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遇到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\0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结束符即一个批次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往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appender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自己的队列投闭包（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tag = console://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file:///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【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path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】）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0" name="圆角矩形 3189"/>
          <p:cNvSpPr/>
          <p:nvPr/>
        </p:nvSpPr>
        <p:spPr>
          <a:xfrm>
            <a:off x="609600" y="2781300"/>
            <a:ext cx="10972800" cy="590550"/>
          </a:xfrm>
          <a:prstGeom prst="roundRect">
            <a:avLst>
              <a:gd name="adj" fmla="val 16129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3191" name="文本框 3190" descr="{&quot;isTemplate&quot;:true,&quot;type&quot;:&quot;text&quot;}"/>
          <p:cNvSpPr txBox="1"/>
          <p:nvPr/>
        </p:nvSpPr>
        <p:spPr>
          <a:xfrm>
            <a:off x="742950" y="2914650"/>
            <a:ext cx="876300" cy="323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③ appender </a:t>
            </a:r>
            <a:r>
              <a:rPr lang="zh-CN" sz="105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消费线程</a:t>
            </a:r>
            <a:endParaRPr lang="zh-CN" sz="105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2" name="文本框 3191" descr="{&quot;isTemplate&quot;:true,&quot;type&quot;:&quot;text&quot;}"/>
          <p:cNvSpPr txBox="1"/>
          <p:nvPr/>
        </p:nvSpPr>
        <p:spPr>
          <a:xfrm>
            <a:off x="1733550" y="2914650"/>
            <a:ext cx="97155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把批次按顺序写进真正的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OutputStream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（终端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文件），并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flush</a:t>
            </a:r>
            <a:endParaRPr lang="en-US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3" name="圆角矩形 3192"/>
          <p:cNvSpPr/>
          <p:nvPr/>
        </p:nvSpPr>
        <p:spPr>
          <a:xfrm>
            <a:off x="609600" y="3771900"/>
            <a:ext cx="2647950" cy="2514600"/>
          </a:xfrm>
          <a:prstGeom prst="roundRect">
            <a:avLst>
              <a:gd name="adj" fmla="val 4545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194" name="文本框 3193" descr="{&quot;isTemplate&quot;:true,&quot;type&quot;:&quot;text&quot;}"/>
          <p:cNvSpPr txBox="1"/>
          <p:nvPr/>
        </p:nvSpPr>
        <p:spPr>
          <a:xfrm>
            <a:off x="762000" y="3924300"/>
            <a:ext cx="2343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两级异步，两级队列</a:t>
            </a:r>
            <a:endParaRPr lang="zh-CN" sz="10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5" name="文本框 3194" descr="{&quot;isTemplate&quot;:true,&quot;type&quot;:&quot;text&quot;}"/>
          <p:cNvSpPr txBox="1"/>
          <p:nvPr/>
        </p:nvSpPr>
        <p:spPr>
          <a:xfrm>
            <a:off x="762000" y="4162425"/>
            <a:ext cx="234315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facade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一条队列（每个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logger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名字一条）；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appender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一条队列（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console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全局共享；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file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按路径共享）。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6" name="文本框 3195" descr="{&quot;isTemplate&quot;:true,&quot;type&quot;:&quot;text&quot;}"/>
          <p:cNvSpPr txBox="1"/>
          <p:nvPr/>
        </p:nvSpPr>
        <p:spPr>
          <a:xfrm>
            <a:off x="762000" y="5667375"/>
            <a:ext cx="23431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线程数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≈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不同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logger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名字的个数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+ appender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个数。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7" name="圆角矩形 3196"/>
          <p:cNvSpPr/>
          <p:nvPr/>
        </p:nvSpPr>
        <p:spPr>
          <a:xfrm>
            <a:off x="3390900" y="3771900"/>
            <a:ext cx="2638425" cy="2514600"/>
          </a:xfrm>
          <a:prstGeom prst="roundRect">
            <a:avLst>
              <a:gd name="adj" fmla="val 4545"/>
            </a:avLst>
          </a:prstGeom>
          <a:solidFill>
            <a:srgbClr val="111C2E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3198" name="文本框 3197" descr="{&quot;isTemplate&quot;:true,&quot;type&quot;:&quot;text&quot;}"/>
          <p:cNvSpPr txBox="1"/>
          <p:nvPr/>
        </p:nvSpPr>
        <p:spPr>
          <a:xfrm>
            <a:off x="3543300" y="3924300"/>
            <a:ext cx="2333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空字符是批次边界</a:t>
            </a:r>
            <a:endParaRPr lang="zh-CN" sz="10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9" name="文本框 3198" descr="{&quot;isTemplate&quot;:true,&quot;type&quot;:&quot;text&quot;}"/>
          <p:cNvSpPr txBox="1"/>
          <p:nvPr/>
        </p:nvSpPr>
        <p:spPr>
          <a:xfrm>
            <a:off x="3543300" y="4162425"/>
            <a:ext cx="2333625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塞完字节写一个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\0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SyncQueueOutputStream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看到就整块提交换缓冲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一条日志在文件里不会被别的线程切成两半。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\0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本身不会写进文件。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0" name="圆角矩形 3199"/>
          <p:cNvSpPr/>
          <p:nvPr/>
        </p:nvSpPr>
        <p:spPr>
          <a:xfrm>
            <a:off x="6162675" y="3771900"/>
            <a:ext cx="2647950" cy="2514600"/>
          </a:xfrm>
          <a:prstGeom prst="roundRect">
            <a:avLst>
              <a:gd name="adj" fmla="val 4545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201" name="文本框 3200" descr="{&quot;isTemplate&quot;:true,&quot;type&quot;:&quot;text&quot;}"/>
          <p:cNvSpPr txBox="1"/>
          <p:nvPr/>
        </p:nvSpPr>
        <p:spPr>
          <a:xfrm>
            <a:off x="6315075" y="3924300"/>
            <a:ext cx="2343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缓冲区池化，池空丢日志</a:t>
            </a:r>
            <a:endParaRPr lang="zh-CN" sz="10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2" name="文本框 3201" descr="{&quot;isTemplate&quot;:true,&quot;type&quot;:&quot;text&quot;}"/>
          <p:cNvSpPr txBox="1"/>
          <p:nvPr/>
        </p:nvSpPr>
        <p:spPr>
          <a:xfrm>
            <a:off x="6315075" y="4162425"/>
            <a:ext cx="234315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池大小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= loggerAsyncBufsize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（默认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1024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）。借用最多等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logger_asyncWaitTimeout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（默认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5ms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），借不到就打印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EmptyPool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并丢掉本次写入。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3" name="圆角矩形 3202"/>
          <p:cNvSpPr/>
          <p:nvPr/>
        </p:nvSpPr>
        <p:spPr>
          <a:xfrm>
            <a:off x="8943975" y="3771900"/>
            <a:ext cx="2638425" cy="2514600"/>
          </a:xfrm>
          <a:prstGeom prst="roundRect">
            <a:avLst>
              <a:gd name="adj" fmla="val 4545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204" name="文本框 3203" descr="{&quot;isTemplate&quot;:true,&quot;type&quot;:&quot;text&quot;}"/>
          <p:cNvSpPr txBox="1"/>
          <p:nvPr/>
        </p:nvSpPr>
        <p:spPr>
          <a:xfrm>
            <a:off x="9096375" y="3924300"/>
            <a:ext cx="2333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队列满了怎么办</a:t>
            </a:r>
            <a:endParaRPr lang="zh-CN" sz="10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5" name="文本框 3204" descr="{&quot;isTemplate&quot;:true,&quot;type&quot;:&quot;text&quot;}"/>
          <p:cNvSpPr txBox="1"/>
          <p:nvPr/>
        </p:nvSpPr>
        <p:spPr>
          <a:xfrm>
            <a:off x="9096375" y="4162425"/>
            <a:ext cx="2333625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默认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timeout = Duration.Max →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入队方一直等，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policy 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轮不到生效。想丢：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10ms + discard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；想一条不落：保持默认或写</a:t>
            </a:r>
            <a:r>
              <a:rPr lang="en-US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alwaysWaiting</a:t>
            </a:r>
            <a:r>
              <a:rPr lang="zh-CN" sz="9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0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6" name="文本框 3205" descr="{&quot;isTemplate&quot;:true,&quot;type&quot;:&quot;text&quot;}"/>
          <p:cNvSpPr txBox="1"/>
          <p:nvPr/>
        </p:nvSpPr>
        <p:spPr>
          <a:xfrm>
            <a:off x="9096375" y="5667375"/>
            <a:ext cx="233362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atExit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close()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会先排空队列再关流</a:t>
            </a:r>
            <a:r>
              <a:rPr lang="en-US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Ctrl-C </a:t>
            </a:r>
            <a:r>
              <a:rPr lang="zh-CN"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之后日志不会缺最后几条。</a:t>
            </a:r>
            <a:endParaRPr lang="zh-CN"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7" name="任意多边形 320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3208" name="文本框 320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9" name="文本框 320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98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" name=""/>
          <p:cNvSpPr txBox="1"/>
          <p:nvPr/>
        </p:nvSpPr>
        <p:spPr>
          <a:xfrm rot="0" flipH="0" flipV="0">
            <a:off x="8458200" y="1619250"/>
            <a:ext cx="33528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6233A"/>
                </a:solidFill>
                <a:latin typeface="JetBrains Mono"/>
                <a:ea typeface="JetBrains Mono"/>
              </a:rPr>
              <a:t>END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1143000" y="142875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" name=""/>
          <p:cNvSpPr txBox="1"/>
          <p:nvPr/>
        </p:nvSpPr>
        <p:spPr>
          <a:xfrm rot="0" flipH="0" flipV="0">
            <a:off x="1333500" y="1514475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本讲小结</a:t>
            </a: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19 / 25</a:t>
            </a:r>
            <a:endParaRPr/>
          </a:p>
        </p:txBody>
      </p:sp>
      <p:sp>
        <p:nvSpPr>
          <p:cNvPr id="20" name=""/>
          <p:cNvSpPr txBox="1"/>
          <p:nvPr/>
        </p:nvSpPr>
        <p:spPr>
          <a:xfrm rot="0" flipH="0" flipV="0">
            <a:off x="1143000" y="2019300"/>
            <a:ext cx="2600325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日志配置与异步管道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143000" y="27241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" name=""/>
          <p:cNvSpPr txBox="1"/>
          <p:nvPr/>
        </p:nvSpPr>
        <p:spPr>
          <a:xfrm rot="0" flipH="0" flipV="0">
            <a:off x="1143000" y="32004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配置项全表：一类 appender 挂若干具名实例</a:t>
            </a:r>
            <a:endParaRPr/>
          </a:p>
        </p:txBody>
      </p:sp>
      <p:sp>
        <p:nvSpPr>
          <p:cNvPr id="23" name=""/>
          <p:cNvSpPr txBox="1"/>
          <p:nvPr/>
        </p:nvSpPr>
        <p:spPr>
          <a:xfrm rot="0" flipH="0" flipV="0">
            <a:off x="1143000" y="363855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三种写法与占位符全表</a:t>
            </a:r>
            <a:endParaRPr/>
          </a:p>
        </p:txBody>
      </p:sp>
      <p:sp>
        <p:nvSpPr>
          <p:cNvPr id="24" name=""/>
          <p:cNvSpPr txBox="1"/>
          <p:nvPr/>
        </p:nvSpPr>
        <p:spPr>
          <a:xfrm rot="0" flipH="0" flipV="0">
            <a:off x="1143000" y="40767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一条日志的旅程：两级异步、两级队列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3000" y="4762500"/>
            <a:ext cx="38100" cy="381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" name=""/>
          <p:cNvSpPr txBox="1"/>
          <p:nvPr/>
        </p:nvSpPr>
        <p:spPr>
          <a:xfrm rot="0" flipH="0" flipV="0">
            <a:off x="1371600" y="4857750"/>
            <a:ext cx="1057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下一讲：日志运维与速查</a:t>
            </a:r>
            <a:endParaRPr/>
          </a:p>
        </p:txBody>
      </p:sp>
      <p:sp>
        <p:nvSpPr>
          <p:cNvPr id="27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helloworld</cp:lastModifiedBy>
  <cp:revision>148</cp:revision>
  <dcterms:created xsi:type="dcterms:W3CDTF">2026-10-02T13:55:00Z</dcterms:created>
  <dcterms:modified xsi:type="dcterms:W3CDTF">2026-10-03T02:38:11Z</dcterms:modified>
</cp:coreProperties>
</file>