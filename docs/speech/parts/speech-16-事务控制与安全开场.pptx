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Sl1"/>
    <p:sldId id="257" r:id="rIdSl2"/>
    <p:sldId id="258" r:id="rIdSl3"/>
    <p:sldId id="259" r:id="rIdSl4"/>
    <p:sldId id="260" r:id="rIdSl5"/>
    <p:sldId id="261" r:id="rIdSl6"/>
    <p:sldId id="262" r:id="rIdSl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22" Type="http://schemas.openxmlformats.org/officeDocument/2006/relationships/tableStyles" Target="tableStyles.xml"/><Relationship Id="rId121" Type="http://schemas.openxmlformats.org/officeDocument/2006/relationships/viewProps" Target="viewProps.xml"/><Relationship Id="rId1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Sl1" Type="http://schemas.openxmlformats.org/officeDocument/2006/relationships/slide" Target="slides/slide1.xml"/><Relationship Id="rIdSl2" Type="http://schemas.openxmlformats.org/officeDocument/2006/relationships/slide" Target="slides/slide2.xml"/><Relationship Id="rIdSl3" Type="http://schemas.openxmlformats.org/officeDocument/2006/relationships/slide" Target="slides/slide3.xml"/><Relationship Id="rIdSl4" Type="http://schemas.openxmlformats.org/officeDocument/2006/relationships/slide" Target="slides/slide4.xml"/><Relationship Id="rIdSl5" Type="http://schemas.openxmlformats.org/officeDocument/2006/relationships/slide" Target="slides/slide5.xml"/><Relationship Id="rIdSl6" Type="http://schemas.openxmlformats.org/officeDocument/2006/relationships/slide" Target="slides/slide6.xml"/><Relationship Id="rIdSl7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这一讲是 ORM 最重的部分。先说事务的三种开启方式——注解、配置驱动、编程式，注解与配置是或的关系；再讲七种传播行为的语义；然后是七种事务钩子的调用顺序，五种场景我做成表格逐个对。接着讲清楚为什么同一线程共用连接，以及 ORM 的八个常见坑。最后开始第十三章，讲登录状态检查的第一步。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事务控制是本章重点。这一页讲三种开启方式。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方式一是注解，@Transactional。看右边：注解里可以指定 propagation 和 rollbackFor。注解参数一共七个：driverName、propagation、isoLevel、accessMode、deferrableMode、rollbackFor、noRollbackFor。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这里要精确说清楚 rollbackFor 和 noRollbackFor 的语义：rollbackFor 是「发生了它指定的异常才会回滚」；noRollbackFor 是「只有发生了这个参数指定的异常才不回滚」——也就是其他异常照常回滚。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方式二是配置驱动，适合批量织入，不需要逐个加注解。看右边那五行，把 orm_transactionalFuncExecution 一段段拼起来，每段是一个 ExecutionRouteRule。fdemo 里把删除、插入、保存、注册开头的函数，以及名为 userSession 的函数全织入了事务切面。这是很实用的团队规范落地方式——按方法名前缀约定统一开事务。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这两条是或的关系：注解命中和配置命中，只要有一个成立，事务切面就会织入。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方式三是编程式，用 </a:t>
            </a:r>
            <a:r>
              <a:rPr lang="en-US" altLang="zh-CN" dirty="0"/>
              <a:t>SqlExecutor</a:t>
            </a:r>
            <a:r>
              <a:rPr lang="zh-CN" dirty="0"/>
              <a:t>的 execute 模板。它接收传播行为和回滚规则，然后一个闭包，闭包返回一个二元组：结果和布尔值。true 提交，false 抛异常并回滚。</a:t>
            </a:r>
            <a:endParaRPr lang="zh-CN" dirty="0"/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事务传播行为一共七种，逐个说。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Required，有事务就沿用，没有就新建——这是默认值，也是最常用的。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Supports，有就沿用，没有就不用事务。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Mandatory，有就沿用，没有就抛 MandatoryTransactionException——它表示「这个方法必须在一个已有事务里被调用」。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RequiresNew，外层有事务则新取一个连接开新事务。注意是「新取连接」，不是嵌套，所以它能独立提交或回滚。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Never，不用事务，如果外层有事务就抛 NeverTransactionException。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NotSupported，不用事务，外层有事务的话新取连接执行——也就是把当前操作从事务里摘出去。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Nested，外层有事务则开内嵌事务。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这七种和 Spring 的语义基本一致，学过 Spring 的话可以直接迁移。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除了传播行为，默认的传播行为、隔离级别、读写模式都可以用环境变量全局配置：orm_transactionPropagation、orm_transactionLevel、orm_transactionAccessMode，还有全局的 rollbackFor 和 noRollbackFor。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所以团队规范可以这样落地：全局配好默认值，个别方法用注解覆盖。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可以实现</a:t>
            </a:r>
            <a:r>
              <a:rPr lang="en-US" altLang="zh-CN" dirty="0"/>
              <a:t>TransactionHook</a:t>
            </a:r>
            <a:r>
              <a:rPr lang="zh-CN" dirty="0"/>
              <a:t>定义事务钩子，在事务的各个阶段执行相应的函数。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TransactionHook 接口有八个方法：beforeTx 在事务开始前；</a:t>
            </a:r>
            <a:r>
              <a:rPr lang="en-US" altLang="zh-CN" dirty="0"/>
              <a:t>inTx</a:t>
            </a:r>
            <a:r>
              <a:rPr lang="zh-CN" altLang="en-US" dirty="0"/>
              <a:t>在事务开始时</a:t>
            </a:r>
            <a:r>
              <a:rPr lang="zh-CN" dirty="0"/>
              <a:t>；beforeCommit 在提交前，参数是「是否只读」；afterCommit 在提交后；afterThrowing 在抛异常时；beforeRollback 在回滚前，参数是异常；afterRollback 在回滚后；afterComplete 在事务完成时，参数是事务状态。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注册方式是 ORM 的 registerTransactionHook，或者 registerTransactionHooks 从 lookupList 批量取。多个钩子的执行顺序由 order 属性决定，升序。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然后是五种场景的顺序，这张表建议做成动画或者表格。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正常提交：beforeTx、beforeCommit、提交、afterCommit、afterComplete。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一般异常：afterThrowing、beforeRollback、回滚、afterRollback、afterComplete。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命中 noRollbackFor：afterThrowing、beforeCommit、然后提交、afterCommit、afterComplete，最后重抛异常。注意它是「提交之后重抛」。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命中 rollbackFor：afterThrowing、beforeRollback、回滚、afterRollback、afterComplete，然后重抛。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第五种情况最容易忽略：配了 rollbackFor 但异常类型不匹配，行为和 noRollbackFor 一样——提交后重抛。</a:t>
            </a:r>
            <a:endParaRPr lang="zh-CN" dirty="0"/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为什么同一线程共用连接，以及 ORM 的八个常见坑。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先说原理。SqlExecutor 缓存在 ThreadLocal 里，是一个「驱动名到 SqlExecutor」的 Map。所以同一线程内一次事务的多次数据库访问，用的是同一个连接——这是事务能成立的根本。事务未开启时，执行完就 close 释放连接；事务中则由 commit 或 rollback 收尾时统一处理。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理解这一点，很多行为就说得通了：为什么不能把 SqlExecutor 存成字段，为什么同一个 executor 上不允许并发。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然后是八个坑。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第一，一个 DAO 函数只执行一个 SQL，或者一次分页查询。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第二，每次调用 DAO 都必须从 executor() 开始。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第三，同一模块内 DAO 函数名不能重名。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第四，同一个 SqlExecutor 上不允许并发：上一次查询结果未关闭时再执行会抛异常，错误信息是 cannot execute SQL while a previous query result is still active。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第五，结果缓存默认开启，写操作后会清空缓存。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第六，@DataAssist 必须在 @QueryMappersGenerator 之前。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第七，tableColumns 的属性名是数据库表的列名，不是映射类的成员名——是 save_time 不是 saveTime。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第八，page 系列函数要求 SQL 以 select 开头，否则抛异常。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第十三章安全和 JWT。登录状态检查怎么做，三步。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第一步，实现 AuthHandler 并注册为 bean。看右边这段代码：类上加 @Bean，实现 check 方法，参数是 AuthParam，返回 AuthStatus。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逻辑是：如果这个接口标了忽略鉴权，就直接 OK；否则调 UserSessionCache 点 verify，通过了也是 OK；不通过就返回 InvalidSession，带 401 状态码和一段 JSON 响应体。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AuthParam 提供了五样东西：ctx 是当前 HttpContext；path 是「controller 定义的映射路径」，注意不是请求路径，所以路径参数是不展开的；args 是参数；还有 ignoreAuth 和 ignorePrivilege 两个标志。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AuthStatus 是一个枚举，六个值决定 MVC 怎么响应：OK 是通过；SessionNotFound 是没找到登录状态，也就是未登录或者已过期；InvalidSession 是找到了但本次传入的登录信息无效；SessionError 是检查登录状态时出错；PrivilegeError 是检查权限时出错；NoPrivilege 是没有权限。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注意后五个都带状态码和响应体两个参数。不带 HttpStatus 的构造器表示状态码 200；带的话就用你指定的状态码。响应体那个 Any 实际支持五种类型。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这一讲四个要点：一，注解与 orm_transactionalFuncExecution 配置是或关系，命中一个就织入事务；二、rollbackFor 是「发生它才回滚」，noRollbackFor 是「只有发生它才不回滚」，别记混；三，SqlExecutor 缓存在 ThreadLocal 里，这是事务能成立的根本；四，同一个 SqlExecutor 上不允许并发。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7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slide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" name=""/>
          <p:cNvSpPr txBox="1"/>
          <p:nvPr/>
        </p:nvSpPr>
        <p:spPr>
          <a:xfrm rot="0" flipH="0" flipV="0">
            <a:off x="-695325" y="1143000"/>
            <a:ext cx="12506325" cy="3657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16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1143000" y="186690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"/>
          <p:cNvSpPr txBox="1"/>
          <p:nvPr/>
        </p:nvSpPr>
        <p:spPr>
          <a:xfrm rot="0" flipH="0" flipV="0">
            <a:off x="1333500" y="1952625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16 / 25 · 课程分册</a:t>
            </a:r>
            <a:endParaRPr/>
          </a:p>
        </p:txBody>
      </p:sp>
      <p:sp>
        <p:nvSpPr>
          <p:cNvPr id="7" name=""/>
          <p:cNvSpPr txBox="1"/>
          <p:nvPr/>
        </p:nvSpPr>
        <p:spPr>
          <a:xfrm rot="0" flipH="0" flipV="0">
            <a:off x="1143000" y="2495550"/>
            <a:ext cx="2867025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事务控制与安全开场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1143000" y="33147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" name=""/>
          <p:cNvSpPr txBox="1"/>
          <p:nvPr/>
        </p:nvSpPr>
        <p:spPr>
          <a:xfrm rot="0" flipH="0" flipV="0">
            <a:off x="1143000" y="37719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事务的三种开启方式与七种传播行为</a:t>
            </a:r>
            <a:endParaRPr/>
          </a:p>
        </p:txBody>
      </p:sp>
      <p:sp>
        <p:nvSpPr>
          <p:cNvPr id="10" name=""/>
          <p:cNvSpPr txBox="1"/>
          <p:nvPr/>
        </p:nvSpPr>
        <p:spPr>
          <a:xfrm rot="0" flipH="0" flipV="0">
            <a:off x="1143000" y="41148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事务钩子的调用顺序　·　为什么同一线程共用连接</a:t>
            </a:r>
            <a:endParaRPr/>
          </a:p>
        </p:txBody>
      </p:sp>
      <p:sp>
        <p:nvSpPr>
          <p:cNvPr id="11" name=""/>
          <p:cNvSpPr txBox="1"/>
          <p:nvPr/>
        </p:nvSpPr>
        <p:spPr>
          <a:xfrm rot="0" flipH="0" flipV="0">
            <a:off x="1143000" y="44577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ORM 的八个常见坑　·　登录状态检查怎么做</a:t>
            </a:r>
            <a:endParaRPr/>
          </a:p>
        </p:txBody>
      </p:sp>
      <p:sp>
        <p:nvSpPr>
          <p:cNvPr id="12" name=""/>
          <p:cNvSpPr txBox="1"/>
          <p:nvPr/>
        </p:nvSpPr>
        <p:spPr>
          <a:xfrm rot="0" flipH="0" flipV="0">
            <a:off x="1143000" y="50292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 16 讲 / 共 25 讲　·　原稿第 83–87 页 + 首尾两页　·　约 14.9 分钟</a:t>
            </a:r>
            <a:endParaRPr/>
          </a:p>
        </p:txBody>
      </p:sp>
      <p:sp>
        <p:nvSpPr>
          <p:cNvPr id="13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9" name="矩形 27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730" name="矩形 272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731" name="文本框 2730" descr="{&quot;isTemplate&quot;:true,&quot;type&quot;:&quot;text&quot;}"/>
          <p:cNvSpPr txBox="1"/>
          <p:nvPr/>
        </p:nvSpPr>
        <p:spPr>
          <a:xfrm>
            <a:off x="819150" y="304800"/>
            <a:ext cx="9344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12.5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32" name="文本框 2731" descr="{&quot;isTemplate&quot;:true,&quot;type&quot;:&quot;text&quot;}"/>
          <p:cNvSpPr txBox="1"/>
          <p:nvPr/>
        </p:nvSpPr>
        <p:spPr>
          <a:xfrm>
            <a:off x="819150" y="514350"/>
            <a:ext cx="93440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事务的三种开启方式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33" name="文本框 2732" descr="{&quot;isTemplate&quot;:true,&quot;type&quot;:&quot;text&quot;}"/>
          <p:cNvSpPr txBox="1"/>
          <p:nvPr/>
        </p:nvSpPr>
        <p:spPr>
          <a:xfrm>
            <a:off x="10334625" y="590550"/>
            <a:ext cx="1247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注解与配置是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OR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关系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34" name="圆角矩形 2733"/>
          <p:cNvSpPr/>
          <p:nvPr/>
        </p:nvSpPr>
        <p:spPr>
          <a:xfrm>
            <a:off x="609600" y="1143000"/>
            <a:ext cx="5410200" cy="1752600"/>
          </a:xfrm>
          <a:prstGeom prst="roundRect">
            <a:avLst>
              <a:gd name="adj" fmla="val 65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735" name="文本框 2734" descr="{&quot;isTemplate&quot;:true,&quot;type&quot;:&quot;text&quot;}"/>
          <p:cNvSpPr txBox="1"/>
          <p:nvPr/>
        </p:nvSpPr>
        <p:spPr>
          <a:xfrm>
            <a:off x="781050" y="13144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注解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@Transactional</a:t>
            </a:r>
            <a:endParaRPr lang="en-US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36" name="文本框 2735" descr="{&quot;isTemplate&quot;:true,&quot;type&quot;:&quot;text&quot;}"/>
          <p:cNvSpPr txBox="1"/>
          <p:nvPr/>
        </p:nvSpPr>
        <p:spPr>
          <a:xfrm>
            <a:off x="781050" y="154305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@Transactional[propagation: Propagation.RequiresNew,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37" name="文本框 2736" descr="{&quot;isTemplate&quot;:true,&quot;type&quot;:&quot;text&quot;}"/>
          <p:cNvSpPr txBox="1"/>
          <p:nvPr/>
        </p:nvSpPr>
        <p:spPr>
          <a:xfrm>
            <a:off x="781050" y="178117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       rollbackFor: 'fountain::f_exception::BizException']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38" name="文本框 2737" descr="{&quot;isTemplate&quot;:true,&quot;type&quot;:&quot;text&quot;}"/>
          <p:cNvSpPr txBox="1"/>
          <p:nvPr/>
        </p:nvSpPr>
        <p:spPr>
          <a:xfrm>
            <a:off x="781050" y="201930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func transfer(from: Int64, to: Int64, amount: Decimal): Unit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39" name="文本框 2738" descr="{&quot;isTemplate&quot;:true,&quot;type&quot;:&quot;text&quot;}"/>
          <p:cNvSpPr txBox="1"/>
          <p:nvPr/>
        </p:nvSpPr>
        <p:spPr>
          <a:xfrm>
            <a:off x="781050" y="2257425"/>
            <a:ext cx="50673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参数七个：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driverName / propagation / isoLevel / accessMode / deferrableMode / rollbackFor / noRollbackFor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0" name="圆角矩形 2739"/>
          <p:cNvSpPr/>
          <p:nvPr/>
        </p:nvSpPr>
        <p:spPr>
          <a:xfrm>
            <a:off x="6172200" y="1143000"/>
            <a:ext cx="5410200" cy="1428750"/>
          </a:xfrm>
          <a:prstGeom prst="roundRect">
            <a:avLst>
              <a:gd name="adj" fmla="val 8000"/>
            </a:avLst>
          </a:prstGeom>
          <a:solidFill>
            <a:srgbClr val="111C2E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741" name="文本框 2740" descr="{&quot;isTemplate&quot;:true,&quot;type&quot;:&quot;text&quot;}"/>
          <p:cNvSpPr txBox="1"/>
          <p:nvPr/>
        </p:nvSpPr>
        <p:spPr>
          <a:xfrm>
            <a:off x="6343650" y="13144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两个参数别记混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2" name="文本框 2741" descr="{&quot;isTemplate&quot;:true,&quot;type&quot;:&quot;text&quot;}"/>
          <p:cNvSpPr txBox="1"/>
          <p:nvPr/>
        </p:nvSpPr>
        <p:spPr>
          <a:xfrm>
            <a:off x="6343650" y="1543050"/>
            <a:ext cx="50673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rollbackFor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：发生了它指定的异常才会回滚。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3" name="文本框 2742" descr="{&quot;isTemplate&quot;:true,&quot;type&quot;:&quot;text&quot;}"/>
          <p:cNvSpPr txBox="1"/>
          <p:nvPr/>
        </p:nvSpPr>
        <p:spPr>
          <a:xfrm>
            <a:off x="6343650" y="1885950"/>
            <a:ext cx="50673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noRollbackFor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：只有发生了它指定的异常才不回滚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其他异常照常回滚。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4" name="圆角矩形 2743"/>
          <p:cNvSpPr/>
          <p:nvPr/>
        </p:nvSpPr>
        <p:spPr>
          <a:xfrm>
            <a:off x="609600" y="2705100"/>
            <a:ext cx="10972800" cy="1466850"/>
          </a:xfrm>
          <a:prstGeom prst="roundRect">
            <a:avLst>
              <a:gd name="adj" fmla="val 779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745" name="文本框 2744" descr="{&quot;isTemplate&quot;:true,&quot;type&quot;:&quot;text&quot;}"/>
          <p:cNvSpPr txBox="1"/>
          <p:nvPr/>
        </p:nvSpPr>
        <p:spPr>
          <a:xfrm>
            <a:off x="781050" y="2876550"/>
            <a:ext cx="10629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配置驱动（批量织入，无需逐个加注解）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6" name="文本框 2745" descr="{&quot;isTemplate&quot;:true,&quot;type&quot;:&quot;text&quot;}"/>
          <p:cNvSpPr txBox="1"/>
          <p:nvPr/>
        </p:nvSpPr>
        <p:spPr>
          <a:xfrm>
            <a:off x="781050" y="310515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orm_transactionalFuncExecution='*::*..*ServiceImpl.del*(**): *'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47" name="文本框 2746" descr="{&quot;isTemplate&quot;:true,&quot;type&quot;:&quot;text&quot;}"/>
          <p:cNvSpPr txBox="1"/>
          <p:nvPr/>
        </p:nvSpPr>
        <p:spPr>
          <a:xfrm>
            <a:off x="781050" y="3343275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orm_transactionalFuncExecution="$orm_transactionalFuncExecution|*::*..*ServiceImpl.insert*(**): *"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48" name="文本框 2747" descr="{&quot;isTemplate&quot;:true,&quot;type&quot;:&quot;text&quot;}"/>
          <p:cNvSpPr txBox="1"/>
          <p:nvPr/>
        </p:nvSpPr>
        <p:spPr>
          <a:xfrm>
            <a:off x="781050" y="358140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... |save* |register* |*..*.userSession(**): *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749" name="文本框 2748" descr="{&quot;isTemplate&quot;:true,&quot;type&quot;:&quot;text&quot;}"/>
          <p:cNvSpPr txBox="1"/>
          <p:nvPr/>
        </p:nvSpPr>
        <p:spPr>
          <a:xfrm>
            <a:off x="781050" y="3762375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注解与配置是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OR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关系：只要有一个命中，事务切面就织入。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fdemo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里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sayHello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那行是被注释掉的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现场打开看事务日志。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50" name="圆角矩形 2749"/>
          <p:cNvSpPr/>
          <p:nvPr/>
        </p:nvSpPr>
        <p:spPr>
          <a:xfrm>
            <a:off x="609600" y="4305300"/>
            <a:ext cx="10972800" cy="1981200"/>
          </a:xfrm>
          <a:prstGeom prst="roundRect">
            <a:avLst>
              <a:gd name="adj" fmla="val 576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751" name="文本框 2750" descr="{&quot;isTemplate&quot;:true,&quot;type&quot;:&quot;text&quot;}"/>
          <p:cNvSpPr txBox="1"/>
          <p:nvPr/>
        </p:nvSpPr>
        <p:spPr>
          <a:xfrm>
            <a:off x="781050" y="4476750"/>
            <a:ext cx="10629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③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编程式：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execute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模板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52" name="文本框 2751" descr="{&quot;isTemplate&quot;:true,&quot;type&quot;:&quot;text&quot;}"/>
          <p:cNvSpPr txBox="1"/>
          <p:nvPr/>
        </p:nvSpPr>
        <p:spPr>
          <a:xfrm>
            <a:off x="781050" y="470535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executor.execute&lt;Int64&gt;(propagation: Propagation.Required, isoLevel: None,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53" name="文本框 2752" descr="{&quot;isTemplate&quot;:true,&quot;type&quot;:&quot;text&quot;}"/>
          <p:cNvSpPr txBox="1"/>
          <p:nvPr/>
        </p:nvSpPr>
        <p:spPr>
          <a:xfrm>
            <a:off x="781050" y="4943475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noRollbackFor: 'fountain::f_bean::BeanException', rollbackFor: '')({ exec =&gt;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54" name="文本框 2753" descr="{&quot;isTemplate&quot;:true,&quot;type&quot;:&quot;text&quot;}"/>
          <p:cNvSpPr txBox="1"/>
          <p:nvPr/>
        </p:nvSpPr>
        <p:spPr>
          <a:xfrm>
            <a:off x="781050" y="518160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exec.setSql('...').update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755" name="文本框 2754" descr="{&quot;isTemplate&quot;:true,&quot;type&quot;:&quot;text&quot;}"/>
          <p:cNvSpPr txBox="1"/>
          <p:nvPr/>
        </p:nvSpPr>
        <p:spPr>
          <a:xfrm>
            <a:off x="781050" y="5419725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1     //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闭包返回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(T, Bool)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：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true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提交，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false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抛异常并回滚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756" name="文本框 2755" descr="{&quot;isTemplate&quot;:true,&quot;type&quot;:&quot;text&quot;}"/>
          <p:cNvSpPr txBox="1"/>
          <p:nvPr/>
        </p:nvSpPr>
        <p:spPr>
          <a:xfrm>
            <a:off x="781050" y="5657850"/>
            <a:ext cx="10629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})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757" name="任意多边形 275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758" name="文本框 275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59" name="文本框 275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1" name="矩形 27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762" name="矩形 276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763" name="文本框 2762" descr="{&quot;isTemplate&quot;:true,&quot;type&quot;:&quot;text&quot;}"/>
          <p:cNvSpPr txBox="1"/>
          <p:nvPr/>
        </p:nvSpPr>
        <p:spPr>
          <a:xfrm>
            <a:off x="819150" y="304800"/>
            <a:ext cx="97726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4" name="文本框 2763" descr="{&quot;isTemplate&quot;:true,&quot;type&quot;:&quot;text&quot;}"/>
          <p:cNvSpPr txBox="1"/>
          <p:nvPr/>
        </p:nvSpPr>
        <p:spPr>
          <a:xfrm>
            <a:off x="819150" y="514350"/>
            <a:ext cx="97726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传播行为：七种语义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5" name="文本框 2764" descr="{&quot;isTemplate&quot;:true,&quot;type&quot;:&quot;text&quot;}"/>
          <p:cNvSpPr txBox="1"/>
          <p:nvPr/>
        </p:nvSpPr>
        <p:spPr>
          <a:xfrm>
            <a:off x="10763250" y="590550"/>
            <a:ext cx="8191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Required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766" name="表格 2765"/>
          <p:cNvGraphicFramePr/>
          <p:nvPr/>
        </p:nvGraphicFramePr>
        <p:xfrm>
          <a:off x="609600" y="1143000"/>
          <a:ext cx="10972800" cy="3905250"/>
        </p:xfrm>
        <a:graphic>
          <a:graphicData uri="http://schemas.openxmlformats.org/drawingml/2006/table">
            <a:tbl>
              <a:tblPr/>
              <a:tblGrid>
                <a:gridCol w="2609773"/>
                <a:gridCol w="8363027"/>
              </a:tblGrid>
              <a:tr h="46000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Propagation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语义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921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Required</a:t>
                      </a:r>
                      <a:endParaRPr sz="1050" b="1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有则沿用，无则新建（默认）</a:t>
                      </a:r>
                      <a:endParaRPr sz="1050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21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Supports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有则沿用，无则不用事务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21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Mandatory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有则沿用，无则抛 MandatoryTransactionException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21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RequiresNew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外层有事务则新取连接开新事务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21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Never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不用事务，外层有则抛 NeverTransactionException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21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NotSupported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不用事务，外层有事务则新取连接执行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21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Nested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外层有事务则开内嵌事务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767" name="圆角矩形 2766"/>
          <p:cNvSpPr/>
          <p:nvPr/>
        </p:nvSpPr>
        <p:spPr>
          <a:xfrm>
            <a:off x="609600" y="5181600"/>
            <a:ext cx="10972800" cy="1104900"/>
          </a:xfrm>
          <a:prstGeom prst="roundRect">
            <a:avLst>
              <a:gd name="adj" fmla="val 10345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768" name="文本框 2767" descr="{&quot;isTemplate&quot;:true,&quot;type&quot;:&quot;text&quot;}"/>
          <p:cNvSpPr txBox="1"/>
          <p:nvPr/>
        </p:nvSpPr>
        <p:spPr>
          <a:xfrm>
            <a:off x="781050" y="5353050"/>
            <a:ext cx="10629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默认值可以全局配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9" name="文本框 2768" descr="{&quot;isTemplate&quot;:true,&quot;type&quot;:&quot;text&quot;}"/>
          <p:cNvSpPr txBox="1"/>
          <p:nvPr/>
        </p:nvSpPr>
        <p:spPr>
          <a:xfrm>
            <a:off x="781050" y="5600700"/>
            <a:ext cx="10629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orm_transactionPropagation=Required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　·　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orm_transactionLevel=ReadCommitted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　·　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orm_transactionAccessMode=ReadWrite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770" name="文本框 2769" descr="{&quot;isTemplate&quot;:true,&quot;type&quot;:&quot;text&quot;}"/>
          <p:cNvSpPr txBox="1"/>
          <p:nvPr/>
        </p:nvSpPr>
        <p:spPr>
          <a:xfrm>
            <a:off x="781050" y="5857875"/>
            <a:ext cx="10629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还有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orm_transactionRollbackFor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orm_transactionNoRollbackFor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。团队规范落地方式：全局配好默认值，个别方法用注解覆盖。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71" name="任意多边形 2770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772" name="文本框 277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73" name="文本框 2772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" name="矩形 27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776" name="矩形 2775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777" name="文本框 2776" descr="{&quot;isTemplate&quot;:true,&quot;type&quot;:&quot;text&quot;}"/>
          <p:cNvSpPr txBox="1"/>
          <p:nvPr/>
        </p:nvSpPr>
        <p:spPr>
          <a:xfrm>
            <a:off x="819150" y="304800"/>
            <a:ext cx="9477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78" name="文本框 2777" descr="{&quot;isTemplate&quot;:true,&quot;type&quot;:&quot;text&quot;}"/>
          <p:cNvSpPr txBox="1"/>
          <p:nvPr/>
        </p:nvSpPr>
        <p:spPr>
          <a:xfrm>
            <a:off x="819150" y="514350"/>
            <a:ext cx="94773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事务钩子与调用顺序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79" name="文本框 2778" descr="{&quot;isTemplate&quot;:true,&quot;type&quot;:&quot;text&quot;}"/>
          <p:cNvSpPr txBox="1"/>
          <p:nvPr/>
        </p:nvSpPr>
        <p:spPr>
          <a:xfrm>
            <a:off x="10467975" y="590550"/>
            <a:ext cx="1114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建议做成动画或表格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0" name="圆角矩形 2779"/>
          <p:cNvSpPr/>
          <p:nvPr/>
        </p:nvSpPr>
        <p:spPr>
          <a:xfrm>
            <a:off x="609600" y="1143000"/>
            <a:ext cx="10972800" cy="1123950"/>
          </a:xfrm>
          <a:prstGeom prst="roundRect">
            <a:avLst>
              <a:gd name="adj" fmla="val 1016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781" name="文本框 2780" descr="{&quot;isTemplate&quot;:true,&quot;type&quot;:&quot;text&quot;}"/>
          <p:cNvSpPr txBox="1"/>
          <p:nvPr/>
        </p:nvSpPr>
        <p:spPr>
          <a:xfrm>
            <a:off x="762000" y="1295400"/>
            <a:ext cx="10668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fdemo/boot/src/TransactionHookImpl.cj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七个回调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2" name="文本框 2781" descr="{&quot;isTemplate&quot;:true,&quot;type&quot;:&quot;text&quot;}"/>
          <p:cNvSpPr txBox="1"/>
          <p:nvPr/>
        </p:nvSpPr>
        <p:spPr>
          <a:xfrm>
            <a:off x="762000" y="1504950"/>
            <a:ext cx="10668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beforeTx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beforeCommit(readOnly)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afterCommit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afterThrowing(e)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beforeRollback(e)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afterRollback(e)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afterComplete(status)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783" name="文本框 2782" descr="{&quot;isTemplate&quot;:true,&quot;type&quot;:&quot;text&quot;}"/>
          <p:cNvSpPr txBox="1"/>
          <p:nvPr/>
        </p:nvSpPr>
        <p:spPr>
          <a:xfrm>
            <a:off x="762000" y="1876425"/>
            <a:ext cx="106680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注册：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ORM.registerTransactionHook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传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MyHook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实例，或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registerTransactionHooks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批量注册（从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lookupList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批量取）；多个钩子按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prop order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升序执行。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784" name="表格 2783"/>
          <p:cNvGraphicFramePr/>
          <p:nvPr/>
        </p:nvGraphicFramePr>
        <p:xfrm>
          <a:off x="609600" y="2400300"/>
          <a:ext cx="10972800" cy="3429000"/>
        </p:xfrm>
        <a:graphic>
          <a:graphicData uri="http://schemas.openxmlformats.org/drawingml/2006/table">
            <a:tbl>
              <a:tblPr/>
              <a:tblGrid>
                <a:gridCol w="2677183"/>
                <a:gridCol w="8295617"/>
              </a:tblGrid>
              <a:tr h="5715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场景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顺序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正常提交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beforeTx → beforeCommit → commit → afterCommit → afterComplete(Committed)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一般异常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afterThrowing → beforeRollback → rollback → afterRollback → afterComplete(Rollback)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命中 noRollbackFor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afterThrowing → beforeCommit → 提交 → afterCommit → afterComplete(Committed) → 重抛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命中 rollbackFor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afterThrowing → beforeRollback → 回滚 → afterRollback → afterComplete(Rollback) → 重抛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配了 rollbackFor 但类型不匹配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同 noRollbackFor：提交后重抛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785" name="任意多边形 278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786" name="文本框 278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7" name="文本框 278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85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9" name="矩形 278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790" name="矩形 278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791" name="文本框 2790" descr="{&quot;isTemplate&quot;:true,&quot;type&quot;:&quot;text&quot;}"/>
          <p:cNvSpPr txBox="1"/>
          <p:nvPr/>
        </p:nvSpPr>
        <p:spPr>
          <a:xfrm>
            <a:off x="819150" y="304800"/>
            <a:ext cx="9477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ORM f_orm · 12.5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12.6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2" name="文本框 2791" descr="{&quot;isTemplate&quot;:true,&quot;type&quot;:&quot;text&quot;}"/>
          <p:cNvSpPr txBox="1"/>
          <p:nvPr/>
        </p:nvSpPr>
        <p:spPr>
          <a:xfrm>
            <a:off x="819150" y="514350"/>
            <a:ext cx="94773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为什么共用连接，以及八个常见坑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3" name="文本框 2792" descr="{&quot;isTemplate&quot;:true,&quot;type&quot;:&quot;text&quot;}"/>
          <p:cNvSpPr txBox="1"/>
          <p:nvPr/>
        </p:nvSpPr>
        <p:spPr>
          <a:xfrm>
            <a:off x="10467975" y="590550"/>
            <a:ext cx="1114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念一遍能省观众两天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4" name="圆角矩形 2793"/>
          <p:cNvSpPr/>
          <p:nvPr/>
        </p:nvSpPr>
        <p:spPr>
          <a:xfrm>
            <a:off x="609600" y="1143000"/>
            <a:ext cx="4381500" cy="5143500"/>
          </a:xfrm>
          <a:prstGeom prst="roundRect">
            <a:avLst>
              <a:gd name="adj" fmla="val 2609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795" name="文本框 2794" descr="{&quot;isTemplate&quot;:true,&quot;type&quot;:&quot;text&quot;}"/>
          <p:cNvSpPr txBox="1"/>
          <p:nvPr/>
        </p:nvSpPr>
        <p:spPr>
          <a:xfrm>
            <a:off x="819150" y="1352550"/>
            <a:ext cx="3962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为什么同一线程共用连接</a:t>
            </a:r>
            <a:endParaRPr lang="zh-CN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6" name="文本框 2795" descr="{&quot;isTemplate&quot;:true,&quot;type&quot;:&quot;text&quot;}"/>
          <p:cNvSpPr txBox="1"/>
          <p:nvPr/>
        </p:nvSpPr>
        <p:spPr>
          <a:xfrm>
            <a:off x="819150" y="1695450"/>
            <a:ext cx="39624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SqlExecutor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缓存在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ThreadLocal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里，是一个「驱动名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SqlExecutor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」的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Map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7" name="文本框 2796" descr="{&quot;isTemplate&quot;:true,&quot;type&quot;:&quot;text&quot;}"/>
          <p:cNvSpPr txBox="1"/>
          <p:nvPr/>
        </p:nvSpPr>
        <p:spPr>
          <a:xfrm>
            <a:off x="819150" y="2371725"/>
            <a:ext cx="39624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所以同一线程内一次事务的多次数据库访问，用的是同一个连接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这是事务能成立的根本。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8" name="文本框 2797" descr="{&quot;isTemplate&quot;:true,&quot;type&quot;:&quot;text&quot;}"/>
          <p:cNvSpPr txBox="1"/>
          <p:nvPr/>
        </p:nvSpPr>
        <p:spPr>
          <a:xfrm>
            <a:off x="819150" y="3048000"/>
            <a:ext cx="39624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事务未开启时，执行完就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close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释放连接；事务中则由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commit / rollback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收尾统一处理。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9" name="文本框 2798" descr="{&quot;isTemplate&quot;:true,&quot;type&quot;:&quot;text&quot;}"/>
          <p:cNvSpPr txBox="1"/>
          <p:nvPr/>
        </p:nvSpPr>
        <p:spPr>
          <a:xfrm>
            <a:off x="819150" y="5495925"/>
            <a:ext cx="39624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理解这一点，就明白为什么不能把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SqlExecutor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存成字段、为什么同一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executor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上不允许并发。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0" name="圆角矩形 2799"/>
          <p:cNvSpPr/>
          <p:nvPr/>
        </p:nvSpPr>
        <p:spPr>
          <a:xfrm>
            <a:off x="5181600" y="1143000"/>
            <a:ext cx="64008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801" name="文本框 2800" descr="{&quot;isTemplate&quot;:true,&quot;type&quot;:&quot;text&quot;}"/>
          <p:cNvSpPr txBox="1"/>
          <p:nvPr/>
        </p:nvSpPr>
        <p:spPr>
          <a:xfrm>
            <a:off x="5372100" y="1333500"/>
            <a:ext cx="60198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ORM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常见坑（八条）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2" name="文本框 2801" descr="{&quot;isTemplate&quot;:true,&quot;type&quot;:&quot;text&quot;}"/>
          <p:cNvSpPr txBox="1"/>
          <p:nvPr/>
        </p:nvSpPr>
        <p:spPr>
          <a:xfrm>
            <a:off x="5372100" y="160020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一个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函数只执行一个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SQL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（或一次分页查询）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3" name="文本框 2802" descr="{&quot;isTemplate&quot;:true,&quot;type&quot;:&quot;text&quot;}"/>
          <p:cNvSpPr txBox="1"/>
          <p:nvPr/>
        </p:nvSpPr>
        <p:spPr>
          <a:xfrm>
            <a:off x="5372100" y="191452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每次调用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都必须从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executor()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开始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4" name="文本框 2803" descr="{&quot;isTemplate&quot;:true,&quot;type&quot;:&quot;text&quot;}"/>
          <p:cNvSpPr txBox="1"/>
          <p:nvPr/>
        </p:nvSpPr>
        <p:spPr>
          <a:xfrm>
            <a:off x="5372100" y="222885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同一模块内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DAO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函数名不能重名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5" name="文本框 2804" descr="{&quot;isTemplate&quot;:true,&quot;type&quot;:&quot;text&quot;}"/>
          <p:cNvSpPr txBox="1"/>
          <p:nvPr/>
        </p:nvSpPr>
        <p:spPr>
          <a:xfrm>
            <a:off x="5372100" y="2543175"/>
            <a:ext cx="60198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　同一个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SqlExecutor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上不允许并发：上一次查询结果未关闭时再执行会抛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ORMException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cannot execute SQL while a previous query result is still active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6" name="文本框 2805" descr="{&quot;isTemplate&quot;:true,&quot;type&quot;:&quot;text&quot;}"/>
          <p:cNvSpPr txBox="1"/>
          <p:nvPr/>
        </p:nvSpPr>
        <p:spPr>
          <a:xfrm>
            <a:off x="5372100" y="311467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结果缓存默认开启（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orm_useCache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），写操作后会清空缓存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7" name="文本框 2806" descr="{&quot;isTemplate&quot;:true,&quot;type&quot;:&quot;text&quot;}"/>
          <p:cNvSpPr txBox="1"/>
          <p:nvPr/>
        </p:nvSpPr>
        <p:spPr>
          <a:xfrm>
            <a:off x="5372100" y="342900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@DataAssist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必须在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@QueryMappersGenerator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之前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8" name="文本框 2807" descr="{&quot;isTemplate&quot;:true,&quot;type&quot;:&quot;text&quot;}"/>
          <p:cNvSpPr txBox="1"/>
          <p:nvPr/>
        </p:nvSpPr>
        <p:spPr>
          <a:xfrm>
            <a:off x="5372100" y="374332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tableColumns()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的属性名是列名（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save_time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），不是成员名（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saveTime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9" name="文本框 2808" descr="{&quot;isTemplate&quot;:true,&quot;type&quot;:&quot;text&quot;}"/>
          <p:cNvSpPr txBox="1"/>
          <p:nvPr/>
        </p:nvSpPr>
        <p:spPr>
          <a:xfrm>
            <a:off x="5372100" y="405765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page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系列要求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SQL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以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select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开头，否则抛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ORMException</a:t>
            </a:r>
            <a:endParaRPr lang="en-US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0" name="任意多边形 2809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811" name="文本框 2810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2" name="文本框 2811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86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4" name="矩形 28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815" name="矩形 2814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816" name="文本框 2815" descr="{&quot;isTemplate&quot;:true,&quot;type&quot;:&quot;text&quot;}"/>
          <p:cNvSpPr txBox="1"/>
          <p:nvPr/>
        </p:nvSpPr>
        <p:spPr>
          <a:xfrm>
            <a:off x="819150" y="304800"/>
            <a:ext cx="10344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安全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f_security + f_jwt · 13.1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7" name="文本框 2816" descr="{&quot;isTemplate&quot;:true,&quot;type&quot;:&quot;text&quot;}"/>
          <p:cNvSpPr txBox="1"/>
          <p:nvPr/>
        </p:nvSpPr>
        <p:spPr>
          <a:xfrm>
            <a:off x="819150" y="514350"/>
            <a:ext cx="103441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登录状态检查怎么做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8" name="文本框 2817" descr="{&quot;isTemplate&quot;:true,&quot;type&quot;:&quot;text&quot;}"/>
          <p:cNvSpPr txBox="1"/>
          <p:nvPr/>
        </p:nvSpPr>
        <p:spPr>
          <a:xfrm>
            <a:off x="11334750" y="590550"/>
            <a:ext cx="247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三步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9" name="圆角矩形 2818"/>
          <p:cNvSpPr/>
          <p:nvPr/>
        </p:nvSpPr>
        <p:spPr>
          <a:xfrm>
            <a:off x="609600" y="1143000"/>
            <a:ext cx="64008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820" name="文本框 2819" descr="{&quot;isTemplate&quot;:true,&quot;type&quot;:&quot;text&quot;}"/>
          <p:cNvSpPr txBox="1"/>
          <p:nvPr/>
        </p:nvSpPr>
        <p:spPr>
          <a:xfrm>
            <a:off x="781050" y="1314450"/>
            <a:ext cx="6057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第一步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实现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AuthHandler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并注册为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bean</a:t>
            </a:r>
            <a:endParaRPr lang="en-US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21" name="文本框 2820" descr="{&quot;isTemplate&quot;:true,&quot;type&quot;:&quot;text&quot;}"/>
          <p:cNvSpPr txBox="1"/>
          <p:nvPr/>
        </p:nvSpPr>
        <p:spPr>
          <a:xfrm>
            <a:off x="781050" y="154305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@Bean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822" name="文本框 2821" descr="{&quot;isTemplate&quot;:true,&quot;type&quot;:&quot;text&quot;}"/>
          <p:cNvSpPr txBox="1"/>
          <p:nvPr/>
        </p:nvSpPr>
        <p:spPr>
          <a:xfrm>
            <a:off x="781050" y="179070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class AuthCheckerImpl &lt;: AuthHandler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823" name="文本框 2822" descr="{&quot;isTemplate&quot;:true,&quot;type&quot;:&quot;text&quot;}"/>
          <p:cNvSpPr txBox="1"/>
          <p:nvPr/>
        </p:nvSpPr>
        <p:spPr>
          <a:xfrm>
            <a:off x="781050" y="203835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public func check(param: AuthParam): AuthStatus {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24" name="文本框 2823" descr="{&quot;isTemplate&quot;:true,&quot;type&quot;:&quot;text&quot;}"/>
          <p:cNvSpPr txBox="1"/>
          <p:nvPr/>
        </p:nvSpPr>
        <p:spPr>
          <a:xfrm>
            <a:off x="781050" y="228600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    if (param.ignoreAuth) { OK }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825" name="文本框 2824" descr="{&quot;isTemplate&quot;:true,&quot;type&quot;:&quot;text&quot;}"/>
          <p:cNvSpPr txBox="1"/>
          <p:nvPr/>
        </p:nvSpPr>
        <p:spPr>
          <a:xfrm>
            <a:off x="781050" y="253365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    else if (UserSessionCache.verify()) { OK }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826" name="文本框 2825" descr="{&quot;isTemplate&quot;:true,&quot;type&quot;:&quot;text&quot;}"/>
          <p:cNvSpPr txBox="1"/>
          <p:nvPr/>
        </p:nvSpPr>
        <p:spPr>
          <a:xfrm>
            <a:off x="781050" y="278130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else {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827" name="文本框 2826" descr="{&quot;isTemplate&quot;:true,&quot;type&quot;:&quot;text&quot;}"/>
          <p:cNvSpPr txBox="1"/>
          <p:nvPr/>
        </p:nvSpPr>
        <p:spPr>
          <a:xfrm>
            <a:off x="781050" y="302895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    let json = '{ "status":-1 }'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828" name="文本框 2827" descr="{&quot;isTemplate&quot;:true,&quot;type&quot;:&quot;text&quot;}"/>
          <p:cNvSpPr txBox="1"/>
          <p:nvPr/>
        </p:nvSpPr>
        <p:spPr>
          <a:xfrm>
            <a:off x="781050" y="327660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    InvalidSession(HttpStatus.UNAUTHORIZED, JsonValue.fromStr(json))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829" name="文本框 2828" descr="{&quot;isTemplate&quot;:true,&quot;type&quot;:&quot;text&quot;}"/>
          <p:cNvSpPr txBox="1"/>
          <p:nvPr/>
        </p:nvSpPr>
        <p:spPr>
          <a:xfrm>
            <a:off x="781050" y="352425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}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830" name="文本框 2829" descr="{&quot;isTemplate&quot;:true,&quot;type&quot;:&quot;text&quot;}"/>
          <p:cNvSpPr txBox="1"/>
          <p:nvPr/>
        </p:nvSpPr>
        <p:spPr>
          <a:xfrm>
            <a:off x="781050" y="377190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831" name="文本框 2830" descr="{&quot;isTemplate&quot;:true,&quot;type&quot;:&quot;text&quot;}"/>
          <p:cNvSpPr txBox="1"/>
          <p:nvPr/>
        </p:nvSpPr>
        <p:spPr>
          <a:xfrm>
            <a:off x="781050" y="4019550"/>
            <a:ext cx="6057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832" name="文本框 2831" descr="{&quot;isTemplate&quot;:true,&quot;type&quot;:&quot;text&quot;}"/>
          <p:cNvSpPr txBox="1"/>
          <p:nvPr/>
        </p:nvSpPr>
        <p:spPr>
          <a:xfrm>
            <a:off x="781050" y="5629275"/>
            <a:ext cx="60579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AuthParam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提供：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ctx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（当前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HttpContext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path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controller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定义的映射路径，不是请求路径）、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args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ignoreAuth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ignorePrivilege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3" name="圆角矩形 2832"/>
          <p:cNvSpPr/>
          <p:nvPr/>
        </p:nvSpPr>
        <p:spPr>
          <a:xfrm>
            <a:off x="7200900" y="1143000"/>
            <a:ext cx="4381500" cy="3409950"/>
          </a:xfrm>
          <a:prstGeom prst="roundRect">
            <a:avLst>
              <a:gd name="adj" fmla="val 3352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834" name="文本框 2833" descr="{&quot;isTemplate&quot;:true,&quot;type&quot;:&quot;text&quot;}"/>
          <p:cNvSpPr txBox="1"/>
          <p:nvPr/>
        </p:nvSpPr>
        <p:spPr>
          <a:xfrm>
            <a:off x="7391400" y="1333500"/>
            <a:ext cx="4000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AuthStatus </a:t>
            </a: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六个值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5" name="文本框 2834" descr="{&quot;isTemplate&quot;:true,&quot;type&quot;:&quot;text&quot;}"/>
          <p:cNvSpPr txBox="1"/>
          <p:nvPr/>
        </p:nvSpPr>
        <p:spPr>
          <a:xfrm>
            <a:off x="7391400" y="1619250"/>
            <a:ext cx="4000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OK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通过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6" name="文本框 2835" descr="{&quot;isTemplate&quot;:true,&quot;type&quot;:&quot;text&quot;}"/>
          <p:cNvSpPr txBox="1"/>
          <p:nvPr/>
        </p:nvSpPr>
        <p:spPr>
          <a:xfrm>
            <a:off x="7391400" y="1924050"/>
            <a:ext cx="4000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SessionNotFound(status, any)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没找到登录状态（未登录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已过期）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7" name="文本框 2836" descr="{&quot;isTemplate&quot;:true,&quot;type&quot;:&quot;text&quot;}"/>
          <p:cNvSpPr txBox="1"/>
          <p:nvPr/>
        </p:nvSpPr>
        <p:spPr>
          <a:xfrm>
            <a:off x="7391400" y="2228850"/>
            <a:ext cx="4000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InvalidSession(status, any)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找到了但本次传入的登录信息无效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8" name="文本框 2837" descr="{&quot;isTemplate&quot;:true,&quot;type&quot;:&quot;text&quot;}"/>
          <p:cNvSpPr txBox="1"/>
          <p:nvPr/>
        </p:nvSpPr>
        <p:spPr>
          <a:xfrm>
            <a:off x="7391400" y="2533650"/>
            <a:ext cx="4000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SessionError(status, any)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检查登录状态时出错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9" name="文本框 2838" descr="{&quot;isTemplate&quot;:true,&quot;type&quot;:&quot;text&quot;}"/>
          <p:cNvSpPr txBox="1"/>
          <p:nvPr/>
        </p:nvSpPr>
        <p:spPr>
          <a:xfrm>
            <a:off x="7391400" y="2838450"/>
            <a:ext cx="4000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PrivilegeError(status, any)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检查权限时出错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0" name="文本框 2839" descr="{&quot;isTemplate&quot;:true,&quot;type&quot;:&quot;text&quot;}"/>
          <p:cNvSpPr txBox="1"/>
          <p:nvPr/>
        </p:nvSpPr>
        <p:spPr>
          <a:xfrm>
            <a:off x="7391400" y="3143250"/>
            <a:ext cx="4000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NoPrivilege(status, any)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没有权限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1" name="圆角矩形 2840"/>
          <p:cNvSpPr/>
          <p:nvPr/>
        </p:nvSpPr>
        <p:spPr>
          <a:xfrm>
            <a:off x="7200900" y="4686300"/>
            <a:ext cx="4381500" cy="1600200"/>
          </a:xfrm>
          <a:prstGeom prst="roundRect">
            <a:avLst>
              <a:gd name="adj" fmla="val 7143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842" name="文本框 2841" descr="{&quot;isTemplate&quot;:true,&quot;type&quot;:&quot;text&quot;}"/>
          <p:cNvSpPr txBox="1"/>
          <p:nvPr/>
        </p:nvSpPr>
        <p:spPr>
          <a:xfrm>
            <a:off x="7391400" y="4876800"/>
            <a:ext cx="4000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两个细节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3" name="文本框 2842" descr="{&quot;isTemplate&quot;:true,&quot;type&quot;:&quot;text&quot;}"/>
          <p:cNvSpPr txBox="1"/>
          <p:nvPr/>
        </p:nvSpPr>
        <p:spPr>
          <a:xfrm>
            <a:off x="7391400" y="5124450"/>
            <a:ext cx="4000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不带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HttpStatus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的构造器表示状态码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200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；带的话用你指定的状态码。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4" name="文本框 2843" descr="{&quot;isTemplate&quot;:true,&quot;type&quot;:&quot;text&quot;}"/>
          <p:cNvSpPr txBox="1"/>
          <p:nvPr/>
        </p:nvSpPr>
        <p:spPr>
          <a:xfrm>
            <a:off x="7391400" y="5467350"/>
            <a:ext cx="4000500" cy="523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Any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实际支持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String / ToString / InputStream /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字节数组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f_data.ToData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5" name="任意多边形 284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846" name="文本框 284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7" name="文本框 284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6" name=""/>
          <p:cNvSpPr txBox="1"/>
          <p:nvPr/>
        </p:nvSpPr>
        <p:spPr>
          <a:xfrm rot="0" flipH="0" flipV="0">
            <a:off x="8458200" y="1619250"/>
            <a:ext cx="33528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6233A"/>
                </a:solidFill>
                <a:latin typeface="JetBrains Mono"/>
                <a:ea typeface="JetBrains Mono"/>
              </a:rPr>
              <a:t>END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1143000" y="142875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9" name=""/>
          <p:cNvSpPr txBox="1"/>
          <p:nvPr/>
        </p:nvSpPr>
        <p:spPr>
          <a:xfrm rot="0" flipH="0" flipV="0">
            <a:off x="1333500" y="1514475"/>
            <a:ext cx="3181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本讲小结</a:t>
            </a: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16 / 25</a:t>
            </a:r>
            <a:endParaRPr/>
          </a:p>
        </p:txBody>
      </p:sp>
      <p:sp>
        <p:nvSpPr>
          <p:cNvPr id="20" name=""/>
          <p:cNvSpPr txBox="1"/>
          <p:nvPr/>
        </p:nvSpPr>
        <p:spPr>
          <a:xfrm rot="0" flipH="0" flipV="0">
            <a:off x="1143000" y="2019300"/>
            <a:ext cx="2600325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事务控制与安全开场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1143000" y="272415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" name=""/>
          <p:cNvSpPr txBox="1"/>
          <p:nvPr/>
        </p:nvSpPr>
        <p:spPr>
          <a:xfrm rot="0" flipH="0" flipV="0">
            <a:off x="1143000" y="32004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事务的三种开启方式与七种传播行为</a:t>
            </a:r>
            <a:endParaRPr/>
          </a:p>
        </p:txBody>
      </p:sp>
      <p:sp>
        <p:nvSpPr>
          <p:cNvPr id="23" name=""/>
          <p:cNvSpPr txBox="1"/>
          <p:nvPr/>
        </p:nvSpPr>
        <p:spPr>
          <a:xfrm rot="0" flipH="0" flipV="0">
            <a:off x="1143000" y="363855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事务钩子的调用顺序　·　为什么同一线程共用连接</a:t>
            </a:r>
            <a:endParaRPr/>
          </a:p>
        </p:txBody>
      </p:sp>
      <p:sp>
        <p:nvSpPr>
          <p:cNvPr id="24" name=""/>
          <p:cNvSpPr txBox="1"/>
          <p:nvPr/>
        </p:nvSpPr>
        <p:spPr>
          <a:xfrm rot="0" flipH="0" flipV="0">
            <a:off x="1143000" y="40767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ORM 的八个常见坑　·　登录状态检查怎么做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1143000" y="4762500"/>
            <a:ext cx="38100" cy="381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6" name=""/>
          <p:cNvSpPr txBox="1"/>
          <p:nvPr/>
        </p:nvSpPr>
        <p:spPr>
          <a:xfrm rot="0" flipH="0" flipV="0">
            <a:off x="1371600" y="4857750"/>
            <a:ext cx="1057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下一讲：安全与 JWT</a:t>
            </a:r>
            <a:endParaRPr/>
          </a:p>
        </p:txBody>
      </p:sp>
      <p:sp>
        <p:nvSpPr>
          <p:cNvPr id="27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helloworld</cp:lastModifiedBy>
  <cp:revision>148</cp:revision>
  <dcterms:created xsi:type="dcterms:W3CDTF">2026-10-02T13:55:00Z</dcterms:created>
  <dcterms:modified xsi:type="dcterms:W3CDTF">2026-10-03T02:38:11Z</dcterms:modified>
</cp:coreProperties>
</file>