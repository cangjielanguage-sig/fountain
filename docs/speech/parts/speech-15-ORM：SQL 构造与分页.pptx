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Sl1"/>
    <p:sldId id="257" r:id="rIdSl2"/>
    <p:sldId id="258" r:id="rIdSl3"/>
    <p:sldId id="259" r:id="rIdSl4"/>
    <p:sldId id="260" r:id="rIdSl5"/>
    <p:sldId id="261" r:id="rIdSl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4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22" Type="http://schemas.openxmlformats.org/officeDocument/2006/relationships/tableStyles" Target="tableStyles.xml"/><Relationship Id="rId121" Type="http://schemas.openxmlformats.org/officeDocument/2006/relationships/viewProps" Target="viewProps.xml"/><Relationship Id="rId1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Sl1" Type="http://schemas.openxmlformats.org/officeDocument/2006/relationships/slide" Target="slides/slide1.xml"/><Relationship Id="rIdSl2" Type="http://schemas.openxmlformats.org/officeDocument/2006/relationships/slide" Target="slides/slide2.xml"/><Relationship Id="rIdSl3" Type="http://schemas.openxmlformats.org/officeDocument/2006/relationships/slide" Target="slides/slide3.xml"/><Relationship Id="rIdSl4" Type="http://schemas.openxmlformats.org/officeDocument/2006/relationships/slide" Target="slides/slide4.xml"/><Relationship Id="rIdSl5" Type="http://schemas.openxmlformats.org/officeDocument/2006/relationships/slide" Target="slides/slide5.xml"/><Relationship Id="rIdSl6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这一讲是 ORM 的实操部分。先说配置项，注意全局是 orm 下划线 key、按驱动覆盖优先级更高。然后是构造 SQL 的三种方式：模板 SQL 加 arg 做参数绑定、对象 DSL 用 FROM 与 INSERT_INTO 与 UPDATE、条件构造器用 meet 与 WHERE 块处理动态条件。最后是查询结果的四类函数和分页的实现原理。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ORM 的配置项比较多，按用途分组说。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驱动相关三个：orm_drivers 是驱动名列表，逗号分隔，可以同时注册多个数据源；orm_defaultDriver 是缺省驱动，不配就取 drivers 的第一个；连接串和账号密码按驱动覆盖，格式是「驱动名下划线 orm 下划线 键名」，比如 postgres_orm_connectionUrl、postgres_orm_option_username。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这里有一个约定要记住：全局是 orm 下划线 key，按驱动覆盖是驱动名下划线 orm 下划线 key，后者的优先级更高。所以你可以给所有驱动配一套默认值，再给某个驱动单独覆盖。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是否缓存查询结果的配置项是orm_useCache，结果缓存，默认开启；写操作之后会清空缓存。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连接池这一组八个参数，要注意它们和第十七章 f_pool 的对应关系——ORM 的 DatabasePool 就是 f_pool 的一个应用，所以你调 ORM 连接池和直接调 f_pool，手感完全一样。三个是池开关：orm_noPool、orm_useStdPool、orm_useThirdPartyPool，默认用的是 fountain 自己的池。五个是池容量与超时：maxSize、minSize、initSize、connectTimeout、checkSql。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最后两个是 SM4 的密钥和初始向量，配合第四章的编译期内嵌机制——所以你在 boot.sh 里写的连接串和口令才能被加密嵌产入编译物。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所有配置项走的都是第四章那套四级优先级。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构造 SQL 有三种方式，这是本章重点。这一页讲前两种。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方式一是模板 SQL，用 setSql 加 arg。看右边的 deleteUser：setSql 里写完整的 SQL，参数位置用美元加大括号包住 arg 调用。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arg 做两件事：把你的值绑定到 PreparedStatement，并返回占位符问号。所以必须写成字符串插值的形式。它的价值是：所有参数都走绑定，不存在字符串拼接注入。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支持的类型很全：布尔、各种整数、各种无符号整数、各种浮点、大整数、Decimal、Rune、字符串、Duration、DateTime、InputStream、字节数组、Data，以及 Any；还有这些类型的</a:t>
            </a:r>
            <a:r>
              <a:rPr lang="en-US" altLang="zh-CN" dirty="0"/>
              <a:t>Option</a:t>
            </a:r>
            <a:r>
              <a:rPr lang="zh-CN" altLang="en-US" dirty="0"/>
              <a:t>参数重载</a:t>
            </a:r>
            <a:r>
              <a:rPr lang="zh-CN" dirty="0"/>
              <a:t>，None 等价于 argNull。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还有一个很好用的能力是集合展开，用于 IN。传一维数组会展开成括号里若干个问号；传二维数组会展开成二维元组。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方式二是面向对象的 DSL。查询用 FROM 加 WHERE 加 first；插入用 INSERT_INTO，它直接返回自增主键，这个很方便；也支持 INTO 加 ignoreColumns 忽略某些列。更新有两种：一种传 Map，key 可以是列名、成员名或者 Column 对象；另一种直接传对象，主键作 WHERE 条件，加 dirty 为 true 就只更新脏字段。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dirty 要配合 @QueryMappersGenerator 的 dirty 标记用：setter 会自动调用 DirtyTag 记录脏字段，UPDATE 时只更新被改过的列。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注意 UPDATE 对象的三个命名实参——dirty、ignoredColumns、includingColumns——每次调用只能指定其中一个，同时指定任意两个会抛异常。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方式三是条件构造器，这一页讲三个入口。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第一个是 meet：条件成立才拼。看右边的例子，userLike 长度大于零时才拼上 LIKE 条件；不成立就什么都不拼，不会拼出非法的 where。它配套的是 choose 和 loop，choose 是分情况二选一，loop 是按集合循环拼接。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第二个是逻辑组合：AND、OR、NOT 三个函数，参数是 LogicalExpr。看例子里 username 等于且 password 等于，然后取单列返回。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第三个是字符串版本的子句拼接：SET 和 WHERE 两个大括号块。它们的共同好处是——内容为空时自动省略关键字，不会拼出「where 后面什么都没有」的非法 SQL。这一点在动态查询里非常实用。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关系运算片段一览，注意它们只返回运算符部分，左值要自己拼：IN、NOT_IN、LIKE、NOT_LIKE、BETWEEN、EXISTS、NOT_EXISTS，以及 AND、OR、NOT、paren 这几个。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所以实际写业务时的选择是：简单查询用 DSL 方法链；条件复杂的用 meet 加 WHERE 块；极复杂的用模板 SQL——三条路都通，选最顺手的。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查询结果和分页。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结果的读取函数分四类。单列：singleFirst 取第一个单值，可以带列下标或者 Column 对象；singleList 和 singleIterator 是列表和迭代器版本。对象：first、list、iterator、one，这四个都依赖 QueryMappers 生成的映射。无类型：firstToMap 和 mapList，返回 Map 而不是对象。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分页是本节重点。看右边：FROM 加 page 泛型，传每页大小和页码。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分页对象的五个成员：page 是当前页，从 1 开始；size 是每页大小；rows 是总记录数；pages 是总页数；list 是当前页数据。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分页的实现原理很重要：它先执行 select count 星号 from 括号里包住原始 SQL 作为一个临时表，算出总数；然后再执行 select 星号 from 同一个子查询，加上 limit 和 offset。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而 limit 和 offset 是由</a:t>
            </a:r>
            <a:r>
              <a:rPr lang="en-US" altLang="zh-CN" dirty="0"/>
              <a:t>SQL</a:t>
            </a:r>
            <a:r>
              <a:rPr lang="zh-CN" dirty="0"/>
              <a:t>方言生成的——所以换数据库不用改代码，这一点很实用。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最后一个细节：Pagination 本身实现了 ObjectData，所以它可以直接作为 PO 的字段被序列化。fdemo 的 UserList 里 fields 就是 Pagination 泛型 UserPO。也就是说分页结果可以像普通对象一样被 MVC 序列化成 JSON 返回给前端。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这一讲四个要点：一，arg() 做的是参数绑定，不存在字符串拼接注入；二，UPDATE 对象的 dirty 与 ignoredColumns 与 includingColumns 三个命名实参每次只能指定一个；三，WHERE 与 SET 块在内容为空时会自动省略关键字，不会拼出非法 SQL；四，分页的 limit 和 offset 由方言生成，换数据库不用改代码。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2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6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slide1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" name=""/>
          <p:cNvSpPr txBox="1"/>
          <p:nvPr/>
        </p:nvSpPr>
        <p:spPr>
          <a:xfrm rot="0" flipH="0" flipV="0">
            <a:off x="-695325" y="1143000"/>
            <a:ext cx="12506325" cy="3657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0" b="1">
                <a:solidFill>
                  <a:srgbClr val="16233A"/>
                </a:solidFill>
                <a:latin typeface="JetBrains Mono"/>
                <a:ea typeface="JetBrains Mono"/>
              </a:rPr>
              <a:t>15</a:t>
            </a:r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1143000" y="186690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6" name=""/>
          <p:cNvSpPr txBox="1"/>
          <p:nvPr/>
        </p:nvSpPr>
        <p:spPr>
          <a:xfrm rot="0" flipH="0" flipV="0">
            <a:off x="1333500" y="1952625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PART 15 / 25 · 课程分册</a:t>
            </a:r>
            <a:endParaRPr/>
          </a:p>
        </p:txBody>
      </p:sp>
      <p:sp>
        <p:nvSpPr>
          <p:cNvPr id="7" name=""/>
          <p:cNvSpPr txBox="1"/>
          <p:nvPr/>
        </p:nvSpPr>
        <p:spPr>
          <a:xfrm rot="0" flipH="0" flipV="0">
            <a:off x="1143000" y="2495550"/>
            <a:ext cx="2867025" cy="609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ORM：SQL 构造与分页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1143000" y="331470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" name=""/>
          <p:cNvSpPr txBox="1"/>
          <p:nvPr/>
        </p:nvSpPr>
        <p:spPr>
          <a:xfrm rot="0" flipH="0" flipV="0">
            <a:off x="1143000" y="37719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ORM 配置项全表与两条 ARG 规则</a:t>
            </a:r>
            <a:endParaRPr/>
          </a:p>
        </p:txBody>
      </p:sp>
      <p:sp>
        <p:nvSpPr>
          <p:cNvPr id="10" name=""/>
          <p:cNvSpPr txBox="1"/>
          <p:nvPr/>
        </p:nvSpPr>
        <p:spPr>
          <a:xfrm rot="0" flipH="0" flipV="0">
            <a:off x="1143000" y="41148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构造 SQL 的三种方式：模板 SQL、对象 DSL、条件构造器</a:t>
            </a:r>
            <a:endParaRPr/>
          </a:p>
        </p:txBody>
      </p:sp>
      <p:sp>
        <p:nvSpPr>
          <p:cNvPr id="11" name=""/>
          <p:cNvSpPr txBox="1"/>
          <p:nvPr/>
        </p:nvSpPr>
        <p:spPr>
          <a:xfrm rot="0" flipH="0" flipV="0">
            <a:off x="1143000" y="44577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查询结果与分页：limit / offset 由方言生成</a:t>
            </a:r>
            <a:endParaRPr/>
          </a:p>
        </p:txBody>
      </p:sp>
      <p:sp>
        <p:nvSpPr>
          <p:cNvPr id="12" name=""/>
          <p:cNvSpPr txBox="1"/>
          <p:nvPr/>
        </p:nvSpPr>
        <p:spPr>
          <a:xfrm rot="0" flipH="0" flipV="0">
            <a:off x="1143000" y="50292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 15 讲 / 共 25 讲　·　原稿第 79–82 页 + 首尾两页　·　约 12.5 分钟</a:t>
            </a:r>
            <a:endParaRPr/>
          </a:p>
        </p:txBody>
      </p:sp>
      <p:sp>
        <p:nvSpPr>
          <p:cNvPr id="13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7" name="矩形 256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568" name="矩形 2567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569" name="文本框 2568" descr="{&quot;isTemplate&quot;:true,&quot;type&quot;:&quot;text&quot;}"/>
          <p:cNvSpPr txBox="1"/>
          <p:nvPr/>
        </p:nvSpPr>
        <p:spPr>
          <a:xfrm>
            <a:off x="819150" y="304800"/>
            <a:ext cx="81534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ORM f_orm · 12.2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0" name="文本框 2569" descr="{&quot;isTemplate&quot;:true,&quot;type&quot;:&quot;text&quot;}"/>
          <p:cNvSpPr txBox="1"/>
          <p:nvPr/>
        </p:nvSpPr>
        <p:spPr>
          <a:xfrm>
            <a:off x="819150" y="514350"/>
            <a:ext cx="81534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ORM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配置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1" name="文本框 2570" descr="{&quot;isTemplate&quot;:true,&quot;type&quot;:&quot;text&quot;}"/>
          <p:cNvSpPr txBox="1"/>
          <p:nvPr/>
        </p:nvSpPr>
        <p:spPr>
          <a:xfrm>
            <a:off x="9144000" y="590550"/>
            <a:ext cx="2438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全局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orm_key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按驱动覆盖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driver_orm_key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2" name="圆角矩形 2571"/>
          <p:cNvSpPr/>
          <p:nvPr/>
        </p:nvSpPr>
        <p:spPr>
          <a:xfrm>
            <a:off x="609600" y="1143000"/>
            <a:ext cx="4476750" cy="2543175"/>
          </a:xfrm>
          <a:prstGeom prst="roundRect">
            <a:avLst>
              <a:gd name="adj" fmla="val 4494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573" name="文本框 2572" descr="{&quot;isTemplate&quot;:true,&quot;type&quot;:&quot;text&quot;}"/>
          <p:cNvSpPr txBox="1"/>
          <p:nvPr/>
        </p:nvSpPr>
        <p:spPr>
          <a:xfrm>
            <a:off x="800100" y="1333500"/>
            <a:ext cx="40957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命名约定</a:t>
            </a:r>
            <a:endParaRPr lang="zh-CN"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4" name="文本框 2573" descr="{&quot;isTemplate&quot;:true,&quot;type&quot;:&quot;text&quot;}"/>
          <p:cNvSpPr txBox="1"/>
          <p:nvPr/>
        </p:nvSpPr>
        <p:spPr>
          <a:xfrm>
            <a:off x="800100" y="1619250"/>
            <a:ext cx="409575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全局：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orm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下划线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key</a:t>
            </a:r>
            <a:endParaRPr lang="en-US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5" name="文本框 2574" descr="{&quot;isTemplate&quot;:true,&quot;type&quot;:&quot;text&quot;}"/>
          <p:cNvSpPr txBox="1"/>
          <p:nvPr/>
        </p:nvSpPr>
        <p:spPr>
          <a:xfrm>
            <a:off x="800100" y="1962150"/>
            <a:ext cx="409575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按驱动覆盖：驱动名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下划线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orm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下划线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key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，优先级更高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6" name="文本框 2575" descr="{&quot;isTemplate&quot;:true,&quot;type&quot;:&quot;text&quot;}"/>
          <p:cNvSpPr txBox="1"/>
          <p:nvPr/>
        </p:nvSpPr>
        <p:spPr>
          <a:xfrm>
            <a:off x="800100" y="2343150"/>
            <a:ext cx="409575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可以给所有驱动配一套默认值，再给某个驱动单独覆盖。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7" name="圆角矩形 2576"/>
          <p:cNvSpPr/>
          <p:nvPr/>
        </p:nvSpPr>
        <p:spPr>
          <a:xfrm>
            <a:off x="609600" y="3819525"/>
            <a:ext cx="4476750" cy="2466975"/>
          </a:xfrm>
          <a:prstGeom prst="roundRect">
            <a:avLst>
              <a:gd name="adj" fmla="val 4633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578" name="文本框 2577" descr="{&quot;isTemplate&quot;:true,&quot;type&quot;:&quot;text&quot;}"/>
          <p:cNvSpPr txBox="1"/>
          <p:nvPr/>
        </p:nvSpPr>
        <p:spPr>
          <a:xfrm>
            <a:off x="800100" y="4010025"/>
            <a:ext cx="40957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连接池就是</a:t>
            </a: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f_pool</a:t>
            </a:r>
            <a:endParaRPr lang="en-US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9" name="文本框 2578" descr="{&quot;isTemplate&quot;:true,&quot;type&quot;:&quot;text&quot;}"/>
          <p:cNvSpPr txBox="1"/>
          <p:nvPr/>
        </p:nvSpPr>
        <p:spPr>
          <a:xfrm>
            <a:off x="800100" y="4295775"/>
            <a:ext cx="409575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ORM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DatabasePool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f_pool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的一个应用（见第十七章）：调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ORM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连接池和直接调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f_pool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手感完全一样。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0" name="文本框 2579" descr="{&quot;isTemplate&quot;:true,&quot;type&quot;:&quot;text&quot;}"/>
          <p:cNvSpPr txBox="1"/>
          <p:nvPr/>
        </p:nvSpPr>
        <p:spPr>
          <a:xfrm>
            <a:off x="800100" y="4953000"/>
            <a:ext cx="409575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池实现三选一：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fountain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池（默认）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标准库池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第三方池。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1" name="圆角矩形 2580"/>
          <p:cNvSpPr/>
          <p:nvPr/>
        </p:nvSpPr>
        <p:spPr>
          <a:xfrm>
            <a:off x="5276850" y="1143000"/>
            <a:ext cx="63055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582" name="文本框 2581" descr="{&quot;isTemplate&quot;:true,&quot;type&quot;:&quot;text&quot;}"/>
          <p:cNvSpPr txBox="1"/>
          <p:nvPr/>
        </p:nvSpPr>
        <p:spPr>
          <a:xfrm>
            <a:off x="5448300" y="1314450"/>
            <a:ext cx="5962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环境变量（或等价的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--key=value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3" name="文本框 2582" descr="{&quot;isTemplate&quot;:true,&quot;type&quot;:&quot;text&quot;}"/>
          <p:cNvSpPr txBox="1"/>
          <p:nvPr/>
        </p:nvSpPr>
        <p:spPr>
          <a:xfrm>
            <a:off x="5448300" y="15430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orm_drivers=postgres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#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逗号分隔，可注册多数据源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84" name="文本框 2583" descr="{&quot;isTemplate&quot;:true,&quot;type&quot;:&quot;text&quot;}"/>
          <p:cNvSpPr txBox="1"/>
          <p:nvPr/>
        </p:nvSpPr>
        <p:spPr>
          <a:xfrm>
            <a:off x="5448300" y="17716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orm_defaultDriver=postgres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#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缺省取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drivers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第一个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85" name="文本框 2584" descr="{&quot;isTemplate&quot;:true,&quot;type&quot;:&quot;text&quot;}"/>
          <p:cNvSpPr txBox="1"/>
          <p:nvPr/>
        </p:nvSpPr>
        <p:spPr>
          <a:xfrm>
            <a:off x="5448300" y="20002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export postgres_orm_connectionUrl=$POSTGRES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#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按驱动覆盖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driver_orm_key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586" name="文本框 2585" descr="{&quot;isTemplate&quot;:true,&quot;type&quot;:&quot;text&quot;}"/>
          <p:cNvSpPr txBox="1"/>
          <p:nvPr/>
        </p:nvSpPr>
        <p:spPr>
          <a:xfrm>
            <a:off x="5448300" y="22288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export postgres_orm_option_username=$POSTGRES_USERNAME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587" name="文本框 2586" descr="{&quot;isTemplate&quot;:true,&quot;type&quot;:&quot;text&quot;}"/>
          <p:cNvSpPr txBox="1"/>
          <p:nvPr/>
        </p:nvSpPr>
        <p:spPr>
          <a:xfrm>
            <a:off x="5448300" y="24574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export postgres_orm_option_password=$POSTGRES_PASSWORD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588" name="文本框 2587" descr="{&quot;isTemplate&quot;:true,&quot;type&quot;:&quot;text&quot;}"/>
          <p:cNvSpPr txBox="1"/>
          <p:nvPr/>
        </p:nvSpPr>
        <p:spPr>
          <a:xfrm>
            <a:off x="5448300" y="26860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export orm_useCache=true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#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结果缓存，默认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true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589" name="文本框 2588" descr="{&quot;isTemplate&quot;:true,&quot;type&quot;:&quot;text&quot;}"/>
          <p:cNvSpPr txBox="1"/>
          <p:nvPr/>
        </p:nvSpPr>
        <p:spPr>
          <a:xfrm>
            <a:off x="5448300" y="29146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export orm_noPool=false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590" name="文本框 2589" descr="{&quot;isTemplate&quot;:true,&quot;type&quot;:&quot;text&quot;}"/>
          <p:cNvSpPr txBox="1"/>
          <p:nvPr/>
        </p:nvSpPr>
        <p:spPr>
          <a:xfrm>
            <a:off x="5448300" y="31432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export orm_useStdPool=false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# true=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标准库池，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false=fountain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池</a:t>
            </a:r>
            <a:endParaRPr lang="zh-CN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591" name="文本框 2590" descr="{&quot;isTemplate&quot;:true,&quot;type&quot;:&quot;text&quot;}"/>
          <p:cNvSpPr txBox="1"/>
          <p:nvPr/>
        </p:nvSpPr>
        <p:spPr>
          <a:xfrm>
            <a:off x="5448300" y="33718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export orm_useThirdPartyPool=false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592" name="文本框 2591" descr="{&quot;isTemplate&quot;:true,&quot;type&quot;:&quot;text&quot;}"/>
          <p:cNvSpPr txBox="1"/>
          <p:nvPr/>
        </p:nvSpPr>
        <p:spPr>
          <a:xfrm>
            <a:off x="5448300" y="36004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orm_databasePoolMaxSize=1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·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orm_databasePoolMinSize=1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93" name="文本框 2592" descr="{&quot;isTemplate&quot;:true,&quot;type&quot;:&quot;text&quot;}"/>
          <p:cNvSpPr txBox="1"/>
          <p:nvPr/>
        </p:nvSpPr>
        <p:spPr>
          <a:xfrm>
            <a:off x="5448300" y="38290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orm_databasePoolInitSize=1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94" name="文本框 2593" descr="{&quot;isTemplate&quot;:true,&quot;type&quot;:&quot;text&quot;}"/>
          <p:cNvSpPr txBox="1"/>
          <p:nvPr/>
        </p:nvSpPr>
        <p:spPr>
          <a:xfrm>
            <a:off x="5448300" y="40576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orm_databasePoolConnectTimeout=50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#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毫秒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95" name="文本框 2594" descr="{&quot;isTemplate&quot;:true,&quot;type&quot;:&quot;text&quot;}"/>
          <p:cNvSpPr txBox="1"/>
          <p:nvPr/>
        </p:nvSpPr>
        <p:spPr>
          <a:xfrm>
            <a:off x="5448300" y="42862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orm_databasePoolCheckSql='select 1'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96" name="文本框 2595" descr="{&quot;isTemplate&quot;:true,&quot;type&quot;:&quot;text&quot;}"/>
          <p:cNvSpPr txBox="1"/>
          <p:nvPr/>
        </p:nvSpPr>
        <p:spPr>
          <a:xfrm>
            <a:off x="5448300" y="45148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22D3EE"/>
                </a:solidFill>
                <a:latin typeface="JetBrains Mono"/>
                <a:ea typeface="JetBrains Mono"/>
              </a:rPr>
              <a:t>export sm4Key=$(fboot randhex 32)</a:t>
            </a:r>
            <a:endParaRPr lang="en-US" sz="90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2597" name="文本框 2596" descr="{&quot;isTemplate&quot;:true,&quot;type&quot;:&quot;text&quot;}"/>
          <p:cNvSpPr txBox="1"/>
          <p:nvPr/>
        </p:nvSpPr>
        <p:spPr>
          <a:xfrm>
            <a:off x="5448300" y="47434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22D3EE"/>
                </a:solidFill>
                <a:latin typeface="JetBrains Mono"/>
                <a:ea typeface="JetBrains Mono"/>
              </a:rPr>
              <a:t>export sm4Iv=$(fboot randhex 32)</a:t>
            </a:r>
            <a:endParaRPr lang="en-US" sz="90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2598" name="文本框 2597" descr="{&quot;isTemplate&quot;:true,&quot;type&quot;:&quot;text&quot;}"/>
          <p:cNvSpPr txBox="1"/>
          <p:nvPr/>
        </p:nvSpPr>
        <p:spPr>
          <a:xfrm>
            <a:off x="5448300" y="58864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读取规则同第四章：命令行参数覆盖同名环境变量。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99" name="任意多边形 259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600" name="文本框 259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01" name="文本框 2600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79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6" name="矩形 26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637" name="矩形 2636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638" name="文本框 2637" descr="{&quot;isTemplate&quot;:true,&quot;type&quot;:&quot;text&quot;}"/>
          <p:cNvSpPr txBox="1"/>
          <p:nvPr/>
        </p:nvSpPr>
        <p:spPr>
          <a:xfrm>
            <a:off x="819150" y="304800"/>
            <a:ext cx="9601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ORM f_orm · 12.3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9" name="文本框 2638" descr="{&quot;isTemplate&quot;:true,&quot;type&quot;:&quot;text&quot;}"/>
          <p:cNvSpPr txBox="1"/>
          <p:nvPr/>
        </p:nvSpPr>
        <p:spPr>
          <a:xfrm>
            <a:off x="819150" y="514350"/>
            <a:ext cx="9601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构造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SQL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：模板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SQL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与对象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DSL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0" name="文本框 2639" descr="{&quot;isTemplate&quot;:true,&quot;type&quot;:&quot;text&quot;}"/>
          <p:cNvSpPr txBox="1"/>
          <p:nvPr/>
        </p:nvSpPr>
        <p:spPr>
          <a:xfrm>
            <a:off x="10591800" y="590550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所有参数都走绑定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1" name="圆角矩形 2640"/>
          <p:cNvSpPr/>
          <p:nvPr/>
        </p:nvSpPr>
        <p:spPr>
          <a:xfrm>
            <a:off x="609600" y="1143000"/>
            <a:ext cx="5410200" cy="2343150"/>
          </a:xfrm>
          <a:prstGeom prst="roundRect">
            <a:avLst>
              <a:gd name="adj" fmla="val 4878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642" name="文本框 2641" descr="{&quot;isTemplate&quot;:true,&quot;type&quot;:&quot;text&quot;}"/>
          <p:cNvSpPr txBox="1"/>
          <p:nvPr/>
        </p:nvSpPr>
        <p:spPr>
          <a:xfrm>
            <a:off x="781050" y="1314450"/>
            <a:ext cx="506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方式一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模板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SQL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setSql + arg()</a:t>
            </a:r>
            <a:endParaRPr lang="en-US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3" name="文本框 2642" descr="{&quot;isTemplate&quot;:true,&quot;type&quot;:&quot;text&quot;}"/>
          <p:cNvSpPr txBox="1"/>
          <p:nvPr/>
        </p:nvSpPr>
        <p:spPr>
          <a:xfrm>
            <a:off x="781050" y="154305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func deleteUser(id: Int64): Int64 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44" name="文本框 2643" descr="{&quot;isTemplate&quot;:true,&quot;type&quot;:&quot;text&quot;}"/>
          <p:cNvSpPr txBox="1"/>
          <p:nvPr/>
        </p:nvSpPr>
        <p:spPr>
          <a:xfrm>
            <a:off x="781050" y="178117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executor.setSql('''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45" name="文本框 2644" descr="{&quot;isTemplate&quot;:true,&quot;type&quot;:&quot;text&quot;}"/>
          <p:cNvSpPr txBox="1"/>
          <p:nvPr/>
        </p:nvSpPr>
        <p:spPr>
          <a:xfrm>
            <a:off x="781050" y="201930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    delete from user_info where id = ${arg(id)}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46" name="文本框 2645" descr="{&quot;isTemplate&quot;:true,&quot;type&quot;:&quot;text&quot;}"/>
          <p:cNvSpPr txBox="1"/>
          <p:nvPr/>
        </p:nvSpPr>
        <p:spPr>
          <a:xfrm>
            <a:off x="781050" y="225742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''').delete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47" name="文本框 2646" descr="{&quot;isTemplate&quot;:true,&quot;type&quot;:&quot;text&quot;}"/>
          <p:cNvSpPr txBox="1"/>
          <p:nvPr/>
        </p:nvSpPr>
        <p:spPr>
          <a:xfrm>
            <a:off x="781050" y="249555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48" name="文本框 2647" descr="{&quot;isTemplate&quot;:true,&quot;type&quot;:&quot;text&quot;}"/>
          <p:cNvSpPr txBox="1"/>
          <p:nvPr/>
        </p:nvSpPr>
        <p:spPr>
          <a:xfrm>
            <a:off x="781050" y="2809875"/>
            <a:ext cx="50673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arg(x)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把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x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绑定到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PreparedStatement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并返回占位符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?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，所以必须写成字符串插值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不存在字符串拼接注入。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9" name="圆角矩形 2648"/>
          <p:cNvSpPr/>
          <p:nvPr/>
        </p:nvSpPr>
        <p:spPr>
          <a:xfrm>
            <a:off x="6172200" y="1143000"/>
            <a:ext cx="5410200" cy="2343150"/>
          </a:xfrm>
          <a:prstGeom prst="roundRect">
            <a:avLst>
              <a:gd name="adj" fmla="val 487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650" name="文本框 2649" descr="{&quot;isTemplate&quot;:true,&quot;type&quot;:&quot;text&quot;}"/>
          <p:cNvSpPr txBox="1"/>
          <p:nvPr/>
        </p:nvSpPr>
        <p:spPr>
          <a:xfrm>
            <a:off x="6343650" y="1314450"/>
            <a:ext cx="506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arg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支持的类型与集合展开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51" name="文本框 2650" descr="{&quot;isTemplate&quot;:true,&quot;type&quot;:&quot;text&quot;}"/>
          <p:cNvSpPr txBox="1"/>
          <p:nvPr/>
        </p:nvSpPr>
        <p:spPr>
          <a:xfrm>
            <a:off x="6343650" y="1543050"/>
            <a:ext cx="50673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Bool / Int* / UInt* / Float* / BigInt / Decimal / Rune / String / Duration / DateTime / InputStream /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字节数组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Data / Any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，以及这些类型的可空版本（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None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等价于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argNull()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）。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52" name="文本框 2651" descr="{&quot;isTemplate&quot;:true,&quot;type&quot;:&quot;text&quot;}"/>
          <p:cNvSpPr txBox="1"/>
          <p:nvPr/>
        </p:nvSpPr>
        <p:spPr>
          <a:xfrm>
            <a:off x="6343650" y="210502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arg(ids)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　　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//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一维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→ ' (?,?,?)'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653" name="文本框 2652" descr="{&quot;isTemplate&quot;:true,&quot;type&quot;:&quot;text&quot;}"/>
          <p:cNvSpPr txBox="1"/>
          <p:nvPr/>
        </p:nvSpPr>
        <p:spPr>
          <a:xfrm>
            <a:off x="6343650" y="234315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arg(matrix) //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二维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→ ' ((?,?),(?,?))'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654" name="圆角矩形 2653"/>
          <p:cNvSpPr/>
          <p:nvPr/>
        </p:nvSpPr>
        <p:spPr>
          <a:xfrm>
            <a:off x="609600" y="3619500"/>
            <a:ext cx="10972800" cy="2667000"/>
          </a:xfrm>
          <a:prstGeom prst="roundRect">
            <a:avLst>
              <a:gd name="adj" fmla="val 428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655" name="文本框 2654" descr="{&quot;isTemplate&quot;:true,&quot;type&quot;:&quot;text&quot;}"/>
          <p:cNvSpPr txBox="1"/>
          <p:nvPr/>
        </p:nvSpPr>
        <p:spPr>
          <a:xfrm>
            <a:off x="781050" y="3790950"/>
            <a:ext cx="10629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方式二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面向对象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DSL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56" name="文本框 2655" descr="{&quot;isTemplate&quot;:true,&quot;type&quot;:&quot;text&quot;}"/>
          <p:cNvSpPr txBox="1"/>
          <p:nvPr/>
        </p:nvSpPr>
        <p:spPr>
          <a:xfrm>
            <a:off x="781050" y="4019550"/>
            <a:ext cx="10629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executor.FROM&lt;UserPO&gt;().WHERE(UserPO.tableColumns().id.eq(id)).first&lt;UserPO&gt;().getOrThrow()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657" name="文本框 2656" descr="{&quot;isTemplate&quot;:true,&quot;type&quot;:&quot;text&quot;}"/>
          <p:cNvSpPr txBox="1"/>
          <p:nvPr/>
        </p:nvSpPr>
        <p:spPr>
          <a:xfrm>
            <a:off x="781050" y="4248150"/>
            <a:ext cx="10629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executor.INSERT_INTO&lt;UserPO&gt;(user)          //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返回自增主键</a:t>
            </a:r>
            <a:endParaRPr lang="zh-CN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658" name="文本框 2657" descr="{&quot;isTemplate&quot;:true,&quot;type&quot;:&quot;text&quot;}"/>
          <p:cNvSpPr txBox="1"/>
          <p:nvPr/>
        </p:nvSpPr>
        <p:spPr>
          <a:xfrm>
            <a:off x="781050" y="4476750"/>
            <a:ext cx="10629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executor.INTO&lt;UserPO&gt;(user, ignoreColumns: ['password'])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59" name="文本框 2658" descr="{&quot;isTemplate&quot;:true,&quot;type&quot;:&quot;text&quot;}"/>
          <p:cNvSpPr txBox="1"/>
          <p:nvPr/>
        </p:nvSpPr>
        <p:spPr>
          <a:xfrm>
            <a:off x="781050" y="4705350"/>
            <a:ext cx="10629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let map = HashMap&lt;Column, Any&gt;()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// key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可以是列名、成员名或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Column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对象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60" name="文本框 2659" descr="{&quot;isTemplate&quot;:true,&quot;type&quot;:&quot;text&quot;}"/>
          <p:cNvSpPr txBox="1"/>
          <p:nvPr/>
        </p:nvSpPr>
        <p:spPr>
          <a:xfrm>
            <a:off x="781050" y="4933950"/>
            <a:ext cx="10629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executor.UPDATE&lt;UserPO&gt;(map)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·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executor.UPDATE&lt;UserPO&gt;(user, dirty: true)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61" name="文本框 2660" descr="{&quot;isTemplate&quot;:true,&quot;type&quot;:&quot;text&quot;}"/>
          <p:cNvSpPr txBox="1"/>
          <p:nvPr/>
        </p:nvSpPr>
        <p:spPr>
          <a:xfrm>
            <a:off x="781050" y="5238750"/>
            <a:ext cx="10629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dirty / ignoredColumns / includingColumns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是同一个函数的三个命名实参，每次调用只能指定其中一个，指定两个会抛异常。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62" name="文本框 2661" descr="{&quot;isTemplate&quot;:true,&quot;type&quot;:&quot;text&quot;}"/>
          <p:cNvSpPr txBox="1"/>
          <p:nvPr/>
        </p:nvSpPr>
        <p:spPr>
          <a:xfrm>
            <a:off x="781050" y="5886450"/>
            <a:ext cx="10629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dirty: true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配合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@QueryMappersGenerator[dirty]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setter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自动调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DirtyTag.setDirtyField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UPDATE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时只更新改过的列。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63" name="任意多边形 2662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664" name="文本框 2663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65" name="文本框 2664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80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7" name="矩形 266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668" name="矩形 2667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669" name="文本框 2668" descr="{&quot;isTemplate&quot;:true,&quot;type&quot;:&quot;text&quot;}"/>
          <p:cNvSpPr txBox="1"/>
          <p:nvPr/>
        </p:nvSpPr>
        <p:spPr>
          <a:xfrm>
            <a:off x="819150" y="304800"/>
            <a:ext cx="92297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ORM f_orm · 12.3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70" name="文本框 2669" descr="{&quot;isTemplate&quot;:true,&quot;type&quot;:&quot;text&quot;}"/>
          <p:cNvSpPr txBox="1"/>
          <p:nvPr/>
        </p:nvSpPr>
        <p:spPr>
          <a:xfrm>
            <a:off x="819150" y="514350"/>
            <a:ext cx="92297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条件构造器：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meet / choose / loop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与子句块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71" name="文本框 2670" descr="{&quot;isTemplate&quot;:true,&quot;type&quot;:&quot;text&quot;}"/>
          <p:cNvSpPr txBox="1"/>
          <p:nvPr/>
        </p:nvSpPr>
        <p:spPr>
          <a:xfrm>
            <a:off x="10220325" y="590550"/>
            <a:ext cx="13620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内容为空自动省略关键字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72" name="圆角矩形 2671"/>
          <p:cNvSpPr/>
          <p:nvPr/>
        </p:nvSpPr>
        <p:spPr>
          <a:xfrm>
            <a:off x="609600" y="1143000"/>
            <a:ext cx="10972800" cy="2457450"/>
          </a:xfrm>
          <a:prstGeom prst="roundRect">
            <a:avLst>
              <a:gd name="adj" fmla="val 4651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673" name="文本框 2672" descr="{&quot;isTemplate&quot;:true,&quot;type&quot;:&quot;text&quot;}"/>
          <p:cNvSpPr txBox="1"/>
          <p:nvPr/>
        </p:nvSpPr>
        <p:spPr>
          <a:xfrm>
            <a:off x="781050" y="1314450"/>
            <a:ext cx="10629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条件成立才拼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逻辑组合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74" name="文本框 2673" descr="{&quot;isTemplate&quot;:true,&quot;type&quot;:&quot;text&quot;}"/>
          <p:cNvSpPr txBox="1"/>
          <p:nvPr/>
        </p:nvSpPr>
        <p:spPr>
          <a:xfrm>
            <a:off x="781050" y="1543050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executor.FROM&lt;UserPO&gt;()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75" name="文本框 2674" descr="{&quot;isTemplate&quot;:true,&quot;type&quot;:&quot;text&quot;}"/>
          <p:cNvSpPr txBox="1"/>
          <p:nvPr/>
        </p:nvSpPr>
        <p:spPr>
          <a:xfrm>
            <a:off x="781050" y="1781175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    .WHERE(meet(userLike.size &gt; 0){ UserPO.tableColumns().username.LIKE('%${userLike}%') })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676" name="文本框 2675" descr="{&quot;isTemplate&quot;:true,&quot;type&quot;:&quot;text&quot;}"/>
          <p:cNvSpPr txBox="1"/>
          <p:nvPr/>
        </p:nvSpPr>
        <p:spPr>
          <a:xfrm>
            <a:off x="781050" y="2019300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    .ORDER_BY(UserPO.tableColumns().id.ASC())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77" name="文本框 2676" descr="{&quot;isTemplate&quot;:true,&quot;type&quot;:&quot;text&quot;}"/>
          <p:cNvSpPr txBox="1"/>
          <p:nvPr/>
        </p:nvSpPr>
        <p:spPr>
          <a:xfrm>
            <a:off x="781050" y="2257425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    .page&lt;UserPO&gt;(100, page: 1)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78" name="文本框 2677" descr="{&quot;isTemplate&quot;:true,&quot;type&quot;:&quot;text&quot;}"/>
          <p:cNvSpPr txBox="1"/>
          <p:nvPr/>
        </p:nvSpPr>
        <p:spPr>
          <a:xfrm>
            <a:off x="781050" y="2590800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executor.FROM&lt;UserPO&gt;()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679" name="文本框 2678" descr="{&quot;isTemplate&quot;:true,&quot;type&quot;:&quot;text&quot;}"/>
          <p:cNvSpPr txBox="1"/>
          <p:nvPr/>
        </p:nvSpPr>
        <p:spPr>
          <a:xfrm>
            <a:off x="781050" y="2828925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    .WHERE(AND(UserPO.tableColumns().username.eq(username),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680" name="文本框 2679" descr="{&quot;isTemplate&quot;:true,&quot;type&quot;:&quot;text&quot;}"/>
          <p:cNvSpPr txBox="1"/>
          <p:nvPr/>
        </p:nvSpPr>
        <p:spPr>
          <a:xfrm>
            <a:off x="781050" y="3067050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               UserPO.tableColumns().password.eq(password)))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681" name="文本框 2680" descr="{&quot;isTemplate&quot;:true,&quot;type&quot;:&quot;text&quot;}"/>
          <p:cNvSpPr txBox="1"/>
          <p:nvPr/>
        </p:nvSpPr>
        <p:spPr>
          <a:xfrm>
            <a:off x="781050" y="3305175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    .singleFirst&lt;Int64&gt;(UserPO.tableColumns().id)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82" name="圆角矩形 2681"/>
          <p:cNvSpPr/>
          <p:nvPr/>
        </p:nvSpPr>
        <p:spPr>
          <a:xfrm>
            <a:off x="609600" y="3733800"/>
            <a:ext cx="5410200" cy="2552700"/>
          </a:xfrm>
          <a:prstGeom prst="roundRect">
            <a:avLst>
              <a:gd name="adj" fmla="val 447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683" name="文本框 2682" descr="{&quot;isTemplate&quot;:true,&quot;type&quot;:&quot;text&quot;}"/>
          <p:cNvSpPr txBox="1"/>
          <p:nvPr/>
        </p:nvSpPr>
        <p:spPr>
          <a:xfrm>
            <a:off x="781050" y="3905250"/>
            <a:ext cx="506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字符串版本的子句拼接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84" name="文本框 2683" descr="{&quot;isTemplate&quot;:true,&quot;type&quot;:&quot;text&quot;}"/>
          <p:cNvSpPr txBox="1"/>
          <p:nvPr/>
        </p:nvSpPr>
        <p:spPr>
          <a:xfrm>
            <a:off x="781050" y="4133850"/>
            <a:ext cx="50673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setSql('update user_info ${SET { 'username = ${arg(name)}' }} where id = ${arg(id)}')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85" name="文本框 2684" descr="{&quot;isTemplate&quot;:true,&quot;type&quot;:&quot;text&quot;}"/>
          <p:cNvSpPr txBox="1"/>
          <p:nvPr/>
        </p:nvSpPr>
        <p:spPr>
          <a:xfrm>
            <a:off x="781050" y="460057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setSql('select * from user_info ${WHERE { 'id = ${arg(id)}' }}')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86" name="文本框 2685" descr="{&quot;isTemplate&quot;:true,&quot;type&quot;:&quot;text&quot;}"/>
          <p:cNvSpPr txBox="1"/>
          <p:nvPr/>
        </p:nvSpPr>
        <p:spPr>
          <a:xfrm>
            <a:off x="781050" y="483870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setSql('select * from user_info where id ${IN(ids)}')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87" name="文本框 2686" descr="{&quot;isTemplate&quot;:true,&quot;type&quot;:&quot;text&quot;}"/>
          <p:cNvSpPr txBox="1"/>
          <p:nvPr/>
        </p:nvSpPr>
        <p:spPr>
          <a:xfrm>
            <a:off x="781050" y="5153025"/>
            <a:ext cx="50673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WHERE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SET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的好处：内容为空时自动省略关键字，不会拼出「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where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后面什么都没有」的非法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SQL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88" name="圆角矩形 2687"/>
          <p:cNvSpPr/>
          <p:nvPr/>
        </p:nvSpPr>
        <p:spPr>
          <a:xfrm>
            <a:off x="6172200" y="3733800"/>
            <a:ext cx="5410200" cy="2552700"/>
          </a:xfrm>
          <a:prstGeom prst="roundRect">
            <a:avLst>
              <a:gd name="adj" fmla="val 4478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689" name="文本框 2688" descr="{&quot;isTemplate&quot;:true,&quot;type&quot;:&quot;text&quot;}"/>
          <p:cNvSpPr txBox="1"/>
          <p:nvPr/>
        </p:nvSpPr>
        <p:spPr>
          <a:xfrm>
            <a:off x="6343650" y="3905250"/>
            <a:ext cx="506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关系运算片段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90" name="文本框 2689" descr="{&quot;isTemplate&quot;:true,&quot;type&quot;:&quot;text&quot;}"/>
          <p:cNvSpPr txBox="1"/>
          <p:nvPr/>
        </p:nvSpPr>
        <p:spPr>
          <a:xfrm>
            <a:off x="6343650" y="413385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IN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NOT_IN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LIKE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NOT_LIKE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BETWEEN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EXISTS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NOT_EXISTS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AND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OR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NOT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paren</a:t>
            </a:r>
            <a:endParaRPr lang="en-US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91" name="文本框 2690" descr="{&quot;isTemplate&quot;:true,&quot;type&quot;:&quot;text&quot;}"/>
          <p:cNvSpPr txBox="1"/>
          <p:nvPr/>
        </p:nvSpPr>
        <p:spPr>
          <a:xfrm>
            <a:off x="6343650" y="446722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注意它们只返回运算符部分，左值要自己拼。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92" name="文本框 2691" descr="{&quot;isTemplate&quot;:true,&quot;type&quot;:&quot;text&quot;}"/>
          <p:cNvSpPr txBox="1"/>
          <p:nvPr/>
        </p:nvSpPr>
        <p:spPr>
          <a:xfrm>
            <a:off x="6343650" y="587692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选择建议：简单查询用方法链；条件复杂的用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meet + WHERE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块；极复杂的用模板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SQL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93" name="任意多边形 2692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694" name="文本框 2693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95" name="文本框 2694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81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7" name="矩形 269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698" name="矩形 2697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699" name="文本框 2698" descr="{&quot;isTemplate&quot;:true,&quot;type&quot;:&quot;text&quot;}"/>
          <p:cNvSpPr txBox="1"/>
          <p:nvPr/>
        </p:nvSpPr>
        <p:spPr>
          <a:xfrm>
            <a:off x="819150" y="304800"/>
            <a:ext cx="92106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ORM f_orm · 12.4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00" name="文本框 2699" descr="{&quot;isTemplate&quot;:true,&quot;type&quot;:&quot;text&quot;}"/>
          <p:cNvSpPr txBox="1"/>
          <p:nvPr/>
        </p:nvSpPr>
        <p:spPr>
          <a:xfrm>
            <a:off x="819150" y="514350"/>
            <a:ext cx="92106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查询结果与分页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01" name="文本框 2700" descr="{&quot;isTemplate&quot;:true,&quot;type&quot;:&quot;text&quot;}"/>
          <p:cNvSpPr txBox="1"/>
          <p:nvPr/>
        </p:nvSpPr>
        <p:spPr>
          <a:xfrm>
            <a:off x="10201275" y="590550"/>
            <a:ext cx="1381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limit / offset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由方言生成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02" name="圆角矩形 2701"/>
          <p:cNvSpPr/>
          <p:nvPr/>
        </p:nvSpPr>
        <p:spPr>
          <a:xfrm>
            <a:off x="609600" y="1143000"/>
            <a:ext cx="5410200" cy="2438400"/>
          </a:xfrm>
          <a:prstGeom prst="roundRect">
            <a:avLst>
              <a:gd name="adj" fmla="val 468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703" name="文本框 2702" descr="{&quot;isTemplate&quot;:true,&quot;type&quot;:&quot;text&quot;}"/>
          <p:cNvSpPr txBox="1"/>
          <p:nvPr/>
        </p:nvSpPr>
        <p:spPr>
          <a:xfrm>
            <a:off x="781050" y="1314450"/>
            <a:ext cx="506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读取结果的四类函数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04" name="文本框 2703" descr="{&quot;isTemplate&quot;:true,&quot;type&quot;:&quot;text&quot;}"/>
          <p:cNvSpPr txBox="1"/>
          <p:nvPr/>
        </p:nvSpPr>
        <p:spPr>
          <a:xfrm>
            <a:off x="781050" y="154305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//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单列</a:t>
            </a:r>
            <a:endParaRPr lang="zh-CN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705" name="文本框 2704" descr="{&quot;isTemplate&quot;:true,&quot;type&quot;:&quot;text&quot;}"/>
          <p:cNvSpPr txBox="1"/>
          <p:nvPr/>
        </p:nvSpPr>
        <p:spPr>
          <a:xfrm>
            <a:off x="781050" y="179070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singleFirst&lt;T&gt;() / singleFirst&lt;T&gt;(index) / singleFirst&lt;T&gt;(column)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06" name="文本框 2705" descr="{&quot;isTemplate&quot;:true,&quot;type&quot;:&quot;text&quot;}"/>
          <p:cNvSpPr txBox="1"/>
          <p:nvPr/>
        </p:nvSpPr>
        <p:spPr>
          <a:xfrm>
            <a:off x="781050" y="203835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singleList&lt;T&gt;() / singleIterator&lt;T&gt;()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07" name="文本框 2706" descr="{&quot;isTemplate&quot;:true,&quot;type&quot;:&quot;text&quot;}"/>
          <p:cNvSpPr txBox="1"/>
          <p:nvPr/>
        </p:nvSpPr>
        <p:spPr>
          <a:xfrm>
            <a:off x="781050" y="234315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//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对象（依赖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QueryMappers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）</a:t>
            </a:r>
            <a:endParaRPr lang="zh-CN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708" name="文本框 2707" descr="{&quot;isTemplate&quot;:true,&quot;type&quot;:&quot;text&quot;}"/>
          <p:cNvSpPr txBox="1"/>
          <p:nvPr/>
        </p:nvSpPr>
        <p:spPr>
          <a:xfrm>
            <a:off x="781050" y="259080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first&lt;T&gt;() / list&lt;T&gt;() / iterator&lt;T&gt;() / one&lt;T&gt;()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09" name="文本框 2708" descr="{&quot;isTemplate&quot;:true,&quot;type&quot;:&quot;text&quot;}"/>
          <p:cNvSpPr txBox="1"/>
          <p:nvPr/>
        </p:nvSpPr>
        <p:spPr>
          <a:xfrm>
            <a:off x="781050" y="289560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//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无类型</a:t>
            </a:r>
            <a:endParaRPr lang="zh-CN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710" name="文本框 2709" descr="{&quot;isTemplate&quot;:true,&quot;type&quot;:&quot;text&quot;}"/>
          <p:cNvSpPr txBox="1"/>
          <p:nvPr/>
        </p:nvSpPr>
        <p:spPr>
          <a:xfrm>
            <a:off x="781050" y="314325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firstToMap() / mapList()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11" name="圆角矩形 2710"/>
          <p:cNvSpPr/>
          <p:nvPr/>
        </p:nvSpPr>
        <p:spPr>
          <a:xfrm>
            <a:off x="6172200" y="1143000"/>
            <a:ext cx="5410200" cy="2438400"/>
          </a:xfrm>
          <a:prstGeom prst="roundRect">
            <a:avLst>
              <a:gd name="adj" fmla="val 4688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712" name="文本框 2711" descr="{&quot;isTemplate&quot;:true,&quot;type&quot;:&quot;text&quot;}"/>
          <p:cNvSpPr txBox="1"/>
          <p:nvPr/>
        </p:nvSpPr>
        <p:spPr>
          <a:xfrm>
            <a:off x="6343650" y="1314450"/>
            <a:ext cx="506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分页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13" name="文本框 2712" descr="{&quot;isTemplate&quot;:true,&quot;type&quot;:&quot;text&quot;}"/>
          <p:cNvSpPr txBox="1"/>
          <p:nvPr/>
        </p:nvSpPr>
        <p:spPr>
          <a:xfrm>
            <a:off x="6343650" y="154305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let p = executor.FROM&lt;UserPO&gt;().page&lt;UserPO&gt;(10, page: 1)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14" name="文本框 2713" descr="{&quot;isTemplate&quot;:true,&quot;type&quot;:&quot;text&quot;}"/>
          <p:cNvSpPr txBox="1"/>
          <p:nvPr/>
        </p:nvSpPr>
        <p:spPr>
          <a:xfrm>
            <a:off x="6343650" y="186690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p.page    //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当前页（从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1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开始）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15" name="文本框 2714" descr="{&quot;isTemplate&quot;:true,&quot;type&quot;:&quot;text&quot;}"/>
          <p:cNvSpPr txBox="1"/>
          <p:nvPr/>
        </p:nvSpPr>
        <p:spPr>
          <a:xfrm>
            <a:off x="6343650" y="211455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p.size    //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每页大小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16" name="文本框 2715" descr="{&quot;isTemplate&quot;:true,&quot;type&quot;:&quot;text&quot;}"/>
          <p:cNvSpPr txBox="1"/>
          <p:nvPr/>
        </p:nvSpPr>
        <p:spPr>
          <a:xfrm>
            <a:off x="6343650" y="236220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p.rows    //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总记录数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17" name="文本框 2716" descr="{&quot;isTemplate&quot;:true,&quot;type&quot;:&quot;text&quot;}"/>
          <p:cNvSpPr txBox="1"/>
          <p:nvPr/>
        </p:nvSpPr>
        <p:spPr>
          <a:xfrm>
            <a:off x="6343650" y="260985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p.pages   //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总页数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18" name="文本框 2717" descr="{&quot;isTemplate&quot;:true,&quot;type&quot;:&quot;text&quot;}"/>
          <p:cNvSpPr txBox="1"/>
          <p:nvPr/>
        </p:nvSpPr>
        <p:spPr>
          <a:xfrm>
            <a:off x="6343650" y="285750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p.list    //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当前页数据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19" name="文本框 2718" descr="{&quot;isTemplate&quot;:true,&quot;type&quot;:&quot;text&quot;}"/>
          <p:cNvSpPr txBox="1"/>
          <p:nvPr/>
        </p:nvSpPr>
        <p:spPr>
          <a:xfrm>
            <a:off x="6343650" y="316230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page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系列要求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SQL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以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select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开头，否则抛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ORMException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0" name="圆角矩形 2719"/>
          <p:cNvSpPr/>
          <p:nvPr/>
        </p:nvSpPr>
        <p:spPr>
          <a:xfrm>
            <a:off x="609600" y="3733800"/>
            <a:ext cx="10972800" cy="2552700"/>
          </a:xfrm>
          <a:prstGeom prst="roundRect">
            <a:avLst>
              <a:gd name="adj" fmla="val 4478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721" name="文本框 2720" descr="{&quot;isTemplate&quot;:true,&quot;type&quot;:&quot;text&quot;}"/>
          <p:cNvSpPr txBox="1"/>
          <p:nvPr/>
        </p:nvSpPr>
        <p:spPr>
          <a:xfrm>
            <a:off x="800100" y="3924300"/>
            <a:ext cx="10591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分页是怎么实现的</a:t>
            </a:r>
            <a:endParaRPr lang="zh-CN"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2" name="文本框 2721" descr="{&quot;isTemplate&quot;:true,&quot;type&quot;:&quot;text&quot;}"/>
          <p:cNvSpPr txBox="1"/>
          <p:nvPr/>
        </p:nvSpPr>
        <p:spPr>
          <a:xfrm>
            <a:off x="800100" y="4210050"/>
            <a:ext cx="105918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先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select count(*) from (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原始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SQL) as __tmp___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算总数；②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再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select * from (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原始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SQL) as __tmp___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加上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limit / offset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3" name="文本框 2722" descr="{&quot;isTemplate&quot;:true,&quot;type&quot;:&quot;text&quot;}"/>
          <p:cNvSpPr txBox="1"/>
          <p:nvPr/>
        </p:nvSpPr>
        <p:spPr>
          <a:xfrm>
            <a:off x="800100" y="4572000"/>
            <a:ext cx="105918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limit / offset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由方言（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Dialect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）生成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换数据库不用改代码。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4" name="文本框 2723" descr="{&quot;isTemplate&quot;:true,&quot;type&quot;:&quot;text&quot;}"/>
          <p:cNvSpPr txBox="1"/>
          <p:nvPr/>
        </p:nvSpPr>
        <p:spPr>
          <a:xfrm>
            <a:off x="800100" y="4933950"/>
            <a:ext cx="105918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Pagination&lt;T&gt;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本身实现了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ObjectData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，可以直接作为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PO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的字段被序列化（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fdemo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UserList.fields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就是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Pagination&lt;UserPO&gt;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）。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5" name="任意多边形 272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726" name="文本框 272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7" name="文本框 272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82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6" name=""/>
          <p:cNvSpPr txBox="1"/>
          <p:nvPr/>
        </p:nvSpPr>
        <p:spPr>
          <a:xfrm rot="0" flipH="0" flipV="0">
            <a:off x="8458200" y="1619250"/>
            <a:ext cx="3352800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16233A"/>
                </a:solidFill>
                <a:latin typeface="JetBrains Mono"/>
                <a:ea typeface="JetBrains Mono"/>
              </a:rPr>
              <a:t>END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1143000" y="142875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9" name=""/>
          <p:cNvSpPr txBox="1"/>
          <p:nvPr/>
        </p:nvSpPr>
        <p:spPr>
          <a:xfrm rot="0" flipH="0" flipV="0">
            <a:off x="1333500" y="1514475"/>
            <a:ext cx="3181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本讲小结</a:t>
            </a: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15 / 25</a:t>
            </a:r>
            <a:endParaRPr/>
          </a:p>
        </p:txBody>
      </p:sp>
      <p:sp>
        <p:nvSpPr>
          <p:cNvPr id="20" name=""/>
          <p:cNvSpPr txBox="1"/>
          <p:nvPr/>
        </p:nvSpPr>
        <p:spPr>
          <a:xfrm rot="0" flipH="0" flipV="0">
            <a:off x="1143000" y="2019300"/>
            <a:ext cx="2600325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ORM：SQL 构造与分页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1143000" y="272415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2" name=""/>
          <p:cNvSpPr txBox="1"/>
          <p:nvPr/>
        </p:nvSpPr>
        <p:spPr>
          <a:xfrm rot="0" flipH="0" flipV="0">
            <a:off x="1143000" y="32004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ORM 配置项全表与两条 ARG 规则</a:t>
            </a:r>
            <a:endParaRPr/>
          </a:p>
        </p:txBody>
      </p:sp>
      <p:sp>
        <p:nvSpPr>
          <p:cNvPr id="23" name=""/>
          <p:cNvSpPr txBox="1"/>
          <p:nvPr/>
        </p:nvSpPr>
        <p:spPr>
          <a:xfrm rot="0" flipH="0" flipV="0">
            <a:off x="1143000" y="363855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构造 SQL 的三种方式：模板 SQL、对象 DSL、条件构造器</a:t>
            </a:r>
            <a:endParaRPr/>
          </a:p>
        </p:txBody>
      </p:sp>
      <p:sp>
        <p:nvSpPr>
          <p:cNvPr id="24" name=""/>
          <p:cNvSpPr txBox="1"/>
          <p:nvPr/>
        </p:nvSpPr>
        <p:spPr>
          <a:xfrm rot="0" flipH="0" flipV="0">
            <a:off x="1143000" y="40767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查询结果与分页：limit / offset 由方言生成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1143000" y="4762500"/>
            <a:ext cx="38100" cy="381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6" name=""/>
          <p:cNvSpPr txBox="1"/>
          <p:nvPr/>
        </p:nvSpPr>
        <p:spPr>
          <a:xfrm rot="0" flipH="0" flipV="0">
            <a:off x="1371600" y="4857750"/>
            <a:ext cx="1057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下一讲：事务控制与安全开场</a:t>
            </a:r>
            <a:endParaRPr/>
          </a:p>
        </p:txBody>
      </p:sp>
      <p:sp>
        <p:nvSpPr>
          <p:cNvPr id="27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helloworld</cp:lastModifiedBy>
  <cp:revision>148</cp:revision>
  <dcterms:created xsi:type="dcterms:W3CDTF">2026-10-02T13:55:00Z</dcterms:created>
  <dcterms:modified xsi:type="dcterms:W3CDTF">2026-10-03T02:38:11Z</dcterms:modified>
</cp:coreProperties>
</file>