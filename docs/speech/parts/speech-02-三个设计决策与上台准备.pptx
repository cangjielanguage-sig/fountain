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  <p:sldId id="264" r:id="rIdSl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这一讲把 fountain 的三个反直觉设计决策一次讲完。第一，应用项目编译成动态链接库，由 fboot 扫描加载，代码里没有 main。第二，宏为主、注解为辅，能编译期解决的绝不留到运行期，反射只出现两次。第三，一切配置都是环境变量或命令行参数。然后坦白讲清楚什么场景不适合用，最后做上台准备。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第一个反直觉的设计决策：用 fountain 开发，你的代码里不需要写 main 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项目初始化成 workspace，每个模块编译成动态链接库，然后由 fboot 加载这些动态链接库完成启动。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我把它拆开看。fboot run 会递归扫描目录，加载文件名匹配 --dylibPattern 正则的那些库。动态链接库一加载，fountain 宏在展开时生成的顶级匿名闭包就会执行，把 @Bean 注册进 IOC、把各个 Initializer 实现注册进集合、把 controller 函数注册到 MVC。然后按 dependencies 做拓扑排序，依次调 initialize，再收集所有 start。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带来的好处是三个。第一，装配发生在运行期——加一个功能就是把一个动态链接库放进目录，不要它就从加载名单里去掉，这是真正的插件化。第二，启动由框架统一负责，初始化顺序、依赖拓扑、退出回调都由 f_app 的 Initializer 机制处理。第三，业务代码只剩业务，没有启动样板。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第二个决策：项目初始化，宏为主，注解为辅，装配代码由宏在编译期生成；反射只在两处各点一下。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先把话说准：fountain 也用了很多注解。IOC 的 bean 元数据、AOP 的织入规则、controller 的 HTTP 映射和参数绑定，这些都是注解，写起来和 Spring 很像。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区别在于注解由谁处理、什么时候处理。@Bean、@Controller、@DAO、@QueryMappersGenerator、@ORMField、@DataAssist 这些在 fountain 里是仓颉宏：编译期就把注册代码、getter setter、列映射、DAO 实现扩展全部生成好了。所以你不会看到 XML，也不会有「启动扫包扫半天」。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反射用得极少，只有两个时机。一个是启动初始化时，读一遍注解、类型和函数签名，把 bean 表、路由表建起来。另一个是切点函数第一次被调用时，算出这条链上要织入哪些切面，之后缓存住。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而且这两处反射都只用来取信息，不会用反射去调你的方法、读写你的字段。能编译期解决的，绝不留到运行期。代价是宏的用法必须遵守它的约定，不遵守这些约定编译期就会报错，不会拖到线上。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第三个决策：一切配置都是环境变量或 --key=value 形式的命令行参数，运行期优先级高于编译期。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fountain 没有自己的配置文件格式。端口、连接池、事务规则、日志格式、数据库连接串，全部来自环境变量或命令行参数，两者完全平级，同名时命令行参数生效。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好处是容器化、Docker、K8s 天然适配。更妙的是 fboot build 支持把 SM4 的密钥和 IV、数据库连接 URL、数据库用户名密码，以命令行参数或环境变量的形式在编译期注入到产物里，而运行期的同名配置会覆盖它。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于是你可以做两件事：第一，运行环境里不出现敏感信息；第二，运行期用环境变量或者命令行参数覆盖，做到「一份产物、多环境部署」。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这套机制由 f_config 提供，第四章会完整展开：命令行参数的四种写法、四级读取优先级、SM4 加密内嵌敏感配置，以及 @EmbedSensitive 宏。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什么情况不该用</a:t>
            </a:r>
            <a:r>
              <a:rPr lang="en-US" altLang="zh-CN" dirty="0"/>
              <a:t>fountain</a:t>
            </a:r>
            <a:r>
              <a:rPr lang="zh-CN" dirty="0"/>
              <a:t>，我讲得直白一点：fountain 不是万能的。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第一，它只支持仓颉语言，而且当前主要面向 Linux的服务端场景。你要是写别的语言，或者主要跑在别的形态上，它帮不上忙。很多高级</a:t>
            </a:r>
            <a:r>
              <a:rPr lang="en-US" altLang="zh-CN" dirty="0"/>
              <a:t>API</a:t>
            </a:r>
            <a:r>
              <a:rPr lang="zh-CN" altLang="en-US" dirty="0"/>
              <a:t>也只提供了</a:t>
            </a:r>
            <a:r>
              <a:rPr lang="en-US" altLang="zh-CN" dirty="0"/>
              <a:t>Linux</a:t>
            </a:r>
            <a:r>
              <a:rPr lang="zh-CN" altLang="en-US" dirty="0"/>
              <a:t>版本，其他操作系统只提供了依赖标准库的降级支持。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第二，IOC 只管理 class，不管理 struct。因为 struct 是值类型，取出来就会复制，作者认为得不偿失。这是明确的取舍，不是遗漏。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第三，它依赖 stdx动态链接库，需要配置 CANGJIE_STDX_DYNAMIC_PATH 这个环境变量。这里必须要注意，绝对不要依赖静态链接库。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第四，宏的约定比较硬，第一次上手会有一个「为什么这么写才编译得过」的阶段，这个阶段躲不掉。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所以结论是：如果你的项目只有几百行、只有一个接口，直接写一个 HTTP 服务可能更省事。fountain 的价值在中大型、需要长期演进的服务端应用上。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上台之前先把环境说清楚，后面所有演示都建立在这上面。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第一步是环境变量，建议直接写进 ~/.bashrc。需要设的有五个：CANGJIE_STDX_DYNAMIC_PATH 指向 stdx 的动态链接库目录；CANGJIE_STDX_PATH 等于它；FOUNTAIN_HOME 指向 fboot 的 libs 目录；LD_LIBRARY_PATH 把 FOUNTAIN_HOME 加进去；PATH 加上 安装</a:t>
            </a:r>
            <a:r>
              <a:rPr lang="en-US" altLang="zh-CN" dirty="0"/>
              <a:t>fboot</a:t>
            </a:r>
            <a:r>
              <a:rPr lang="zh-CN" dirty="0"/>
              <a:t>的 bin 目录。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第二步安装 fboot，一条 cjpm install，把版本号换成实际版本，root 指向 安装目录。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第三步验证，fboot version。屏幕上应该打印出当前的 fountain 版本号，比如 1.3.x。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提醒一句：这里所有出现「版本号」占位的地方，都要替换成实际版本。fountain 各模块版本一致，可以在仓库 README 或者 f_version 模块里查。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先看一下 fboot 自己有多简单——整个 fboot 可执行程序的源码只有这么几行：包名 fountain::fboot，导入 fountain::f_app，然后 main 函数里一行 App(args, dynamic: true).boot()。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也就是说，fboot 只是 f_app 的一个壳。所有子命令的实现都在 f_app 的 App 类里。理解这一点很重要：你自己的应用也可以用同样的方式启动，而且可以用 SubCommandMediator 注册自己的子命令。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fboot help 的输出，一共十五条。请注意第一行，它是整个 fountain 世界的第一公理：应用项目只需要编译成动态链接库。后面所有命令都围绕这一条展开。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第十三条到第十五条是用来管理 fountain 本身的，比如替换版本号、打 tag，这些你日常用不到，但要记得 version 命令会动 git。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workspace 是把目录变成仓颉 workspace 的命令，有三种用法。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第一种，直接在目标目录执行 fboot workspace，把当前目录初始化成 workspace。第二种，fboot workspace 加一个名字，比如 fdemo，它会在当前目录下新建这个子目录并初始化。第三种，直接给一个绝对或相对路径，把那个路径初始化成 workspace。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它底层其实做了两件事。第一，在目标目录执行 cjpm init --workspace。第二，重写 cjpm.toml：把 workspace 的 version 定成 1.0.0，写入 f_base 和 f_version 依赖，把空的 compile-option 换成 --dy-std 和 -Woff all，再补齐 Linux、macOS、Windows、OHOS 各平台的 target 段和 path-option。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换句话说，它替你写好了那六十行跨平台配置，你不用再手抄。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一句话总结：workspace 是「装模块的盒子」，每个模块都必须编译为动态链接库。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这一讲的三个约定要记住：一，模块编译成动态链接库、由 fboot 加载启动——后面所有命令都建立在这条上；二，宏负责干活、注解负责声明；三，配置只有环境变量与命令行两个来源。另外四条「不该用」的理由也要心里有数：只支持仓颉、IOC 只管 class、依赖 stdx、宏的约定较硬。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9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02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三个设计决策与上台准备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决策一：应用项目没有 main 函数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决策二：宏为主、注解为辅　·　决策三：配置即环境变量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什么时候不该用　·　环境准备　·　fboot 命令入口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2 讲 / 共 25 讲　·　原稿第 9–15 页 + 首尾两页　·　约 14.6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矩形 29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14" name="矩形 291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15" name="文本框 2914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6" name="文本框 2915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应用项目没有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7" name="文本框 2916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8" name="圆角矩形 2917"/>
          <p:cNvSpPr/>
          <p:nvPr/>
        </p:nvSpPr>
        <p:spPr>
          <a:xfrm>
            <a:off x="609600" y="1143000"/>
            <a:ext cx="4000500" cy="4429125"/>
          </a:xfrm>
          <a:prstGeom prst="roundRect">
            <a:avLst>
              <a:gd name="adj" fmla="val 28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19" name="文本框 2918" descr="{&quot;isTemplate&quot;:true,&quot;type&quot;:&quot;text&quot;}"/>
          <p:cNvSpPr txBox="1"/>
          <p:nvPr/>
        </p:nvSpPr>
        <p:spPr>
          <a:xfrm>
            <a:off x="819150" y="1352550"/>
            <a:ext cx="3581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装配发生在运行期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0" name="文本框 2919" descr="{&quot;isTemplate&quot;:true,&quot;type&quot;:&quot;text&quot;}"/>
          <p:cNvSpPr txBox="1"/>
          <p:nvPr/>
        </p:nvSpPr>
        <p:spPr>
          <a:xfrm>
            <a:off x="819150" y="173355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1" name="文本框 2920" descr="{&quot;isTemplate&quot;:true,&quot;type&quot;:&quot;text&quot;}"/>
          <p:cNvSpPr txBox="1"/>
          <p:nvPr/>
        </p:nvSpPr>
        <p:spPr>
          <a:xfrm>
            <a:off x="1104900" y="173355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项目初始化成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，每个模块编译成动态链接库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2" name="文本框 2921" descr="{&quot;isTemplate&quot;:true,&quot;type&quot;:&quot;text&quot;}"/>
          <p:cNvSpPr txBox="1"/>
          <p:nvPr/>
        </p:nvSpPr>
        <p:spPr>
          <a:xfrm>
            <a:off x="819150" y="240030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02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3" name="文本框 2922" descr="{&quot;isTemplate&quot;:true,&quot;type&quot;:&quot;text&quot;}"/>
          <p:cNvSpPr txBox="1"/>
          <p:nvPr/>
        </p:nvSpPr>
        <p:spPr>
          <a:xfrm>
            <a:off x="1104900" y="240030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加一个功能＝放一个动态链接库进目录；不要它就从加载名单里去掉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4" name="文本框 2923" descr="{&quot;isTemplate&quot;:true,&quot;type&quot;:&quot;text&quot;}"/>
          <p:cNvSpPr txBox="1"/>
          <p:nvPr/>
        </p:nvSpPr>
        <p:spPr>
          <a:xfrm>
            <a:off x="819150" y="306705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5" name="文本框 2924" descr="{&quot;isTemplate&quot;:true,&quot;type&quot;:&quot;text&quot;}"/>
          <p:cNvSpPr txBox="1"/>
          <p:nvPr/>
        </p:nvSpPr>
        <p:spPr>
          <a:xfrm>
            <a:off x="1104900" y="306705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启动顺序、依赖拓扑、退出回调统一交给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Initializer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6" name="文本框 2925" descr="{&quot;isTemplate&quot;:true,&quot;type&quot;:&quot;text&quot;}"/>
          <p:cNvSpPr txBox="1"/>
          <p:nvPr/>
        </p:nvSpPr>
        <p:spPr>
          <a:xfrm>
            <a:off x="819150" y="4772025"/>
            <a:ext cx="35814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没有启动样板，没有手写容器初始化——业务代码只剩业务。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7" name="圆角矩形 2926"/>
          <p:cNvSpPr/>
          <p:nvPr/>
        </p:nvSpPr>
        <p:spPr>
          <a:xfrm>
            <a:off x="609600" y="5705475"/>
            <a:ext cx="4000500" cy="581025"/>
          </a:xfrm>
          <a:prstGeom prst="roundRect">
            <a:avLst>
              <a:gd name="adj" fmla="val 19672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28" name="文本框 2927" descr="{&quot;isTemplate&quot;:true,&quot;type&quot;:&quot;text&quot;}"/>
          <p:cNvSpPr txBox="1"/>
          <p:nvPr/>
        </p:nvSpPr>
        <p:spPr>
          <a:xfrm>
            <a:off x="800100" y="5915025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一句话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9" name="文本框 2928" descr="{&quot;isTemplate&quot;:true,&quot;type&quot;:&quot;text&quot;}"/>
          <p:cNvSpPr txBox="1"/>
          <p:nvPr/>
        </p:nvSpPr>
        <p:spPr>
          <a:xfrm>
            <a:off x="1333500" y="5895975"/>
            <a:ext cx="3086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这是真正的插件化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0" name="圆角矩形 2929"/>
          <p:cNvSpPr/>
          <p:nvPr/>
        </p:nvSpPr>
        <p:spPr>
          <a:xfrm>
            <a:off x="4838700" y="1143000"/>
            <a:ext cx="67437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1" name="文本框 2930" descr="{&quot;isTemplate&quot;:true,&quot;type&quot;:&quot;text&quot;}"/>
          <p:cNvSpPr txBox="1"/>
          <p:nvPr/>
        </p:nvSpPr>
        <p:spPr>
          <a:xfrm>
            <a:off x="5067300" y="1371600"/>
            <a:ext cx="628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的加载链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2" name="圆角矩形 2931"/>
          <p:cNvSpPr/>
          <p:nvPr/>
        </p:nvSpPr>
        <p:spPr>
          <a:xfrm>
            <a:off x="5067300" y="1714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3" name="文本框 2932" descr="{&quot;isTemplate&quot;:true,&quot;type&quot;:&quot;text&quot;}"/>
          <p:cNvSpPr txBox="1"/>
          <p:nvPr/>
        </p:nvSpPr>
        <p:spPr>
          <a:xfrm>
            <a:off x="5181600" y="1828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工作目录里的各模块产物（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lib*.so / .dll / .dylib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4" name="文本框 2933" descr="{&quot;isTemplate&quot;:true,&quot;type&quot;:&quot;text&quot;}"/>
          <p:cNvSpPr txBox="1"/>
          <p:nvPr/>
        </p:nvSpPr>
        <p:spPr>
          <a:xfrm>
            <a:off x="5067300" y="2171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5" name="圆角矩形 2934"/>
          <p:cNvSpPr/>
          <p:nvPr/>
        </p:nvSpPr>
        <p:spPr>
          <a:xfrm>
            <a:off x="5067300" y="2476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6" name="文本框 2935" descr="{&quot;isTemplate&quot;:true,&quot;type&quot;:&quot;text&quot;}"/>
          <p:cNvSpPr txBox="1"/>
          <p:nvPr/>
        </p:nvSpPr>
        <p:spPr>
          <a:xfrm>
            <a:off x="5181600" y="2590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递归扫描，按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加载匹配的库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7" name="文本框 2936" descr="{&quot;isTemplate&quot;:true,&quot;type&quot;:&quot;text&quot;}"/>
          <p:cNvSpPr txBox="1"/>
          <p:nvPr/>
        </p:nvSpPr>
        <p:spPr>
          <a:xfrm>
            <a:off x="5067300" y="2933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8" name="圆角矩形 2937"/>
          <p:cNvSpPr/>
          <p:nvPr/>
        </p:nvSpPr>
        <p:spPr>
          <a:xfrm>
            <a:off x="5067300" y="3238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39" name="文本框 2938" descr="{&quot;isTemplate&quot;:true,&quot;type&quot;:&quot;text&quot;}"/>
          <p:cNvSpPr txBox="1"/>
          <p:nvPr/>
        </p:nvSpPr>
        <p:spPr>
          <a:xfrm>
            <a:off x="5181600" y="3352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加载即执行宏生成的顶级闭包：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进集合、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0" name="文本框 2939" descr="{&quot;isTemplate&quot;:true,&quot;type&quot;:&quot;text&quot;}"/>
          <p:cNvSpPr txBox="1"/>
          <p:nvPr/>
        </p:nvSpPr>
        <p:spPr>
          <a:xfrm>
            <a:off x="5067300" y="3695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1" name="圆角矩形 2940"/>
          <p:cNvSpPr/>
          <p:nvPr/>
        </p:nvSpPr>
        <p:spPr>
          <a:xfrm>
            <a:off x="5067300" y="4000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42" name="文本框 2941" descr="{&quot;isTemplate&quot;:true,&quot;type&quot;:&quot;text&quot;}"/>
          <p:cNvSpPr txBox="1"/>
          <p:nvPr/>
        </p:nvSpPr>
        <p:spPr>
          <a:xfrm>
            <a:off x="5181600" y="4114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dependencies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拓扑排序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initialize()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收集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start()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3" name="文本框 2942" descr="{&quot;isTemplate&quot;:true,&quot;type&quot;:&quot;text&quot;}"/>
          <p:cNvSpPr txBox="1"/>
          <p:nvPr/>
        </p:nvSpPr>
        <p:spPr>
          <a:xfrm>
            <a:off x="5067300" y="4457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4" name="圆角矩形 2943"/>
          <p:cNvSpPr/>
          <p:nvPr/>
        </p:nvSpPr>
        <p:spPr>
          <a:xfrm>
            <a:off x="5067300" y="4762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45" name="文本框 2944" descr="{&quot;isTemplate&quot;:true,&quot;type&quot;:&quot;text&quot;}"/>
          <p:cNvSpPr txBox="1"/>
          <p:nvPr/>
        </p:nvSpPr>
        <p:spPr>
          <a:xfrm>
            <a:off x="5181600" y="4876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在新线程执行：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并阻塞；主线程永久阻塞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6" name="任意多边形 294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47" name="文本框 294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8" name="文本框 294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" name="矩形 2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决策二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宏为主，注解为辅，反射只点两下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2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09600" y="1143000"/>
            <a:ext cx="49530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800100" y="1333500"/>
            <a:ext cx="4572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</a:t>
            </a:r>
            <a:r>
              <a:rPr lang="en-US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负责声明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00100" y="1628775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写起来和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Spring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很像，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用了很多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800100" y="1905000"/>
            <a:ext cx="45720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@BeanMeta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@AspectRoute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@GetMapping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@PostMapping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@RequestParam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@RequestBody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09600" y="3781425"/>
            <a:ext cx="49530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00100" y="3971925"/>
            <a:ext cx="4572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仓颉宏</a:t>
            </a:r>
            <a:r>
              <a:rPr lang="en-US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负责干活</a:t>
            </a:r>
            <a:endParaRPr lang="zh-CN" sz="14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00100" y="4267200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编译期就把注册代码、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getter/setter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、列映射、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实现全部生成好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00100" y="4543425"/>
            <a:ext cx="45720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@Bean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@Controller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@DAO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@QueryMappersGenerator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@ORMField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@DataAssist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791200" y="1143000"/>
            <a:ext cx="5791200" cy="3790950"/>
          </a:xfrm>
          <a:prstGeom prst="roundRect">
            <a:avLst>
              <a:gd name="adj" fmla="val 301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6000750" y="1352550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反射只出现两次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000750" y="1733550"/>
            <a:ext cx="5372100" cy="542925"/>
          </a:xfrm>
          <a:prstGeom prst="roundRect">
            <a:avLst>
              <a:gd name="adj" fmla="val 14035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6134100" y="1866900"/>
            <a:ext cx="95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6362700" y="1866900"/>
            <a:ext cx="4876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启动初始化时：读一遍注解、类型与函数签名，把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表、路由表建起来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000750" y="2390775"/>
            <a:ext cx="5372100" cy="819150"/>
          </a:xfrm>
          <a:prstGeom prst="roundRect">
            <a:avLst>
              <a:gd name="adj" fmla="val 9302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134100" y="2524125"/>
            <a:ext cx="95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6362700" y="2524125"/>
            <a:ext cx="48768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切点函数首次被调用时：算出这条链上要织入哪些切面，之后缓存住，后续直接走缓存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6000750" y="4133850"/>
            <a:ext cx="5372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两处反射都只用来「取信息」——注解、类型、参数与返回值，不会用它调你的方法、读写你的字段。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791200" y="5067300"/>
            <a:ext cx="5791200" cy="1219200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981700" y="5257800"/>
            <a:ext cx="541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能编译期解决的，绝不留到运行期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981700" y="5543550"/>
            <a:ext cx="5410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代价：宏的约定必须遵守（如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@ORMField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var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mut prop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），编译期就报错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矩形 3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21" name="矩形 32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一切配置都是环境变量或命令行参数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5" name="表格 324"/>
          <p:cNvGraphicFramePr/>
          <p:nvPr/>
        </p:nvGraphicFramePr>
        <p:xfrm>
          <a:off x="609600" y="1143000"/>
          <a:ext cx="10972801" cy="2781301"/>
        </p:xfrm>
        <a:graphic>
          <a:graphicData uri="http://schemas.openxmlformats.org/drawingml/2006/table">
            <a:tbl>
              <a:tblPr/>
              <a:tblGrid>
                <a:gridCol w="2141829"/>
                <a:gridCol w="4882067"/>
                <a:gridCol w="3948905"/>
              </a:tblGrid>
              <a:tr h="51580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何时生效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export mvc_port=8080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进程启动时由 static init 装载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命令行参数</a:t>
                      </a:r>
                      <a:endParaRPr sz="120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--mvc_port=9090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同上，且覆盖同名环境变量</a:t>
                      </a:r>
                      <a:endParaRPr sz="12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进程内 Config.set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Config.set&lt;Int64&gt;([("mvc_port", 9090)])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运行期写入 / 覆盖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编译期内嵌敏感值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fboot build --paySecret=xxx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编译时嵌入产物，运行期解密 / 还原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26" name="圆角矩形 325"/>
          <p:cNvSpPr/>
          <p:nvPr/>
        </p:nvSpPr>
        <p:spPr>
          <a:xfrm>
            <a:off x="609600" y="4076700"/>
            <a:ext cx="357187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781050" y="4248150"/>
            <a:ext cx="3228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781050" y="4467225"/>
            <a:ext cx="3228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写入产物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781050" y="4733925"/>
            <a:ext cx="32289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宏读到这些参数，把连接串与口令以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密文形式嵌入产物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4314825" y="4076700"/>
            <a:ext cx="3562350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486275" y="4248150"/>
            <a:ext cx="321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4486275" y="4467225"/>
            <a:ext cx="3219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覆盖产物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4486275" y="4733925"/>
            <a:ext cx="32194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同名环境变量或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--key=value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优先级更高，直接覆盖内嵌值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圆角矩形 333"/>
          <p:cNvSpPr/>
          <p:nvPr/>
        </p:nvSpPr>
        <p:spPr>
          <a:xfrm>
            <a:off x="8010525" y="4076700"/>
            <a:ext cx="3571875" cy="2209800"/>
          </a:xfrm>
          <a:prstGeom prst="roundRect">
            <a:avLst>
              <a:gd name="adj" fmla="val 5172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181975" y="4248150"/>
            <a:ext cx="3228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8181975" y="4467225"/>
            <a:ext cx="3228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一份产物，多环境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8181975" y="4733925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运行环境里不必出现敏感信息，④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章展开完整机制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矩形 5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34" name="矩形 5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什么时候不该用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坦白讲，它不是万能的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8" name="圆角矩形 537"/>
          <p:cNvSpPr/>
          <p:nvPr/>
        </p:nvSpPr>
        <p:spPr>
          <a:xfrm>
            <a:off x="609600" y="114300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800100" y="133350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1276350" y="1333500"/>
            <a:ext cx="1266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语言与平台限制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800100" y="183832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只支持仓颉语言；当前主要面向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Linux / macOS / Windows / OHOS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的服务端场景。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圆角矩形 541"/>
          <p:cNvSpPr/>
          <p:nvPr/>
        </p:nvSpPr>
        <p:spPr>
          <a:xfrm>
            <a:off x="6162675" y="114300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6353175" y="133350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02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6829425" y="1333500"/>
            <a:ext cx="1295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的明确取舍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6353175" y="183832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只管理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class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，不管理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struct——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值类型取出来就会复制，会有性能损失，这是作者明确的取舍。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圆角矩形 545"/>
          <p:cNvSpPr/>
          <p:nvPr/>
        </p:nvSpPr>
        <p:spPr>
          <a:xfrm>
            <a:off x="609600" y="318135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800100" y="337185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276350" y="3371850"/>
            <a:ext cx="7239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依赖前提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800100" y="387667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依赖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stdx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，需要配置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CANGJIE_STDX_DYNAMIC_PATH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；环境没配好，第一步就会卡住。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圆角矩形 549"/>
          <p:cNvSpPr/>
          <p:nvPr/>
        </p:nvSpPr>
        <p:spPr>
          <a:xfrm>
            <a:off x="6162675" y="318135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6353175" y="337185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04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6829425" y="3371850"/>
            <a:ext cx="7239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上手成本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6353175" y="387667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宏的约定比较硬，第一次上手会有「为什么这么写才编译得过」的阶段，这是必经成本。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圆角矩形 553"/>
          <p:cNvSpPr/>
          <p:nvPr/>
        </p:nvSpPr>
        <p:spPr>
          <a:xfrm>
            <a:off x="609600" y="5219700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55" name="矩形 554"/>
          <p:cNvSpPr/>
          <p:nvPr/>
        </p:nvSpPr>
        <p:spPr>
          <a:xfrm>
            <a:off x="800100" y="5486400"/>
            <a:ext cx="38100" cy="53340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028700" y="5486400"/>
            <a:ext cx="10363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只有几百行、只有一个接口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直接写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服务可能更省事</a:t>
            </a:r>
            <a:endParaRPr lang="zh-CN" sz="12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1028700" y="5743575"/>
            <a:ext cx="10363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的价值在中大型、需要长期演进的服务端应用。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任意多边形 55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矩形 5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上台准备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环境：三个变量、一次安装、一条验证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终端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圆角矩形 566"/>
          <p:cNvSpPr/>
          <p:nvPr/>
        </p:nvSpPr>
        <p:spPr>
          <a:xfrm>
            <a:off x="609600" y="1143000"/>
            <a:ext cx="4000500" cy="1771650"/>
          </a:xfrm>
          <a:prstGeom prst="roundRect">
            <a:avLst>
              <a:gd name="adj" fmla="val 645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800100" y="1333500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环境变量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800100" y="1619250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建议直接写进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~/.bashrc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，一次配好长期有效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00100" y="1971675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stdx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路径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× 2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动态链接库路径　·　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609600" y="3048000"/>
            <a:ext cx="4000500" cy="1685925"/>
          </a:xfrm>
          <a:prstGeom prst="roundRect">
            <a:avLst>
              <a:gd name="adj" fmla="val 67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800100" y="3238500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800100" y="3524250"/>
            <a:ext cx="3619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把版本号换成实际版本；各模块版本一致，可在仓库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查看。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圆角矩形 573"/>
          <p:cNvSpPr/>
          <p:nvPr/>
        </p:nvSpPr>
        <p:spPr>
          <a:xfrm>
            <a:off x="609600" y="4867275"/>
            <a:ext cx="4000500" cy="1419225"/>
          </a:xfrm>
          <a:prstGeom prst="roundRect">
            <a:avLst>
              <a:gd name="adj" fmla="val 8054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800100" y="5057775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800100" y="5343525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预期：打印出当前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版本号，例如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1.3.x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4762500" y="1143000"/>
            <a:ext cx="68199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4991100" y="1371600"/>
            <a:ext cx="6362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可选：直接复制执行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4991100" y="1647825"/>
            <a:ext cx="6362700" cy="4410075"/>
          </a:xfrm>
          <a:prstGeom prst="roundRect">
            <a:avLst>
              <a:gd name="adj" fmla="val 172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5181600" y="18383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环境变量（建议写进</a:t>
            </a: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 ~/.bashrc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）</a:t>
            </a:r>
            <a:endParaRPr lang="zh-CN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5181600" y="2152650"/>
            <a:ext cx="5981700" cy="1628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CANGJIE_STDX_DYNAMIC_PATH=/path/to/dynamic_stdx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CANGJIE_STDX_PATH=$CANGJIE_STDX_DYNAMIC_PATH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FOUNTAIN_HOME=~/.cjpm/libs/fboot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LD_LIBRARY_PATH=$FOUNTAIN_HOME:$LD_LIBRARY_PATH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PATH=$PATH:~/.cjpm/bin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5181600" y="39338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安装</a:t>
            </a: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 fboot</a:t>
            </a:r>
            <a:endParaRPr lang="en-US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5181600" y="4248150"/>
            <a:ext cx="59817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cjpm install "fountain::fboot"="</a:t>
            </a:r>
            <a:r>
              <a:rPr lang="zh-CN" sz="1125">
                <a:solidFill>
                  <a:srgbClr val="E2E8F0"/>
                </a:solidFill>
                <a:latin typeface="JetBrains Mono"/>
                <a:ea typeface="JetBrains Mono"/>
              </a:rPr>
              <a:t>【版本号】</a:t>
            </a: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" --root ~/.cjpm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5181600" y="47339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验证</a:t>
            </a:r>
            <a:endParaRPr lang="zh-CN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5181600" y="5048250"/>
            <a:ext cx="59817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fboot version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87" name="文本框 58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矩形 5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91" name="矩形 59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19150" y="304800"/>
            <a:ext cx="10763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文本框 592" descr="{&quot;isTemplate&quot;:true,&quot;type&quot;:&quot;text&quot;}"/>
          <p:cNvSpPr txBox="1"/>
          <p:nvPr/>
        </p:nvSpPr>
        <p:spPr>
          <a:xfrm>
            <a:off x="819150" y="514350"/>
            <a:ext cx="10763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只是一个壳，第一公理在这里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圆角矩形 593"/>
          <p:cNvSpPr/>
          <p:nvPr/>
        </p:nvSpPr>
        <p:spPr>
          <a:xfrm>
            <a:off x="609600" y="1143000"/>
            <a:ext cx="3810000" cy="211455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95" name="文本框 594" descr="{&quot;isTemplate&quot;:true,&quot;type&quot;:&quot;text&quot;}"/>
          <p:cNvSpPr txBox="1"/>
          <p:nvPr/>
        </p:nvSpPr>
        <p:spPr>
          <a:xfrm>
            <a:off x="800100" y="1333500"/>
            <a:ext cx="342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fboot/src/main.cj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（全文）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800100" y="15906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package fountain::fboot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800100" y="188595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import fountain::f_app.*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800100" y="218122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main(args: Array&lt;String&gt;): Int64 {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800100" y="24765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App(args, dynamic: true).boot()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800100" y="2771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01" name="圆角矩形 600"/>
          <p:cNvSpPr/>
          <p:nvPr/>
        </p:nvSpPr>
        <p:spPr>
          <a:xfrm>
            <a:off x="609600" y="3390900"/>
            <a:ext cx="3810000" cy="2895600"/>
          </a:xfrm>
          <a:prstGeom prst="roundRect">
            <a:avLst>
              <a:gd name="adj" fmla="val 394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800100" y="3581400"/>
            <a:ext cx="3429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三个推论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800100" y="3867150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所有子命令实现都在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fountain::f_app.App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800100" y="420052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你自己的应用也可以用同样方式启动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800100" y="4533900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注册自己的子命令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800100" y="581977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第一公理：应用项目只需要编译成动态链接库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圆角矩形 606"/>
          <p:cNvSpPr/>
          <p:nvPr/>
        </p:nvSpPr>
        <p:spPr>
          <a:xfrm>
            <a:off x="46101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4819650" y="1352550"/>
            <a:ext cx="6553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help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4819650" y="16573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1.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应用项目只需要编译为动态链接库，把应用的动态链接库加入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LD_LIBRARY_PATH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4819650" y="19145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2. fboot run [PATH] --dylibPattern=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【正则，不含扩展名】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4819650" y="21717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3. fboot shutdown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4819650" y="24288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4. fboot restart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[PATH] --dylibPattern=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【正则】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4819650" y="26860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5. fboot workspace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dir_path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把当前目录初始化为仓颉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workspace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4" name="文本框 613" descr="{&quot;isTemplate&quot;:true,&quot;type&quot;:&quot;text&quot;}"/>
          <p:cNvSpPr txBox="1"/>
          <p:nvPr/>
        </p:nvSpPr>
        <p:spPr>
          <a:xfrm>
            <a:off x="4819650" y="29432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6. fboot module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将当前目录初始化为仓颉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项目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4819650" y="32004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7. fboot module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module_name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创建子目录、初始化为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模块并挂进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4819650" y="34575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8. fboot cleanUpdate = cjpm clean →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删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cjpm.lock → cjpm update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4819650" y="37147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9. fboot build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编译使用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开发的应用项目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4819650" y="39719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10. fboot count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数模块数、包数、文件数、行数、耗时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9" name="文本框 618" descr="{&quot;isTemplate&quot;:true,&quot;type&quot;:&quot;text&quot;}"/>
          <p:cNvSpPr txBox="1"/>
          <p:nvPr/>
        </p:nvSpPr>
        <p:spPr>
          <a:xfrm>
            <a:off x="4819650" y="42291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11. fboot pub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version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发布当前路径下的仓颉模块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4819650" y="44862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12. fboot randhex 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生成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位随机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进制数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21" name="文本框 620" descr="{&quot;isTemplate&quot;:true,&quot;type&quot;:&quot;text&quot;}"/>
          <p:cNvSpPr txBox="1"/>
          <p:nvPr/>
        </p:nvSpPr>
        <p:spPr>
          <a:xfrm>
            <a:off x="4819650" y="47434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── </a:t>
            </a: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以下命令用来管理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本身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 ──</a:t>
            </a:r>
            <a:endParaRPr lang="en-US" sz="97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4819650" y="50006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13. fboot version x.y.z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替换版本号并提交推送、可打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tag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4819650" y="52578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14. fboot version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显示当前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版本号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4819650" y="55149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15. fboot help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显示命令列表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5" name="任意多边形 62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矩形 6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30" name="矩形 62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workspace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：把目录变成仓颉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三种用法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4" name="圆角矩形 633"/>
          <p:cNvSpPr/>
          <p:nvPr/>
        </p:nvSpPr>
        <p:spPr>
          <a:xfrm>
            <a:off x="609600" y="1143000"/>
            <a:ext cx="4572000" cy="4076700"/>
          </a:xfrm>
          <a:prstGeom prst="roundRect">
            <a:avLst>
              <a:gd name="adj" fmla="val 280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819150" y="1352550"/>
            <a:ext cx="4152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三种用法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819150" y="16764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819150" y="20097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把「当前目录」初始化为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819150" y="24003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 fdemo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819150" y="27336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在当前目录下新建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子目录并初始化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819150" y="31242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 /path/to/project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819150" y="34575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指定绝对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相对路径，把该路径初始化为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2" name="圆角矩形 641"/>
          <p:cNvSpPr/>
          <p:nvPr/>
        </p:nvSpPr>
        <p:spPr>
          <a:xfrm>
            <a:off x="5372100" y="1143000"/>
            <a:ext cx="6210300" cy="4076700"/>
          </a:xfrm>
          <a:prstGeom prst="roundRect">
            <a:avLst>
              <a:gd name="adj" fmla="val 280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5581650" y="1352550"/>
            <a:ext cx="5791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它到底做了什么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5581650" y="1676400"/>
            <a:ext cx="95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5810250" y="1676400"/>
            <a:ext cx="5562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在目标目录执行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init --workspace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5581650" y="2105025"/>
            <a:ext cx="95250" cy="1438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5810250" y="2105025"/>
            <a:ext cx="5562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5810250" y="2438400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[workspace] 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1.0.0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9" name="文本框 648" descr="{&quot;isTemplate&quot;:true,&quot;type&quot;:&quot;text&quot;}"/>
          <p:cNvSpPr txBox="1"/>
          <p:nvPr/>
        </p:nvSpPr>
        <p:spPr>
          <a:xfrm>
            <a:off x="5810250" y="2714625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 / f_version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依赖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5810250" y="2990850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compile-option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--dy-std -Woff all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5810250" y="3267075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补齐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Linux / macOS / Windows / OHOS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[target.*]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path-option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5581650" y="4714875"/>
            <a:ext cx="5791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它替你写好了那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60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行跨平台配置，你不用再手抄。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圆角矩形 652"/>
          <p:cNvSpPr/>
          <p:nvPr/>
        </p:nvSpPr>
        <p:spPr>
          <a:xfrm>
            <a:off x="609600" y="5372100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54" name="矩形 653"/>
          <p:cNvSpPr/>
          <p:nvPr/>
        </p:nvSpPr>
        <p:spPr>
          <a:xfrm>
            <a:off x="800100" y="5600700"/>
            <a:ext cx="38100" cy="4572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55" name="文本框 654" descr="{&quot;isTemplate&quot;:true,&quot;type&quot;:&quot;text&quot;}"/>
          <p:cNvSpPr txBox="1"/>
          <p:nvPr/>
        </p:nvSpPr>
        <p:spPr>
          <a:xfrm>
            <a:off x="1028700" y="5734050"/>
            <a:ext cx="10363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workspace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是「装模块的盒子」，每个模块都必须编译为动态链接库。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6" name="任意多边形 65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57" name="文本框 65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8" name="文本框 65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02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三个设计决策与上台准备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决策一：应用项目没有 main 函数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决策二：宏为主、注解为辅　·　决策三：配置即环境变量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什么时候不该用　·　环境准备　·　fboot 命令入口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下一讲：fboot 编译、启动与命令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