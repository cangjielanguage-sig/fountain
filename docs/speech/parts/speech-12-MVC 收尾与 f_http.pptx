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这一讲先把 MVC 收尾：统一异常响应的三种形态、重定向 301 与 302 与 307 与 308 的区别、以及用 CurrentHttpContext 在任何深度拿到当前请求。然后进入第十一章 f_http，关键是讲清楚数据流向——请求方向是字节到 Data 再到对象，响应方向反过来；MediaType 负责「字节和 Data」，f_data 负责「Data 和对象」。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统一异常响应是 MVC 里很实用的一块。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mvc_internalServerErrorMessageKind 等于 BEAN 的时候，mvc_internalServerErrorMessage 填的是「bean 的名字」，也就是右边这个 NameOf500Handler。这个 bean 必须实现 ErrorHttpRequestHandler。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看右边这段代码：类上加 @Bean 和 @BeanMeta 指定名字叫 NameOf500Handler，然后实现 handle 方法，参数是 HttpContext 和可选的异常，返回值是一个二元组——HTTP 状态码和任意类型的响应体。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注意返回值里那个 Any 可以是五种：String、ToString、InputStream、字节数组，或者实现了 ToData 的对象，框架会按 Accept 协商格式。所以你可以直接返回一个 PO，框架自动把它序列化成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另两种取值：TEXT 是直接把配置值当响应体，适合返回一段固定的错误文案；BASE64BINARY 是把配置值当 BASE64 解码后作为响应体，适合返回一段二进制内容。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看右边的 handle：如果异常是 ValidationException，就用 500 状态码加统一的错误响应体；否则用 200 加一个通用的 error。演示方式是访问 /api/error，ErrorController 里直接抛异常，看响应是不是统一格式。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这一节两个小能力：重定向和请求上下文。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重定向有三个函数。Redirect.found 是 302，最常用。Redirect.permanently 是永久重定向：retain 为 false 是 301，为 true 是 308。Redirect.temporarily 是临时重定向：retain 为 false 是 302，为 true 是 307。retain 的意思是「是否保留方法和请求体」——301 和 302 在历史上有些客户端会把 POST 改成 GET，307 和 308 明确保留。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拿到当前请求上下文，一行就够：从 CurrentHttpContext 取 instance，它返回当前线程正在处理的 HttpContext。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这里要强调一句：是「当前线程」，不是全局变量。因为每个请求由一个线程处理，所以这个 instance 是线程级的。正因为有它，f_security 才能在 Service 层和 Util 层做鉴权——鉴权逻辑不必写在 controller 里。第十三章的 UserSessionCache 点 verify 就是靠它拿到 Authorization 头的。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这是个很实用的小接口：你在任何深度的调用栈里都能拿到当前请求，不用一层层往下传。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自定义数据格式，fdemo 里有个现成的例子：LogMediaType。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看右边这段代码：类上加 @Bean，继承 MediaType，构造器里 super 指定格式名 application/json+log。然后实现五个东西：make 用来基于当前实例创建同格式的新实例；toString 输出格式名；两个 fromData 重载，data 版本和 JsonValue 版本，做响应方向的对象到字节；两个 toData 重载，做请求方向的字节或字符串到 Data。另外 == 和 hashCode 也必须实现。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它的效果是：所有走这个 Content-Type 的请求都会先落一条日志。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这里有一个非常值得强调的设计：只要把 MediaType 的实现注册成 @Bean，consumes 和 produces 就可以直接写你的自定义类型。这就是「协议扩展点」——不用改框架，加个 bean 就多一种数据格式。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下一章会把 MediaType 这套机制完整展开，因为它是 f_http 提供的，只是被 f_mvc 直接 public import 了出来。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第十一章讲 HTTP 数据格式，f_http。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f_mvc 能同时处理 text/plain、application/json、multipart/form-data，靠的不是 MVC 自己，而是 f_http。f_http 目前实现了两件事：一是 HTTP 数据格式 MediaType 的定义，二是 multipart/form-data 的编解码，也就是文件上传。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有个细节要特别注意：f_mvc 源码里的 MediaType 文件只有一行，就是一个 public import。所以你在 MVC 里 import f_mvc 的 MediaType，拿到的其实就是 f_http 的类型——它们是一个东西。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然后是数据流向，这一屏是理解 MVC 参数绑定的关键。请求方向：字节、输入流或者字符串，先 toData 变成 Data，再 toDataFields 变成对象，也就是 controller 的实参。响应方向反过来：controller 的返回值，先 fromDataFields 变成字节数组，然后写回客户端。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中间那一层就是 MediaType。而 Data 是 f_data 的类型，所以 f_http 和 f_data 是咬合在一起的：MediaType 负责「字节和 Data 之间的转换」，f_data 负责「Data 和对象之间的转换」。这两层拼起来，就是完整的参数绑定链路。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这一讲三个要点：一，异常统一响应的 BEAN 取值是「bean 的名字」，这个 bean 必须实现 ErrorHttpRequestHandler；二，CurrentHttpContext 是线程级的，正因为它，鉴权逻辑才能写在 Service 层；三，f_mvc 里的 MediaType 就是 f_http 的类型，两者不是两套东西，f_mvc 那个文件只有一行 public import。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12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12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MVC 收尾与 f_http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统一异常响应：三种 ErrorMessageKind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重定向的四种状态码　·　当前请求上下文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自定义 MediaType　·　f_http 的数据流向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12 讲 / 共 25 讲　·　原稿第 67–70 页 + 首尾两页　·　约 11.6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矩形 21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88" name="矩形 218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89" name="文本框 2188" descr="{&quot;isTemplate&quot;:true,&quot;type&quot;:&quot;text&quot;}"/>
          <p:cNvSpPr txBox="1"/>
          <p:nvPr/>
        </p:nvSpPr>
        <p:spPr>
          <a:xfrm>
            <a:off x="819150" y="304800"/>
            <a:ext cx="8382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0" name="文本框 2189" descr="{&quot;isTemplate&quot;:true,&quot;type&quot;:&quot;text&quot;}"/>
          <p:cNvSpPr txBox="1"/>
          <p:nvPr/>
        </p:nvSpPr>
        <p:spPr>
          <a:xfrm>
            <a:off x="819150" y="514350"/>
            <a:ext cx="8382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统一异常响应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1" name="文本框 2190" descr="{&quot;isTemplate&quot;:true,&quot;type&quot;:&quot;text&quot;}"/>
          <p:cNvSpPr txBox="1"/>
          <p:nvPr/>
        </p:nvSpPr>
        <p:spPr>
          <a:xfrm>
            <a:off x="9372600" y="590550"/>
            <a:ext cx="2209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fdemo/boot/src/error/ErrorHandler.cj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2" name="圆角矩形 2191"/>
          <p:cNvSpPr/>
          <p:nvPr/>
        </p:nvSpPr>
        <p:spPr>
          <a:xfrm>
            <a:off x="609600" y="1143000"/>
            <a:ext cx="4381500" cy="2724150"/>
          </a:xfrm>
          <a:prstGeom prst="roundRect">
            <a:avLst>
              <a:gd name="adj" fmla="val 419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93" name="文本框 2192" descr="{&quot;isTemplate&quot;:true,&quot;type&quot;:&quot;text&quot;}"/>
          <p:cNvSpPr txBox="1"/>
          <p:nvPr/>
        </p:nvSpPr>
        <p:spPr>
          <a:xfrm>
            <a:off x="800100" y="1333500"/>
            <a:ext cx="4000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三种</a:t>
            </a:r>
            <a:r>
              <a:rPr lang="en-US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ErrorMessageKind</a:t>
            </a:r>
            <a:endParaRPr lang="en-US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4" name="文本框 2193" descr="{&quot;isTemplate&quot;:true,&quot;type&quot;:&quot;text&quot;}"/>
          <p:cNvSpPr txBox="1"/>
          <p:nvPr/>
        </p:nvSpPr>
        <p:spPr>
          <a:xfrm>
            <a:off x="800100" y="1647825"/>
            <a:ext cx="4000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BEAN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配置值是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的名字，该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必须实现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ErrorHttpRequestHandler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5" name="文本框 2194" descr="{&quot;isTemplate&quot;:true,&quot;type&quot;:&quot;text&quot;}"/>
          <p:cNvSpPr txBox="1"/>
          <p:nvPr/>
        </p:nvSpPr>
        <p:spPr>
          <a:xfrm>
            <a:off x="800100" y="2305050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TEXT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直接把配置值当响应体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6" name="文本框 2195" descr="{&quot;isTemplate&quot;:true,&quot;type&quot;:&quot;text&quot;}"/>
          <p:cNvSpPr txBox="1"/>
          <p:nvPr/>
        </p:nvSpPr>
        <p:spPr>
          <a:xfrm>
            <a:off x="800100" y="2686050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BASE64BINARY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配置值按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BASE64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解码后作为响应体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7" name="圆角矩形 2196"/>
          <p:cNvSpPr/>
          <p:nvPr/>
        </p:nvSpPr>
        <p:spPr>
          <a:xfrm>
            <a:off x="609600" y="4000500"/>
            <a:ext cx="4381500" cy="2286000"/>
          </a:xfrm>
          <a:prstGeom prst="roundRect">
            <a:avLst>
              <a:gd name="adj" fmla="val 5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98" name="文本框 2197" descr="{&quot;isTemplate&quot;:true,&quot;type&quot;:&quot;text&quot;}"/>
          <p:cNvSpPr txBox="1"/>
          <p:nvPr/>
        </p:nvSpPr>
        <p:spPr>
          <a:xfrm>
            <a:off x="800100" y="4191000"/>
            <a:ext cx="4000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返回值支持的类型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9" name="文本框 2198" descr="{&quot;isTemplate&quot;:true,&quot;type&quot;:&quot;text&quot;}"/>
          <p:cNvSpPr txBox="1"/>
          <p:nvPr/>
        </p:nvSpPr>
        <p:spPr>
          <a:xfrm>
            <a:off x="800100" y="4457700"/>
            <a:ext cx="4000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InputStream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字节数组　·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f_data.ToData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0" name="文本框 2199" descr="{&quot;isTemplate&quot;:true,&quot;type&quot;:&quot;text&quot;}"/>
          <p:cNvSpPr txBox="1"/>
          <p:nvPr/>
        </p:nvSpPr>
        <p:spPr>
          <a:xfrm>
            <a:off x="800100" y="5114925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Accept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协商格式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直接返回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PO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就能自动序列化成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JSON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1" name="圆角矩形 2200"/>
          <p:cNvSpPr/>
          <p:nvPr/>
        </p:nvSpPr>
        <p:spPr>
          <a:xfrm>
            <a:off x="5181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02" name="文本框 2201" descr="{&quot;isTemplate&quot;:true,&quot;type&quot;:&quot;text&quot;}"/>
          <p:cNvSpPr txBox="1"/>
          <p:nvPr/>
        </p:nvSpPr>
        <p:spPr>
          <a:xfrm>
            <a:off x="5372100" y="1333500"/>
            <a:ext cx="6019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fdemo/boot/src/error/ErrorHandler.cj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3" name="文本框 2202" descr="{&quot;isTemplate&quot;:true,&quot;type&quot;:&quot;text&quot;}"/>
          <p:cNvSpPr txBox="1"/>
          <p:nvPr/>
        </p:nvSpPr>
        <p:spPr>
          <a:xfrm>
            <a:off x="5372100" y="15811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04" name="文本框 2203" descr="{&quot;isTemplate&quot;:true,&quot;type&quot;:&quot;text&quot;}"/>
          <p:cNvSpPr txBox="1"/>
          <p:nvPr/>
        </p:nvSpPr>
        <p:spPr>
          <a:xfrm>
            <a:off x="5372100" y="18383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@BeanMeta[name: 'NameOf500Handler']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05" name="文本框 2204" descr="{&quot;isTemplate&quot;:true,&quot;type&quot;:&quot;text&quot;}"/>
          <p:cNvSpPr txBox="1"/>
          <p:nvPr/>
        </p:nvSpPr>
        <p:spPr>
          <a:xfrm>
            <a:off x="5372100" y="20955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Http500Handler &lt;: ErrorHttpRequestHandler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06" name="文本框 2205" descr="{&quot;isTemplate&quot;:true,&quot;type&quot;:&quot;text&quot;}"/>
          <p:cNvSpPr txBox="1"/>
          <p:nvPr/>
        </p:nvSpPr>
        <p:spPr>
          <a:xfrm>
            <a:off x="5372100" y="23526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public func handle(_: HttpContext, ex: ?Exception): (HttpStatus, Any) {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07" name="文本框 2206" descr="{&quot;isTemplate&quot;:true,&quot;type&quot;:&quot;text&quot;}"/>
          <p:cNvSpPr txBox="1"/>
          <p:nvPr/>
        </p:nvSpPr>
        <p:spPr>
          <a:xfrm>
            <a:off x="5372100" y="26098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if (let Some(e: ValidationException) &lt;- ex)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08" name="文本框 2207" descr="{&quot;isTemplate&quot;:true,&quot;type&quot;:&quot;text&quot;}"/>
          <p:cNvSpPr txBox="1"/>
          <p:nvPr/>
        </p:nvSpPr>
        <p:spPr>
          <a:xfrm>
            <a:off x="5372100" y="28670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        (HttpStatus.INTERNAL_SERVER_ERROR, BaseResponse.error(e.message))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09" name="文本框 2208" descr="{&quot;isTemplate&quot;:true,&quot;type&quot;:&quot;text&quot;}"/>
          <p:cNvSpPr txBox="1"/>
          <p:nvPr/>
        </p:nvSpPr>
        <p:spPr>
          <a:xfrm>
            <a:off x="5372100" y="31242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} else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0" name="文本框 2209" descr="{&quot;isTemplate&quot;:true,&quot;type&quot;:&quot;text&quot;}"/>
          <p:cNvSpPr txBox="1"/>
          <p:nvPr/>
        </p:nvSpPr>
        <p:spPr>
          <a:xfrm>
            <a:off x="5372100" y="33813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        (HttpStatus.OK, BaseResponse.error('error'))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11" name="文本框 2210" descr="{&quot;isTemplate&quot;:true,&quot;type&quot;:&quot;text&quot;}"/>
          <p:cNvSpPr txBox="1"/>
          <p:nvPr/>
        </p:nvSpPr>
        <p:spPr>
          <a:xfrm>
            <a:off x="5372100" y="36385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2" name="文本框 2211" descr="{&quot;isTemplate&quot;:true,&quot;type&quot;:&quot;text&quot;}"/>
          <p:cNvSpPr txBox="1"/>
          <p:nvPr/>
        </p:nvSpPr>
        <p:spPr>
          <a:xfrm>
            <a:off x="5372100" y="38957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3" name="文本框 2212" descr="{&quot;isTemplate&quot;:true,&quot;type&quot;:&quot;text&quot;}"/>
          <p:cNvSpPr txBox="1"/>
          <p:nvPr/>
        </p:nvSpPr>
        <p:spPr>
          <a:xfrm>
            <a:off x="5372100" y="41529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14" name="文本框 2213" descr="{&quot;isTemplate&quot;:true,&quot;type&quot;:&quot;text&quot;}"/>
          <p:cNvSpPr txBox="1"/>
          <p:nvPr/>
        </p:nvSpPr>
        <p:spPr>
          <a:xfrm>
            <a:off x="5372100" y="4524375"/>
            <a:ext cx="60198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演示：访问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/api/error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ErrorController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里直接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throw Exception()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），看响应是不是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BaseResponse.error('error')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5" name="任意多边形 221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16" name="文本框 221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7" name="文本框 221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矩形 22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20" name="矩形 221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21" name="文本框 2220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10.7 / 10.8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2" name="文本框 2221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重定向与当前请求上下文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3" name="文本框 2222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线程级，不是全局变量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4" name="圆角矩形 2223"/>
          <p:cNvSpPr/>
          <p:nvPr/>
        </p:nvSpPr>
        <p:spPr>
          <a:xfrm>
            <a:off x="6096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25" name="文本框 2224" descr="{&quot;isTemplate&quot;:true,&quot;type&quot;:&quot;text&quot;}"/>
          <p:cNvSpPr txBox="1"/>
          <p:nvPr/>
        </p:nvSpPr>
        <p:spPr>
          <a:xfrm>
            <a:off x="8191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重定向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6" name="文本框 2225" descr="{&quot;isTemplate&quot;:true,&quot;type&quot;:&quot;text&quot;}"/>
          <p:cNvSpPr txBox="1"/>
          <p:nvPr/>
        </p:nvSpPr>
        <p:spPr>
          <a:xfrm>
            <a:off x="8191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三个入口函数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7" name="圆角矩形 2226"/>
          <p:cNvSpPr/>
          <p:nvPr/>
        </p:nvSpPr>
        <p:spPr>
          <a:xfrm>
            <a:off x="819150" y="1952625"/>
            <a:ext cx="4991100" cy="981075"/>
          </a:xfrm>
          <a:prstGeom prst="roundRect">
            <a:avLst>
              <a:gd name="adj" fmla="val 77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28" name="文本框 2227" descr="{&quot;isTemplate&quot;:true,&quot;type&quot;:&quot;text&quot;}"/>
          <p:cNvSpPr txBox="1"/>
          <p:nvPr/>
        </p:nvSpPr>
        <p:spPr>
          <a:xfrm>
            <a:off x="952500" y="2085975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Redirect.found('/helloworld')              // 302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29" name="文本框 2228" descr="{&quot;isTemplate&quot;:true,&quot;type&quot;:&quot;text&quot;}"/>
          <p:cNvSpPr txBox="1"/>
          <p:nvPr/>
        </p:nvSpPr>
        <p:spPr>
          <a:xfrm>
            <a:off x="952500" y="2324100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Redirect.permanently('/x', retain: true)   // false→301 / true→308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30" name="文本框 2229" descr="{&quot;isTemplate&quot;:true,&quot;type&quot;:&quot;text&quot;}"/>
          <p:cNvSpPr txBox="1"/>
          <p:nvPr/>
        </p:nvSpPr>
        <p:spPr>
          <a:xfrm>
            <a:off x="952500" y="2562225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Redirect.temporarily('/x', retain: true)   // false→302 / true→307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31" name="文本框 2230" descr="{&quot;isTemplate&quot;:true,&quot;type&quot;:&quot;text&quot;}"/>
          <p:cNvSpPr txBox="1"/>
          <p:nvPr/>
        </p:nvSpPr>
        <p:spPr>
          <a:xfrm>
            <a:off x="819150" y="3086100"/>
            <a:ext cx="49911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决定是否保留请求方法与请求体：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307 / 308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明确保留，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301 / 302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历史上可能被改成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2" name="文本框 2231" descr="{&quot;isTemplate&quot;:true,&quot;type&quot;:&quot;text&quot;}"/>
          <p:cNvSpPr txBox="1"/>
          <p:nvPr/>
        </p:nvSpPr>
        <p:spPr>
          <a:xfrm>
            <a:off x="819150" y="5791200"/>
            <a:ext cx="4991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演示：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curl -i .../redirect/helloworld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得到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302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Location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3" name="圆角矩形 2232"/>
          <p:cNvSpPr/>
          <p:nvPr/>
        </p:nvSpPr>
        <p:spPr>
          <a:xfrm>
            <a:off x="6172200" y="1143000"/>
            <a:ext cx="54102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34" name="文本框 2233" descr="{&quot;isTemplate&quot;:true,&quot;type&quot;:&quot;text&quot;}"/>
          <p:cNvSpPr txBox="1"/>
          <p:nvPr/>
        </p:nvSpPr>
        <p:spPr>
          <a:xfrm>
            <a:off x="6381750" y="1352550"/>
            <a:ext cx="49911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当前请求上下文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5" name="文本框 2234" descr="{&quot;isTemplate&quot;:true,&quot;type&quot;:&quot;text&quot;}"/>
          <p:cNvSpPr txBox="1"/>
          <p:nvPr/>
        </p:nvSpPr>
        <p:spPr>
          <a:xfrm>
            <a:off x="6381750" y="1638300"/>
            <a:ext cx="499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一行拿到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HttpContext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6" name="圆角矩形 2235"/>
          <p:cNvSpPr/>
          <p:nvPr/>
        </p:nvSpPr>
        <p:spPr>
          <a:xfrm>
            <a:off x="6381750" y="1952625"/>
            <a:ext cx="4991100" cy="742950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37" name="文本框 2236" descr="{&quot;isTemplate&quot;:true,&quot;type&quot;:&quot;text&quot;}"/>
          <p:cNvSpPr txBox="1"/>
          <p:nvPr/>
        </p:nvSpPr>
        <p:spPr>
          <a:xfrm>
            <a:off x="6515100" y="2085975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import fountain::f_mvc.CurrentHttpContext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38" name="文本框 2237" descr="{&quot;isTemplate&quot;:true,&quot;type&quot;:&quot;text&quot;}"/>
          <p:cNvSpPr txBox="1"/>
          <p:nvPr/>
        </p:nvSpPr>
        <p:spPr>
          <a:xfrm>
            <a:off x="6515100" y="2324100"/>
            <a:ext cx="4724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ctx = CurrentHttpContext.instance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39" name="文本框 2238" descr="{&quot;isTemplate&quot;:true,&quot;type&quot;:&quot;text&quot;}"/>
          <p:cNvSpPr txBox="1"/>
          <p:nvPr/>
        </p:nvSpPr>
        <p:spPr>
          <a:xfrm>
            <a:off x="6381750" y="2847975"/>
            <a:ext cx="4991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返回「当前线程正在处理」的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HttpContext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是线程级的，不是全局变量。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0" name="文本框 2239" descr="{&quot;isTemplate&quot;:true,&quot;type&quot;:&quot;text&quot;}"/>
          <p:cNvSpPr txBox="1"/>
          <p:nvPr/>
        </p:nvSpPr>
        <p:spPr>
          <a:xfrm>
            <a:off x="6381750" y="3228975"/>
            <a:ext cx="49911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任何深度的调用栈里都能拿到当前请求，不用一层层往下传。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1" name="文本框 2240" descr="{&quot;isTemplate&quot;:true,&quot;type&quot;:&quot;text&quot;}"/>
          <p:cNvSpPr txBox="1"/>
          <p:nvPr/>
        </p:nvSpPr>
        <p:spPr>
          <a:xfrm>
            <a:off x="6381750" y="5514975"/>
            <a:ext cx="49911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f_security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能在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Service / Util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层做鉴权的关键（见第十三章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UserSessionCache.verify()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2" name="任意多边形 224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43" name="文本框 224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4" name="文本框 224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矩形 22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47" name="矩形 224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48" name="文本框 2247" descr="{&quot;isTemplate&quot;:true,&quot;type&quot;:&quot;text&quot;}"/>
          <p:cNvSpPr txBox="1"/>
          <p:nvPr/>
        </p:nvSpPr>
        <p:spPr>
          <a:xfrm>
            <a:off x="819150" y="304800"/>
            <a:ext cx="8601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10.9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9" name="文本框 2248" descr="{&quot;isTemplate&quot;:true,&quot;type&quot;:&quot;text&quot;}"/>
          <p:cNvSpPr txBox="1"/>
          <p:nvPr/>
        </p:nvSpPr>
        <p:spPr>
          <a:xfrm>
            <a:off x="819150" y="514350"/>
            <a:ext cx="8601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自定义数据格式（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MediaType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0" name="文本框 2249" descr="{&quot;isTemplate&quot;:true,&quot;type&quot;:&quot;text&quot;}"/>
          <p:cNvSpPr txBox="1"/>
          <p:nvPr/>
        </p:nvSpPr>
        <p:spPr>
          <a:xfrm>
            <a:off x="9591675" y="590550"/>
            <a:ext cx="1990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fdemo/boot/src/LogMediaType.cj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1" name="圆角矩形 2250"/>
          <p:cNvSpPr/>
          <p:nvPr/>
        </p:nvSpPr>
        <p:spPr>
          <a:xfrm>
            <a:off x="609600" y="1143000"/>
            <a:ext cx="6781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52" name="文本框 2251" descr="{&quot;isTemplate&quot;:true,&quot;type&quot;:&quot;text&quot;}"/>
          <p:cNvSpPr txBox="1"/>
          <p:nvPr/>
        </p:nvSpPr>
        <p:spPr>
          <a:xfrm>
            <a:off x="781050" y="1314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@Bean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3" name="文本框 2252" descr="{&quot;isTemplate&quot;:true,&quot;type&quot;:&quot;text&quot;}"/>
          <p:cNvSpPr txBox="1"/>
          <p:nvPr/>
        </p:nvSpPr>
        <p:spPr>
          <a:xfrm>
            <a:off x="781050" y="1543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LogTextMediaType &lt;: MediaType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4" name="文本框 2253" descr="{&quot;isTemplate&quot;:true,&quot;type&quot;:&quot;text&quot;}"/>
          <p:cNvSpPr txBox="1"/>
          <p:nvPr/>
        </p:nvSpPr>
        <p:spPr>
          <a:xfrm>
            <a:off x="781050" y="17716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init() { super('application/json+log') 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5" name="文本框 2254" descr="{&quot;isTemplate&quot;:true,&quot;type&quot;:&quot;text&quot;}"/>
          <p:cNvSpPr txBox="1"/>
          <p:nvPr/>
        </p:nvSpPr>
        <p:spPr>
          <a:xfrm>
            <a:off x="781050" y="20002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make(mediaType: String): MediaType { this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56" name="文本框 2255" descr="{&quot;isTemplate&quot;:true,&quot;type&quot;:&quot;text&quot;}"/>
          <p:cNvSpPr txBox="1"/>
          <p:nvPr/>
        </p:nvSpPr>
        <p:spPr>
          <a:xfrm>
            <a:off x="781050" y="22288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func toString() { mediaType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257" name="文本框 2256" descr="{&quot;isTemplate&quot;:true,&quot;type&quot;:&quot;text&quot;}"/>
          <p:cNvSpPr txBox="1"/>
          <p:nvPr/>
        </p:nvSpPr>
        <p:spPr>
          <a:xfrm>
            <a:off x="781050" y="2457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operator func ==(other: MediaType) { ... }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必须实现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8" name="文本框 2257" descr="{&quot;isTemplate&quot;:true,&quot;type&quot;:&quot;text&quot;}"/>
          <p:cNvSpPr txBox="1"/>
          <p:nvPr/>
        </p:nvSpPr>
        <p:spPr>
          <a:xfrm>
            <a:off x="781050" y="2686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public func hashCode(): Int64 { ... }             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必须实现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59" name="文本框 2258" descr="{&quot;isTemplate&quot;:true,&quot;type&quot;:&quot;text&quot;}"/>
          <p:cNvSpPr txBox="1"/>
          <p:nvPr/>
        </p:nvSpPr>
        <p:spPr>
          <a:xfrm>
            <a:off x="781050" y="29908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fromData(data: Data): Array&lt;Byte&gt; { fromData(JsonValue.from(data))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0" name="文本框 2259" descr="{&quot;isTemplate&quot;:true,&quot;type&quot;:&quot;text&quot;}"/>
          <p:cNvSpPr txBox="1"/>
          <p:nvPr/>
        </p:nvSpPr>
        <p:spPr>
          <a:xfrm>
            <a:off x="781050" y="3219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fromData(data: JsonValue): Array&lt;Byte&gt; {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1" name="文本框 2260" descr="{&quot;isTemplate&quot;:true,&quot;type&quot;:&quot;text&quot;}"/>
          <p:cNvSpPr txBox="1"/>
          <p:nvPr/>
        </p:nvSpPr>
        <p:spPr>
          <a:xfrm>
            <a:off x="781050" y="3448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json = data.toString()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62" name="文本框 2261" descr="{&quot;isTemplate&quot;:true,&quot;type&quot;:&quot;text&quot;}"/>
          <p:cNvSpPr txBox="1"/>
          <p:nvPr/>
        </p:nvSpPr>
        <p:spPr>
          <a:xfrm>
            <a:off x="781050" y="36766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log.info{'fromData:${json}'}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63" name="文本框 2262" descr="{&quot;isTemplate&quot;:true,&quot;type&quot;:&quot;text&quot;}"/>
          <p:cNvSpPr txBox="1"/>
          <p:nvPr/>
        </p:nvSpPr>
        <p:spPr>
          <a:xfrm>
            <a:off x="781050" y="39052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json.unsafeBytes()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264" name="文本框 2263" descr="{&quot;isTemplate&quot;:true,&quot;type&quot;:&quot;text&quot;}"/>
          <p:cNvSpPr txBox="1"/>
          <p:nvPr/>
        </p:nvSpPr>
        <p:spPr>
          <a:xfrm>
            <a:off x="781050" y="41338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5" name="文本框 2264" descr="{&quot;isTemplate&quot;:true,&quot;type&quot;:&quot;text&quot;}"/>
          <p:cNvSpPr txBox="1"/>
          <p:nvPr/>
        </p:nvSpPr>
        <p:spPr>
          <a:xfrm>
            <a:off x="781050" y="43624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toData(data: Array&lt;Byte&gt;): Data { toData(String.fromUtf8(data))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6" name="文本框 2265" descr="{&quot;isTemplate&quot;:true,&quot;type&quot;:&quot;text&quot;}"/>
          <p:cNvSpPr txBox="1"/>
          <p:nvPr/>
        </p:nvSpPr>
        <p:spPr>
          <a:xfrm>
            <a:off x="781050" y="45910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public func toData(data: String): Data { JsonValue.fromStr(data).toData() }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267" name="文本框 2266" descr="{&quot;isTemplate&quot;:true,&quot;type&quot;:&quot;text&quot;}"/>
          <p:cNvSpPr txBox="1"/>
          <p:nvPr/>
        </p:nvSpPr>
        <p:spPr>
          <a:xfrm>
            <a:off x="781050" y="4819650"/>
            <a:ext cx="6438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268" name="圆角矩形 2267"/>
          <p:cNvSpPr/>
          <p:nvPr/>
        </p:nvSpPr>
        <p:spPr>
          <a:xfrm>
            <a:off x="7581900" y="1143000"/>
            <a:ext cx="4000500" cy="3533775"/>
          </a:xfrm>
          <a:prstGeom prst="roundRect">
            <a:avLst>
              <a:gd name="adj" fmla="val 3235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69" name="文本框 2268" descr="{&quot;isTemplate&quot;:true,&quot;type&quot;:&quot;text&quot;}"/>
          <p:cNvSpPr txBox="1"/>
          <p:nvPr/>
        </p:nvSpPr>
        <p:spPr>
          <a:xfrm>
            <a:off x="7772400" y="1333500"/>
            <a:ext cx="3619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协议扩展点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0" name="文本框 2269" descr="{&quot;isTemplate&quot;:true,&quot;type&quot;:&quot;text&quot;}"/>
          <p:cNvSpPr txBox="1"/>
          <p:nvPr/>
        </p:nvSpPr>
        <p:spPr>
          <a:xfrm>
            <a:off x="7772400" y="1647825"/>
            <a:ext cx="3619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只要把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的实现注册成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@Bean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consumes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produces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就可以直接写你的自定义类型。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1" name="文本框 2270" descr="{&quot;isTemplate&quot;:true,&quot;type&quot;:&quot;text&quot;}"/>
          <p:cNvSpPr txBox="1"/>
          <p:nvPr/>
        </p:nvSpPr>
        <p:spPr>
          <a:xfrm>
            <a:off x="7772400" y="2305050"/>
            <a:ext cx="3619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不用改框架，加个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就多一种数据格式。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2" name="文本框 2271" descr="{&quot;isTemplate&quot;:true,&quot;type&quot;:&quot;text&quot;}"/>
          <p:cNvSpPr txBox="1"/>
          <p:nvPr/>
        </p:nvSpPr>
        <p:spPr>
          <a:xfrm>
            <a:off x="7772400" y="4200525"/>
            <a:ext cx="3619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所有走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application/json+log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的请求都会先落一条日志。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3" name="圆角矩形 2272"/>
          <p:cNvSpPr/>
          <p:nvPr/>
        </p:nvSpPr>
        <p:spPr>
          <a:xfrm>
            <a:off x="7581900" y="4810125"/>
            <a:ext cx="4000500" cy="1476375"/>
          </a:xfrm>
          <a:prstGeom prst="roundRect">
            <a:avLst>
              <a:gd name="adj" fmla="val 774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274" name="文本框 2273" descr="{&quot;isTemplate&quot;:true,&quot;type&quot;:&quot;text&quot;}"/>
          <p:cNvSpPr txBox="1"/>
          <p:nvPr/>
        </p:nvSpPr>
        <p:spPr>
          <a:xfrm>
            <a:off x="7772400" y="5000625"/>
            <a:ext cx="3619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必须实现的六件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5" name="文本框 2274" descr="{&quot;isTemplate&quot;:true,&quot;type&quot;:&quot;text&quot;}"/>
          <p:cNvSpPr txBox="1"/>
          <p:nvPr/>
        </p:nvSpPr>
        <p:spPr>
          <a:xfrm>
            <a:off x="7772400" y="5248275"/>
            <a:ext cx="36195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super(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格式名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make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==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hashCode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fromData + toData</a:t>
            </a:r>
            <a:endParaRPr lang="en-US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6" name="文本框 2275" descr="{&quot;isTemplate&quot;:true,&quot;type&quot;:&quot;text&quot;}"/>
          <p:cNvSpPr txBox="1"/>
          <p:nvPr/>
        </p:nvSpPr>
        <p:spPr>
          <a:xfrm>
            <a:off x="7772400" y="5838825"/>
            <a:ext cx="3619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漏一件就会编译不过或匹配不上（下一章展开完整清单）。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7" name="任意多边形 227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78" name="文本框 227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9" name="文本框 227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矩形 22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93" name="矩形 229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94" name="文本框 2293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11.1 / 11.2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5" name="文本框 2294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是什么，以及数据怎么流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6" name="文本框 2295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理解参数绑定的关键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7" name="圆角矩形 2296"/>
          <p:cNvSpPr/>
          <p:nvPr/>
        </p:nvSpPr>
        <p:spPr>
          <a:xfrm>
            <a:off x="609600" y="1143000"/>
            <a:ext cx="5410200" cy="1809750"/>
          </a:xfrm>
          <a:prstGeom prst="roundRect">
            <a:avLst>
              <a:gd name="adj" fmla="val 6316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298" name="文本框 2297" descr="{&quot;isTemplate&quot;:true,&quot;type&quot;:&quot;text&quot;}"/>
          <p:cNvSpPr txBox="1"/>
          <p:nvPr/>
        </p:nvSpPr>
        <p:spPr>
          <a:xfrm>
            <a:off x="800100" y="133350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实现了两件事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9" name="文本框 2298" descr="{&quot;isTemplate&quot;:true,&quot;type&quot;:&quot;text&quot;}"/>
          <p:cNvSpPr txBox="1"/>
          <p:nvPr/>
        </p:nvSpPr>
        <p:spPr>
          <a:xfrm>
            <a:off x="800100" y="1657350"/>
            <a:ext cx="50292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HTTP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的定义：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text/plain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application/json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multipart/form-data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0" name="文本框 2299" descr="{&quot;isTemplate&quot;:true,&quot;type&quot;:&quot;text&quot;}"/>
          <p:cNvSpPr txBox="1"/>
          <p:nvPr/>
        </p:nvSpPr>
        <p:spPr>
          <a:xfrm>
            <a:off x="800100" y="2352675"/>
            <a:ext cx="50292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multipart/form-data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的编解码，也就是文件上传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1" name="圆角矩形 2300"/>
          <p:cNvSpPr/>
          <p:nvPr/>
        </p:nvSpPr>
        <p:spPr>
          <a:xfrm>
            <a:off x="6172200" y="1143000"/>
            <a:ext cx="5410200" cy="1809750"/>
          </a:xfrm>
          <a:prstGeom prst="roundRect">
            <a:avLst>
              <a:gd name="adj" fmla="val 631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02" name="文本框 2301" descr="{&quot;isTemplate&quot;:true,&quot;type&quot;:&quot;text&quot;}"/>
          <p:cNvSpPr txBox="1"/>
          <p:nvPr/>
        </p:nvSpPr>
        <p:spPr>
          <a:xfrm>
            <a:off x="6362700" y="1333500"/>
            <a:ext cx="5029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它们不是两套东西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3" name="圆角矩形 2302"/>
          <p:cNvSpPr/>
          <p:nvPr/>
        </p:nvSpPr>
        <p:spPr>
          <a:xfrm>
            <a:off x="6362700" y="1657350"/>
            <a:ext cx="5029200" cy="704850"/>
          </a:xfrm>
          <a:prstGeom prst="roundRect">
            <a:avLst>
              <a:gd name="adj" fmla="val 1081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04" name="文本框 2303" descr="{&quot;isTemplate&quot;:true,&quot;type&quot;:&quot;text&quot;}"/>
          <p:cNvSpPr txBox="1"/>
          <p:nvPr/>
        </p:nvSpPr>
        <p:spPr>
          <a:xfrm>
            <a:off x="6477000" y="1771650"/>
            <a:ext cx="4800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// f_mvc/src/MediaType.cj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全文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05" name="文本框 2304" descr="{&quot;isTemplate&quot;:true,&quot;type&quot;:&quot;text&quot;}"/>
          <p:cNvSpPr txBox="1"/>
          <p:nvPr/>
        </p:nvSpPr>
        <p:spPr>
          <a:xfrm>
            <a:off x="6477000" y="2009775"/>
            <a:ext cx="48006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public import fountain::f_http.*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306" name="文本框 2305" descr="{&quot;isTemplate&quot;:true,&quot;type&quot;:&quot;text&quot;}"/>
          <p:cNvSpPr txBox="1"/>
          <p:nvPr/>
        </p:nvSpPr>
        <p:spPr>
          <a:xfrm>
            <a:off x="6362700" y="2457450"/>
            <a:ext cx="50292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里拿到的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，就是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f_http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的类型。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7" name="圆角矩形 2306"/>
          <p:cNvSpPr/>
          <p:nvPr/>
        </p:nvSpPr>
        <p:spPr>
          <a:xfrm>
            <a:off x="609600" y="3105150"/>
            <a:ext cx="10972800" cy="3181350"/>
          </a:xfrm>
          <a:prstGeom prst="roundRect">
            <a:avLst>
              <a:gd name="adj" fmla="val 359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08" name="文本框 2307" descr="{&quot;isTemplate&quot;:true,&quot;type&quot;:&quot;text&quot;}"/>
          <p:cNvSpPr txBox="1"/>
          <p:nvPr/>
        </p:nvSpPr>
        <p:spPr>
          <a:xfrm>
            <a:off x="800100" y="3295650"/>
            <a:ext cx="10591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数据流向（理解参数绑定的关键）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9" name="圆角矩形 2308"/>
          <p:cNvSpPr/>
          <p:nvPr/>
        </p:nvSpPr>
        <p:spPr>
          <a:xfrm>
            <a:off x="800100" y="3619500"/>
            <a:ext cx="180975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10" name="文本框 2309" descr="{&quot;isTemplate&quot;:true,&quot;type&quot;:&quot;text&quot;}"/>
          <p:cNvSpPr txBox="1"/>
          <p:nvPr/>
        </p:nvSpPr>
        <p:spPr>
          <a:xfrm>
            <a:off x="914400" y="3733800"/>
            <a:ext cx="1581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字节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InputStream / String</a:t>
            </a:r>
            <a:endParaRPr lang="en-US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1" name="文本框 2310" descr="{&quot;isTemplate&quot;:true,&quot;type&quot;:&quot;text&quot;}"/>
          <p:cNvSpPr txBox="1"/>
          <p:nvPr/>
        </p:nvSpPr>
        <p:spPr>
          <a:xfrm>
            <a:off x="2705100" y="3733800"/>
            <a:ext cx="762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--toData--&gt;</a:t>
            </a:r>
            <a:endParaRPr lang="en-US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2" name="圆角矩形 2311"/>
          <p:cNvSpPr/>
          <p:nvPr/>
        </p:nvSpPr>
        <p:spPr>
          <a:xfrm>
            <a:off x="3562350" y="3619500"/>
            <a:ext cx="51435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313" name="文本框 2312" descr="{&quot;isTemplate&quot;:true,&quot;type&quot;:&quot;text&quot;}"/>
          <p:cNvSpPr txBox="1"/>
          <p:nvPr/>
        </p:nvSpPr>
        <p:spPr>
          <a:xfrm>
            <a:off x="3676650" y="3733800"/>
            <a:ext cx="285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Data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4" name="文本框 2313" descr="{&quot;isTemplate&quot;:true,&quot;type&quot;:&quot;text&quot;}"/>
          <p:cNvSpPr txBox="1"/>
          <p:nvPr/>
        </p:nvSpPr>
        <p:spPr>
          <a:xfrm>
            <a:off x="4171950" y="3733800"/>
            <a:ext cx="11334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--toDataFields--&gt;</a:t>
            </a:r>
            <a:endParaRPr lang="en-US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5" name="圆角矩形 2314"/>
          <p:cNvSpPr/>
          <p:nvPr/>
        </p:nvSpPr>
        <p:spPr>
          <a:xfrm>
            <a:off x="5400675" y="3619500"/>
            <a:ext cx="158115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16" name="文本框 2315" descr="{&quot;isTemplate&quot;:true,&quot;type&quot;:&quot;text&quot;}"/>
          <p:cNvSpPr txBox="1"/>
          <p:nvPr/>
        </p:nvSpPr>
        <p:spPr>
          <a:xfrm>
            <a:off x="5514975" y="3733800"/>
            <a:ext cx="1352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对象（</a:t>
            </a: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实参）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7" name="圆角矩形 2316"/>
          <p:cNvSpPr/>
          <p:nvPr/>
        </p:nvSpPr>
        <p:spPr>
          <a:xfrm>
            <a:off x="800100" y="4114800"/>
            <a:ext cx="1209675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18" name="文本框 2317" descr="{&quot;isTemplate&quot;:true,&quot;type&quot;:&quot;text&quot;}"/>
          <p:cNvSpPr txBox="1"/>
          <p:nvPr/>
        </p:nvSpPr>
        <p:spPr>
          <a:xfrm>
            <a:off x="914400" y="4229100"/>
            <a:ext cx="981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controller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返回值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9" name="文本框 2318" descr="{&quot;isTemplate&quot;:true,&quot;type&quot;:&quot;text&quot;}"/>
          <p:cNvSpPr txBox="1"/>
          <p:nvPr/>
        </p:nvSpPr>
        <p:spPr>
          <a:xfrm>
            <a:off x="2105025" y="4229100"/>
            <a:ext cx="130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--fromDataFields--&gt;</a:t>
            </a:r>
            <a:endParaRPr lang="en-US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0" name="圆角矩形 2319"/>
          <p:cNvSpPr/>
          <p:nvPr/>
        </p:nvSpPr>
        <p:spPr>
          <a:xfrm>
            <a:off x="3505200" y="4114800"/>
            <a:ext cx="723900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21" name="文本框 2320" descr="{&quot;isTemplate&quot;:true,&quot;type&quot;:&quot;text&quot;}"/>
          <p:cNvSpPr txBox="1"/>
          <p:nvPr/>
        </p:nvSpPr>
        <p:spPr>
          <a:xfrm>
            <a:off x="3619500" y="422910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字节数组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2" name="文本框 2321" descr="{&quot;isTemplate&quot;:true,&quot;type&quot;:&quot;text&quot;}"/>
          <p:cNvSpPr txBox="1"/>
          <p:nvPr/>
        </p:nvSpPr>
        <p:spPr>
          <a:xfrm>
            <a:off x="4324350" y="4229100"/>
            <a:ext cx="2190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--&gt;</a:t>
            </a:r>
            <a:endParaRPr lang="en-US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3" name="圆角矩形 2322"/>
          <p:cNvSpPr/>
          <p:nvPr/>
        </p:nvSpPr>
        <p:spPr>
          <a:xfrm>
            <a:off x="4638675" y="4114800"/>
            <a:ext cx="847725" cy="381000"/>
          </a:xfrm>
          <a:prstGeom prst="roundRect">
            <a:avLst>
              <a:gd name="adj" fmla="val 20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24" name="文本框 2323" descr="{&quot;isTemplate&quot;:true,&quot;type&quot;:&quot;text&quot;}"/>
          <p:cNvSpPr txBox="1"/>
          <p:nvPr/>
        </p:nvSpPr>
        <p:spPr>
          <a:xfrm>
            <a:off x="4752975" y="422910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写回客户端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5" name="文本框 2324" descr="{&quot;isTemplate&quot;:true,&quot;type&quot;:&quot;text&quot;}"/>
          <p:cNvSpPr txBox="1"/>
          <p:nvPr/>
        </p:nvSpPr>
        <p:spPr>
          <a:xfrm>
            <a:off x="800100" y="5810250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MediaType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负责「字节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↔ Data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」，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负责「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Data 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对象」——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两层拼起来就是完整的参数绑定链路。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6" name="任意多边形 232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327" name="文本框 232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8" name="文本框 232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12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MVC 收尾与 f_http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统一异常响应：三种 ErrorMessageKind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重定向的四种状态码　·　当前请求上下文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自定义 MediaType　·　f_http 的数据流向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下一讲：f_http 扩展格式与上传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