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  <p:sldId id="262" r:id="rIdSl7"/>
    <p:sldId id="263" r:id="rIdSl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Relationship Id="rIdSl8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这一讲先用十二个接口把 fdemo 的能力全部验一遍，其中第五步「不带 JWT 返回 401」是全场最直观的安全演示，建议留足时间。然后进入第二部分框架核心，先讲 IOC：@Bean 加可选的 @BeanMeta，宏展开后建三张索引表，所以可以用名字、类型、注解三种方式取 bean。接着是 lookup 家族与构造注入。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第一条，忽略安全的接口，请求 helloworld，返回 helloworld 这个字符串。这个接口上了 @IgnoreSecurity，所以不做登录和权限检查。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第二条，注册。注意这个接口声明的是表单，不是 JSON，所以 Content-Type 是 x-www-form-urlencoded。请求体里带 username 和 password，返回的是含 id、username、password 的 JSON 文本。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第三条，登录拿 JWT。这个接口用的是 JSON 请求体，返回结构里有 status、fields，fields 里面有 userId、jwt 和 logged 三个字段。记住这条返回的 jwt，第 4 步和第 6 步都要用。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第四条，带上 JWT 访问受保护的接口 /api/user/1，返回用户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第五条，不带 JWT 访问同一个接口。（请一定要留二十秒给观众看清这个 401）——它返回 401 状态码，响应体是一个 status 等于负一的 JSON。这是全场最直观的「登录状态检查」演示。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第六条，分页列表，返回的是 Pagination 对象的序列化结果。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第七条，参数校验。请求体里用户名只有两位、密码为空，会校验失败。校验规则在 UserRequest 上，用户名至少六位、密码必填。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第八条，500 处理器。请求 /api/error，这个接口里直接抛了一个异常，看响应是不是走统一的错误体。fdemo 里注册了一个叫 NameOf500Handler 的 bean，把异常统一转成响应体。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第九条，文件上传。用 curl 的 -F 传一个表单字段和一个文件，响应 ok，控制台会打印出文件大小和 name。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第十条，重定向。/redirect/helloworld 会返回 302，Location 指向 /helloworld。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第十一条，自定义 MediaType。请求头里 Content-Type 和 Accept 都写 application/json+log，日志里会出现 fromData 和 toData 两条，证明请求体和响应体都走了自定义格式。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第十二条，定时任务，观察控制台，每隔若干秒打印一次 TickTockTaskImpl is executing。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最后还有两个压测命令：boot.sh loop 一百，循环一百次请求 helloworld 并打印总耗时；boot.sh ab 16 10000，用 ab 压测。不要凭感觉谈性能，先跑一次基线。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进入第二个板块，框架核心。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这六章是日常写代码时碰得最多的：f_bean 负责对象怎么来，f_aspect 负责横切逻辑放哪，f_data 负责数据怎么流动，f_util 是随手可用的工具箱，f_mvc 负责 HTTP 协议这一层，f_http 负责数据格式。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顺序上我按依赖关系排：先讲 IOC 和 AOP，因为后面所有模块都建立在它们之上；然后讲 f_data，它是 MVC 参数绑定、ORM 结果映射、JWT 负载填充的共同底座；接着是工具箱 f_util；最后是 MVC 和 HTTP 数据格式。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第六章讲 IOC，f_bean。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最小可用是这样的：一个 @Bean 加一个可选的 @BeanMeta。BeanMeta 里有六个属性：name 是 bean 名，默认是类型全限定名加序号；scope 是单例还是原型，默认 singleton；lazy 是单例懒加载；primary 是同类型排最前；order 是同类型排序；condition 是条件装配。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全是默认值的时候，BeanMeta 可以省略，只写 @Bean 就够了。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泛型类要多一步：@Bean 后面跟上泛型实参，用竖线分隔多组，比如 String、Duration 或 Int64、String 这样两组。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@Bean 展开后做的是三件事：把「构造函数闭包、TypeInfo、BeanMeta」注册到 BeanFactory，并用三张 HashMap 建索引——按 bean 名、按类或父类或接口的 TypeInfo、按类上的注解。所以你可以用名字、用类型、用注解三种方式取 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还有一个重要取舍：IOC 只管理 class，不管理 struct。因为 struct 是值类型，取出来就会复制。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取 bean 的函数族叫 lookup，一共有十个左右。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最常用的是 lookup 泛型无参，取第一个，找不到抛异常。带名字的版本按 bean 名取。带 StringCond 的版本按名字条件取。Option 版本找不到返回 None。lookupList 取全部，这是重点。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lookupList 泛型是「策略模式」的免费实现：同一个接口 N 个实现，一行代码全拿到。配合 BeanLabel 和 BeanWeight 还能直接做成路由表或者加权负载均衡。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另外还有 lookupHashSet、lookupTreeSet、lookupHashMap，返回值分别是集合、有序集合和以 bean 名为 KEY 的 Map。lookupLables 用 label 做 KEY，lookupWeights 用 weight 排序返回 TreeMap。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StringCond 是一个</a:t>
            </a:r>
            <a:r>
              <a:rPr lang="en-US" altLang="zh-CN" dirty="0"/>
              <a:t>bean</a:t>
            </a:r>
            <a:r>
              <a:rPr lang="zh-CN" altLang="en-US" dirty="0"/>
              <a:t>的名称</a:t>
            </a:r>
            <a:r>
              <a:rPr lang="zh-CN" dirty="0"/>
              <a:t>匹配规则的枚举：IgnoreCond</a:t>
            </a:r>
            <a:r>
              <a:rPr lang="en-US" altLang="zh-CN" dirty="0"/>
              <a:t>——</a:t>
            </a:r>
            <a:r>
              <a:rPr lang="zh-CN" altLang="en-US" dirty="0"/>
              <a:t>唯一的无参构造器忽略</a:t>
            </a:r>
            <a:r>
              <a:rPr lang="en-US" altLang="zh-CN" dirty="0"/>
              <a:t>bean</a:t>
            </a:r>
            <a:r>
              <a:rPr lang="zh-CN" altLang="en-US" dirty="0"/>
              <a:t>名称</a:t>
            </a:r>
            <a:r>
              <a:rPr lang="zh-CN" dirty="0"/>
              <a:t>、Exactly</a:t>
            </a:r>
            <a:r>
              <a:rPr lang="en-US" altLang="zh-CN" dirty="0"/>
              <a:t>——</a:t>
            </a:r>
            <a:r>
              <a:rPr lang="zh-CN" altLang="en-US" dirty="0"/>
              <a:t>严格匹配</a:t>
            </a:r>
            <a:r>
              <a:rPr lang="en-US" altLang="zh-CN" dirty="0"/>
              <a:t>bean</a:t>
            </a:r>
            <a:r>
              <a:rPr lang="zh-CN" altLang="en-US" dirty="0"/>
              <a:t>名称</a:t>
            </a:r>
            <a:r>
              <a:rPr lang="zh-CN" dirty="0"/>
              <a:t>、Prefix</a:t>
            </a:r>
            <a:r>
              <a:rPr lang="en-US" altLang="zh-CN" dirty="0"/>
              <a:t>——</a:t>
            </a:r>
            <a:r>
              <a:rPr lang="zh-CN" altLang="en-US" dirty="0"/>
              <a:t>匹配</a:t>
            </a:r>
            <a:r>
              <a:rPr lang="en-US" altLang="zh-CN" dirty="0"/>
              <a:t>bean</a:t>
            </a:r>
            <a:r>
              <a:rPr lang="zh-CN" altLang="en-US" dirty="0"/>
              <a:t>名称开头</a:t>
            </a:r>
            <a:r>
              <a:rPr lang="zh-CN" dirty="0"/>
              <a:t>、Suffix</a:t>
            </a:r>
            <a:r>
              <a:rPr lang="en-US" altLang="zh-CN" dirty="0"/>
              <a:t>——</a:t>
            </a:r>
            <a:r>
              <a:rPr lang="zh-CN" altLang="en-US" dirty="0"/>
              <a:t>匹配</a:t>
            </a:r>
            <a:r>
              <a:rPr lang="en-US" altLang="zh-CN" dirty="0"/>
              <a:t>bean</a:t>
            </a:r>
            <a:r>
              <a:rPr lang="zh-CN" altLang="en-US" dirty="0"/>
              <a:t>名称结尾</a:t>
            </a:r>
            <a:r>
              <a:rPr lang="zh-CN" dirty="0"/>
              <a:t>、Wildcard</a:t>
            </a:r>
            <a:r>
              <a:rPr lang="en-US" altLang="zh-CN" dirty="0"/>
              <a:t>——</a:t>
            </a:r>
            <a:r>
              <a:rPr lang="zh-CN" altLang="en-US" dirty="0"/>
              <a:t>通配符匹配</a:t>
            </a:r>
            <a:r>
              <a:rPr lang="zh-CN" dirty="0"/>
              <a:t>、Regexp</a:t>
            </a:r>
            <a:r>
              <a:rPr lang="en-US" altLang="zh-CN" dirty="0"/>
              <a:t>——</a:t>
            </a:r>
            <a:r>
              <a:rPr lang="zh-CN" altLang="en-US" dirty="0"/>
              <a:t>正则匹配</a:t>
            </a:r>
            <a:r>
              <a:rPr lang="zh-CN" dirty="0"/>
              <a:t>、Contains</a:t>
            </a:r>
            <a:r>
              <a:rPr lang="en-US" altLang="zh-CN" dirty="0"/>
              <a:t>——bean</a:t>
            </a:r>
            <a:r>
              <a:rPr lang="zh-CN" altLang="en-US" dirty="0"/>
              <a:t>名称包含指定字符串</a:t>
            </a:r>
            <a:r>
              <a:rPr lang="zh-CN" dirty="0"/>
              <a:t>、In</a:t>
            </a:r>
            <a:r>
              <a:rPr lang="en-US" altLang="zh-CN" dirty="0"/>
              <a:t>——</a:t>
            </a:r>
            <a:r>
              <a:rPr lang="zh-CN" altLang="en-US" dirty="0"/>
              <a:t>指定字符串包含</a:t>
            </a:r>
            <a:r>
              <a:rPr lang="en-US" altLang="zh-CN" dirty="0"/>
              <a:t>bean</a:t>
            </a:r>
            <a:r>
              <a:rPr lang="zh-CN" altLang="en-US" dirty="0"/>
              <a:t>名称</a:t>
            </a:r>
            <a:r>
              <a:rPr lang="zh-CN" dirty="0"/>
              <a:t>，八个值。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生命周期和构造注入这一节，四个东西。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第一，@Constructor。它修饰构造函数或者静态函数，让 IOC 用你自己写的构造逻辑来创建 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第二，@Value。它把配置项直接注入构造参数，支持 name、default、dateFormat、delim 四个属性。dateFormat 是为了把配置里的时间字符串直接转成 DateTime，delim 是数组配置项的分隔符。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第三，@BeanParam。它按 StringCond 匹配 bean 名，把另一个 bean 注入进来。看右边这个例子，Prefix('user') 就是取 bean 名以 user 点开头的那个 UserService。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注意这两者只能修饰被 @Constructor 修饰的函数形参，修饰在别的地方编译期就报错。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第四，工厂 bean。实现 FactoryBean 接口以后，get() 的返回值才是真正的 bean，接口本身返回的是 typeInfo。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最后两个回调接口：PostConstruct 是初始化后回调，Destroy 是销毁回调。差别在于 prototype 需要你自己调 destroy，singleton 由 IOC 调。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这一讲三个要点：一，fdemo 的十二个接口就是全套能力的验收清单，跑通了说明环境没问题；二，IOC 只管理 class 不管理 struct，这是明确的取舍；三，lookupList 一行拿到某接口的全部实现，是策略模式的免费实现，配合 BeanLabel 和 BeanWeight 还能做路由表。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8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06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06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接口验证与 IOC 入门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十二个接口的验收清单，其中 401 那一幕最关键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f_bean 最小可用：@Bean + @BeanMeta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lookup 家族　·　生命周期与构造注入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6 讲 / 共 25 讲　·　原稿第 34–39 页 + 首尾两页　·　约 14.0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矩形 12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13" name="矩形 121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14" name="文本框 1213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现场跑通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5.4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5" name="文本框 1214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接口验证清单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1–6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6" name="文本框 1215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建议做成画面对照表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7" name="文本框 1216" descr="{&quot;isTemplate&quot;:true,&quot;type&quot;:&quot;text&quot;}"/>
          <p:cNvSpPr txBox="1"/>
          <p:nvPr/>
        </p:nvSpPr>
        <p:spPr>
          <a:xfrm>
            <a:off x="609600" y="1143000"/>
            <a:ext cx="10972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下面命令里的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...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代表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http://localhost:8080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18" name="表格 1217"/>
          <p:cNvGraphicFramePr/>
          <p:nvPr/>
        </p:nvGraphicFramePr>
        <p:xfrm>
          <a:off x="609600" y="1419225"/>
          <a:ext cx="10972800" cy="4724403"/>
        </p:xfrm>
        <a:graphic>
          <a:graphicData uri="http://schemas.openxmlformats.org/drawingml/2006/table">
            <a:tbl>
              <a:tblPr/>
              <a:tblGrid>
                <a:gridCol w="150578"/>
                <a:gridCol w="1275869"/>
                <a:gridCol w="6748507"/>
                <a:gridCol w="2797845"/>
              </a:tblGrid>
              <a:tr h="5253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目的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预期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253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忽略安全的接口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-H 'Accept:text/plain' .../helloworld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helloworld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434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注册（忽略鉴权 + 权限）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.../api/user/register -H 'Content-Type:application/x-www-form-urlencoded' -d 'username=abcdef&amp;password=bcbcbcbc'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返回含 id / username / password 的 JSON 文本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434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登录拿 JWT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.../api/user/session -H 'Content-Type:application/json' -d '{"username":"abcdef","password":"bcbcbcbc"}'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{"status":1,"fields":{"userId":…,"jwt":"…","logged":true}}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434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带 JWT 访问受保护接口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-H 'Authorization: 【第 3 步的 jwt】' .../api/user/1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 JSON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3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不带 JWT 访问</a:t>
                      </a:r>
                      <a:endParaRPr sz="97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-i -H 'Accept:application/json' .../api/user/1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401 + {"status":-1}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3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分页列表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-H 'Authorization: 【jwt】' .../api/users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Pagination&lt;UserPO&gt; 序列化结果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19" name="任意多边形 121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20" name="文本框 121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1" name="文本框 122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矩形 12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24" name="矩形 122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25" name="文本框 1224" descr="{&quot;isTemplate&quot;:true,&quot;type&quot;:&quot;text&quot;}"/>
          <p:cNvSpPr txBox="1"/>
          <p:nvPr/>
        </p:nvSpPr>
        <p:spPr>
          <a:xfrm>
            <a:off x="819150" y="304800"/>
            <a:ext cx="102203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现场跑通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5.4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6" name="文本框 1225" descr="{&quot;isTemplate&quot;:true,&quot;type&quot;:&quot;text&quot;}"/>
          <p:cNvSpPr txBox="1"/>
          <p:nvPr/>
        </p:nvSpPr>
        <p:spPr>
          <a:xfrm>
            <a:off x="819150" y="514350"/>
            <a:ext cx="102203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接口验证清单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7–12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与压测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7" name="文本框 1226" descr="{&quot;isTemplate&quot;:true,&quot;type&quot;:&quot;text&quot;}"/>
          <p:cNvSpPr txBox="1"/>
          <p:nvPr/>
        </p:nvSpPr>
        <p:spPr>
          <a:xfrm>
            <a:off x="11210925" y="59055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后六条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28" name="表格 1227"/>
          <p:cNvGraphicFramePr/>
          <p:nvPr/>
        </p:nvGraphicFramePr>
        <p:xfrm>
          <a:off x="609600" y="1143000"/>
          <a:ext cx="10972801" cy="4038600"/>
        </p:xfrm>
        <a:graphic>
          <a:graphicData uri="http://schemas.openxmlformats.org/drawingml/2006/table">
            <a:tbl>
              <a:tblPr/>
              <a:tblGrid>
                <a:gridCol w="242493"/>
                <a:gridCol w="1180258"/>
                <a:gridCol w="6816322"/>
                <a:gridCol w="2733728"/>
              </a:tblGrid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目的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预期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参数校验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.../api/user/session -d '{"username":"ab","password":""}'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校验失败（用户名至少 6 位 / 密码必填）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500 处理器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-i .../api/error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走 NameOf500Handler 返回统一错误体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文件上传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.../upload -F 'name=abc' -F 'file=@./banner.txt'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ok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重定向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-i .../redirect/helloworld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302 + Location: /helloworld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070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自定义 MediaType</a:t>
                      </a:r>
                      <a:endParaRPr sz="97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.../api/user/sessionLog -H 'Content-Type:application/json+log' -H 'Accept:application/json+log' -d '…'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日志里出现 fromData: / toData: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070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定时任务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观察控制台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每隔若干秒打印 TickTockTaskImpl is executing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29" name="圆角矩形 1228"/>
          <p:cNvSpPr/>
          <p:nvPr/>
        </p:nvSpPr>
        <p:spPr>
          <a:xfrm>
            <a:off x="609600" y="5314950"/>
            <a:ext cx="10972800" cy="971550"/>
          </a:xfrm>
          <a:prstGeom prst="roundRect">
            <a:avLst>
              <a:gd name="adj" fmla="val 11765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230" name="矩形 1229"/>
          <p:cNvSpPr/>
          <p:nvPr/>
        </p:nvSpPr>
        <p:spPr>
          <a:xfrm>
            <a:off x="800100" y="5553075"/>
            <a:ext cx="38100" cy="4953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31" name="文本框 1230" descr="{&quot;isTemplate&quot;:true,&quot;type&quot;:&quot;text&quot;}"/>
          <p:cNvSpPr txBox="1"/>
          <p:nvPr/>
        </p:nvSpPr>
        <p:spPr>
          <a:xfrm>
            <a:off x="1028700" y="5543550"/>
            <a:ext cx="10363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可选：压测，展示一下性能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2" name="文本框 1231" descr="{&quot;isTemplate&quot;:true,&quot;type&quot;:&quot;text&quot;}"/>
          <p:cNvSpPr txBox="1"/>
          <p:nvPr/>
        </p:nvSpPr>
        <p:spPr>
          <a:xfrm>
            <a:off x="1028700" y="5791200"/>
            <a:ext cx="10363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./boot.sh loop 100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./boot.sh ab 16 10000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（需先装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apache2-utils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）</a:t>
            </a:r>
            <a:endParaRPr lang="zh-CN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33" name="任意多边形 123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34" name="文本框 123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5" name="文本框 123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矩形 12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38" name="文本框 1237" descr="{&quot;isTemplate&quot;:true,&quot;type&quot;:&quot;text&quot;}"/>
          <p:cNvSpPr txBox="1"/>
          <p:nvPr/>
        </p:nvSpPr>
        <p:spPr>
          <a:xfrm>
            <a:off x="8239125" y="1143000"/>
            <a:ext cx="357187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02</a:t>
            </a:r>
            <a:endParaRPr lang="en-US" sz="24000" b="1">
              <a:solidFill>
                <a:srgbClr val="16233A"/>
              </a:solidFill>
              <a:latin typeface="JetBrains Mono"/>
              <a:ea typeface="JetBrains Mono"/>
            </a:endParaRPr>
          </a:p>
        </p:txBody>
      </p:sp>
      <p:sp>
        <p:nvSpPr>
          <p:cNvPr id="1239" name="矩形 1238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40" name="文本框 1239" descr="{&quot;isTemplate&quot;:true,&quot;type&quot;:&quot;text&quot;}"/>
          <p:cNvSpPr txBox="1"/>
          <p:nvPr/>
        </p:nvSpPr>
        <p:spPr>
          <a:xfrm>
            <a:off x="1143000" y="2076450"/>
            <a:ext cx="10191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02</a:t>
            </a:r>
            <a:endParaRPr lang="en-US" sz="1200" spc="4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1" name="文本框 1240" descr="{&quot;isTemplate&quot;:true,&quot;type&quot;:&quot;text&quot;}"/>
          <p:cNvSpPr txBox="1"/>
          <p:nvPr/>
        </p:nvSpPr>
        <p:spPr>
          <a:xfrm>
            <a:off x="1143000" y="2419350"/>
            <a:ext cx="2133600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框架核心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2" name="矩形 1241"/>
          <p:cNvSpPr/>
          <p:nvPr/>
        </p:nvSpPr>
        <p:spPr>
          <a:xfrm>
            <a:off x="1143000" y="32766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43" name="文本框 1242" descr="{&quot;isTemplate&quot;:true,&quot;type&quot;:&quot;text&quot;}"/>
          <p:cNvSpPr txBox="1"/>
          <p:nvPr/>
        </p:nvSpPr>
        <p:spPr>
          <a:xfrm>
            <a:off x="1143000" y="3733800"/>
            <a:ext cx="55530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f_bean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对象怎么来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f_aspect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横切逻辑放哪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数据怎么流动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4" name="文本框 1243" descr="{&quot;isTemplate&quot;:true,&quot;type&quot;:&quot;text&quot;}"/>
          <p:cNvSpPr txBox="1"/>
          <p:nvPr/>
        </p:nvSpPr>
        <p:spPr>
          <a:xfrm>
            <a:off x="1143000" y="4076700"/>
            <a:ext cx="39909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f_util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工具箱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f_mvc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协议层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5" name="文本框 1244" descr="{&quot;isTemplate&quot;:true,&quot;type&quot;:&quot;text&quot;}"/>
          <p:cNvSpPr txBox="1"/>
          <p:nvPr/>
        </p:nvSpPr>
        <p:spPr>
          <a:xfrm>
            <a:off x="1143000" y="4876800"/>
            <a:ext cx="657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6–11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6" name="矩形 1245"/>
          <p:cNvSpPr/>
          <p:nvPr/>
        </p:nvSpPr>
        <p:spPr>
          <a:xfrm>
            <a:off x="202882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247" name="文本框 1246" descr="{&quot;isTemplate&quot;:true,&quot;type&quot;:&quot;text&quot;}"/>
          <p:cNvSpPr txBox="1"/>
          <p:nvPr/>
        </p:nvSpPr>
        <p:spPr>
          <a:xfrm>
            <a:off x="2266950" y="4876800"/>
            <a:ext cx="1000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37–74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8" name="矩形 1247"/>
          <p:cNvSpPr/>
          <p:nvPr/>
        </p:nvSpPr>
        <p:spPr>
          <a:xfrm>
            <a:off x="349567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249" name="文本框 1248" descr="{&quot;isTemplate&quot;:true,&quot;type&quot;:&quot;text&quot;}"/>
          <p:cNvSpPr txBox="1"/>
          <p:nvPr/>
        </p:nvSpPr>
        <p:spPr>
          <a:xfrm>
            <a:off x="3733800" y="4876800"/>
            <a:ext cx="847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100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1" name="文本框 900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矩形 12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52" name="矩形 125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53" name="文本框 1252" descr="{&quot;isTemplate&quot;:true,&quot;type&quot;:&quot;text&quot;}"/>
          <p:cNvSpPr txBox="1"/>
          <p:nvPr/>
        </p:nvSpPr>
        <p:spPr>
          <a:xfrm>
            <a:off x="819150" y="304800"/>
            <a:ext cx="93249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4" name="文本框 1253" descr="{&quot;isTemplate&quot;:true,&quot;type&quot;:&quot;text&quot;}"/>
          <p:cNvSpPr txBox="1"/>
          <p:nvPr/>
        </p:nvSpPr>
        <p:spPr>
          <a:xfrm>
            <a:off x="819150" y="514350"/>
            <a:ext cx="93249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最小可用：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@Bean + @BeanMeta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5" name="文本框 1254" descr="{&quot;isTemplate&quot;:true,&quot;type&quot;:&quot;text&quot;}"/>
          <p:cNvSpPr txBox="1"/>
          <p:nvPr/>
        </p:nvSpPr>
        <p:spPr>
          <a:xfrm>
            <a:off x="10315575" y="590550"/>
            <a:ext cx="1266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HashMap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建索引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6" name="圆角矩形 1255"/>
          <p:cNvSpPr/>
          <p:nvPr/>
        </p:nvSpPr>
        <p:spPr>
          <a:xfrm>
            <a:off x="609600" y="1143000"/>
            <a:ext cx="69723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257" name="文本框 1256" descr="{&quot;isTemplate&quot;:true,&quot;type&quot;:&quot;text&quot;}"/>
          <p:cNvSpPr txBox="1"/>
          <p:nvPr/>
        </p:nvSpPr>
        <p:spPr>
          <a:xfrm>
            <a:off x="800100" y="1333500"/>
            <a:ext cx="6591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import fountain::f_bean.* / fountain::f_bean.macros.*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8" name="文本框 1257" descr="{&quot;isTemplate&quot;:true,&quot;type&quot;:&quot;text&quot;}"/>
          <p:cNvSpPr txBox="1"/>
          <p:nvPr/>
        </p:nvSpPr>
        <p:spPr>
          <a:xfrm>
            <a:off x="800100" y="15906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59" name="文本框 1258" descr="{&quot;isTemplate&quot;:true,&quot;type&quot;:&quot;text&quot;}"/>
          <p:cNvSpPr txBox="1"/>
          <p:nvPr/>
        </p:nvSpPr>
        <p:spPr>
          <a:xfrm>
            <a:off x="800100" y="18954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@BeanMeta[                       //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全是默认值时可省略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60" name="文本框 1259" descr="{&quot;isTemplate&quot;:true,&quot;type&quot;:&quot;text&quot;}"/>
          <p:cNvSpPr txBox="1"/>
          <p:nvPr/>
        </p:nvSpPr>
        <p:spPr>
          <a:xfrm>
            <a:off x="800100" y="22002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name: '',                    //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默认「类型全限定名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+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序号」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1" name="文本框 1260" descr="{&quot;isTemplate&quot;:true,&quot;type&quot;:&quot;text&quot;}"/>
          <p:cNvSpPr txBox="1"/>
          <p:nvPr/>
        </p:nvSpPr>
        <p:spPr>
          <a:xfrm>
            <a:off x="800100" y="25050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scope: BeanScope.singleton,  // singleton | prototype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2" name="文本框 1261" descr="{&quot;isTemplate&quot;:true,&quot;type&quot;:&quot;text&quot;}"/>
          <p:cNvSpPr txBox="1"/>
          <p:nvPr/>
        </p:nvSpPr>
        <p:spPr>
          <a:xfrm>
            <a:off x="800100" y="28098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lazy: true,                  // singleton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懒加载；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prototype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下不生效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3" name="文本框 1262" descr="{&quot;isTemplate&quot;:true,&quot;type&quot;:&quot;text&quot;}"/>
          <p:cNvSpPr txBox="1"/>
          <p:nvPr/>
        </p:nvSpPr>
        <p:spPr>
          <a:xfrm>
            <a:off x="800100" y="31146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primary: false,              //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同类型排最前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4" name="文本框 1263" descr="{&quot;isTemplate&quot;:true,&quot;type&quot;:&quot;text&quot;}"/>
          <p:cNvSpPr txBox="1"/>
          <p:nvPr/>
        </p:nvSpPr>
        <p:spPr>
          <a:xfrm>
            <a:off x="800100" y="34194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order: 0,                    //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同类型排序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5" name="文本框 1264" descr="{&quot;isTemplate&quot;:true,&quot;type&quot;:&quot;text&quot;}"/>
          <p:cNvSpPr txBox="1"/>
          <p:nvPr/>
        </p:nvSpPr>
        <p:spPr>
          <a:xfrm>
            <a:off x="800100" y="37242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condition: NoneBeanCondition.instance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6" name="文本框 1265" descr="{&quot;isTemplate&quot;:true,&quot;type&quot;:&quot;text&quot;}"/>
          <p:cNvSpPr txBox="1"/>
          <p:nvPr/>
        </p:nvSpPr>
        <p:spPr>
          <a:xfrm>
            <a:off x="800100" y="40290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67" name="文本框 1266" descr="{&quot;isTemplate&quot;:true,&quot;type&quot;:&quot;text&quot;}"/>
          <p:cNvSpPr txBox="1"/>
          <p:nvPr/>
        </p:nvSpPr>
        <p:spPr>
          <a:xfrm>
            <a:off x="800100" y="43338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ClassName{}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68" name="文本框 1267" descr="{&quot;isTemplate&quot;:true,&quot;type&quot;:&quot;text&quot;}"/>
          <p:cNvSpPr txBox="1"/>
          <p:nvPr/>
        </p:nvSpPr>
        <p:spPr>
          <a:xfrm>
            <a:off x="800100" y="473392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@Bean[String, Duration|Int64, String]   //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泛型类：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|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分隔多组泛型实参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269" name="文本框 1268" descr="{&quot;isTemplate&quot;:true,&quot;type&quot;:&quot;text&quot;}"/>
          <p:cNvSpPr txBox="1"/>
          <p:nvPr/>
        </p:nvSpPr>
        <p:spPr>
          <a:xfrm>
            <a:off x="800100" y="503872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GenericClass&lt;T, E&gt;{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70" name="文本框 1269" descr="{&quot;isTemplate&quot;:true,&quot;type&quot;:&quot;text&quot;}"/>
          <p:cNvSpPr txBox="1"/>
          <p:nvPr/>
        </p:nvSpPr>
        <p:spPr>
          <a:xfrm>
            <a:off x="800100" y="534352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private let bean = lookup&lt;ClassName&gt;()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71" name="文本框 1270" descr="{&quot;isTemplate&quot;:true,&quot;type&quot;:&quot;text&quot;}"/>
          <p:cNvSpPr txBox="1"/>
          <p:nvPr/>
        </p:nvSpPr>
        <p:spPr>
          <a:xfrm>
            <a:off x="800100" y="564832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72" name="圆角矩形 1271"/>
          <p:cNvSpPr/>
          <p:nvPr/>
        </p:nvSpPr>
        <p:spPr>
          <a:xfrm>
            <a:off x="7772400" y="1143000"/>
            <a:ext cx="3810000" cy="3752850"/>
          </a:xfrm>
          <a:prstGeom prst="roundRect">
            <a:avLst>
              <a:gd name="adj" fmla="val 3046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273" name="文本框 1272" descr="{&quot;isTemplate&quot;:true,&quot;type&quot;:&quot;text&quot;}"/>
          <p:cNvSpPr txBox="1"/>
          <p:nvPr/>
        </p:nvSpPr>
        <p:spPr>
          <a:xfrm>
            <a:off x="7962900" y="1333500"/>
            <a:ext cx="342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三张索引表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4" name="文本框 1273" descr="{&quot;isTemplate&quot;:true,&quot;type&quot;:&quot;text&quot;}"/>
          <p:cNvSpPr txBox="1"/>
          <p:nvPr/>
        </p:nvSpPr>
        <p:spPr>
          <a:xfrm>
            <a:off x="7962900" y="165735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KEY =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名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5" name="文本框 1274" descr="{&quot;isTemplate&quot;:true,&quot;type&quot;:&quot;text&quot;}"/>
          <p:cNvSpPr txBox="1"/>
          <p:nvPr/>
        </p:nvSpPr>
        <p:spPr>
          <a:xfrm>
            <a:off x="7962900" y="20097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KEY =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类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父类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实现接口的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TypeInfo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6" name="文本框 1275" descr="{&quot;isTemplate&quot;:true,&quot;type&quot;:&quot;text&quot;}"/>
          <p:cNvSpPr txBox="1"/>
          <p:nvPr/>
        </p:nvSpPr>
        <p:spPr>
          <a:xfrm>
            <a:off x="7962900" y="236220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KEY =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类上注解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注解父类型的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TypeInfo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7" name="文本框 1276" descr="{&quot;isTemplate&quot;:true,&quot;type&quot;:&quot;text&quot;}"/>
          <p:cNvSpPr txBox="1"/>
          <p:nvPr/>
        </p:nvSpPr>
        <p:spPr>
          <a:xfrm>
            <a:off x="7962900" y="44100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所以你可以用名字、用类型、用注解三种方式取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bean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8" name="圆角矩形 1277"/>
          <p:cNvSpPr/>
          <p:nvPr/>
        </p:nvSpPr>
        <p:spPr>
          <a:xfrm>
            <a:off x="7772400" y="5029200"/>
            <a:ext cx="3810000" cy="1257300"/>
          </a:xfrm>
          <a:prstGeom prst="roundRect">
            <a:avLst>
              <a:gd name="adj" fmla="val 909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279" name="文本框 1278" descr="{&quot;isTemplate&quot;:true,&quot;type&quot;:&quot;text&quot;}"/>
          <p:cNvSpPr txBox="1"/>
          <p:nvPr/>
        </p:nvSpPr>
        <p:spPr>
          <a:xfrm>
            <a:off x="7962900" y="5219700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只管理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class</a:t>
            </a:r>
            <a:endParaRPr lang="en-US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0" name="文本框 1279" descr="{&quot;isTemplate&quot;:true,&quot;type&quot;:&quot;text&quot;}"/>
          <p:cNvSpPr txBox="1"/>
          <p:nvPr/>
        </p:nvSpPr>
        <p:spPr>
          <a:xfrm>
            <a:off x="7962900" y="5514975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不管理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struct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：值类型取出来就会复制，得不偿失，这是作者明确的取舍。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1" name="任意多边形 128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82" name="文本框 128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3" name="文本框 128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矩形 12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86" name="矩形 128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87" name="文本框 1286" descr="{&quot;isTemplate&quot;:true,&quot;type&quot;:&quot;text&quot;}"/>
          <p:cNvSpPr txBox="1"/>
          <p:nvPr/>
        </p:nvSpPr>
        <p:spPr>
          <a:xfrm>
            <a:off x="819150" y="304800"/>
            <a:ext cx="9563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8" name="文本框 1287" descr="{&quot;isTemplate&quot;:true,&quot;type&quot;:&quot;text&quot;}"/>
          <p:cNvSpPr txBox="1"/>
          <p:nvPr/>
        </p:nvSpPr>
        <p:spPr>
          <a:xfrm>
            <a:off x="819150" y="514350"/>
            <a:ext cx="9563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取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lookup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家族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9" name="文本框 1288" descr="{&quot;isTemplate&quot;:true,&quot;type&quot;:&quot;text&quot;}"/>
          <p:cNvSpPr txBox="1"/>
          <p:nvPr/>
        </p:nvSpPr>
        <p:spPr>
          <a:xfrm>
            <a:off x="10553700" y="590550"/>
            <a:ext cx="1028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lookupList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是重点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90" name="表格 1289"/>
          <p:cNvGraphicFramePr/>
          <p:nvPr/>
        </p:nvGraphicFramePr>
        <p:xfrm>
          <a:off x="609600" y="1143000"/>
          <a:ext cx="10972800" cy="3810000"/>
        </p:xfrm>
        <a:graphic>
          <a:graphicData uri="http://schemas.openxmlformats.org/drawingml/2006/table">
            <a:tbl>
              <a:tblPr/>
              <a:tblGrid>
                <a:gridCol w="4129514"/>
                <a:gridCol w="2379720"/>
                <a:gridCol w="4463566"/>
              </a:tblGrid>
              <a:tr h="32566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函数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返回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lookup&lt;T&gt;()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第一个，找不到抛异常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lookup&lt;T&gt;(name: String)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按名字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lookup&lt;T&gt;(cond: StringCond)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名字符合条件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lookupOption&lt;T&gt;() / (name) / (cond)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?T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找不到返回 None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lookupList&lt;T&gt;() / (cond)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ArrayList&lt;T&gt;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全部实现 —— 策略模式的免费实现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lookupHashSet&lt;T&gt;()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HashSet&lt;T&gt;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 需 Hashable 且 Equatable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lookupTreeSet&lt;T&gt;()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TreeSet&lt;T&gt;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 需 Comparable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lookupHashMap&lt;T&gt;()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HashMap&lt;String, 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KEY 是 bean 名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lookupLables&lt;L, 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HashMap&lt;L, 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 实现 BeanLabel&lt;L&gt;，用 label 做 KEY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lookupWeights&lt;W, 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TreeMap&lt;W, 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 实现 BeanWeight&lt;W&gt;，用 weight 排序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91" name="圆角矩形 1290"/>
          <p:cNvSpPr/>
          <p:nvPr/>
        </p:nvSpPr>
        <p:spPr>
          <a:xfrm>
            <a:off x="609600" y="5067300"/>
            <a:ext cx="10972800" cy="1219200"/>
          </a:xfrm>
          <a:prstGeom prst="roundRect">
            <a:avLst>
              <a:gd name="adj" fmla="val 937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292" name="文本框 1291" descr="{&quot;isTemplate&quot;:true,&quot;type&quot;:&quot;text&quot;}"/>
          <p:cNvSpPr txBox="1"/>
          <p:nvPr/>
        </p:nvSpPr>
        <p:spPr>
          <a:xfrm>
            <a:off x="781050" y="523875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StringCond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是一个匹配规则枚举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3" name="文本框 1292" descr="{&quot;isTemplate&quot;:true,&quot;type&quot;:&quot;text&quot;}"/>
          <p:cNvSpPr txBox="1"/>
          <p:nvPr/>
        </p:nvSpPr>
        <p:spPr>
          <a:xfrm>
            <a:off x="781050" y="5486400"/>
            <a:ext cx="106299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IgnoreCond | Exactly(s) | Prefix(s) | Suffix(s) | Wildcard(s) | Regexp(s) | Contains(s) | In(s)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294" name="文本框 1293" descr="{&quot;isTemplate&quot;:true,&quot;type&quot;:&quot;text&quot;}"/>
          <p:cNvSpPr txBox="1"/>
          <p:nvPr/>
        </p:nvSpPr>
        <p:spPr>
          <a:xfrm>
            <a:off x="781050" y="5838825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BeanLabel / BeanWeight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lookupList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还能直接做成路由表或加权负载均衡。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5" name="任意多边形 129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96" name="文本框 129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7" name="文本框 129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矩形 12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00" name="矩形 129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01" name="文本框 1300" descr="{&quot;isTemplate&quot;:true,&quot;type&quot;:&quot;text&quot;}"/>
          <p:cNvSpPr txBox="1"/>
          <p:nvPr/>
        </p:nvSpPr>
        <p:spPr>
          <a:xfrm>
            <a:off x="819150" y="304800"/>
            <a:ext cx="8267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2" name="文本框 1301" descr="{&quot;isTemplate&quot;:true,&quot;type&quot;:&quot;text&quot;}"/>
          <p:cNvSpPr txBox="1"/>
          <p:nvPr/>
        </p:nvSpPr>
        <p:spPr>
          <a:xfrm>
            <a:off x="819150" y="514350"/>
            <a:ext cx="82677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生命周期与构造注入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3" name="文本框 1302" descr="{&quot;isTemplate&quot;:true,&quot;type&quot;:&quot;text&quot;}"/>
          <p:cNvSpPr txBox="1"/>
          <p:nvPr/>
        </p:nvSpPr>
        <p:spPr>
          <a:xfrm>
            <a:off x="9258300" y="590550"/>
            <a:ext cx="2324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@Constructor / @Value / @BeanParam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4" name="圆角矩形 1303"/>
          <p:cNvSpPr/>
          <p:nvPr/>
        </p:nvSpPr>
        <p:spPr>
          <a:xfrm>
            <a:off x="609600" y="1143000"/>
            <a:ext cx="66675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05" name="文本框 1304" descr="{&quot;isTemplate&quot;:true,&quot;type&quot;:&quot;text&quot;}"/>
          <p:cNvSpPr txBox="1"/>
          <p:nvPr/>
        </p:nvSpPr>
        <p:spPr>
          <a:xfrm>
            <a:off x="800100" y="1333500"/>
            <a:ext cx="6286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自定义构造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注入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6" name="文本框 1305" descr="{&quot;isTemplate&quot;:true,&quot;type&quot;:&quot;text&quot;}"/>
          <p:cNvSpPr txBox="1"/>
          <p:nvPr/>
        </p:nvSpPr>
        <p:spPr>
          <a:xfrm>
            <a:off x="800100" y="159067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07" name="文本框 1306" descr="{&quot;isTemplate&quot;:true,&quot;type&quot;:&quot;text&quot;}"/>
          <p:cNvSpPr txBox="1"/>
          <p:nvPr/>
        </p:nvSpPr>
        <p:spPr>
          <a:xfrm>
            <a:off x="800100" y="184785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MyBean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08" name="文本框 1307" descr="{&quot;isTemplate&quot;:true,&quot;type&quot;:&quot;text&quot;}"/>
          <p:cNvSpPr txBox="1"/>
          <p:nvPr/>
        </p:nvSpPr>
        <p:spPr>
          <a:xfrm>
            <a:off x="800100" y="210502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@Constructor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09" name="文本框 1308" descr="{&quot;isTemplate&quot;:true,&quot;type&quot;:&quot;text&quot;}"/>
          <p:cNvSpPr txBox="1"/>
          <p:nvPr/>
        </p:nvSpPr>
        <p:spPr>
          <a:xfrm>
            <a:off x="800100" y="236220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public init(@Value[name: 'mvc_port', default: 8080] port: Int64,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10" name="文本框 1309" descr="{&quot;isTemplate&quot;:true,&quot;type&quot;:&quot;text&quot;}"/>
          <p:cNvSpPr txBox="1"/>
          <p:nvPr/>
        </p:nvSpPr>
        <p:spPr>
          <a:xfrm>
            <a:off x="800100" y="261937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            @BeanParam[Prefix('user')] svc: UserService) {}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11" name="文本框 1310" descr="{&quot;isTemplate&quot;:true,&quot;type&quot;:&quot;text&quot;}"/>
          <p:cNvSpPr txBox="1"/>
          <p:nvPr/>
        </p:nvSpPr>
        <p:spPr>
          <a:xfrm>
            <a:off x="800100" y="287655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2" name="矩形 1311"/>
          <p:cNvSpPr/>
          <p:nvPr/>
        </p:nvSpPr>
        <p:spPr>
          <a:xfrm>
            <a:off x="800100" y="3248025"/>
            <a:ext cx="62865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313" name="文本框 1312" descr="{&quot;isTemplate&quot;:true,&quot;type&quot;:&quot;text&quot;}"/>
          <p:cNvSpPr txBox="1"/>
          <p:nvPr/>
        </p:nvSpPr>
        <p:spPr>
          <a:xfrm>
            <a:off x="800100" y="3371850"/>
            <a:ext cx="6286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// 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工厂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bean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：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get() 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的返回值才是真正的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bean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314" name="文本框 1313" descr="{&quot;isTemplate&quot;:true,&quot;type&quot;:&quot;text&quot;}"/>
          <p:cNvSpPr txBox="1"/>
          <p:nvPr/>
        </p:nvSpPr>
        <p:spPr>
          <a:xfrm>
            <a:off x="800100" y="366712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interface FactoryBean 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5" name="文本框 1314" descr="{&quot;isTemplate&quot;:true,&quot;type&quot;:&quot;text&quot;}"/>
          <p:cNvSpPr txBox="1"/>
          <p:nvPr/>
        </p:nvSpPr>
        <p:spPr>
          <a:xfrm>
            <a:off x="800100" y="392430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static prop typeInfo: TypeInfo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6" name="文本框 1315" descr="{&quot;isTemplate&quot;:true,&quot;type&quot;:&quot;text&quot;}"/>
          <p:cNvSpPr txBox="1"/>
          <p:nvPr/>
        </p:nvSpPr>
        <p:spPr>
          <a:xfrm>
            <a:off x="800100" y="418147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func get(): Object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7" name="文本框 1316" descr="{&quot;isTemplate&quot;:true,&quot;type&quot;:&quot;text&quot;}"/>
          <p:cNvSpPr txBox="1"/>
          <p:nvPr/>
        </p:nvSpPr>
        <p:spPr>
          <a:xfrm>
            <a:off x="800100" y="443865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8" name="矩形 1317"/>
          <p:cNvSpPr/>
          <p:nvPr/>
        </p:nvSpPr>
        <p:spPr>
          <a:xfrm>
            <a:off x="800100" y="4810125"/>
            <a:ext cx="62865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319" name="文本框 1318" descr="{&quot;isTemplate&quot;:true,&quot;type&quot;:&quot;text&quot;}"/>
          <p:cNvSpPr txBox="1"/>
          <p:nvPr/>
        </p:nvSpPr>
        <p:spPr>
          <a:xfrm>
            <a:off x="800100" y="493395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//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初始化后回调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销毁回调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20" name="文本框 1319" descr="{&quot;isTemplate&quot;:true,&quot;type&quot;:&quot;text&quot;}"/>
          <p:cNvSpPr txBox="1"/>
          <p:nvPr/>
        </p:nvSpPr>
        <p:spPr>
          <a:xfrm>
            <a:off x="800100" y="519112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interface PostConstruct { func postConstruct(): Unit 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21" name="文本框 1320" descr="{&quot;isTemplate&quot;:true,&quot;type&quot;:&quot;text&quot;}"/>
          <p:cNvSpPr txBox="1"/>
          <p:nvPr/>
        </p:nvSpPr>
        <p:spPr>
          <a:xfrm>
            <a:off x="800100" y="544830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interface Destroy { func destroy(): Unit 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22" name="圆角矩形 1321"/>
          <p:cNvSpPr/>
          <p:nvPr/>
        </p:nvSpPr>
        <p:spPr>
          <a:xfrm>
            <a:off x="7467600" y="1143000"/>
            <a:ext cx="3810000" cy="3686175"/>
          </a:xfrm>
          <a:prstGeom prst="roundRect">
            <a:avLst>
              <a:gd name="adj" fmla="val 310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23" name="文本框 1322" descr="{&quot;isTemplate&quot;:true,&quot;type&quot;:&quot;text&quot;}"/>
          <p:cNvSpPr txBox="1"/>
          <p:nvPr/>
        </p:nvSpPr>
        <p:spPr>
          <a:xfrm>
            <a:off x="7658100" y="1333500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@Value </a:t>
            </a: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的四个属性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4" name="文本框 1323" descr="{&quot;isTemplate&quot;:true,&quot;type&quot;:&quot;text&quot;}"/>
          <p:cNvSpPr txBox="1"/>
          <p:nvPr/>
        </p:nvSpPr>
        <p:spPr>
          <a:xfrm>
            <a:off x="7658100" y="16287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name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default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dateFormat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delim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5" name="文本框 1324" descr="{&quot;isTemplate&quot;:true,&quot;type&quot;:&quot;text&quot;}"/>
          <p:cNvSpPr txBox="1"/>
          <p:nvPr/>
        </p:nvSpPr>
        <p:spPr>
          <a:xfrm>
            <a:off x="7658100" y="2019300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dateFormat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把配置里的时间字符串直接转成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DateTime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delim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是数组配置项的分隔符。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6" name="文本框 1325" descr="{&quot;isTemplate&quot;:true,&quot;type&quot;:&quot;text&quot;}"/>
          <p:cNvSpPr txBox="1"/>
          <p:nvPr/>
        </p:nvSpPr>
        <p:spPr>
          <a:xfrm>
            <a:off x="7658100" y="4057650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@Value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@BeanParam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只能修饰被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@Constructor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修饰的函数形参，否则编译期报错。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7" name="圆角矩形 1326"/>
          <p:cNvSpPr/>
          <p:nvPr/>
        </p:nvSpPr>
        <p:spPr>
          <a:xfrm>
            <a:off x="7467600" y="4962525"/>
            <a:ext cx="3810000" cy="1323975"/>
          </a:xfrm>
          <a:prstGeom prst="roundRect">
            <a:avLst>
              <a:gd name="adj" fmla="val 863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28" name="文本框 1327" descr="{&quot;isTemplate&quot;:true,&quot;type&quot;:&quot;text&quot;}"/>
          <p:cNvSpPr txBox="1"/>
          <p:nvPr/>
        </p:nvSpPr>
        <p:spPr>
          <a:xfrm>
            <a:off x="7658100" y="5153025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两个回调的差别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9" name="文本框 1328" descr="{&quot;isTemplate&quot;:true,&quot;type&quot;:&quot;text&quot;}"/>
          <p:cNvSpPr txBox="1"/>
          <p:nvPr/>
        </p:nvSpPr>
        <p:spPr>
          <a:xfrm>
            <a:off x="7658100" y="544830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prototype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需要自己调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destroy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0" name="文本框 1329" descr="{&quot;isTemplate&quot;:true,&quot;type&quot;:&quot;text&quot;}"/>
          <p:cNvSpPr txBox="1"/>
          <p:nvPr/>
        </p:nvSpPr>
        <p:spPr>
          <a:xfrm>
            <a:off x="7658100" y="580072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singleton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IOC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在退出时统一调。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1" name="任意多边形 133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332" name="文本框 133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3" name="文本框 133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06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接口验证与 IOC 入门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十二个接口的验收清单，其中 401 那一幕最关键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f_bean 最小可用：@Bean + @BeanMeta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lookup 家族　·　生命周期与构造注入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下一讲：IOC 收尾与 AOP 全貌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