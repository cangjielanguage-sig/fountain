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Sl1"/>
    <p:sldId id="257" r:id="rIdSl2"/>
    <p:sldId id="258" r:id="rIdSl3"/>
    <p:sldId id="259" r:id="rIdSl4"/>
    <p:sldId id="260" r:id="rIdSl5"/>
    <p:sldId id="261" r:id="rIdSl6"/>
    <p:sldId id="262" r:id="rIdSl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4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22" Type="http://schemas.openxmlformats.org/officeDocument/2006/relationships/tableStyles" Target="tableStyles.xml"/><Relationship Id="rId121" Type="http://schemas.openxmlformats.org/officeDocument/2006/relationships/viewProps" Target="viewProps.xml"/><Relationship Id="rId1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Sl1" Type="http://schemas.openxmlformats.org/officeDocument/2006/relationships/slide" Target="slides/slide1.xml"/><Relationship Id="rIdSl2" Type="http://schemas.openxmlformats.org/officeDocument/2006/relationships/slide" Target="slides/slide2.xml"/><Relationship Id="rIdSl3" Type="http://schemas.openxmlformats.org/officeDocument/2006/relationships/slide" Target="slides/slide3.xml"/><Relationship Id="rIdSl4" Type="http://schemas.openxmlformats.org/officeDocument/2006/relationships/slide" Target="slides/slide4.xml"/><Relationship Id="rIdSl5" Type="http://schemas.openxmlformats.org/officeDocument/2006/relationships/slide" Target="slides/slide5.xml"/><Relationship Id="rIdSl6" Type="http://schemas.openxmlformats.org/officeDocument/2006/relationships/slide" Target="slides/slide6.xml"/><Relationship Id="rIdSl7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这一讲进入第十章 MVC。先看声明 controller 的最小写法和三条规则，再讲 Mapping 家族的七个公共参数，以及 params 和 headers 那套规则 DSL——同一个路径可以根据带没带某些参数路由到不同函数。然后是五个参数绑定注解、参数校验与安全注解，最后是 MVC 的配置项，其中 mvc_maxRequestBodySize 做上传时必须调大。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第十章 MVC。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先看声明 controller 的最小写法：@Controller 加一个 @GetMapping。看这行 GetMapping 的三个属性：path 是 /helloworld，produces 是 text/plain，consumes 是表单。函数上还有一个 @IgnoreSecurity。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三条规则要记住。第一，只有被星号 Mapping 注解修饰的公共实例函数才会注册到 MVC。第二，@Controller 同时展开 @Bean，所以 controller 天然是 IOC bean，可以直接 lookup。第三，需要织入切面时改用 @WeavedController，CurrentUserController 就是例子。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Mapping 家族有五个：GetMapping、PostMapping、PutMapping、DeleteMapping、PatchMapping。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公共参数有七个：path、produces、consumes、params、headers，另外还有 ignoreAuth 和 ignorePrivilege。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path 支持大括号路径参数，produces 和 consumes 可以用竖线分隔多种格式，默认是 application/json。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注意 @IgnoreSecurity 的语义：它等于 @IgnoreAuth 加 @IgnorePrivilege，两个都忽略。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params 和 headers 有一个规则 DSL，这个很酷，值得单独讲三十秒。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规则有六种写法：rule1 与 rule2 表示两边都满足；rule1 或 rule2 表示满足一边；叹号 rule 取反；圆括号改变优先级；contains 表示参数名或请求头名需要包含这些；subset 表示参数名或请求头名是这些的子集。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看右边的示例：a 点 contains 括号一到二，并且，括号 b 点 subset 括号 s、d，或者 orderTime，或者 goodsId。读起来就是：a 组里必须包含 1 和 2 这两个参数，同时 b 组要么是 s 和 d 的子集，要么直接写了 orderTime 或者 goodsId。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这个 DSL 的实际用途：同一个路径，根据请求里带没带某些参数，路由到不同的处理函数。这比在函数体里写一堆 if 要干净得多——而且它参与路由匹配，匹配不上的请求根本不会进你的函数。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它是纯字符串解析，初始化时解析一次，不涉及运行时开销。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参数绑定有五个注解，我们逐个说。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RequestParam：从表单或者 query string 取值，可以带 name 和 default 两个属性。注意 default 很有用，参数缺省时给个兜底值。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RequestParamObject：同样是表单或者 query，但会按字段名逐个取值填到一个对象里——也就是说传一个 PO 进来，不用你手动 set。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PathVariable：取路径参数，也就是 path 里大括号里定义的那些，同样可以带 name 和 default。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RequestHeader：取请求头，可以带 name 和 default。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RequestBody：取请求体，按 Content-Type 解析——JSON 请求体就解析成对象，表单就按表单处理，multipart 就解析成文件对象。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看右边这四条声明，一次看全四种写法。第一条是注册接口，两个 RequestParam 分别取 username 和 password，consumes 是表单，produces 是纯文本，同时忽略鉴权和权限。第二条是登录，用 RequestBody 把 JSON 请求体变成 UserRequest 对象。第三条是 echo，用 RequestParamObject 直接把表单字段填进 UserRequest。第四条用 RequestHeader 取 userId 和 token 两个请求头。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最下面两条是路径参数和默认值的写法：PathVariable 取 id；RequestParam 带 default 给空字符串兜底。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参数校验和安全注解这一节，两块内容。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先说参数校验。校验注解在第八章已经讲过了，这里只说 MVC 这一侧：它既可以修饰类的成员——MVC 传参对象时生效；也可以修饰函数参数——直接对形参生效。不满足会抛 ValidationException，由我们注册的 500 处理器统一转成响应体。看右边的例子，username 上是组合校验器，password 上是 IsNotBlank。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再说安全注解，一共三个：IgnoreAuth 忽略登录状态检查；IgnorePrivilege 忽略权限检查；IgnoreSecurity 两者都忽略。它们只能修饰 controller 的公共实例函数。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也可以在 Mapping 注解里直接写 ignoreAuth 等于 true——这两种写法效果一样，看个人习惯。fdemo 里两种都用到了：helloWorld 用的是注解，register 用的是 Mapping 属性。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顺带说一下放行的边界：忽略鉴权只影响这一个函数，不会影响同一 controller 里的其他函数，也不会影响其他 controller。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MVC 的配置项全部走环境变量或者等价的命令行参数，逐条说几个关键的。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mvc_port 是端口，最常用。mvc_maxRequestBodySize 是请求体大小上限，注意它的默认值是 stdx 的两兆——你要做文件上传就必须调大，否则大文件直接被拒。fdemo 里调到了六十四兆。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mvc_overallElapsedSwitch 是总耗时统计开关，生产环境建议关闭。mvc_internalServerErrorMessageKind 是 500 错误的三种处理方式：BEAN、TEXT、BASE64BINARY。mvc_internalServerErrorMessage 配合它使用，下一节详细讲。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接下来四个是超时：readTimeout 读超时、readHeaderTimeout 读请求头超时、writeTimeout 写超时、keepAliveTimeout 长连接超时。mvc_maxRequestHeaderSize 是请求头大小上限。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mvc_downloadBufferSize 是下载缓冲区大小。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最后三个是跨域：accessControlAllowOrigin、accessControlAllowHeaders、accessControlMaxAge。演示环境一般写星号，生产环境要收紧。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这些配置项名字里都是 mvc 下划线开头，走的还是第四章那套四级优先级——环境变量和命令行参数完全平级。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这一讲四个要点：一，只有被星号 Mapping 注解修饰的公共实例函数才会注册到 MVC；二，@Controller 同时展开 @Bean，所以 controller 天然可以被 lookup；三，params 与 headers 的 DSL 参与路由匹配，匹配不上的请求根本不会进你的函数；四，放行有两种等价写法——@IgnoreSecurity 注解，或 Mapping 属性。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2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7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slide1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3" name=""/>
          <p:cNvSpPr txBox="1"/>
          <p:nvPr/>
        </p:nvSpPr>
        <p:spPr>
          <a:xfrm rot="0" flipH="0" flipV="0">
            <a:off x="-695325" y="1143000"/>
            <a:ext cx="12506325" cy="3657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0" b="1">
                <a:solidFill>
                  <a:srgbClr val="16233A"/>
                </a:solidFill>
                <a:latin typeface="JetBrains Mono"/>
                <a:ea typeface="JetBrains Mono"/>
              </a:rPr>
              <a:t>11</a:t>
            </a:r>
            <a:endParaRPr/>
          </a:p>
        </p:txBody>
      </p:sp>
      <p:sp>
        <p:nvSpPr>
          <p:cNvPr id="4" name=""/>
          <p:cNvSpPr/>
          <p:nvPr/>
        </p:nvSpPr>
        <p:spPr>
          <a:xfrm rot="0" flipH="0" flipV="0"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1143000" y="1866900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6" name=""/>
          <p:cNvSpPr txBox="1"/>
          <p:nvPr/>
        </p:nvSpPr>
        <p:spPr>
          <a:xfrm rot="0" flipH="0" flipV="0">
            <a:off x="1333500" y="1952625"/>
            <a:ext cx="4267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PART 11 / 25 · 课程分册</a:t>
            </a:r>
            <a:endParaRPr/>
          </a:p>
        </p:txBody>
      </p:sp>
      <p:sp>
        <p:nvSpPr>
          <p:cNvPr id="7" name=""/>
          <p:cNvSpPr txBox="1"/>
          <p:nvPr/>
        </p:nvSpPr>
        <p:spPr>
          <a:xfrm rot="0" flipH="0" flipV="0">
            <a:off x="1143000" y="2495550"/>
            <a:ext cx="2867025" cy="6096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MVC：路由与参数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1143000" y="331470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9" name=""/>
          <p:cNvSpPr txBox="1"/>
          <p:nvPr/>
        </p:nvSpPr>
        <p:spPr>
          <a:xfrm rot="0" flipH="0" flipV="0">
            <a:off x="1143000" y="37719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声明 Controller 与 Mapping 家族的三条规则</a:t>
            </a:r>
            <a:endParaRPr/>
          </a:p>
        </p:txBody>
      </p:sp>
      <p:sp>
        <p:nvSpPr>
          <p:cNvPr id="10" name=""/>
          <p:cNvSpPr txBox="1"/>
          <p:nvPr/>
        </p:nvSpPr>
        <p:spPr>
          <a:xfrm rot="0" flipH="0" flipV="0">
            <a:off x="1143000" y="41148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params / headers 规则 DSL　·　五个参数绑定注解</a:t>
            </a:r>
            <a:endParaRPr/>
          </a:p>
        </p:txBody>
      </p:sp>
      <p:sp>
        <p:nvSpPr>
          <p:cNvPr id="11" name=""/>
          <p:cNvSpPr txBox="1"/>
          <p:nvPr/>
        </p:nvSpPr>
        <p:spPr>
          <a:xfrm rot="0" flipH="0" flipV="0">
            <a:off x="1143000" y="44577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参数校验与安全注解　·　MVC 配置项</a:t>
            </a:r>
            <a:endParaRPr/>
          </a:p>
        </p:txBody>
      </p:sp>
      <p:sp>
        <p:nvSpPr>
          <p:cNvPr id="12" name=""/>
          <p:cNvSpPr txBox="1"/>
          <p:nvPr/>
        </p:nvSpPr>
        <p:spPr>
          <a:xfrm rot="0" flipH="0" flipV="0">
            <a:off x="1143000" y="502920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 11 讲 / 共 25 讲　·　原稿第 62–66 页 + 首尾两页　·　约 13.9 分钟</a:t>
            </a:r>
            <a:endParaRPr/>
          </a:p>
        </p:txBody>
      </p:sp>
      <p:sp>
        <p:nvSpPr>
          <p:cNvPr id="13" name=""/>
          <p:cNvSpPr txBox="1"/>
          <p:nvPr/>
        </p:nvSpPr>
        <p:spPr>
          <a:xfrm rot="0" flipH="0" flipV="0">
            <a:off x="609600" y="6362700"/>
            <a:ext cx="4352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1"/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2"/>
              <a:t>https://gitcode.com/Cangjie-SIG/fountain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5" name="矩形 20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036" name="矩形 2035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037" name="文本框 2036" descr="{&quot;isTemplate&quot;:true,&quot;type&quot;:&quot;text&quot;}"/>
          <p:cNvSpPr txBox="1"/>
          <p:nvPr/>
        </p:nvSpPr>
        <p:spPr>
          <a:xfrm>
            <a:off x="819150" y="304800"/>
            <a:ext cx="83343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10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MVC f_mvc · 10.1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38" name="文本框 2037" descr="{&quot;isTemplate&quot;:true,&quot;type&quot;:&quot;text&quot;}"/>
          <p:cNvSpPr txBox="1"/>
          <p:nvPr/>
        </p:nvSpPr>
        <p:spPr>
          <a:xfrm>
            <a:off x="819150" y="514350"/>
            <a:ext cx="83343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声明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Controller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Mapping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家族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39" name="文本框 2038" descr="{&quot;isTemplate&quot;:true,&quot;type&quot;:&quot;text&quot;}"/>
          <p:cNvSpPr txBox="1"/>
          <p:nvPr/>
        </p:nvSpPr>
        <p:spPr>
          <a:xfrm>
            <a:off x="9324975" y="590550"/>
            <a:ext cx="22574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@Controller =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路由注册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+ @Bean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展开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40" name="圆角矩形 2039"/>
          <p:cNvSpPr/>
          <p:nvPr/>
        </p:nvSpPr>
        <p:spPr>
          <a:xfrm>
            <a:off x="609600" y="1143000"/>
            <a:ext cx="539115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041" name="文本框 2040" descr="{&quot;isTemplate&quot;:true,&quot;type&quot;:&quot;text&quot;}"/>
          <p:cNvSpPr txBox="1"/>
          <p:nvPr/>
        </p:nvSpPr>
        <p:spPr>
          <a:xfrm>
            <a:off x="800100" y="1333500"/>
            <a:ext cx="5010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import fountain::f_mvc.*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042" name="文本框 2041" descr="{&quot;isTemplate&quot;:true,&quot;type&quot;:&quot;text&quot;}"/>
          <p:cNvSpPr txBox="1"/>
          <p:nvPr/>
        </p:nvSpPr>
        <p:spPr>
          <a:xfrm>
            <a:off x="800100" y="1590675"/>
            <a:ext cx="5010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import fountain::f_mvc.macros.*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043" name="文本框 2042" descr="{&quot;isTemplate&quot;:true,&quot;type&quot;:&quot;text&quot;}"/>
          <p:cNvSpPr txBox="1"/>
          <p:nvPr/>
        </p:nvSpPr>
        <p:spPr>
          <a:xfrm>
            <a:off x="800100" y="1943100"/>
            <a:ext cx="5010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@Controller          // = </a:t>
            </a:r>
            <a:r>
              <a:rPr lang="zh-CN" sz="975">
                <a:solidFill>
                  <a:srgbClr val="38BDF8"/>
                </a:solidFill>
                <a:latin typeface="JetBrains Mono"/>
                <a:ea typeface="JetBrains Mono"/>
              </a:rPr>
              <a:t>路由注册</a:t>
            </a: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+ @Bean </a:t>
            </a:r>
            <a:r>
              <a:rPr lang="zh-CN" sz="975">
                <a:solidFill>
                  <a:srgbClr val="38BDF8"/>
                </a:solidFill>
                <a:latin typeface="JetBrains Mono"/>
                <a:ea typeface="JetBrains Mono"/>
              </a:rPr>
              <a:t>展开</a:t>
            </a:r>
            <a:endParaRPr lang="zh-CN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044" name="文本框 2043" descr="{&quot;isTemplate&quot;:true,&quot;type&quot;:&quot;text&quot;}"/>
          <p:cNvSpPr txBox="1"/>
          <p:nvPr/>
        </p:nvSpPr>
        <p:spPr>
          <a:xfrm>
            <a:off x="800100" y="2200275"/>
            <a:ext cx="5010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public class HellowordController {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045" name="文本框 2044" descr="{&quot;isTemplate&quot;:true,&quot;type&quot;:&quot;text&quot;}"/>
          <p:cNvSpPr txBox="1"/>
          <p:nvPr/>
        </p:nvSpPr>
        <p:spPr>
          <a:xfrm>
            <a:off x="800100" y="2457450"/>
            <a:ext cx="5010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   private let helloworldService = lookup&lt;HelloworldService&gt;()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046" name="文本框 2045" descr="{&quot;isTemplate&quot;:true,&quot;type&quot;:&quot;text&quot;}"/>
          <p:cNvSpPr txBox="1"/>
          <p:nvPr/>
        </p:nvSpPr>
        <p:spPr>
          <a:xfrm>
            <a:off x="800100" y="2714625"/>
            <a:ext cx="5010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    @GetMapping[path:"/helloworld", produces:'text/plain',</a:t>
            </a:r>
            <a:endParaRPr lang="en-US" sz="975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047" name="文本框 2046" descr="{&quot;isTemplate&quot;:true,&quot;type&quot;:&quot;text&quot;}"/>
          <p:cNvSpPr txBox="1"/>
          <p:nvPr/>
        </p:nvSpPr>
        <p:spPr>
          <a:xfrm>
            <a:off x="800100" y="2971800"/>
            <a:ext cx="5010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               consumes:'application/x-www-form-urlencoded']</a:t>
            </a:r>
            <a:endParaRPr lang="en-US" sz="975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048" name="文本框 2047" descr="{&quot;isTemplate&quot;:true,&quot;type&quot;:&quot;text&quot;}"/>
          <p:cNvSpPr txBox="1"/>
          <p:nvPr/>
        </p:nvSpPr>
        <p:spPr>
          <a:xfrm>
            <a:off x="800100" y="3228975"/>
            <a:ext cx="5010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   @IgnoreSecurity   // = @IgnoreAuth + @IgnorePrivilege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049" name="文本框 2048" descr="{&quot;isTemplate&quot;:true,&quot;type&quot;:&quot;text&quot;}"/>
          <p:cNvSpPr txBox="1"/>
          <p:nvPr/>
        </p:nvSpPr>
        <p:spPr>
          <a:xfrm>
            <a:off x="800100" y="3486150"/>
            <a:ext cx="5010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   public func helloworld(): String {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050" name="文本框 2049" descr="{&quot;isTemplate&quot;:true,&quot;type&quot;:&quot;text&quot;}"/>
          <p:cNvSpPr txBox="1"/>
          <p:nvPr/>
        </p:nvSpPr>
        <p:spPr>
          <a:xfrm>
            <a:off x="800100" y="3743325"/>
            <a:ext cx="5010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       helloworldService.sayHello('haha')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051" name="文本框 2050" descr="{&quot;isTemplate&quot;:true,&quot;type&quot;:&quot;text&quot;}"/>
          <p:cNvSpPr txBox="1"/>
          <p:nvPr/>
        </p:nvSpPr>
        <p:spPr>
          <a:xfrm>
            <a:off x="800100" y="4000500"/>
            <a:ext cx="5010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        return "helloworld"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052" name="文本框 2051" descr="{&quot;isTemplate&quot;:true,&quot;type&quot;:&quot;text&quot;}"/>
          <p:cNvSpPr txBox="1"/>
          <p:nvPr/>
        </p:nvSpPr>
        <p:spPr>
          <a:xfrm>
            <a:off x="800100" y="4257675"/>
            <a:ext cx="5010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   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053" name="文本框 2052" descr="{&quot;isTemplate&quot;:true,&quot;type&quot;:&quot;text&quot;}"/>
          <p:cNvSpPr txBox="1"/>
          <p:nvPr/>
        </p:nvSpPr>
        <p:spPr>
          <a:xfrm>
            <a:off x="800100" y="4514850"/>
            <a:ext cx="5010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054" name="圆角矩形 2053"/>
          <p:cNvSpPr/>
          <p:nvPr/>
        </p:nvSpPr>
        <p:spPr>
          <a:xfrm>
            <a:off x="6191250" y="1143000"/>
            <a:ext cx="5391150" cy="2228850"/>
          </a:xfrm>
          <a:prstGeom prst="roundRect">
            <a:avLst>
              <a:gd name="adj" fmla="val 5128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055" name="文本框 2054" descr="{&quot;isTemplate&quot;:true,&quot;type&quot;:&quot;text&quot;}"/>
          <p:cNvSpPr txBox="1"/>
          <p:nvPr/>
        </p:nvSpPr>
        <p:spPr>
          <a:xfrm>
            <a:off x="6381750" y="1333500"/>
            <a:ext cx="50101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三条规则</a:t>
            </a:r>
            <a:endParaRPr lang="zh-CN" sz="127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56" name="文本框 2055" descr="{&quot;isTemplate&quot;:true,&quot;type&quot;:&quot;text&quot;}"/>
          <p:cNvSpPr txBox="1"/>
          <p:nvPr/>
        </p:nvSpPr>
        <p:spPr>
          <a:xfrm>
            <a:off x="6381750" y="1628775"/>
            <a:ext cx="50101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只有被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*Mapping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注解修饰的公共实例函数才会注册到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MVC</a:t>
            </a:r>
            <a:endParaRPr lang="en-US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57" name="文本框 2056" descr="{&quot;isTemplate&quot;:true,&quot;type&quot;:&quot;text&quot;}"/>
          <p:cNvSpPr txBox="1"/>
          <p:nvPr/>
        </p:nvSpPr>
        <p:spPr>
          <a:xfrm>
            <a:off x="6381750" y="1981200"/>
            <a:ext cx="50101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@Controller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同时展开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@Bean —— controller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天然是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IOC bean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，可直接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lookup</a:t>
            </a:r>
            <a:endParaRPr lang="en-US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58" name="文本框 2057" descr="{&quot;isTemplate&quot;:true,&quot;type&quot;:&quot;text&quot;}"/>
          <p:cNvSpPr txBox="1"/>
          <p:nvPr/>
        </p:nvSpPr>
        <p:spPr>
          <a:xfrm>
            <a:off x="6381750" y="2609850"/>
            <a:ext cx="50101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需要织入切面时改用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@WeavedController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CurrentUserController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就是例子）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59" name="圆角矩形 2058"/>
          <p:cNvSpPr/>
          <p:nvPr/>
        </p:nvSpPr>
        <p:spPr>
          <a:xfrm>
            <a:off x="6191250" y="3505200"/>
            <a:ext cx="5391150" cy="2781300"/>
          </a:xfrm>
          <a:prstGeom prst="roundRect">
            <a:avLst>
              <a:gd name="adj" fmla="val 4110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060" name="文本框 2059" descr="{&quot;isTemplate&quot;:true,&quot;type&quot;:&quot;text&quot;}"/>
          <p:cNvSpPr txBox="1"/>
          <p:nvPr/>
        </p:nvSpPr>
        <p:spPr>
          <a:xfrm>
            <a:off x="6381750" y="3695700"/>
            <a:ext cx="50101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Mapping </a:t>
            </a:r>
            <a:r>
              <a:rPr lang="zh-CN" sz="127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家族与公共参数</a:t>
            </a:r>
            <a:endParaRPr lang="zh-CN" sz="127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61" name="文本框 2060" descr="{&quot;isTemplate&quot;:true,&quot;type&quot;:&quot;text&quot;}"/>
          <p:cNvSpPr txBox="1"/>
          <p:nvPr/>
        </p:nvSpPr>
        <p:spPr>
          <a:xfrm>
            <a:off x="6381750" y="3990975"/>
            <a:ext cx="50101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@GetMapping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@PostMapping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@PutMapping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@DeleteMapping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@PatchMapping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62" name="文本框 2061" descr="{&quot;isTemplate&quot;:true,&quot;type&quot;:&quot;text&quot;}"/>
          <p:cNvSpPr txBox="1"/>
          <p:nvPr/>
        </p:nvSpPr>
        <p:spPr>
          <a:xfrm>
            <a:off x="6381750" y="4638675"/>
            <a:ext cx="50101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公共参数：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path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produces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consumes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params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headers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63" name="文本框 2062" descr="{&quot;isTemplate&quot;:true,&quot;type&quot;:&quot;text&quot;}"/>
          <p:cNvSpPr txBox="1"/>
          <p:nvPr/>
        </p:nvSpPr>
        <p:spPr>
          <a:xfrm>
            <a:off x="6381750" y="4972050"/>
            <a:ext cx="50101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另有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ignoreAuth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ignorePrivilege</a:t>
            </a:r>
            <a:endParaRPr lang="en-US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64" name="文本框 2063" descr="{&quot;isTemplate&quot;:true,&quot;type&quot;:&quot;text&quot;}"/>
          <p:cNvSpPr txBox="1"/>
          <p:nvPr/>
        </p:nvSpPr>
        <p:spPr>
          <a:xfrm>
            <a:off x="6381750" y="5543550"/>
            <a:ext cx="50101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path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支持大括号路径参数：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/api/user/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{id}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produces / consumes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可用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|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分隔多种格式，默认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application/json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65" name="任意多边形 2064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066" name="文本框 2065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67" name="文本框 2066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62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矩形 206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070" name="矩形 2069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071" name="文本框 2070" descr="{&quot;isTemplate&quot;:true,&quot;type&quot;:&quot;text&quot;}"/>
          <p:cNvSpPr txBox="1"/>
          <p:nvPr/>
        </p:nvSpPr>
        <p:spPr>
          <a:xfrm>
            <a:off x="819150" y="304800"/>
            <a:ext cx="96297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10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MVC f_mvc · 10.1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续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72" name="文本框 2071" descr="{&quot;isTemplate&quot;:true,&quot;type&quot;:&quot;text&quot;}"/>
          <p:cNvSpPr txBox="1"/>
          <p:nvPr/>
        </p:nvSpPr>
        <p:spPr>
          <a:xfrm>
            <a:off x="819150" y="514350"/>
            <a:ext cx="96297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params / headers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的规则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DSL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73" name="文本框 2072" descr="{&quot;isTemplate&quot;:true,&quot;type&quot;:&quot;text&quot;}"/>
          <p:cNvSpPr txBox="1"/>
          <p:nvPr/>
        </p:nvSpPr>
        <p:spPr>
          <a:xfrm>
            <a:off x="10620375" y="590550"/>
            <a:ext cx="9620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值得单独讲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30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秒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74" name="圆角矩形 2073"/>
          <p:cNvSpPr/>
          <p:nvPr/>
        </p:nvSpPr>
        <p:spPr>
          <a:xfrm>
            <a:off x="609600" y="1143000"/>
            <a:ext cx="4762500" cy="5143500"/>
          </a:xfrm>
          <a:prstGeom prst="roundRect">
            <a:avLst>
              <a:gd name="adj" fmla="val 2400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075" name="文本框 2074" descr="{&quot;isTemplate&quot;:true,&quot;type&quot;:&quot;text&quot;}"/>
          <p:cNvSpPr txBox="1"/>
          <p:nvPr/>
        </p:nvSpPr>
        <p:spPr>
          <a:xfrm>
            <a:off x="819150" y="1352550"/>
            <a:ext cx="43434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六种写法</a:t>
            </a:r>
            <a:endParaRPr lang="zh-CN" sz="135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76" name="文本框 2075" descr="{&quot;isTemplate&quot;:true,&quot;type&quot;:&quot;text&quot;}"/>
          <p:cNvSpPr txBox="1"/>
          <p:nvPr/>
        </p:nvSpPr>
        <p:spPr>
          <a:xfrm>
            <a:off x="819150" y="1714500"/>
            <a:ext cx="43434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rule1 &amp; rule2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两边都满足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77" name="文本框 2076" descr="{&quot;isTemplate&quot;:true,&quot;type&quot;:&quot;text&quot;}"/>
          <p:cNvSpPr txBox="1"/>
          <p:nvPr/>
        </p:nvSpPr>
        <p:spPr>
          <a:xfrm>
            <a:off x="819150" y="2105025"/>
            <a:ext cx="43434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rule1 | rule2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满足一边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78" name="文本框 2077" descr="{&quot;isTemplate&quot;:true,&quot;type&quot;:&quot;text&quot;}"/>
          <p:cNvSpPr txBox="1"/>
          <p:nvPr/>
        </p:nvSpPr>
        <p:spPr>
          <a:xfrm>
            <a:off x="819150" y="2495550"/>
            <a:ext cx="43434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! rule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取反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79" name="文本框 2078" descr="{&quot;isTemplate&quot;:true,&quot;type&quot;:&quot;text&quot;}"/>
          <p:cNvSpPr txBox="1"/>
          <p:nvPr/>
        </p:nvSpPr>
        <p:spPr>
          <a:xfrm>
            <a:off x="819150" y="2886075"/>
            <a:ext cx="43434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圆括号　改变优先级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80" name="文本框 2079" descr="{&quot;isTemplate&quot;:true,&quot;type&quot;:&quot;text&quot;}"/>
          <p:cNvSpPr txBox="1"/>
          <p:nvPr/>
        </p:nvSpPr>
        <p:spPr>
          <a:xfrm>
            <a:off x="819150" y="3276600"/>
            <a:ext cx="43434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contains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括号　参数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请求头名需包含这些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81" name="文本框 2080" descr="{&quot;isTemplate&quot;:true,&quot;type&quot;:&quot;text&quot;}"/>
          <p:cNvSpPr txBox="1"/>
          <p:nvPr/>
        </p:nvSpPr>
        <p:spPr>
          <a:xfrm>
            <a:off x="819150" y="3667125"/>
            <a:ext cx="43434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subset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括号　参数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请求头名是这些的子集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82" name="文本框 2081" descr="{&quot;isTemplate&quot;:true,&quot;type&quot;:&quot;text&quot;}"/>
          <p:cNvSpPr txBox="1"/>
          <p:nvPr/>
        </p:nvSpPr>
        <p:spPr>
          <a:xfrm>
            <a:off x="819150" y="5524500"/>
            <a:ext cx="43434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用途：同一个路径，根据请求里带没带某些参数，路由到不同的处理函数。匹配不上的请求根本不会进你的函数。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83" name="圆角矩形 2082"/>
          <p:cNvSpPr/>
          <p:nvPr/>
        </p:nvSpPr>
        <p:spPr>
          <a:xfrm>
            <a:off x="5562600" y="1143000"/>
            <a:ext cx="6019800" cy="2190750"/>
          </a:xfrm>
          <a:prstGeom prst="roundRect">
            <a:avLst>
              <a:gd name="adj" fmla="val 5217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084" name="文本框 2083" descr="{&quot;isTemplate&quot;:true,&quot;type&quot;:&quot;text&quot;}"/>
          <p:cNvSpPr txBox="1"/>
          <p:nvPr/>
        </p:nvSpPr>
        <p:spPr>
          <a:xfrm>
            <a:off x="5753100" y="1333500"/>
            <a:ext cx="5638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示例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85" name="文本框 2084" descr="{&quot;isTemplate&quot;:true,&quot;type&quot;:&quot;text&quot;}"/>
          <p:cNvSpPr txBox="1"/>
          <p:nvPr/>
        </p:nvSpPr>
        <p:spPr>
          <a:xfrm>
            <a:off x="5753100" y="1590675"/>
            <a:ext cx="56388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050">
                <a:solidFill>
                  <a:srgbClr val="22D3EE"/>
                </a:solidFill>
                <a:latin typeface="JetBrains Mono"/>
                <a:ea typeface="JetBrains Mono"/>
              </a:rPr>
              <a:t>a.contains('1','2') &amp; (b.subset('s','d') | 'orderTime' | goodsId)</a:t>
            </a:r>
            <a:endParaRPr lang="en-US" sz="105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2086" name="圆角矩形 2085"/>
          <p:cNvSpPr/>
          <p:nvPr/>
        </p:nvSpPr>
        <p:spPr>
          <a:xfrm>
            <a:off x="5562600" y="3467100"/>
            <a:ext cx="6019800" cy="2819400"/>
          </a:xfrm>
          <a:prstGeom prst="roundRect">
            <a:avLst>
              <a:gd name="adj" fmla="val 4054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087" name="文本框 2086" descr="{&quot;isTemplate&quot;:true,&quot;type&quot;:&quot;text&quot;}"/>
          <p:cNvSpPr txBox="1"/>
          <p:nvPr/>
        </p:nvSpPr>
        <p:spPr>
          <a:xfrm>
            <a:off x="5753100" y="3657600"/>
            <a:ext cx="56388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怎么读</a:t>
            </a:r>
            <a:endParaRPr lang="zh-CN" sz="112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88" name="文本框 2087" descr="{&quot;isTemplate&quot;:true,&quot;type&quot;:&quot;text&quot;}"/>
          <p:cNvSpPr txBox="1"/>
          <p:nvPr/>
        </p:nvSpPr>
        <p:spPr>
          <a:xfrm>
            <a:off x="5753100" y="3924300"/>
            <a:ext cx="56388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a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组里必须包含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1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2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这两个参数；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89" name="文本框 2088" descr="{&quot;isTemplate&quot;:true,&quot;type&quot;:&quot;text&quot;}"/>
          <p:cNvSpPr txBox="1"/>
          <p:nvPr/>
        </p:nvSpPr>
        <p:spPr>
          <a:xfrm>
            <a:off x="5753100" y="4286250"/>
            <a:ext cx="56388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同时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b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组要么是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d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的子集，要么直接写了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orderTime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或者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goodsId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90" name="文本框 2089" descr="{&quot;isTemplate&quot;:true,&quot;type&quot;:&quot;text&quot;}"/>
          <p:cNvSpPr txBox="1"/>
          <p:nvPr/>
        </p:nvSpPr>
        <p:spPr>
          <a:xfrm>
            <a:off x="5753100" y="5810250"/>
            <a:ext cx="56388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它参与路由匹配，匹配不上就不会进函数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比在函数体里写一堆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if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干净得多。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91" name="任意多边形 2090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092" name="文本框 2091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93" name="文本框 2092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63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5" name="矩形 209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096" name="矩形 2095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097" name="文本框 2096" descr="{&quot;isTemplate&quot;:true,&quot;type&quot;:&quot;text&quot;}"/>
          <p:cNvSpPr txBox="1"/>
          <p:nvPr/>
        </p:nvSpPr>
        <p:spPr>
          <a:xfrm>
            <a:off x="819150" y="304800"/>
            <a:ext cx="9601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10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MVC f_mvc · 10.2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98" name="文本框 2097" descr="{&quot;isTemplate&quot;:true,&quot;type&quot;:&quot;text&quot;}"/>
          <p:cNvSpPr txBox="1"/>
          <p:nvPr/>
        </p:nvSpPr>
        <p:spPr>
          <a:xfrm>
            <a:off x="819150" y="514350"/>
            <a:ext cx="96012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参数绑定注解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99" name="文本框 2098" descr="{&quot;isTemplate&quot;:true,&quot;type&quot;:&quot;text&quot;}"/>
          <p:cNvSpPr txBox="1"/>
          <p:nvPr/>
        </p:nvSpPr>
        <p:spPr>
          <a:xfrm>
            <a:off x="10591800" y="590550"/>
            <a:ext cx="990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一次看全四种写法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100" name="表格 2099"/>
          <p:cNvGraphicFramePr/>
          <p:nvPr/>
        </p:nvGraphicFramePr>
        <p:xfrm>
          <a:off x="609600" y="1143000"/>
          <a:ext cx="10972800" cy="1866901"/>
        </p:xfrm>
        <a:graphic>
          <a:graphicData uri="http://schemas.openxmlformats.org/drawingml/2006/table">
            <a:tbl>
              <a:tblPr/>
              <a:tblGrid>
                <a:gridCol w="3828744"/>
                <a:gridCol w="3462006"/>
                <a:gridCol w="3682049"/>
              </a:tblGrid>
              <a:tr h="294016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注解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来源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备注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31457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@RequestParam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表单 / query string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可带 name 与 default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457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@RequestParamObject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表单 / query → 对象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按字段名逐个取值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457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@PathVariable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路径参数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可带 name / default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457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@RequestHeader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请求头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可带 name / default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4577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8BDF8"/>
                          </a:solidFill>
                          <a:latin typeface="JetBrains Mono"/>
                          <a:ea typeface="JetBrains Mono"/>
                        </a:rPr>
                        <a:t>@RequestBody</a:t>
                      </a:r>
                      <a:endParaRPr sz="1050">
                        <a:solidFill>
                          <a:srgbClr val="38BDF8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请求体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按 Content-Type 解析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101" name="圆角矩形 2100"/>
          <p:cNvSpPr/>
          <p:nvPr/>
        </p:nvSpPr>
        <p:spPr>
          <a:xfrm>
            <a:off x="609600" y="3143250"/>
            <a:ext cx="10972800" cy="3143250"/>
          </a:xfrm>
          <a:prstGeom prst="roundRect">
            <a:avLst>
              <a:gd name="adj" fmla="val 3636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102" name="文本框 2101" descr="{&quot;isTemplate&quot;:true,&quot;type&quot;:&quot;text&quot;}"/>
          <p:cNvSpPr txBox="1"/>
          <p:nvPr/>
        </p:nvSpPr>
        <p:spPr>
          <a:xfrm>
            <a:off x="762000" y="3295650"/>
            <a:ext cx="106680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CurrentUserController.cj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03" name="文本框 2102" descr="{&quot;isTemplate&quot;:true,&quot;type&quot;:&quot;text&quot;}"/>
          <p:cNvSpPr txBox="1"/>
          <p:nvPr/>
        </p:nvSpPr>
        <p:spPr>
          <a:xfrm>
            <a:off x="762000" y="3505200"/>
            <a:ext cx="10668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@PostMapping[path:'/api/user/register', consumes:'application/x-www-form-urlencoded',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104" name="文本框 2103" descr="{&quot;isTemplate&quot;:true,&quot;type&quot;:&quot;text&quot;}"/>
          <p:cNvSpPr txBox="1"/>
          <p:nvPr/>
        </p:nvSpPr>
        <p:spPr>
          <a:xfrm>
            <a:off x="762000" y="3733800"/>
            <a:ext cx="10668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         produces:'text/plain', ignoreAuth: true, ignorePrivilege: true]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105" name="文本框 2104" descr="{&quot;isTemplate&quot;:true,&quot;type&quot;:&quot;text&quot;}"/>
          <p:cNvSpPr txBox="1"/>
          <p:nvPr/>
        </p:nvSpPr>
        <p:spPr>
          <a:xfrm>
            <a:off x="762000" y="3962400"/>
            <a:ext cx="10668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public func register(@RequestParam username: String, @RequestParam password: String): String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106" name="文本框 2105" descr="{&quot;isTemplate&quot;:true,&quot;type&quot;:&quot;text&quot;}"/>
          <p:cNvSpPr txBox="1"/>
          <p:nvPr/>
        </p:nvSpPr>
        <p:spPr>
          <a:xfrm>
            <a:off x="762000" y="4248150"/>
            <a:ext cx="10668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@PostMapping[path:'/api/user/session', consumes:'application/json', produces:'application/json']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107" name="文本框 2106" descr="{&quot;isTemplate&quot;:true,&quot;type&quot;:&quot;text&quot;}"/>
          <p:cNvSpPr txBox="1"/>
          <p:nvPr/>
        </p:nvSpPr>
        <p:spPr>
          <a:xfrm>
            <a:off x="762000" y="4476750"/>
            <a:ext cx="10668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public func login(@RequestBody user: UserRequest): UserResponse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108" name="文本框 2107" descr="{&quot;isTemplate&quot;:true,&quot;type&quot;:&quot;text&quot;}"/>
          <p:cNvSpPr txBox="1"/>
          <p:nvPr/>
        </p:nvSpPr>
        <p:spPr>
          <a:xfrm>
            <a:off x="762000" y="4705350"/>
            <a:ext cx="10668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@PostMapping[path:'/api/user/echo', consumes:'application/x-www-form-urlencoded']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109" name="文本框 2108" descr="{&quot;isTemplate&quot;:true,&quot;type&quot;:&quot;text&quot;}"/>
          <p:cNvSpPr txBox="1"/>
          <p:nvPr/>
        </p:nvSpPr>
        <p:spPr>
          <a:xfrm>
            <a:off x="762000" y="4933950"/>
            <a:ext cx="10668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public func echo(@RequestParamObject user: UserRequest): UserRequest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110" name="文本框 2109" descr="{&quot;isTemplate&quot;:true,&quot;type&quot;:&quot;text&quot;}"/>
          <p:cNvSpPr txBox="1"/>
          <p:nvPr/>
        </p:nvSpPr>
        <p:spPr>
          <a:xfrm>
            <a:off x="762000" y="5162550"/>
            <a:ext cx="10668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@DeleteMapping[path:'/api/user/session']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111" name="文本框 2110" descr="{&quot;isTemplate&quot;:true,&quot;type&quot;:&quot;text&quot;}"/>
          <p:cNvSpPr txBox="1"/>
          <p:nvPr/>
        </p:nvSpPr>
        <p:spPr>
          <a:xfrm>
            <a:off x="762000" y="5391150"/>
            <a:ext cx="10668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public func echoSession(@RequestHeader userId: Int64, @RequestHeader token: String): JsonValue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112" name="文本框 2111" descr="{&quot;isTemplate&quot;:true,&quot;type&quot;:&quot;text&quot;}"/>
          <p:cNvSpPr txBox="1"/>
          <p:nvPr/>
        </p:nvSpPr>
        <p:spPr>
          <a:xfrm>
            <a:off x="762000" y="5676900"/>
            <a:ext cx="10668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public func queryUser(@PathVariable id: Int64): JsonValue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113" name="文本框 2112" descr="{&quot;isTemplate&quot;:true,&quot;type&quot;:&quot;text&quot;}"/>
          <p:cNvSpPr txBox="1"/>
          <p:nvPr/>
        </p:nvSpPr>
        <p:spPr>
          <a:xfrm>
            <a:off x="762000" y="5905500"/>
            <a:ext cx="10668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public func echo2(@RequestParam[default: ''] username: String)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114" name="任意多边形 2113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115" name="文本框 2114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16" name="文本框 2115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64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8" name="矩形 21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119" name="矩形 2118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120" name="文本框 2119" descr="{&quot;isTemplate&quot;:true,&quot;type&quot;:&quot;text&quot;}"/>
          <p:cNvSpPr txBox="1"/>
          <p:nvPr/>
        </p:nvSpPr>
        <p:spPr>
          <a:xfrm>
            <a:off x="819150" y="304800"/>
            <a:ext cx="9601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10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MVC f_mvc · 10.3 / 10.4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21" name="文本框 2120" descr="{&quot;isTemplate&quot;:true,&quot;type&quot;:&quot;text&quot;}"/>
          <p:cNvSpPr txBox="1"/>
          <p:nvPr/>
        </p:nvSpPr>
        <p:spPr>
          <a:xfrm>
            <a:off x="819150" y="514350"/>
            <a:ext cx="96012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参数校验与安全注解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22" name="文本框 2121" descr="{&quot;isTemplate&quot;:true,&quot;type&quot;:&quot;text&quot;}"/>
          <p:cNvSpPr txBox="1"/>
          <p:nvPr/>
        </p:nvSpPr>
        <p:spPr>
          <a:xfrm>
            <a:off x="10591800" y="590550"/>
            <a:ext cx="990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两种放行写法等价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23" name="圆角矩形 2122"/>
          <p:cNvSpPr/>
          <p:nvPr/>
        </p:nvSpPr>
        <p:spPr>
          <a:xfrm>
            <a:off x="609600" y="1143000"/>
            <a:ext cx="3552825" cy="5143500"/>
          </a:xfrm>
          <a:prstGeom prst="roundRect">
            <a:avLst>
              <a:gd name="adj" fmla="val 3217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124" name="文本框 2123" descr="{&quot;isTemplate&quot;:true,&quot;type&quot;:&quot;text&quot;}"/>
          <p:cNvSpPr txBox="1"/>
          <p:nvPr/>
        </p:nvSpPr>
        <p:spPr>
          <a:xfrm>
            <a:off x="819150" y="1352550"/>
            <a:ext cx="31337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参数校验</a:t>
            </a:r>
            <a:endParaRPr lang="zh-CN" sz="15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25" name="文本框 2124" descr="{&quot;isTemplate&quot;:true,&quot;type&quot;:&quot;text&quot;}"/>
          <p:cNvSpPr txBox="1"/>
          <p:nvPr/>
        </p:nvSpPr>
        <p:spPr>
          <a:xfrm>
            <a:off x="819150" y="1638300"/>
            <a:ext cx="31337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来自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f_data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（见第八章）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26" name="文本框 2125" descr="{&quot;isTemplate&quot;:true,&quot;type&quot;:&quot;text&quot;}"/>
          <p:cNvSpPr txBox="1"/>
          <p:nvPr/>
        </p:nvSpPr>
        <p:spPr>
          <a:xfrm>
            <a:off x="819150" y="1933575"/>
            <a:ext cx="3133725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校验注解既可修饰类的成员（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MVC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传参对象时生效），也可以直接修饰函数参数。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27" name="圆角矩形 2126"/>
          <p:cNvSpPr/>
          <p:nvPr/>
        </p:nvSpPr>
        <p:spPr>
          <a:xfrm>
            <a:off x="819150" y="2628900"/>
            <a:ext cx="3133725" cy="1257300"/>
          </a:xfrm>
          <a:prstGeom prst="roundRect">
            <a:avLst>
              <a:gd name="adj" fmla="val 6061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128" name="文本框 2127" descr="{&quot;isTemplate&quot;:true,&quot;type&quot;:&quot;text&quot;}"/>
          <p:cNvSpPr txBox="1"/>
          <p:nvPr/>
        </p:nvSpPr>
        <p:spPr>
          <a:xfrm>
            <a:off x="933450" y="2743200"/>
            <a:ext cx="2952750" cy="4095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825">
                <a:solidFill>
                  <a:srgbClr val="38BDF8"/>
                </a:solidFill>
                <a:latin typeface="JetBrains Mono"/>
                <a:ea typeface="JetBrains Mono"/>
              </a:rPr>
              <a:t>@CombinedValidator[IsNotBlank(messageIfNotMatch: '</a:t>
            </a:r>
            <a:r>
              <a:rPr lang="zh-CN" sz="825">
                <a:solidFill>
                  <a:srgbClr val="38BDF8"/>
                </a:solidFill>
                <a:latin typeface="JetBrains Mono"/>
                <a:ea typeface="JetBrains Mono"/>
              </a:rPr>
              <a:t>请输入用户名</a:t>
            </a:r>
            <a:r>
              <a:rPr lang="en-US" sz="825">
                <a:solidFill>
                  <a:srgbClr val="38BDF8"/>
                </a:solidFill>
                <a:latin typeface="JetBrains Mono"/>
                <a:ea typeface="JetBrains Mono"/>
              </a:rPr>
              <a:t>')</a:t>
            </a:r>
            <a:endParaRPr lang="en-US" sz="82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129" name="文本框 2128" descr="{&quot;isTemplate&quot;:true,&quot;type&quot;:&quot;text&quot;}"/>
          <p:cNvSpPr txBox="1"/>
          <p:nvPr/>
        </p:nvSpPr>
        <p:spPr>
          <a:xfrm>
            <a:off x="933450" y="3152775"/>
            <a:ext cx="2905125" cy="4095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825">
                <a:solidFill>
                  <a:srgbClr val="38BDF8"/>
                </a:solidFill>
                <a:latin typeface="JetBrains Mono"/>
                <a:ea typeface="JetBrains Mono"/>
              </a:rPr>
              <a:t>                   &amp; StringSize(min: 6, max: 50)]</a:t>
            </a:r>
            <a:endParaRPr lang="en-US" sz="82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130" name="文本框 2129" descr="{&quot;isTemplate&quot;:true,&quot;type&quot;:&quot;text&quot;}"/>
          <p:cNvSpPr txBox="1"/>
          <p:nvPr/>
        </p:nvSpPr>
        <p:spPr>
          <a:xfrm>
            <a:off x="933450" y="3562350"/>
            <a:ext cx="29051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private var username: String = ''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131" name="文本框 2130" descr="{&quot;isTemplate&quot;:true,&quot;type&quot;:&quot;text&quot;}"/>
          <p:cNvSpPr txBox="1"/>
          <p:nvPr/>
        </p:nvSpPr>
        <p:spPr>
          <a:xfrm>
            <a:off x="819150" y="5514975"/>
            <a:ext cx="3133725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不满足会抛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ValidationException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，由注册的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500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处理器统一转成响应体（见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10.6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）。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32" name="圆角矩形 2131"/>
          <p:cNvSpPr/>
          <p:nvPr/>
        </p:nvSpPr>
        <p:spPr>
          <a:xfrm>
            <a:off x="4314825" y="1143000"/>
            <a:ext cx="3562350" cy="5143500"/>
          </a:xfrm>
          <a:prstGeom prst="roundRect">
            <a:avLst>
              <a:gd name="adj" fmla="val 3209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133" name="文本框 2132" descr="{&quot;isTemplate&quot;:true,&quot;type&quot;:&quot;text&quot;}"/>
          <p:cNvSpPr txBox="1"/>
          <p:nvPr/>
        </p:nvSpPr>
        <p:spPr>
          <a:xfrm>
            <a:off x="4524375" y="1352550"/>
            <a:ext cx="3143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安全注解</a:t>
            </a:r>
            <a:endParaRPr lang="zh-CN" sz="15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34" name="文本框 2133" descr="{&quot;isTemplate&quot;:true,&quot;type&quot;:&quot;text&quot;}"/>
          <p:cNvSpPr txBox="1"/>
          <p:nvPr/>
        </p:nvSpPr>
        <p:spPr>
          <a:xfrm>
            <a:off x="4524375" y="1638300"/>
            <a:ext cx="31432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只能修饰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controller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的公共实例函数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35" name="文本框 2134" descr="{&quot;isTemplate&quot;:true,&quot;type&quot;:&quot;text&quot;}"/>
          <p:cNvSpPr txBox="1"/>
          <p:nvPr/>
        </p:nvSpPr>
        <p:spPr>
          <a:xfrm>
            <a:off x="4524375" y="1952625"/>
            <a:ext cx="31432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38BDF8"/>
                </a:solidFill>
                <a:latin typeface="JetBrains Mono"/>
                <a:ea typeface="JetBrains Mono"/>
              </a:rPr>
              <a:t>@IgnoreAuth</a:t>
            </a:r>
            <a:r>
              <a:rPr lang="zh-CN" sz="1050">
                <a:solidFill>
                  <a:srgbClr val="38BDF8"/>
                </a:solidFill>
                <a:latin typeface="JetBrains Mono"/>
                <a:ea typeface="JetBrains Mono"/>
              </a:rPr>
              <a:t>　　　忽略登录状态检查</a:t>
            </a:r>
            <a:endParaRPr lang="zh-CN" sz="105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136" name="文本框 2135" descr="{&quot;isTemplate&quot;:true,&quot;type&quot;:&quot;text&quot;}"/>
          <p:cNvSpPr txBox="1"/>
          <p:nvPr/>
        </p:nvSpPr>
        <p:spPr>
          <a:xfrm>
            <a:off x="4524375" y="2324100"/>
            <a:ext cx="31432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38BDF8"/>
                </a:solidFill>
                <a:latin typeface="JetBrains Mono"/>
                <a:ea typeface="JetBrains Mono"/>
              </a:rPr>
              <a:t>@IgnorePrivilege</a:t>
            </a:r>
            <a:r>
              <a:rPr lang="zh-CN" sz="1050">
                <a:solidFill>
                  <a:srgbClr val="38BDF8"/>
                </a:solidFill>
                <a:latin typeface="JetBrains Mono"/>
                <a:ea typeface="JetBrains Mono"/>
              </a:rPr>
              <a:t>　忽略权限检查</a:t>
            </a:r>
            <a:endParaRPr lang="zh-CN" sz="105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137" name="文本框 2136" descr="{&quot;isTemplate&quot;:true,&quot;type&quot;:&quot;text&quot;}"/>
          <p:cNvSpPr txBox="1"/>
          <p:nvPr/>
        </p:nvSpPr>
        <p:spPr>
          <a:xfrm>
            <a:off x="4524375" y="2695575"/>
            <a:ext cx="31432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F59E0B"/>
                </a:solidFill>
                <a:latin typeface="JetBrains Mono"/>
                <a:ea typeface="JetBrains Mono"/>
              </a:rPr>
              <a:t>@IgnoreSecurity</a:t>
            </a:r>
            <a:r>
              <a:rPr lang="zh-CN" sz="1050">
                <a:solidFill>
                  <a:srgbClr val="F59E0B"/>
                </a:solidFill>
                <a:latin typeface="JetBrains Mono"/>
                <a:ea typeface="JetBrains Mono"/>
              </a:rPr>
              <a:t>　</a:t>
            </a:r>
            <a:r>
              <a:rPr lang="en-US" sz="1050">
                <a:solidFill>
                  <a:srgbClr val="F59E0B"/>
                </a:solidFill>
                <a:latin typeface="JetBrains Mono"/>
                <a:ea typeface="JetBrains Mono"/>
              </a:rPr>
              <a:t> </a:t>
            </a:r>
            <a:r>
              <a:rPr lang="zh-CN" sz="1050">
                <a:solidFill>
                  <a:srgbClr val="F59E0B"/>
                </a:solidFill>
                <a:latin typeface="JetBrains Mono"/>
                <a:ea typeface="JetBrains Mono"/>
              </a:rPr>
              <a:t>两者都忽略</a:t>
            </a:r>
            <a:endParaRPr lang="zh-CN" sz="105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138" name="文本框 2137" descr="{&quot;isTemplate&quot;:true,&quot;type&quot;:&quot;text&quot;}"/>
          <p:cNvSpPr txBox="1"/>
          <p:nvPr/>
        </p:nvSpPr>
        <p:spPr>
          <a:xfrm>
            <a:off x="4524375" y="5514975"/>
            <a:ext cx="3143250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放行只影响当前这一个函数，不影响同类的其他函数，也不影响其他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controller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39" name="圆角矩形 2138"/>
          <p:cNvSpPr/>
          <p:nvPr/>
        </p:nvSpPr>
        <p:spPr>
          <a:xfrm>
            <a:off x="8029575" y="1143000"/>
            <a:ext cx="3552825" cy="5143500"/>
          </a:xfrm>
          <a:prstGeom prst="roundRect">
            <a:avLst>
              <a:gd name="adj" fmla="val 3217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140" name="文本框 2139" descr="{&quot;isTemplate&quot;:true,&quot;type&quot;:&quot;text&quot;}"/>
          <p:cNvSpPr txBox="1"/>
          <p:nvPr/>
        </p:nvSpPr>
        <p:spPr>
          <a:xfrm>
            <a:off x="8239125" y="1352550"/>
            <a:ext cx="31337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两种放行写法</a:t>
            </a:r>
            <a:endParaRPr lang="zh-CN" sz="150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41" name="文本框 2140" descr="{&quot;isTemplate&quot;:true,&quot;type&quot;:&quot;text&quot;}"/>
          <p:cNvSpPr txBox="1"/>
          <p:nvPr/>
        </p:nvSpPr>
        <p:spPr>
          <a:xfrm>
            <a:off x="8239125" y="1638300"/>
            <a:ext cx="31337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效果完全一样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42" name="圆角矩形 2141"/>
          <p:cNvSpPr/>
          <p:nvPr/>
        </p:nvSpPr>
        <p:spPr>
          <a:xfrm>
            <a:off x="8239125" y="1952625"/>
            <a:ext cx="3133725" cy="485775"/>
          </a:xfrm>
          <a:prstGeom prst="roundRect">
            <a:avLst>
              <a:gd name="adj" fmla="val 1568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143" name="文本框 2142" descr="{&quot;isTemplate&quot;:true,&quot;type&quot;:&quot;text&quot;}"/>
          <p:cNvSpPr txBox="1"/>
          <p:nvPr/>
        </p:nvSpPr>
        <p:spPr>
          <a:xfrm>
            <a:off x="8353425" y="2066925"/>
            <a:ext cx="29051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@IgnoreSecurity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144" name="文本框 2143" descr="{&quot;isTemplate&quot;:true,&quot;type&quot;:&quot;text&quot;}"/>
          <p:cNvSpPr txBox="1"/>
          <p:nvPr/>
        </p:nvSpPr>
        <p:spPr>
          <a:xfrm>
            <a:off x="8239125" y="2533650"/>
            <a:ext cx="31337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或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45" name="圆角矩形 2144"/>
          <p:cNvSpPr/>
          <p:nvPr/>
        </p:nvSpPr>
        <p:spPr>
          <a:xfrm>
            <a:off x="8239125" y="2790825"/>
            <a:ext cx="3133725" cy="742950"/>
          </a:xfrm>
          <a:prstGeom prst="roundRect">
            <a:avLst>
              <a:gd name="adj" fmla="val 1025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146" name="文本框 2145" descr="{&quot;isTemplate&quot;:true,&quot;type&quot;:&quot;text&quot;}"/>
          <p:cNvSpPr txBox="1"/>
          <p:nvPr/>
        </p:nvSpPr>
        <p:spPr>
          <a:xfrm>
            <a:off x="8353425" y="2905125"/>
            <a:ext cx="29051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@PostMapping[..., ignoreAuth: true,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147" name="文本框 2146" descr="{&quot;isTemplate&quot;:true,&quot;type&quot;:&quot;text&quot;}"/>
          <p:cNvSpPr txBox="1"/>
          <p:nvPr/>
        </p:nvSpPr>
        <p:spPr>
          <a:xfrm>
            <a:off x="8353425" y="3162300"/>
            <a:ext cx="29051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38BDF8"/>
                </a:solidFill>
                <a:latin typeface="JetBrains Mono"/>
                <a:ea typeface="JetBrains Mono"/>
              </a:rPr>
              <a:t>             ignorePrivilege: true]</a:t>
            </a:r>
            <a:endParaRPr lang="en-US" sz="97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148" name="文本框 2147" descr="{&quot;isTemplate&quot;:true,&quot;type&quot;:&quot;text&quot;}"/>
          <p:cNvSpPr txBox="1"/>
          <p:nvPr/>
        </p:nvSpPr>
        <p:spPr>
          <a:xfrm>
            <a:off x="8239125" y="5514975"/>
            <a:ext cx="3133725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fdemo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两种都用到了：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helloWorld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用注解，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register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Mapping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属性。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49" name="任意多边形 2148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150" name="文本框 2149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51" name="文本框 2150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65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3" name="矩形 215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154" name="矩形 2153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155" name="文本框 2154" descr="{&quot;isTemplate&quot;:true,&quot;type&quot;:&quot;text&quot;}"/>
          <p:cNvSpPr txBox="1"/>
          <p:nvPr/>
        </p:nvSpPr>
        <p:spPr>
          <a:xfrm>
            <a:off x="819150" y="304800"/>
            <a:ext cx="88487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10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MVC f_mvc · 10.5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56" name="文本框 2155" descr="{&quot;isTemplate&quot;:true,&quot;type&quot;:&quot;text&quot;}"/>
          <p:cNvSpPr txBox="1"/>
          <p:nvPr/>
        </p:nvSpPr>
        <p:spPr>
          <a:xfrm>
            <a:off x="819150" y="514350"/>
            <a:ext cx="88487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MVC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配置项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57" name="文本框 2156" descr="{&quot;isTemplate&quot;:true,&quot;type&quot;:&quot;text&quot;}"/>
          <p:cNvSpPr txBox="1"/>
          <p:nvPr/>
        </p:nvSpPr>
        <p:spPr>
          <a:xfrm>
            <a:off x="9839325" y="590550"/>
            <a:ext cx="17430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环境变量或等价的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--key=value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58" name="圆角矩形 2157"/>
          <p:cNvSpPr/>
          <p:nvPr/>
        </p:nvSpPr>
        <p:spPr>
          <a:xfrm>
            <a:off x="609600" y="1143000"/>
            <a:ext cx="4381500" cy="2752725"/>
          </a:xfrm>
          <a:prstGeom prst="roundRect">
            <a:avLst>
              <a:gd name="adj" fmla="val 4152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159" name="文本框 2158" descr="{&quot;isTemplate&quot;:true,&quot;type&quot;:&quot;text&quot;}"/>
          <p:cNvSpPr txBox="1"/>
          <p:nvPr/>
        </p:nvSpPr>
        <p:spPr>
          <a:xfrm>
            <a:off x="800100" y="1333500"/>
            <a:ext cx="40005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三个必须注意的</a:t>
            </a:r>
            <a:endParaRPr lang="zh-CN" sz="127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60" name="文本框 2159" descr="{&quot;isTemplate&quot;:true,&quot;type&quot;:&quot;text&quot;}"/>
          <p:cNvSpPr txBox="1"/>
          <p:nvPr/>
        </p:nvSpPr>
        <p:spPr>
          <a:xfrm>
            <a:off x="800100" y="1647825"/>
            <a:ext cx="40005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mvc_port ——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端口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61" name="文本框 2160" descr="{&quot;isTemplate&quot;:true,&quot;type&quot;:&quot;text&quot;}"/>
          <p:cNvSpPr txBox="1"/>
          <p:nvPr/>
        </p:nvSpPr>
        <p:spPr>
          <a:xfrm>
            <a:off x="800100" y="2009775"/>
            <a:ext cx="4000500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· mvc_maxRequestBodySize ——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默认是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stdx 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2MB</a:t>
            </a:r>
            <a:r>
              <a:rPr lang="zh-CN" sz="105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，上传必须调大</a:t>
            </a:r>
            <a:endParaRPr lang="zh-CN" sz="105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62" name="文本框 2161" descr="{&quot;isTemplate&quot;:true,&quot;type&quot;:&quot;text&quot;}"/>
          <p:cNvSpPr txBox="1"/>
          <p:nvPr/>
        </p:nvSpPr>
        <p:spPr>
          <a:xfrm>
            <a:off x="800100" y="2647950"/>
            <a:ext cx="40005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mvc_overallElapsedSwitch ——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总耗时统计，生产建议关掉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63" name="圆角矩形 2162"/>
          <p:cNvSpPr/>
          <p:nvPr/>
        </p:nvSpPr>
        <p:spPr>
          <a:xfrm>
            <a:off x="609600" y="4029075"/>
            <a:ext cx="4381500" cy="2257425"/>
          </a:xfrm>
          <a:prstGeom prst="roundRect">
            <a:avLst>
              <a:gd name="adj" fmla="val 5063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164" name="文本框 2163" descr="{&quot;isTemplate&quot;:true,&quot;type&quot;:&quot;text&quot;}"/>
          <p:cNvSpPr txBox="1"/>
          <p:nvPr/>
        </p:nvSpPr>
        <p:spPr>
          <a:xfrm>
            <a:off x="800100" y="4219575"/>
            <a:ext cx="4000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500 </a:t>
            </a:r>
            <a:r>
              <a:rPr lang="zh-CN" sz="1125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错误的三种形态</a:t>
            </a:r>
            <a:endParaRPr lang="zh-CN" sz="1125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65" name="文本框 2164" descr="{&quot;isTemplate&quot;:true,&quot;type&quot;:&quot;text&quot;}"/>
          <p:cNvSpPr txBox="1"/>
          <p:nvPr/>
        </p:nvSpPr>
        <p:spPr>
          <a:xfrm>
            <a:off x="800100" y="4486275"/>
            <a:ext cx="4000500" cy="847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mvc_internalServerErrorMessageKind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取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BEAN / TEXT / BASE64BINARY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；配套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mvc_internalServerErrorMessage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使用，见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10.6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66" name="圆角矩形 2165"/>
          <p:cNvSpPr/>
          <p:nvPr/>
        </p:nvSpPr>
        <p:spPr>
          <a:xfrm>
            <a:off x="5181600" y="1143000"/>
            <a:ext cx="640080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167" name="文本框 2166" descr="{&quot;isTemplate&quot;:true,&quot;type&quot;:&quot;text&quot;}"/>
          <p:cNvSpPr txBox="1"/>
          <p:nvPr/>
        </p:nvSpPr>
        <p:spPr>
          <a:xfrm>
            <a:off x="5372100" y="1333500"/>
            <a:ext cx="60198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@Bean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全部走环境变量或等价的命令行参数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68" name="文本框 2167" descr="{&quot;isTemplate&quot;:true,&quot;type&quot;:&quot;text&quot;}"/>
          <p:cNvSpPr txBox="1"/>
          <p:nvPr/>
        </p:nvSpPr>
        <p:spPr>
          <a:xfrm>
            <a:off x="5372100" y="1562100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export mvc_port=8080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169" name="文本框 2168" descr="{&quot;isTemplate&quot;:true,&quot;type&quot;:&quot;text&quot;}"/>
          <p:cNvSpPr txBox="1"/>
          <p:nvPr/>
        </p:nvSpPr>
        <p:spPr>
          <a:xfrm>
            <a:off x="5372100" y="1819275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export mvc_maxRequestBodySize=67108864</a:t>
            </a:r>
            <a:r>
              <a:rPr lang="zh-CN" sz="975">
                <a:solidFill>
                  <a:srgbClr val="F59E0B"/>
                </a:solidFill>
                <a:latin typeface="JetBrains Mono"/>
                <a:ea typeface="JetBrains Mono"/>
              </a:rPr>
              <a:t>　</a:t>
            </a: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# </a:t>
            </a:r>
            <a:r>
              <a:rPr lang="zh-CN" sz="975">
                <a:solidFill>
                  <a:srgbClr val="F59E0B"/>
                </a:solidFill>
                <a:latin typeface="JetBrains Mono"/>
                <a:ea typeface="JetBrains Mono"/>
              </a:rPr>
              <a:t>默认</a:t>
            </a: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 stdx </a:t>
            </a:r>
            <a:r>
              <a:rPr lang="zh-CN" sz="975">
                <a:solidFill>
                  <a:srgbClr val="F59E0B"/>
                </a:solidFill>
                <a:latin typeface="JetBrains Mono"/>
                <a:ea typeface="JetBrains Mono"/>
              </a:rPr>
              <a:t>的</a:t>
            </a:r>
            <a:r>
              <a:rPr lang="en-US" sz="975">
                <a:solidFill>
                  <a:srgbClr val="F59E0B"/>
                </a:solidFill>
                <a:latin typeface="JetBrains Mono"/>
                <a:ea typeface="JetBrains Mono"/>
              </a:rPr>
              <a:t> 2MB</a:t>
            </a:r>
            <a:r>
              <a:rPr lang="zh-CN" sz="975">
                <a:solidFill>
                  <a:srgbClr val="F59E0B"/>
                </a:solidFill>
                <a:latin typeface="JetBrains Mono"/>
                <a:ea typeface="JetBrains Mono"/>
              </a:rPr>
              <a:t>，上传必须调大</a:t>
            </a:r>
            <a:endParaRPr lang="zh-CN" sz="975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170" name="文本框 2169" descr="{&quot;isTemplate&quot;:true,&quot;type&quot;:&quot;text&quot;}"/>
          <p:cNvSpPr txBox="1"/>
          <p:nvPr/>
        </p:nvSpPr>
        <p:spPr>
          <a:xfrm>
            <a:off x="5372100" y="2076450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export mvc_overallElapsedSwitch=true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　　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# </a:t>
            </a:r>
            <a:r>
              <a:rPr lang="zh-CN" sz="975">
                <a:solidFill>
                  <a:srgbClr val="E2E8F0"/>
                </a:solidFill>
                <a:latin typeface="JetBrains Mono"/>
                <a:ea typeface="JetBrains Mono"/>
              </a:rPr>
              <a:t>生产建议</a:t>
            </a: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 false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171" name="文本框 2170" descr="{&quot;isTemplate&quot;:true,&quot;type&quot;:&quot;text&quot;}"/>
          <p:cNvSpPr txBox="1"/>
          <p:nvPr/>
        </p:nvSpPr>
        <p:spPr>
          <a:xfrm>
            <a:off x="5372100" y="2333625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export mvc_internalServerErrorMessageKind=BEAN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172" name="文本框 2171" descr="{&quot;isTemplate&quot;:true,&quot;type&quot;:&quot;text&quot;}"/>
          <p:cNvSpPr txBox="1"/>
          <p:nvPr/>
        </p:nvSpPr>
        <p:spPr>
          <a:xfrm>
            <a:off x="5372100" y="2590800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export mvc_internalServerErrorMessage=NameOf500Handler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173" name="文本框 2172" descr="{&quot;isTemplate&quot;:true,&quot;type&quot;:&quot;text&quot;}"/>
          <p:cNvSpPr txBox="1"/>
          <p:nvPr/>
        </p:nvSpPr>
        <p:spPr>
          <a:xfrm>
            <a:off x="5372100" y="2847975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export mvc_readTimeout=500ms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174" name="文本框 2173" descr="{&quot;isTemplate&quot;:true,&quot;type&quot;:&quot;text&quot;}"/>
          <p:cNvSpPr txBox="1"/>
          <p:nvPr/>
        </p:nvSpPr>
        <p:spPr>
          <a:xfrm>
            <a:off x="5372100" y="3105150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export mvc_readHeaderTimeout=500ms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175" name="文本框 2174" descr="{&quot;isTemplate&quot;:true,&quot;type&quot;:&quot;text&quot;}"/>
          <p:cNvSpPr txBox="1"/>
          <p:nvPr/>
        </p:nvSpPr>
        <p:spPr>
          <a:xfrm>
            <a:off x="5372100" y="3362325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export mvc_writeTimeout=500ms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176" name="文本框 2175" descr="{&quot;isTemplate&quot;:true,&quot;type&quot;:&quot;text&quot;}"/>
          <p:cNvSpPr txBox="1"/>
          <p:nvPr/>
        </p:nvSpPr>
        <p:spPr>
          <a:xfrm>
            <a:off x="5372100" y="3619500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export mvc_keepAliveTimeout=500s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177" name="文本框 2176" descr="{&quot;isTemplate&quot;:true,&quot;type&quot;:&quot;text&quot;}"/>
          <p:cNvSpPr txBox="1"/>
          <p:nvPr/>
        </p:nvSpPr>
        <p:spPr>
          <a:xfrm>
            <a:off x="5372100" y="3876675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export mvc_maxRequestHeaderSize=102400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178" name="文本框 2177" descr="{&quot;isTemplate&quot;:true,&quot;type&quot;:&quot;text&quot;}"/>
          <p:cNvSpPr txBox="1"/>
          <p:nvPr/>
        </p:nvSpPr>
        <p:spPr>
          <a:xfrm>
            <a:off x="5372100" y="4133850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JetBrains Mono"/>
                <a:ea typeface="JetBrains Mono"/>
              </a:rPr>
              <a:t>export mvc_downloadBufferSize=4096</a:t>
            </a:r>
            <a:endParaRPr lang="en-US" sz="97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179" name="文本框 2178" descr="{&quot;isTemplate&quot;:true,&quot;type&quot;:&quot;text&quot;}"/>
          <p:cNvSpPr txBox="1"/>
          <p:nvPr/>
        </p:nvSpPr>
        <p:spPr>
          <a:xfrm>
            <a:off x="5372100" y="4391025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export mvc_accessControlAllowOrigin='*'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180" name="文本框 2179" descr="{&quot;isTemplate&quot;:true,&quot;type&quot;:&quot;text&quot;}"/>
          <p:cNvSpPr txBox="1"/>
          <p:nvPr/>
        </p:nvSpPr>
        <p:spPr>
          <a:xfrm>
            <a:off x="5372100" y="4648200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export mvc_accessControlAllowHeaders='*'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181" name="文本框 2180" descr="{&quot;isTemplate&quot;:true,&quot;type&quot;:&quot;text&quot;}"/>
          <p:cNvSpPr txBox="1"/>
          <p:nvPr/>
        </p:nvSpPr>
        <p:spPr>
          <a:xfrm>
            <a:off x="5372100" y="4905375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JetBrains Mono"/>
                <a:ea typeface="JetBrains Mono"/>
              </a:rPr>
              <a:t>export mvc_accessControlMaxAge=0</a:t>
            </a:r>
            <a:endParaRPr lang="en-US" sz="97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182" name="文本框 2181" descr="{&quot;isTemplate&quot;:true,&quot;type&quot;:&quot;text&quot;}"/>
          <p:cNvSpPr txBox="1"/>
          <p:nvPr/>
        </p:nvSpPr>
        <p:spPr>
          <a:xfrm>
            <a:off x="5372100" y="5838825"/>
            <a:ext cx="6019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演示环境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CORS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写星号，生产要收紧。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83" name="任意多边形 2182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184" name="文本框 2183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85" name="文本框 2184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66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16" name=""/>
          <p:cNvSpPr txBox="1"/>
          <p:nvPr/>
        </p:nvSpPr>
        <p:spPr>
          <a:xfrm rot="0" flipH="0" flipV="0">
            <a:off x="8458200" y="1619250"/>
            <a:ext cx="3352800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16233A"/>
                </a:solidFill>
                <a:latin typeface="JetBrains Mono"/>
                <a:ea typeface="JetBrains Mono"/>
              </a:rPr>
              <a:t>END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8" name=""/>
          <p:cNvSpPr/>
          <p:nvPr/>
        </p:nvSpPr>
        <p:spPr>
          <a:xfrm rot="0" flipH="0" flipV="0">
            <a:off x="1143000" y="1428750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9" name=""/>
          <p:cNvSpPr txBox="1"/>
          <p:nvPr/>
        </p:nvSpPr>
        <p:spPr>
          <a:xfrm rot="0" flipH="0" flipV="0">
            <a:off x="1333500" y="1514475"/>
            <a:ext cx="3181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本讲小结</a:t>
            </a:r>
            <a:r>
              <a:rPr lang="en-US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11 / 25</a:t>
            </a:r>
            <a:endParaRPr/>
          </a:p>
        </p:txBody>
      </p:sp>
      <p:sp>
        <p:nvSpPr>
          <p:cNvPr id="20" name=""/>
          <p:cNvSpPr txBox="1"/>
          <p:nvPr/>
        </p:nvSpPr>
        <p:spPr>
          <a:xfrm rot="0" flipH="0" flipV="0">
            <a:off x="1143000" y="2019300"/>
            <a:ext cx="2600325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MVC：路由与参数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1143000" y="272415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2" name=""/>
          <p:cNvSpPr txBox="1"/>
          <p:nvPr/>
        </p:nvSpPr>
        <p:spPr>
          <a:xfrm rot="0" flipH="0" flipV="0">
            <a:off x="1143000" y="320040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声明 Controller 与 Mapping 家族的三条规则</a:t>
            </a:r>
            <a:endParaRPr/>
          </a:p>
        </p:txBody>
      </p:sp>
      <p:sp>
        <p:nvSpPr>
          <p:cNvPr id="23" name=""/>
          <p:cNvSpPr txBox="1"/>
          <p:nvPr/>
        </p:nvSpPr>
        <p:spPr>
          <a:xfrm rot="0" flipH="0" flipV="0">
            <a:off x="1143000" y="363855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params / headers 规则 DSL　·　五个参数绑定注解</a:t>
            </a:r>
            <a:endParaRPr/>
          </a:p>
        </p:txBody>
      </p:sp>
      <p:sp>
        <p:nvSpPr>
          <p:cNvPr id="24" name=""/>
          <p:cNvSpPr txBox="1"/>
          <p:nvPr/>
        </p:nvSpPr>
        <p:spPr>
          <a:xfrm rot="0" flipH="0" flipV="0">
            <a:off x="1143000" y="407670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参数校验与安全注解　·　MVC 配置项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1143000" y="4762500"/>
            <a:ext cx="38100" cy="381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6" name=""/>
          <p:cNvSpPr txBox="1"/>
          <p:nvPr/>
        </p:nvSpPr>
        <p:spPr>
          <a:xfrm rot="0" flipH="0" flipV="0">
            <a:off x="1371600" y="4857750"/>
            <a:ext cx="1057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下一讲：MVC 收尾与 f_http</a:t>
            </a:r>
            <a:endParaRPr/>
          </a:p>
        </p:txBody>
      </p:sp>
      <p:sp>
        <p:nvSpPr>
          <p:cNvPr id="27" name=""/>
          <p:cNvSpPr txBox="1"/>
          <p:nvPr/>
        </p:nvSpPr>
        <p:spPr>
          <a:xfrm rot="0" flipH="0" flipV="0">
            <a:off x="609600" y="6362700"/>
            <a:ext cx="4352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1"/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2"/>
              <a:t>https://gitcode.com/Cangjie-SIG/fountain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helloworld</cp:lastModifiedBy>
  <cp:revision>148</cp:revision>
  <dcterms:created xsi:type="dcterms:W3CDTF">2026-10-02T13:55:00Z</dcterms:created>
  <dcterms:modified xsi:type="dcterms:W3CDTF">2026-10-03T02:38:11Z</dcterms:modified>
</cp:coreProperties>
</file>