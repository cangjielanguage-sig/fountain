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这一讲把安全讲完。先讲 MVC 挑 handler 的五步顺序，这里有一个很重要的结论：第三步一旦通过就直接返回，第四步的权限检查不会执行，所以登录和权限最好在同一个类里一次检查完。然后是用 JWT 维持登录状态，以及 f_jwt 的编码与解码 API，最后用四步命令做端到端演示。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第二步是 MVC 怎么挑 handler，这个判断顺序决定了你的类该怎么设计。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五步。第一步，如果 ignoreAuth 和 ignorePrivilege 都为 true，直接 OK，什么都不查。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第二步，如果存在「通用」的 AuthHandler，就用它一次检查完。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第三步，否则，如果没忽略鉴权而且 UserSessionHandler 存在，就用它检查登录状态；通过就执行第四步，不通过就失败。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第四步，如果没忽略权限且 PrivilegeHandler 存在，用它检查权限。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第五步，都没有的话就是 OK。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这里有一个非常重要的结论：第三步一旦通过就直接返回，第四步的权限检查不会执行。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所以源码注释里明确写着：如果登录状态和权限都要检查，最好在同一个类里实现、一次调用检查完——fdemo 的 AuthCheckerImpl 就是这个做法，它实现了 AuthHandler，一次把两件事都做完。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如果你的系统权限模型很复杂，确实需要拆成两个 bean，那就分别实现 UserSessionHandler 和 PrivilegeHandler，但要清楚这个优先级语义——否则你会发现权限检查莫名其妙地没生效。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这个结论是这一章最容易被忽略的一条。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第三步，用 JWT 维持登录状态。fdemo 的 UserSessionCache 整屏展示。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它有三块。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第一块，安全上下文。这里构造了一个 JWTSecurityContext 泛型 String，第一个参数是 JWTHeapCacheStore，寿命一小时，也就是身份存在堆缓存里；第二个参数是生成 principal 的函数，用 UUID 随机十六进制串当密钥；第三个参数是校验函数，用 HMAC MD5。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第二块，登录。generate 方法接收 userId，先调 context 的 login 把身份存进缓存，然后用 JWT 编码器的链式 API：设置密钥、keyId 为 userId、过期时间一小时、最后 sign 出 token。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第三块，校验。verify 方法只有一行，调 context 的 check。它会从当前请求的 Authorization 头里取 JWT，验签加验证过期时间，再用 principal 里的密钥校验。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这里最值得讲的设计是：每次登录用 UUID 随机生成一把独立的 HMAC 密钥，存进 principal —— 也就是每个会话一把钥匙。这样即使某一把密钥泄露，也只影响那一个会话。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而且因为 check 是从 CurrentHttpContext 取当前请求，所以校验逻辑不用写在 controller 里——这就是上一章说的那个线程级上下文的实际用途。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f_jwt 的 API，编码和解码两边各看一遍。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编码是一个链式调用：encoder 拿到编码器，然后可以加自定义 header、设置签名密钥、设置 keyId 也就是 kid、issuer、subject、audience、expire、notBeforeAt、issuedAt，还能 addPayload 加自定义负载，最后 sign 出 token。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expire 支持四种形式：Duration、Int64 秒、DateTime、还有 expireAt。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签名算法全家桶分两类。HMAC 有六个：MD5、SHA1、SHA224、SHA256、SHA384、SHA512；每种都有三个重载——直接传字节数组、传 Base64 字符串、传十六进制字符串。非对称有 ECDSA 的 224/256/384/512、RSA 的 256/384/512（可以指定填充类型），还有国密的 SM2。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负载还可以一次性塞进去：addPayload 传一个对象，前提是它实现了 ObjectData，公共成员就变成负载；或者传一个 Map。另外 jwtId 可以配合 JwtIdCache 做防重放。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解码这边，verifier 拿到验证器，然后一系列 get：getKeyId、getPayload、getPayloadValue、getHeader、getExpireAt 有 DateTime 和 Duration、秒三种版本，还有 getNotBefore。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校验方法分层次：verifySign 只验签名；verify 是 exp、nbf、签名一起验；还可以单独验 issuer、subject、audience、payload、id。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一句话记住：verify 已经把 exp、nbf 和签名都检查了，没有指定 exp 或 nbf 的字段就认为该维度当前有效。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端到端演示，四步，然后把调用链串一遍。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第一步，注册。这个接口声明的是表单，所以用表单的 Content-Type。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第二步，登录拿 JWT。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第三步，不带 JWT 访问 /api/user/1，得到 401 和一段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第四步，带上 JWT 访问同一个接口，得到 200 和用户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预期就是：第三步 401 Unauthorized 加响应体；第四步 200 加用户 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最后把调用链串一遍。HTTP 请求进来，MVC 路由到 UserController 的 queryUser；然后 AuthHandlerProxy 带着 AuthParam 去 check，注意 ignoreAuth 是 false；接着调 AuthCheckerImpl 的 check；再调 UserSessionCache 的 verify；再进 JWTSecurityContext 的 check——它会从 CurrentHttpContext 拿 Authorization 头，用 JWT 验证器做 verify 也就是验签加 exp 加 nbf，再用 principal 里的密钥做 HMAC。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全部通过返回 OK，才真正进入 queryUser，然后 Service、DAO、数据库。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这一条链就是安全的全部流程。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这一讲三个要点：一，AuthHandler 的挑选顺序决定了你的类该怎么设计，登录与权限分开实现会踩「权限检查没生效」这个坑；二，每个会话一把独立的 HMAC 密钥，即使某一把泄露也只影响一个会话；三，verify() 已经把 exp、nbf、签名都检查了，校验逻辑不用写在 controller 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17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17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安全与 JWT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MVC 怎么挑 handler —— 第 3 步通过后第 4 步不执行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 JWT 维持登录状态：每个会话一把密钥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f_jwt 的编码与解码 API　·　端到端演示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17 讲 / 共 25 讲　·　原稿第 88–91 页 + 首尾两页　·　约 12.0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矩形 28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850" name="矩形 284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851" name="文本框 2850" descr="{&quot;isTemplate&quot;:true,&quot;type&quot;:&quot;text&quot;}"/>
          <p:cNvSpPr txBox="1"/>
          <p:nvPr/>
        </p:nvSpPr>
        <p:spPr>
          <a:xfrm>
            <a:off x="819150" y="304800"/>
            <a:ext cx="9105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2" name="文本框 2851" descr="{&quot;isTemplate&quot;:true,&quot;type&quot;:&quot;text&quot;}"/>
          <p:cNvSpPr txBox="1"/>
          <p:nvPr/>
        </p:nvSpPr>
        <p:spPr>
          <a:xfrm>
            <a:off x="819150" y="514350"/>
            <a:ext cx="910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怎么挑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handler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3" name="文本框 2852" descr="{&quot;isTemplate&quot;:true,&quot;type&quot;:&quot;text&quot;}"/>
          <p:cNvSpPr txBox="1"/>
          <p:nvPr/>
        </p:nvSpPr>
        <p:spPr>
          <a:xfrm>
            <a:off x="10096500" y="590550"/>
            <a:ext cx="1485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这决定了你的类该怎么设计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4" name="圆角矩形 2853"/>
          <p:cNvSpPr/>
          <p:nvPr/>
        </p:nvSpPr>
        <p:spPr>
          <a:xfrm>
            <a:off x="609600" y="1143000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55" name="文本框 2854" descr="{&quot;isTemplate&quot;:true,&quot;type&quot;:&quot;text&quot;}"/>
          <p:cNvSpPr txBox="1"/>
          <p:nvPr/>
        </p:nvSpPr>
        <p:spPr>
          <a:xfrm>
            <a:off x="742950" y="12763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56" name="文本框 2855" descr="{&quot;isTemplate&quot;:true,&quot;type&quot;:&quot;text&quot;}"/>
          <p:cNvSpPr txBox="1"/>
          <p:nvPr/>
        </p:nvSpPr>
        <p:spPr>
          <a:xfrm>
            <a:off x="1200150" y="1276350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ignoreAuth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ignorePrivilege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都为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true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直接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OK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（不查）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7" name="圆角矩形 2856"/>
          <p:cNvSpPr/>
          <p:nvPr/>
        </p:nvSpPr>
        <p:spPr>
          <a:xfrm>
            <a:off x="609600" y="1781175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58" name="文本框 2857" descr="{&quot;isTemplate&quot;:true,&quot;type&quot;:&quot;text&quot;}"/>
          <p:cNvSpPr txBox="1"/>
          <p:nvPr/>
        </p:nvSpPr>
        <p:spPr>
          <a:xfrm>
            <a:off x="742950" y="191452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59" name="文本框 2858" descr="{&quot;isTemplate&quot;:true,&quot;type&quot;:&quot;text&quot;}"/>
          <p:cNvSpPr txBox="1"/>
          <p:nvPr/>
        </p:nvSpPr>
        <p:spPr>
          <a:xfrm>
            <a:off x="1200150" y="1914525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存在「通用」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AuthHandler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用它一次检查完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0" name="圆角矩形 2859"/>
          <p:cNvSpPr/>
          <p:nvPr/>
        </p:nvSpPr>
        <p:spPr>
          <a:xfrm>
            <a:off x="609600" y="2419350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61" name="文本框 2860" descr="{&quot;isTemplate&quot;:true,&quot;type&quot;:&quot;text&quot;}"/>
          <p:cNvSpPr txBox="1"/>
          <p:nvPr/>
        </p:nvSpPr>
        <p:spPr>
          <a:xfrm>
            <a:off x="742950" y="25527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62" name="文本框 2861" descr="{&quot;isTemplate&quot;:true,&quot;type&quot;:&quot;text&quot;}"/>
          <p:cNvSpPr txBox="1"/>
          <p:nvPr/>
        </p:nvSpPr>
        <p:spPr>
          <a:xfrm>
            <a:off x="1200150" y="2552700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否则：未忽略鉴权且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UserSessionHandler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用它检查登录状态；通过则执行第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步，否则失败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3" name="圆角矩形 2862"/>
          <p:cNvSpPr/>
          <p:nvPr/>
        </p:nvSpPr>
        <p:spPr>
          <a:xfrm>
            <a:off x="609600" y="3057525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64" name="文本框 2863" descr="{&quot;isTemplate&quot;:true,&quot;type&quot;:&quot;text&quot;}"/>
          <p:cNvSpPr txBox="1"/>
          <p:nvPr/>
        </p:nvSpPr>
        <p:spPr>
          <a:xfrm>
            <a:off x="742950" y="319087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65" name="文本框 2864" descr="{&quot;isTemplate&quot;:true,&quot;type&quot;:&quot;text&quot;}"/>
          <p:cNvSpPr txBox="1"/>
          <p:nvPr/>
        </p:nvSpPr>
        <p:spPr>
          <a:xfrm>
            <a:off x="1200150" y="3190875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未忽略权限且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PrivilegeHandler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用它检查权限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6" name="圆角矩形 2865"/>
          <p:cNvSpPr/>
          <p:nvPr/>
        </p:nvSpPr>
        <p:spPr>
          <a:xfrm>
            <a:off x="609600" y="3695700"/>
            <a:ext cx="1097280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867" name="文本框 2866" descr="{&quot;isTemplate&quot;:true,&quot;type&quot;:&quot;text&quot;}"/>
          <p:cNvSpPr txBox="1"/>
          <p:nvPr/>
        </p:nvSpPr>
        <p:spPr>
          <a:xfrm>
            <a:off x="742950" y="38290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68" name="文本框 2867" descr="{&quot;isTemplate&quot;:true,&quot;type&quot;:&quot;text&quot;}"/>
          <p:cNvSpPr txBox="1"/>
          <p:nvPr/>
        </p:nvSpPr>
        <p:spPr>
          <a:xfrm>
            <a:off x="1200150" y="3829050"/>
            <a:ext cx="10248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都没有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OK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9" name="圆角矩形 2868"/>
          <p:cNvSpPr/>
          <p:nvPr/>
        </p:nvSpPr>
        <p:spPr>
          <a:xfrm>
            <a:off x="609600" y="4333875"/>
            <a:ext cx="10972800" cy="1952625"/>
          </a:xfrm>
          <a:prstGeom prst="roundRect">
            <a:avLst>
              <a:gd name="adj" fmla="val 585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870" name="文本框 2869" descr="{&quot;isTemplate&quot;:true,&quot;type&quot;:&quot;text&quot;}"/>
          <p:cNvSpPr txBox="1"/>
          <p:nvPr/>
        </p:nvSpPr>
        <p:spPr>
          <a:xfrm>
            <a:off x="781050" y="4505325"/>
            <a:ext cx="10629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重要结论：第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步一旦通过就直接返回，第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步的权限检查不会执行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1" name="文本框 2870" descr="{&quot;isTemplate&quot;:true,&quot;type&quot;:&quot;text&quot;}"/>
          <p:cNvSpPr txBox="1"/>
          <p:nvPr/>
        </p:nvSpPr>
        <p:spPr>
          <a:xfrm>
            <a:off x="781050" y="4772025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所以源码注释明确写着：如果登录状态和权限都要检查，最好在同一个类里实现、一次调用检查完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fdemo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AuthCheckerImpl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就是这个做法。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2" name="文本框 2871" descr="{&quot;isTemplate&quot;:true,&quot;type&quot;:&quot;text&quot;}"/>
          <p:cNvSpPr txBox="1"/>
          <p:nvPr/>
        </p:nvSpPr>
        <p:spPr>
          <a:xfrm>
            <a:off x="781050" y="5105400"/>
            <a:ext cx="106299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确实需要拆成两个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时，分别实现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UserSessionHandler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PrivilegeHandler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，但要清楚这个优先级语义。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3" name="任意多边形 28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874" name="文本框 28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5" name="文本框 287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矩形 28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878" name="矩形 28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879" name="文本框 287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0" name="文本框 287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维持登录状态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1" name="文本框 288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建议整屏展示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2" name="圆角矩形 2881"/>
          <p:cNvSpPr/>
          <p:nvPr/>
        </p:nvSpPr>
        <p:spPr>
          <a:xfrm>
            <a:off x="609600" y="1143000"/>
            <a:ext cx="69723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883" name="文本框 2882" descr="{&quot;isTemplate&quot;:true,&quot;type&quot;:&quot;text&quot;}"/>
          <p:cNvSpPr txBox="1"/>
          <p:nvPr/>
        </p:nvSpPr>
        <p:spPr>
          <a:xfrm>
            <a:off x="781050" y="1314450"/>
            <a:ext cx="6629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fdemo/user/src/util/UserSessionCache.cj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4" name="文本框 2883" descr="{&quot;isTemplate&quot;:true,&quot;type&quot;:&quot;text&quot;}"/>
          <p:cNvSpPr txBox="1"/>
          <p:nvPr/>
        </p:nvSpPr>
        <p:spPr>
          <a:xfrm>
            <a:off x="781050" y="154305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UserSessionCache 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85" name="文本框 2884" descr="{&quot;isTemplate&quot;:true,&quot;type&quot;:&quot;text&quot;}"/>
          <p:cNvSpPr txBox="1"/>
          <p:nvPr/>
        </p:nvSpPr>
        <p:spPr>
          <a:xfrm>
            <a:off x="781050" y="17811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// ①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安全上下文：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JWT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登录状态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+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堆缓存（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1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小时）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86" name="文本框 2885" descr="{&quot;isTemplate&quot;:true,&quot;type&quot;:&quot;text&quot;}"/>
          <p:cNvSpPr txBox="1"/>
          <p:nvPr/>
        </p:nvSpPr>
        <p:spPr>
          <a:xfrm>
            <a:off x="781050" y="20193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private static let context = JWTSecurityContext&lt;String&gt;(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87" name="文本框 2886" descr="{&quot;isTemplate&quot;:true,&quot;type&quot;:&quot;text&quot;}"/>
          <p:cNvSpPr txBox="1"/>
          <p:nvPr/>
        </p:nvSpPr>
        <p:spPr>
          <a:xfrm>
            <a:off x="781050" y="22574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JWTHeapCacheStore(Duration.hour),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88" name="文本框 2887" descr="{&quot;isTemplate&quot;:true,&quot;type&quot;:&quot;text&quot;}"/>
          <p:cNvSpPr txBox="1"/>
          <p:nvPr/>
        </p:nvSpPr>
        <p:spPr>
          <a:xfrm>
            <a:off x="781050" y="2495550"/>
            <a:ext cx="66294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{id =&gt; JWTPrincipal&lt;String&gt;(id, '', UUID.random().toHexString())}   //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每个登录一把随机签名密钥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89" name="文本框 2888" descr="{&quot;isTemplate&quot;:true,&quot;type&quot;:&quot;text&quot;}"/>
          <p:cNvSpPr txBox="1"/>
          <p:nvPr/>
        </p:nvSpPr>
        <p:spPr>
          <a:xfrm>
            <a:off x="781050" y="29622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){verifier, principal =&gt; hmacKey(verifier, principal)}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0" name="文本框 2889" descr="{&quot;isTemplate&quot;:true,&quot;type&quot;:&quot;text&quot;}"/>
          <p:cNvSpPr txBox="1"/>
          <p:nvPr/>
        </p:nvSpPr>
        <p:spPr>
          <a:xfrm>
            <a:off x="781050" y="32004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private static func hmacKey(jwt, key: Array&lt;Byte&gt;) { jwt.hmacMD5(key) 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91" name="文本框 2890" descr="{&quot;isTemplate&quot;:true,&quot;type&quot;:&quot;text&quot;}"/>
          <p:cNvSpPr txBox="1"/>
          <p:nvPr/>
        </p:nvSpPr>
        <p:spPr>
          <a:xfrm>
            <a:off x="781050" y="35147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// ②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登录：生成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JWT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92" name="文本框 2891" descr="{&quot;isTemplate&quot;:true,&quot;type&quot;:&quot;text&quot;}"/>
          <p:cNvSpPr txBox="1"/>
          <p:nvPr/>
        </p:nvSpPr>
        <p:spPr>
          <a:xfrm>
            <a:off x="781050" y="375285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static func generate(userId: Int64): String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3" name="文本框 2892" descr="{&quot;isTemplate&quot;:true,&quot;type&quot;:&quot;text&quot;}"/>
          <p:cNvSpPr txBox="1"/>
          <p:nvPr/>
        </p:nvSpPr>
        <p:spPr>
          <a:xfrm>
            <a:off x="781050" y="39909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uids = userId.toString()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94" name="文本框 2893" descr="{&quot;isTemplate&quot;:true,&quot;type&quot;:&quot;text&quot;}"/>
          <p:cNvSpPr txBox="1"/>
          <p:nvPr/>
        </p:nvSpPr>
        <p:spPr>
          <a:xfrm>
            <a:off x="781050" y="42291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    let principal = context.login(uids).getOrThrow{SecurityException()}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895" name="文本框 2894" descr="{&quot;isTemplate&quot;:true,&quot;type&quot;:&quot;text&quot;}"/>
          <p:cNvSpPr txBox="1"/>
          <p:nvPr/>
        </p:nvSpPr>
        <p:spPr>
          <a:xfrm>
            <a:off x="781050" y="44672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    hmacKey(JWT.encoder(), principal).keyId(uids).expire(expire).sign()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896" name="文本框 2895" descr="{&quot;isTemplate&quot;:true,&quot;type&quot;:&quot;text&quot;}"/>
          <p:cNvSpPr txBox="1"/>
          <p:nvPr/>
        </p:nvSpPr>
        <p:spPr>
          <a:xfrm>
            <a:off x="781050" y="470535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7" name="文本框 2896" descr="{&quot;isTemplate&quot;:true,&quot;type&quot;:&quot;text&quot;}"/>
          <p:cNvSpPr txBox="1"/>
          <p:nvPr/>
        </p:nvSpPr>
        <p:spPr>
          <a:xfrm>
            <a:off x="781050" y="501967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// ③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校验：从当前请求的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Authorization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头取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JWT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校验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898" name="文本框 2897" descr="{&quot;isTemplate&quot;:true,&quot;type&quot;:&quot;text&quot;}"/>
          <p:cNvSpPr txBox="1"/>
          <p:nvPr/>
        </p:nvSpPr>
        <p:spPr>
          <a:xfrm>
            <a:off x="781050" y="5257800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public static func verify(): Bool { context.check(()) }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899" name="文本框 2898" descr="{&quot;isTemplate&quot;:true,&quot;type&quot;:&quot;text&quot;}"/>
          <p:cNvSpPr txBox="1"/>
          <p:nvPr/>
        </p:nvSpPr>
        <p:spPr>
          <a:xfrm>
            <a:off x="781050" y="5495925"/>
            <a:ext cx="66294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00" name="圆角矩形 2899"/>
          <p:cNvSpPr/>
          <p:nvPr/>
        </p:nvSpPr>
        <p:spPr>
          <a:xfrm>
            <a:off x="7772400" y="1143000"/>
            <a:ext cx="3810000" cy="3581400"/>
          </a:xfrm>
          <a:prstGeom prst="roundRect">
            <a:avLst>
              <a:gd name="adj" fmla="val 3191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01" name="文本框 2900" descr="{&quot;isTemplate&quot;:true,&quot;type&quot;:&quot;text&quot;}"/>
          <p:cNvSpPr txBox="1"/>
          <p:nvPr/>
        </p:nvSpPr>
        <p:spPr>
          <a:xfrm>
            <a:off x="7962900" y="1333500"/>
            <a:ext cx="3429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三件事</a:t>
            </a:r>
            <a:endParaRPr lang="zh-CN"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2" name="文本框 2901" descr="{&quot;isTemplate&quot;:true,&quot;type&quot;:&quot;text&quot;}"/>
          <p:cNvSpPr txBox="1"/>
          <p:nvPr/>
        </p:nvSpPr>
        <p:spPr>
          <a:xfrm>
            <a:off x="7962900" y="1619250"/>
            <a:ext cx="342900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① JWTSecurityContext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Authorization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头传递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，身份存在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JWTHeapCacheStore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（堆缓存，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小时）里。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3" name="文本框 2902" descr="{&quot;isTemplate&quot;:true,&quot;type&quot;:&quot;text&quot;}"/>
          <p:cNvSpPr txBox="1"/>
          <p:nvPr/>
        </p:nvSpPr>
        <p:spPr>
          <a:xfrm>
            <a:off x="7962900" y="2238375"/>
            <a:ext cx="342900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每次登录用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UUID.random().toHexString()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生成一把独立的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HMAC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密钥存进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principal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每个会话一把钥匙。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4" name="文本框 2903" descr="{&quot;isTemplate&quot;:true,&quot;type&quot;:&quot;text&quot;}"/>
          <p:cNvSpPr txBox="1"/>
          <p:nvPr/>
        </p:nvSpPr>
        <p:spPr>
          <a:xfrm>
            <a:off x="7962900" y="2857500"/>
            <a:ext cx="3429000" cy="809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③ context.login(id)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存状态，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context.check(())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直接从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CurrentHttpContext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取当前请求校验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校验逻辑不用写在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5" name="圆角矩形 2904"/>
          <p:cNvSpPr/>
          <p:nvPr/>
        </p:nvSpPr>
        <p:spPr>
          <a:xfrm>
            <a:off x="7772400" y="4857750"/>
            <a:ext cx="3810000" cy="1428750"/>
          </a:xfrm>
          <a:prstGeom prst="roundRect">
            <a:avLst>
              <a:gd name="adj" fmla="val 8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06" name="文本框 2905" descr="{&quot;isTemplate&quot;:true,&quot;type&quot;:&quot;text&quot;}"/>
          <p:cNvSpPr txBox="1"/>
          <p:nvPr/>
        </p:nvSpPr>
        <p:spPr>
          <a:xfrm>
            <a:off x="7943850" y="5029200"/>
            <a:ext cx="3467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其它登录状态方案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7" name="文本框 2906" descr="{&quot;isTemplate&quot;:true,&quot;type&quot;:&quot;text&quot;}"/>
          <p:cNvSpPr txBox="1"/>
          <p:nvPr/>
        </p:nvSpPr>
        <p:spPr>
          <a:xfrm>
            <a:off x="7943850" y="5267325"/>
            <a:ext cx="34671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JWTSecurityContext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Authorization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头）·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UserTokenSecurityContext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userId + token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两个头）·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HeapCacheStore / UserTokenHeapCacheStore · PrincipalStore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（自己实现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Redis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等）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8" name="文本框 2907" descr="{&quot;isTemplate&quot;:true,&quot;type&quot;:&quot;text&quot;}"/>
          <p:cNvSpPr txBox="1"/>
          <p:nvPr/>
        </p:nvSpPr>
        <p:spPr>
          <a:xfrm>
            <a:off x="7943850" y="5648325"/>
            <a:ext cx="3467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想把登录状态放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Redis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？实现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PrincipalStore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做成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就行，其他代码一行不用改。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9" name="任意多边形 290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910" name="文本框 290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1" name="文本框 291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矩形 29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951" name="矩形 295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952" name="文本框 2951" descr="{&quot;isTemplate&quot;:true,&quot;type&quot;:&quot;text&quot;}"/>
          <p:cNvSpPr txBox="1"/>
          <p:nvPr/>
        </p:nvSpPr>
        <p:spPr>
          <a:xfrm>
            <a:off x="819150" y="304800"/>
            <a:ext cx="9963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3" name="文本框 2952" descr="{&quot;isTemplate&quot;:true,&quot;type&quot;:&quot;text&quot;}"/>
          <p:cNvSpPr txBox="1"/>
          <p:nvPr/>
        </p:nvSpPr>
        <p:spPr>
          <a:xfrm>
            <a:off x="819150" y="514350"/>
            <a:ext cx="99631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f_jwt API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速览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4" name="文本框 2953" descr="{&quot;isTemplate&quot;:true,&quot;type&quot;:&quot;text&quot;}"/>
          <p:cNvSpPr txBox="1"/>
          <p:nvPr/>
        </p:nvSpPr>
        <p:spPr>
          <a:xfrm>
            <a:off x="10953750" y="590550"/>
            <a:ext cx="628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编码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解码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5" name="圆角矩形 2954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956" name="文本框 2955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编码（签名）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7" name="文本框 2956" descr="{&quot;isTemplate&quot;:true,&quot;type&quot;:&quot;text&quot;}"/>
          <p:cNvSpPr txBox="1"/>
          <p:nvPr/>
        </p:nvSpPr>
        <p:spPr>
          <a:xfrm>
            <a:off x="78105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token = JWT.encoder()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58" name="文本框 2957" descr="{&quot;isTemplate&quot;:true,&quot;type&quot;:&quot;text&quot;}"/>
          <p:cNvSpPr txBox="1"/>
          <p:nvPr/>
        </p:nvSpPr>
        <p:spPr>
          <a:xfrm>
            <a:off x="78105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.header('x-custom', 'v')  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自定义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header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59" name="文本框 2958" descr="{&quot;isTemplate&quot;:true,&quot;type&quot;:&quot;text&quot;}"/>
          <p:cNvSpPr txBox="1"/>
          <p:nvPr/>
        </p:nvSpPr>
        <p:spPr>
          <a:xfrm>
            <a:off x="78105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.hmacMD5(key)             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也支持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ByBase64Key / ByHexKey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0" name="文本框 2959" descr="{&quot;isTemplate&quot;:true,&quot;type&quot;:&quot;text&quot;}"/>
          <p:cNvSpPr txBox="1"/>
          <p:nvPr/>
        </p:nvSpPr>
        <p:spPr>
          <a:xfrm>
            <a:off x="78105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.keyId('12345')                     // kid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1" name="文本框 2960" descr="{&quot;isTemplate&quot;:true,&quot;type&quot;:&quot;text&quot;}"/>
          <p:cNvSpPr txBox="1"/>
          <p:nvPr/>
        </p:nvSpPr>
        <p:spPr>
          <a:xfrm>
            <a:off x="78105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.issuer('fountain')                 // iss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2" name="文本框 2961" descr="{&quot;isTemplate&quot;:true,&quot;type&quot;:&quot;text&quot;}"/>
          <p:cNvSpPr txBox="1"/>
          <p:nvPr/>
        </p:nvSpPr>
        <p:spPr>
          <a:xfrm>
            <a:off x="781050" y="2733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.subject('user') / .audience('web') // sub / aud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3" name="文本框 2962" descr="{&quot;isTemplate&quot;:true,&quot;type&quot;:&quot;text&quot;}"/>
          <p:cNvSpPr txBox="1"/>
          <p:nvPr/>
        </p:nvSpPr>
        <p:spPr>
          <a:xfrm>
            <a:off x="781050" y="29718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.expire(Duration.hour)              // exp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：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Duration / Int64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秒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/ DateTime / expireAt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964" name="文本框 2963" descr="{&quot;isTemplate&quot;:true,&quot;type&quot;:&quot;text&quot;}"/>
          <p:cNvSpPr txBox="1"/>
          <p:nvPr/>
        </p:nvSpPr>
        <p:spPr>
          <a:xfrm>
            <a:off x="781050" y="34385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.notBeforeAt(DateTime.nowUTC())     // nbf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5" name="文本框 2964" descr="{&quot;isTemplate&quot;:true,&quot;type&quot;:&quot;text&quot;}"/>
          <p:cNvSpPr txBox="1"/>
          <p:nvPr/>
        </p:nvSpPr>
        <p:spPr>
          <a:xfrm>
            <a:off x="781050" y="36766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.issuedAt(DateTime.nowUTC())        // iat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6" name="文本框 2965" descr="{&quot;isTemplate&quot;:true,&quot;type&quot;:&quot;text&quot;}"/>
          <p:cNvSpPr txBox="1"/>
          <p:nvPr/>
        </p:nvSpPr>
        <p:spPr>
          <a:xfrm>
            <a:off x="781050" y="39147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.addPayload('userId', 123)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自定义负载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67" name="文本框 2966" descr="{&quot;isTemplate&quot;:true,&quot;type&quot;:&quot;text&quot;}"/>
          <p:cNvSpPr txBox="1"/>
          <p:nvPr/>
        </p:nvSpPr>
        <p:spPr>
          <a:xfrm>
            <a:off x="781050" y="41529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.sign()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68" name="矩形 2967"/>
          <p:cNvSpPr/>
          <p:nvPr/>
        </p:nvSpPr>
        <p:spPr>
          <a:xfrm>
            <a:off x="781050" y="4486275"/>
            <a:ext cx="5048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969" name="文本框 2968" descr="{&quot;isTemplate&quot;:true,&quot;type&quot;:&quot;text&quot;}"/>
          <p:cNvSpPr txBox="1"/>
          <p:nvPr/>
        </p:nvSpPr>
        <p:spPr>
          <a:xfrm>
            <a:off x="781050" y="45720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HMAC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hmacMD5 / SHA1 / SHA224 / SHA256 / SHA384 / SHA512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（各有字节数组、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Base64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、十六进制三个重载）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0" name="文本框 2969" descr="{&quot;isTemplate&quot;:true,&quot;type&quot;:&quot;text&quot;}"/>
          <p:cNvSpPr txBox="1"/>
          <p:nvPr/>
        </p:nvSpPr>
        <p:spPr>
          <a:xfrm>
            <a:off x="781050" y="50958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非对称：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ecdsa224/256/384/512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rsa256/384/512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（可指定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padType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）、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SM2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1" name="文本框 2970" descr="{&quot;isTemplate&quot;:true,&quot;type&quot;:&quot;text&quot;}"/>
          <p:cNvSpPr txBox="1"/>
          <p:nvPr/>
        </p:nvSpPr>
        <p:spPr>
          <a:xfrm>
            <a:off x="781050" y="539115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负载还可一次性塞入：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addPayload(userObject)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ObjectData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 addPayload(map)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jwtId(jti, expire:, cache: HeapJwtIdCache)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做防重放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2" name="圆角矩形 2971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73" name="文本框 2972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解码（验签）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4" name="文本框 2973" descr="{&quot;isTemplate&quot;:true,&quot;type&quot;:&quot;text&quot;}"/>
          <p:cNvSpPr txBox="1"/>
          <p:nvPr/>
        </p:nvSpPr>
        <p:spPr>
          <a:xfrm>
            <a:off x="636270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let v = JWT.verifier(token)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5" name="文本框 2974" descr="{&quot;isTemplate&quot;:true,&quot;type&quot;:&quot;text&quot;}"/>
          <p:cNvSpPr txBox="1"/>
          <p:nvPr/>
        </p:nvSpPr>
        <p:spPr>
          <a:xfrm>
            <a:off x="636270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v.getKeyId()                 // ?String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6" name="文本框 2975" descr="{&quot;isTemplate&quot;:true,&quot;type&quot;:&quot;text&quot;}"/>
          <p:cNvSpPr txBox="1"/>
          <p:nvPr/>
        </p:nvSpPr>
        <p:spPr>
          <a:xfrm>
            <a:off x="636270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v.getPayload('userId')       // ?Any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7" name="文本框 2976" descr="{&quot;isTemplate&quot;:true,&quot;type&quot;:&quot;text&quot;}"/>
          <p:cNvSpPr txBox="1"/>
          <p:nvPr/>
        </p:nvSpPr>
        <p:spPr>
          <a:xfrm>
            <a:off x="636270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v.getPayloadValue&lt;Int64&gt;('userId')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8" name="文本框 2977" descr="{&quot;isTemplate&quot;:true,&quot;type&quot;:&quot;text&quot;}"/>
          <p:cNvSpPr txBox="1"/>
          <p:nvPr/>
        </p:nvSpPr>
        <p:spPr>
          <a:xfrm>
            <a:off x="636270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v.getHeader('alg')           // ?String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79" name="文本框 2978" descr="{&quot;isTemplate&quot;:true,&quot;type&quot;:&quot;text&quot;}"/>
          <p:cNvSpPr txBox="1"/>
          <p:nvPr/>
        </p:nvSpPr>
        <p:spPr>
          <a:xfrm>
            <a:off x="6362700" y="27336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v.getExpireAt()              // ?DateTime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（还有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Duration / Seconds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80" name="文本框 2979" descr="{&quot;isTemplate&quot;:true,&quot;type&quot;:&quot;text&quot;}"/>
          <p:cNvSpPr txBox="1"/>
          <p:nvPr/>
        </p:nvSpPr>
        <p:spPr>
          <a:xfrm>
            <a:off x="6362700" y="29718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v.getNotBefore() / v.isExpired() / v.isNotBefore()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981" name="矩形 2980"/>
          <p:cNvSpPr/>
          <p:nvPr/>
        </p:nvSpPr>
        <p:spPr>
          <a:xfrm>
            <a:off x="6362700" y="3305175"/>
            <a:ext cx="5048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2982" name="文本框 2981" descr="{&quot;isTemplate&quot;:true,&quot;type&quot;:&quot;text&quot;}"/>
          <p:cNvSpPr txBox="1"/>
          <p:nvPr/>
        </p:nvSpPr>
        <p:spPr>
          <a:xfrm>
            <a:off x="6362700" y="33909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v.verifySign()            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只验签名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83" name="文本框 2982" descr="{&quot;isTemplate&quot;:true,&quot;type&quot;:&quot;text&quot;}"/>
          <p:cNvSpPr txBox="1"/>
          <p:nvPr/>
        </p:nvSpPr>
        <p:spPr>
          <a:xfrm>
            <a:off x="6362700" y="36290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v.verify()                   // exp + nbf + sign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一起验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984" name="文本框 2983" descr="{&quot;isTemplate&quot;:true,&quot;type&quot;:&quot;text&quot;}"/>
          <p:cNvSpPr txBox="1"/>
          <p:nvPr/>
        </p:nvSpPr>
        <p:spPr>
          <a:xfrm>
            <a:off x="6362700" y="38671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v.verifyIssuer('fountain') / verifySubject('user')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85" name="文本框 2984" descr="{&quot;isTemplate&quot;:true,&quot;type&quot;:&quot;text&quot;}"/>
          <p:cNvSpPr txBox="1"/>
          <p:nvPr/>
        </p:nvSpPr>
        <p:spPr>
          <a:xfrm>
            <a:off x="6362700" y="41052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v.verifyAudience('web') / verifyPayload('userId', 123)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86" name="文本框 2985" descr="{&quot;isTemplate&quot;:true,&quot;type&quot;:&quot;text&quot;}"/>
          <p:cNvSpPr txBox="1"/>
          <p:nvPr/>
        </p:nvSpPr>
        <p:spPr>
          <a:xfrm>
            <a:off x="6362700" y="43434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v.verifyId(cache)            // jti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是否有效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987" name="文本框 2986" descr="{&quot;isTemplate&quot;:true,&quot;type&quot;:&quot;text&quot;}"/>
          <p:cNvSpPr txBox="1"/>
          <p:nvPr/>
        </p:nvSpPr>
        <p:spPr>
          <a:xfrm>
            <a:off x="6362700" y="56483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verify()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已经把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nbf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、签名都检查了；没有指定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 / nbf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的字段就认为该维度当前有效。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jti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JwtIdCache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HeapJwtIdCache / NoneJwtIdCache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）可做防重放。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8" name="任意多边形 298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989" name="文本框 298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0" name="文本框 298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矩形 29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993" name="矩形 299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994" name="文本框 2993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13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f_security + f_jwt · 13.4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5" name="文本框 2994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端到端演示：登录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拿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 →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访问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6" name="文本框 2995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把调用链串一遍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7" name="圆角矩形 2996"/>
          <p:cNvSpPr/>
          <p:nvPr/>
        </p:nvSpPr>
        <p:spPr>
          <a:xfrm>
            <a:off x="609600" y="1143000"/>
            <a:ext cx="5334000" cy="800100"/>
          </a:xfrm>
          <a:prstGeom prst="roundRect">
            <a:avLst>
              <a:gd name="adj" fmla="val 1190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998" name="文本框 2997" descr="{&quot;isTemplate&quot;:true,&quot;type&quot;:&quot;text&quot;}"/>
          <p:cNvSpPr txBox="1"/>
          <p:nvPr/>
        </p:nvSpPr>
        <p:spPr>
          <a:xfrm>
            <a:off x="723900" y="1257300"/>
            <a:ext cx="266700" cy="571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3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999" name="文本框 2998" descr="{&quot;isTemplate&quot;:true,&quot;type&quot;:&quot;text&quot;}"/>
          <p:cNvSpPr txBox="1"/>
          <p:nvPr/>
        </p:nvSpPr>
        <p:spPr>
          <a:xfrm>
            <a:off x="1104900" y="1257300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注册（表单）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0" name="文本框 2999" descr="{&quot;isTemplate&quot;:true,&quot;type&quot;:&quot;text&quot;}"/>
          <p:cNvSpPr txBox="1"/>
          <p:nvPr/>
        </p:nvSpPr>
        <p:spPr>
          <a:xfrm>
            <a:off x="1104900" y="1419225"/>
            <a:ext cx="47244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curl -XPOST .../api/user/register -H 'Content-Type:application/x-www-form-urlencoded' -d 'username=abcdef&amp;password=bcbcbcbc'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001" name="圆角矩形 3000"/>
          <p:cNvSpPr/>
          <p:nvPr/>
        </p:nvSpPr>
        <p:spPr>
          <a:xfrm>
            <a:off x="609600" y="2057400"/>
            <a:ext cx="5334000" cy="800100"/>
          </a:xfrm>
          <a:prstGeom prst="roundRect">
            <a:avLst>
              <a:gd name="adj" fmla="val 11905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002" name="文本框 3001" descr="{&quot;isTemplate&quot;:true,&quot;type&quot;:&quot;text&quot;}"/>
          <p:cNvSpPr txBox="1"/>
          <p:nvPr/>
        </p:nvSpPr>
        <p:spPr>
          <a:xfrm>
            <a:off x="723900" y="2171700"/>
            <a:ext cx="266700" cy="571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3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003" name="文本框 3002" descr="{&quot;isTemplate&quot;:true,&quot;type&quot;:&quot;text&quot;}"/>
          <p:cNvSpPr txBox="1"/>
          <p:nvPr/>
        </p:nvSpPr>
        <p:spPr>
          <a:xfrm>
            <a:off x="1104900" y="2171700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登录（返回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grep / cut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抽出来存变量）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4" name="文本框 3003" descr="{&quot;isTemplate&quot;:true,&quot;type&quot;:&quot;text&quot;}"/>
          <p:cNvSpPr txBox="1"/>
          <p:nvPr/>
        </p:nvSpPr>
        <p:spPr>
          <a:xfrm>
            <a:off x="1104900" y="2333625"/>
            <a:ext cx="472440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JWT=$(curl -s -XPOST .../api/user/session -d '{"username":"abcdef",...}' | grep -o '"jwt":"[^"]*"' | cut -d'"' -f4)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005" name="圆角矩形 3004"/>
          <p:cNvSpPr/>
          <p:nvPr/>
        </p:nvSpPr>
        <p:spPr>
          <a:xfrm>
            <a:off x="609600" y="2971800"/>
            <a:ext cx="5334000" cy="600075"/>
          </a:xfrm>
          <a:prstGeom prst="roundRect">
            <a:avLst>
              <a:gd name="adj" fmla="val 15873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006" name="文本框 3005" descr="{&quot;isTemplate&quot;:true,&quot;type&quot;:&quot;text&quot;}"/>
          <p:cNvSpPr txBox="1"/>
          <p:nvPr/>
        </p:nvSpPr>
        <p:spPr>
          <a:xfrm>
            <a:off x="723900" y="3086100"/>
            <a:ext cx="2667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9E0B"/>
                </a:solidFill>
                <a:latin typeface="JetBrains Mono"/>
                <a:ea typeface="JetBrains Mono"/>
              </a:rPr>
              <a:t>3</a:t>
            </a:r>
            <a:endParaRPr lang="en-US" sz="135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07" name="文本框 3006" descr="{&quot;isTemplate&quot;:true,&quot;type&quot;:&quot;text&quot;}"/>
          <p:cNvSpPr txBox="1"/>
          <p:nvPr/>
        </p:nvSpPr>
        <p:spPr>
          <a:xfrm>
            <a:off x="1104900" y="3086100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不带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8" name="文本框 3007" descr="{&quot;isTemplate&quot;:true,&quot;type&quot;:&quot;text&quot;}"/>
          <p:cNvSpPr txBox="1"/>
          <p:nvPr/>
        </p:nvSpPr>
        <p:spPr>
          <a:xfrm>
            <a:off x="1104900" y="3248025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curl -i ... /api/user/1</a:t>
            </a:r>
            <a:r>
              <a:rPr lang="zh-CN" sz="825">
                <a:solidFill>
                  <a:srgbClr val="F59E0B"/>
                </a:solidFill>
                <a:latin typeface="JetBrains Mono"/>
                <a:ea typeface="JetBrains Mono"/>
              </a:rPr>
              <a:t>　→　</a:t>
            </a: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401 Unauthorized</a:t>
            </a:r>
            <a:r>
              <a:rPr lang="zh-CN" sz="8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+</a:t>
            </a:r>
            <a:r>
              <a:rPr lang="zh-CN" sz="82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{ "status":-1 }</a:t>
            </a:r>
            <a:endParaRPr lang="en-US" sz="8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009" name="圆角矩形 3008"/>
          <p:cNvSpPr/>
          <p:nvPr/>
        </p:nvSpPr>
        <p:spPr>
          <a:xfrm>
            <a:off x="609600" y="3686175"/>
            <a:ext cx="5334000" cy="600075"/>
          </a:xfrm>
          <a:prstGeom prst="roundRect">
            <a:avLst>
              <a:gd name="adj" fmla="val 15873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010" name="文本框 3009" descr="{&quot;isTemplate&quot;:true,&quot;type&quot;:&quot;text&quot;}"/>
          <p:cNvSpPr txBox="1"/>
          <p:nvPr/>
        </p:nvSpPr>
        <p:spPr>
          <a:xfrm>
            <a:off x="723900" y="3800475"/>
            <a:ext cx="2667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3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011" name="文本框 3010" descr="{&quot;isTemplate&quot;:true,&quot;type&quot;:&quot;text&quot;}"/>
          <p:cNvSpPr txBox="1"/>
          <p:nvPr/>
        </p:nvSpPr>
        <p:spPr>
          <a:xfrm>
            <a:off x="1104900" y="3800475"/>
            <a:ext cx="472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带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JWT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2" name="文本框 3011" descr="{&quot;isTemplate&quot;:true,&quot;type&quot;:&quot;text&quot;}"/>
          <p:cNvSpPr txBox="1"/>
          <p:nvPr/>
        </p:nvSpPr>
        <p:spPr>
          <a:xfrm>
            <a:off x="1104900" y="3962400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curl -i -H "Authorization: $JWT" ... /api/user/1</a:t>
            </a:r>
            <a:r>
              <a:rPr lang="zh-CN" sz="825">
                <a:solidFill>
                  <a:srgbClr val="22D3EE"/>
                </a:solidFill>
                <a:latin typeface="JetBrains Mono"/>
                <a:ea typeface="JetBrains Mono"/>
              </a:rPr>
              <a:t>　→　</a:t>
            </a: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200 + </a:t>
            </a:r>
            <a:r>
              <a:rPr lang="zh-CN" sz="825">
                <a:solidFill>
                  <a:srgbClr val="22D3EE"/>
                </a:solidFill>
                <a:latin typeface="JetBrains Mono"/>
                <a:ea typeface="JetBrains Mono"/>
              </a:rPr>
              <a:t>用户</a:t>
            </a:r>
            <a:r>
              <a:rPr lang="en-US" sz="825">
                <a:solidFill>
                  <a:srgbClr val="22D3EE"/>
                </a:solidFill>
                <a:latin typeface="JetBrains Mono"/>
                <a:ea typeface="JetBrains Mono"/>
              </a:rPr>
              <a:t> JSON</a:t>
            </a:r>
            <a:endParaRPr lang="en-US" sz="8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3013" name="圆角矩形 3012"/>
          <p:cNvSpPr/>
          <p:nvPr/>
        </p:nvSpPr>
        <p:spPr>
          <a:xfrm>
            <a:off x="609600" y="4400550"/>
            <a:ext cx="5334000" cy="2181225"/>
          </a:xfrm>
          <a:prstGeom prst="roundRect">
            <a:avLst>
              <a:gd name="adj" fmla="val 524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014" name="文本框 3013" descr="{&quot;isTemplate&quot;:true,&quot;type&quot;:&quot;text&quot;}"/>
          <p:cNvSpPr txBox="1"/>
          <p:nvPr/>
        </p:nvSpPr>
        <p:spPr>
          <a:xfrm>
            <a:off x="762000" y="4552950"/>
            <a:ext cx="5029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调用链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5" name="文本框 3014" descr="{&quot;isTemplate&quot;:true,&quot;type&quot;:&quot;text&quot;}"/>
          <p:cNvSpPr txBox="1"/>
          <p:nvPr/>
        </p:nvSpPr>
        <p:spPr>
          <a:xfrm>
            <a:off x="762000" y="4714875"/>
            <a:ext cx="5029200" cy="1714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HTTP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请求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→ MVC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路由到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UserController.queryUser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AuthHandlerProxy.check(AuthParam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{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ignoreAuth:false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AuthCheckerImpl.check → UserSessionCache.verify()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JWTSecurityContext.check(())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　　├─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从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CurrentHttpContext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拿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Authorization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头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　　├─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JWT.verifier(token).verify()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（验签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+ exp + nbf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　　└─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用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principal.key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做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HMAC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密钥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  <a:p>
            <a:pPr>
              <a:lnSpc>
                <a:spcPct val="170000"/>
              </a:lnSpc>
            </a:pP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→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OK →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才进入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queryUser → Service → DAO → DB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016" name="圆角矩形 3015"/>
          <p:cNvSpPr/>
          <p:nvPr/>
        </p:nvSpPr>
        <p:spPr>
          <a:xfrm>
            <a:off x="6134100" y="1143000"/>
            <a:ext cx="54483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017" name="文本框 3016" descr="{&quot;isTemplate&quot;:true,&quot;type&quot;:&quot;text&quot;}"/>
          <p:cNvSpPr txBox="1"/>
          <p:nvPr/>
        </p:nvSpPr>
        <p:spPr>
          <a:xfrm>
            <a:off x="6324600" y="1333500"/>
            <a:ext cx="5067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这一条链就是安全的全部流程</a:t>
            </a:r>
            <a:endParaRPr lang="zh-CN" sz="12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8" name="文本框 3017" descr="{&quot;isTemplate&quot;:true,&quot;type&quot;:&quot;text&quot;}"/>
          <p:cNvSpPr txBox="1"/>
          <p:nvPr/>
        </p:nvSpPr>
        <p:spPr>
          <a:xfrm>
            <a:off x="6324600" y="1638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路由到了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，但先不走业务。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9" name="文本框 3018" descr="{&quot;isTemplate&quot;:true,&quot;type&quot;:&quot;text&quot;}"/>
          <p:cNvSpPr txBox="1"/>
          <p:nvPr/>
        </p:nvSpPr>
        <p:spPr>
          <a:xfrm>
            <a:off x="6324600" y="2019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代理拿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AuthParam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去问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handler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0" name="文本框 3019" descr="{&quot;isTemplate&quot;:true,&quot;type&quot;:&quot;text&quot;}"/>
          <p:cNvSpPr txBox="1"/>
          <p:nvPr/>
        </p:nvSpPr>
        <p:spPr>
          <a:xfrm>
            <a:off x="6324600" y="2400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③ handler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调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verify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verify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从当前请求上下文取头。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1" name="文本框 3020" descr="{&quot;isTemplate&quot;:true,&quot;type&quot;:&quot;text&quot;}"/>
          <p:cNvSpPr txBox="1"/>
          <p:nvPr/>
        </p:nvSpPr>
        <p:spPr>
          <a:xfrm>
            <a:off x="6324600" y="2781300"/>
            <a:ext cx="50673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④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验签、验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exp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nbf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，再用会话自己的密钥验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HMAC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2" name="文本框 3021" descr="{&quot;isTemplate&quot;:true,&quot;type&quot;:&quot;text&quot;}"/>
          <p:cNvSpPr txBox="1"/>
          <p:nvPr/>
        </p:nvSpPr>
        <p:spPr>
          <a:xfrm>
            <a:off x="6324600" y="3200400"/>
            <a:ext cx="5067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全通过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才进业务；任一步失败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直接按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AuthStatus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返回响应，业务代码一行都不执行。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3" name="文本框 3022" descr="{&quot;isTemplate&quot;:true,&quot;type&quot;:&quot;text&quot;}"/>
          <p:cNvSpPr txBox="1"/>
          <p:nvPr/>
        </p:nvSpPr>
        <p:spPr>
          <a:xfrm>
            <a:off x="6324600" y="5495925"/>
            <a:ext cx="5067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放行的两种写法：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@IgnoreSecurity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注解，或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Mapping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属性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ignoreAuth / ignorePrivilege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4" name="任意多边形 302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025" name="文本框 302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6" name="文本框 302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17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安全与 JWT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MVC 怎么挑 handler —— 第 3 步通过后第 4 步不执行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用 JWT 维持登录状态：每个会话一把密钥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f_jwt 的编码与解码 API　·　端到端演示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下一讲：定时任务与日志开场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