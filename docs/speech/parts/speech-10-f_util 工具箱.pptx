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  <p:sldId id="261" r:id="rIdSl6"/>
    <p:sldId id="262" r:id="rIdSl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Relationship Id="rIdSl7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这一讲讲 f_util 的主体。CaseFormat 是六种命名风格两两互转，ORM 的列名转换底层用的就是它。TextTemplate 是文本模板，支持时间、数字、正则三种高级占位符。PathPattern 是 MVC 路由的引擎，匹配优先级从字符串相等一路排到跨多级双星。TreeTransformer 一行把平铺列表变成树。最后是三个现成的设计模式骨架。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CaseFormat 是命名风格互转，六种风格两两互转：Pascal、Camel、小写下划线、大写下划线、小写连字符、大写连字符。看左边的例子，同一个 CaseFormat 这个 Pascal 串，转成驼峰是小写开头的 caseFormat，转成小写下划线是 case_format，转成大写下划线是 CASE_FORMAT，连字符同理。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这里有一个「原来如此」的时刻：还记得后面 ORM 里的 @ORMField 和 @QueryMappersGenerator 吗？它们底层用的就是这个 CaseFormat，完成默认的类成员名与表列名转换。所以当你自己写命名策略、写代码生成器、写导入导出工具时，直接用同一个枚举，命名风格就和框架生成的一致了。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TextTemplate 是文本模板，短信、邮件、推送文案、固定格式报文，别再拼字符串了。它有两种编译方式：一种是用一对井号包含变量，另一种是用前缀后缀包含变量，默认是美元加大括号。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format 方法接受多种数据源：数组、ArrayList、HashMap、TreeMap、LinkedHashMap、并发 Map，以及实现了 ObjectData 的对象。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占位符有三种高级形态。时间用冒号加格式，把日期按指定格式格式化。数字用格式串加舍入模式，井号的数量表示位数，点表示小数点，还支持八进制、十六进制、科学计数、正数前置加号、负数用括号。正则用冒号加正则，用来匹配 Map 的 key，注意只接受 Map 作为数据源。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还有两个细节：点分隔的路径占位符，比如 a 点 0 点 b 点 c，表示取参数 a 属性（数组或 List）索引 0 的 b 属性的 c 属性；以及 noneConverter，占位符在数据源里找不到时用它兜底。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最后提醒一个坑：它实现上依赖线程本地 StringBuilder。如果你的方法本身也在用那个拼字符串，不要在那个方法内嵌套调用 TextTemplate。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PathPattern 是 MVC 路由的引擎。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你在 MVC 里写的 /api/user/{id}，能匹配到 /api/user/1 并抽出 id 等于 1——干这件事的就是 PathPattern。不只 MVC 能用，任何「按路径找数据」的场景都能用：静态资源路由、网关转发规则、日志文件路径归集。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核心 API 看一眼：compile 注册路径并可以挂任意数据，handler、配置、元数据都行；compileIfAbsent 是不存在才注册；data 和 dataByPrefix 按路径取出挂的数据；matches 和 matchesPrefix 判断是否匹配；extractVariableInPath 取单个路径变量；extractVariablesInPath 取全部；extractTimeVariableInPath 直接把路径变量解析成 DateTime；还有两个按 Parsable 和 DataParsable 解析的版本。各函数都有 withExtName 重载，决定是否把扩展名当作路径的一部分。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匹配优先级从高到低：字符串相等最高；然后是单级多字符的星号、单级单字符的问号、单级正则，这三个同级；再是独占一整级的单星；然后是占位符和带星占位符，这两个同级；最低是跨多级的双星。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规则补充：只能匹配绝对路径，不以斜杠开头也按斜杠开头处理；连续多个斜杠会合并成一个；带正则的占位符自带约束；正则那一节不会作为路径变量。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TreeTransformer 解决的是平铺列表变树。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菜单树、组织树、分类树、评论楼层——数据库查出来永远是平铺的 List，前端要的是树。这段代码你大概写过无数遍，TreeTransformer 把它变成一个静态函数调用。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用法两步。第一步，让你的树节点类实现 TreeNode，泛型是 ID 和自身类型，需要提供 children、id、parentId 三个成员，addChild 有默认实现。第二步，一行把 DAO 查出来的平铺列表变成森林：调用静态 transform，传平铺列表、传 emptyId，再传一个转换函数把 PO 转成树节点。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参数含义：emptyId 是「根节点的 parentId 值」，通常是零或者负一；ignoreDuplicate 为 true 时，遇到重复 id 会跳过而不是抛异常；transferFn 负责把源元素转成树节点，返回 None 会抛 IllegalArgumentException。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不带 transferFn 的重载等价于直接把源元素当作树节点转换。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设计模式这种东西，道理大家都懂，但每次都要写一遍接口加注册表。f_util 直接给了骨架，讲三个。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第一个是工厂模式。Producer 接口有两个 produce 方法，一个无参一个带参，默认都抛异常。Factory 提供 assemble 和 produce：assemble 用 TypeInfo.of 当 KEY 注册生产者，produce 按目标类型取——所以它是「按类型分派的工厂」。取不到会抛 TypeNotMatchException。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第二个是策略模式。Strategy 接口有 name 和 execute 两个成员，name 是策略标识。Strategies 提供 register 和 execute，execute 按名字找策略，找不到抛 IllegalAccessException。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它和 IOC 的 lookupLables 是互补的两种做法：要 bean 的完整生命周期管理，用 IOC；只是想按 key 分派一段逻辑，用 Strategies 更轻。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第三个是责任链模式。Responsibility 有 check 和 execute，check 决定是否由本策略处理。ResponsibilityChain 提供 register 和两个执行方法：execute 是「找到第一个能处理的就执行」，executeAll 是「所有符合条件的都执行一遍」。后者特别适合多级校验、多环节加工。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还有两个顺带的：中介者模式，Colleague 有 name，Mediator 用参数里的 name 找策略并执行；状态模式，State 有 continues、data、exec、startup。</a:t>
            </a:r>
            <a:endParaRPr lang="zh-CN" dirty="0"/>
          </a:p>
          <a:p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f_util 里还有一批工具，快速过一遍。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crc16、crc32、crc64 是循环冗余校验，做数据完整性校验和短摘要。CityHash、MurmurHash3X128、wyhash 是高性能非加密哈希，做分库分表路由、布隆过滤器。UInt128 是 128 位无符号整数，也是 MurmurHash3X128 的返回值类型。geohash 做经纬度编码，用来实现「附近的人」和网格聚合。DiffieHellmanKeyExchanger 是密钥交换协议，细节在工具模块的文档里有。prime 是素数判定与生成。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这四个东西看起来零碎，但每一个都对应一类你迟早会用到的需求。它们的共同点是：零依赖、零配置、拿来即用——这也是 f_util 的设计原则：不绑架你的架构，只消灭重复劳动。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这一讲四个要点：一，写代码生成器时用同一个 CaseFormat 枚举，命名风格才会和框架生成的一致；二，PathPattern 的优先级是「字符串相等最高、跨多级双星最低」，MVC 路由就靠它；三，TreeTransformer 只要节点类实现 TreeNode、提供 id 和 parentId 就够了；四，注意源码拼写是 Responsibility，少一个 n。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7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10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10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f_util 工具箱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CaseFormat 命名风格互转　·　TextTemplate 文本模板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PathPattern：MVC 路由的引擎与匹配优先级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TreeTransformer：平铺列表变树　·　三个设计模式骨架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10 讲 / 共 25 讲　·　原稿第 57–61 页 + 首尾两页　·　约 14.4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矩形 18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852" name="矩形 185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853" name="文本框 1852" descr="{&quot;isTemplate&quot;:true,&quot;type&quot;:&quot;text&quot;}"/>
          <p:cNvSpPr txBox="1"/>
          <p:nvPr/>
        </p:nvSpPr>
        <p:spPr>
          <a:xfrm>
            <a:off x="819150" y="304800"/>
            <a:ext cx="94964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9.5 / 9.6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4" name="文本框 1853" descr="{&quot;isTemplate&quot;:true,&quot;type&quot;:&quot;text&quot;}"/>
          <p:cNvSpPr txBox="1"/>
          <p:nvPr/>
        </p:nvSpPr>
        <p:spPr>
          <a:xfrm>
            <a:off x="819150" y="514350"/>
            <a:ext cx="94964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CaseFormat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TextTemplate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5" name="文本框 1854" descr="{&quot;isTemplate&quot;:true,&quot;type&quot;:&quot;text&quot;}"/>
          <p:cNvSpPr txBox="1"/>
          <p:nvPr/>
        </p:nvSpPr>
        <p:spPr>
          <a:xfrm>
            <a:off x="10487025" y="590550"/>
            <a:ext cx="10953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命名风格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文本模板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6" name="圆角矩形 1855"/>
          <p:cNvSpPr/>
          <p:nvPr/>
        </p:nvSpPr>
        <p:spPr>
          <a:xfrm>
            <a:off x="609600" y="1143000"/>
            <a:ext cx="5334000" cy="3571875"/>
          </a:xfrm>
          <a:prstGeom prst="roundRect">
            <a:avLst>
              <a:gd name="adj" fmla="val 32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57" name="文本框 1856" descr="{&quot;isTemplate&quot;:true,&quot;type&quot;:&quot;text&quot;}"/>
          <p:cNvSpPr txBox="1"/>
          <p:nvPr/>
        </p:nvSpPr>
        <p:spPr>
          <a:xfrm>
            <a:off x="781050" y="1314450"/>
            <a:ext cx="4991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CaseFormat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：六种风格两两互转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8" name="文本框 1857" descr="{&quot;isTemplate&quot;:true,&quot;type&quot;:&quot;text&quot;}"/>
          <p:cNvSpPr txBox="1"/>
          <p:nvPr/>
        </p:nvSpPr>
        <p:spPr>
          <a:xfrm>
            <a:off x="781050" y="1543050"/>
            <a:ext cx="49911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Pascal.convert("CaseFormat", to: CaseFormat.Camel)           // "caseFormat"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59" name="文本框 1858" descr="{&quot;isTemplate&quot;:true,&quot;type&quot;:&quot;text&quot;}"/>
          <p:cNvSpPr txBox="1"/>
          <p:nvPr/>
        </p:nvSpPr>
        <p:spPr>
          <a:xfrm>
            <a:off x="781050" y="1990725"/>
            <a:ext cx="49911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Pascal.convert("CaseFormat", to: CaseFormat.LowerUnderScore) // "case_format"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60" name="文本框 1859" descr="{&quot;isTemplate&quot;:true,&quot;type&quot;:&quot;text&quot;}"/>
          <p:cNvSpPr txBox="1"/>
          <p:nvPr/>
        </p:nvSpPr>
        <p:spPr>
          <a:xfrm>
            <a:off x="781050" y="2438400"/>
            <a:ext cx="49911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Pascal.convert("CaseFormat", to: CaseFormat.UpperUnderScore) // "CASE_FORMAT"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61" name="文本框 1860" descr="{&quot;isTemplate&quot;:true,&quot;type&quot;:&quot;text&quot;}"/>
          <p:cNvSpPr txBox="1"/>
          <p:nvPr/>
        </p:nvSpPr>
        <p:spPr>
          <a:xfrm>
            <a:off x="781050" y="2886075"/>
            <a:ext cx="49911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Pascal.convert("CaseFormat", to: CaseFormat.LowerHyphen)     // "case-format"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62" name="文本框 1861" descr="{&quot;isTemplate&quot;:true,&quot;type&quot;:&quot;text&quot;}"/>
          <p:cNvSpPr txBox="1"/>
          <p:nvPr/>
        </p:nvSpPr>
        <p:spPr>
          <a:xfrm>
            <a:off x="781050" y="3333750"/>
            <a:ext cx="49911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Pascal.convert("CaseFormat", to: CaseFormat.UpperHyphen)     // "CASE-FORMAT"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63" name="文本框 1862" descr="{&quot;isTemplate&quot;:true,&quot;type&quot;:&quot;text&quot;}"/>
          <p:cNvSpPr txBox="1"/>
          <p:nvPr/>
        </p:nvSpPr>
        <p:spPr>
          <a:xfrm>
            <a:off x="781050" y="3781425"/>
            <a:ext cx="4991100" cy="762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@ORMField[LowerUnderScore]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@QueryMappersGenerator[table: LowerUnderScore]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底层用的就是它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自己写代码生成器时用同一个枚举，风格就和框架一致。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4" name="圆角矩形 1863"/>
          <p:cNvSpPr/>
          <p:nvPr/>
        </p:nvSpPr>
        <p:spPr>
          <a:xfrm>
            <a:off x="6096000" y="1143000"/>
            <a:ext cx="5486400" cy="2857500"/>
          </a:xfrm>
          <a:prstGeom prst="roundRect">
            <a:avLst>
              <a:gd name="adj" fmla="val 4000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865" name="文本框 1864" descr="{&quot;isTemplate&quot;:true,&quot;type&quot;:&quot;text&quot;}"/>
          <p:cNvSpPr txBox="1"/>
          <p:nvPr/>
        </p:nvSpPr>
        <p:spPr>
          <a:xfrm>
            <a:off x="6267450" y="1314450"/>
            <a:ext cx="5143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占位符的三种高级形态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6" name="文本框 1865" descr="{&quot;isTemplate&quot;:true,&quot;type&quot;:&quot;text&quot;}"/>
          <p:cNvSpPr txBox="1"/>
          <p:nvPr/>
        </p:nvSpPr>
        <p:spPr>
          <a:xfrm>
            <a:off x="6267450" y="1581150"/>
            <a:ext cx="5143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时间　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${time:yyyy/MM/dd}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按指定格式格式化日期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7" name="文本框 1866" descr="{&quot;isTemplate&quot;:true,&quot;type&quot;:&quot;text&quot;}"/>
          <p:cNvSpPr txBox="1"/>
          <p:nvPr/>
        </p:nvSpPr>
        <p:spPr>
          <a:xfrm>
            <a:off x="6267450" y="1905000"/>
            <a:ext cx="51435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数字　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${number:##.##,HALF_UP}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支持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o/O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八进制、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x/X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十六进制、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e/E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科学计数、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前置加号、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(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负数括号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8" name="文本框 1867" descr="{&quot;isTemplate&quot;:true,&quot;type&quot;:&quot;text&quot;}"/>
          <p:cNvSpPr txBox="1"/>
          <p:nvPr/>
        </p:nvSpPr>
        <p:spPr>
          <a:xfrm>
            <a:off x="6267450" y="2486025"/>
            <a:ext cx="5143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正则　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${regex:.*_name}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只接受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Map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作为数据源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9" name="文本框 1868" descr="{&quot;isTemplate&quot;:true,&quot;type&quot;:&quot;text&quot;}"/>
          <p:cNvSpPr txBox="1"/>
          <p:nvPr/>
        </p:nvSpPr>
        <p:spPr>
          <a:xfrm>
            <a:off x="6267450" y="3571875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路径占位符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a.0.b.c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可以逐层取值；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noneConverter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用于占位符找不到时的兜底。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0" name="圆角矩形 1869"/>
          <p:cNvSpPr/>
          <p:nvPr/>
        </p:nvSpPr>
        <p:spPr>
          <a:xfrm>
            <a:off x="609600" y="4152900"/>
            <a:ext cx="10972800" cy="2133600"/>
          </a:xfrm>
          <a:prstGeom prst="roundRect">
            <a:avLst>
              <a:gd name="adj" fmla="val 535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71" name="文本框 1870" descr="{&quot;isTemplate&quot;:true,&quot;type&quot;:&quot;text&quot;}"/>
          <p:cNvSpPr txBox="1"/>
          <p:nvPr/>
        </p:nvSpPr>
        <p:spPr>
          <a:xfrm>
            <a:off x="781050" y="432435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TextTemplate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：别再拼字符串了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2" name="文本框 1871" descr="{&quot;isTemplate&quot;:true,&quot;type&quot;:&quot;text&quot;}"/>
          <p:cNvSpPr txBox="1"/>
          <p:nvPr/>
        </p:nvSpPr>
        <p:spPr>
          <a:xfrm>
            <a:off x="781050" y="45529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TextTemplate.compile(template, placeholder! = '#')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//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一对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#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包含变量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73" name="文本框 1872" descr="{&quot;isTemplate&quot;:true,&quot;type&quot;:&quot;text&quot;}"/>
          <p:cNvSpPr txBox="1"/>
          <p:nvPr/>
        </p:nvSpPr>
        <p:spPr>
          <a:xfrm>
            <a:off x="781050" y="47815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TextTemplate.compile(template: String, prefix!: String = "${", suffix!: String = "}")  // prefix/suffix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包含变量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74" name="文本框 1873" descr="{&quot;isTemplate&quot;:true,&quot;type&quot;:&quot;text&quot;}"/>
          <p:cNvSpPr txBox="1"/>
          <p:nvPr/>
        </p:nvSpPr>
        <p:spPr>
          <a:xfrm>
            <a:off x="781050" y="50101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format&lt;T&gt;(data: Array | ArrayList | HashMap | TreeMap | LinkedHashMap |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并发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Map) : String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875" name="文本框 1874" descr="{&quot;isTemplate&quot;:true,&quot;type&quot;:&quot;text&quot;}"/>
          <p:cNvSpPr txBox="1"/>
          <p:nvPr/>
        </p:nvSpPr>
        <p:spPr>
          <a:xfrm>
            <a:off x="781050" y="52387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compile("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亲爱的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${name}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，您于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${time:yyyy/MM/dd}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消费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${number:##.##}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元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")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76" name="文本框 1875" descr="{&quot;isTemplate&quot;:true,&quot;type&quot;:&quot;text&quot;}"/>
          <p:cNvSpPr txBox="1"/>
          <p:nvPr/>
        </p:nvSpPr>
        <p:spPr>
          <a:xfrm>
            <a:off x="781050" y="5857875"/>
            <a:ext cx="10629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⚠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实现上依赖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ThreadLocalStringBuilder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：方法内不要嵌套调用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TextTemplate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7" name="任意多边形 187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878" name="文本框 187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9" name="文本框 187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矩形 18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882" name="矩形 188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883" name="文本框 1882" descr="{&quot;isTemplate&quot;:true,&quot;type&quot;:&quot;text&quot;}"/>
          <p:cNvSpPr txBox="1"/>
          <p:nvPr/>
        </p:nvSpPr>
        <p:spPr>
          <a:xfrm>
            <a:off x="819150" y="304800"/>
            <a:ext cx="9029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9.7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4" name="文本框 1883" descr="{&quot;isTemplate&quot;:true,&quot;type&quot;:&quot;text&quot;}"/>
          <p:cNvSpPr txBox="1"/>
          <p:nvPr/>
        </p:nvSpPr>
        <p:spPr>
          <a:xfrm>
            <a:off x="819150" y="514350"/>
            <a:ext cx="90297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PathPattern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路由的引擎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5" name="文本框 1884" descr="{&quot;isTemplate&quot;:true,&quot;type&quot;:&quot;text&quot;}"/>
          <p:cNvSpPr txBox="1"/>
          <p:nvPr/>
        </p:nvSpPr>
        <p:spPr>
          <a:xfrm>
            <a:off x="10020300" y="590550"/>
            <a:ext cx="1562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从生产环境的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Java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实现移植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6" name="圆角矩形 1885"/>
          <p:cNvSpPr/>
          <p:nvPr/>
        </p:nvSpPr>
        <p:spPr>
          <a:xfrm>
            <a:off x="609600" y="1143000"/>
            <a:ext cx="5334000" cy="1295400"/>
          </a:xfrm>
          <a:prstGeom prst="roundRect">
            <a:avLst>
              <a:gd name="adj" fmla="val 882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87" name="文本框 1886" descr="{&quot;isTemplate&quot;:true,&quot;type&quot;:&quot;text&quot;}"/>
          <p:cNvSpPr txBox="1"/>
          <p:nvPr/>
        </p:nvSpPr>
        <p:spPr>
          <a:xfrm>
            <a:off x="781050" y="131445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patterns = PathPattern()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88" name="文本框 1887" descr="{&quot;isTemplate&quot;:true,&quot;type&quot;:&quot;text&quot;}"/>
          <p:cNvSpPr txBox="1"/>
          <p:nvPr/>
        </p:nvSpPr>
        <p:spPr>
          <a:xfrm>
            <a:off x="781050" y="155257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patterns.compileIfAbsent('/api/user/{id}'){ handler 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89" name="文本框 1888" descr="{&quot;isTemplate&quot;:true,&quot;type&quot;:&quot;text&quot;}"/>
          <p:cNvSpPr txBox="1"/>
          <p:nvPr/>
        </p:nvSpPr>
        <p:spPr>
          <a:xfrm>
            <a:off x="781050" y="179070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patterns.data&lt;Handler&gt;('/api/user/1')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90" name="文本框 1889" descr="{&quot;isTemplate&quot;:true,&quot;type&quot;:&quot;text&quot;}"/>
          <p:cNvSpPr txBox="1"/>
          <p:nvPr/>
        </p:nvSpPr>
        <p:spPr>
          <a:xfrm>
            <a:off x="781050" y="202882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patterns.extractVariableInPath('/api/user/1', 'id')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graphicFrame>
        <p:nvGraphicFramePr>
          <p:cNvPr id="1891" name="表格 1890"/>
          <p:cNvGraphicFramePr/>
          <p:nvPr/>
        </p:nvGraphicFramePr>
        <p:xfrm>
          <a:off x="609600" y="2571750"/>
          <a:ext cx="5334000" cy="3714750"/>
        </p:xfrm>
        <a:graphic>
          <a:graphicData uri="http://schemas.openxmlformats.org/drawingml/2006/table">
            <a:tbl>
              <a:tblPr/>
              <a:tblGrid>
                <a:gridCol w="2589220"/>
                <a:gridCol w="2744780"/>
              </a:tblGrid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函数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作用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9858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compile(path) / compile(path, data)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注册路径（可挂任意数据：handler / 配置 / 元数据）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compileIfAbsent(path, supplier)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不存在才注册，返回已存在 / 新建的数据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data&lt;T&gt;(path) / dataByPrefix&lt;T&gt;(path)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按路径取出挂的数据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matches(path) / matchesPrefix(path)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是否匹配 / 是否前缀匹配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extractVariableInPath(path, name)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取单个路径变量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extractVariablesInPath(path)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取全部路径变量（Map）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858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extractTimeVariableInPath(path, name, format)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把路径变量直接解析成 DateTime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extractParsable / extractDataParsable…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解析成 Parsable / DataParsable 类型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892" name="表格 1891"/>
          <p:cNvGraphicFramePr/>
          <p:nvPr/>
        </p:nvGraphicFramePr>
        <p:xfrm>
          <a:off x="6096000" y="1143000"/>
          <a:ext cx="5486400" cy="3028950"/>
        </p:xfrm>
        <a:graphic>
          <a:graphicData uri="http://schemas.openxmlformats.org/drawingml/2006/table">
            <a:tbl>
              <a:tblPr/>
              <a:tblGrid>
                <a:gridCol w="660088"/>
                <a:gridCol w="2230837"/>
                <a:gridCol w="2595475"/>
              </a:tblGrid>
              <a:tr h="41330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优先级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模式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例子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1330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a（最高）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字符串相等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/api/user/list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8787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 = c = d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单级多字符 * / 单级单字符 ? / 单级正则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/api/*.json　/api/user/?　/api/{#regex:\d+}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30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 * （独占一整级）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/api/*/detail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30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 = g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{name} 占位符 / {*name}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/api/user/{id}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8787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h（最低）</a:t>
                      </a:r>
                      <a:endParaRPr sz="975">
                        <a:solidFill>
                          <a:srgbClr val="64748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** （跨多级）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/static/**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93" name="圆角矩形 1892"/>
          <p:cNvSpPr/>
          <p:nvPr/>
        </p:nvSpPr>
        <p:spPr>
          <a:xfrm>
            <a:off x="6096000" y="4305300"/>
            <a:ext cx="5486400" cy="1981200"/>
          </a:xfrm>
          <a:prstGeom prst="roundRect">
            <a:avLst>
              <a:gd name="adj" fmla="val 5769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894" name="文本框 1893" descr="{&quot;isTemplate&quot;:true,&quot;type&quot;:&quot;text&quot;}"/>
          <p:cNvSpPr txBox="1"/>
          <p:nvPr/>
        </p:nvSpPr>
        <p:spPr>
          <a:xfrm>
            <a:off x="6267450" y="4476750"/>
            <a:ext cx="5143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规则补充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5" name="文本框 1894" descr="{&quot;isTemplate&quot;:true,&quot;type&quot;:&quot;text&quot;}"/>
          <p:cNvSpPr txBox="1"/>
          <p:nvPr/>
        </p:nvSpPr>
        <p:spPr>
          <a:xfrm>
            <a:off x="6267450" y="4724400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只能匹配绝对路径（不以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开头也按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开头处理）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6" name="文本框 1895" descr="{&quot;isTemplate&quot;:true,&quot;type&quot;:&quot;text&quot;}"/>
          <p:cNvSpPr txBox="1"/>
          <p:nvPr/>
        </p:nvSpPr>
        <p:spPr>
          <a:xfrm>
            <a:off x="6267450" y="5038725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连续多个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会合并成一个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7" name="文本框 1896" descr="{&quot;isTemplate&quot;:true,&quot;type&quot;:&quot;text&quot;}"/>
          <p:cNvSpPr txBox="1"/>
          <p:nvPr/>
        </p:nvSpPr>
        <p:spPr>
          <a:xfrm>
            <a:off x="6267450" y="5353050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{name:regex}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形式的占位符自带正则约束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8" name="文本框 1897" descr="{&quot;isTemplate&quot;:true,&quot;type&quot;:&quot;text&quot;}"/>
          <p:cNvSpPr txBox="1"/>
          <p:nvPr/>
        </p:nvSpPr>
        <p:spPr>
          <a:xfrm>
            <a:off x="6267450" y="5667375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#regex: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形式的那一节不作为路径变量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9" name="文本框 1898" descr="{&quot;isTemplate&quot;:true,&quot;type&quot;:&quot;text&quot;}"/>
          <p:cNvSpPr txBox="1"/>
          <p:nvPr/>
        </p:nvSpPr>
        <p:spPr>
          <a:xfrm>
            <a:off x="6267450" y="5857875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各函数都有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withExtName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重载：是否把扩展名当作路径的一部分。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0" name="任意多边形 1899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901" name="文本框 1900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2" name="文本框 1901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矩形 190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905" name="矩形 1904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906" name="文本框 1905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7" name="文本框 1906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TreeTransformer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：平铺列表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树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8" name="文本框 1907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这段代码你写过十遍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9" name="圆角矩形 1908"/>
          <p:cNvSpPr/>
          <p:nvPr/>
        </p:nvSpPr>
        <p:spPr>
          <a:xfrm>
            <a:off x="609600" y="1143000"/>
            <a:ext cx="4953000" cy="3429000"/>
          </a:xfrm>
          <a:prstGeom prst="roundRect">
            <a:avLst>
              <a:gd name="adj" fmla="val 333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910" name="文本框 1909" descr="{&quot;isTemplate&quot;:true,&quot;type&quot;:&quot;text&quot;}"/>
          <p:cNvSpPr txBox="1"/>
          <p:nvPr/>
        </p:nvSpPr>
        <p:spPr>
          <a:xfrm>
            <a:off x="781050" y="1314450"/>
            <a:ext cx="4610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接口关键签名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1" name="文本框 1910" descr="{&quot;isTemplate&quot;:true,&quot;type&quot;:&quot;text&quot;}"/>
          <p:cNvSpPr txBox="1"/>
          <p:nvPr/>
        </p:nvSpPr>
        <p:spPr>
          <a:xfrm>
            <a:off x="781050" y="1543050"/>
            <a:ext cx="461010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interface TreeNode&lt;ID, T&gt; where ID &lt;: Hashable &amp; Equatable&lt;ID&gt;,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12" name="文本框 1911" descr="{&quot;isTemplate&quot;:true,&quot;type&quot;:&quot;text&quot;}"/>
          <p:cNvSpPr txBox="1"/>
          <p:nvPr/>
        </p:nvSpPr>
        <p:spPr>
          <a:xfrm>
            <a:off x="781050" y="2019300"/>
            <a:ext cx="461010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                                        T &lt;: Object &amp; TreeNode&lt;ID, T&gt;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13" name="文本框 1912" descr="{&quot;isTemplate&quot;:true,&quot;type&quot;:&quot;text&quot;}"/>
          <p:cNvSpPr txBox="1"/>
          <p:nvPr/>
        </p:nvSpPr>
        <p:spPr>
          <a:xfrm>
            <a:off x="781050" y="2495550"/>
            <a:ext cx="4610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prop children: ArrayList&lt;T&gt;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14" name="文本框 1913" descr="{&quot;isTemplate&quot;:true,&quot;type&quot;:&quot;text&quot;}"/>
          <p:cNvSpPr txBox="1"/>
          <p:nvPr/>
        </p:nvSpPr>
        <p:spPr>
          <a:xfrm>
            <a:off x="781050" y="2733675"/>
            <a:ext cx="4610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prop id: ID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　·　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prop parentId: ID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15" name="文本框 1914" descr="{&quot;isTemplate&quot;:true,&quot;type&quot;:&quot;text&quot;}"/>
          <p:cNvSpPr txBox="1"/>
          <p:nvPr/>
        </p:nvSpPr>
        <p:spPr>
          <a:xfrm>
            <a:off x="781050" y="2971800"/>
            <a:ext cx="4610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func addChild(child: T): Unit { children.add(child) 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16" name="文本框 1915" descr="{&quot;isTemplate&quot;:true,&quot;type&quot;:&quot;text&quot;}"/>
          <p:cNvSpPr txBox="1"/>
          <p:nvPr/>
        </p:nvSpPr>
        <p:spPr>
          <a:xfrm>
            <a:off x="781050" y="3209925"/>
            <a:ext cx="461010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static func transform&lt;S&gt;(iterable: Iterable&lt;S&gt;, emptyId: ID,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17" name="文本框 1916" descr="{&quot;isTemplate&quot;:true,&quot;type&quot;:&quot;text&quot;}"/>
          <p:cNvSpPr txBox="1"/>
          <p:nvPr/>
        </p:nvSpPr>
        <p:spPr>
          <a:xfrm>
            <a:off x="781050" y="3686175"/>
            <a:ext cx="461010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                         ignoreDuplicate: Bool, transferFn: (S) -&gt; ?T): ArrayList&lt;T&gt;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18" name="文本框 1917" descr="{&quot;isTemplate&quot;:true,&quot;type&quot;:&quot;text&quot;}"/>
          <p:cNvSpPr txBox="1"/>
          <p:nvPr/>
        </p:nvSpPr>
        <p:spPr>
          <a:xfrm>
            <a:off x="781050" y="4162425"/>
            <a:ext cx="4610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19" name="圆角矩形 1918"/>
          <p:cNvSpPr/>
          <p:nvPr/>
        </p:nvSpPr>
        <p:spPr>
          <a:xfrm>
            <a:off x="5715000" y="1143000"/>
            <a:ext cx="5867400" cy="2343150"/>
          </a:xfrm>
          <a:prstGeom prst="roundRect">
            <a:avLst>
              <a:gd name="adj" fmla="val 4878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920" name="文本框 1919" descr="{&quot;isTemplate&quot;:true,&quot;type&quot;:&quot;text&quot;}"/>
          <p:cNvSpPr txBox="1"/>
          <p:nvPr/>
        </p:nvSpPr>
        <p:spPr>
          <a:xfrm>
            <a:off x="5886450" y="1314450"/>
            <a:ext cx="5524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用法就两步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1" name="文本框 1920" descr="{&quot;isTemplate&quot;:true,&quot;type&quot;:&quot;text&quot;}"/>
          <p:cNvSpPr txBox="1"/>
          <p:nvPr/>
        </p:nvSpPr>
        <p:spPr>
          <a:xfrm>
            <a:off x="5886450" y="1581150"/>
            <a:ext cx="5524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让你的树节点类实现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TreeNode&lt;ID, T&gt;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，提供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id / parentId / children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2" name="文本框 1921" descr="{&quot;isTemplate&quot;:true,&quot;type&quot;:&quot;text&quot;}"/>
          <p:cNvSpPr txBox="1"/>
          <p:nvPr/>
        </p:nvSpPr>
        <p:spPr>
          <a:xfrm>
            <a:off x="5886450" y="1933575"/>
            <a:ext cx="5524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一行把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查出来的平铺列表变成森林。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3" name="文本框 1922" descr="{&quot;isTemplate&quot;:true,&quot;type&quot;:&quot;text&quot;}"/>
          <p:cNvSpPr txBox="1"/>
          <p:nvPr/>
        </p:nvSpPr>
        <p:spPr>
          <a:xfrm>
            <a:off x="5886450" y="3038475"/>
            <a:ext cx="5524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菜单树、组织树、分类树、评论楼层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都是这个场景。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4" name="圆角矩形 1923"/>
          <p:cNvSpPr/>
          <p:nvPr/>
        </p:nvSpPr>
        <p:spPr>
          <a:xfrm>
            <a:off x="609600" y="3638550"/>
            <a:ext cx="10972800" cy="2647950"/>
          </a:xfrm>
          <a:prstGeom prst="roundRect">
            <a:avLst>
              <a:gd name="adj" fmla="val 431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925" name="文本框 1924" descr="{&quot;isTemplate&quot;:true,&quot;type&quot;:&quot;text&quot;}"/>
          <p:cNvSpPr txBox="1"/>
          <p:nvPr/>
        </p:nvSpPr>
        <p:spPr>
          <a:xfrm>
            <a:off x="781050" y="381000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示例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6" name="文本框 1925" descr="{&quot;isTemplate&quot;:true,&quot;type&quot;:&quot;text&quot;}"/>
          <p:cNvSpPr txBox="1"/>
          <p:nvPr/>
        </p:nvSpPr>
        <p:spPr>
          <a:xfrm>
            <a:off x="781050" y="403860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MenuNode &lt;: TreeNode&lt;Int64, MenuNode&gt;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27" name="文本框 1926" descr="{&quot;isTemplate&quot;:true,&quot;type&quot;:&quot;text&quot;}"/>
          <p:cNvSpPr txBox="1"/>
          <p:nvPr/>
        </p:nvSpPr>
        <p:spPr>
          <a:xfrm>
            <a:off x="781050" y="428625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public let id: Int64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public let parentId: Int64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public let children = ArrayList&lt;MenuNode&gt;()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28" name="文本框 1927" descr="{&quot;isTemplate&quot;:true,&quot;type&quot;:&quot;text&quot;}"/>
          <p:cNvSpPr txBox="1"/>
          <p:nvPr/>
        </p:nvSpPr>
        <p:spPr>
          <a:xfrm>
            <a:off x="781050" y="453390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29" name="文本框 1928" descr="{&quot;isTemplate&quot;:true,&quot;type&quot;:&quot;text&quot;}"/>
          <p:cNvSpPr txBox="1"/>
          <p:nvPr/>
        </p:nvSpPr>
        <p:spPr>
          <a:xfrm>
            <a:off x="781050" y="485775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roots = MenuNode.transform&lt;MenuPO&gt;(poList, emptyId: 0){ po =&gt; MenuNode(po) 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30" name="文本框 1929" descr="{&quot;isTemplate&quot;:true,&quot;type&quot;:&quot;text&quot;}"/>
          <p:cNvSpPr txBox="1"/>
          <p:nvPr/>
        </p:nvSpPr>
        <p:spPr>
          <a:xfrm>
            <a:off x="781050" y="518160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emptyId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是「根节点的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parentId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值」（通常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0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-1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）；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ignoreDuplicate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true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时遇到重复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id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跳过而不是抛异常；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transferFn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返回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None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会抛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IllegalArgumentException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1" name="文本框 1930" descr="{&quot;isTemplate&quot;:true,&quot;type&quot;:&quot;text&quot;}"/>
          <p:cNvSpPr txBox="1"/>
          <p:nvPr/>
        </p:nvSpPr>
        <p:spPr>
          <a:xfrm>
            <a:off x="781050" y="586740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不带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transferFn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的重载等价于直接把源元素当作树节点。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2" name="任意多边形 193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933" name="文本框 193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4" name="文本框 1933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矩形 19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972" name="矩形 197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973" name="文本框 1972" descr="{&quot;isTemplate&quot;:true,&quot;type&quot;:&quot;text&quot;}"/>
          <p:cNvSpPr txBox="1"/>
          <p:nvPr/>
        </p:nvSpPr>
        <p:spPr>
          <a:xfrm>
            <a:off x="819150" y="304800"/>
            <a:ext cx="9182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9.9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4" name="文本框 1973" descr="{&quot;isTemplate&quot;:true,&quot;type&quot;:&quot;text&quot;}"/>
          <p:cNvSpPr txBox="1"/>
          <p:nvPr/>
        </p:nvSpPr>
        <p:spPr>
          <a:xfrm>
            <a:off x="819150" y="514350"/>
            <a:ext cx="91821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三个现成的设计模式骨架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5" name="文本框 1974" descr="{&quot;isTemplate&quot;:true,&quot;type&quot;:&quot;text&quot;}"/>
          <p:cNvSpPr txBox="1"/>
          <p:nvPr/>
        </p:nvSpPr>
        <p:spPr>
          <a:xfrm>
            <a:off x="10172700" y="590550"/>
            <a:ext cx="14097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接口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注册表，一次到位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6" name="圆角矩形 1975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977" name="文本框 1976" descr="{&quot;isTemplate&quot;:true,&quot;type&quot;:&quot;text&quot;}"/>
          <p:cNvSpPr txBox="1"/>
          <p:nvPr/>
        </p:nvSpPr>
        <p:spPr>
          <a:xfrm>
            <a:off x="819150" y="1352550"/>
            <a:ext cx="31337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工厂模式</a:t>
            </a:r>
            <a:endParaRPr lang="zh-CN" sz="15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8" name="文本框 1977" descr="{&quot;isTemplate&quot;:true,&quot;type&quot;:&quot;text&quot;}"/>
          <p:cNvSpPr txBox="1"/>
          <p:nvPr/>
        </p:nvSpPr>
        <p:spPr>
          <a:xfrm>
            <a:off x="819150" y="1638300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按类型分派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9" name="圆角矩形 1978"/>
          <p:cNvSpPr/>
          <p:nvPr/>
        </p:nvSpPr>
        <p:spPr>
          <a:xfrm>
            <a:off x="819150" y="1933575"/>
            <a:ext cx="3133725" cy="1828800"/>
          </a:xfrm>
          <a:prstGeom prst="roundRect">
            <a:avLst>
              <a:gd name="adj" fmla="val 416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980" name="文本框 1979" descr="{&quot;isTemplate&quot;:true,&quot;type&quot;:&quot;text&quot;}"/>
          <p:cNvSpPr txBox="1"/>
          <p:nvPr/>
        </p:nvSpPr>
        <p:spPr>
          <a:xfrm>
            <a:off x="952500" y="206692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interface Producer&lt;A, O&gt;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81" name="文本框 1980" descr="{&quot;isTemplate&quot;:true,&quot;type&quot;:&quot;text&quot;}"/>
          <p:cNvSpPr txBox="1"/>
          <p:nvPr/>
        </p:nvSpPr>
        <p:spPr>
          <a:xfrm>
            <a:off x="952500" y="231457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func produce(): O      //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默认抛异常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82" name="文本框 1981" descr="{&quot;isTemplate&quot;:true,&quot;type&quot;:&quot;text&quot;}"/>
          <p:cNvSpPr txBox="1"/>
          <p:nvPr/>
        </p:nvSpPr>
        <p:spPr>
          <a:xfrm>
            <a:off x="952500" y="256222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func produce(arg: A): O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83" name="文本框 1982" descr="{&quot;isTemplate&quot;:true,&quot;type&quot;:&quot;text&quot;}"/>
          <p:cNvSpPr txBox="1"/>
          <p:nvPr/>
        </p:nvSpPr>
        <p:spPr>
          <a:xfrm>
            <a:off x="952500" y="280987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84" name="文本框 1983" descr="{&quot;isTemplate&quot;:true,&quot;type&quot;:&quot;text&quot;}"/>
          <p:cNvSpPr txBox="1"/>
          <p:nvPr/>
        </p:nvSpPr>
        <p:spPr>
          <a:xfrm>
            <a:off x="952500" y="313372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Factory&lt;A, O&gt;.assemble&lt;T&gt;(producer)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85" name="文本框 1984" descr="{&quot;isTemplate&quot;:true,&quot;type&quot;:&quot;text&quot;}"/>
          <p:cNvSpPr txBox="1"/>
          <p:nvPr/>
        </p:nvSpPr>
        <p:spPr>
          <a:xfrm>
            <a:off x="952500" y="338137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Factory&lt;A, O&gt;.produce&lt;T&gt;(arg)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86" name="文本框 1985" descr="{&quot;isTemplate&quot;:true,&quot;type&quot;:&quot;text&quot;}"/>
          <p:cNvSpPr txBox="1"/>
          <p:nvPr/>
        </p:nvSpPr>
        <p:spPr>
          <a:xfrm>
            <a:off x="819150" y="3895725"/>
            <a:ext cx="31337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assemble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TypeInfo.of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当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KEY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注册生产者，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produce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按目标类型取。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7" name="文本框 1986" descr="{&quot;isTemplate&quot;:true,&quot;type&quot;:&quot;text&quot;}"/>
          <p:cNvSpPr txBox="1"/>
          <p:nvPr/>
        </p:nvSpPr>
        <p:spPr>
          <a:xfrm>
            <a:off x="819150" y="5800725"/>
            <a:ext cx="31337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取不到会抛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TypeNotMatchException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8" name="圆角矩形 1987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989" name="文本框 1988" descr="{&quot;isTemplate&quot;:true,&quot;type&quot;:&quot;text&quot;}"/>
          <p:cNvSpPr txBox="1"/>
          <p:nvPr/>
        </p:nvSpPr>
        <p:spPr>
          <a:xfrm>
            <a:off x="4524375" y="1352550"/>
            <a:ext cx="3143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策略模式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0" name="文本框 1989" descr="{&quot;isTemplate&quot;:true,&quot;type&quot;:&quot;text&quot;}"/>
          <p:cNvSpPr txBox="1"/>
          <p:nvPr/>
        </p:nvSpPr>
        <p:spPr>
          <a:xfrm>
            <a:off x="4524375" y="1638300"/>
            <a:ext cx="3143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key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分派逻辑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1" name="圆角矩形 1990"/>
          <p:cNvSpPr/>
          <p:nvPr/>
        </p:nvSpPr>
        <p:spPr>
          <a:xfrm>
            <a:off x="4524375" y="1933575"/>
            <a:ext cx="3143250" cy="2076450"/>
          </a:xfrm>
          <a:prstGeom prst="roundRect">
            <a:avLst>
              <a:gd name="adj" fmla="val 367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992" name="文本框 1991" descr="{&quot;isTemplate&quot;:true,&quot;type&quot;:&quot;text&quot;}"/>
          <p:cNvSpPr txBox="1"/>
          <p:nvPr/>
        </p:nvSpPr>
        <p:spPr>
          <a:xfrm>
            <a:off x="4657725" y="2066925"/>
            <a:ext cx="2876550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interface Strategy&lt;N, A, R&gt; where N &lt;: Hashable &amp; Equatable&lt;N&gt;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93" name="文本框 1992" descr="{&quot;isTemplate&quot;:true,&quot;type&quot;:&quot;text&quot;}"/>
          <p:cNvSpPr txBox="1"/>
          <p:nvPr/>
        </p:nvSpPr>
        <p:spPr>
          <a:xfrm>
            <a:off x="4657725" y="2562225"/>
            <a:ext cx="28765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prop name: N          //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策略标识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94" name="文本框 1993" descr="{&quot;isTemplate&quot;:true,&quot;type&quot;:&quot;text&quot;}"/>
          <p:cNvSpPr txBox="1"/>
          <p:nvPr/>
        </p:nvSpPr>
        <p:spPr>
          <a:xfrm>
            <a:off x="4657725" y="2809875"/>
            <a:ext cx="28765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func execute(arg: A): R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95" name="文本框 1994" descr="{&quot;isTemplate&quot;:true,&quot;type&quot;:&quot;text&quot;}"/>
          <p:cNvSpPr txBox="1"/>
          <p:nvPr/>
        </p:nvSpPr>
        <p:spPr>
          <a:xfrm>
            <a:off x="4657725" y="3057525"/>
            <a:ext cx="28765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96" name="文本框 1995" descr="{&quot;isTemplate&quot;:true,&quot;type&quot;:&quot;text&quot;}"/>
          <p:cNvSpPr txBox="1"/>
          <p:nvPr/>
        </p:nvSpPr>
        <p:spPr>
          <a:xfrm>
            <a:off x="4657725" y="3381375"/>
            <a:ext cx="28765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Strategies&lt;N, A, R&gt;.register(strategy)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97" name="文本框 1996" descr="{&quot;isTemplate&quot;:true,&quot;type&quot;:&quot;text&quot;}"/>
          <p:cNvSpPr txBox="1"/>
          <p:nvPr/>
        </p:nvSpPr>
        <p:spPr>
          <a:xfrm>
            <a:off x="4657725" y="3629025"/>
            <a:ext cx="28765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Strategies&lt;N, A, R&gt;.execute(name, arg)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98" name="文本框 1997" descr="{&quot;isTemplate&quot;:true,&quot;type&quot;:&quot;text&quot;}"/>
          <p:cNvSpPr txBox="1"/>
          <p:nvPr/>
        </p:nvSpPr>
        <p:spPr>
          <a:xfrm>
            <a:off x="4524375" y="4143375"/>
            <a:ext cx="3143250" cy="819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IOC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lookupLables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互补：要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的完整生命周期用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IOC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，只按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key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分派逻辑用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Strategies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更轻。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9" name="文本框 1998" descr="{&quot;isTemplate&quot;:true,&quot;type&quot;:&quot;text&quot;}"/>
          <p:cNvSpPr txBox="1"/>
          <p:nvPr/>
        </p:nvSpPr>
        <p:spPr>
          <a:xfrm>
            <a:off x="4524375" y="5800725"/>
            <a:ext cx="3143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找不到策略抛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IllegalAccessException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0" name="圆角矩形 1999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01" name="文本框 2000" descr="{&quot;isTemplate&quot;:true,&quot;type&quot;:&quot;text&quot;}"/>
          <p:cNvSpPr txBox="1"/>
          <p:nvPr/>
        </p:nvSpPr>
        <p:spPr>
          <a:xfrm>
            <a:off x="8239125" y="1352550"/>
            <a:ext cx="31337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责任链模式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2" name="文本框 2001" descr="{&quot;isTemplate&quot;:true,&quot;type&quot;:&quot;text&quot;}"/>
          <p:cNvSpPr txBox="1"/>
          <p:nvPr/>
        </p:nvSpPr>
        <p:spPr>
          <a:xfrm>
            <a:off x="8239125" y="1638300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注意拼写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Responsibility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3" name="圆角矩形 2002"/>
          <p:cNvSpPr/>
          <p:nvPr/>
        </p:nvSpPr>
        <p:spPr>
          <a:xfrm>
            <a:off x="8239125" y="1933575"/>
            <a:ext cx="3133725" cy="3067050"/>
          </a:xfrm>
          <a:prstGeom prst="roundRect">
            <a:avLst>
              <a:gd name="adj" fmla="val 248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04" name="文本框 2003" descr="{&quot;isTemplate&quot;:true,&quot;type&quot;:&quot;text&quot;}"/>
          <p:cNvSpPr txBox="1"/>
          <p:nvPr/>
        </p:nvSpPr>
        <p:spPr>
          <a:xfrm>
            <a:off x="8372475" y="2066925"/>
            <a:ext cx="2867025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interface Responsibility&lt;C, A, R&gt;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05" name="文本框 2004" descr="{&quot;isTemplate&quot;:true,&quot;type&quot;:&quot;text&quot;}"/>
          <p:cNvSpPr txBox="1"/>
          <p:nvPr/>
        </p:nvSpPr>
        <p:spPr>
          <a:xfrm>
            <a:off x="8372475" y="2562225"/>
            <a:ext cx="2867025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func check(condition: C): Bool  //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是否由本策略处理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006" name="文本框 2005" descr="{&quot;isTemplate&quot;:true,&quot;type&quot;:&quot;text&quot;}"/>
          <p:cNvSpPr txBox="1"/>
          <p:nvPr/>
        </p:nvSpPr>
        <p:spPr>
          <a:xfrm>
            <a:off x="8372475" y="305752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func execute(arg: A): R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007" name="文本框 2006" descr="{&quot;isTemplate&quot;:true,&quot;type&quot;:&quot;text&quot;}"/>
          <p:cNvSpPr txBox="1"/>
          <p:nvPr/>
        </p:nvSpPr>
        <p:spPr>
          <a:xfrm>
            <a:off x="8372475" y="330517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08" name="文本框 2007" descr="{&quot;isTemplate&quot;:true,&quot;type&quot;:&quot;text&quot;}"/>
          <p:cNvSpPr txBox="1"/>
          <p:nvPr/>
        </p:nvSpPr>
        <p:spPr>
          <a:xfrm>
            <a:off x="8372475" y="362902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sz="975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9" name="文本框 2008" descr="{&quot;isTemplate&quot;:true,&quot;type&quot;:&quot;text&quot;}"/>
          <p:cNvSpPr txBox="1"/>
          <p:nvPr/>
        </p:nvSpPr>
        <p:spPr>
          <a:xfrm>
            <a:off x="8372475" y="3876675"/>
            <a:ext cx="2867025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chain.execute(condition, arg)     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第一个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check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通过的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010" name="文本框 2009" descr="{&quot;isTemplate&quot;:true,&quot;type&quot;:&quot;text&quot;}"/>
          <p:cNvSpPr txBox="1"/>
          <p:nvPr/>
        </p:nvSpPr>
        <p:spPr>
          <a:xfrm>
            <a:off x="8372475" y="4371975"/>
            <a:ext cx="2867025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chain.executeAll(condition, arg)  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所有满足条件的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011" name="文本框 2010" descr="{&quot;isTemplate&quot;:true,&quot;type&quot;:&quot;text&quot;}"/>
          <p:cNvSpPr txBox="1"/>
          <p:nvPr/>
        </p:nvSpPr>
        <p:spPr>
          <a:xfrm>
            <a:off x="8239125" y="5133975"/>
            <a:ext cx="31337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executeAll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特别适合多级校验、多环节加工。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3" name="任意多边形 201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014" name="文本框 201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5" name="文本框 201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矩形 20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018" name="矩形 201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019" name="文本框 2018" descr="{&quot;isTemplate&quot;:true,&quot;type&quot;:&quot;text&quot;}"/>
          <p:cNvSpPr txBox="1"/>
          <p:nvPr/>
        </p:nvSpPr>
        <p:spPr>
          <a:xfrm>
            <a:off x="819150" y="304800"/>
            <a:ext cx="9744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9.10 / 9.11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0" name="文本框 2019" descr="{&quot;isTemplate&quot;:true,&quot;type&quot;:&quot;text&quot;}"/>
          <p:cNvSpPr txBox="1"/>
          <p:nvPr/>
        </p:nvSpPr>
        <p:spPr>
          <a:xfrm>
            <a:off x="819150" y="514350"/>
            <a:ext cx="97440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其余工具与现场演示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1" name="文本框 2020" descr="{&quot;isTemplate&quot;:true,&quot;type&quot;:&quot;text&quot;}"/>
          <p:cNvSpPr txBox="1"/>
          <p:nvPr/>
        </p:nvSpPr>
        <p:spPr>
          <a:xfrm>
            <a:off x="10734675" y="590550"/>
            <a:ext cx="847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零依赖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零配置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022" name="表格 2021"/>
          <p:cNvGraphicFramePr/>
          <p:nvPr/>
        </p:nvGraphicFramePr>
        <p:xfrm>
          <a:off x="609600" y="1143000"/>
          <a:ext cx="10972800" cy="1905001"/>
        </p:xfrm>
        <a:graphic>
          <a:graphicData uri="http://schemas.openxmlformats.org/drawingml/2006/table">
            <a:tbl>
              <a:tblPr/>
              <a:tblGrid>
                <a:gridCol w="4711999"/>
                <a:gridCol w="6260801"/>
              </a:tblGrid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工具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一句话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crc16 / crc32 / crc64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循环冗余校验，做数据完整性校验、短摘要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CityHash / MurmurHash3X128 / wyhash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高性能非加密哈希，做分库分表路由、布隆过滤器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UInt128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128 位无符号整数（MurmurHash3X128 的返回值类型）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geohash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经纬度编码，做「附近的人」、网格聚合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DiffieHellmanKeyExchanger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密钥交换协议（详见 f_util/doc/密钥交换协议.md）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prime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素数判定与生成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023" name="圆角矩形 2022"/>
          <p:cNvSpPr/>
          <p:nvPr/>
        </p:nvSpPr>
        <p:spPr>
          <a:xfrm>
            <a:off x="609600" y="3181350"/>
            <a:ext cx="10972800" cy="3105150"/>
          </a:xfrm>
          <a:prstGeom prst="roundRect">
            <a:avLst>
              <a:gd name="adj" fmla="val 3681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024" name="文本框 2023" descr="{&quot;isTemplate&quot;:true,&quot;type&quot;:&quot;text&quot;}"/>
          <p:cNvSpPr txBox="1"/>
          <p:nvPr/>
        </p:nvSpPr>
        <p:spPr>
          <a:xfrm>
            <a:off x="781050" y="335280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现场演示：一条链路串起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个工具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5" name="文本框 2024" descr="{&quot;isTemplate&quot;:true,&quot;type&quot;:&quot;text&quot;}"/>
          <p:cNvSpPr txBox="1"/>
          <p:nvPr/>
        </p:nvSpPr>
        <p:spPr>
          <a:xfrm>
            <a:off x="781050" y="358140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let orderId = UUID.unixTimeBased().toHexString()    // ① ID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：时间有序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26" name="文本框 2025" descr="{&quot;isTemplate&quot;:true,&quot;type&quot;:&quot;text&quot;}"/>
          <p:cNvSpPr txBox="1"/>
          <p:nvPr/>
        </p:nvSpPr>
        <p:spPr>
          <a:xfrm>
            <a:off x="781050" y="381952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let seqId   = IdMaker().nextInt64()                 // ②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趋势递增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27" name="文本框 2026" descr="{&quot;isTemplate&quot;:true,&quot;type&quot;:&quot;text&quot;}"/>
          <p:cNvSpPr txBox="1"/>
          <p:nvPr/>
        </p:nvSpPr>
        <p:spPr>
          <a:xfrm>
            <a:off x="781050" y="405765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let column  = CaseFormat.Camel.convert("userName", to: CaseFormat.LowerUnderScore)   // ③ user_name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28" name="文本框 2027" descr="{&quot;isTemplate&quot;:true,&quot;type&quot;:&quot;text&quot;}"/>
          <p:cNvSpPr txBox="1"/>
          <p:nvPr/>
        </p:nvSpPr>
        <p:spPr>
          <a:xfrm>
            <a:off x="781050" y="429577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rules.compileIfAbsent("/api/{version}/user/{id}"){"user-service"}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29" name="文本框 2028" descr="{&quot;isTemplate&quot;:true,&quot;type&quot;:&quot;text&quot;}"/>
          <p:cNvSpPr txBox="1"/>
          <p:nvPr/>
        </p:nvSpPr>
        <p:spPr>
          <a:xfrm>
            <a:off x="781050" y="453390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TextTemplate.compile("</a:t>
            </a: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订单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${orderId} </a:t>
            </a: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已创建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").format(["orderId": orderId])   // ④ </a:t>
            </a: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通知文案</a:t>
            </a:r>
            <a:endParaRPr lang="zh-CN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030" name="文本框 2029" descr="{&quot;isTemplate&quot;:true,&quot;type&quot;:&quot;text&quot;}"/>
          <p:cNvSpPr txBox="1"/>
          <p:nvPr/>
        </p:nvSpPr>
        <p:spPr>
          <a:xfrm>
            <a:off x="781050" y="586740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它们的共同点：零依赖、零配置、拿来即用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f_util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不绑架你的架构，只消灭重复劳动。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1" name="任意多边形 203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032" name="文本框 203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3" name="文本框 203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10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f_util 工具箱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CaseFormat 命名风格互转　·　TextTemplate 文本模板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PathPattern：MVC 路由的引擎与匹配优先级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TreeTransformer：平铺列表变树　·　三个设计模式骨架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下一讲：MVC 路由与参数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