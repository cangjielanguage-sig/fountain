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Sl1"/>
    <p:sldId id="257" r:id="rIdSl2"/>
    <p:sldId id="258" r:id="rIdSl3"/>
    <p:sldId id="259" r:id="rIdSl4"/>
    <p:sldId id="260" r:id="rIdSl5"/>
    <p:sldId id="261" r:id="rIdSl6"/>
    <p:sldId id="262" r:id="rIdSl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22" Type="http://schemas.openxmlformats.org/officeDocument/2006/relationships/tableStyles" Target="tableStyles.xml"/><Relationship Id="rId121" Type="http://schemas.openxmlformats.org/officeDocument/2006/relationships/viewProps" Target="viewProps.xml"/><Relationship Id="rId1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Relationship Id="rIdSl5" Type="http://schemas.openxmlformats.org/officeDocument/2006/relationships/slide" Target="slides/slide5.xml"/><Relationship Id="rIdSl6" Type="http://schemas.openxmlformats.org/officeDocument/2006/relationships/slide" Target="slides/slide6.xml"/><Relationship Id="rIdSl7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这一讲先把 f_data 讲完：十三个内置校验器可以用与或非组合，既能修饰成员也能修饰函数参数；然后是转换扩展、JSON Schema、JSONPath 查询和快速失败的 BreakingCommand。接着进入第九章 f_util，先给全景分类，再重点讲 UUID——它支持 v1 到 v8，而且实现了 DataFields，能直接当 PO 字段。最后是 @IsUUID 与雪花算法 IdMaker。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这一节两个延伸能力：数据转换扩展和 JSON Schema。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先说转换扩展。默认转换搞不定的时候——最典型的就是字符串转 DateTime——你就实现 DataConverter。抽象基类是 DataConverter 泛型，有一个 convert 方法；针对时间又细分了两层：AbstractDateTimeConverter 提供 doConvert，DateTimeConverter 是最常用的实现，构造时传一个格式串，比如 yyyy-MM-dd HH:mm:ss。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这也就是 f_mvc 的 @RequestParam 能把 ?createTime=2026-10-01 12:00:00 这样的字符串直接转成 DateTime 的原因——转换器在链路里被自动调用，你不用手动 parse。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再说 JSON Schema。f_data 提供了 ToJsonSchema 接口，给 JsonObject 做了扩展。你只要给字段打上 @JsonStringSchema、@JsonIntSchema、@JsonFloatSchema、@JsonBoolSchema、@JsonArraySchema、@JsonObjectSchema 这些注解，就能直接产出 JSON Schema。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做前后端契约、做低代码表单，这个能力很好用——接口文档不用手写，Schema 直接从数据类生成。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这一段是 f_data 的彩蛋，讲一分钟就够，但很能体现库的深度。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f_data 实现了 RFC 9535，也就是 JSONPath 查询。任何 Data 树都能用路径表达式选取节点——日志过滤、配置抽取、响应裁剪、规则引擎的取数，一行解决。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看右边这个例子：缓存一个路径，表达式是「根节点下 store 下 books 里，price 大于 9 的那些元素的 title」，然后遍历结果打印。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三个 API：DataPath 点 cache 编译路径，缓存在 HeapCache 里，最多一万条、寿命一天，适合用户输入的动态路径；DataPath 点 solid 是永久缓存，进程内固定的路径用它；DataPath 点 get 求值是真正的执行，返回匹配节点的迭代器。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边界要注意：负一作为索引已经被禁用，要用切片；裸的美元双点后面必须跟选择器；异常统一是 DataException。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最后是快速失败和现场演示。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 BreakingCommand。当你在很深的调用栈里需要「立刻返回，别再往下走」的时候，用它比一层层 return 干净得多。写法是在业务执行过程中 perform 一个 BreakingCommand，参数是返回给客户端的数据；MVC 会把它携带的 Data 直接作为响应体。还有一个便捷入口，参数只要是实现了 ToData 的类型就行。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这一章的现场演示，直接跑 fdemo 就行——启动日志里会打出这一屏：八行字母标号，从 A 到 H，走完了「对象到对象」「对象到 JSON」「JSON 到对象」「Map 到对象」四条路。最后两行是表名演示，一个是 user_info，一个是带前缀的 t_user_info。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这一屏就是 f_data 的全部能力。而且这些代码不需要你写，全部是宏生成的。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下一章我们接着讲 f_util 工具箱——UUID、IdMaker、TextTemplate、PathPattern、TreeTransformer 以及几个设计模式的现成骨架，它们大多也是站在 f_data 肩膀上的。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第九章讲工具箱 f_util。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前面几章讲的是框架能力——IOC、AOP、数据、MVC、ORM。这一章换个节奏，讲 f_util：一个不依赖框架、可以单独引入的工具箱。它的定位是：把中大型服务端项目里那些「每次都要重写一遍」的小东西，一次性做掉。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看左边的分类表：ID 这一类有 UUID、IsUUID 注解、IdMaker；文本有 TextTemplate 和 CaseFormat；结构有 PathPattern 和 TreeTransformer；设计模式骨架有工厂、策略、责任链、中介者、状态；哈希家族有 crc16/32/64、CityHash、MurmurHash3X128、wyhash、UInt128；其它还有 geohash、密钥交换、素数。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这一章挑其中九个最常用的讲，剩下的哈希家族、geohash、密钥交换在文档里都有独立文档，需要时查即可。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 UUID。它参照 RFC 4122bis 草案实现，v1 到 v8 全支持，这是很多语言标准库都做不到的。它最妙的一点是不只实现了 Hashable、Comparable、ToString、Parsable，还实现了 DataFields 和 DataParsable——所以它天然能进 f_data 的体系：可以直接作为 PO 字段、可以直接被 populate 复制、可以直接和 JSON 互转，不需要任何胶水代码。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生成函数按版本分：random 是 v4，unixTimeBased 是 v7，时间有序，适合做数据库主键；timeBased 返回构造器，可以配 v1 或 v6；md5 是 v3，sha1 是 v5，都是命名空间 UUID；custom 是 v8。还有 Nil 和 Max 两个极值。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常用成员：toString 带连字符，toHexString 是 32 位无连字符，toString 还能指定进制，版本号和变体可以读，v1 和 v6 还能取时间戳。解析有 parse 和 tryParse 两版。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接着讲两个：IsUUID 注解和 IdMaker。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IsUUID 只有三十五行的源码，注意它的父类——f_data.validation.Validator。也就是说，f_util 的校验注解和 f_data 那十几个内置校验器是同一套体系，可以一起用与、或、非组合。看右边的例子：orderId 上打 @IsUUID，username 上用 CombinedValidator 组合两个规则。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而且因为它的 target 里包含 Parameter，函数参数上也能用——f_mvc 绑定 controller 实参时会自动触发。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再说 IdMaker。它是雪花算法风格的实现，ID 是一个 Int64，位布局是：十位主机序列号、四十一位毫秒时间戳、十二位毫秒内自增序号。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主机序列号取零到一千零二十三，来自配置项 idMakerHostSerial，走的是第四章那套优先级。时间戳取构造时的毫秒数作为起点。nextInt64 就是一个原子自增，无锁、线程安全。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三个必须讲的注意点：第一，主机序列号必须全局唯一，重复会产生重复 ID。第二，十二位序号意味着每毫秒四千零九十六个，超出自增位宽会向时间戳位进位——ID 仍然唯一且递增，但时间戳含义会漂移。第三，起点是构造时刻，进程重启后时间戳基准改变，但因为有主机号兜底，跨进程仍然不冲突。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和 UUID 怎么选？要时间有序、索引局部性好，用 IdMaker 或者 UUID 的 v7；要无中心、随便哪台机器都能生成，用 UUID.random。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这一讲四个要点：一，校验器是 Validator 的子类，用与或非操作符组合，不是字符串表达式；二，UUID 的 v7 时间有序、适合做主键，而且天然能进 f_data 体系；三，IdMaker 的主机号必须全局唯一，否则会产生重复 ID；四，JSONPath 实现了 RFC 9535，路径带缓存。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7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/>
          <p:cNvSpPr txBox="1"/>
          <p:nvPr/>
        </p:nvSpPr>
        <p:spPr>
          <a:xfrm rot="0" flipH="0" flipV="0">
            <a:off x="-695325" y="1143000"/>
            <a:ext cx="12506325" cy="3657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09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143000" y="186690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"/>
          <p:cNvSpPr txBox="1"/>
          <p:nvPr/>
        </p:nvSpPr>
        <p:spPr>
          <a:xfrm rot="0" flipH="0" flipV="0">
            <a:off x="1333500" y="195262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09 / 25 · 课程分册</a:t>
            </a:r>
            <a:endParaRPr/>
          </a:p>
        </p:txBody>
      </p:sp>
      <p:sp>
        <p:nvSpPr>
          <p:cNvPr id="7" name=""/>
          <p:cNvSpPr txBox="1"/>
          <p:nvPr/>
        </p:nvSpPr>
        <p:spPr>
          <a:xfrm rot="0" flipH="0" flipV="0">
            <a:off x="1143000" y="2495550"/>
            <a:ext cx="2867025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f_data 收尾与 f_util 开场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1143000" y="33147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" name=""/>
          <p:cNvSpPr txBox="1"/>
          <p:nvPr/>
        </p:nvSpPr>
        <p:spPr>
          <a:xfrm rot="0" flipH="0" flipV="0">
            <a:off x="1143000" y="37719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数据校验：一个注解 + 可组合的规则</a:t>
            </a:r>
            <a:endParaRPr/>
          </a:p>
        </p:txBody>
      </p:sp>
      <p:sp>
        <p:nvSpPr>
          <p:cNvPr id="10" name=""/>
          <p:cNvSpPr txBox="1"/>
          <p:nvPr/>
        </p:nvSpPr>
        <p:spPr>
          <a:xfrm rot="0" flipH="0" flipV="0">
            <a:off x="1143000" y="41148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转换扩展、JSON Schema、JSONPath、快速失败</a:t>
            </a:r>
            <a:endParaRPr/>
          </a:p>
        </p:txBody>
      </p:sp>
      <p:sp>
        <p:nvSpPr>
          <p:cNvPr id="11" name=""/>
          <p:cNvSpPr txBox="1"/>
          <p:nvPr/>
        </p:nvSpPr>
        <p:spPr>
          <a:xfrm rot="0" flipH="0" flipV="0">
            <a:off x="1143000" y="44577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f_util 全景　·　UUID 全版本　·　@IsUUID 与 IdMaker</a:t>
            </a:r>
            <a:endParaRPr/>
          </a:p>
        </p:txBody>
      </p:sp>
      <p:sp>
        <p:nvSpPr>
          <p:cNvPr id="12" name=""/>
          <p:cNvSpPr txBox="1"/>
          <p:nvPr/>
        </p:nvSpPr>
        <p:spPr>
          <a:xfrm rot="0" flipH="0" flipV="0">
            <a:off x="1143000" y="50292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 9 讲 / 共 25 讲　·　原稿第 52–56 页 + 首尾两页　·　约 14.4 分钟</a:t>
            </a:r>
            <a:endParaRPr/>
          </a:p>
        </p:txBody>
      </p:sp>
      <p:sp>
        <p:nvSpPr>
          <p:cNvPr id="13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矩形 170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709" name="矩形 1708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710" name="文本框 1709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 · 8.6 / 8.7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1" name="文本框 1710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数据转换扩展与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JSON Schema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2" name="文本框 1711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两个延伸能力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3" name="圆角矩形 1712"/>
          <p:cNvSpPr/>
          <p:nvPr/>
        </p:nvSpPr>
        <p:spPr>
          <a:xfrm>
            <a:off x="609600" y="1143000"/>
            <a:ext cx="5410200" cy="5143500"/>
          </a:xfrm>
          <a:prstGeom prst="roundRect">
            <a:avLst>
              <a:gd name="adj" fmla="val 2222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714" name="文本框 1713" descr="{&quot;isTemplate&quot;:true,&quot;type&quot;:&quot;text&quot;}"/>
          <p:cNvSpPr txBox="1"/>
          <p:nvPr/>
        </p:nvSpPr>
        <p:spPr>
          <a:xfrm>
            <a:off x="819150" y="1352550"/>
            <a:ext cx="4991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DataConverter</a:t>
            </a:r>
            <a:endParaRPr lang="en-US" sz="15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5" name="文本框 1714" descr="{&quot;isTemplate&quot;:true,&quot;type&quot;:&quot;text&quot;}"/>
          <p:cNvSpPr txBox="1"/>
          <p:nvPr/>
        </p:nvSpPr>
        <p:spPr>
          <a:xfrm>
            <a:off x="819150" y="1638300"/>
            <a:ext cx="4991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默认转换搞不定时自己实现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6" name="圆角矩形 1715"/>
          <p:cNvSpPr/>
          <p:nvPr/>
        </p:nvSpPr>
        <p:spPr>
          <a:xfrm>
            <a:off x="819150" y="1933575"/>
            <a:ext cx="4991100" cy="2200275"/>
          </a:xfrm>
          <a:prstGeom prst="roundRect">
            <a:avLst>
              <a:gd name="adj" fmla="val 346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717" name="文本框 1716" descr="{&quot;isTemplate&quot;:true,&quot;type&quot;:&quot;text&quot;}"/>
          <p:cNvSpPr txBox="1"/>
          <p:nvPr/>
        </p:nvSpPr>
        <p:spPr>
          <a:xfrm>
            <a:off x="952500" y="2066925"/>
            <a:ext cx="4724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abstract class DataConverter&lt;T&gt;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718" name="文本框 1717" descr="{&quot;isTemplate&quot;:true,&quot;type&quot;:&quot;text&quot;}"/>
          <p:cNvSpPr txBox="1"/>
          <p:nvPr/>
        </p:nvSpPr>
        <p:spPr>
          <a:xfrm>
            <a:off x="952500" y="2333625"/>
            <a:ext cx="4724400" cy="523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    public func convert(data: Data, flag!: DataConversionFlag): ?T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719" name="文本框 1718" descr="{&quot;isTemplate&quot;:true,&quot;type&quot;:&quot;text&quot;}"/>
          <p:cNvSpPr txBox="1"/>
          <p:nvPr/>
        </p:nvSpPr>
        <p:spPr>
          <a:xfrm>
            <a:off x="952500" y="2857500"/>
            <a:ext cx="4724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720" name="文本框 1719" descr="{&quot;isTemplate&quot;:true,&quot;type&quot;:&quot;text&quot;}"/>
          <p:cNvSpPr txBox="1"/>
          <p:nvPr/>
        </p:nvSpPr>
        <p:spPr>
          <a:xfrm>
            <a:off x="952500" y="3200400"/>
            <a:ext cx="4724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public class DateTimeConverter &lt;: AbstractDateTimeConverter {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721" name="文本框 1720" descr="{&quot;isTemplate&quot;:true,&quot;type&quot;:&quot;text&quot;}"/>
          <p:cNvSpPr txBox="1"/>
          <p:nvPr/>
        </p:nvSpPr>
        <p:spPr>
          <a:xfrm>
            <a:off x="952500" y="3467100"/>
            <a:ext cx="4724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// 'yyyy-MM-dd HH:mm:ss'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722" name="文本框 1721" descr="{&quot;isTemplate&quot;:true,&quot;type&quot;:&quot;text&quot;}"/>
          <p:cNvSpPr txBox="1"/>
          <p:nvPr/>
        </p:nvSpPr>
        <p:spPr>
          <a:xfrm>
            <a:off x="952500" y="3733800"/>
            <a:ext cx="4724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723" name="文本框 1722" descr="{&quot;isTemplate&quot;:true,&quot;type&quot;:&quot;text&quot;}"/>
          <p:cNvSpPr txBox="1"/>
          <p:nvPr/>
        </p:nvSpPr>
        <p:spPr>
          <a:xfrm>
            <a:off x="819150" y="4286250"/>
            <a:ext cx="49911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最典型的场景：字符串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DateTime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4" name="文本框 1723" descr="{&quot;isTemplate&quot;:true,&quot;type&quot;:&quot;text&quot;}"/>
          <p:cNvSpPr txBox="1"/>
          <p:nvPr/>
        </p:nvSpPr>
        <p:spPr>
          <a:xfrm>
            <a:off x="819150" y="5457825"/>
            <a:ext cx="49911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这就是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@RequestParam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能把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?createTime=…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直接转成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DateTime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的原因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转换器在链路里被自动调用。</a:t>
            </a:r>
            <a:endParaRPr lang="zh-CN" sz="112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5" name="圆角矩形 1724"/>
          <p:cNvSpPr/>
          <p:nvPr/>
        </p:nvSpPr>
        <p:spPr>
          <a:xfrm>
            <a:off x="6172200" y="1143000"/>
            <a:ext cx="5410200" cy="5143500"/>
          </a:xfrm>
          <a:prstGeom prst="roundRect">
            <a:avLst>
              <a:gd name="adj" fmla="val 222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726" name="文本框 1725" descr="{&quot;isTemplate&quot;:true,&quot;type&quot;:&quot;text&quot;}"/>
          <p:cNvSpPr txBox="1"/>
          <p:nvPr/>
        </p:nvSpPr>
        <p:spPr>
          <a:xfrm>
            <a:off x="6381750" y="1352550"/>
            <a:ext cx="4991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JSON Schema</a:t>
            </a:r>
            <a:endParaRPr lang="en-US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7" name="文本框 1726" descr="{&quot;isTemplate&quot;:true,&quot;type&quot;:&quot;text&quot;}"/>
          <p:cNvSpPr txBox="1"/>
          <p:nvPr/>
        </p:nvSpPr>
        <p:spPr>
          <a:xfrm>
            <a:off x="6381750" y="1638300"/>
            <a:ext cx="4991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接口契约与低代码表单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8" name="圆角矩形 1727"/>
          <p:cNvSpPr/>
          <p:nvPr/>
        </p:nvSpPr>
        <p:spPr>
          <a:xfrm>
            <a:off x="6381750" y="1933575"/>
            <a:ext cx="4991100" cy="1590675"/>
          </a:xfrm>
          <a:prstGeom prst="roundRect">
            <a:avLst>
              <a:gd name="adj" fmla="val 479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729" name="文本框 1728" descr="{&quot;isTemplate&quot;:true,&quot;type&quot;:&quot;text&quot;}"/>
          <p:cNvSpPr txBox="1"/>
          <p:nvPr/>
        </p:nvSpPr>
        <p:spPr>
          <a:xfrm>
            <a:off x="6515100" y="2066925"/>
            <a:ext cx="4724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package fountain::f_data.json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730" name="文本框 1729" descr="{&quot;isTemplate&quot;:true,&quot;type&quot;:&quot;text&quot;}"/>
          <p:cNvSpPr txBox="1"/>
          <p:nvPr/>
        </p:nvSpPr>
        <p:spPr>
          <a:xfrm>
            <a:off x="6515100" y="2333625"/>
            <a:ext cx="4724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public interface ToJsonSchema {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731" name="文本框 1730" descr="{&quot;isTemplate&quot;:true,&quot;type&quot;:&quot;text&quot;}"/>
          <p:cNvSpPr txBox="1"/>
          <p:nvPr/>
        </p:nvSpPr>
        <p:spPr>
          <a:xfrm>
            <a:off x="6515100" y="2600325"/>
            <a:ext cx="4724400" cy="523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    static func toJsonSchema&lt;T&gt;(): String where T &lt;: ObjectData&lt;T&gt;</a:t>
            </a:r>
            <a:endParaRPr lang="en-US" sz="97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732" name="文本框 1731" descr="{&quot;isTemplate&quot;:true,&quot;type&quot;:&quot;text&quot;}"/>
          <p:cNvSpPr txBox="1"/>
          <p:nvPr/>
        </p:nvSpPr>
        <p:spPr>
          <a:xfrm>
            <a:off x="6515100" y="3124200"/>
            <a:ext cx="47244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733" name="文本框 1732" descr="{&quot;isTemplate&quot;:true,&quot;type&quot;:&quot;text&quot;}"/>
          <p:cNvSpPr txBox="1"/>
          <p:nvPr/>
        </p:nvSpPr>
        <p:spPr>
          <a:xfrm>
            <a:off x="6381750" y="3676650"/>
            <a:ext cx="49911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给字段打注解即可产出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Schema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4" name="文本框 1733" descr="{&quot;isTemplate&quot;:true,&quot;type&quot;:&quot;text&quot;}"/>
          <p:cNvSpPr txBox="1"/>
          <p:nvPr/>
        </p:nvSpPr>
        <p:spPr>
          <a:xfrm>
            <a:off x="6381750" y="3971925"/>
            <a:ext cx="49911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@JsonStringSchema[minLength: 6, maxLength: 50, title: '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用户名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']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735" name="文本框 1734" descr="{&quot;isTemplate&quot;:true,&quot;type&quot;:&quot;text&quot;}"/>
          <p:cNvSpPr txBox="1"/>
          <p:nvPr/>
        </p:nvSpPr>
        <p:spPr>
          <a:xfrm>
            <a:off x="6381750" y="4248150"/>
            <a:ext cx="49911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@JsonIntSchema[minimum: 0, maximum: 150]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736" name="文本框 1735" descr="{&quot;isTemplate&quot;:true,&quot;type&quot;:&quot;text&quot;}"/>
          <p:cNvSpPr txBox="1"/>
          <p:nvPr/>
        </p:nvSpPr>
        <p:spPr>
          <a:xfrm>
            <a:off x="6381750" y="5495925"/>
            <a:ext cx="49911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还有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@JsonFloatSchema / @JsonBoolSchema / @JsonArraySchema / @JsonObjectSchema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7" name="任意多边形 173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738" name="文本框 173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9" name="文本框 173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矩形 17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742" name="矩形 174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743" name="文本框 1742" descr="{&quot;isTemplate&quot;:true,&quot;type&quot;:&quot;text&quot;}"/>
          <p:cNvSpPr txBox="1"/>
          <p:nvPr/>
        </p:nvSpPr>
        <p:spPr>
          <a:xfrm>
            <a:off x="819150" y="304800"/>
            <a:ext cx="98202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 · 8.8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4" name="文本框 1743" descr="{&quot;isTemplate&quot;:true,&quot;type&quot;:&quot;text&quot;}"/>
          <p:cNvSpPr txBox="1"/>
          <p:nvPr/>
        </p:nvSpPr>
        <p:spPr>
          <a:xfrm>
            <a:off x="819150" y="514350"/>
            <a:ext cx="98202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JSONPath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查询（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RFC 9535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5" name="文本框 1744" descr="{&quot;isTemplate&quot;:true,&quot;type&quot;:&quot;text&quot;}"/>
          <p:cNvSpPr txBox="1"/>
          <p:nvPr/>
        </p:nvSpPr>
        <p:spPr>
          <a:xfrm>
            <a:off x="10810875" y="590550"/>
            <a:ext cx="7715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讲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分钟就够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6" name="圆角矩形 1745"/>
          <p:cNvSpPr/>
          <p:nvPr/>
        </p:nvSpPr>
        <p:spPr>
          <a:xfrm>
            <a:off x="609600" y="1143000"/>
            <a:ext cx="4953000" cy="3981450"/>
          </a:xfrm>
          <a:prstGeom prst="roundRect">
            <a:avLst>
              <a:gd name="adj" fmla="val 2871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747" name="文本框 1746" descr="{&quot;isTemplate&quot;:true,&quot;type&quot;:&quot;text&quot;}"/>
          <p:cNvSpPr txBox="1"/>
          <p:nvPr/>
        </p:nvSpPr>
        <p:spPr>
          <a:xfrm>
            <a:off x="781050" y="1314450"/>
            <a:ext cx="4610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用法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8" name="文本框 1747" descr="{&quot;isTemplate&quot;:true,&quot;type&quot;:&quot;text&quot;}"/>
          <p:cNvSpPr txBox="1"/>
          <p:nvPr/>
        </p:nvSpPr>
        <p:spPr>
          <a:xfrm>
            <a:off x="781050" y="1543050"/>
            <a:ext cx="46101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import fountain::f_data.base.*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749" name="文本框 1748" descr="{&quot;isTemplate&quot;:true,&quot;type&quot;:&quot;text&quot;}"/>
          <p:cNvSpPr txBox="1"/>
          <p:nvPr/>
        </p:nvSpPr>
        <p:spPr>
          <a:xfrm>
            <a:off x="781050" y="1809750"/>
            <a:ext cx="46101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import fountain::f_data.path.*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750" name="文本框 1749" descr="{&quot;isTemplate&quot;:true,&quot;type&quot;:&quot;text&quot;}"/>
          <p:cNvSpPr txBox="1"/>
          <p:nvPr/>
        </p:nvSpPr>
        <p:spPr>
          <a:xfrm>
            <a:off x="781050" y="2171700"/>
            <a:ext cx="4610100" cy="523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let path = DataPath.cache("$.store.books[?(@.price &gt; 9)].title")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751" name="文本框 1750" descr="{&quot;isTemplate&quot;:true,&quot;type&quot;:&quot;text&quot;}"/>
          <p:cNvSpPr txBox="1"/>
          <p:nvPr/>
        </p:nvSpPr>
        <p:spPr>
          <a:xfrm>
            <a:off x="781050" y="2695575"/>
            <a:ext cx="46101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for (title in path.get(data)) 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{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752" name="文本框 1751" descr="{&quot;isTemplate&quot;:true,&quot;type&quot;:&quot;text&quot;}"/>
          <p:cNvSpPr txBox="1"/>
          <p:nvPr/>
        </p:nvSpPr>
        <p:spPr>
          <a:xfrm>
            <a:off x="781050" y="2962275"/>
            <a:ext cx="46101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println(title)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753" name="文本框 1752" descr="{&quot;isTemplate&quot;:true,&quot;type&quot;:&quot;text&quot;}"/>
          <p:cNvSpPr txBox="1"/>
          <p:nvPr/>
        </p:nvSpPr>
        <p:spPr>
          <a:xfrm>
            <a:off x="781050" y="3228975"/>
            <a:ext cx="46101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754" name="矩形 1753"/>
          <p:cNvSpPr/>
          <p:nvPr/>
        </p:nvSpPr>
        <p:spPr>
          <a:xfrm>
            <a:off x="781050" y="3629025"/>
            <a:ext cx="461010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755" name="文本框 1754" descr="{&quot;isTemplate&quot;:true,&quot;type&quot;:&quot;text&quot;}"/>
          <p:cNvSpPr txBox="1"/>
          <p:nvPr/>
        </p:nvSpPr>
        <p:spPr>
          <a:xfrm>
            <a:off x="781050" y="3752850"/>
            <a:ext cx="4610100" cy="523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DataPath.cache(path) ——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编译路径，缓存在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HeapCache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（最多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万条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寿命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天）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6" name="文本框 1755" descr="{&quot;isTemplate&quot;:true,&quot;type&quot;:&quot;text&quot;}"/>
          <p:cNvSpPr txBox="1"/>
          <p:nvPr/>
        </p:nvSpPr>
        <p:spPr>
          <a:xfrm>
            <a:off x="781050" y="4333875"/>
            <a:ext cx="46101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DataPath.solid(path) ——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永久缓存（进程内固定路径用这个）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7" name="文本框 1756" descr="{&quot;isTemplate&quot;:true,&quot;type&quot;:&quot;text&quot;}"/>
          <p:cNvSpPr txBox="1"/>
          <p:nvPr/>
        </p:nvSpPr>
        <p:spPr>
          <a:xfrm>
            <a:off x="781050" y="4657725"/>
            <a:ext cx="46101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DataPath.get(data) ——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求值，返回匹配节点的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Iterator</a:t>
            </a:r>
            <a:endParaRPr lang="en-US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758" name="表格 1757"/>
          <p:cNvGraphicFramePr/>
          <p:nvPr/>
        </p:nvGraphicFramePr>
        <p:xfrm>
          <a:off x="5715000" y="1143000"/>
          <a:ext cx="5867400" cy="3981450"/>
        </p:xfrm>
        <a:graphic>
          <a:graphicData uri="http://schemas.openxmlformats.org/drawingml/2006/table">
            <a:tbl>
              <a:tblPr/>
              <a:tblGrid>
                <a:gridCol w="814795"/>
                <a:gridCol w="5052605"/>
              </a:tblGrid>
              <a:tr h="4423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语法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423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标识符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$ 根节点　·　@ 当前节点（filter 内）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23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子段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.name　.*　['name']　[*]　[0]　[0,2]　[start:end:step]　[-1:]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23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递归段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..name　..*　..['name']　..[0]　..[?(...)]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23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路径函数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min()　max()　avg()　length()　count()　value()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23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比较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== != &lt; &lt;= &gt; &gt;=　，支持 @.x == @.y 路径间比较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23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逻辑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&amp;&amp;  ||  !  (...)　·　存在性：?(@.name)　?(!(@.name))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23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函数扩展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match(p, re)　search(p, re)　count(p)　value(p)　length(p)，可任意层嵌套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23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自定义扩展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=~ /regex/　in nin anyof subsetof nooneof　size N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759" name="圆角矩形 1758"/>
          <p:cNvSpPr/>
          <p:nvPr/>
        </p:nvSpPr>
        <p:spPr>
          <a:xfrm>
            <a:off x="609600" y="5257800"/>
            <a:ext cx="10972800" cy="1028700"/>
          </a:xfrm>
          <a:prstGeom prst="roundRect">
            <a:avLst>
              <a:gd name="adj" fmla="val 11111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760" name="文本框 1759" descr="{&quot;isTemplate&quot;:true,&quot;type&quot;:&quot;text&quot;}"/>
          <p:cNvSpPr txBox="1"/>
          <p:nvPr/>
        </p:nvSpPr>
        <p:spPr>
          <a:xfrm>
            <a:off x="762000" y="5410200"/>
            <a:ext cx="10668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边界</a:t>
            </a:r>
            <a:endParaRPr lang="zh-CN" sz="10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1" name="文本框 1760" descr="{&quot;isTemplate&quot;:true,&quot;type&quot;:&quot;text&quot;}"/>
          <p:cNvSpPr txBox="1"/>
          <p:nvPr/>
        </p:nvSpPr>
        <p:spPr>
          <a:xfrm>
            <a:off x="762000" y="5610225"/>
            <a:ext cx="106680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[-1]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作为索引已被禁用（用切片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[-1:]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）；裸的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$..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后面必须跟选择器；异常统一是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DataException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2" name="任意多边形 1761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763" name="文本框 1762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4" name="文本框 1763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矩形 17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767" name="矩形 1766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768" name="文本框 1767" descr="{&quot;isTemplate&quot;:true,&quot;type&quot;:&quot;text&quot;}"/>
          <p:cNvSpPr txBox="1"/>
          <p:nvPr/>
        </p:nvSpPr>
        <p:spPr>
          <a:xfrm>
            <a:off x="819150" y="304800"/>
            <a:ext cx="9858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 · 8.9 / 8.10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9" name="文本框 1768" descr="{&quot;isTemplate&quot;:true,&quot;type&quot;:&quot;text&quot;}"/>
          <p:cNvSpPr txBox="1"/>
          <p:nvPr/>
        </p:nvSpPr>
        <p:spPr>
          <a:xfrm>
            <a:off x="819150" y="514350"/>
            <a:ext cx="9858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快速失败与现场演示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0" name="文本框 1769" descr="{&quot;isTemplate&quot;:true,&quot;type&quot;:&quot;text&quot;}"/>
          <p:cNvSpPr txBox="1"/>
          <p:nvPr/>
        </p:nvSpPr>
        <p:spPr>
          <a:xfrm>
            <a:off x="10848975" y="590550"/>
            <a:ext cx="733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行字母标号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1" name="圆角矩形 1770"/>
          <p:cNvSpPr/>
          <p:nvPr/>
        </p:nvSpPr>
        <p:spPr>
          <a:xfrm>
            <a:off x="609600" y="1143000"/>
            <a:ext cx="4476750" cy="3886200"/>
          </a:xfrm>
          <a:prstGeom prst="roundRect">
            <a:avLst>
              <a:gd name="adj" fmla="val 2941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772" name="文本框 1771" descr="{&quot;isTemplate&quot;:true,&quot;type&quot;:&quot;text&quot;}"/>
          <p:cNvSpPr txBox="1"/>
          <p:nvPr/>
        </p:nvSpPr>
        <p:spPr>
          <a:xfrm>
            <a:off x="800100" y="1333500"/>
            <a:ext cx="40957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快速失败：</a:t>
            </a:r>
            <a:r>
              <a:rPr lang="en-US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BreakingCommand</a:t>
            </a:r>
            <a:endParaRPr lang="en-US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3" name="圆角矩形 1772"/>
          <p:cNvSpPr/>
          <p:nvPr/>
        </p:nvSpPr>
        <p:spPr>
          <a:xfrm>
            <a:off x="800100" y="1657350"/>
            <a:ext cx="4095750" cy="1409700"/>
          </a:xfrm>
          <a:prstGeom prst="roundRect">
            <a:avLst>
              <a:gd name="adj" fmla="val 540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774" name="文本框 1773" descr="{&quot;isTemplate&quot;:true,&quot;type&quot;:&quot;text&quot;}"/>
          <p:cNvSpPr txBox="1"/>
          <p:nvPr/>
        </p:nvSpPr>
        <p:spPr>
          <a:xfrm>
            <a:off x="933450" y="1790700"/>
            <a:ext cx="38290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import fountain::f_data.BreakingCommand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775" name="文本框 1774" descr="{&quot;isTemplate&quot;:true,&quot;type&quot;:&quot;text&quot;}"/>
          <p:cNvSpPr txBox="1"/>
          <p:nvPr/>
        </p:nvSpPr>
        <p:spPr>
          <a:xfrm>
            <a:off x="933450" y="2143125"/>
            <a:ext cx="38290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perform BreakingCommand(someValue.toData())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776" name="文本框 1775" descr="{&quot;isTemplate&quot;:true,&quot;type&quot;:&quot;text&quot;}"/>
          <p:cNvSpPr txBox="1"/>
          <p:nvPr/>
        </p:nvSpPr>
        <p:spPr>
          <a:xfrm>
            <a:off x="933450" y="2419350"/>
            <a:ext cx="38290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perform BreakingCommand.new(someValue)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777" name="文本框 1776" descr="{&quot;isTemplate&quot;:true,&quot;type&quot;:&quot;text&quot;}"/>
          <p:cNvSpPr txBox="1"/>
          <p:nvPr/>
        </p:nvSpPr>
        <p:spPr>
          <a:xfrm>
            <a:off x="933450" y="2695575"/>
            <a:ext cx="38290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// .new(...)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T &lt;: ToData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的便捷入口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8" name="文本框 1777" descr="{&quot;isTemplate&quot;:true,&quot;type&quot;:&quot;text&quot;}"/>
          <p:cNvSpPr txBox="1"/>
          <p:nvPr/>
        </p:nvSpPr>
        <p:spPr>
          <a:xfrm>
            <a:off x="800100" y="3219450"/>
            <a:ext cx="409575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在很深的调用栈里需要「立刻返回，别再往下走」时用它，比一层层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return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干净得多。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9" name="文本框 1778" descr="{&quot;isTemplate&quot;:true,&quot;type&quot;:&quot;text&quot;}"/>
          <p:cNvSpPr txBox="1"/>
          <p:nvPr/>
        </p:nvSpPr>
        <p:spPr>
          <a:xfrm>
            <a:off x="800100" y="4524375"/>
            <a:ext cx="409575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MVC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会把它携带的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Data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直接作为响应体返回。</a:t>
            </a:r>
            <a:endParaRPr lang="zh-CN" sz="112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0" name="圆角矩形 1779"/>
          <p:cNvSpPr/>
          <p:nvPr/>
        </p:nvSpPr>
        <p:spPr>
          <a:xfrm>
            <a:off x="609600" y="5162550"/>
            <a:ext cx="4476750" cy="1123950"/>
          </a:xfrm>
          <a:prstGeom prst="roundRect">
            <a:avLst>
              <a:gd name="adj" fmla="val 10169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781" name="文本框 1780" descr="{&quot;isTemplate&quot;:true,&quot;type&quot;:&quot;text&quot;}"/>
          <p:cNvSpPr txBox="1"/>
          <p:nvPr/>
        </p:nvSpPr>
        <p:spPr>
          <a:xfrm>
            <a:off x="781050" y="5334000"/>
            <a:ext cx="41338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本章小结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2" name="文本框 1781" descr="{&quot;isTemplate&quot;:true,&quot;type&quot;:&quot;text&quot;}"/>
          <p:cNvSpPr txBox="1"/>
          <p:nvPr/>
        </p:nvSpPr>
        <p:spPr>
          <a:xfrm>
            <a:off x="781050" y="5562600"/>
            <a:ext cx="41338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f_data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解决的是「数据怎么流动」——它同时是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MVC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ORM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JWT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的共同底座。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3" name="圆角矩形 1782"/>
          <p:cNvSpPr/>
          <p:nvPr/>
        </p:nvSpPr>
        <p:spPr>
          <a:xfrm>
            <a:off x="5276850" y="1143000"/>
            <a:ext cx="63055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784" name="文本框 1783" descr="{&quot;isTemplate&quot;:true,&quot;type&quot;:&quot;text&quot;}"/>
          <p:cNvSpPr txBox="1"/>
          <p:nvPr/>
        </p:nvSpPr>
        <p:spPr>
          <a:xfrm>
            <a:off x="5467350" y="1333500"/>
            <a:ext cx="59245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启动日志里会打出这一组输出（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boot.cj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static init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5" name="文本框 1784" descr="{&quot;isTemplate&quot;:true,&quot;type&quot;:&quot;text&quot;}"/>
          <p:cNvSpPr txBox="1"/>
          <p:nvPr/>
        </p:nvSpPr>
        <p:spPr>
          <a:xfrm>
            <a:off x="5467350" y="1590675"/>
            <a:ext cx="5924550" cy="2200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AAAAA…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{TestData2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的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toString}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BBBBB…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{TestData3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：从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TestData2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复制而来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CCCCC…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{TestData2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转成的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JSON}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DDDDD…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{JSON → Data → TestData3}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EEEEE…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{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反向复制回来，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b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字段被改空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FFFFF…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{HashMap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转成的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JSON}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GGGGG…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{toJson(TestData2)}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HHHHH…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{fromJson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回来后的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Data}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786" name="文本框 1785" descr="{&quot;isTemplate&quot;:true,&quot;type&quot;:&quot;text&quot;}"/>
          <p:cNvSpPr txBox="1"/>
          <p:nvPr/>
        </p:nvSpPr>
        <p:spPr>
          <a:xfrm>
            <a:off x="5467350" y="3886200"/>
            <a:ext cx="59245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@@@@@…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user_info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　　　←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UserPO.tableName()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@@@@@…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t_user_info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　　←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UserInfoPO.tableName()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（前缀演示）</a:t>
            </a:r>
            <a:endParaRPr lang="zh-CN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787" name="文本框 1786" descr="{&quot;isTemplate&quot;:true,&quot;type&quot;:&quot;text&quot;}"/>
          <p:cNvSpPr txBox="1"/>
          <p:nvPr/>
        </p:nvSpPr>
        <p:spPr>
          <a:xfrm>
            <a:off x="5467350" y="5514975"/>
            <a:ext cx="592455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8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行字母标号，走完了「对象→对象」「对象→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JSON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」「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JSON→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对象」「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Map→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对象」四条路。这些代码不需要你写，全部是宏生成的。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8" name="任意多边形 178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789" name="文本框 178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0" name="文本框 178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矩形 17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793" name="矩形 179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794" name="文本框 1793" descr="{&quot;isTemplate&quot;:true,&quot;type&quot;:&quot;text&quot;}"/>
          <p:cNvSpPr txBox="1"/>
          <p:nvPr/>
        </p:nvSpPr>
        <p:spPr>
          <a:xfrm>
            <a:off x="819150" y="304800"/>
            <a:ext cx="10096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工具箱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f_util · 9.1 / 9.2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5" name="文本框 1794" descr="{&quot;isTemplate&quot;:true,&quot;type&quot;:&quot;text&quot;}"/>
          <p:cNvSpPr txBox="1"/>
          <p:nvPr/>
        </p:nvSpPr>
        <p:spPr>
          <a:xfrm>
            <a:off x="819150" y="514350"/>
            <a:ext cx="10096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f_util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全景与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UUID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6" name="文本框 1795" descr="{&quot;isTemplate&quot;:true,&quot;type&quot;:&quot;text&quot;}"/>
          <p:cNvSpPr txBox="1"/>
          <p:nvPr/>
        </p:nvSpPr>
        <p:spPr>
          <a:xfrm>
            <a:off x="11087100" y="59055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瑞士军刀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7" name="圆角矩形 1796"/>
          <p:cNvSpPr/>
          <p:nvPr/>
        </p:nvSpPr>
        <p:spPr>
          <a:xfrm>
            <a:off x="609600" y="1143000"/>
            <a:ext cx="4572000" cy="5143500"/>
          </a:xfrm>
          <a:prstGeom prst="roundRect">
            <a:avLst>
              <a:gd name="adj" fmla="val 25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798" name="文本框 1797" descr="{&quot;isTemplate&quot;:true,&quot;type&quot;:&quot;text&quot;}"/>
          <p:cNvSpPr txBox="1"/>
          <p:nvPr/>
        </p:nvSpPr>
        <p:spPr>
          <a:xfrm>
            <a:off x="800100" y="1333500"/>
            <a:ext cx="4191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先给一个全景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799" name="表格 1798"/>
          <p:cNvGraphicFramePr/>
          <p:nvPr/>
        </p:nvGraphicFramePr>
        <p:xfrm>
          <a:off x="800100" y="1638300"/>
          <a:ext cx="4191000" cy="4305300"/>
        </p:xfrm>
        <a:graphic>
          <a:graphicData uri="http://schemas.openxmlformats.org/drawingml/2006/table">
            <a:tbl>
              <a:tblPr/>
              <a:tblGrid>
                <a:gridCol w="656530"/>
                <a:gridCol w="3534470"/>
              </a:tblGrid>
              <a:tr h="5169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成员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169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ID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UUID · @IsUUID · IdMaker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69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文本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TextTemplate · CaseFormat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69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结构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PathPattern · TreeTransformer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6033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设计模式骨架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Factory · Strategy/Strategies · ResponsibilityChain · Mediator · StatePattern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6033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哈希 / 摘要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crc16 · crc32 · crc64 · CityHash · MurmurHash3X128 · wyhash · UInt128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69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其它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geohash · DiffieHellmanKeyExchanger · prime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00" name="圆角矩形 1799"/>
          <p:cNvSpPr/>
          <p:nvPr/>
        </p:nvSpPr>
        <p:spPr>
          <a:xfrm>
            <a:off x="5372100" y="1143000"/>
            <a:ext cx="6210300" cy="2628900"/>
          </a:xfrm>
          <a:prstGeom prst="roundRect">
            <a:avLst>
              <a:gd name="adj" fmla="val 4348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801" name="文本框 1800" descr="{&quot;isTemplate&quot;:true,&quot;type&quot;:&quot;text&quot;}"/>
          <p:cNvSpPr txBox="1"/>
          <p:nvPr/>
        </p:nvSpPr>
        <p:spPr>
          <a:xfrm>
            <a:off x="5562600" y="1333500"/>
            <a:ext cx="5829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UUID</a:t>
            </a: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v1 / v3 / v4 / v5 / v6 / v7 / v8 </a:t>
            </a: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全支持</a:t>
            </a:r>
            <a:endParaRPr lang="zh-CN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2" name="文本框 1801" descr="{&quot;isTemplate&quot;:true,&quot;type&quot;:&quot;text&quot;}"/>
          <p:cNvSpPr txBox="1"/>
          <p:nvPr/>
        </p:nvSpPr>
        <p:spPr>
          <a:xfrm>
            <a:off x="5562600" y="1638300"/>
            <a:ext cx="58293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参照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RFC 4122bis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草案实现。它实现了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DataFields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DataParsable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，所以天然能进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f_data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体系：可直接作为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PO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字段、被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populate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复制、与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JSON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互转，不需要胶水代码。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3" name="文本框 1802" descr="{&quot;isTemplate&quot;:true,&quot;type&quot;:&quot;text&quot;}"/>
          <p:cNvSpPr txBox="1"/>
          <p:nvPr/>
        </p:nvSpPr>
        <p:spPr>
          <a:xfrm>
            <a:off x="5562600" y="3067050"/>
            <a:ext cx="58293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64748B"/>
                </a:solidFill>
                <a:latin typeface="JetBrains Mono"/>
                <a:ea typeface="JetBrains Mono"/>
              </a:rPr>
              <a:t>public struct UUID &lt;: Hashable &amp; Comparable&lt;UUID&gt; &amp; ToString &amp; Parsable&lt;UUID&gt; &amp; DataParsable&lt;UUID&gt; &amp; DataFields&lt;UUID&gt;</a:t>
            </a:r>
            <a:endParaRPr lang="en-US" sz="97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1804" name="圆角矩形 1803"/>
          <p:cNvSpPr/>
          <p:nvPr/>
        </p:nvSpPr>
        <p:spPr>
          <a:xfrm>
            <a:off x="5372100" y="3905250"/>
            <a:ext cx="6210300" cy="2381250"/>
          </a:xfrm>
          <a:prstGeom prst="roundRect">
            <a:avLst>
              <a:gd name="adj" fmla="val 48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805" name="文本框 1804" descr="{&quot;isTemplate&quot;:true,&quot;type&quot;:&quot;text&quot;}"/>
          <p:cNvSpPr txBox="1"/>
          <p:nvPr/>
        </p:nvSpPr>
        <p:spPr>
          <a:xfrm>
            <a:off x="5543550" y="4076700"/>
            <a:ext cx="5867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工厂函数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6" name="文本框 1805" descr="{&quot;isTemplate&quot;:true,&quot;type&quot;:&quot;text&quot;}"/>
          <p:cNvSpPr txBox="1"/>
          <p:nvPr/>
        </p:nvSpPr>
        <p:spPr>
          <a:xfrm>
            <a:off x="5543550" y="4305300"/>
            <a:ext cx="58674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UUID.random()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　　　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v4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随机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07" name="文本框 1806" descr="{&quot;isTemplate&quot;:true,&quot;type&quot;:&quot;text&quot;}"/>
          <p:cNvSpPr txBox="1"/>
          <p:nvPr/>
        </p:nvSpPr>
        <p:spPr>
          <a:xfrm>
            <a:off x="5543550" y="4562475"/>
            <a:ext cx="58674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UUID.unixTimeBased()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v7 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毫秒时间戳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+ 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随机，时间有序，适合做主键</a:t>
            </a:r>
            <a:endParaRPr lang="zh-CN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808" name="文本框 1807" descr="{&quot;isTemplate&quot;:true,&quot;type&quot;:&quot;text&quot;}"/>
          <p:cNvSpPr txBox="1"/>
          <p:nvPr/>
        </p:nvSpPr>
        <p:spPr>
          <a:xfrm>
            <a:off x="5543550" y="4819650"/>
            <a:ext cx="58674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UUID.timeBased()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　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v1 / v6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，返回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TimeBasedUUIDBuilder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09" name="文本框 1808" descr="{&quot;isTemplate&quot;:true,&quot;type&quot;:&quot;text&quot;}"/>
          <p:cNvSpPr txBox="1"/>
          <p:nvPr/>
        </p:nvSpPr>
        <p:spPr>
          <a:xfrm>
            <a:off x="5543550" y="5076825"/>
            <a:ext cx="58674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UUID.md5(v) / md5(b)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v3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命名空间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UUID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（同名输入恒等）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10" name="文本框 1809" descr="{&quot;isTemplate&quot;:true,&quot;type&quot;:&quot;text&quot;}"/>
          <p:cNvSpPr txBox="1"/>
          <p:nvPr/>
        </p:nvSpPr>
        <p:spPr>
          <a:xfrm>
            <a:off x="5543550" y="5334000"/>
            <a:ext cx="58674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UUID.sha1(v) / randomMd5 / randomSha1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　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v5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11" name="文本框 1810" descr="{&quot;isTemplate&quot;:true,&quot;type&quot;:&quot;text&quot;}"/>
          <p:cNvSpPr txBox="1"/>
          <p:nvPr/>
        </p:nvSpPr>
        <p:spPr>
          <a:xfrm>
            <a:off x="5543550" y="5591175"/>
            <a:ext cx="58674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UUID.custom(values)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v8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自定义，只取前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16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字节</a:t>
            </a:r>
            <a:endParaRPr lang="zh-CN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12" name="文本框 1811" descr="{&quot;isTemplate&quot;:true,&quot;type&quot;:&quot;text&quot;}"/>
          <p:cNvSpPr txBox="1"/>
          <p:nvPr/>
        </p:nvSpPr>
        <p:spPr>
          <a:xfrm>
            <a:off x="5543550" y="5848350"/>
            <a:ext cx="58674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UUID.parse(s) / tryParse(s)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id.toHexString() / id.version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13" name="任意多边形 181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814" name="文本框 181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5" name="文本框 1814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矩形 18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818" name="矩形 181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819" name="文本框 1818" descr="{&quot;isTemplate&quot;:true,&quot;type&quot;:&quot;text&quot;}"/>
          <p:cNvSpPr txBox="1"/>
          <p:nvPr/>
        </p:nvSpPr>
        <p:spPr>
          <a:xfrm>
            <a:off x="819150" y="304800"/>
            <a:ext cx="94392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工具箱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f_util · 9.3 / 9.4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0" name="文本框 1819" descr="{&quot;isTemplate&quot;:true,&quot;type&quot;:&quot;text&quot;}"/>
          <p:cNvSpPr txBox="1"/>
          <p:nvPr/>
        </p:nvSpPr>
        <p:spPr>
          <a:xfrm>
            <a:off x="819150" y="514350"/>
            <a:ext cx="94392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IsUUID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注解与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IdMaker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1" name="文本框 1820" descr="{&quot;isTemplate&quot;:true,&quot;type&quot;:&quot;text&quot;}"/>
          <p:cNvSpPr txBox="1"/>
          <p:nvPr/>
        </p:nvSpPr>
        <p:spPr>
          <a:xfrm>
            <a:off x="10429875" y="590550"/>
            <a:ext cx="11525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行源码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雪花算法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2" name="圆角矩形 1821"/>
          <p:cNvSpPr/>
          <p:nvPr/>
        </p:nvSpPr>
        <p:spPr>
          <a:xfrm>
            <a:off x="609600" y="1143000"/>
            <a:ext cx="5410200" cy="2886075"/>
          </a:xfrm>
          <a:prstGeom prst="roundRect">
            <a:avLst>
              <a:gd name="adj" fmla="val 396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823" name="文本框 1822" descr="{&quot;isTemplate&quot;:true,&quot;type&quot;:&quot;text&quot;}"/>
          <p:cNvSpPr txBox="1"/>
          <p:nvPr/>
        </p:nvSpPr>
        <p:spPr>
          <a:xfrm>
            <a:off x="781050" y="1314450"/>
            <a:ext cx="506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f_util/src/IsUUID.cj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行）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4" name="文本框 1823" descr="{&quot;isTemplate&quot;:true,&quot;type&quot;:&quot;text&quot;}"/>
          <p:cNvSpPr txBox="1"/>
          <p:nvPr/>
        </p:nvSpPr>
        <p:spPr>
          <a:xfrm>
            <a:off x="781050" y="1543050"/>
            <a:ext cx="5067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@Annotation[target: [MemberVariable, MemberProperty, Parameter]]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25" name="文本框 1824" descr="{&quot;isTemplate&quot;:true,&quot;type&quot;:&quot;text&quot;}"/>
          <p:cNvSpPr txBox="1"/>
          <p:nvPr/>
        </p:nvSpPr>
        <p:spPr>
          <a:xfrm>
            <a:off x="781050" y="1800225"/>
            <a:ext cx="5067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class IsUUID &lt;: Validator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26" name="文本框 1825" descr="{&quot;isTemplate&quot;:true,&quot;type&quot;:&quot;text&quot;}"/>
          <p:cNvSpPr txBox="1"/>
          <p:nvPr/>
        </p:nvSpPr>
        <p:spPr>
          <a:xfrm>
            <a:off x="781050" y="2057400"/>
            <a:ext cx="5067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public func validate(value: ?String): Bool {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27" name="文本框 1826" descr="{&quot;isTemplate&quot;:true,&quot;type&quot;:&quot;text&quot;}"/>
          <p:cNvSpPr txBox="1"/>
          <p:nvPr/>
        </p:nvSpPr>
        <p:spPr>
          <a:xfrm>
            <a:off x="781050" y="2314575"/>
            <a:ext cx="50673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    if(let Some(x) &lt;- value){ UUID.tryParse(x).isSome() } else { false }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28" name="文本框 1827" descr="{&quot;isTemplate&quot;:true,&quot;type&quot;:&quot;text&quot;}"/>
          <p:cNvSpPr txBox="1"/>
          <p:nvPr/>
        </p:nvSpPr>
        <p:spPr>
          <a:xfrm>
            <a:off x="781050" y="2828925"/>
            <a:ext cx="5067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}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29" name="文本框 1828" descr="{&quot;isTemplate&quot;:true,&quot;type&quot;:&quot;text&quot;}"/>
          <p:cNvSpPr txBox="1"/>
          <p:nvPr/>
        </p:nvSpPr>
        <p:spPr>
          <a:xfrm>
            <a:off x="781050" y="3086100"/>
            <a:ext cx="50673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public prop description: String { get(){ '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必须是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UUID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格式的字符串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' } 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30" name="文本框 1829" descr="{&quot;isTemplate&quot;:true,&quot;type&quot;:&quot;text&quot;}"/>
          <p:cNvSpPr txBox="1"/>
          <p:nvPr/>
        </p:nvSpPr>
        <p:spPr>
          <a:xfrm>
            <a:off x="781050" y="3600450"/>
            <a:ext cx="5067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31" name="圆角矩形 1830"/>
          <p:cNvSpPr/>
          <p:nvPr/>
        </p:nvSpPr>
        <p:spPr>
          <a:xfrm>
            <a:off x="6172200" y="1143000"/>
            <a:ext cx="5410200" cy="2533650"/>
          </a:xfrm>
          <a:prstGeom prst="roundRect">
            <a:avLst>
              <a:gd name="adj" fmla="val 4511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832" name="文本框 1831" descr="{&quot;isTemplate&quot;:true,&quot;type&quot;:&quot;text&quot;}"/>
          <p:cNvSpPr txBox="1"/>
          <p:nvPr/>
        </p:nvSpPr>
        <p:spPr>
          <a:xfrm>
            <a:off x="6343650" y="1314450"/>
            <a:ext cx="50673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f_data </a:t>
            </a: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是同一套体系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3" name="文本框 1832" descr="{&quot;isTemplate&quot;:true,&quot;type&quot;:&quot;text&quot;}"/>
          <p:cNvSpPr txBox="1"/>
          <p:nvPr/>
        </p:nvSpPr>
        <p:spPr>
          <a:xfrm>
            <a:off x="6343650" y="1581150"/>
            <a:ext cx="5067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父类是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fountain::f_data.validation.Validator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，所以可以和其他校验器一起用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&amp; | !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组合：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4" name="文本框 1833" descr="{&quot;isTemplate&quot;:true,&quot;type&quot;:&quot;text&quot;}"/>
          <p:cNvSpPr txBox="1"/>
          <p:nvPr/>
        </p:nvSpPr>
        <p:spPr>
          <a:xfrm>
            <a:off x="6343650" y="1933575"/>
            <a:ext cx="50673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@IsUUID            //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必须是</a:t>
            </a: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UUID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835" name="文本框 1834" descr="{&quot;isTemplate&quot;:true,&quot;type&quot;:&quot;text&quot;}"/>
          <p:cNvSpPr txBox="1"/>
          <p:nvPr/>
        </p:nvSpPr>
        <p:spPr>
          <a:xfrm>
            <a:off x="6343650" y="2200275"/>
            <a:ext cx="50673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private var orderId: String = ''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836" name="文本框 1835" descr="{&quot;isTemplate&quot;:true,&quot;type&quot;:&quot;text&quot;}"/>
          <p:cNvSpPr txBox="1"/>
          <p:nvPr/>
        </p:nvSpPr>
        <p:spPr>
          <a:xfrm>
            <a:off x="6343650" y="3238500"/>
            <a:ext cx="50673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target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里有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Parameter ——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函数参数上也能用，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f_mvc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绑定时会自动触发。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7" name="圆角矩形 1836"/>
          <p:cNvSpPr/>
          <p:nvPr/>
        </p:nvSpPr>
        <p:spPr>
          <a:xfrm>
            <a:off x="609600" y="3829050"/>
            <a:ext cx="10972800" cy="2457450"/>
          </a:xfrm>
          <a:prstGeom prst="roundRect">
            <a:avLst>
              <a:gd name="adj" fmla="val 465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838" name="文本框 1837" descr="{&quot;isTemplate&quot;:true,&quot;type&quot;:&quot;text&quot;}"/>
          <p:cNvSpPr txBox="1"/>
          <p:nvPr/>
        </p:nvSpPr>
        <p:spPr>
          <a:xfrm>
            <a:off x="800100" y="4019550"/>
            <a:ext cx="10591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IdMaker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：趋势递增的分布式</a:t>
            </a:r>
            <a:r>
              <a:rPr lang="en-US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ID</a:t>
            </a: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（雪花算法）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9" name="圆角矩形 1838"/>
          <p:cNvSpPr/>
          <p:nvPr/>
        </p:nvSpPr>
        <p:spPr>
          <a:xfrm>
            <a:off x="800100" y="4343400"/>
            <a:ext cx="2095500" cy="419100"/>
          </a:xfrm>
          <a:prstGeom prst="roundRect">
            <a:avLst>
              <a:gd name="adj" fmla="val 1818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840" name="文本框 1839" descr="{&quot;isTemplate&quot;:true,&quot;type&quot;:&quot;text&quot;}"/>
          <p:cNvSpPr txBox="1"/>
          <p:nvPr/>
        </p:nvSpPr>
        <p:spPr>
          <a:xfrm>
            <a:off x="1314450" y="4476750"/>
            <a:ext cx="10763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10 bit </a:t>
            </a:r>
            <a:r>
              <a:rPr lang="zh-CN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主机序列号</a:t>
            </a:r>
            <a:endParaRPr lang="zh-CN" sz="10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1" name="圆角矩形 1840"/>
          <p:cNvSpPr/>
          <p:nvPr/>
        </p:nvSpPr>
        <p:spPr>
          <a:xfrm>
            <a:off x="2971800" y="4343400"/>
            <a:ext cx="6057900" cy="419100"/>
          </a:xfrm>
          <a:prstGeom prst="roundRect">
            <a:avLst>
              <a:gd name="adj" fmla="val 1818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842" name="文本框 1841" descr="{&quot;isTemplate&quot;:true,&quot;type&quot;:&quot;text&quot;}"/>
          <p:cNvSpPr txBox="1"/>
          <p:nvPr/>
        </p:nvSpPr>
        <p:spPr>
          <a:xfrm>
            <a:off x="5467350" y="4476750"/>
            <a:ext cx="10763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41 bit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毫秒时间戳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3" name="圆角矩形 1842"/>
          <p:cNvSpPr/>
          <p:nvPr/>
        </p:nvSpPr>
        <p:spPr>
          <a:xfrm>
            <a:off x="9105900" y="4343400"/>
            <a:ext cx="2286000" cy="419100"/>
          </a:xfrm>
          <a:prstGeom prst="roundRect">
            <a:avLst>
              <a:gd name="adj" fmla="val 1818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844" name="文本框 1843" descr="{&quot;isTemplate&quot;:true,&quot;type&quot;:&quot;text&quot;}"/>
          <p:cNvSpPr txBox="1"/>
          <p:nvPr/>
        </p:nvSpPr>
        <p:spPr>
          <a:xfrm>
            <a:off x="9582150" y="4476750"/>
            <a:ext cx="13430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12 bit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毫秒内自增序号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5" name="文本框 1844" descr="{&quot;isTemplate&quot;:true,&quot;type&quot;:&quot;text&quot;}"/>
          <p:cNvSpPr txBox="1"/>
          <p:nvPr/>
        </p:nvSpPr>
        <p:spPr>
          <a:xfrm>
            <a:off x="800100" y="4876800"/>
            <a:ext cx="10591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主机序列号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0–1023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，来自配置项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idMakerHostSerial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nextInt64()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是原子自增，无锁、线程安全。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6" name="文本框 1845" descr="{&quot;isTemplate&quot;:true,&quot;type&quot;:&quot;text&quot;}"/>
          <p:cNvSpPr txBox="1"/>
          <p:nvPr/>
        </p:nvSpPr>
        <p:spPr>
          <a:xfrm>
            <a:off x="800100" y="5210175"/>
            <a:ext cx="10591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注意三点：①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主机号必须全局唯一；②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每毫秒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4096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个，超出会向时间戳位进位（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ID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仍递增，时间戳含义漂移）；③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跨进程重启不冲突（有主机号兜底）。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7" name="任意多边形 184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848" name="文本框 184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9" name="文本框 184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" name=""/>
          <p:cNvSpPr txBox="1"/>
          <p:nvPr/>
        </p:nvSpPr>
        <p:spPr>
          <a:xfrm rot="0" flipH="0" flipV="0">
            <a:off x="8458200" y="1619250"/>
            <a:ext cx="33528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6233A"/>
                </a:solidFill>
                <a:latin typeface="JetBrains Mono"/>
                <a:ea typeface="JetBrains Mono"/>
              </a:rPr>
              <a:t>END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1143000" y="142875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" name=""/>
          <p:cNvSpPr txBox="1"/>
          <p:nvPr/>
        </p:nvSpPr>
        <p:spPr>
          <a:xfrm rot="0" flipH="0" flipV="0">
            <a:off x="1333500" y="1514475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本讲小结</a:t>
            </a: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09 / 25</a:t>
            </a:r>
            <a:endParaRPr/>
          </a:p>
        </p:txBody>
      </p:sp>
      <p:sp>
        <p:nvSpPr>
          <p:cNvPr id="20" name=""/>
          <p:cNvSpPr txBox="1"/>
          <p:nvPr/>
        </p:nvSpPr>
        <p:spPr>
          <a:xfrm rot="0" flipH="0" flipV="0">
            <a:off x="1143000" y="2019300"/>
            <a:ext cx="2600325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f_data 收尾与 f_util 开场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1143000" y="272415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" name=""/>
          <p:cNvSpPr txBox="1"/>
          <p:nvPr/>
        </p:nvSpPr>
        <p:spPr>
          <a:xfrm rot="0" flipH="0" flipV="0">
            <a:off x="1143000" y="32004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数据校验：一个注解 + 可组合的规则</a:t>
            </a:r>
            <a:endParaRPr/>
          </a:p>
        </p:txBody>
      </p:sp>
      <p:sp>
        <p:nvSpPr>
          <p:cNvPr id="23" name=""/>
          <p:cNvSpPr txBox="1"/>
          <p:nvPr/>
        </p:nvSpPr>
        <p:spPr>
          <a:xfrm rot="0" flipH="0" flipV="0">
            <a:off x="1143000" y="363855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转换扩展、JSON Schema、JSONPath、快速失败</a:t>
            </a:r>
            <a:endParaRPr/>
          </a:p>
        </p:txBody>
      </p:sp>
      <p:sp>
        <p:nvSpPr>
          <p:cNvPr id="24" name=""/>
          <p:cNvSpPr txBox="1"/>
          <p:nvPr/>
        </p:nvSpPr>
        <p:spPr>
          <a:xfrm rot="0" flipH="0" flipV="0">
            <a:off x="1143000" y="40767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f_util 全景　·　UUID 全版本　·　@IsUUID 与 IdMaker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43000" y="4762500"/>
            <a:ext cx="38100" cy="381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" name=""/>
          <p:cNvSpPr txBox="1"/>
          <p:nvPr/>
        </p:nvSpPr>
        <p:spPr>
          <a:xfrm rot="0" flipH="0" flipV="0">
            <a:off x="1371600" y="4857750"/>
            <a:ext cx="1057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下一讲：f_util 工具箱</a:t>
            </a:r>
            <a:endParaRPr/>
          </a:p>
        </p:txBody>
      </p:sp>
      <p:sp>
        <p:nvSpPr>
          <p:cNvPr id="27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helloworld</cp:lastModifiedBy>
  <cp:revision>148</cp:revision>
  <dcterms:created xsi:type="dcterms:W3CDTF">2026-10-02T13:55:00Z</dcterms:created>
  <dcterms:modified xsi:type="dcterms:W3CDTF">2026-10-03T02:38:11Z</dcterms:modified>
</cp:coreProperties>
</file>