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Sl1"/>
    <p:sldId id="257" r:id="rIdSl2"/>
    <p:sldId id="258" r:id="rIdSl3"/>
    <p:sldId id="259" r:id="rIdSl4"/>
    <p:sldId id="260" r:id="rIdSl5"/>
    <p:sldId id="261" r:id="rIdSl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22" Type="http://schemas.openxmlformats.org/officeDocument/2006/relationships/tableStyles" Target="tableStyles.xml"/><Relationship Id="rId121" Type="http://schemas.openxmlformats.org/officeDocument/2006/relationships/viewProps" Target="viewProps.xml"/><Relationship Id="rId1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这一讲把 f_http 讲完。先说 MediaTypes 注册表的两个来源——static init 内置注册，以及首次解析时从 IOC 拉取所有 MediaType bean，所以加个 @Bean 就多一种数据格式。然后是自定义格式的完整六步，漏一件就编译不过或匹配不上。接着是文件上传的收发两侧，最后是三个异常的排错思路。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内置的三种实现和注册表。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三个实现：PlainTextMediaType 对应 text/plain；JsonMediaType 对应 application/json；MultipartMediaType 对应 multipart/form-data 和 multipart/mixed。前两个的父类是 TextMediaType，也就是带字符集的文本格式父类——它处理分号 charset 后缀，toString 会输出「媒体类型名后跟分号然后是 charset，后面是等号和字符集名称」。JsonMediaType 的 toData 就是把字符串先解析成 JsonValue 再转 Data；fromData 反过来，先 tryFromData 再按 charset 编码。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MultipartMediaType 不一样：它带 boundary，toString 形如 multipart/form-data 分号 boundary 等号最后是</a:t>
            </a:r>
            <a:r>
              <a:rPr lang="en-US" altLang="zh-CN" dirty="0"/>
              <a:t>boundary</a:t>
            </a:r>
            <a:r>
              <a:rPr lang="zh-CN" altLang="en-US" dirty="0"/>
              <a:t>串</a:t>
            </a:r>
            <a:r>
              <a:rPr lang="zh-CN" dirty="0"/>
              <a:t>；它的 fromData 和 toData 字节版直接抛异常，只支持 toData 输入流这一种形式，因为它是用来解析上传流的。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然后是 MediaTypes 注册表，这一段是重点，解释「为什么加个 @Bean 就多了一种数据格式」。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MediaTypes 内部是一张并发 HashMap，它有两个注册来源。第一，static init 里内置注册那四个：JsonMediaType 的单例、MultipartMediaType 的 formData 和 mixed、PlainTextMediaType 的单例。第二，首次 tryParse 时从 IOC 拉取：它会调 BeanFactory 的 getList 把所有 @Bean 修饰的 MediaType 一并注册，而且用一个原子计数加条件变量保证只做一次、且并发安全。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 fdemo 的 LogTextMediaType 只要加个 @Bean，application/json+log 就自动可用了——不需要任何注册代码。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解析时还有一个宽容处理：tryParse 先按完整的媒体类型字符串查找，找不到就截掉分号之后的参数再找一次，比如 application/json 分号 charset 等于 utf-8 会退化成 application/json；找到之后再调用它的 make 函数把字符集参数带回去。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自定义</a:t>
            </a:r>
            <a:r>
              <a:rPr lang="en-US" altLang="zh-CN" dirty="0"/>
              <a:t>MediaType</a:t>
            </a:r>
            <a:r>
              <a:rPr lang="zh-CN" dirty="0"/>
              <a:t>数据格式的完整清单，六步，漏一件就会编译不过或者匹配不上。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第一步，构造器里 super 参数是你的格式名。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第二步，实现 make 函数。为什么需要它？因为同一种格式可能带不同的参数——文本格式可能带不同 charset，multipart 可能带不同 boundary。所以要用它基于当前实例创建一个新的 MediaType。不需要参数的可以直接返回 this。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第三步，实现 toString。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第四步，实现等号和 hashCode。因为它是 Hashable 和 Equatable，而且 MediaTypes 会拿它做比较——漏了这一步，格式注册进去也匹配不上。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第五步，实现 fromData 和 toData。fromData 是响应方向：对象到字节；toData 是请求方向：字节到 Data。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第六步，加 @Bean。这是它被 MediaTypes 发现的唯一途径——前面讲过，MediaTypes 首次 tryParse 时会从 BeanFactory 拉取所有 MediaType。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用起来就是 consumes 和 produces 里写你自己的格式名。右边是完整的演示：一个 PostMapping 声明 application/json+log，然后用 curl 发一个同样 Content-Type 的请求；预期控制台出现 fromData 和 toData 两条日志，证明请求体和响应体都走了自定义格式。这一点在</a:t>
            </a:r>
            <a:r>
              <a:rPr lang="en-US" altLang="zh-CN" dirty="0"/>
              <a:t>fdemo</a:t>
            </a:r>
            <a:r>
              <a:rPr lang="zh-CN" altLang="en-US" dirty="0"/>
              <a:t>里已有例子。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这就是协议扩展点的用法：私有协议、加密报文、带签名的请求体，都可以用这种方式接入，业务代码完全不用关心编解码。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文件上传这一节，收和发两侧。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先说接收。看右边，UploadRequest 里两个字段，name 是字符串，file 是「可空的 MultipartFile」。Controller 上声明 consumes 是 multipart/form-data，函数参数用 RequestBody 接收整个 multipart 对象，然后打印文件大小和 name，返回 ok。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这里关键是 file 的类型。MultipartFile 是 f_http 的类型，它同时实现了 Multipart、InputStream、Resource、DataFields 和 Data——也就是说它既是数据，能进 f_data 体系；又是一个输入流，能直接读。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它的常用成员：filename、size、empty；isAttachment、isInline、isFormData 这三个来自 ContentDisposition；read、bytes、copyTo、reader 四个读取方式。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一个必须强调的点：它是 Resource，用完要 close。close 会连临时文件一起删掉，不会在磁盘上留垃圾。这也是第十八章的一个高频坑。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再说发送。构造一个 MultipartFormData，然后 newPart 链式构造：name 加 value 是普通字段，name 加 file 是文件字段，传入文件名、内容流和大小。最后 encode 写到输出流，或者拿 input 拿到一个 MultipartFileInputStream 自己读。boundary 是自动生成的。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配置两项：http_halfBufferSize 是 multipart 缓冲区的一半大小，默认两千零四十八字节；http_uploadDir 是上传文件的临时保存路径。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f_http 的异常只有三个，但每一个都很有用。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MediaTypeException，提示「x 不是一个合法的 MediaType 字符串」——这是 MediaTypes 解析时遇到没注册的格式报的。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MediaTypeException，「x 里的 charset 不被支持」——这是文本格式的字符集不支持时报的。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MediaTypeException，「x 不支持当前访问方式」——这是对 multipart 调用了 fromData(Data) 或者 toData(Array&lt;Byte&gt;) 时报的。前面讲过 multipart 只支持从输入流解析。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排错这一条最重要：遇到「is an illegal MediaType string」，百分之九十九是自定义 MediaType 的 @Bean 没生效。回到第三章那条规则——它所在的动态链接库必须被 --dylibPattern 匹配到。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fdemo 的 LogTextMediaType 在 boot 包里，而 boot.sh 的正则里有 boot 这一段，所以它能在启动时被加载、被 MediaTypes 发现、被注册进那张并发表。如果你的自定义格式放在一个没被正则覆盖的包里，它就会静默失效——症状就是这条异常。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所以自定义格式不生效时，先查 @Bean 有没有加，再查它所在的包有没有被 --dylibPattern 覆盖，最后才怀疑框架。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这一讲三个要点：一，自定义 MediaType 的六步里，加 @Bean 是它被发现的唯一途径；二，报 is an illegal MediaType string，九成是 @Bean 没生效或所在动态库没被 --dylibPattern 匹配到；三，MultipartFile 是 Resource，用完必须 close，否则临时文件会在磁盘上堆积。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_rels/slide2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Relationship Id="rIdHlink1" Type="http://schemas.openxmlformats.org/officeDocument/2006/relationships/hyperlink" Target="https://pkg.cangjie-lang.cn/org/fountain" TargetMode="External"/><Relationship Id="rIdHlink2" Type="http://schemas.openxmlformats.org/officeDocument/2006/relationships/hyperlink" Target="https://gitcode.com/Cangjie-SIG/fountain" TargetMode="External"/></Relationships>
</file>

<file path=ppt/slides/slide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" name=""/>
          <p:cNvSpPr txBox="1"/>
          <p:nvPr/>
        </p:nvSpPr>
        <p:spPr>
          <a:xfrm rot="0" flipH="0" flipV="0">
            <a:off x="-695325" y="1143000"/>
            <a:ext cx="12506325" cy="3657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0" b="1">
                <a:solidFill>
                  <a:srgbClr val="16233A"/>
                </a:solidFill>
                <a:latin typeface="JetBrains Mono"/>
                <a:ea typeface="JetBrains Mono"/>
              </a:rPr>
              <a:t>13</a:t>
            </a:r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1143000" y="186690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6" name=""/>
          <p:cNvSpPr txBox="1"/>
          <p:nvPr/>
        </p:nvSpPr>
        <p:spPr>
          <a:xfrm rot="0" flipH="0" flipV="0">
            <a:off x="1333500" y="1952625"/>
            <a:ext cx="426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PART 13 / 25 · 课程分册</a:t>
            </a:r>
            <a:endParaRPr/>
          </a:p>
        </p:txBody>
      </p:sp>
      <p:sp>
        <p:nvSpPr>
          <p:cNvPr id="7" name=""/>
          <p:cNvSpPr txBox="1"/>
          <p:nvPr/>
        </p:nvSpPr>
        <p:spPr>
          <a:xfrm rot="0" flipH="0" flipV="0">
            <a:off x="1143000" y="2495550"/>
            <a:ext cx="2867025" cy="609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f_http 扩展格式与上传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1143000" y="331470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 txBox="1"/>
          <p:nvPr/>
        </p:nvSpPr>
        <p:spPr>
          <a:xfrm rot="0" flipH="0" flipV="0">
            <a:off x="1143000" y="37719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MediaTypes 注册表：加个 @Bean 就多一种数据格式</a:t>
            </a:r>
            <a:endParaRPr/>
          </a:p>
        </p:txBody>
      </p:sp>
      <p:sp>
        <p:nvSpPr>
          <p:cNvPr id="10" name=""/>
          <p:cNvSpPr txBox="1"/>
          <p:nvPr/>
        </p:nvSpPr>
        <p:spPr>
          <a:xfrm rot="0" flipH="0" flipV="0">
            <a:off x="1143000" y="41148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自定义数据格式的完整六步清单</a:t>
            </a:r>
            <a:endParaRPr/>
          </a:p>
        </p:txBody>
      </p:sp>
      <p:sp>
        <p:nvSpPr>
          <p:cNvPr id="11" name=""/>
          <p:cNvSpPr txBox="1"/>
          <p:nvPr/>
        </p:nvSpPr>
        <p:spPr>
          <a:xfrm rot="0" flipH="0" flipV="0">
            <a:off x="1143000" y="4457700"/>
            <a:ext cx="904875" cy="4000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3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文件上传的收发两侧　·　f_http 异常与排错</a:t>
            </a:r>
            <a:endParaRPr/>
          </a:p>
        </p:txBody>
      </p:sp>
      <p:sp>
        <p:nvSpPr>
          <p:cNvPr id="12" name=""/>
          <p:cNvSpPr txBox="1"/>
          <p:nvPr/>
        </p:nvSpPr>
        <p:spPr>
          <a:xfrm rot="0" flipH="0" flipV="0">
            <a:off x="1143000" y="50292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 13 讲 / 共 25 讲　·　原稿第 71–74 页 + 首尾两页　·　约 14.8 分钟</a:t>
            </a:r>
            <a:endParaRPr/>
          </a:p>
        </p:txBody>
      </p:sp>
      <p:sp>
        <p:nvSpPr>
          <p:cNvPr id="13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矩形 23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331" name="矩形 2330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332" name="文本框 2331" descr="{&quot;isTemplate&quot;:true,&quot;type&quot;:&quot;text&quot;}"/>
          <p:cNvSpPr txBox="1"/>
          <p:nvPr/>
        </p:nvSpPr>
        <p:spPr>
          <a:xfrm>
            <a:off x="819150" y="304800"/>
            <a:ext cx="91059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HTTP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f_http · 11.3 / 11.4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3" name="文本框 2332" descr="{&quot;isTemplate&quot;:true,&quot;type&quot;:&quot;text&quot;}"/>
          <p:cNvSpPr txBox="1"/>
          <p:nvPr/>
        </p:nvSpPr>
        <p:spPr>
          <a:xfrm>
            <a:off x="819150" y="514350"/>
            <a:ext cx="91059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内置的三种实现与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MediaTypes </a:t>
            </a: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注册表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4" name="文本框 2333" descr="{&quot;isTemplate&quot;:true,&quot;type&quot;:&quot;text&quot;}"/>
          <p:cNvSpPr txBox="1"/>
          <p:nvPr/>
        </p:nvSpPr>
        <p:spPr>
          <a:xfrm>
            <a:off x="10096500" y="590550"/>
            <a:ext cx="14859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加个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就多一种格式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5" name="圆角矩形 2334"/>
          <p:cNvSpPr/>
          <p:nvPr/>
        </p:nvSpPr>
        <p:spPr>
          <a:xfrm>
            <a:off x="609600" y="1143000"/>
            <a:ext cx="4572000" cy="3981450"/>
          </a:xfrm>
          <a:prstGeom prst="roundRect">
            <a:avLst>
              <a:gd name="adj" fmla="val 287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36" name="文本框 2335" descr="{&quot;isTemplate&quot;:true,&quot;type&quot;:&quot;text&quot;}"/>
          <p:cNvSpPr txBox="1"/>
          <p:nvPr/>
        </p:nvSpPr>
        <p:spPr>
          <a:xfrm>
            <a:off x="781050" y="1314450"/>
            <a:ext cx="422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内置实现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7" name="文本框 2336" descr="{&quot;isTemplate&quot;:true,&quot;type&quot;:&quot;text&quot;}"/>
          <p:cNvSpPr txBox="1"/>
          <p:nvPr/>
        </p:nvSpPr>
        <p:spPr>
          <a:xfrm>
            <a:off x="781050" y="1543050"/>
            <a:ext cx="42291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public class PlainTextMediaType &lt;: TextMediaType   // text/plain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38" name="文本框 2337" descr="{&quot;isTemplate&quot;:true,&quot;type&quot;:&quot;text&quot;}"/>
          <p:cNvSpPr txBox="1"/>
          <p:nvPr/>
        </p:nvSpPr>
        <p:spPr>
          <a:xfrm>
            <a:off x="781050" y="2009775"/>
            <a:ext cx="42291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public class JsonMediaType      &lt;: TextMediaType   // application/json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39" name="文本框 2338" descr="{&quot;isTemplate&quot;:true,&quot;type&quot;:&quot;text&quot;}"/>
          <p:cNvSpPr txBox="1"/>
          <p:nvPr/>
        </p:nvSpPr>
        <p:spPr>
          <a:xfrm>
            <a:off x="781050" y="2476500"/>
            <a:ext cx="422910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public class MultipartMediaType &lt;: MediaType       // multipart/form-data, /mixed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340" name="文本框 2339" descr="{&quot;isTemplate&quot;:true,&quot;type&quot;:&quot;text&quot;}"/>
          <p:cNvSpPr txBox="1"/>
          <p:nvPr/>
        </p:nvSpPr>
        <p:spPr>
          <a:xfrm>
            <a:off x="781050" y="3038475"/>
            <a:ext cx="42291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TextMediaType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是带字符集的文本格式父类，处理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; charset=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后缀，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toString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输出「类型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; charset=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编码」。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1" name="文本框 2340" descr="{&quot;isTemplate&quot;:true,&quot;type&quot;:&quot;text&quot;}"/>
          <p:cNvSpPr txBox="1"/>
          <p:nvPr/>
        </p:nvSpPr>
        <p:spPr>
          <a:xfrm>
            <a:off x="781050" y="3629025"/>
            <a:ext cx="42291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JsonMediaType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toData(String) = JsonValue.fromStr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再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toData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fromData(Data) = tryFromData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再按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charset 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编码。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2" name="文本框 2341" descr="{&quot;isTemplate&quot;:true,&quot;type&quot;:&quot;text&quot;}"/>
          <p:cNvSpPr txBox="1"/>
          <p:nvPr/>
        </p:nvSpPr>
        <p:spPr>
          <a:xfrm>
            <a:off x="781050" y="4191000"/>
            <a:ext cx="4229100" cy="762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MultipartMediaType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带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boundary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fromData(Data)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toData(Array&lt;Byte&gt;)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直接抛异常，只支持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toData(input: InputStream)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（解析上传流）。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3" name="圆角矩形 2342"/>
          <p:cNvSpPr/>
          <p:nvPr/>
        </p:nvSpPr>
        <p:spPr>
          <a:xfrm>
            <a:off x="609600" y="5257800"/>
            <a:ext cx="4572000" cy="1028700"/>
          </a:xfrm>
          <a:prstGeom prst="roundRect">
            <a:avLst>
              <a:gd name="adj" fmla="val 11111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44" name="文本框 2343" descr="{&quot;isTemplate&quot;:true,&quot;type&quot;:&quot;text&quot;}"/>
          <p:cNvSpPr txBox="1"/>
          <p:nvPr/>
        </p:nvSpPr>
        <p:spPr>
          <a:xfrm>
            <a:off x="781050" y="5429250"/>
            <a:ext cx="42291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MediaTypes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注册表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5" name="文本框 2344" descr="{&quot;isTemplate&quot;:true,&quot;type&quot;:&quot;text&quot;}"/>
          <p:cNvSpPr txBox="1"/>
          <p:nvPr/>
        </p:nvSpPr>
        <p:spPr>
          <a:xfrm>
            <a:off x="781050" y="5657850"/>
            <a:ext cx="4229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MediaTypes.register(mediaType)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46" name="文本框 2345" descr="{&quot;isTemplate&quot;:true,&quot;type&quot;:&quot;text&quot;}"/>
          <p:cNvSpPr txBox="1"/>
          <p:nvPr/>
        </p:nvSpPr>
        <p:spPr>
          <a:xfrm>
            <a:off x="781050" y="5895975"/>
            <a:ext cx="4229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MediaTypes.parse(mediaType)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　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找不到抛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MediaTypeException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47" name="文本框 2346" descr="{&quot;isTemplate&quot;:true,&quot;type&quot;:&quot;text&quot;}"/>
          <p:cNvSpPr txBox="1"/>
          <p:nvPr/>
        </p:nvSpPr>
        <p:spPr>
          <a:xfrm>
            <a:off x="781050" y="6134100"/>
            <a:ext cx="42291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MediaTypes.tryParse(mediaType)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　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// </a:t>
            </a:r>
            <a:r>
              <a:rPr lang="zh-CN" sz="900">
                <a:solidFill>
                  <a:srgbClr val="E2E8F0"/>
                </a:solidFill>
                <a:latin typeface="JetBrains Mono"/>
                <a:ea typeface="JetBrains Mono"/>
              </a:rPr>
              <a:t>找不到返回</a:t>
            </a: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None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48" name="圆角矩形 2347"/>
          <p:cNvSpPr/>
          <p:nvPr/>
        </p:nvSpPr>
        <p:spPr>
          <a:xfrm>
            <a:off x="5372100" y="1143000"/>
            <a:ext cx="6210300" cy="5143500"/>
          </a:xfrm>
          <a:prstGeom prst="roundRect">
            <a:avLst>
              <a:gd name="adj" fmla="val 2222"/>
            </a:avLst>
          </a:prstGeom>
          <a:solidFill>
            <a:srgbClr val="111C2E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349" name="文本框 2348" descr="{&quot;isTemplate&quot;:true,&quot;type&quot;:&quot;text&quot;}"/>
          <p:cNvSpPr txBox="1"/>
          <p:nvPr/>
        </p:nvSpPr>
        <p:spPr>
          <a:xfrm>
            <a:off x="5562600" y="1333500"/>
            <a:ext cx="5829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两个注册来源</a:t>
            </a:r>
            <a:endParaRPr lang="zh-CN" sz="1275" b="1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0" name="文本框 2349" descr="{&quot;isTemplate&quot;:true,&quot;type&quot;:&quot;text&quot;}"/>
          <p:cNvSpPr txBox="1"/>
          <p:nvPr/>
        </p:nvSpPr>
        <p:spPr>
          <a:xfrm>
            <a:off x="5562600" y="1647825"/>
            <a:ext cx="58293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内部是一张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ConcurrentHashMap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1" name="文本框 2350" descr="{&quot;isTemplate&quot;:true,&quot;type&quot;:&quot;text&quot;}"/>
          <p:cNvSpPr txBox="1"/>
          <p:nvPr/>
        </p:nvSpPr>
        <p:spPr>
          <a:xfrm>
            <a:off x="5562600" y="2047875"/>
            <a:ext cx="58293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① static init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里内置注册：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JsonMediaType.instance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MultipartMediaType.formData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MultipartMediaType.mixed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PlainTextMediaType.instance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2" name="文本框 2351" descr="{&quot;isTemplate&quot;:true,&quot;type&quot;:&quot;text&quot;}"/>
          <p:cNvSpPr txBox="1"/>
          <p:nvPr/>
        </p:nvSpPr>
        <p:spPr>
          <a:xfrm>
            <a:off x="5562600" y="2743200"/>
            <a:ext cx="58293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首次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tryParse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时从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IOC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拉取：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registerFromBeanFactory()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会取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BeanFactory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里所有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MediaType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一并注册，用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AtomicInt8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加条件变量保证只做一次且并发安全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3" name="文本框 2352" descr="{&quot;isTemplate&quot;:true,&quot;type&quot;:&quot;text&quot;}"/>
          <p:cNvSpPr txBox="1"/>
          <p:nvPr/>
        </p:nvSpPr>
        <p:spPr>
          <a:xfrm>
            <a:off x="5562600" y="3476625"/>
            <a:ext cx="5829300" cy="6000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所以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fdemo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LogTextMediaType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只要加个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@Bean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application/json+log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就自动可用了</a:t>
            </a:r>
            <a:r>
              <a:rPr lang="en-US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不需要任何注册代码。</a:t>
            </a:r>
            <a:endParaRPr lang="zh-CN" sz="112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4" name="文本框 2353" descr="{&quot;isTemplate&quot;:true,&quot;type&quot;:&quot;text&quot;}"/>
          <p:cNvSpPr txBox="1"/>
          <p:nvPr/>
        </p:nvSpPr>
        <p:spPr>
          <a:xfrm>
            <a:off x="5562600" y="5534025"/>
            <a:ext cx="58293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宽容处理：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tryParse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先按完整串查找，找不到就截掉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;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之后的参数再找一次（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application/json; charset=utf-8 → application/json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），找到后再用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make()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把参数带回去。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5" name="任意多边形 2354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356" name="文本框 2355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7" name="文本框 2356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71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" name="矩形 23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360" name="矩形 2359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361" name="文本框 2360" descr="{&quot;isTemplate&quot;:true,&quot;type&quot;:&quot;text&quot;}"/>
          <p:cNvSpPr txBox="1"/>
          <p:nvPr/>
        </p:nvSpPr>
        <p:spPr>
          <a:xfrm>
            <a:off x="819150" y="304800"/>
            <a:ext cx="96012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HTTP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f_http · 11.5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2" name="文本框 2361" descr="{&quot;isTemplate&quot;:true,&quot;type&quot;:&quot;text&quot;}"/>
          <p:cNvSpPr txBox="1"/>
          <p:nvPr/>
        </p:nvSpPr>
        <p:spPr>
          <a:xfrm>
            <a:off x="819150" y="514350"/>
            <a:ext cx="96012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自定义数据格式：完整清单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3" name="文本框 2362" descr="{&quot;isTemplate&quot;:true,&quot;type&quot;:&quot;text&quot;}"/>
          <p:cNvSpPr txBox="1"/>
          <p:nvPr/>
        </p:nvSpPr>
        <p:spPr>
          <a:xfrm>
            <a:off x="10591800" y="590550"/>
            <a:ext cx="990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漏一件就编译不过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4" name="圆角矩形 2363"/>
          <p:cNvSpPr/>
          <p:nvPr/>
        </p:nvSpPr>
        <p:spPr>
          <a:xfrm>
            <a:off x="609600" y="1143000"/>
            <a:ext cx="539115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365" name="文本框 2364" descr="{&quot;isTemplate&quot;:true,&quot;type&quot;:&quot;text&quot;}"/>
          <p:cNvSpPr txBox="1"/>
          <p:nvPr/>
        </p:nvSpPr>
        <p:spPr>
          <a:xfrm>
            <a:off x="742950" y="127635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1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66" name="文本框 2365" descr="{&quot;isTemplate&quot;:true,&quot;type&quot;:&quot;text&quot;}"/>
          <p:cNvSpPr txBox="1"/>
          <p:nvPr/>
        </p:nvSpPr>
        <p:spPr>
          <a:xfrm>
            <a:off x="1200150" y="1276350"/>
            <a:ext cx="4667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构造器里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super(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你的格式名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7" name="圆角矩形 2366"/>
          <p:cNvSpPr/>
          <p:nvPr/>
        </p:nvSpPr>
        <p:spPr>
          <a:xfrm>
            <a:off x="609600" y="1781175"/>
            <a:ext cx="5391150" cy="819150"/>
          </a:xfrm>
          <a:prstGeom prst="roundRect">
            <a:avLst>
              <a:gd name="adj" fmla="val 1162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368" name="文本框 2367" descr="{&quot;isTemplate&quot;:true,&quot;type&quot;:&quot;text&quot;}"/>
          <p:cNvSpPr txBox="1"/>
          <p:nvPr/>
        </p:nvSpPr>
        <p:spPr>
          <a:xfrm>
            <a:off x="742950" y="1914525"/>
            <a:ext cx="3238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2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69" name="文本框 2368" descr="{&quot;isTemplate&quot;:true,&quot;type&quot;:&quot;text&quot;}"/>
          <p:cNvSpPr txBox="1"/>
          <p:nvPr/>
        </p:nvSpPr>
        <p:spPr>
          <a:xfrm>
            <a:off x="1200150" y="1914525"/>
            <a:ext cx="46672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make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：同一格式可能带不同参数（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charset / boundary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），用它创建新实例；不需要参数就返回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this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0" name="圆角矩形 2369"/>
          <p:cNvSpPr/>
          <p:nvPr/>
        </p:nvSpPr>
        <p:spPr>
          <a:xfrm>
            <a:off x="609600" y="2695575"/>
            <a:ext cx="5391150" cy="542925"/>
          </a:xfrm>
          <a:prstGeom prst="roundRect">
            <a:avLst>
              <a:gd name="adj" fmla="val 17544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371" name="文本框 2370" descr="{&quot;isTemplate&quot;:true,&quot;type&quot;:&quot;text&quot;}"/>
          <p:cNvSpPr txBox="1"/>
          <p:nvPr/>
        </p:nvSpPr>
        <p:spPr>
          <a:xfrm>
            <a:off x="742950" y="2828925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3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72" name="文本框 2371" descr="{&quot;isTemplate&quot;:true,&quot;type&quot;:&quot;text&quot;}"/>
          <p:cNvSpPr txBox="1"/>
          <p:nvPr/>
        </p:nvSpPr>
        <p:spPr>
          <a:xfrm>
            <a:off x="1200150" y="2828925"/>
            <a:ext cx="4667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toString()</a:t>
            </a:r>
            <a:endParaRPr lang="en-US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3" name="圆角矩形 2372"/>
          <p:cNvSpPr/>
          <p:nvPr/>
        </p:nvSpPr>
        <p:spPr>
          <a:xfrm>
            <a:off x="609600" y="3333750"/>
            <a:ext cx="5391150" cy="819150"/>
          </a:xfrm>
          <a:prstGeom prst="roundRect">
            <a:avLst>
              <a:gd name="adj" fmla="val 1162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374" name="文本框 2373" descr="{&quot;isTemplate&quot;:true,&quot;type&quot;:&quot;text&quot;}"/>
          <p:cNvSpPr txBox="1"/>
          <p:nvPr/>
        </p:nvSpPr>
        <p:spPr>
          <a:xfrm>
            <a:off x="742950" y="3467100"/>
            <a:ext cx="3238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4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75" name="文本框 2374" descr="{&quot;isTemplate&quot;:true,&quot;type&quot;:&quot;text&quot;}"/>
          <p:cNvSpPr txBox="1"/>
          <p:nvPr/>
        </p:nvSpPr>
        <p:spPr>
          <a:xfrm>
            <a:off x="1200150" y="3467100"/>
            <a:ext cx="46672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==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hashCode()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：它是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Hashable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且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Equatable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MediaTypes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会拿它做比较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6" name="圆角矩形 2375"/>
          <p:cNvSpPr/>
          <p:nvPr/>
        </p:nvSpPr>
        <p:spPr>
          <a:xfrm>
            <a:off x="609600" y="4248150"/>
            <a:ext cx="5391150" cy="819150"/>
          </a:xfrm>
          <a:prstGeom prst="roundRect">
            <a:avLst>
              <a:gd name="adj" fmla="val 11628"/>
            </a:avLst>
          </a:prstGeom>
          <a:solidFill>
            <a:srgbClr val="111C2E"/>
          </a:solidFill>
        </p:spPr>
        <p:txBody>
          <a:bodyPr/>
          <a:p/>
        </p:txBody>
      </p:sp>
      <p:sp>
        <p:nvSpPr>
          <p:cNvPr id="2377" name="文本框 2376" descr="{&quot;isTemplate&quot;:true,&quot;type&quot;:&quot;text&quot;}"/>
          <p:cNvSpPr txBox="1"/>
          <p:nvPr/>
        </p:nvSpPr>
        <p:spPr>
          <a:xfrm>
            <a:off x="742950" y="4381500"/>
            <a:ext cx="3238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8BDF8"/>
                </a:solidFill>
                <a:latin typeface="JetBrains Mono"/>
                <a:ea typeface="JetBrains Mono"/>
              </a:rPr>
              <a:t>5</a:t>
            </a:r>
            <a:endParaRPr lang="en-US" sz="1500" b="1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78" name="文本框 2377" descr="{&quot;isTemplate&quot;:true,&quot;type&quot;:&quot;text&quot;}"/>
          <p:cNvSpPr txBox="1"/>
          <p:nvPr/>
        </p:nvSpPr>
        <p:spPr>
          <a:xfrm>
            <a:off x="1200150" y="4381500"/>
            <a:ext cx="46672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fromData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（响应方向：对象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字节）与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toData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（请求方向：字节</a:t>
            </a:r>
            <a:r>
              <a:rPr lang="en-US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→ Data</a:t>
            </a:r>
            <a:r>
              <a:rPr lang="zh-CN" sz="112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12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9" name="圆角矩形 2378"/>
          <p:cNvSpPr/>
          <p:nvPr/>
        </p:nvSpPr>
        <p:spPr>
          <a:xfrm>
            <a:off x="609600" y="5162550"/>
            <a:ext cx="5391150" cy="542925"/>
          </a:xfrm>
          <a:prstGeom prst="roundRect">
            <a:avLst>
              <a:gd name="adj" fmla="val 17544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380" name="文本框 2379" descr="{&quot;isTemplate&quot;:true,&quot;type&quot;:&quot;text&quot;}"/>
          <p:cNvSpPr txBox="1"/>
          <p:nvPr/>
        </p:nvSpPr>
        <p:spPr>
          <a:xfrm>
            <a:off x="742950" y="5295900"/>
            <a:ext cx="3238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59E0B"/>
                </a:solidFill>
                <a:latin typeface="JetBrains Mono"/>
                <a:ea typeface="JetBrains Mono"/>
              </a:rPr>
              <a:t>6</a:t>
            </a:r>
            <a:endParaRPr lang="en-US" sz="1500" b="1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381" name="文本框 2380" descr="{&quot;isTemplate&quot;:true,&quot;type&quot;:&quot;text&quot;}"/>
          <p:cNvSpPr txBox="1"/>
          <p:nvPr/>
        </p:nvSpPr>
        <p:spPr>
          <a:xfrm>
            <a:off x="1200150" y="5295900"/>
            <a:ext cx="46672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加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@Bean ——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这是它被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MediaTypes 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发现的唯一途径</a:t>
            </a:r>
            <a:endParaRPr lang="zh-CN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2" name="圆角矩形 2381"/>
          <p:cNvSpPr/>
          <p:nvPr/>
        </p:nvSpPr>
        <p:spPr>
          <a:xfrm>
            <a:off x="6191250" y="1143000"/>
            <a:ext cx="5391150" cy="2190750"/>
          </a:xfrm>
          <a:prstGeom prst="roundRect">
            <a:avLst>
              <a:gd name="adj" fmla="val 5217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383" name="文本框 2382" descr="{&quot;isTemplate&quot;:true,&quot;type&quot;:&quot;text&quot;}"/>
          <p:cNvSpPr txBox="1"/>
          <p:nvPr/>
        </p:nvSpPr>
        <p:spPr>
          <a:xfrm>
            <a:off x="636270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用起来：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consumes / produces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直接写你的格式名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4" name="文本框 2383" descr="{&quot;isTemplate&quot;:true,&quot;type&quot;:&quot;text&quot;}"/>
          <p:cNvSpPr txBox="1"/>
          <p:nvPr/>
        </p:nvSpPr>
        <p:spPr>
          <a:xfrm>
            <a:off x="6362700" y="15430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@PostMapping[path:'/api/user/sessionLog',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85" name="文本框 2384" descr="{&quot;isTemplate&quot;:true,&quot;type&quot;:&quot;text&quot;}"/>
          <p:cNvSpPr txBox="1"/>
          <p:nvPr/>
        </p:nvSpPr>
        <p:spPr>
          <a:xfrm>
            <a:off x="6362700" y="17716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     consumes:'application/json+log',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86" name="文本框 2385" descr="{&quot;isTemplate&quot;:true,&quot;type&quot;:&quot;text&quot;}"/>
          <p:cNvSpPr txBox="1"/>
          <p:nvPr/>
        </p:nvSpPr>
        <p:spPr>
          <a:xfrm>
            <a:off x="6362700" y="20002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         produces:'application/json+log',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87" name="文本框 2386" descr="{&quot;isTemplate&quot;:true,&quot;type&quot;:&quot;text&quot;}"/>
          <p:cNvSpPr txBox="1"/>
          <p:nvPr/>
        </p:nvSpPr>
        <p:spPr>
          <a:xfrm>
            <a:off x="6362700" y="22288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             ignoreAuth: true]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388" name="文本框 2387" descr="{&quot;isTemplate&quot;:true,&quot;type&quot;:&quot;text&quot;}"/>
          <p:cNvSpPr txBox="1"/>
          <p:nvPr/>
        </p:nvSpPr>
        <p:spPr>
          <a:xfrm>
            <a:off x="6362700" y="24574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public func loginLog(@RequestBody user: UserRequest): UserRequest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389" name="圆角矩形 2388"/>
          <p:cNvSpPr/>
          <p:nvPr/>
        </p:nvSpPr>
        <p:spPr>
          <a:xfrm>
            <a:off x="6191250" y="3467100"/>
            <a:ext cx="5391150" cy="2819400"/>
          </a:xfrm>
          <a:prstGeom prst="roundRect">
            <a:avLst>
              <a:gd name="adj" fmla="val 4054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390" name="文本框 2389" descr="{&quot;isTemplate&quot;:true,&quot;type&quot;:&quot;text&quot;}"/>
          <p:cNvSpPr txBox="1"/>
          <p:nvPr/>
        </p:nvSpPr>
        <p:spPr>
          <a:xfrm>
            <a:off x="6362700" y="36385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演示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1" name="文本框 2390" descr="{&quot;isTemplate&quot;:true,&quot;type&quot;:&quot;text&quot;}"/>
          <p:cNvSpPr txBox="1"/>
          <p:nvPr/>
        </p:nvSpPr>
        <p:spPr>
          <a:xfrm>
            <a:off x="6362700" y="38671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curl -XPOST http://localhost:8080/api/user/sessionLog \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92" name="文本框 2391" descr="{&quot;isTemplate&quot;:true,&quot;type&quot;:&quot;text&quot;}"/>
          <p:cNvSpPr txBox="1"/>
          <p:nvPr/>
        </p:nvSpPr>
        <p:spPr>
          <a:xfrm>
            <a:off x="6362700" y="40957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-H 'Content-Type:application/json+log' \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93" name="文本框 2392" descr="{&quot;isTemplate&quot;:true,&quot;type&quot;:&quot;text&quot;}"/>
          <p:cNvSpPr txBox="1"/>
          <p:nvPr/>
        </p:nvSpPr>
        <p:spPr>
          <a:xfrm>
            <a:off x="6362700" y="43243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-H 'Accept:application/json+log' \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94" name="文本框 2393" descr="{&quot;isTemplate&quot;:true,&quot;type&quot;:&quot;text&quot;}"/>
          <p:cNvSpPr txBox="1"/>
          <p:nvPr/>
        </p:nvSpPr>
        <p:spPr>
          <a:xfrm>
            <a:off x="6362700" y="45529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-d '{"username":"abcdef","password":"bcbcbcbc"}'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395" name="文本框 2394" descr="{&quot;isTemplate&quot;:true,&quot;type&quot;:&quot;text&quot;}"/>
          <p:cNvSpPr txBox="1"/>
          <p:nvPr/>
        </p:nvSpPr>
        <p:spPr>
          <a:xfrm>
            <a:off x="6362700" y="4876800"/>
            <a:ext cx="50482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预期：控制台出现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fromData: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toData: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两条日志</a:t>
            </a:r>
            <a:r>
              <a:rPr lang="en-US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975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请求体和响应体都走了自定义格式。</a:t>
            </a:r>
            <a:endParaRPr lang="zh-CN" sz="975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6" name="文本框 2395" descr="{&quot;isTemplate&quot;:true,&quot;type&quot;:&quot;text&quot;}"/>
          <p:cNvSpPr txBox="1"/>
          <p:nvPr/>
        </p:nvSpPr>
        <p:spPr>
          <a:xfrm>
            <a:off x="6362700" y="5857875"/>
            <a:ext cx="5048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私有协议、加密报文、带签名的请求体，都可以这样接入，业务代码完全不用关心编解码。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7" name="任意多边形 2396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398" name="文本框 2397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9" name="文本框 2398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72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矩形 24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402" name="矩形 2401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403" name="文本框 2402" descr="{&quot;isTemplate&quot;:true,&quot;type&quot;:&quot;text&quot;}"/>
          <p:cNvSpPr txBox="1"/>
          <p:nvPr/>
        </p:nvSpPr>
        <p:spPr>
          <a:xfrm>
            <a:off x="819150" y="304800"/>
            <a:ext cx="93821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HTTP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f_http · 11.6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4" name="文本框 2403" descr="{&quot;isTemplate&quot;:true,&quot;type&quot;:&quot;text&quot;}"/>
          <p:cNvSpPr txBox="1"/>
          <p:nvPr/>
        </p:nvSpPr>
        <p:spPr>
          <a:xfrm>
            <a:off x="819150" y="514350"/>
            <a:ext cx="93821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文件上传：</a:t>
            </a:r>
            <a:r>
              <a:rPr lang="en-US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multipart/form-data</a:t>
            </a:r>
            <a:endParaRPr lang="en-US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5" name="文本框 2404" descr="{&quot;isTemplate&quot;:true,&quot;type&quot;:&quot;text&quot;}"/>
          <p:cNvSpPr txBox="1"/>
          <p:nvPr/>
        </p:nvSpPr>
        <p:spPr>
          <a:xfrm>
            <a:off x="10372725" y="590550"/>
            <a:ext cx="12096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multipart/form-data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6" name="圆角矩形 2405"/>
          <p:cNvSpPr/>
          <p:nvPr/>
        </p:nvSpPr>
        <p:spPr>
          <a:xfrm>
            <a:off x="609600" y="1143000"/>
            <a:ext cx="5391150" cy="514350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2407" name="文本框 2406" descr="{&quot;isTemplate&quot;:true,&quot;type&quot;:&quot;text&quot;}"/>
          <p:cNvSpPr txBox="1"/>
          <p:nvPr/>
        </p:nvSpPr>
        <p:spPr>
          <a:xfrm>
            <a:off x="78105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接收</a:t>
            </a:r>
            <a:r>
              <a:rPr lang="en-US" sz="975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 · fdemo/user/src/controller/UploadController.cj</a:t>
            </a:r>
            <a:endParaRPr lang="en-US" sz="975">
              <a:solidFill>
                <a:srgbClr val="38BD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08" name="文本框 2407" descr="{&quot;isTemplate&quot;:true,&quot;type&quot;:&quot;text&quot;}"/>
          <p:cNvSpPr txBox="1"/>
          <p:nvPr/>
        </p:nvSpPr>
        <p:spPr>
          <a:xfrm>
            <a:off x="781050" y="15430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@DataAssist[props fields]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09" name="文本框 2408" descr="{&quot;isTemplate&quot;:true,&quot;type&quot;:&quot;text&quot;}"/>
          <p:cNvSpPr txBox="1"/>
          <p:nvPr/>
        </p:nvSpPr>
        <p:spPr>
          <a:xfrm>
            <a:off x="781050" y="17716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public class UploadRequest {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10" name="文本框 2409" descr="{&quot;isTemplate&quot;:true,&quot;type&quot;:&quot;text&quot;}"/>
          <p:cNvSpPr txBox="1"/>
          <p:nvPr/>
        </p:nvSpPr>
        <p:spPr>
          <a:xfrm>
            <a:off x="781050" y="20002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    private var name: String = ''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11" name="文本框 2410" descr="{&quot;isTemplate&quot;:true,&quot;type&quot;:&quot;text&quot;}"/>
          <p:cNvSpPr txBox="1"/>
          <p:nvPr/>
        </p:nvSpPr>
        <p:spPr>
          <a:xfrm>
            <a:off x="781050" y="22288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F59E0B"/>
                </a:solidFill>
                <a:latin typeface="JetBrains Mono"/>
                <a:ea typeface="JetBrains Mono"/>
              </a:rPr>
              <a:t>    private var file: ?MultipartFile = None</a:t>
            </a:r>
            <a:endParaRPr lang="en-US" sz="900">
              <a:solidFill>
                <a:srgbClr val="F59E0B"/>
              </a:solidFill>
              <a:latin typeface="JetBrains Mono"/>
              <a:ea typeface="JetBrains Mono"/>
            </a:endParaRPr>
          </a:p>
        </p:txBody>
      </p:sp>
      <p:sp>
        <p:nvSpPr>
          <p:cNvPr id="2412" name="文本框 2411" descr="{&quot;isTemplate&quot;:true,&quot;type&quot;:&quot;text&quot;}"/>
          <p:cNvSpPr txBox="1"/>
          <p:nvPr/>
        </p:nvSpPr>
        <p:spPr>
          <a:xfrm>
            <a:off x="781050" y="24574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13" name="文本框 2412" descr="{&quot;isTemplate&quot;:true,&quot;type&quot;:&quot;text&quot;}"/>
          <p:cNvSpPr txBox="1"/>
          <p:nvPr/>
        </p:nvSpPr>
        <p:spPr>
          <a:xfrm>
            <a:off x="781050" y="27622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@Controller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14" name="文本框 2413" descr="{&quot;isTemplate&quot;:true,&quot;type&quot;:&quot;text&quot;}"/>
          <p:cNvSpPr txBox="1"/>
          <p:nvPr/>
        </p:nvSpPr>
        <p:spPr>
          <a:xfrm>
            <a:off x="781050" y="2990850"/>
            <a:ext cx="5048250" cy="457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@PostMapping[path: '/upload', produces: 'text/plain', consumes: 'multipart/form-data']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15" name="文本框 2414" descr="{&quot;isTemplate&quot;:true,&quot;type&quot;:&quot;text&quot;}"/>
          <p:cNvSpPr txBox="1"/>
          <p:nvPr/>
        </p:nvSpPr>
        <p:spPr>
          <a:xfrm>
            <a:off x="781050" y="34480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@IgnoreSecurity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416" name="文本框 2415" descr="{&quot;isTemplate&quot;:true,&quot;type&quot;:&quot;text&quot;}"/>
          <p:cNvSpPr txBox="1"/>
          <p:nvPr/>
        </p:nvSpPr>
        <p:spPr>
          <a:xfrm>
            <a:off x="781050" y="36766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public func upload(@RequestBody multipart: UploadRequest): String {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17" name="文本框 2416" descr="{&quot;isTemplate&quot;:true,&quot;type&quot;:&quot;text&quot;}"/>
          <p:cNvSpPr txBox="1"/>
          <p:nvPr/>
        </p:nvSpPr>
        <p:spPr>
          <a:xfrm>
            <a:off x="781050" y="39052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println('${multipart.file?.size} ${multipart.name}')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418" name="文本框 2417" descr="{&quot;isTemplate&quot;:true,&quot;type&quot;:&quot;text&quot;}"/>
          <p:cNvSpPr txBox="1"/>
          <p:nvPr/>
        </p:nvSpPr>
        <p:spPr>
          <a:xfrm>
            <a:off x="781050" y="41338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    'ok'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419" name="文本框 2418" descr="{&quot;isTemplate&quot;:true,&quot;type&quot;:&quot;text&quot;}"/>
          <p:cNvSpPr txBox="1"/>
          <p:nvPr/>
        </p:nvSpPr>
        <p:spPr>
          <a:xfrm>
            <a:off x="781050" y="4362450"/>
            <a:ext cx="50482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}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20" name="圆角矩形 2419"/>
          <p:cNvSpPr/>
          <p:nvPr/>
        </p:nvSpPr>
        <p:spPr>
          <a:xfrm>
            <a:off x="6191250" y="1143000"/>
            <a:ext cx="5391150" cy="2381250"/>
          </a:xfrm>
          <a:prstGeom prst="roundRect">
            <a:avLst>
              <a:gd name="adj" fmla="val 48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  <p:txBody>
          <a:bodyPr/>
          <a:p/>
        </p:txBody>
      </p:sp>
      <p:sp>
        <p:nvSpPr>
          <p:cNvPr id="2421" name="文本框 2420" descr="{&quot;isTemplate&quot;:true,&quot;type&quot;:&quot;text&quot;}"/>
          <p:cNvSpPr txBox="1"/>
          <p:nvPr/>
        </p:nvSpPr>
        <p:spPr>
          <a:xfrm>
            <a:off x="6362700" y="1314450"/>
            <a:ext cx="504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发送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2" name="文本框 2421" descr="{&quot;isTemplate&quot;:true,&quot;type&quot;:&quot;text&quot;}"/>
          <p:cNvSpPr txBox="1"/>
          <p:nvPr/>
        </p:nvSpPr>
        <p:spPr>
          <a:xfrm>
            <a:off x="6362700" y="15430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let form = MultipartFormData()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23" name="文本框 2422" descr="{&quot;isTemplate&quot;:true,&quot;type&quot;:&quot;text&quot;}"/>
          <p:cNvSpPr txBox="1"/>
          <p:nvPr/>
        </p:nvSpPr>
        <p:spPr>
          <a:xfrm>
            <a:off x="6362700" y="178117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form.newPart().name('name').value('abc')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24" name="文本框 2423" descr="{&quot;isTemplate&quot;:true,&quot;type&quot;:&quot;text&quot;}"/>
          <p:cNvSpPr txBox="1"/>
          <p:nvPr/>
        </p:nvSpPr>
        <p:spPr>
          <a:xfrm>
            <a:off x="6362700" y="201930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38BDF8"/>
                </a:solidFill>
                <a:latin typeface="JetBrains Mono"/>
                <a:ea typeface="JetBrains Mono"/>
              </a:rPr>
              <a:t>form.newPart().file(fileName: 'a.txt', content: inputStream, size: 1234)</a:t>
            </a:r>
            <a:endParaRPr lang="en-US" sz="900">
              <a:solidFill>
                <a:srgbClr val="38BDF8"/>
              </a:solidFill>
              <a:latin typeface="JetBrains Mono"/>
              <a:ea typeface="JetBrains Mono"/>
            </a:endParaRPr>
          </a:p>
        </p:txBody>
      </p:sp>
      <p:sp>
        <p:nvSpPr>
          <p:cNvPr id="2425" name="文本框 2424" descr="{&quot;isTemplate&quot;:true,&quot;type&quot;:&quot;text&quot;}"/>
          <p:cNvSpPr txBox="1"/>
          <p:nvPr/>
        </p:nvSpPr>
        <p:spPr>
          <a:xfrm>
            <a:off x="6362700" y="2257425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E2E8F0"/>
                </a:solidFill>
                <a:latin typeface="JetBrains Mono"/>
                <a:ea typeface="JetBrains Mono"/>
              </a:rPr>
              <a:t>form.encode(output)</a:t>
            </a:r>
            <a:endParaRPr lang="en-US" sz="900">
              <a:solidFill>
                <a:srgbClr val="E2E8F0"/>
              </a:solidFill>
              <a:latin typeface="JetBrains Mono"/>
              <a:ea typeface="JetBrains Mono"/>
            </a:endParaRPr>
          </a:p>
        </p:txBody>
      </p:sp>
      <p:sp>
        <p:nvSpPr>
          <p:cNvPr id="2426" name="文本框 2425" descr="{&quot;isTemplate&quot;:true,&quot;type&quot;:&quot;text&quot;}"/>
          <p:cNvSpPr txBox="1"/>
          <p:nvPr/>
        </p:nvSpPr>
        <p:spPr>
          <a:xfrm>
            <a:off x="6362700" y="2495550"/>
            <a:ext cx="504825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let in = form.input()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427" name="文本框 2426" descr="{&quot;isTemplate&quot;:true,&quot;type&quot;:&quot;text&quot;}"/>
          <p:cNvSpPr txBox="1"/>
          <p:nvPr/>
        </p:nvSpPr>
        <p:spPr>
          <a:xfrm>
            <a:off x="6362700" y="2828925"/>
            <a:ext cx="5048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boundary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自动生成：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FountainBoundary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32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位随机字母数字（又见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f_random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）。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8" name="圆角矩形 2427"/>
          <p:cNvSpPr/>
          <p:nvPr/>
        </p:nvSpPr>
        <p:spPr>
          <a:xfrm>
            <a:off x="6191250" y="3657600"/>
            <a:ext cx="5391150" cy="2628900"/>
          </a:xfrm>
          <a:prstGeom prst="roundRect">
            <a:avLst>
              <a:gd name="adj" fmla="val 4348"/>
            </a:avLst>
          </a:prstGeom>
          <a:solidFill>
            <a:srgbClr val="111C2E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429" name="文本框 2428" descr="{&quot;isTemplate&quot;:true,&quot;type&quot;:&quot;text&quot;}"/>
          <p:cNvSpPr txBox="1"/>
          <p:nvPr/>
        </p:nvSpPr>
        <p:spPr>
          <a:xfrm>
            <a:off x="6362700" y="3829050"/>
            <a:ext cx="5048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它是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Resource</a:t>
            </a:r>
            <a:r>
              <a:rPr lang="zh-CN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，用完必须</a:t>
            </a:r>
            <a:r>
              <a:rPr lang="en-US" sz="1125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close()</a:t>
            </a:r>
            <a:endParaRPr lang="en-US" sz="1125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0" name="文本框 2429" descr="{&quot;isTemplate&quot;:true,&quot;type&quot;:&quot;text&quot;}"/>
          <p:cNvSpPr txBox="1"/>
          <p:nvPr/>
        </p:nvSpPr>
        <p:spPr>
          <a:xfrm>
            <a:off x="6362700" y="4076700"/>
            <a:ext cx="50482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常用成员：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filename / size / empty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isAttachment / isInline / isFormData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read / bytes / copyTo / reader</a:t>
            </a:r>
            <a:r>
              <a:rPr lang="zh-CN"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1" name="文本框 2430" descr="{&quot;isTemplate&quot;:true,&quot;type&quot;:&quot;text&quot;}"/>
          <p:cNvSpPr txBox="1"/>
          <p:nvPr/>
        </p:nvSpPr>
        <p:spPr>
          <a:xfrm>
            <a:off x="6362700" y="4667250"/>
            <a:ext cx="50482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close() </a:t>
            </a:r>
            <a:r>
              <a:rPr lang="zh-CN" sz="9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会连临时文件一起删掉，不会在磁盘上留垃圾。</a:t>
            </a:r>
            <a:endParaRPr lang="zh-CN" sz="975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2" name="文本框 2431" descr="{&quot;isTemplate&quot;:true,&quot;type&quot;:&quot;text&quot;}"/>
          <p:cNvSpPr txBox="1"/>
          <p:nvPr/>
        </p:nvSpPr>
        <p:spPr>
          <a:xfrm>
            <a:off x="6362700" y="5181600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http_halfBufferSize=2048</a:t>
            </a:r>
            <a:r>
              <a:rPr lang="zh-CN" sz="900">
                <a:solidFill>
                  <a:srgbClr val="94A3B8"/>
                </a:solidFill>
                <a:latin typeface="JetBrains Mono"/>
                <a:ea typeface="JetBrains Mono"/>
              </a:rPr>
              <a:t>　·　</a:t>
            </a:r>
            <a:r>
              <a:rPr lang="en-US" sz="900">
                <a:solidFill>
                  <a:srgbClr val="94A3B8"/>
                </a:solidFill>
                <a:latin typeface="JetBrains Mono"/>
                <a:ea typeface="JetBrains Mono"/>
              </a:rPr>
              <a:t>export http_uploadDir=/tmp/fountain/upload</a:t>
            </a:r>
            <a:endParaRPr lang="en-US" sz="900">
              <a:solidFill>
                <a:srgbClr val="94A3B8"/>
              </a:solidFill>
              <a:latin typeface="JetBrains Mono"/>
              <a:ea typeface="JetBrains Mono"/>
            </a:endParaRPr>
          </a:p>
        </p:txBody>
      </p:sp>
      <p:sp>
        <p:nvSpPr>
          <p:cNvPr id="2433" name="文本框 2432" descr="{&quot;isTemplate&quot;:true,&quot;type&quot;:&quot;text&quot;}"/>
          <p:cNvSpPr txBox="1"/>
          <p:nvPr/>
        </p:nvSpPr>
        <p:spPr>
          <a:xfrm>
            <a:off x="6362700" y="5648325"/>
            <a:ext cx="50482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00">
                <a:solidFill>
                  <a:srgbClr val="22D3EE"/>
                </a:solidFill>
                <a:latin typeface="JetBrains Mono"/>
                <a:ea typeface="JetBrains Mono"/>
              </a:rPr>
              <a:t>curl -XPOST http://localhost:8080/upload -F 'name=abc' -F 'file=@./banner.txt'</a:t>
            </a:r>
            <a:endParaRPr lang="en-US" sz="900">
              <a:solidFill>
                <a:srgbClr val="22D3EE"/>
              </a:solidFill>
              <a:latin typeface="JetBrains Mono"/>
              <a:ea typeface="JetBrains Mono"/>
            </a:endParaRPr>
          </a:p>
        </p:txBody>
      </p:sp>
      <p:sp>
        <p:nvSpPr>
          <p:cNvPr id="2434" name="任意多边形 2433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435" name="文本框 2434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6" name="文本框 2435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73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矩形 24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</p:spPr>
        <p:txBody>
          <a:bodyPr/>
          <a:p/>
        </p:txBody>
      </p:sp>
      <p:sp>
        <p:nvSpPr>
          <p:cNvPr id="2439" name="矩形 2438"/>
          <p:cNvSpPr/>
          <p:nvPr/>
        </p:nvSpPr>
        <p:spPr>
          <a:xfrm>
            <a:off x="609600" y="476250"/>
            <a:ext cx="38100" cy="381000"/>
          </a:xfrm>
          <a:prstGeom prst="rect">
            <a:avLst/>
          </a:prstGeom>
          <a:solidFill>
            <a:srgbClr val="38BDF8"/>
          </a:solidFill>
        </p:spPr>
        <p:txBody>
          <a:bodyPr/>
          <a:p/>
        </p:txBody>
      </p:sp>
      <p:sp>
        <p:nvSpPr>
          <p:cNvPr id="2440" name="文本框 2439" descr="{&quot;isTemplate&quot;:true,&quot;type&quot;:&quot;text&quot;}"/>
          <p:cNvSpPr txBox="1"/>
          <p:nvPr/>
        </p:nvSpPr>
        <p:spPr>
          <a:xfrm>
            <a:off x="819150" y="304800"/>
            <a:ext cx="93059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11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章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· HTTP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数据格式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f_http · 11.7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1" name="文本框 2440" descr="{&quot;isTemplate&quot;:true,&quot;type&quot;:&quot;text&quot;}"/>
          <p:cNvSpPr txBox="1"/>
          <p:nvPr/>
        </p:nvSpPr>
        <p:spPr>
          <a:xfrm>
            <a:off x="819150" y="514350"/>
            <a:ext cx="930592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异常与排错</a:t>
            </a:r>
            <a:endParaRPr lang="zh-CN" sz="2550" b="1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2" name="文本框 2441" descr="{&quot;isTemplate&quot;:true,&quot;type&quot;:&quot;text&quot;}"/>
          <p:cNvSpPr txBox="1"/>
          <p:nvPr/>
        </p:nvSpPr>
        <p:spPr>
          <a:xfrm>
            <a:off x="10296525" y="590550"/>
            <a:ext cx="12858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99%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是</a:t>
            </a: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没生效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443" name="表格 2442"/>
          <p:cNvGraphicFramePr/>
          <p:nvPr/>
        </p:nvGraphicFramePr>
        <p:xfrm>
          <a:off x="609600" y="1143000"/>
          <a:ext cx="10972800" cy="2286000"/>
        </p:xfrm>
        <a:graphic>
          <a:graphicData uri="http://schemas.openxmlformats.org/drawingml/2006/table">
            <a:tbl>
              <a:tblPr/>
              <a:tblGrid>
                <a:gridCol w="5607246"/>
                <a:gridCol w="5365554"/>
              </a:tblGrid>
              <a:tr h="54302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异常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 b="1">
                          <a:solidFill>
                            <a:srgbClr val="22D3EE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场景</a:t>
                      </a:r>
                      <a:endParaRPr sz="975" b="1">
                        <a:solidFill>
                          <a:srgbClr val="22D3EE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A"/>
                    </a:solidFill>
                  </a:tcPr>
                </a:tc>
              </a:tr>
              <a:tr h="58099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59E0B"/>
                          </a:solidFill>
                          <a:latin typeface="JetBrains Mono"/>
                          <a:ea typeface="JetBrains Mono"/>
                        </a:rPr>
                        <a:t>MediaTypeException('&lt;x&gt; is an illegal MediaType string')</a:t>
                      </a:r>
                      <a:endParaRPr sz="975">
                        <a:solidFill>
                          <a:srgbClr val="F59E0B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MediaTypes.parse() 遇到没注册的格式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099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MediaTypeException('charset in &lt;x&gt; is not be supported')</a:t>
                      </a:r>
                      <a:endParaRPr sz="975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文本格式的 charset 不支持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099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E2E8F0"/>
                          </a:solidFill>
                          <a:latin typeface="JetBrains Mono"/>
                          <a:ea typeface="JetBrains Mono"/>
                        </a:rPr>
                        <a:t>MediaTypeException('&lt;x&gt; does not support current access')</a:t>
                      </a:r>
                      <a:endParaRPr sz="975">
                        <a:solidFill>
                          <a:srgbClr val="E2E8F0"/>
                        </a:solidFill>
                        <a:latin typeface="JetBrains Mono"/>
                        <a:ea typeface="JetBrains Mono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E2E8F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 multipart 调用了 fromData(Data) / toData(Array&lt;Byte&gt;)</a:t>
                      </a:r>
                      <a:endParaRPr sz="1050">
                        <a:solidFill>
                          <a:srgbClr val="E2E8F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444" name="圆角矩形 2443"/>
          <p:cNvSpPr/>
          <p:nvPr/>
        </p:nvSpPr>
        <p:spPr>
          <a:xfrm>
            <a:off x="609600" y="3562350"/>
            <a:ext cx="10972800" cy="2724150"/>
          </a:xfrm>
          <a:prstGeom prst="roundRect">
            <a:avLst>
              <a:gd name="adj" fmla="val 4196"/>
            </a:avLst>
          </a:prstGeom>
          <a:solidFill>
            <a:srgbClr val="F59E0B">
              <a:alpha val="7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445" name="文本框 2444" descr="{&quot;isTemplate&quot;:true,&quot;type&quot;:&quot;text&quot;}"/>
          <p:cNvSpPr txBox="1"/>
          <p:nvPr/>
        </p:nvSpPr>
        <p:spPr>
          <a:xfrm>
            <a:off x="800100" y="3752850"/>
            <a:ext cx="10591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遇到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is an illegal MediaType string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99% 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是自定义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MediaType 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没生效</a:t>
            </a:r>
            <a:endParaRPr lang="zh-CN" sz="12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6" name="文本框 2445" descr="{&quot;isTemplate&quot;:true,&quot;type&quot;:&quot;text&quot;}"/>
          <p:cNvSpPr txBox="1"/>
          <p:nvPr/>
        </p:nvSpPr>
        <p:spPr>
          <a:xfrm>
            <a:off x="800100" y="4038600"/>
            <a:ext cx="10591800" cy="561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回到第三章那条规则：它所在的动态链接库必须被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匹配到。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fdemo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LogTextMediaType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boot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包里，而正则里有</a:t>
            </a:r>
            <a:r>
              <a:rPr lang="en-US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 boot </a:t>
            </a:r>
            <a:r>
              <a:rPr lang="zh-CN" sz="1050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这一段，所以能被加载、被发现、被注册。</a:t>
            </a:r>
            <a:endParaRPr lang="zh-CN" sz="1050">
              <a:solidFill>
                <a:srgbClr val="E2E8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7" name="文本框 2446" descr="{&quot;isTemplate&quot;:true,&quot;type&quot;:&quot;text&quot;}"/>
          <p:cNvSpPr txBox="1"/>
          <p:nvPr/>
        </p:nvSpPr>
        <p:spPr>
          <a:xfrm>
            <a:off x="800100" y="4695825"/>
            <a:ext cx="105918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自定义格式不生效时的排查顺序：①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@Bean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有没有加；②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它所在的包有没有被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--dylibPattern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覆盖；③</a:t>
            </a:r>
            <a:r>
              <a:rPr lang="en-US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</a:rPr>
              <a:t>才是怀疑框架。</a:t>
            </a:r>
            <a:endParaRPr lang="zh-CN"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48" name="任意多边形 2447"/>
          <p:cNvSpPr/>
          <p:nvPr/>
        </p:nvSpPr>
        <p:spPr>
          <a:xfrm>
            <a:off x="609600" y="6286500"/>
            <a:ext cx="10972800" cy="381000"/>
          </a:xfrm>
          <a:custGeom>
            <a:avLst/>
            <a:gdLst/>
            <a:ahLst/>
            <a:cxnLst/>
            <a:pathLst>
              <a:path w="1152" h="4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1E293B"/>
          </a:solidFill>
        </p:spPr>
        <p:txBody>
          <a:bodyPr/>
          <a:p/>
        </p:txBody>
      </p:sp>
      <p:sp>
        <p:nvSpPr>
          <p:cNvPr id="2449" name="文本框 2448" descr="{&quot;isTemplate&quot;:true,&quot;type&quot;:&quot;text&quot;}"/>
          <p:cNvSpPr txBox="1"/>
          <p:nvPr/>
        </p:nvSpPr>
        <p:spPr>
          <a:xfrm>
            <a:off x="609600" y="6410325"/>
            <a:ext cx="22193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1"/>
              </a:rPr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975" u="none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hlinkClick r:id="rIdHlink2"/>
              </a:rPr>
              <a:t>https://gitcode.com/Cangjie-SIG/fountain</a:t>
            </a:r>
            <a:endParaRPr lang="zh-CN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50" name="文本框 2449" descr="{&quot;isTemplate&quot;:true,&quot;type&quot;:&quot;text&quot;}"/>
          <p:cNvSpPr txBox="1"/>
          <p:nvPr/>
        </p:nvSpPr>
        <p:spPr>
          <a:xfrm>
            <a:off x="11087100" y="6410325"/>
            <a:ext cx="4953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74 / 116</a:t>
            </a:r>
            <a:endParaRPr lang="en-US" sz="9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 txBox="1"/>
          <p:nvPr/>
        </p:nvSpPr>
        <p:spPr>
          <a:xfrm rot="0" flipH="0" flipV="0">
            <a:off x="8458200" y="1619250"/>
            <a:ext cx="3352800" cy="2286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0" b="1">
                <a:solidFill>
                  <a:srgbClr val="16233A"/>
                </a:solidFill>
                <a:latin typeface="JetBrains Mono"/>
                <a:ea typeface="JetBrains Mono"/>
              </a:rPr>
              <a:t>END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1143000" y="1428750"/>
            <a:ext cx="38100" cy="32385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p/>
        </p:txBody>
      </p:sp>
      <p:sp>
        <p:nvSpPr>
          <p:cNvPr id="19" name=""/>
          <p:cNvSpPr txBox="1"/>
          <p:nvPr/>
        </p:nvSpPr>
        <p:spPr>
          <a:xfrm rot="0" flipH="0" flipV="0">
            <a:off x="1333500" y="15144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>本讲小结</a:t>
            </a:r>
            <a:r>
              <a:rPr lang="en-US" sz="1125" spc="300">
                <a:solidFill>
                  <a:srgbClr val="38BDF8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 13 / 25</a:t>
            </a:r>
            <a:endParaRPr/>
          </a:p>
        </p:txBody>
      </p:sp>
      <p:sp>
        <p:nvSpPr>
          <p:cNvPr id="20" name=""/>
          <p:cNvSpPr txBox="1"/>
          <p:nvPr/>
        </p:nvSpPr>
        <p:spPr>
          <a:xfrm rot="0" flipH="0" flipV="0">
            <a:off x="1143000" y="2019300"/>
            <a:ext cx="2600325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f_http 扩展格式与上传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1143000" y="2724150"/>
            <a:ext cx="1524000" cy="57150"/>
          </a:xfrm>
          <a:prstGeom prst="rect">
            <a:avLst/>
          </a:prstGeom>
          <a:gradFill>
            <a:gsLst>
              <a:gs pos="0">
                <a:srgbClr val="38BDF8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 txBox="1"/>
          <p:nvPr/>
        </p:nvSpPr>
        <p:spPr>
          <a:xfrm rot="0" flipH="0" flipV="0">
            <a:off x="1143000" y="32004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MediaTypes 注册表：加个 @Bean 就多一种数据格式</a:t>
            </a:r>
            <a:endParaRPr/>
          </a:p>
        </p:txBody>
      </p:sp>
      <p:sp>
        <p:nvSpPr>
          <p:cNvPr id="23" name=""/>
          <p:cNvSpPr txBox="1"/>
          <p:nvPr/>
        </p:nvSpPr>
        <p:spPr>
          <a:xfrm rot="0" flipH="0" flipV="0">
            <a:off x="1143000" y="363855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自定义数据格式的完整六步清单</a:t>
            </a:r>
            <a:endParaRPr/>
          </a:p>
        </p:txBody>
      </p:sp>
      <p:sp>
        <p:nvSpPr>
          <p:cNvPr id="24" name=""/>
          <p:cNvSpPr txBox="1"/>
          <p:nvPr/>
        </p:nvSpPr>
        <p:spPr>
          <a:xfrm rot="0" flipH="0" flipV="0">
            <a:off x="1143000" y="4076700"/>
            <a:ext cx="866775" cy="3905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en-US" sz="1275">
                <a:solidFill>
                  <a:srgbClr val="E2E8F0"/>
                </a:solidFill>
                <a:latin typeface="微软雅黑" panose="020B0503020204020204" charset="-122"/>
                <a:ea typeface="微软雅黑" panose="020B0503020204020204" charset="-122"/>
              </a:rPr>
              <a:t>· 文件上传的收发两侧　·　f_http 异常与排错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1143000" y="4762500"/>
            <a:ext cx="38100" cy="381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6" name=""/>
          <p:cNvSpPr txBox="1"/>
          <p:nvPr/>
        </p:nvSpPr>
        <p:spPr>
          <a:xfrm rot="0" flipH="0" flipV="0">
            <a:off x="1371600" y="4857750"/>
            <a:ext cx="1057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下一讲：ORM 的三个角色</a:t>
            </a:r>
            <a:endParaRPr/>
          </a:p>
        </p:txBody>
      </p:sp>
      <p:sp>
        <p:nvSpPr>
          <p:cNvPr id="27" name=""/>
          <p:cNvSpPr txBox="1"/>
          <p:nvPr/>
        </p:nvSpPr>
        <p:spPr>
          <a:xfrm rot="0" flipH="0" flipV="0">
            <a:off x="609600" y="6362700"/>
            <a:ext cx="4352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 xml:space="preserve">fountain · 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一站式服务器应用开发工具库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1"/>
              <a:t>https://pkg.cangjie-lang.cn/org/fountain</a:t>
            </a:r>
            <a:r>
              <a:rPr lang="zh-CN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u="none" lang="en-US" sz="9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hlinkClick r:id="rIdHlink2"/>
              <a:t>https://gitcode.com/Cangjie-SIG/fountain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helloworld</cp:lastModifiedBy>
  <cp:revision>148</cp:revision>
  <dcterms:created xsi:type="dcterms:W3CDTF">2026-10-02T13:55:00Z</dcterms:created>
  <dcterms:modified xsi:type="dcterms:W3CDTF">2026-10-03T02:38:11Z</dcterms:modified>
</cp:coreProperties>
</file>